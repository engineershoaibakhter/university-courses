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62" r:id="rId3"/>
    <p:sldId id="289" r:id="rId4"/>
    <p:sldId id="293" r:id="rId5"/>
    <p:sldId id="257" r:id="rId6"/>
    <p:sldId id="286" r:id="rId7"/>
    <p:sldId id="260" r:id="rId8"/>
    <p:sldId id="291" r:id="rId9"/>
    <p:sldId id="292" r:id="rId10"/>
    <p:sldId id="283" r:id="rId11"/>
    <p:sldId id="290" r:id="rId12"/>
    <p:sldId id="285" r:id="rId13"/>
    <p:sldId id="264" r:id="rId14"/>
    <p:sldId id="265" r:id="rId15"/>
    <p:sldId id="268" r:id="rId16"/>
    <p:sldId id="269" r:id="rId17"/>
    <p:sldId id="282" r:id="rId18"/>
    <p:sldId id="287" r:id="rId19"/>
    <p:sldId id="288"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xmlns="">
          <a:srgbClr val="FF0000"/>
        </p14:laserClr>
      </p:ext>
      <p:ext uri="{2FDB2607-1784-4EEB-B798-7EB5836EED8A}">
        <p14:showMediaCtrls xmlns:p14="http://schemas.microsoft.com/office/powerpoint/2010/main" xmlns="" val="1"/>
      </p:ext>
    </p:extLst>
  </p:showPr>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2426" autoAdjust="0"/>
    <p:restoredTop sz="87792" autoAdjust="0"/>
  </p:normalViewPr>
  <p:slideViewPr>
    <p:cSldViewPr snapToGrid="0">
      <p:cViewPr varScale="1">
        <p:scale>
          <a:sx n="64" d="100"/>
          <a:sy n="64" d="100"/>
        </p:scale>
        <p:origin x="-1086" y="-96"/>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8CE01E-5C66-4BFA-BB26-8712FE20B439}" type="datetimeFigureOut">
              <a:rPr lang="en-US" smtClean="0"/>
              <a:pPr/>
              <a:t>8/18/2023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55C67A-D03E-484A-9CB0-AC8FA33B065D}" type="slidenum">
              <a:rPr lang="en-US" smtClean="0"/>
              <a:pPr/>
              <a:t>‹#›</a:t>
            </a:fld>
            <a:endParaRPr lang="en-US"/>
          </a:p>
        </p:txBody>
      </p:sp>
    </p:spTree>
    <p:extLst>
      <p:ext uri="{BB962C8B-B14F-4D97-AF65-F5344CB8AC3E}">
        <p14:creationId xmlns:p14="http://schemas.microsoft.com/office/powerpoint/2010/main" xmlns="" val="18546003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555C67A-D03E-484A-9CB0-AC8FA33B065D}" type="slidenum">
              <a:rPr lang="en-US" smtClean="0"/>
              <a:pPr/>
              <a:t>16</a:t>
            </a:fld>
            <a:endParaRPr lang="en-US"/>
          </a:p>
        </p:txBody>
      </p:sp>
    </p:spTree>
    <p:extLst>
      <p:ext uri="{BB962C8B-B14F-4D97-AF65-F5344CB8AC3E}">
        <p14:creationId xmlns:p14="http://schemas.microsoft.com/office/powerpoint/2010/main" xmlns="" val="100959709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chemeClr val="bg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915128" y="1788454"/>
            <a:ext cx="8361229" cy="2098226"/>
          </a:xfrm>
        </p:spPr>
        <p:txBody>
          <a:bodyPr anchor="b">
            <a:noAutofit/>
          </a:bodyPr>
          <a:lstStyle>
            <a:lvl1pPr algn="ctr">
              <a:defRPr sz="7200" cap="all" baseline="0">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2679906" y="3956279"/>
            <a:ext cx="6831673" cy="1086237"/>
          </a:xfrm>
        </p:spPr>
        <p:txBody>
          <a:bodyPr>
            <a:normAutofit/>
          </a:bodyPr>
          <a:lstStyle>
            <a:lvl1pPr marL="0" indent="0" algn="ctr">
              <a:lnSpc>
                <a:spcPct val="112000"/>
              </a:lnSpc>
              <a:spcBef>
                <a:spcPts val="0"/>
              </a:spcBef>
              <a:spcAft>
                <a:spcPts val="0"/>
              </a:spcAft>
              <a:buNone/>
              <a:defRPr sz="23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52858" y="6453386"/>
            <a:ext cx="1607944" cy="404614"/>
          </a:xfrm>
        </p:spPr>
        <p:txBody>
          <a:bodyPr/>
          <a:lstStyle>
            <a:lvl1pPr>
              <a:defRPr baseline="0">
                <a:solidFill>
                  <a:schemeClr val="tx2"/>
                </a:solidFill>
              </a:defRPr>
            </a:lvl1pPr>
          </a:lstStyle>
          <a:p>
            <a:fld id="{DDF0257D-31F0-4B84-B933-E4708FC93EAD}" type="datetime1">
              <a:rPr lang="en-US" smtClean="0"/>
              <a:pPr/>
              <a:t>8/18/2023</a:t>
            </a:fld>
            <a:endParaRPr lang="en-US"/>
          </a:p>
        </p:txBody>
      </p:sp>
      <p:sp>
        <p:nvSpPr>
          <p:cNvPr id="5" name="Footer Placeholder 4"/>
          <p:cNvSpPr>
            <a:spLocks noGrp="1"/>
          </p:cNvSpPr>
          <p:nvPr>
            <p:ph type="ftr" sz="quarter" idx="11"/>
          </p:nvPr>
        </p:nvSpPr>
        <p:spPr>
          <a:xfrm>
            <a:off x="2584054" y="6453386"/>
            <a:ext cx="7023377" cy="404614"/>
          </a:xfrm>
        </p:spPr>
        <p:txBody>
          <a:bodyPr/>
          <a:lstStyle>
            <a:lvl1pPr algn="ctr">
              <a:defRPr baseline="0">
                <a:solidFill>
                  <a:schemeClr val="tx2"/>
                </a:solidFill>
              </a:defRPr>
            </a:lvl1pPr>
          </a:lstStyle>
          <a:p>
            <a:r>
              <a:rPr lang="en-US"/>
              <a:t>Lecture 4</a:t>
            </a:r>
          </a:p>
        </p:txBody>
      </p:sp>
      <p:sp>
        <p:nvSpPr>
          <p:cNvPr id="6" name="Slide Number Placeholder 5"/>
          <p:cNvSpPr>
            <a:spLocks noGrp="1"/>
          </p:cNvSpPr>
          <p:nvPr>
            <p:ph type="sldNum" sz="quarter" idx="12"/>
          </p:nvPr>
        </p:nvSpPr>
        <p:spPr>
          <a:xfrm>
            <a:off x="9830683" y="6453386"/>
            <a:ext cx="1596292" cy="404614"/>
          </a:xfrm>
        </p:spPr>
        <p:txBody>
          <a:bodyPr/>
          <a:lstStyle>
            <a:lvl1pPr>
              <a:defRPr baseline="0">
                <a:solidFill>
                  <a:schemeClr val="tx2"/>
                </a:solidFill>
              </a:defRPr>
            </a:lvl1pPr>
          </a:lstStyle>
          <a:p>
            <a:fld id="{203DCA57-25CF-43A3-A183-1245EAD9810F}" type="slidenum">
              <a:rPr lang="en-US" smtClean="0"/>
              <a:pPr/>
              <a:t>‹#›</a:t>
            </a:fld>
            <a:endParaRPr lang="en-US"/>
          </a:p>
        </p:txBody>
      </p:sp>
      <p:grpSp>
        <p:nvGrpSpPr>
          <p:cNvPr id="7" name="Group 6"/>
          <p:cNvGrpSpPr/>
          <p:nvPr/>
        </p:nvGrpSpPr>
        <p:grpSpPr>
          <a:xfrm>
            <a:off x="752858" y="744469"/>
            <a:ext cx="10674117" cy="5349671"/>
            <a:chOff x="752858" y="744469"/>
            <a:chExt cx="10674117" cy="5349671"/>
          </a:xfrm>
        </p:grpSpPr>
        <p:sp>
          <p:nvSpPr>
            <p:cNvPr id="11" name="Freeform 6"/>
            <p:cNvSpPr/>
            <p:nvPr/>
          </p:nvSpPr>
          <p:spPr bwMode="auto">
            <a:xfrm>
              <a:off x="8151962" y="1685652"/>
              <a:ext cx="3275013" cy="4408488"/>
            </a:xfrm>
            <a:custGeom>
              <a:avLst/>
              <a:gdLst/>
              <a:ahLst/>
              <a:cxnLst/>
              <a:rect l="l" t="t" r="r" b="b"/>
              <a:pathLst>
                <a:path w="10000" h="10000">
                  <a:moveTo>
                    <a:pt x="8761" y="0"/>
                  </a:moveTo>
                  <a:lnTo>
                    <a:pt x="10000" y="0"/>
                  </a:lnTo>
                  <a:lnTo>
                    <a:pt x="10000" y="10000"/>
                  </a:lnTo>
                  <a:lnTo>
                    <a:pt x="0" y="10000"/>
                  </a:lnTo>
                  <a:lnTo>
                    <a:pt x="0" y="9126"/>
                  </a:lnTo>
                  <a:lnTo>
                    <a:pt x="8761" y="9127"/>
                  </a:lnTo>
                  <a:lnTo>
                    <a:pt x="8761" y="0"/>
                  </a:lnTo>
                  <a:close/>
                </a:path>
              </a:pathLst>
            </a:custGeom>
            <a:solidFill>
              <a:schemeClr val="tx2"/>
            </a:solidFill>
            <a:ln w="0">
              <a:noFill/>
              <a:prstDash val="solid"/>
              <a:round/>
              <a:headEnd/>
              <a:tailEnd/>
            </a:ln>
          </p:spPr>
        </p:sp>
        <p:sp>
          <p:nvSpPr>
            <p:cNvPr id="14" name="Freeform 6"/>
            <p:cNvSpPr/>
            <p:nvPr/>
          </p:nvSpPr>
          <p:spPr bwMode="auto">
            <a:xfrm flipH="1" flipV="1">
              <a:off x="752858" y="744469"/>
              <a:ext cx="3275668" cy="4408488"/>
            </a:xfrm>
            <a:custGeom>
              <a:avLst/>
              <a:gdLst/>
              <a:ahLst/>
              <a:cxnLst/>
              <a:rect l="l" t="t" r="r" b="b"/>
              <a:pathLst>
                <a:path w="10002" h="10000">
                  <a:moveTo>
                    <a:pt x="8763" y="0"/>
                  </a:moveTo>
                  <a:lnTo>
                    <a:pt x="10002" y="0"/>
                  </a:lnTo>
                  <a:lnTo>
                    <a:pt x="10002" y="10000"/>
                  </a:lnTo>
                  <a:lnTo>
                    <a:pt x="2" y="10000"/>
                  </a:lnTo>
                  <a:cubicBezTo>
                    <a:pt x="-2" y="9698"/>
                    <a:pt x="4" y="9427"/>
                    <a:pt x="0" y="9125"/>
                  </a:cubicBezTo>
                  <a:lnTo>
                    <a:pt x="8763" y="9128"/>
                  </a:lnTo>
                  <a:lnTo>
                    <a:pt x="8763" y="0"/>
                  </a:lnTo>
                  <a:close/>
                </a:path>
              </a:pathLst>
            </a:custGeom>
            <a:solidFill>
              <a:schemeClr val="tx2"/>
            </a:solidFill>
            <a:ln w="0">
              <a:noFill/>
              <a:prstDash val="solid"/>
              <a:round/>
              <a:headEnd/>
              <a:tailEnd/>
            </a:ln>
          </p:spPr>
        </p:sp>
      </p:grpSp>
    </p:spTree>
    <p:extLst>
      <p:ext uri="{BB962C8B-B14F-4D97-AF65-F5344CB8AC3E}">
        <p14:creationId xmlns:p14="http://schemas.microsoft.com/office/powerpoint/2010/main" xmlns="" val="1468872863"/>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37FA46-77E8-4BA5-9474-4A2DEB19C676}" type="datetime1">
              <a:rPr lang="en-US" smtClean="0"/>
              <a:pPr/>
              <a:t>8/18/2023</a:t>
            </a:fld>
            <a:endParaRPr lang="en-US"/>
          </a:p>
        </p:txBody>
      </p:sp>
      <p:sp>
        <p:nvSpPr>
          <p:cNvPr id="5" name="Footer Placeholder 4"/>
          <p:cNvSpPr>
            <a:spLocks noGrp="1"/>
          </p:cNvSpPr>
          <p:nvPr>
            <p:ph type="ftr" sz="quarter" idx="11"/>
          </p:nvPr>
        </p:nvSpPr>
        <p:spPr/>
        <p:txBody>
          <a:bodyPr/>
          <a:lstStyle/>
          <a:p>
            <a:r>
              <a:rPr lang="en-US"/>
              <a:t>Lecture 4</a:t>
            </a:r>
          </a:p>
        </p:txBody>
      </p:sp>
      <p:sp>
        <p:nvSpPr>
          <p:cNvPr id="6" name="Slide Number Placeholder 5"/>
          <p:cNvSpPr>
            <a:spLocks noGrp="1"/>
          </p:cNvSpPr>
          <p:nvPr>
            <p:ph type="sldNum" sz="quarter" idx="12"/>
          </p:nvPr>
        </p:nvSpPr>
        <p:spPr/>
        <p:txBody>
          <a:bodyPr/>
          <a:lstStyle/>
          <a:p>
            <a:fld id="{203DCA57-25CF-43A3-A183-1245EAD9810F}" type="slidenum">
              <a:rPr lang="en-US" smtClean="0"/>
              <a:pPr/>
              <a:t>‹#›</a:t>
            </a:fld>
            <a:endParaRPr lang="en-US"/>
          </a:p>
        </p:txBody>
      </p:sp>
    </p:spTree>
    <p:extLst>
      <p:ext uri="{BB962C8B-B14F-4D97-AF65-F5344CB8AC3E}">
        <p14:creationId xmlns:p14="http://schemas.microsoft.com/office/powerpoint/2010/main" xmlns="" val="21326153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765025" y="1301360"/>
            <a:ext cx="9612971" cy="2852737"/>
          </a:xfrm>
        </p:spPr>
        <p:txBody>
          <a:bodyPr anchor="b">
            <a:normAutofit/>
          </a:bodyPr>
          <a:lstStyle>
            <a:lvl1pPr algn="r">
              <a:defRPr sz="7200" cap="all" baseline="0">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765025" y="4216328"/>
            <a:ext cx="9612971" cy="1143324"/>
          </a:xfrm>
        </p:spPr>
        <p:txBody>
          <a:bodyPr/>
          <a:lstStyle>
            <a:lvl1pPr marL="0" indent="0" algn="r">
              <a:lnSpc>
                <a:spcPct val="112000"/>
              </a:lnSpc>
              <a:spcBef>
                <a:spcPts val="0"/>
              </a:spcBef>
              <a:spcAft>
                <a:spcPts val="0"/>
              </a:spcAft>
              <a:buNone/>
              <a:defRPr sz="2400">
                <a:solidFill>
                  <a:schemeClr val="tx2"/>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a:xfrm>
            <a:off x="738908" y="6453386"/>
            <a:ext cx="1622409" cy="404614"/>
          </a:xfrm>
        </p:spPr>
        <p:txBody>
          <a:bodyPr/>
          <a:lstStyle>
            <a:lvl1pPr>
              <a:defRPr>
                <a:solidFill>
                  <a:schemeClr val="tx2"/>
                </a:solidFill>
              </a:defRPr>
            </a:lvl1pPr>
          </a:lstStyle>
          <a:p>
            <a:fld id="{1DF93323-A392-4E65-A49E-B83CCA57856C}" type="datetime1">
              <a:rPr lang="en-US" smtClean="0"/>
              <a:pPr/>
              <a:t>8/18/2023</a:t>
            </a:fld>
            <a:endParaRPr lang="en-US"/>
          </a:p>
        </p:txBody>
      </p:sp>
      <p:sp>
        <p:nvSpPr>
          <p:cNvPr id="5" name="Footer Placeholder 4"/>
          <p:cNvSpPr>
            <a:spLocks noGrp="1"/>
          </p:cNvSpPr>
          <p:nvPr>
            <p:ph type="ftr" sz="quarter" idx="11"/>
          </p:nvPr>
        </p:nvSpPr>
        <p:spPr>
          <a:xfrm>
            <a:off x="2584312" y="6453386"/>
            <a:ext cx="7023377" cy="404614"/>
          </a:xfrm>
        </p:spPr>
        <p:txBody>
          <a:bodyPr/>
          <a:lstStyle>
            <a:lvl1pPr algn="ctr">
              <a:defRPr>
                <a:solidFill>
                  <a:schemeClr val="tx2"/>
                </a:solidFill>
              </a:defRPr>
            </a:lvl1pPr>
          </a:lstStyle>
          <a:p>
            <a:r>
              <a:rPr lang="en-US"/>
              <a:t>Lecture 4</a:t>
            </a:r>
          </a:p>
        </p:txBody>
      </p:sp>
      <p:sp>
        <p:nvSpPr>
          <p:cNvPr id="6" name="Slide Number Placeholder 5"/>
          <p:cNvSpPr>
            <a:spLocks noGrp="1"/>
          </p:cNvSpPr>
          <p:nvPr>
            <p:ph type="sldNum" sz="quarter" idx="12"/>
          </p:nvPr>
        </p:nvSpPr>
        <p:spPr>
          <a:xfrm>
            <a:off x="9830683" y="6453386"/>
            <a:ext cx="1596292" cy="404614"/>
          </a:xfrm>
        </p:spPr>
        <p:txBody>
          <a:bodyPr/>
          <a:lstStyle>
            <a:lvl1pPr>
              <a:defRPr>
                <a:solidFill>
                  <a:schemeClr val="tx2"/>
                </a:solidFill>
              </a:defRPr>
            </a:lvl1pPr>
          </a:lstStyle>
          <a:p>
            <a:fld id="{203DCA57-25CF-43A3-A183-1245EAD9810F}" type="slidenum">
              <a:rPr lang="en-US" smtClean="0"/>
              <a:pPr/>
              <a:t>‹#›</a:t>
            </a:fld>
            <a:endParaRPr lang="en-US"/>
          </a:p>
        </p:txBody>
      </p:sp>
      <p:sp>
        <p:nvSpPr>
          <p:cNvPr id="7" name="Freeform 6"/>
          <p:cNvSpPr/>
          <p:nvPr/>
        </p:nvSpPr>
        <p:spPr bwMode="auto">
          <a:xfrm>
            <a:off x="8151962" y="1685652"/>
            <a:ext cx="3275013" cy="4408488"/>
          </a:xfrm>
          <a:custGeom>
            <a:avLst/>
            <a:gdLst/>
            <a:ahLst/>
            <a:cxnLst/>
            <a:rect l="0" t="0" r="r" b="b"/>
            <a:pathLst>
              <a:path w="4125" h="5554">
                <a:moveTo>
                  <a:pt x="3614" y="0"/>
                </a:moveTo>
                <a:lnTo>
                  <a:pt x="4125" y="0"/>
                </a:lnTo>
                <a:lnTo>
                  <a:pt x="4125" y="5554"/>
                </a:lnTo>
                <a:lnTo>
                  <a:pt x="0" y="5554"/>
                </a:lnTo>
                <a:lnTo>
                  <a:pt x="0" y="5074"/>
                </a:lnTo>
                <a:lnTo>
                  <a:pt x="3614" y="5074"/>
                </a:lnTo>
                <a:lnTo>
                  <a:pt x="3614" y="0"/>
                </a:lnTo>
                <a:close/>
              </a:path>
            </a:pathLst>
          </a:custGeom>
          <a:solidFill>
            <a:schemeClr val="tx2"/>
          </a:solidFill>
          <a:ln w="0">
            <a:noFill/>
            <a:prstDash val="solid"/>
            <a:round/>
            <a:headEnd/>
            <a:tailEnd/>
          </a:ln>
        </p:spPr>
      </p:sp>
    </p:spTree>
    <p:extLst>
      <p:ext uri="{BB962C8B-B14F-4D97-AF65-F5344CB8AC3E}">
        <p14:creationId xmlns:p14="http://schemas.microsoft.com/office/powerpoint/2010/main" xmlns="" val="4197899965"/>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tx2"/>
                </a:solidFill>
              </a:defRPr>
            </a:lvl1pPr>
          </a:lstStyle>
          <a:p>
            <a:r>
              <a:rPr lang="en-US"/>
              <a:t>Click to edit Master title style</a:t>
            </a:r>
            <a:endParaRPr lang="en-US" dirty="0"/>
          </a:p>
        </p:txBody>
      </p:sp>
      <p:sp>
        <p:nvSpPr>
          <p:cNvPr id="3" name="Content Placeholder 2"/>
          <p:cNvSpPr>
            <a:spLocks noGrp="1"/>
          </p:cNvSpPr>
          <p:nvPr>
            <p:ph sz="half" idx="1"/>
          </p:nvPr>
        </p:nvSpPr>
        <p:spPr>
          <a:xfrm>
            <a:off x="1371600" y="2285999"/>
            <a:ext cx="4447786" cy="3581401"/>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525403" y="2285999"/>
            <a:ext cx="4447786" cy="3581401"/>
          </a:xfrm>
        </p:spPr>
        <p:txBody>
          <a:bodyPr/>
          <a:lstStyle>
            <a:lvl1pPr>
              <a:defRPr>
                <a:solidFill>
                  <a:schemeClr val="tx2"/>
                </a:solidFill>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E539BF-0896-46AC-B001-6B87A36DF848}" type="datetime1">
              <a:rPr lang="en-US" smtClean="0"/>
              <a:pPr/>
              <a:t>8/18/2023</a:t>
            </a:fld>
            <a:endParaRPr lang="en-US"/>
          </a:p>
        </p:txBody>
      </p:sp>
      <p:sp>
        <p:nvSpPr>
          <p:cNvPr id="6" name="Footer Placeholder 5"/>
          <p:cNvSpPr>
            <a:spLocks noGrp="1"/>
          </p:cNvSpPr>
          <p:nvPr>
            <p:ph type="ftr" sz="quarter" idx="11"/>
          </p:nvPr>
        </p:nvSpPr>
        <p:spPr/>
        <p:txBody>
          <a:bodyPr/>
          <a:lstStyle/>
          <a:p>
            <a:r>
              <a:rPr lang="en-US"/>
              <a:t>Lecture 4</a:t>
            </a:r>
          </a:p>
        </p:txBody>
      </p:sp>
      <p:sp>
        <p:nvSpPr>
          <p:cNvPr id="7" name="Slide Number Placeholder 6"/>
          <p:cNvSpPr>
            <a:spLocks noGrp="1"/>
          </p:cNvSpPr>
          <p:nvPr>
            <p:ph type="sldNum" sz="quarter" idx="12"/>
          </p:nvPr>
        </p:nvSpPr>
        <p:spPr/>
        <p:txBody>
          <a:bodyPr/>
          <a:lstStyle/>
          <a:p>
            <a:fld id="{203DCA57-25CF-43A3-A183-1245EAD9810F}" type="slidenum">
              <a:rPr lang="en-US" smtClean="0"/>
              <a:pPr/>
              <a:t>‹#›</a:t>
            </a:fld>
            <a:endParaRPr lang="en-US"/>
          </a:p>
        </p:txBody>
      </p:sp>
    </p:spTree>
    <p:extLst>
      <p:ext uri="{BB962C8B-B14F-4D97-AF65-F5344CB8AC3E}">
        <p14:creationId xmlns:p14="http://schemas.microsoft.com/office/powerpoint/2010/main" xmlns="" val="42221400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485900"/>
          </a:xfrm>
        </p:spPr>
        <p:txBody>
          <a:bodyPr/>
          <a:lstStyle>
            <a:lvl1pPr>
              <a:defRPr>
                <a:solidFill>
                  <a:schemeClr val="tx2"/>
                </a:solidFill>
              </a:defRPr>
            </a:lvl1pPr>
          </a:lstStyle>
          <a:p>
            <a:r>
              <a:rPr lang="en-US"/>
              <a:t>Click to edit Master title style</a:t>
            </a:r>
            <a:endParaRPr lang="en-US" dirty="0"/>
          </a:p>
        </p:txBody>
      </p:sp>
      <p:sp>
        <p:nvSpPr>
          <p:cNvPr id="3" name="Text Placeholder 2"/>
          <p:cNvSpPr>
            <a:spLocks noGrp="1"/>
          </p:cNvSpPr>
          <p:nvPr>
            <p:ph type="body" idx="1"/>
          </p:nvPr>
        </p:nvSpPr>
        <p:spPr>
          <a:xfrm>
            <a:off x="1371600"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371600"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525014" y="2340864"/>
            <a:ext cx="4443984" cy="823912"/>
          </a:xfrm>
        </p:spPr>
        <p:txBody>
          <a:bodyPr anchor="b">
            <a:noAutofit/>
          </a:bodyPr>
          <a:lstStyle>
            <a:lvl1pPr marL="0" indent="0">
              <a:lnSpc>
                <a:spcPct val="84000"/>
              </a:lnSpc>
              <a:spcBef>
                <a:spcPts val="0"/>
              </a:spcBef>
              <a:spcAft>
                <a:spcPts val="0"/>
              </a:spcAft>
              <a:buNone/>
              <a:defRPr sz="3000" b="0"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525014" y="3305207"/>
            <a:ext cx="4443984" cy="2562193"/>
          </a:xfrm>
        </p:spPr>
        <p:txBody>
          <a:bodyPr/>
          <a:lstStyle>
            <a:lvl1pPr>
              <a:defRPr baseline="0">
                <a:solidFill>
                  <a:schemeClr val="tx2"/>
                </a:solidFill>
              </a:defRPr>
            </a:lvl1pPr>
            <a:lvl2pPr>
              <a:defRPr baseline="0">
                <a:solidFill>
                  <a:schemeClr val="tx2"/>
                </a:solidFill>
              </a:defRPr>
            </a:lvl2pPr>
            <a:lvl3pPr>
              <a:defRPr baseline="0">
                <a:solidFill>
                  <a:schemeClr val="tx2"/>
                </a:solidFill>
              </a:defRPr>
            </a:lvl3pPr>
            <a:lvl4pPr>
              <a:defRPr baseline="0">
                <a:solidFill>
                  <a:schemeClr val="tx2"/>
                </a:solidFill>
              </a:defRPr>
            </a:lvl4pPr>
            <a:lvl5pPr>
              <a:defRPr baseline="0">
                <a:solidFill>
                  <a:schemeClr val="tx2"/>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62D4A7E2-CEAA-49B8-8A05-901AB6C368AE}" type="datetime1">
              <a:rPr lang="en-US" smtClean="0"/>
              <a:pPr/>
              <a:t>8/18/2023</a:t>
            </a:fld>
            <a:endParaRPr lang="en-US"/>
          </a:p>
        </p:txBody>
      </p:sp>
      <p:sp>
        <p:nvSpPr>
          <p:cNvPr id="8" name="Footer Placeholder 7"/>
          <p:cNvSpPr>
            <a:spLocks noGrp="1"/>
          </p:cNvSpPr>
          <p:nvPr>
            <p:ph type="ftr" sz="quarter" idx="11"/>
          </p:nvPr>
        </p:nvSpPr>
        <p:spPr/>
        <p:txBody>
          <a:bodyPr/>
          <a:lstStyle/>
          <a:p>
            <a:r>
              <a:rPr lang="en-US"/>
              <a:t>Lecture 4</a:t>
            </a:r>
          </a:p>
        </p:txBody>
      </p:sp>
      <p:sp>
        <p:nvSpPr>
          <p:cNvPr id="9" name="Slide Number Placeholder 8"/>
          <p:cNvSpPr>
            <a:spLocks noGrp="1"/>
          </p:cNvSpPr>
          <p:nvPr>
            <p:ph type="sldNum" sz="quarter" idx="12"/>
          </p:nvPr>
        </p:nvSpPr>
        <p:spPr/>
        <p:txBody>
          <a:bodyPr/>
          <a:lstStyle/>
          <a:p>
            <a:fld id="{203DCA57-25CF-43A3-A183-1245EAD9810F}" type="slidenum">
              <a:rPr lang="en-US" smtClean="0"/>
              <a:pPr/>
              <a:t>‹#›</a:t>
            </a:fld>
            <a:endParaRPr lang="en-US"/>
          </a:p>
        </p:txBody>
      </p:sp>
    </p:spTree>
    <p:extLst>
      <p:ext uri="{BB962C8B-B14F-4D97-AF65-F5344CB8AC3E}">
        <p14:creationId xmlns:p14="http://schemas.microsoft.com/office/powerpoint/2010/main" xmlns="" val="7222521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D17D0B0-C855-481B-9456-4AD29F0BEA87}" type="datetime1">
              <a:rPr lang="en-US" smtClean="0"/>
              <a:pPr/>
              <a:t>8/18/2023</a:t>
            </a:fld>
            <a:endParaRPr lang="en-US"/>
          </a:p>
        </p:txBody>
      </p:sp>
      <p:sp>
        <p:nvSpPr>
          <p:cNvPr id="4" name="Footer Placeholder 3"/>
          <p:cNvSpPr>
            <a:spLocks noGrp="1"/>
          </p:cNvSpPr>
          <p:nvPr>
            <p:ph type="ftr" sz="quarter" idx="11"/>
          </p:nvPr>
        </p:nvSpPr>
        <p:spPr/>
        <p:txBody>
          <a:bodyPr/>
          <a:lstStyle/>
          <a:p>
            <a:r>
              <a:rPr lang="en-US"/>
              <a:t>Lecture 4</a:t>
            </a:r>
          </a:p>
        </p:txBody>
      </p:sp>
      <p:sp>
        <p:nvSpPr>
          <p:cNvPr id="5" name="Slide Number Placeholder 4"/>
          <p:cNvSpPr>
            <a:spLocks noGrp="1"/>
          </p:cNvSpPr>
          <p:nvPr>
            <p:ph type="sldNum" sz="quarter" idx="12"/>
          </p:nvPr>
        </p:nvSpPr>
        <p:spPr/>
        <p:txBody>
          <a:bodyPr/>
          <a:lstStyle/>
          <a:p>
            <a:fld id="{203DCA57-25CF-43A3-A183-1245EAD9810F}" type="slidenum">
              <a:rPr lang="en-US" smtClean="0"/>
              <a:pPr/>
              <a:t>‹#›</a:t>
            </a:fld>
            <a:endParaRPr lang="en-US"/>
          </a:p>
        </p:txBody>
      </p:sp>
    </p:spTree>
    <p:extLst>
      <p:ext uri="{BB962C8B-B14F-4D97-AF65-F5344CB8AC3E}">
        <p14:creationId xmlns:p14="http://schemas.microsoft.com/office/powerpoint/2010/main" xmlns="" val="41840933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69EB1B-8B20-4F54-9A6A-1AD36E22D6EB}" type="datetime1">
              <a:rPr lang="en-US" smtClean="0"/>
              <a:pPr/>
              <a:t>8/18/2023</a:t>
            </a:fld>
            <a:endParaRPr lang="en-US"/>
          </a:p>
        </p:txBody>
      </p:sp>
      <p:sp>
        <p:nvSpPr>
          <p:cNvPr id="3" name="Footer Placeholder 2"/>
          <p:cNvSpPr>
            <a:spLocks noGrp="1"/>
          </p:cNvSpPr>
          <p:nvPr>
            <p:ph type="ftr" sz="quarter" idx="11"/>
          </p:nvPr>
        </p:nvSpPr>
        <p:spPr/>
        <p:txBody>
          <a:bodyPr/>
          <a:lstStyle/>
          <a:p>
            <a:r>
              <a:rPr lang="en-US"/>
              <a:t>Lecture 4</a:t>
            </a:r>
          </a:p>
        </p:txBody>
      </p:sp>
      <p:sp>
        <p:nvSpPr>
          <p:cNvPr id="4" name="Slide Number Placeholder 3"/>
          <p:cNvSpPr>
            <a:spLocks noGrp="1"/>
          </p:cNvSpPr>
          <p:nvPr>
            <p:ph type="sldNum" sz="quarter" idx="12"/>
          </p:nvPr>
        </p:nvSpPr>
        <p:spPr/>
        <p:txBody>
          <a:bodyPr/>
          <a:lstStyle/>
          <a:p>
            <a:fld id="{203DCA57-25CF-43A3-A183-1245EAD9810F}" type="slidenum">
              <a:rPr lang="en-US" smtClean="0"/>
              <a:pPr/>
              <a:t>‹#›</a:t>
            </a:fld>
            <a:endParaRPr lang="en-US"/>
          </a:p>
        </p:txBody>
      </p:sp>
    </p:spTree>
    <p:extLst>
      <p:ext uri="{BB962C8B-B14F-4D97-AF65-F5344CB8AC3E}">
        <p14:creationId xmlns:p14="http://schemas.microsoft.com/office/powerpoint/2010/main" xmlns="" val="28023765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Autofit/>
          </a:bodyPr>
          <a:lstStyle>
            <a:lvl1pPr>
              <a:lnSpc>
                <a:spcPct val="84000"/>
              </a:lnSpc>
              <a:defRPr sz="4800" baseline="0">
                <a:solidFill>
                  <a:schemeClr val="tx2"/>
                </a:solidFill>
              </a:defRPr>
            </a:lvl1pPr>
          </a:lstStyle>
          <a:p>
            <a:r>
              <a:rPr lang="en-US"/>
              <a:t>Click to edit Master title style</a:t>
            </a:r>
            <a:endParaRPr lang="en-US" dirty="0"/>
          </a:p>
        </p:txBody>
      </p:sp>
      <p:sp>
        <p:nvSpPr>
          <p:cNvPr id="3" name="Content Placeholder 2"/>
          <p:cNvSpPr>
            <a:spLocks noGrp="1"/>
          </p:cNvSpPr>
          <p:nvPr>
            <p:ph idx="1"/>
          </p:nvPr>
        </p:nvSpPr>
        <p:spPr>
          <a:xfrm>
            <a:off x="6256020" y="685801"/>
            <a:ext cx="5212080" cy="5175250"/>
          </a:xfrm>
        </p:spPr>
        <p:txBody>
          <a:bodyPr/>
          <a:lstStyle>
            <a:lvl1pPr>
              <a:defRPr sz="2000"/>
            </a:lvl1pPr>
            <a:lvl2pPr>
              <a:defRPr sz="2000"/>
            </a:lvl2pPr>
            <a:lvl3pPr>
              <a:defRPr sz="1800"/>
            </a:lvl3pPr>
            <a:lvl4pPr>
              <a:defRPr sz="1800"/>
            </a:lvl4pPr>
            <a:lvl5pPr>
              <a:defRPr sz="1600"/>
            </a:lvl5pPr>
            <a:lvl6pPr>
              <a:defRPr sz="1600"/>
            </a:lvl6pPr>
            <a:lvl7pPr>
              <a:defRPr sz="1600"/>
            </a:lvl7pPr>
            <a:lvl8pPr>
              <a:defRPr sz="1600"/>
            </a:lvl8pPr>
            <a:lvl9pPr>
              <a:defRPr sz="16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23900" y="2856344"/>
            <a:ext cx="3855720" cy="3011056"/>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CA3B501C-9BBC-4F27-9725-BD40E61E4B18}" type="datetime1">
              <a:rPr lang="en-US" smtClean="0"/>
              <a:pPr/>
              <a:t>8/18/2023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Lecture 4</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03DCA57-25CF-43A3-A183-1245EAD9810F}" type="slidenum">
              <a:rPr lang="en-US" smtClean="0"/>
              <a:pPr/>
              <a:t>‹#›</a:t>
            </a:fld>
            <a:endParaRPr lang="en-US"/>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518367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376"/>
            <a:ext cx="5303520" cy="685762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723900" y="685800"/>
            <a:ext cx="3855720" cy="2157884"/>
          </a:xfrm>
        </p:spPr>
        <p:txBody>
          <a:bodyPr anchor="t">
            <a:normAutofit/>
          </a:bodyPr>
          <a:lstStyle>
            <a:lvl1pPr>
              <a:lnSpc>
                <a:spcPct val="84000"/>
              </a:lnSpc>
              <a:defRPr sz="48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5532120" y="0"/>
            <a:ext cx="6659880" cy="6857999"/>
          </a:xfrm>
        </p:spPr>
        <p:txBody>
          <a:bodyPr anchor="t">
            <a:normAutofit/>
          </a:bodyPr>
          <a:lstStyle>
            <a:lvl1pPr marL="0" indent="0">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723900" y="2855968"/>
            <a:ext cx="3855720" cy="3011432"/>
          </a:xfrm>
        </p:spPr>
        <p:txBody>
          <a:bodyPr/>
          <a:lstStyle>
            <a:lvl1pPr marL="0" indent="0">
              <a:lnSpc>
                <a:spcPct val="113000"/>
              </a:lnSpc>
              <a:spcBef>
                <a:spcPts val="0"/>
              </a:spcBef>
              <a:spcAft>
                <a:spcPts val="1500"/>
              </a:spcAft>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a:xfrm>
            <a:off x="723900" y="6453386"/>
            <a:ext cx="1204572" cy="404614"/>
          </a:xfrm>
        </p:spPr>
        <p:txBody>
          <a:bodyPr/>
          <a:lstStyle>
            <a:lvl1pPr>
              <a:defRPr>
                <a:solidFill>
                  <a:schemeClr val="tx2"/>
                </a:solidFill>
              </a:defRPr>
            </a:lvl1pPr>
          </a:lstStyle>
          <a:p>
            <a:fld id="{F113152C-7DE1-42CC-90A8-73F7B75B3756}" type="datetime1">
              <a:rPr lang="en-US" smtClean="0"/>
              <a:pPr/>
              <a:t>8/18/2023</a:t>
            </a:fld>
            <a:endParaRPr lang="en-US"/>
          </a:p>
        </p:txBody>
      </p:sp>
      <p:sp>
        <p:nvSpPr>
          <p:cNvPr id="6" name="Footer Placeholder 5"/>
          <p:cNvSpPr>
            <a:spLocks noGrp="1"/>
          </p:cNvSpPr>
          <p:nvPr>
            <p:ph type="ftr" sz="quarter" idx="11"/>
          </p:nvPr>
        </p:nvSpPr>
        <p:spPr>
          <a:xfrm>
            <a:off x="2205945" y="6453386"/>
            <a:ext cx="2373675" cy="404614"/>
          </a:xfrm>
        </p:spPr>
        <p:txBody>
          <a:bodyPr/>
          <a:lstStyle>
            <a:lvl1pPr>
              <a:defRPr>
                <a:solidFill>
                  <a:schemeClr val="tx2"/>
                </a:solidFill>
              </a:defRPr>
            </a:lvl1pPr>
          </a:lstStyle>
          <a:p>
            <a:r>
              <a:rPr lang="en-US"/>
              <a:t>Lecture 4</a:t>
            </a:r>
          </a:p>
        </p:txBody>
      </p:sp>
      <p:sp>
        <p:nvSpPr>
          <p:cNvPr id="7" name="Slide Number Placeholder 6"/>
          <p:cNvSpPr>
            <a:spLocks noGrp="1"/>
          </p:cNvSpPr>
          <p:nvPr>
            <p:ph type="sldNum" sz="quarter" idx="12"/>
          </p:nvPr>
        </p:nvSpPr>
        <p:spPr>
          <a:xfrm>
            <a:off x="9883140" y="6453386"/>
            <a:ext cx="1596292" cy="404614"/>
          </a:xfrm>
        </p:spPr>
        <p:txBody>
          <a:bodyPr/>
          <a:lstStyle>
            <a:lvl1pPr>
              <a:defRPr>
                <a:solidFill>
                  <a:schemeClr val="tx2"/>
                </a:solidFill>
              </a:defRPr>
            </a:lvl1pPr>
          </a:lstStyle>
          <a:p>
            <a:fld id="{203DCA57-25CF-43A3-A183-1245EAD9810F}" type="slidenum">
              <a:rPr lang="en-US" smtClean="0"/>
              <a:pPr/>
              <a:t>‹#›</a:t>
            </a:fld>
            <a:endParaRPr lang="en-US"/>
          </a:p>
        </p:txBody>
      </p:sp>
      <p:sp>
        <p:nvSpPr>
          <p:cNvPr id="9" name="Rectangle 8"/>
          <p:cNvSpPr/>
          <p:nvPr/>
        </p:nvSpPr>
        <p:spPr>
          <a:xfrm>
            <a:off x="5303520"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22002760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371600" y="2295525"/>
            <a:ext cx="9601200" cy="357187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F7D63D2-348B-44C0-87E8-B05337925CD3}" type="datetime1">
              <a:rPr lang="en-US" smtClean="0"/>
              <a:pPr/>
              <a:t>8/18/2023</a:t>
            </a:fld>
            <a:endParaRPr lang="en-US"/>
          </a:p>
        </p:txBody>
      </p:sp>
      <p:sp>
        <p:nvSpPr>
          <p:cNvPr id="5" name="Footer Placeholder 4"/>
          <p:cNvSpPr>
            <a:spLocks noGrp="1"/>
          </p:cNvSpPr>
          <p:nvPr>
            <p:ph type="ftr" sz="quarter" idx="11"/>
          </p:nvPr>
        </p:nvSpPr>
        <p:spPr/>
        <p:txBody>
          <a:bodyPr/>
          <a:lstStyle/>
          <a:p>
            <a:r>
              <a:rPr lang="en-US"/>
              <a:t>Lecture 4</a:t>
            </a:r>
          </a:p>
        </p:txBody>
      </p:sp>
      <p:sp>
        <p:nvSpPr>
          <p:cNvPr id="6" name="Slide Number Placeholder 5"/>
          <p:cNvSpPr>
            <a:spLocks noGrp="1"/>
          </p:cNvSpPr>
          <p:nvPr>
            <p:ph type="sldNum" sz="quarter" idx="12"/>
          </p:nvPr>
        </p:nvSpPr>
        <p:spPr/>
        <p:txBody>
          <a:bodyPr/>
          <a:lstStyle/>
          <a:p>
            <a:fld id="{203DCA57-25CF-43A3-A183-1245EAD9810F}" type="slidenum">
              <a:rPr lang="en-US" smtClean="0"/>
              <a:pPr/>
              <a:t>‹#›</a:t>
            </a:fld>
            <a:endParaRPr lang="en-US"/>
          </a:p>
        </p:txBody>
      </p:sp>
    </p:spTree>
    <p:extLst>
      <p:ext uri="{BB962C8B-B14F-4D97-AF65-F5344CB8AC3E}">
        <p14:creationId xmlns:p14="http://schemas.microsoft.com/office/powerpoint/2010/main" xmlns="" val="8213960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596561" y="624156"/>
            <a:ext cx="1565766" cy="524324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371600" y="624156"/>
            <a:ext cx="8179641" cy="5243244"/>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AA394A1-0E28-4602-85AA-C1388F06E35F}" type="datetime1">
              <a:rPr lang="en-US" smtClean="0"/>
              <a:pPr/>
              <a:t>8/18/2023</a:t>
            </a:fld>
            <a:endParaRPr lang="en-US"/>
          </a:p>
        </p:txBody>
      </p:sp>
      <p:sp>
        <p:nvSpPr>
          <p:cNvPr id="5" name="Footer Placeholder 4"/>
          <p:cNvSpPr>
            <a:spLocks noGrp="1"/>
          </p:cNvSpPr>
          <p:nvPr>
            <p:ph type="ftr" sz="quarter" idx="11"/>
          </p:nvPr>
        </p:nvSpPr>
        <p:spPr/>
        <p:txBody>
          <a:bodyPr/>
          <a:lstStyle/>
          <a:p>
            <a:r>
              <a:rPr lang="en-US"/>
              <a:t>Lecture 4</a:t>
            </a:r>
          </a:p>
        </p:txBody>
      </p:sp>
      <p:sp>
        <p:nvSpPr>
          <p:cNvPr id="6" name="Slide Number Placeholder 5"/>
          <p:cNvSpPr>
            <a:spLocks noGrp="1"/>
          </p:cNvSpPr>
          <p:nvPr>
            <p:ph type="sldNum" sz="quarter" idx="12"/>
          </p:nvPr>
        </p:nvSpPr>
        <p:spPr/>
        <p:txBody>
          <a:bodyPr/>
          <a:lstStyle/>
          <a:p>
            <a:fld id="{203DCA57-25CF-43A3-A183-1245EAD9810F}" type="slidenum">
              <a:rPr lang="en-US" smtClean="0"/>
              <a:pPr/>
              <a:t>‹#›</a:t>
            </a:fld>
            <a:endParaRPr lang="en-US"/>
          </a:p>
        </p:txBody>
      </p:sp>
    </p:spTree>
    <p:extLst>
      <p:ext uri="{BB962C8B-B14F-4D97-AF65-F5344CB8AC3E}">
        <p14:creationId xmlns:p14="http://schemas.microsoft.com/office/powerpoint/2010/main" xmlns="" val="41052787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371600" y="685800"/>
            <a:ext cx="9601200" cy="14859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371600" y="2286000"/>
            <a:ext cx="9601200" cy="35814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390650" y="6453386"/>
            <a:ext cx="1204572" cy="404614"/>
          </a:xfrm>
          <a:prstGeom prst="rect">
            <a:avLst/>
          </a:prstGeom>
        </p:spPr>
        <p:txBody>
          <a:bodyPr vert="horz" lIns="91440" tIns="45720" rIns="91440" bIns="45720" rtlCol="0" anchor="ctr"/>
          <a:lstStyle>
            <a:lvl1pPr algn="l">
              <a:defRPr sz="1200" baseline="0">
                <a:solidFill>
                  <a:schemeClr val="tx2"/>
                </a:solidFill>
              </a:defRPr>
            </a:lvl1pPr>
          </a:lstStyle>
          <a:p>
            <a:fld id="{9A6EB5AF-8ABE-4EA5-A060-49814F00F192}" type="datetime1">
              <a:rPr lang="en-US" smtClean="0"/>
              <a:pPr/>
              <a:t>8/18/2023</a:t>
            </a:fld>
            <a:endParaRPr lang="en-US"/>
          </a:p>
        </p:txBody>
      </p:sp>
      <p:sp>
        <p:nvSpPr>
          <p:cNvPr id="5" name="Footer Placeholder 4"/>
          <p:cNvSpPr>
            <a:spLocks noGrp="1"/>
          </p:cNvSpPr>
          <p:nvPr>
            <p:ph type="ftr" sz="quarter" idx="3"/>
          </p:nvPr>
        </p:nvSpPr>
        <p:spPr>
          <a:xfrm>
            <a:off x="2893564" y="6453386"/>
            <a:ext cx="6280830" cy="404614"/>
          </a:xfrm>
          <a:prstGeom prst="rect">
            <a:avLst/>
          </a:prstGeom>
        </p:spPr>
        <p:txBody>
          <a:bodyPr vert="horz" lIns="91440" tIns="45720" rIns="91440" bIns="45720" rtlCol="0" anchor="ctr"/>
          <a:lstStyle>
            <a:lvl1pPr algn="l">
              <a:defRPr sz="1200" baseline="0">
                <a:solidFill>
                  <a:schemeClr val="tx2"/>
                </a:solidFill>
              </a:defRPr>
            </a:lvl1pPr>
          </a:lstStyle>
          <a:p>
            <a:r>
              <a:rPr lang="en-US"/>
              <a:t>Lecture 4</a:t>
            </a:r>
          </a:p>
        </p:txBody>
      </p:sp>
      <p:sp>
        <p:nvSpPr>
          <p:cNvPr id="6" name="Slide Number Placeholder 5"/>
          <p:cNvSpPr>
            <a:spLocks noGrp="1"/>
          </p:cNvSpPr>
          <p:nvPr>
            <p:ph type="sldNum" sz="quarter" idx="4"/>
          </p:nvPr>
        </p:nvSpPr>
        <p:spPr>
          <a:xfrm>
            <a:off x="9472736" y="6453386"/>
            <a:ext cx="1596292" cy="404614"/>
          </a:xfrm>
          <a:prstGeom prst="rect">
            <a:avLst/>
          </a:prstGeom>
        </p:spPr>
        <p:txBody>
          <a:bodyPr vert="horz" lIns="91440" tIns="45720" rIns="91440" bIns="45720" rtlCol="0" anchor="ctr"/>
          <a:lstStyle>
            <a:lvl1pPr algn="r">
              <a:defRPr sz="1200" baseline="0">
                <a:solidFill>
                  <a:schemeClr val="tx2"/>
                </a:solidFill>
              </a:defRPr>
            </a:lvl1pPr>
          </a:lstStyle>
          <a:p>
            <a:fld id="{203DCA57-25CF-43A3-A183-1245EAD9810F}" type="slidenum">
              <a:rPr lang="en-US" smtClean="0"/>
              <a:pPr/>
              <a:t>‹#›</a:t>
            </a:fld>
            <a:endParaRPr lang="en-US"/>
          </a:p>
        </p:txBody>
      </p:sp>
      <p:sp>
        <p:nvSpPr>
          <p:cNvPr id="9" name="Rectangle 8"/>
          <p:cNvSpPr/>
          <p:nvPr/>
        </p:nvSpPr>
        <p:spPr>
          <a:xfrm>
            <a:off x="478095" y="376"/>
            <a:ext cx="2286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sp>
    </p:spTree>
    <p:extLst>
      <p:ext uri="{BB962C8B-B14F-4D97-AF65-F5344CB8AC3E}">
        <p14:creationId xmlns:p14="http://schemas.microsoft.com/office/powerpoint/2010/main" xmlns="" val="346349182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dt="0"/>
  <p:txStyles>
    <p:titleStyle>
      <a:lvl1pPr algn="l" defTabSz="914400" rtl="0" eaLnBrk="1" latinLnBrk="0" hangingPunct="1">
        <a:lnSpc>
          <a:spcPct val="89000"/>
        </a:lnSpc>
        <a:spcBef>
          <a:spcPct val="0"/>
        </a:spcBef>
        <a:buNone/>
        <a:defRPr sz="4400" kern="1200" baseline="0">
          <a:solidFill>
            <a:schemeClr val="tx2"/>
          </a:solidFill>
          <a:latin typeface="+mj-lt"/>
          <a:ea typeface="+mj-ea"/>
          <a:cs typeface="+mj-cs"/>
        </a:defRPr>
      </a:lvl1pPr>
    </p:titleStyle>
    <p:bodyStyle>
      <a:lvl1pPr marL="384048" indent="-384048" algn="l" defTabSz="914400" rtl="0" eaLnBrk="1" latinLnBrk="0" hangingPunct="1">
        <a:lnSpc>
          <a:spcPct val="94000"/>
        </a:lnSpc>
        <a:spcBef>
          <a:spcPts val="1000"/>
        </a:spcBef>
        <a:spcAft>
          <a:spcPts val="200"/>
        </a:spcAft>
        <a:buFont typeface="Franklin Gothic Book" panose="020B0503020102020204" pitchFamily="34" charset="0"/>
        <a:buChar char="■"/>
        <a:defRPr sz="2000" kern="1200" baseline="0">
          <a:solidFill>
            <a:schemeClr val="tx2"/>
          </a:solidFill>
          <a:latin typeface="+mn-lt"/>
          <a:ea typeface="+mn-ea"/>
          <a:cs typeface="+mn-cs"/>
        </a:defRPr>
      </a:lvl1pPr>
      <a:lvl2pPr marL="914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2000" i="1" kern="1200" baseline="0">
          <a:solidFill>
            <a:schemeClr val="tx2"/>
          </a:solidFill>
          <a:latin typeface="+mn-lt"/>
          <a:ea typeface="+mn-ea"/>
          <a:cs typeface="+mn-cs"/>
        </a:defRPr>
      </a:lvl2pPr>
      <a:lvl3pPr marL="1371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kern="1200" baseline="0">
          <a:solidFill>
            <a:schemeClr val="tx2"/>
          </a:solidFill>
          <a:latin typeface="+mn-lt"/>
          <a:ea typeface="+mn-ea"/>
          <a:cs typeface="+mn-cs"/>
        </a:defRPr>
      </a:lvl3pPr>
      <a:lvl4pPr marL="1828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800" i="1" kern="1200" baseline="0">
          <a:solidFill>
            <a:schemeClr val="tx2"/>
          </a:solidFill>
          <a:latin typeface="+mn-lt"/>
          <a:ea typeface="+mn-ea"/>
          <a:cs typeface="+mn-cs"/>
        </a:defRPr>
      </a:lvl4pPr>
      <a:lvl5pPr marL="22860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kern="1200" baseline="0">
          <a:solidFill>
            <a:schemeClr val="tx2"/>
          </a:solidFill>
          <a:latin typeface="+mn-lt"/>
          <a:ea typeface="+mn-ea"/>
          <a:cs typeface="+mn-cs"/>
        </a:defRPr>
      </a:lvl5pPr>
      <a:lvl6pPr marL="27432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600" i="1" kern="1200" baseline="0">
          <a:solidFill>
            <a:schemeClr val="tx2"/>
          </a:solidFill>
          <a:latin typeface="+mn-lt"/>
          <a:ea typeface="+mn-ea"/>
          <a:cs typeface="+mn-cs"/>
        </a:defRPr>
      </a:lvl6pPr>
      <a:lvl7pPr marL="32004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7pPr>
      <a:lvl8pPr marL="36576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i="1" kern="1200" baseline="0">
          <a:solidFill>
            <a:schemeClr val="tx2"/>
          </a:solidFill>
          <a:latin typeface="+mn-lt"/>
          <a:ea typeface="+mn-ea"/>
          <a:cs typeface="+mn-cs"/>
        </a:defRPr>
      </a:lvl8pPr>
      <a:lvl9pPr marL="4114800" indent="-384048" algn="l" defTabSz="914400" rtl="0" eaLnBrk="1" latinLnBrk="0" hangingPunct="1">
        <a:lnSpc>
          <a:spcPct val="94000"/>
        </a:lnSpc>
        <a:spcBef>
          <a:spcPts val="500"/>
        </a:spcBef>
        <a:spcAft>
          <a:spcPts val="200"/>
        </a:spcAft>
        <a:buFont typeface="Franklin Gothic Book" panose="020B0503020102020204" pitchFamily="34" charset="0"/>
        <a:buChar char="■"/>
        <a:defRPr sz="1400" kern="1200" baseline="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3" orient="horz" pos="1368">
          <p15:clr>
            <a:srgbClr val="F26B43"/>
          </p15:clr>
        </p15:guide>
        <p15:guide id="4" orient="horz" pos="1440">
          <p15:clr>
            <a:srgbClr val="F26B43"/>
          </p15:clr>
        </p15:guide>
        <p15:guide id="6" orient="horz" pos="3696">
          <p15:clr>
            <a:srgbClr val="F26B43"/>
          </p15:clr>
        </p15:guide>
        <p15:guide id="7" orient="horz" pos="432">
          <p15:clr>
            <a:srgbClr val="F26B43"/>
          </p15:clr>
        </p15:guide>
        <p15:guide id="8" orient="horz" pos="1512">
          <p15:clr>
            <a:srgbClr val="F26B43"/>
          </p15:clr>
        </p15:guide>
        <p15:guide id="9" pos="6912">
          <p15:clr>
            <a:srgbClr val="F26B43"/>
          </p15:clr>
        </p15:guide>
        <p15:guide id="10" pos="936">
          <p15:clr>
            <a:srgbClr val="F26B43"/>
          </p15:clr>
        </p15:guide>
        <p15:guide id="11" pos="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sz="5400" dirty="0"/>
              <a:t>Teaming AGREEMENTS &amp; Risk Management</a:t>
            </a:r>
          </a:p>
        </p:txBody>
      </p:sp>
      <p:sp>
        <p:nvSpPr>
          <p:cNvPr id="3" name="Subtitle 2"/>
          <p:cNvSpPr>
            <a:spLocks noGrp="1"/>
          </p:cNvSpPr>
          <p:nvPr>
            <p:ph type="subTitle" idx="1"/>
          </p:nvPr>
        </p:nvSpPr>
        <p:spPr/>
        <p:txBody>
          <a:bodyPr/>
          <a:lstStyle/>
          <a:p>
            <a:r>
              <a:rPr lang="en-US" dirty="0" smtClean="0"/>
              <a:t>DR. M ASGHAR MUGHAL</a:t>
            </a:r>
            <a:endParaRPr lang="en-US" dirty="0"/>
          </a:p>
          <a:p>
            <a:r>
              <a:rPr lang="en-US" dirty="0" smtClean="0"/>
              <a:t>Lecture </a:t>
            </a:r>
            <a:r>
              <a:rPr lang="en-US" dirty="0"/>
              <a:t>4</a:t>
            </a:r>
          </a:p>
        </p:txBody>
      </p:sp>
      <p:sp>
        <p:nvSpPr>
          <p:cNvPr id="4" name="Footer Placeholder 3"/>
          <p:cNvSpPr>
            <a:spLocks noGrp="1"/>
          </p:cNvSpPr>
          <p:nvPr>
            <p:ph type="ftr" sz="quarter" idx="11"/>
          </p:nvPr>
        </p:nvSpPr>
        <p:spPr/>
        <p:txBody>
          <a:bodyPr/>
          <a:lstStyle/>
          <a:p>
            <a:r>
              <a:rPr lang="en-US"/>
              <a:t>Lecture 4</a:t>
            </a:r>
          </a:p>
        </p:txBody>
      </p:sp>
    </p:spTree>
    <p:extLst>
      <p:ext uri="{BB962C8B-B14F-4D97-AF65-F5344CB8AC3E}">
        <p14:creationId xmlns:p14="http://schemas.microsoft.com/office/powerpoint/2010/main" xmlns="" val="212799085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892277"/>
          </a:xfrm>
        </p:spPr>
        <p:txBody>
          <a:bodyPr/>
          <a:lstStyle/>
          <a:p>
            <a:r>
              <a:rPr lang="en-US" dirty="0"/>
              <a:t>Strategic Alliance</a:t>
            </a:r>
          </a:p>
        </p:txBody>
      </p:sp>
      <p:sp>
        <p:nvSpPr>
          <p:cNvPr id="3" name="Content Placeholder 2"/>
          <p:cNvSpPr>
            <a:spLocks noGrp="1"/>
          </p:cNvSpPr>
          <p:nvPr>
            <p:ph idx="1"/>
          </p:nvPr>
        </p:nvSpPr>
        <p:spPr>
          <a:xfrm>
            <a:off x="1371600" y="1578076"/>
            <a:ext cx="9601200" cy="4875309"/>
          </a:xfrm>
        </p:spPr>
        <p:txBody>
          <a:bodyPr>
            <a:normAutofit/>
          </a:bodyPr>
          <a:lstStyle/>
          <a:p>
            <a:pPr marL="0" indent="0" algn="just">
              <a:buNone/>
            </a:pPr>
            <a:r>
              <a:rPr lang="en-US" dirty="0"/>
              <a:t>Strategic Alliance means establishing a relationship between two or more contractors for multiple opportunities. Strategic Alliance establishes the relationship between companies for multiple opportunities. A strategic alliance may result in many teaming agreements. Formation usually progresses in stages similar to these: </a:t>
            </a:r>
          </a:p>
          <a:p>
            <a:pPr marL="0" indent="0" algn="just">
              <a:buNone/>
            </a:pPr>
            <a:endParaRPr lang="en-US" dirty="0"/>
          </a:p>
          <a:p>
            <a:pPr marL="0" indent="0" algn="just">
              <a:buNone/>
            </a:pPr>
            <a:r>
              <a:rPr lang="en-US" dirty="0"/>
              <a:t>1. Networking &amp; Target Opportunities Identification </a:t>
            </a:r>
          </a:p>
          <a:p>
            <a:pPr marL="0" indent="0" algn="just">
              <a:buNone/>
            </a:pPr>
            <a:r>
              <a:rPr lang="en-US" dirty="0"/>
              <a:t>2. Strategy Development </a:t>
            </a:r>
          </a:p>
          <a:p>
            <a:pPr marL="0" indent="0" algn="just">
              <a:buNone/>
            </a:pPr>
            <a:r>
              <a:rPr lang="en-US" dirty="0"/>
              <a:t>3. Partner Assessment </a:t>
            </a:r>
          </a:p>
          <a:p>
            <a:pPr marL="0" indent="0" algn="just">
              <a:buNone/>
            </a:pPr>
            <a:r>
              <a:rPr lang="en-US" dirty="0"/>
              <a:t>4. Agreed Assignment of Roles &amp; Responsibilities </a:t>
            </a:r>
          </a:p>
          <a:p>
            <a:pPr marL="0" indent="0" algn="just">
              <a:buNone/>
            </a:pPr>
            <a:r>
              <a:rPr lang="en-US" dirty="0"/>
              <a:t>5. Contract Negotiation</a:t>
            </a:r>
          </a:p>
          <a:p>
            <a:pPr marL="0" indent="0" algn="just">
              <a:buNone/>
            </a:pPr>
            <a:r>
              <a:rPr lang="en-US" dirty="0"/>
              <a:t>6. Alliances in Operation </a:t>
            </a:r>
          </a:p>
          <a:p>
            <a:pPr marL="0" indent="0" algn="just">
              <a:buNone/>
            </a:pPr>
            <a:r>
              <a:rPr lang="en-US" dirty="0"/>
              <a:t>7. Termination of Alliances</a:t>
            </a:r>
          </a:p>
        </p:txBody>
      </p:sp>
      <p:sp>
        <p:nvSpPr>
          <p:cNvPr id="4" name="Footer Placeholder 3"/>
          <p:cNvSpPr>
            <a:spLocks noGrp="1"/>
          </p:cNvSpPr>
          <p:nvPr>
            <p:ph type="ftr" sz="quarter" idx="11"/>
          </p:nvPr>
        </p:nvSpPr>
        <p:spPr/>
        <p:txBody>
          <a:bodyPr/>
          <a:lstStyle/>
          <a:p>
            <a:pPr algn="ctr"/>
            <a:r>
              <a:rPr lang="en-US" dirty="0"/>
              <a:t>Lecture 4</a:t>
            </a:r>
          </a:p>
        </p:txBody>
      </p:sp>
    </p:spTree>
    <p:extLst>
      <p:ext uri="{BB962C8B-B14F-4D97-AF65-F5344CB8AC3E}">
        <p14:creationId xmlns:p14="http://schemas.microsoft.com/office/powerpoint/2010/main" xmlns="" val="1745610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848032"/>
          </a:xfrm>
        </p:spPr>
        <p:txBody>
          <a:bodyPr/>
          <a:lstStyle/>
          <a:p>
            <a:r>
              <a:rPr lang="en-US" dirty="0"/>
              <a:t>Why Form Alliances?</a:t>
            </a:r>
          </a:p>
        </p:txBody>
      </p:sp>
      <p:sp>
        <p:nvSpPr>
          <p:cNvPr id="3" name="Content Placeholder 2"/>
          <p:cNvSpPr>
            <a:spLocks noGrp="1"/>
          </p:cNvSpPr>
          <p:nvPr>
            <p:ph idx="1"/>
          </p:nvPr>
        </p:nvSpPr>
        <p:spPr>
          <a:xfrm>
            <a:off x="1371600" y="1533832"/>
            <a:ext cx="9601200" cy="3581400"/>
          </a:xfrm>
        </p:spPr>
        <p:txBody>
          <a:bodyPr/>
          <a:lstStyle/>
          <a:p>
            <a:pPr algn="just"/>
            <a:r>
              <a:rPr lang="en-US" dirty="0"/>
              <a:t>Teaming agreements between one company and another means that two or more companies will join forces to go after a new segment of work, often a particular new project. </a:t>
            </a:r>
          </a:p>
          <a:p>
            <a:pPr algn="just"/>
            <a:r>
              <a:rPr lang="en-US" dirty="0"/>
              <a:t>Each company will commit something unique to their arrangement:</a:t>
            </a:r>
          </a:p>
          <a:p>
            <a:pPr lvl="1"/>
            <a:r>
              <a:rPr lang="en-US" dirty="0"/>
              <a:t>Financial Resources</a:t>
            </a:r>
          </a:p>
          <a:p>
            <a:pPr lvl="1"/>
            <a:r>
              <a:rPr lang="en-US" dirty="0"/>
              <a:t>Human Resource</a:t>
            </a:r>
          </a:p>
          <a:p>
            <a:pPr lvl="1"/>
            <a:r>
              <a:rPr lang="en-US" dirty="0"/>
              <a:t>Company Assets </a:t>
            </a:r>
          </a:p>
          <a:p>
            <a:pPr lvl="1"/>
            <a:r>
              <a:rPr lang="en-US" dirty="0"/>
              <a:t>Technology</a:t>
            </a:r>
          </a:p>
          <a:p>
            <a:pPr lvl="1"/>
            <a:r>
              <a:rPr lang="en-US" dirty="0"/>
              <a:t>Risk/Reward Sharing</a:t>
            </a:r>
          </a:p>
        </p:txBody>
      </p:sp>
      <p:sp>
        <p:nvSpPr>
          <p:cNvPr id="4" name="Footer Placeholder 3"/>
          <p:cNvSpPr>
            <a:spLocks noGrp="1"/>
          </p:cNvSpPr>
          <p:nvPr>
            <p:ph type="ftr" sz="quarter" idx="11"/>
          </p:nvPr>
        </p:nvSpPr>
        <p:spPr/>
        <p:txBody>
          <a:bodyPr/>
          <a:lstStyle/>
          <a:p>
            <a:r>
              <a:rPr lang="en-US"/>
              <a:t>Lecture 4</a:t>
            </a:r>
          </a:p>
        </p:txBody>
      </p:sp>
    </p:spTree>
    <p:extLst>
      <p:ext uri="{BB962C8B-B14F-4D97-AF65-F5344CB8AC3E}">
        <p14:creationId xmlns:p14="http://schemas.microsoft.com/office/powerpoint/2010/main" xmlns="" val="3732728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Alliance </a:t>
            </a:r>
            <a:r>
              <a:rPr lang="en-US" b="1" dirty="0" err="1" smtClean="0"/>
              <a:t>vs</a:t>
            </a:r>
            <a:r>
              <a:rPr lang="en-US" b="1" dirty="0" smtClean="0"/>
              <a:t> </a:t>
            </a:r>
            <a:r>
              <a:rPr lang="en-US" b="1" dirty="0"/>
              <a:t>partnership</a:t>
            </a:r>
            <a:endParaRPr lang="en-US" dirty="0"/>
          </a:p>
        </p:txBody>
      </p:sp>
      <p:sp>
        <p:nvSpPr>
          <p:cNvPr id="3" name="Content Placeholder 2"/>
          <p:cNvSpPr>
            <a:spLocks noGrp="1"/>
          </p:cNvSpPr>
          <p:nvPr>
            <p:ph idx="1"/>
          </p:nvPr>
        </p:nvSpPr>
        <p:spPr/>
        <p:txBody>
          <a:bodyPr/>
          <a:lstStyle/>
          <a:p>
            <a:r>
              <a:rPr lang="en-US" b="1" dirty="0"/>
              <a:t>An alliance is a collaboration between individual companies for mutual profit, while a partnership is a merging of individual interests for mutual profit</a:t>
            </a:r>
            <a:r>
              <a:rPr lang="en-US" dirty="0"/>
              <a:t>.</a:t>
            </a:r>
          </a:p>
        </p:txBody>
      </p:sp>
      <p:sp>
        <p:nvSpPr>
          <p:cNvPr id="4" name="Footer Placeholder 3"/>
          <p:cNvSpPr>
            <a:spLocks noGrp="1"/>
          </p:cNvSpPr>
          <p:nvPr>
            <p:ph type="ftr" sz="quarter" idx="11"/>
          </p:nvPr>
        </p:nvSpPr>
        <p:spPr/>
        <p:txBody>
          <a:bodyPr/>
          <a:lstStyle/>
          <a:p>
            <a:r>
              <a:rPr lang="en-US" smtClean="0"/>
              <a:t>Lecture 4</a:t>
            </a:r>
            <a:endParaRPr lang="en-US"/>
          </a:p>
        </p:txBody>
      </p:sp>
    </p:spTree>
    <p:extLst>
      <p:ext uri="{BB962C8B-B14F-4D97-AF65-F5344CB8AC3E}">
        <p14:creationId xmlns:p14="http://schemas.microsoft.com/office/powerpoint/2010/main" xmlns="" val="40064555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Teaming Agreements</a:t>
            </a:r>
          </a:p>
        </p:txBody>
      </p:sp>
      <p:sp>
        <p:nvSpPr>
          <p:cNvPr id="3" name="Content Placeholder 2"/>
          <p:cNvSpPr>
            <a:spLocks noGrp="1"/>
          </p:cNvSpPr>
          <p:nvPr>
            <p:ph idx="1"/>
          </p:nvPr>
        </p:nvSpPr>
        <p:spPr/>
        <p:txBody>
          <a:bodyPr>
            <a:normAutofit lnSpcReduction="10000"/>
          </a:bodyPr>
          <a:lstStyle/>
          <a:p>
            <a:pPr algn="just"/>
            <a:r>
              <a:rPr lang="en-US" dirty="0"/>
              <a:t>Teaming agreements between one company and another means that two or more companies will join forces to go after a new segment</a:t>
            </a:r>
          </a:p>
          <a:p>
            <a:pPr algn="just"/>
            <a:r>
              <a:rPr lang="en-US" dirty="0"/>
              <a:t>Teaming Agreements in general happen when parties enter into arrangement in which:</a:t>
            </a:r>
          </a:p>
          <a:p>
            <a:pPr lvl="1" algn="just"/>
            <a:r>
              <a:rPr lang="en-US" dirty="0"/>
              <a:t>Two or more companies form a partnership or joint venture to act as a potential prime contractor; or </a:t>
            </a:r>
          </a:p>
          <a:p>
            <a:pPr lvl="1" algn="just"/>
            <a:r>
              <a:rPr lang="en-US" dirty="0"/>
              <a:t>A potential prime contractor agrees with one or more other companies to have them act as its subcontractors under a specified commercial or government contract or acquisition program. Or </a:t>
            </a:r>
          </a:p>
          <a:p>
            <a:pPr lvl="1" algn="just"/>
            <a:r>
              <a:rPr lang="en-US" i="1" dirty="0"/>
              <a:t>An agreement</a:t>
            </a:r>
            <a:r>
              <a:rPr lang="en-US" dirty="0"/>
              <a:t> </a:t>
            </a:r>
            <a:r>
              <a:rPr lang="en-US" i="1" dirty="0"/>
              <a:t>for a joint proposal resulting from a normal prime contractor-subcontractor, licensee-licensor, or leader-company relationship</a:t>
            </a:r>
            <a:endParaRPr lang="en-US" dirty="0"/>
          </a:p>
        </p:txBody>
      </p:sp>
      <p:pic>
        <p:nvPicPr>
          <p:cNvPr id="6146" name="Picture 2" descr="Image result for teaming Agreements"/>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8886425" y="318052"/>
            <a:ext cx="2086375" cy="1743489"/>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4" name="Footer Placeholder 3"/>
          <p:cNvSpPr>
            <a:spLocks noGrp="1"/>
          </p:cNvSpPr>
          <p:nvPr>
            <p:ph type="ftr" sz="quarter" idx="11"/>
          </p:nvPr>
        </p:nvSpPr>
        <p:spPr/>
        <p:txBody>
          <a:bodyPr/>
          <a:lstStyle/>
          <a:p>
            <a:r>
              <a:rPr lang="en-US"/>
              <a:t>Lecture 4</a:t>
            </a:r>
          </a:p>
        </p:txBody>
      </p:sp>
    </p:spTree>
    <p:extLst>
      <p:ext uri="{BB962C8B-B14F-4D97-AF65-F5344CB8AC3E}">
        <p14:creationId xmlns:p14="http://schemas.microsoft.com/office/powerpoint/2010/main" xmlns="" val="24804921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ctr"/>
            <a:r>
              <a:rPr lang="en-US" dirty="0"/>
              <a:t>Lecture 4</a:t>
            </a:r>
          </a:p>
        </p:txBody>
      </p:sp>
      <p:sp>
        <p:nvSpPr>
          <p:cNvPr id="5" name="Title 1"/>
          <p:cNvSpPr>
            <a:spLocks noGrp="1"/>
          </p:cNvSpPr>
          <p:nvPr>
            <p:ph type="title"/>
          </p:nvPr>
        </p:nvSpPr>
        <p:spPr>
          <a:xfrm>
            <a:off x="1233379" y="2950644"/>
            <a:ext cx="9601200" cy="597310"/>
          </a:xfrm>
        </p:spPr>
        <p:txBody>
          <a:bodyPr>
            <a:normAutofit fontScale="90000"/>
          </a:bodyPr>
          <a:lstStyle/>
          <a:p>
            <a:pPr algn="ctr"/>
            <a:r>
              <a:rPr lang="en-US" sz="4000" dirty="0"/>
              <a:t>Forms of Teaming Agreements/Alliances</a:t>
            </a:r>
          </a:p>
        </p:txBody>
      </p:sp>
    </p:spTree>
    <p:extLst>
      <p:ext uri="{BB962C8B-B14F-4D97-AF65-F5344CB8AC3E}">
        <p14:creationId xmlns:p14="http://schemas.microsoft.com/office/powerpoint/2010/main" xmlns="" val="22627939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81186"/>
            <a:ext cx="9601200" cy="597310"/>
          </a:xfrm>
        </p:spPr>
        <p:txBody>
          <a:bodyPr>
            <a:normAutofit fontScale="90000"/>
          </a:bodyPr>
          <a:lstStyle/>
          <a:p>
            <a:r>
              <a:rPr lang="en-US" sz="4000" dirty="0"/>
              <a:t>Forms of Teaming Agreements/Alliances</a:t>
            </a:r>
          </a:p>
        </p:txBody>
      </p:sp>
      <p:sp>
        <p:nvSpPr>
          <p:cNvPr id="3" name="Content Placeholder 2"/>
          <p:cNvSpPr>
            <a:spLocks noGrp="1"/>
          </p:cNvSpPr>
          <p:nvPr>
            <p:ph idx="1"/>
          </p:nvPr>
        </p:nvSpPr>
        <p:spPr>
          <a:xfrm>
            <a:off x="1371600" y="1283110"/>
            <a:ext cx="9601200" cy="5170276"/>
          </a:xfrm>
        </p:spPr>
        <p:txBody>
          <a:bodyPr>
            <a:normAutofit fontScale="92500" lnSpcReduction="10000"/>
          </a:bodyPr>
          <a:lstStyle/>
          <a:p>
            <a:pPr lvl="1" algn="just"/>
            <a:r>
              <a:rPr lang="en-US" dirty="0"/>
              <a:t>Joint venture </a:t>
            </a:r>
          </a:p>
          <a:p>
            <a:pPr lvl="2" algn="just"/>
            <a:r>
              <a:rPr lang="en-US" dirty="0"/>
              <a:t>A registered legal entity</a:t>
            </a:r>
          </a:p>
          <a:p>
            <a:pPr lvl="2" algn="just"/>
            <a:r>
              <a:rPr lang="en-US" dirty="0"/>
              <a:t>Sharing of not just resources but also profits, losses, liabilities and even equity</a:t>
            </a:r>
          </a:p>
          <a:p>
            <a:pPr lvl="2" algn="just"/>
            <a:r>
              <a:rPr lang="en-US" dirty="0"/>
              <a:t>Useful to secure large finances </a:t>
            </a:r>
          </a:p>
          <a:p>
            <a:pPr marL="987552" lvl="2" indent="0" algn="just">
              <a:buNone/>
            </a:pPr>
            <a:endParaRPr lang="en-US" dirty="0"/>
          </a:p>
          <a:p>
            <a:pPr lvl="1" algn="just"/>
            <a:r>
              <a:rPr lang="en-US" dirty="0"/>
              <a:t>Partnership/Consortium</a:t>
            </a:r>
          </a:p>
          <a:p>
            <a:pPr lvl="2" algn="just"/>
            <a:r>
              <a:rPr lang="en-US" dirty="0"/>
              <a:t>Not necessarily a registered legal entity</a:t>
            </a:r>
          </a:p>
          <a:p>
            <a:pPr lvl="2" algn="just"/>
            <a:r>
              <a:rPr lang="en-US" dirty="0"/>
              <a:t>Limited to sharing of resources with the tasks clearly defined for each partnering firm</a:t>
            </a:r>
          </a:p>
          <a:p>
            <a:pPr lvl="2" algn="just"/>
            <a:r>
              <a:rPr lang="en-US" dirty="0"/>
              <a:t>Each participating firm is liable to justify only its part of the job</a:t>
            </a:r>
          </a:p>
          <a:p>
            <a:pPr lvl="2" algn="just"/>
            <a:r>
              <a:rPr lang="en-US" dirty="0"/>
              <a:t> Sharing technology, trademarks or other assets</a:t>
            </a:r>
          </a:p>
          <a:p>
            <a:pPr marL="987552" lvl="2" indent="0" algn="just">
              <a:buNone/>
            </a:pPr>
            <a:endParaRPr lang="en-US" dirty="0"/>
          </a:p>
          <a:p>
            <a:pPr lvl="1" algn="just"/>
            <a:r>
              <a:rPr lang="en-US" dirty="0"/>
              <a:t>Typical Informal </a:t>
            </a:r>
            <a:r>
              <a:rPr lang="en-US" i="1" dirty="0"/>
              <a:t>Types</a:t>
            </a:r>
            <a:r>
              <a:rPr lang="en-US" dirty="0"/>
              <a:t>:</a:t>
            </a:r>
          </a:p>
          <a:p>
            <a:pPr lvl="2" algn="just"/>
            <a:r>
              <a:rPr lang="en-US" dirty="0"/>
              <a:t>Prime contractor-subcontractor relationship </a:t>
            </a:r>
          </a:p>
          <a:p>
            <a:pPr lvl="2" algn="just"/>
            <a:r>
              <a:rPr lang="en-US" dirty="0"/>
              <a:t>Licensee-licensor relationship </a:t>
            </a:r>
          </a:p>
          <a:p>
            <a:pPr lvl="2" algn="just"/>
            <a:r>
              <a:rPr lang="en-US" dirty="0"/>
              <a:t>Leader-follower company relationship</a:t>
            </a:r>
          </a:p>
          <a:p>
            <a:pPr lvl="2" algn="just"/>
            <a:r>
              <a:rPr lang="en-US" dirty="0"/>
              <a:t>Any other type of relationship as defined and intended by the parties to the agreement.</a:t>
            </a:r>
          </a:p>
          <a:p>
            <a:pPr algn="just"/>
            <a:endParaRPr lang="en-US" dirty="0"/>
          </a:p>
        </p:txBody>
      </p:sp>
      <p:sp>
        <p:nvSpPr>
          <p:cNvPr id="4" name="Footer Placeholder 3"/>
          <p:cNvSpPr>
            <a:spLocks noGrp="1"/>
          </p:cNvSpPr>
          <p:nvPr>
            <p:ph type="ftr" sz="quarter" idx="11"/>
          </p:nvPr>
        </p:nvSpPr>
        <p:spPr/>
        <p:txBody>
          <a:bodyPr/>
          <a:lstStyle/>
          <a:p>
            <a:pPr algn="ctr"/>
            <a:r>
              <a:rPr lang="en-US" dirty="0"/>
              <a:t>Lecture 4</a:t>
            </a:r>
          </a:p>
        </p:txBody>
      </p:sp>
    </p:spTree>
    <p:extLst>
      <p:ext uri="{BB962C8B-B14F-4D97-AF65-F5344CB8AC3E}">
        <p14:creationId xmlns:p14="http://schemas.microsoft.com/office/powerpoint/2010/main" xmlns="" val="419838923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is the relationship between the contractor and the subcontractors?</a:t>
            </a:r>
          </a:p>
        </p:txBody>
      </p:sp>
      <p:sp>
        <p:nvSpPr>
          <p:cNvPr id="3" name="Content Placeholder 2"/>
          <p:cNvSpPr>
            <a:spLocks noGrp="1"/>
          </p:cNvSpPr>
          <p:nvPr>
            <p:ph idx="1"/>
          </p:nvPr>
        </p:nvSpPr>
        <p:spPr/>
        <p:txBody>
          <a:bodyPr/>
          <a:lstStyle/>
          <a:p>
            <a:r>
              <a:rPr lang="en-US" dirty="0" smtClean="0"/>
              <a:t>For </a:t>
            </a:r>
            <a:r>
              <a:rPr lang="en-US" dirty="0"/>
              <a:t>example, a building contractor may hire a subcontractor to complete the electrical wiring part of the contractor's building job. </a:t>
            </a:r>
            <a:r>
              <a:rPr lang="en-US" b="1" dirty="0"/>
              <a:t>The contractor is responsible to the client for the building job including the part performed by the subcontractor</a:t>
            </a:r>
            <a:r>
              <a:rPr lang="en-US" dirty="0"/>
              <a:t>.</a:t>
            </a:r>
          </a:p>
          <a:p>
            <a:endParaRPr lang="en-US" dirty="0"/>
          </a:p>
        </p:txBody>
      </p:sp>
      <p:sp>
        <p:nvSpPr>
          <p:cNvPr id="4" name="Footer Placeholder 3"/>
          <p:cNvSpPr>
            <a:spLocks noGrp="1"/>
          </p:cNvSpPr>
          <p:nvPr>
            <p:ph type="ftr" sz="quarter" idx="11"/>
          </p:nvPr>
        </p:nvSpPr>
        <p:spPr/>
        <p:txBody>
          <a:bodyPr/>
          <a:lstStyle/>
          <a:p>
            <a:r>
              <a:rPr lang="en-US" smtClean="0"/>
              <a:t>Lecture 4</a:t>
            </a:r>
            <a:endParaRPr lang="en-US"/>
          </a:p>
        </p:txBody>
      </p:sp>
    </p:spTree>
    <p:extLst>
      <p:ext uri="{BB962C8B-B14F-4D97-AF65-F5344CB8AC3E}">
        <p14:creationId xmlns:p14="http://schemas.microsoft.com/office/powerpoint/2010/main" xmlns="" val="9869947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lvl="2" algn="l" rtl="0">
              <a:lnSpc>
                <a:spcPct val="89000"/>
              </a:lnSpc>
              <a:spcBef>
                <a:spcPct val="0"/>
              </a:spcBef>
            </a:pPr>
            <a:r>
              <a:rPr lang="en-US" sz="4000" b="1" dirty="0" smtClean="0"/>
              <a:t>Licensee-licensor relationship </a:t>
            </a:r>
            <a:br>
              <a:rPr lang="en-US" sz="4000" b="1" dirty="0" smtClean="0"/>
            </a:br>
            <a:endParaRPr lang="en-US" sz="4000" b="1" dirty="0"/>
          </a:p>
        </p:txBody>
      </p:sp>
      <p:sp>
        <p:nvSpPr>
          <p:cNvPr id="3" name="Content Placeholder 2"/>
          <p:cNvSpPr>
            <a:spLocks noGrp="1"/>
          </p:cNvSpPr>
          <p:nvPr>
            <p:ph idx="1"/>
          </p:nvPr>
        </p:nvSpPr>
        <p:spPr/>
        <p:txBody>
          <a:bodyPr/>
          <a:lstStyle/>
          <a:p>
            <a:r>
              <a:rPr lang="en-US" dirty="0"/>
              <a:t>The licensee is the party that receives a license, while the licensor is the party that grants the license. For instance, when a </a:t>
            </a:r>
            <a:r>
              <a:rPr lang="en-US" dirty="0" smtClean="0"/>
              <a:t>car owner </a:t>
            </a:r>
            <a:r>
              <a:rPr lang="en-US" dirty="0"/>
              <a:t>gets a </a:t>
            </a:r>
            <a:r>
              <a:rPr lang="en-US" dirty="0" smtClean="0"/>
              <a:t>driving license </a:t>
            </a:r>
            <a:r>
              <a:rPr lang="en-US" dirty="0"/>
              <a:t>from the state where </a:t>
            </a:r>
            <a:r>
              <a:rPr lang="en-US" dirty="0" smtClean="0"/>
              <a:t>he can drives his car, </a:t>
            </a:r>
            <a:r>
              <a:rPr lang="en-US" dirty="0"/>
              <a:t>the owner is the licensee and the government that issued the license is the licensor.</a:t>
            </a:r>
          </a:p>
        </p:txBody>
      </p:sp>
      <p:sp>
        <p:nvSpPr>
          <p:cNvPr id="4" name="Footer Placeholder 3"/>
          <p:cNvSpPr>
            <a:spLocks noGrp="1"/>
          </p:cNvSpPr>
          <p:nvPr>
            <p:ph type="ftr" sz="quarter" idx="11"/>
          </p:nvPr>
        </p:nvSpPr>
        <p:spPr/>
        <p:txBody>
          <a:bodyPr/>
          <a:lstStyle/>
          <a:p>
            <a:r>
              <a:rPr lang="en-US" smtClean="0"/>
              <a:t>Lecture 4</a:t>
            </a:r>
            <a:endParaRPr lang="en-US"/>
          </a:p>
        </p:txBody>
      </p:sp>
    </p:spTree>
    <p:extLst>
      <p:ext uri="{BB962C8B-B14F-4D97-AF65-F5344CB8AC3E}">
        <p14:creationId xmlns:p14="http://schemas.microsoft.com/office/powerpoint/2010/main" xmlns="" val="34073186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256191"/>
            <a:ext cx="9601200" cy="774290"/>
          </a:xfrm>
        </p:spPr>
        <p:txBody>
          <a:bodyPr/>
          <a:lstStyle/>
          <a:p>
            <a:r>
              <a:rPr lang="en-US" dirty="0"/>
              <a:t>Joint Ventures</a:t>
            </a:r>
          </a:p>
        </p:txBody>
      </p:sp>
      <p:sp>
        <p:nvSpPr>
          <p:cNvPr id="3" name="Content Placeholder 2"/>
          <p:cNvSpPr>
            <a:spLocks noGrp="1"/>
          </p:cNvSpPr>
          <p:nvPr>
            <p:ph idx="1"/>
          </p:nvPr>
        </p:nvSpPr>
        <p:spPr>
          <a:xfrm>
            <a:off x="1371600" y="1013188"/>
            <a:ext cx="9601200" cy="1900015"/>
          </a:xfrm>
        </p:spPr>
        <p:txBody>
          <a:bodyPr/>
          <a:lstStyle/>
          <a:p>
            <a:pPr algn="just"/>
            <a:r>
              <a:rPr lang="en-US" sz="1800" dirty="0"/>
              <a:t>An enterprise owned and operated by two or more businesses or individuals as a separate entity (not a subsidiary) for the mutual benefit of the members of the group. </a:t>
            </a:r>
          </a:p>
          <a:p>
            <a:pPr algn="just"/>
            <a:r>
              <a:rPr lang="en-US" sz="1800" dirty="0"/>
              <a:t>Joint ventures possess the characteristics of joint control; e.g. joint property, joint liability for losses and expenses, and joint participation in profits. </a:t>
            </a:r>
          </a:p>
          <a:p>
            <a:pPr algn="just"/>
            <a:r>
              <a:rPr lang="en-US" sz="1800" dirty="0"/>
              <a:t>Joint ventures can be either incorporated or unincorporated.</a:t>
            </a:r>
          </a:p>
          <a:p>
            <a:pPr algn="just"/>
            <a:endParaRPr lang="en-US" dirty="0"/>
          </a:p>
          <a:p>
            <a:endParaRPr lang="en-US" dirty="0"/>
          </a:p>
        </p:txBody>
      </p:sp>
      <p:sp>
        <p:nvSpPr>
          <p:cNvPr id="4" name="Footer Placeholder 3"/>
          <p:cNvSpPr>
            <a:spLocks noGrp="1"/>
          </p:cNvSpPr>
          <p:nvPr>
            <p:ph type="ftr" sz="quarter" idx="11"/>
          </p:nvPr>
        </p:nvSpPr>
        <p:spPr/>
        <p:txBody>
          <a:bodyPr/>
          <a:lstStyle/>
          <a:p>
            <a:pPr algn="ctr"/>
            <a:r>
              <a:rPr lang="en-US" dirty="0"/>
              <a:t>Lecture 4</a:t>
            </a:r>
          </a:p>
        </p:txBody>
      </p:sp>
      <p:pic>
        <p:nvPicPr>
          <p:cNvPr id="2050" name="Picture 2" descr="http://www.autonews.com/apps/pbcsi.dll/storyimage/CA/20130723/OEM05/130729969/AR/0/AR-130729969.jpg"/>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1371600" y="2913203"/>
            <a:ext cx="3796993" cy="2299291"/>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4"/>
          <p:cNvSpPr/>
          <p:nvPr/>
        </p:nvSpPr>
        <p:spPr>
          <a:xfrm>
            <a:off x="5168593" y="2862519"/>
            <a:ext cx="3444465" cy="1200329"/>
          </a:xfrm>
          <a:prstGeom prst="rect">
            <a:avLst/>
          </a:prstGeom>
        </p:spPr>
        <p:txBody>
          <a:bodyPr wrap="square">
            <a:spAutoFit/>
          </a:bodyPr>
          <a:lstStyle/>
          <a:p>
            <a:r>
              <a:rPr lang="en-US" dirty="0">
                <a:solidFill>
                  <a:srgbClr val="000000"/>
                </a:solidFill>
                <a:latin typeface="Georgia" panose="02040502050405020303" pitchFamily="18" charset="0"/>
              </a:rPr>
              <a:t>Ford and Toyota: </a:t>
            </a:r>
          </a:p>
          <a:p>
            <a:r>
              <a:rPr lang="en-US" dirty="0">
                <a:solidFill>
                  <a:srgbClr val="000000"/>
                </a:solidFill>
                <a:latin typeface="Georgia" panose="02040502050405020303" pitchFamily="18" charset="0"/>
              </a:rPr>
              <a:t>“Partnership to develop gasoline-electric systems for pickups and SUVs”</a:t>
            </a:r>
            <a:endParaRPr lang="en-US" dirty="0"/>
          </a:p>
        </p:txBody>
      </p:sp>
      <p:pic>
        <p:nvPicPr>
          <p:cNvPr id="2054" name="Picture 6" descr="Image result for maruti suzuki logo"/>
          <p:cNvPicPr>
            <a:picLocks noChangeAspect="1" noChangeArrowheads="1"/>
          </p:cNvPicPr>
          <p:nvPr/>
        </p:nvPicPr>
        <p:blipFill>
          <a:blip r:embed="rId3">
            <a:extLst>
              <a:ext uri="{28A0092B-C50C-407E-A947-70E740481C1C}">
                <a14:useLocalDpi xmlns:a14="http://schemas.microsoft.com/office/drawing/2010/main" xmlns="" val="0"/>
              </a:ext>
            </a:extLst>
          </a:blip>
          <a:srcRect/>
          <a:stretch>
            <a:fillRect/>
          </a:stretch>
        </p:blipFill>
        <p:spPr bwMode="auto">
          <a:xfrm>
            <a:off x="8965586" y="4356686"/>
            <a:ext cx="2299007" cy="2299007"/>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9685691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1014214"/>
          </a:xfrm>
        </p:spPr>
        <p:txBody>
          <a:bodyPr/>
          <a:lstStyle/>
          <a:p>
            <a:r>
              <a:rPr lang="en-US" dirty="0"/>
              <a:t>Consortiums/Strategic Alliances</a:t>
            </a:r>
          </a:p>
        </p:txBody>
      </p:sp>
      <p:sp>
        <p:nvSpPr>
          <p:cNvPr id="3" name="Content Placeholder 2"/>
          <p:cNvSpPr>
            <a:spLocks noGrp="1"/>
          </p:cNvSpPr>
          <p:nvPr>
            <p:ph idx="1"/>
          </p:nvPr>
        </p:nvSpPr>
        <p:spPr>
          <a:xfrm>
            <a:off x="1371600" y="1386348"/>
            <a:ext cx="9601200" cy="4481052"/>
          </a:xfrm>
        </p:spPr>
        <p:txBody>
          <a:bodyPr/>
          <a:lstStyle/>
          <a:p>
            <a:pPr algn="just"/>
            <a:r>
              <a:rPr lang="en-US" dirty="0"/>
              <a:t>In July 2011, Facebook announced a strategic alliance with Skype, which had been recently acquired by Microsoft. This allowed Microsoft to quickly move into the social networking space, Skype received access to a large number of new users and Facebook could leverage Skype's technology to enable video chat without making the investment in building it. </a:t>
            </a:r>
          </a:p>
          <a:p>
            <a:pPr algn="just"/>
            <a:endParaRPr lang="en-US" dirty="0"/>
          </a:p>
          <a:p>
            <a:pPr algn="just"/>
            <a:endParaRPr lang="en-US" dirty="0"/>
          </a:p>
          <a:p>
            <a:pPr algn="just"/>
            <a:endParaRPr lang="en-US" dirty="0"/>
          </a:p>
          <a:p>
            <a:pPr algn="just"/>
            <a:r>
              <a:rPr lang="en-US" dirty="0"/>
              <a:t>By contrast, Dow Chemical formed a joint venture with Japanese firm Ube to create a factory for a particular high-tech battery. They shared technology and risk of new product development.</a:t>
            </a:r>
          </a:p>
        </p:txBody>
      </p:sp>
      <p:sp>
        <p:nvSpPr>
          <p:cNvPr id="4" name="Footer Placeholder 3"/>
          <p:cNvSpPr>
            <a:spLocks noGrp="1"/>
          </p:cNvSpPr>
          <p:nvPr>
            <p:ph type="ftr" sz="quarter" idx="11"/>
          </p:nvPr>
        </p:nvSpPr>
        <p:spPr/>
        <p:txBody>
          <a:bodyPr/>
          <a:lstStyle/>
          <a:p>
            <a:r>
              <a:rPr lang="en-US"/>
              <a:t>Lecture 4</a:t>
            </a:r>
          </a:p>
        </p:txBody>
      </p:sp>
      <p:pic>
        <p:nvPicPr>
          <p:cNvPr id="1026" name="Picture 2" descr="Image result for facebook logo"/>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4530275" y="2696939"/>
            <a:ext cx="1720917" cy="1720917"/>
          </a:xfrm>
          <a:prstGeom prst="rect">
            <a:avLst/>
          </a:prstGeom>
          <a:noFill/>
          <a:extLst>
            <a:ext uri="{909E8E84-426E-40DD-AFC4-6F175D3DCCD1}">
              <a14:hiddenFill xmlns:a14="http://schemas.microsoft.com/office/drawing/2010/main" xmlns="">
                <a:solidFill>
                  <a:srgbClr val="FFFFFF"/>
                </a:solidFill>
              </a14:hiddenFill>
            </a:ext>
          </a:extLst>
        </p:spPr>
      </p:pic>
      <p:pic>
        <p:nvPicPr>
          <p:cNvPr id="1028" name="Picture 4" descr="Image result for skype logo"/>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732936" y="3070124"/>
            <a:ext cx="2088323" cy="974551"/>
          </a:xfrm>
          <a:prstGeom prst="rect">
            <a:avLst/>
          </a:prstGeom>
          <a:noFill/>
          <a:extLst>
            <a:ext uri="{909E8E84-426E-40DD-AFC4-6F175D3DCCD1}">
              <a14:hiddenFill xmlns:a14="http://schemas.microsoft.com/office/drawing/2010/main" xmlns="">
                <a:solidFill>
                  <a:srgbClr val="FFFFFF"/>
                </a:solidFill>
              </a14:hiddenFill>
            </a:ext>
          </a:extLst>
        </p:spPr>
      </p:pic>
      <p:pic>
        <p:nvPicPr>
          <p:cNvPr id="1030" name="Picture 6" descr="Image result for microsoft logo"/>
          <p:cNvPicPr>
            <a:picLocks noChangeAspect="1" noChangeArrowheads="1"/>
          </p:cNvPicPr>
          <p:nvPr/>
        </p:nvPicPr>
        <p:blipFill rotWithShape="1">
          <a:blip r:embed="rId4" cstate="print">
            <a:extLst>
              <a:ext uri="{28A0092B-C50C-407E-A947-70E740481C1C}">
                <a14:useLocalDpi xmlns:a14="http://schemas.microsoft.com/office/drawing/2010/main" xmlns="" val="0"/>
              </a:ext>
            </a:extLst>
          </a:blip>
          <a:srcRect t="26309" b="27912"/>
          <a:stretch/>
        </p:blipFill>
        <p:spPr bwMode="auto">
          <a:xfrm>
            <a:off x="6956433" y="2941363"/>
            <a:ext cx="4037032" cy="123207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7813668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p:cNvSpPr>
            <a:spLocks noGrp="1"/>
          </p:cNvSpPr>
          <p:nvPr>
            <p:ph type="ftr" sz="quarter" idx="11"/>
          </p:nvPr>
        </p:nvSpPr>
        <p:spPr/>
        <p:txBody>
          <a:bodyPr/>
          <a:lstStyle/>
          <a:p>
            <a:pPr algn="ctr"/>
            <a:r>
              <a:rPr lang="en-US" dirty="0"/>
              <a:t>Lecture 4</a:t>
            </a:r>
          </a:p>
        </p:txBody>
      </p:sp>
      <p:sp>
        <p:nvSpPr>
          <p:cNvPr id="5" name="Title 1"/>
          <p:cNvSpPr>
            <a:spLocks noGrp="1"/>
          </p:cNvSpPr>
          <p:nvPr>
            <p:ph type="title"/>
          </p:nvPr>
        </p:nvSpPr>
        <p:spPr>
          <a:xfrm>
            <a:off x="1233379" y="3098128"/>
            <a:ext cx="9601200" cy="751201"/>
          </a:xfrm>
        </p:spPr>
        <p:txBody>
          <a:bodyPr>
            <a:normAutofit/>
          </a:bodyPr>
          <a:lstStyle/>
          <a:p>
            <a:pPr algn="ctr"/>
            <a:r>
              <a:rPr lang="en-US" sz="4000" dirty="0"/>
              <a:t>Models of Teaming Agreements/Alliances</a:t>
            </a:r>
          </a:p>
        </p:txBody>
      </p:sp>
    </p:spTree>
    <p:extLst>
      <p:ext uri="{BB962C8B-B14F-4D97-AF65-F5344CB8AC3E}">
        <p14:creationId xmlns:p14="http://schemas.microsoft.com/office/powerpoint/2010/main" xmlns="" val="4071260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700548"/>
          </a:xfrm>
        </p:spPr>
        <p:txBody>
          <a:bodyPr>
            <a:normAutofit/>
          </a:bodyPr>
          <a:lstStyle/>
          <a:p>
            <a:r>
              <a:rPr lang="en-US" sz="4000" dirty="0"/>
              <a:t>Models of Teaming Agreements</a:t>
            </a:r>
          </a:p>
        </p:txBody>
      </p:sp>
      <p:sp>
        <p:nvSpPr>
          <p:cNvPr id="3" name="Content Placeholder 2"/>
          <p:cNvSpPr>
            <a:spLocks noGrp="1"/>
          </p:cNvSpPr>
          <p:nvPr>
            <p:ph idx="1"/>
          </p:nvPr>
        </p:nvSpPr>
        <p:spPr>
          <a:xfrm>
            <a:off x="1371600" y="1386348"/>
            <a:ext cx="9601200" cy="3581400"/>
          </a:xfrm>
        </p:spPr>
        <p:txBody>
          <a:bodyPr/>
          <a:lstStyle/>
          <a:p>
            <a:pPr marL="514350" indent="-514350">
              <a:buFont typeface="+mj-lt"/>
              <a:buAutoNum type="arabicPeriod"/>
            </a:pPr>
            <a:r>
              <a:rPr lang="en-US" dirty="0"/>
              <a:t>Teaming with a Superior-Subordinate Relationship (Vertical Hierarchy)</a:t>
            </a:r>
          </a:p>
          <a:p>
            <a:pPr marL="514350" indent="-514350">
              <a:buFont typeface="+mj-lt"/>
              <a:buAutoNum type="arabicPeriod"/>
            </a:pPr>
            <a:r>
              <a:rPr lang="en-US" dirty="0"/>
              <a:t>Teaming agreements creating "partners.“ (Horizontal Linkage)</a:t>
            </a:r>
          </a:p>
          <a:p>
            <a:pPr marL="514350" indent="-514350">
              <a:buFont typeface="+mj-lt"/>
              <a:buAutoNum type="arabicPeriod"/>
            </a:pPr>
            <a:r>
              <a:rPr lang="en-US" dirty="0"/>
              <a:t>Performance on a single project but "without" a teaming agreement</a:t>
            </a:r>
          </a:p>
          <a:p>
            <a:pPr marL="514350" indent="-514350">
              <a:buFont typeface="+mj-lt"/>
              <a:buAutoNum type="arabicPeriod"/>
            </a:pPr>
            <a:endParaRPr lang="en-US" dirty="0"/>
          </a:p>
          <a:p>
            <a:endParaRPr lang="en-US" dirty="0"/>
          </a:p>
        </p:txBody>
      </p:sp>
      <p:sp>
        <p:nvSpPr>
          <p:cNvPr id="4" name="Footer Placeholder 3"/>
          <p:cNvSpPr>
            <a:spLocks noGrp="1"/>
          </p:cNvSpPr>
          <p:nvPr>
            <p:ph type="ftr" sz="quarter" idx="11"/>
          </p:nvPr>
        </p:nvSpPr>
        <p:spPr/>
        <p:txBody>
          <a:bodyPr/>
          <a:lstStyle/>
          <a:p>
            <a:pPr algn="ctr"/>
            <a:r>
              <a:rPr lang="en-US" dirty="0"/>
              <a:t>Lecture 4</a:t>
            </a:r>
          </a:p>
        </p:txBody>
      </p:sp>
    </p:spTree>
    <p:extLst>
      <p:ext uri="{BB962C8B-B14F-4D97-AF65-F5344CB8AC3E}">
        <p14:creationId xmlns:p14="http://schemas.microsoft.com/office/powerpoint/2010/main" xmlns="" val="32109395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966019"/>
          </a:xfrm>
        </p:spPr>
        <p:txBody>
          <a:bodyPr>
            <a:normAutofit fontScale="90000"/>
          </a:bodyPr>
          <a:lstStyle/>
          <a:p>
            <a:r>
              <a:rPr lang="en-US" sz="3600" dirty="0"/>
              <a:t>Model #1: Teaming with a Superior-Subordinate Relationship</a:t>
            </a:r>
          </a:p>
        </p:txBody>
      </p:sp>
      <p:sp>
        <p:nvSpPr>
          <p:cNvPr id="3" name="Content Placeholder 2"/>
          <p:cNvSpPr>
            <a:spLocks noGrp="1"/>
          </p:cNvSpPr>
          <p:nvPr>
            <p:ph idx="1"/>
          </p:nvPr>
        </p:nvSpPr>
        <p:spPr>
          <a:xfrm>
            <a:off x="1371600" y="1651819"/>
            <a:ext cx="9601200" cy="1490816"/>
          </a:xfrm>
        </p:spPr>
        <p:txBody>
          <a:bodyPr/>
          <a:lstStyle/>
          <a:p>
            <a:r>
              <a:rPr lang="en-US" dirty="0"/>
              <a:t>All parties to the agreement, including the buying customer and the two subcontractors, know precisely who is responsible for the project</a:t>
            </a:r>
          </a:p>
          <a:p>
            <a:r>
              <a:rPr lang="en-US" dirty="0"/>
              <a:t>Even though the roles are clearly defined, the superior partner might over charge the client for managing the subordinate.</a:t>
            </a:r>
          </a:p>
          <a:p>
            <a:pPr marL="0" indent="0">
              <a:buNone/>
            </a:pPr>
            <a:endParaRPr lang="en-US" dirty="0"/>
          </a:p>
        </p:txBody>
      </p:sp>
      <p:sp>
        <p:nvSpPr>
          <p:cNvPr id="4" name="Footer Placeholder 3"/>
          <p:cNvSpPr>
            <a:spLocks noGrp="1"/>
          </p:cNvSpPr>
          <p:nvPr>
            <p:ph type="ftr" sz="quarter" idx="11"/>
          </p:nvPr>
        </p:nvSpPr>
        <p:spPr/>
        <p:txBody>
          <a:bodyPr/>
          <a:lstStyle/>
          <a:p>
            <a:pPr algn="ctr"/>
            <a:r>
              <a:rPr lang="en-US" dirty="0"/>
              <a:t>Lecture 4</a:t>
            </a:r>
          </a:p>
        </p:txBody>
      </p:sp>
      <p:pic>
        <p:nvPicPr>
          <p:cNvPr id="6" name="Picture 5"/>
          <p:cNvPicPr>
            <a:picLocks noChangeAspect="1"/>
          </p:cNvPicPr>
          <p:nvPr/>
        </p:nvPicPr>
        <p:blipFill rotWithShape="1">
          <a:blip r:embed="rId2"/>
          <a:srcRect l="19839" t="17187" r="21853" b="17835"/>
          <a:stretch/>
        </p:blipFill>
        <p:spPr>
          <a:xfrm>
            <a:off x="1371600" y="3345294"/>
            <a:ext cx="4350776" cy="2726005"/>
          </a:xfrm>
          <a:prstGeom prst="rect">
            <a:avLst/>
          </a:prstGeom>
        </p:spPr>
      </p:pic>
      <p:pic>
        <p:nvPicPr>
          <p:cNvPr id="7" name="Content Placeholder 4"/>
          <p:cNvPicPr>
            <a:picLocks noChangeAspect="1"/>
          </p:cNvPicPr>
          <p:nvPr/>
        </p:nvPicPr>
        <p:blipFill rotWithShape="1">
          <a:blip r:embed="rId3"/>
          <a:srcRect l="22458" t="22780" r="26746" b="14286"/>
          <a:stretch/>
        </p:blipFill>
        <p:spPr>
          <a:xfrm>
            <a:off x="6801810" y="3345294"/>
            <a:ext cx="4170990" cy="2905433"/>
          </a:xfrm>
          <a:prstGeom prst="rect">
            <a:avLst/>
          </a:prstGeom>
        </p:spPr>
      </p:pic>
    </p:spTree>
    <p:extLst>
      <p:ext uri="{BB962C8B-B14F-4D97-AF65-F5344CB8AC3E}">
        <p14:creationId xmlns:p14="http://schemas.microsoft.com/office/powerpoint/2010/main" xmlns="" val="10247058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26806"/>
          </a:xfrm>
        </p:spPr>
        <p:txBody>
          <a:bodyPr>
            <a:normAutofit fontScale="90000"/>
          </a:bodyPr>
          <a:lstStyle/>
          <a:p>
            <a:r>
              <a:rPr lang="en-US" sz="3600" dirty="0"/>
              <a:t>Model #2: Teaming agreements creating “Partners”</a:t>
            </a:r>
            <a:r>
              <a:rPr lang="en-US" dirty="0"/>
              <a:t/>
            </a:r>
            <a:br>
              <a:rPr lang="en-US" dirty="0"/>
            </a:br>
            <a:endParaRPr lang="en-US" dirty="0"/>
          </a:p>
        </p:txBody>
      </p:sp>
      <p:pic>
        <p:nvPicPr>
          <p:cNvPr id="5" name="Content Placeholder 4"/>
          <p:cNvPicPr>
            <a:picLocks noGrp="1" noChangeAspect="1"/>
          </p:cNvPicPr>
          <p:nvPr>
            <p:ph idx="1"/>
          </p:nvPr>
        </p:nvPicPr>
        <p:blipFill rotWithShape="1">
          <a:blip r:embed="rId2"/>
          <a:srcRect l="28584" t="18789" r="26963" b="24847"/>
          <a:stretch/>
        </p:blipFill>
        <p:spPr>
          <a:xfrm>
            <a:off x="3520340" y="2781829"/>
            <a:ext cx="5027278" cy="3613355"/>
          </a:xfrm>
          <a:prstGeom prst="rect">
            <a:avLst/>
          </a:prstGeom>
        </p:spPr>
      </p:pic>
      <p:sp>
        <p:nvSpPr>
          <p:cNvPr id="4" name="Footer Placeholder 3"/>
          <p:cNvSpPr>
            <a:spLocks noGrp="1"/>
          </p:cNvSpPr>
          <p:nvPr>
            <p:ph type="ftr" sz="quarter" idx="11"/>
          </p:nvPr>
        </p:nvSpPr>
        <p:spPr/>
        <p:txBody>
          <a:bodyPr/>
          <a:lstStyle/>
          <a:p>
            <a:pPr algn="ctr"/>
            <a:r>
              <a:rPr lang="en-US" dirty="0"/>
              <a:t>Lecture 4</a:t>
            </a:r>
          </a:p>
        </p:txBody>
      </p:sp>
      <p:sp>
        <p:nvSpPr>
          <p:cNvPr id="6" name="Rectangle 5"/>
          <p:cNvSpPr/>
          <p:nvPr/>
        </p:nvSpPr>
        <p:spPr>
          <a:xfrm>
            <a:off x="1371600" y="1370808"/>
            <a:ext cx="9601200" cy="1477328"/>
          </a:xfrm>
          <a:prstGeom prst="rect">
            <a:avLst/>
          </a:prstGeom>
        </p:spPr>
        <p:txBody>
          <a:bodyPr wrap="square">
            <a:spAutoFit/>
          </a:bodyPr>
          <a:lstStyle/>
          <a:p>
            <a:pPr marL="285750" indent="-285750">
              <a:buFont typeface="Arial" panose="020B0604020202020204" pitchFamily="34" charset="0"/>
              <a:buChar char="•"/>
            </a:pPr>
            <a:r>
              <a:rPr lang="en-US" dirty="0">
                <a:latin typeface="Times New Roman" panose="02020603050405020304" pitchFamily="18" charset="0"/>
              </a:rPr>
              <a:t>A single contract will be issued by a customer to either a joint venture, or directly to each of the various firms participating in the arrangement.</a:t>
            </a:r>
          </a:p>
          <a:p>
            <a:pPr marL="285750" indent="-285750">
              <a:buFont typeface="Arial" panose="020B0604020202020204" pitchFamily="34" charset="0"/>
              <a:buChar char="•"/>
            </a:pPr>
            <a:endParaRPr lang="en-US" dirty="0">
              <a:latin typeface="Times New Roman" panose="02020603050405020304" pitchFamily="18" charset="0"/>
            </a:endParaRPr>
          </a:p>
          <a:p>
            <a:pPr marL="285750" indent="-285750">
              <a:buFont typeface="Arial" panose="020B0604020202020204" pitchFamily="34" charset="0"/>
              <a:buChar char="•"/>
            </a:pPr>
            <a:r>
              <a:rPr lang="en-US" dirty="0">
                <a:latin typeface="Times New Roman" panose="02020603050405020304" pitchFamily="18" charset="0"/>
              </a:rPr>
              <a:t>Each firm was expected to perform 50% of the project scope in accordance with their previously defined teaming agreement</a:t>
            </a:r>
          </a:p>
        </p:txBody>
      </p:sp>
    </p:spTree>
    <p:extLst>
      <p:ext uri="{BB962C8B-B14F-4D97-AF65-F5344CB8AC3E}">
        <p14:creationId xmlns:p14="http://schemas.microsoft.com/office/powerpoint/2010/main" xmlns="" val="106019744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833284"/>
          </a:xfrm>
        </p:spPr>
        <p:txBody>
          <a:bodyPr>
            <a:normAutofit fontScale="90000"/>
          </a:bodyPr>
          <a:lstStyle/>
          <a:p>
            <a:pPr algn="just"/>
            <a:r>
              <a:rPr lang="en-US" sz="2800" dirty="0"/>
              <a:t>Model #3: Performance on a single project but "without" a teaming agreement</a:t>
            </a:r>
          </a:p>
        </p:txBody>
      </p:sp>
      <p:sp>
        <p:nvSpPr>
          <p:cNvPr id="3" name="Content Placeholder 2"/>
          <p:cNvSpPr>
            <a:spLocks noGrp="1"/>
          </p:cNvSpPr>
          <p:nvPr>
            <p:ph idx="1"/>
          </p:nvPr>
        </p:nvSpPr>
        <p:spPr>
          <a:xfrm>
            <a:off x="1371600" y="1519084"/>
            <a:ext cx="9601200" cy="1386348"/>
          </a:xfrm>
        </p:spPr>
        <p:txBody>
          <a:bodyPr>
            <a:normAutofit lnSpcReduction="10000"/>
          </a:bodyPr>
          <a:lstStyle/>
          <a:p>
            <a:pPr algn="just"/>
            <a:r>
              <a:rPr lang="en-US" dirty="0"/>
              <a:t>No teaming arrangement covering the multi-company performance on a single project.</a:t>
            </a:r>
          </a:p>
          <a:p>
            <a:pPr algn="just"/>
            <a:r>
              <a:rPr lang="en-US" dirty="0"/>
              <a:t>Buyer simply expects that the chosen companies will work together in a cooperative, harmonious way, under their direction.</a:t>
            </a:r>
          </a:p>
          <a:p>
            <a:endParaRPr lang="en-US" dirty="0"/>
          </a:p>
        </p:txBody>
      </p:sp>
      <p:sp>
        <p:nvSpPr>
          <p:cNvPr id="4" name="Footer Placeholder 3"/>
          <p:cNvSpPr>
            <a:spLocks noGrp="1"/>
          </p:cNvSpPr>
          <p:nvPr>
            <p:ph type="ftr" sz="quarter" idx="11"/>
          </p:nvPr>
        </p:nvSpPr>
        <p:spPr/>
        <p:txBody>
          <a:bodyPr/>
          <a:lstStyle/>
          <a:p>
            <a:pPr algn="ctr"/>
            <a:r>
              <a:rPr lang="en-US" dirty="0"/>
              <a:t>Lecture 4</a:t>
            </a:r>
          </a:p>
        </p:txBody>
      </p:sp>
      <p:pic>
        <p:nvPicPr>
          <p:cNvPr id="6" name="Picture 5"/>
          <p:cNvPicPr>
            <a:picLocks noChangeAspect="1"/>
          </p:cNvPicPr>
          <p:nvPr/>
        </p:nvPicPr>
        <p:blipFill rotWithShape="1">
          <a:blip r:embed="rId3"/>
          <a:srcRect l="23110" t="26814" r="20054" b="16575"/>
          <a:stretch/>
        </p:blipFill>
        <p:spPr>
          <a:xfrm>
            <a:off x="1371600" y="2905432"/>
            <a:ext cx="5161937" cy="2890684"/>
          </a:xfrm>
          <a:prstGeom prst="rect">
            <a:avLst/>
          </a:prstGeom>
        </p:spPr>
      </p:pic>
      <p:sp>
        <p:nvSpPr>
          <p:cNvPr id="7" name="TextBox 6"/>
          <p:cNvSpPr txBox="1"/>
          <p:nvPr/>
        </p:nvSpPr>
        <p:spPr>
          <a:xfrm>
            <a:off x="6706830" y="2905432"/>
            <a:ext cx="4092677" cy="3477875"/>
          </a:xfrm>
          <a:prstGeom prst="rect">
            <a:avLst/>
          </a:prstGeom>
          <a:noFill/>
        </p:spPr>
        <p:txBody>
          <a:bodyPr wrap="square" rtlCol="0">
            <a:spAutoFit/>
          </a:bodyPr>
          <a:lstStyle/>
          <a:p>
            <a:pPr marL="285750" indent="-285750" algn="just">
              <a:buFont typeface="Arial" panose="020B0604020202020204" pitchFamily="34" charset="0"/>
              <a:buChar char="•"/>
            </a:pPr>
            <a:r>
              <a:rPr lang="en-US" dirty="0"/>
              <a:t>BPX awarded three separate contracts to the selected companies, the details of each contract were known only to BPX and each respective company.</a:t>
            </a:r>
          </a:p>
          <a:p>
            <a:pPr marL="285750" indent="-285750" algn="just">
              <a:buFont typeface="Arial" panose="020B0604020202020204" pitchFamily="34" charset="0"/>
              <a:buChar char="•"/>
            </a:pPr>
            <a:r>
              <a:rPr lang="en-US" dirty="0"/>
              <a:t>The stated intent of BPX was to let the three contracted companies work out their own detailed interfaces, and to minimize the BPX management responsibilities</a:t>
            </a:r>
          </a:p>
          <a:p>
            <a:pPr marL="285750" indent="-285750" algn="just">
              <a:buFont typeface="Arial" panose="020B0604020202020204" pitchFamily="34" charset="0"/>
              <a:buChar char="•"/>
            </a:pPr>
            <a:r>
              <a:rPr lang="en-US" sz="2000" b="1" dirty="0"/>
              <a:t>Should this arrangement have worked?</a:t>
            </a:r>
          </a:p>
        </p:txBody>
      </p:sp>
    </p:spTree>
    <p:extLst>
      <p:ext uri="{BB962C8B-B14F-4D97-AF65-F5344CB8AC3E}">
        <p14:creationId xmlns:p14="http://schemas.microsoft.com/office/powerpoint/2010/main" xmlns="" val="4263453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612058"/>
          </a:xfrm>
        </p:spPr>
        <p:txBody>
          <a:bodyPr>
            <a:normAutofit fontScale="90000"/>
          </a:bodyPr>
          <a:lstStyle/>
          <a:p>
            <a:r>
              <a:rPr lang="en-US" dirty="0"/>
              <a:t>Answer!: “Hail Mary Pass”</a:t>
            </a:r>
          </a:p>
        </p:txBody>
      </p:sp>
      <p:sp>
        <p:nvSpPr>
          <p:cNvPr id="3" name="Content Placeholder 2"/>
          <p:cNvSpPr>
            <a:spLocks noGrp="1"/>
          </p:cNvSpPr>
          <p:nvPr>
            <p:ph idx="1"/>
          </p:nvPr>
        </p:nvSpPr>
        <p:spPr>
          <a:xfrm>
            <a:off x="1371600" y="1666568"/>
            <a:ext cx="9601200" cy="3581400"/>
          </a:xfrm>
        </p:spPr>
        <p:txBody>
          <a:bodyPr>
            <a:normAutofit/>
          </a:bodyPr>
          <a:lstStyle/>
          <a:p>
            <a:pPr marL="0" indent="0" algn="just">
              <a:buNone/>
            </a:pPr>
            <a:r>
              <a:rPr lang="en-US" sz="2400" i="1" dirty="0"/>
              <a:t>“The contracts were drawn up in ways that did not encourage cooperation between vendors. This left BPX a range of inter-contract problems arising from what was described as 'the cracks‘ between vendors. BPX ended up with the considerable task of having to manage not only each individual sub-contactor but also the relationship and interfaces between them”</a:t>
            </a:r>
            <a:endParaRPr lang="en-US" sz="2400" dirty="0"/>
          </a:p>
        </p:txBody>
      </p:sp>
      <p:sp>
        <p:nvSpPr>
          <p:cNvPr id="4" name="Footer Placeholder 3"/>
          <p:cNvSpPr>
            <a:spLocks noGrp="1"/>
          </p:cNvSpPr>
          <p:nvPr>
            <p:ph type="ftr" sz="quarter" idx="11"/>
          </p:nvPr>
        </p:nvSpPr>
        <p:spPr/>
        <p:txBody>
          <a:bodyPr/>
          <a:lstStyle/>
          <a:p>
            <a:pPr algn="ctr"/>
            <a:r>
              <a:rPr lang="en-US" dirty="0"/>
              <a:t>Lecture 4</a:t>
            </a:r>
          </a:p>
        </p:txBody>
      </p:sp>
      <p:sp>
        <p:nvSpPr>
          <p:cNvPr id="6" name="AutoShape 4" descr="Image result for hail mary pass"/>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xmlns="">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32" name="Picture 8" descr="Image result for hail mary pass"/>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583544" y="3817726"/>
            <a:ext cx="4389256" cy="2633554"/>
          </a:xfrm>
          <a:prstGeom prst="rect">
            <a:avLst/>
          </a:prstGeom>
          <a:noFill/>
          <a:extLst>
            <a:ext uri="{909E8E84-426E-40DD-AFC4-6F175D3DCCD1}">
              <a14:hiddenFill xmlns:a14="http://schemas.microsoft.com/office/drawing/2010/main" xmlns="">
                <a:solidFill>
                  <a:srgbClr val="FFFFFF"/>
                </a:solidFill>
              </a14:hiddenFill>
            </a:ext>
          </a:extLst>
        </p:spPr>
      </p:pic>
      <p:sp>
        <p:nvSpPr>
          <p:cNvPr id="8" name="Rectangle 7"/>
          <p:cNvSpPr/>
          <p:nvPr/>
        </p:nvSpPr>
        <p:spPr>
          <a:xfrm>
            <a:off x="1371600" y="4279525"/>
            <a:ext cx="3288890" cy="646331"/>
          </a:xfrm>
          <a:prstGeom prst="rect">
            <a:avLst/>
          </a:prstGeom>
        </p:spPr>
        <p:txBody>
          <a:bodyPr wrap="square">
            <a:spAutoFit/>
          </a:bodyPr>
          <a:lstStyle/>
          <a:p>
            <a:r>
              <a:rPr lang="en-US" dirty="0">
                <a:latin typeface="Times New Roman" panose="02020603050405020304" pitchFamily="18" charset="0"/>
              </a:rPr>
              <a:t>(1) Sheer desperation,  </a:t>
            </a:r>
          </a:p>
          <a:p>
            <a:r>
              <a:rPr lang="en-US" dirty="0">
                <a:latin typeface="Times New Roman" panose="02020603050405020304" pitchFamily="18" charset="0"/>
              </a:rPr>
              <a:t>(2) No definitive plan of action.</a:t>
            </a:r>
            <a:endParaRPr lang="en-US" dirty="0"/>
          </a:p>
        </p:txBody>
      </p:sp>
    </p:spTree>
    <p:extLst>
      <p:ext uri="{BB962C8B-B14F-4D97-AF65-F5344CB8AC3E}">
        <p14:creationId xmlns:p14="http://schemas.microsoft.com/office/powerpoint/2010/main" xmlns="" val="12378524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759542"/>
          </a:xfrm>
        </p:spPr>
        <p:txBody>
          <a:bodyPr>
            <a:normAutofit/>
          </a:bodyPr>
          <a:lstStyle/>
          <a:p>
            <a:r>
              <a:rPr lang="en-US" sz="4000" dirty="0"/>
              <a:t>Cracking Down on Cartels: Anti Trust Law!</a:t>
            </a:r>
          </a:p>
        </p:txBody>
      </p:sp>
      <p:sp>
        <p:nvSpPr>
          <p:cNvPr id="3" name="Content Placeholder 2"/>
          <p:cNvSpPr>
            <a:spLocks noGrp="1"/>
          </p:cNvSpPr>
          <p:nvPr>
            <p:ph idx="1"/>
          </p:nvPr>
        </p:nvSpPr>
        <p:spPr>
          <a:xfrm>
            <a:off x="1371600" y="1696065"/>
            <a:ext cx="9601200" cy="589858"/>
          </a:xfrm>
        </p:spPr>
        <p:txBody>
          <a:bodyPr/>
          <a:lstStyle/>
          <a:p>
            <a:r>
              <a:rPr lang="en-US" dirty="0"/>
              <a:t>Free market and fierce Competition is beneficial for the public; alliances are not!</a:t>
            </a:r>
          </a:p>
        </p:txBody>
      </p:sp>
      <p:sp>
        <p:nvSpPr>
          <p:cNvPr id="4" name="Footer Placeholder 3"/>
          <p:cNvSpPr>
            <a:spLocks noGrp="1"/>
          </p:cNvSpPr>
          <p:nvPr>
            <p:ph type="ftr" sz="quarter" idx="11"/>
          </p:nvPr>
        </p:nvSpPr>
        <p:spPr/>
        <p:txBody>
          <a:bodyPr/>
          <a:lstStyle/>
          <a:p>
            <a:pPr algn="ctr"/>
            <a:r>
              <a:rPr lang="en-US" dirty="0"/>
              <a:t>Lecture 4</a:t>
            </a:r>
          </a:p>
        </p:txBody>
      </p:sp>
      <p:pic>
        <p:nvPicPr>
          <p:cNvPr id="3074" name="Picture 2" descr="Countdown commences for setting up Appellate Tribunal&#10;"/>
          <p:cNvPicPr>
            <a:picLocks noChangeAspect="1" noChangeArrowheads="1"/>
          </p:cNvPicPr>
          <p:nvPr/>
        </p:nvPicPr>
        <p:blipFill>
          <a:blip r:embed="rId2">
            <a:extLst>
              <a:ext uri="{28A0092B-C50C-407E-A947-70E740481C1C}">
                <a14:useLocalDpi xmlns:a14="http://schemas.microsoft.com/office/drawing/2010/main" xmlns="" val="0"/>
              </a:ext>
            </a:extLst>
          </a:blip>
          <a:srcRect/>
          <a:stretch>
            <a:fillRect/>
          </a:stretch>
        </p:blipFill>
        <p:spPr bwMode="auto">
          <a:xfrm>
            <a:off x="6984078" y="2285923"/>
            <a:ext cx="3988722" cy="2991542"/>
          </a:xfrm>
          <a:prstGeom prst="rect">
            <a:avLst/>
          </a:prstGeom>
          <a:noFill/>
          <a:extLst>
            <a:ext uri="{909E8E84-426E-40DD-AFC4-6F175D3DCCD1}">
              <a14:hiddenFill xmlns:a14="http://schemas.microsoft.com/office/drawing/2010/main" xmlns="">
                <a:solidFill>
                  <a:srgbClr val="FFFFFF"/>
                </a:solidFill>
              </a14:hiddenFill>
            </a:ext>
          </a:extLst>
        </p:spPr>
      </p:pic>
      <p:sp>
        <p:nvSpPr>
          <p:cNvPr id="5" name="Rectangle 4"/>
          <p:cNvSpPr/>
          <p:nvPr/>
        </p:nvSpPr>
        <p:spPr>
          <a:xfrm>
            <a:off x="1233948" y="2285923"/>
            <a:ext cx="5750130" cy="3970318"/>
          </a:xfrm>
          <a:prstGeom prst="rect">
            <a:avLst/>
          </a:prstGeom>
        </p:spPr>
        <p:txBody>
          <a:bodyPr wrap="square">
            <a:spAutoFit/>
          </a:bodyPr>
          <a:lstStyle/>
          <a:p>
            <a:pPr algn="just"/>
            <a:r>
              <a:rPr lang="en-US" b="1" i="1" dirty="0">
                <a:latin typeface="Times New Roman" panose="02020603050405020304" pitchFamily="18" charset="0"/>
              </a:rPr>
              <a:t>Trust: </a:t>
            </a:r>
            <a:r>
              <a:rPr lang="en-US" i="1" dirty="0">
                <a:latin typeface="Times New Roman" panose="02020603050405020304" pitchFamily="18" charset="0"/>
              </a:rPr>
              <a:t>An association or organization of persons or corporations having the intention and power, or the tendency, to create a monopoly, control production, interfere with the free course of trade or transportation, or to fix and regulate the supply and the price of commodities.</a:t>
            </a:r>
          </a:p>
          <a:p>
            <a:pPr algn="just"/>
            <a:endParaRPr lang="en-US" i="1" dirty="0"/>
          </a:p>
          <a:p>
            <a:pPr algn="just"/>
            <a:r>
              <a:rPr lang="en-US" i="1" dirty="0"/>
              <a:t>The "trust“ was originally a device by which several corporations engaged in the same general line of business might </a:t>
            </a:r>
            <a:r>
              <a:rPr lang="en-US" b="1" i="1" dirty="0"/>
              <a:t>combine</a:t>
            </a:r>
            <a:r>
              <a:rPr lang="en-US" i="1" dirty="0"/>
              <a:t> for their </a:t>
            </a:r>
            <a:r>
              <a:rPr lang="en-US" b="1" i="1" dirty="0"/>
              <a:t>mutual advantage</a:t>
            </a:r>
            <a:r>
              <a:rPr lang="en-US" i="1" dirty="0"/>
              <a:t>, in the direction of </a:t>
            </a:r>
            <a:r>
              <a:rPr lang="en-US" b="1" i="1" dirty="0"/>
              <a:t>eliminating destructive competition</a:t>
            </a:r>
            <a:r>
              <a:rPr lang="en-US" i="1" dirty="0"/>
              <a:t>, controlling the output of their commodity, and regulating and maintaining its price, but at the same time, </a:t>
            </a:r>
            <a:r>
              <a:rPr lang="en-US" b="1" i="1" dirty="0"/>
              <a:t>preserving their separate individual existence</a:t>
            </a:r>
            <a:r>
              <a:rPr lang="en-US" i="1" dirty="0"/>
              <a:t>, without any consolidation or merger”</a:t>
            </a:r>
            <a:endParaRPr lang="en-US" dirty="0"/>
          </a:p>
        </p:txBody>
      </p:sp>
    </p:spTree>
    <p:extLst>
      <p:ext uri="{BB962C8B-B14F-4D97-AF65-F5344CB8AC3E}">
        <p14:creationId xmlns:p14="http://schemas.microsoft.com/office/powerpoint/2010/main" xmlns="" val="398005719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71600" y="685800"/>
            <a:ext cx="9601200" cy="582561"/>
          </a:xfrm>
        </p:spPr>
        <p:txBody>
          <a:bodyPr>
            <a:normAutofit/>
          </a:bodyPr>
          <a:lstStyle/>
          <a:p>
            <a:r>
              <a:rPr lang="en-US" sz="3600" dirty="0"/>
              <a:t>Anti –Trust Law in Pakistan</a:t>
            </a:r>
          </a:p>
        </p:txBody>
      </p:sp>
      <p:sp>
        <p:nvSpPr>
          <p:cNvPr id="3" name="Content Placeholder 2"/>
          <p:cNvSpPr>
            <a:spLocks noGrp="1"/>
          </p:cNvSpPr>
          <p:nvPr>
            <p:ph idx="1"/>
          </p:nvPr>
        </p:nvSpPr>
        <p:spPr>
          <a:xfrm>
            <a:off x="1371600" y="1268361"/>
            <a:ext cx="9601200" cy="3581400"/>
          </a:xfrm>
        </p:spPr>
        <p:txBody>
          <a:bodyPr/>
          <a:lstStyle/>
          <a:p>
            <a:pPr algn="just"/>
            <a:r>
              <a:rPr lang="en-US" dirty="0"/>
              <a:t>The Competition Act of 2010 was signed by the then President Asif Ali </a:t>
            </a:r>
            <a:r>
              <a:rPr lang="en-US" dirty="0" err="1"/>
              <a:t>Zardari</a:t>
            </a:r>
            <a:r>
              <a:rPr lang="en-US" dirty="0"/>
              <a:t> of Pakistan. The anti-trust bill was singed for cracking down on business cartels, formalizing it as an act of the parliament. </a:t>
            </a:r>
          </a:p>
          <a:p>
            <a:pPr algn="just"/>
            <a:r>
              <a:rPr lang="en-US" dirty="0"/>
              <a:t>The endorsement of the Competition Act of 2010 is suppose to provide legal cover to the Competition Commission of Pakistan (CCP), the legal existence of which had ceased after the lapse of the CCP ordinance.</a:t>
            </a:r>
          </a:p>
        </p:txBody>
      </p:sp>
      <p:sp>
        <p:nvSpPr>
          <p:cNvPr id="4" name="Footer Placeholder 3"/>
          <p:cNvSpPr>
            <a:spLocks noGrp="1"/>
          </p:cNvSpPr>
          <p:nvPr>
            <p:ph type="ftr" sz="quarter" idx="11"/>
          </p:nvPr>
        </p:nvSpPr>
        <p:spPr/>
        <p:txBody>
          <a:bodyPr/>
          <a:lstStyle/>
          <a:p>
            <a:pPr algn="ctr"/>
            <a:r>
              <a:rPr lang="en-US" dirty="0"/>
              <a:t>Lecture 4</a:t>
            </a:r>
          </a:p>
        </p:txBody>
      </p:sp>
    </p:spTree>
    <p:extLst>
      <p:ext uri="{BB962C8B-B14F-4D97-AF65-F5344CB8AC3E}">
        <p14:creationId xmlns:p14="http://schemas.microsoft.com/office/powerpoint/2010/main" xmlns="" val="1585775140"/>
      </p:ext>
    </p:extLst>
  </p:cSld>
  <p:clrMapOvr>
    <a:masterClrMapping/>
  </p:clrMapOvr>
</p:sld>
</file>

<file path=ppt/theme/theme1.xml><?xml version="1.0" encoding="utf-8"?>
<a:theme xmlns:a="http://schemas.openxmlformats.org/drawingml/2006/main" name="Crop">
  <a:themeElements>
    <a:clrScheme name="Crop">
      <a:dk1>
        <a:sysClr val="windowText" lastClr="000000"/>
      </a:dk1>
      <a:lt1>
        <a:sysClr val="window" lastClr="FFFFFF"/>
      </a:lt1>
      <a:dk2>
        <a:srgbClr val="191B0E"/>
      </a:dk2>
      <a:lt2>
        <a:srgbClr val="EFEDE3"/>
      </a:lt2>
      <a:accent1>
        <a:srgbClr val="8C8D86"/>
      </a:accent1>
      <a:accent2>
        <a:srgbClr val="E6C069"/>
      </a:accent2>
      <a:accent3>
        <a:srgbClr val="897B61"/>
      </a:accent3>
      <a:accent4>
        <a:srgbClr val="8DAB8E"/>
      </a:accent4>
      <a:accent5>
        <a:srgbClr val="77A2BB"/>
      </a:accent5>
      <a:accent6>
        <a:srgbClr val="E28394"/>
      </a:accent6>
      <a:hlink>
        <a:srgbClr val="77A2BB"/>
      </a:hlink>
      <a:folHlink>
        <a:srgbClr val="957A99"/>
      </a:folHlink>
    </a:clrScheme>
    <a:fontScheme name="Crop">
      <a:maj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a:ea typeface=""/>
        <a:cs typeface=""/>
        <a:font script="Jpan" typeface="メイリオ"/>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Crop">
      <a:fillStyleLst>
        <a:solidFill>
          <a:schemeClr val="phClr"/>
        </a:solidFill>
        <a:gradFill rotWithShape="1">
          <a:gsLst>
            <a:gs pos="0">
              <a:schemeClr val="phClr">
                <a:tint val="67000"/>
                <a:satMod val="105000"/>
                <a:lumMod val="110000"/>
              </a:schemeClr>
            </a:gs>
            <a:gs pos="50000">
              <a:schemeClr val="phClr">
                <a:tint val="73000"/>
                <a:satMod val="103000"/>
                <a:lumMod val="105000"/>
              </a:schemeClr>
            </a:gs>
            <a:gs pos="100000">
              <a:schemeClr val="phClr">
                <a:tint val="81000"/>
                <a:satMod val="109000"/>
                <a:lumMod val="105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6350" cap="flat" cmpd="sng" algn="in">
          <a:solidFill>
            <a:schemeClr val="phClr"/>
          </a:solidFill>
          <a:prstDash val="solid"/>
        </a:ln>
        <a:ln w="34925" cap="flat" cmpd="sng" algn="in">
          <a:solidFill>
            <a:schemeClr val="phClr"/>
          </a:solidFill>
          <a:prstDash val="solid"/>
        </a:ln>
        <a:ln w="19050" cap="flat" cmpd="sng" algn="in">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35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Crop" id="{EC9488ED-E761-4D60-9AC4-764D1FE2C171}" vid="{CE19780C-D67D-4C13-9DE9-A52BC3BA51B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Crop</Template>
  <TotalTime>2976</TotalTime>
  <Words>1225</Words>
  <Application>Microsoft Office PowerPoint</Application>
  <PresentationFormat>Custom</PresentationFormat>
  <Paragraphs>113</Paragraphs>
  <Slides>19</Slides>
  <Notes>1</Notes>
  <HiddenSlides>0</HiddenSlides>
  <MMClips>0</MMClips>
  <ScaleCrop>false</ScaleCrop>
  <HeadingPairs>
    <vt:vector size="4" baseType="variant">
      <vt:variant>
        <vt:lpstr>Theme</vt:lpstr>
      </vt:variant>
      <vt:variant>
        <vt:i4>1</vt:i4>
      </vt:variant>
      <vt:variant>
        <vt:lpstr>Slide Titles</vt:lpstr>
      </vt:variant>
      <vt:variant>
        <vt:i4>19</vt:i4>
      </vt:variant>
    </vt:vector>
  </HeadingPairs>
  <TitlesOfParts>
    <vt:vector size="20" baseType="lpstr">
      <vt:lpstr>Crop</vt:lpstr>
      <vt:lpstr>Teaming AGREEMENTS &amp; Risk Management</vt:lpstr>
      <vt:lpstr>Strategic Alliance</vt:lpstr>
      <vt:lpstr>Why Form Alliances?</vt:lpstr>
      <vt:lpstr>Alliance vs partnership</vt:lpstr>
      <vt:lpstr>Teaming Agreements</vt:lpstr>
      <vt:lpstr>Forms of Teaming Agreements/Alliances</vt:lpstr>
      <vt:lpstr>Forms of Teaming Agreements/Alliances</vt:lpstr>
      <vt:lpstr>What is the relationship between the contractor and the subcontractors?</vt:lpstr>
      <vt:lpstr>Licensee-licensor relationship  </vt:lpstr>
      <vt:lpstr>Joint Ventures</vt:lpstr>
      <vt:lpstr>Consortiums/Strategic Alliances</vt:lpstr>
      <vt:lpstr>Models of Teaming Agreements/Alliances</vt:lpstr>
      <vt:lpstr>Models of Teaming Agreements</vt:lpstr>
      <vt:lpstr>Model #1: Teaming with a Superior-Subordinate Relationship</vt:lpstr>
      <vt:lpstr>Model #2: Teaming agreements creating “Partners” </vt:lpstr>
      <vt:lpstr>Model #3: Performance on a single project but "without" a teaming agreement</vt:lpstr>
      <vt:lpstr>Answer!: “Hail Mary Pass”</vt:lpstr>
      <vt:lpstr>Cracking Down on Cartels: Anti Trust Law!</vt:lpstr>
      <vt:lpstr>Anti –Trust Law in Pakistan</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Rabbia Butt</dc:creator>
  <cp:lastModifiedBy>user</cp:lastModifiedBy>
  <cp:revision>50</cp:revision>
  <dcterms:created xsi:type="dcterms:W3CDTF">2017-10-14T03:59:41Z</dcterms:created>
  <dcterms:modified xsi:type="dcterms:W3CDTF">2023-08-18T05:41:31Z</dcterms:modified>
</cp:coreProperties>
</file>