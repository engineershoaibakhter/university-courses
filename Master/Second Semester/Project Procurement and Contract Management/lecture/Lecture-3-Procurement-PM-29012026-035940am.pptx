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9" r:id="rId5"/>
    <p:sldId id="280" r:id="rId6"/>
    <p:sldId id="281" r:id="rId7"/>
    <p:sldId id="282" r:id="rId8"/>
    <p:sldId id="260" r:id="rId9"/>
    <p:sldId id="276" r:id="rId10"/>
    <p:sldId id="261" r:id="rId11"/>
    <p:sldId id="262" r:id="rId12"/>
    <p:sldId id="263" r:id="rId13"/>
    <p:sldId id="284" r:id="rId14"/>
    <p:sldId id="283" r:id="rId15"/>
    <p:sldId id="264" r:id="rId16"/>
    <p:sldId id="286" r:id="rId17"/>
    <p:sldId id="274" r:id="rId18"/>
    <p:sldId id="275" r:id="rId19"/>
    <p:sldId id="277" r:id="rId20"/>
    <p:sldId id="266" r:id="rId21"/>
    <p:sldId id="278" r:id="rId22"/>
    <p:sldId id="270" r:id="rId23"/>
    <p:sldId id="265" r:id="rId24"/>
    <p:sldId id="271" r:id="rId25"/>
    <p:sldId id="285" r:id="rId26"/>
    <p:sldId id="272" r:id="rId27"/>
    <p:sldId id="273" r:id="rId28"/>
    <p:sldId id="267" r:id="rId29"/>
    <p:sldId id="268" r:id="rId30"/>
    <p:sldId id="287" r:id="rId31"/>
    <p:sldId id="27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BFF9E18E-7D50-4A1B-802D-1358B1045E29}" type="datetimeFigureOut">
              <a:rPr lang="en-US" smtClean="0"/>
              <a:pPr/>
              <a:t>8/18/2023</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ED9064AE-2C82-48C8-B566-7A987F699BF2}" type="slidenum">
              <a:rPr lang="en-US" smtClean="0"/>
              <a:pPr/>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xmlns="" val="41141130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F9E18E-7D50-4A1B-802D-1358B1045E29}"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064AE-2C82-48C8-B566-7A987F699BF2}" type="slidenum">
              <a:rPr lang="en-US" smtClean="0"/>
              <a:pPr/>
              <a:t>‹#›</a:t>
            </a:fld>
            <a:endParaRPr lang="en-US"/>
          </a:p>
        </p:txBody>
      </p:sp>
    </p:spTree>
    <p:extLst>
      <p:ext uri="{BB962C8B-B14F-4D97-AF65-F5344CB8AC3E}">
        <p14:creationId xmlns:p14="http://schemas.microsoft.com/office/powerpoint/2010/main" xmlns="" val="1833715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BFF9E18E-7D50-4A1B-802D-1358B1045E29}" type="datetimeFigureOut">
              <a:rPr lang="en-US" smtClean="0"/>
              <a:pPr/>
              <a:t>8/18/2023</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ED9064AE-2C82-48C8-B566-7A987F699BF2}" type="slidenum">
              <a:rPr lang="en-US" smtClean="0"/>
              <a:pPr/>
              <a:t>‹#›</a:t>
            </a:fld>
            <a:endParaRPr lang="en-US"/>
          </a:p>
        </p:txBody>
      </p:sp>
      <p:sp>
        <p:nvSpPr>
          <p:cNvPr id="7" name="Freeform 6"/>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xmlns="" val="46202984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FF9E18E-7D50-4A1B-802D-1358B1045E29}"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9064AE-2C82-48C8-B566-7A987F699BF2}" type="slidenum">
              <a:rPr lang="en-US" smtClean="0"/>
              <a:pPr/>
              <a:t>‹#›</a:t>
            </a:fld>
            <a:endParaRPr lang="en-US"/>
          </a:p>
        </p:txBody>
      </p:sp>
    </p:spTree>
    <p:extLst>
      <p:ext uri="{BB962C8B-B14F-4D97-AF65-F5344CB8AC3E}">
        <p14:creationId xmlns:p14="http://schemas.microsoft.com/office/powerpoint/2010/main" xmlns="" val="3307511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FF9E18E-7D50-4A1B-802D-1358B1045E29}" type="datetimeFigureOut">
              <a:rPr lang="en-US" smtClean="0"/>
              <a:pPr/>
              <a:t>8/18/2023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9064AE-2C82-48C8-B566-7A987F699BF2}" type="slidenum">
              <a:rPr lang="en-US" smtClean="0"/>
              <a:pPr/>
              <a:t>‹#›</a:t>
            </a:fld>
            <a:endParaRPr lang="en-US"/>
          </a:p>
        </p:txBody>
      </p:sp>
    </p:spTree>
    <p:extLst>
      <p:ext uri="{BB962C8B-B14F-4D97-AF65-F5344CB8AC3E}">
        <p14:creationId xmlns:p14="http://schemas.microsoft.com/office/powerpoint/2010/main" xmlns="" val="205620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FF9E18E-7D50-4A1B-802D-1358B1045E29}" type="datetimeFigureOut">
              <a:rPr lang="en-US" smtClean="0"/>
              <a:pPr/>
              <a:t>8/18/2023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9064AE-2C82-48C8-B566-7A987F699BF2}" type="slidenum">
              <a:rPr lang="en-US" smtClean="0"/>
              <a:pPr/>
              <a:t>‹#›</a:t>
            </a:fld>
            <a:endParaRPr lang="en-US"/>
          </a:p>
        </p:txBody>
      </p:sp>
    </p:spTree>
    <p:extLst>
      <p:ext uri="{BB962C8B-B14F-4D97-AF65-F5344CB8AC3E}">
        <p14:creationId xmlns:p14="http://schemas.microsoft.com/office/powerpoint/2010/main" xmlns="" val="456276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F9E18E-7D50-4A1B-802D-1358B1045E29}" type="datetimeFigureOut">
              <a:rPr lang="en-US" smtClean="0"/>
              <a:pPr/>
              <a:t>8/18/2023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9064AE-2C82-48C8-B566-7A987F699BF2}" type="slidenum">
              <a:rPr lang="en-US" smtClean="0"/>
              <a:pPr/>
              <a:t>‹#›</a:t>
            </a:fld>
            <a:endParaRPr lang="en-US"/>
          </a:p>
        </p:txBody>
      </p:sp>
    </p:spTree>
    <p:extLst>
      <p:ext uri="{BB962C8B-B14F-4D97-AF65-F5344CB8AC3E}">
        <p14:creationId xmlns:p14="http://schemas.microsoft.com/office/powerpoint/2010/main" xmlns="" val="3954484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FF9E18E-7D50-4A1B-802D-1358B1045E29}" type="datetimeFigureOut">
              <a:rPr lang="en-US" smtClean="0"/>
              <a:pPr/>
              <a:t>8/18/2023</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ED9064AE-2C82-48C8-B566-7A987F699BF2}" type="slidenum">
              <a:rPr lang="en-US" smtClean="0"/>
              <a:pPr/>
              <a:t>‹#›</a:t>
            </a:fld>
            <a:endParaRPr lang="en-US"/>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217120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FF9E18E-7D50-4A1B-802D-1358B1045E29}" type="datetimeFigureOut">
              <a:rPr lang="en-US" smtClean="0"/>
              <a:pPr/>
              <a:t>8/18/2023</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ED9064AE-2C82-48C8-B566-7A987F699BF2}" type="slidenum">
              <a:rPr lang="en-US" smtClean="0"/>
              <a:pPr/>
              <a:t>‹#›</a:t>
            </a:fld>
            <a:endParaRPr lang="en-US"/>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2150081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F9E18E-7D50-4A1B-802D-1358B1045E29}"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064AE-2C82-48C8-B566-7A987F699BF2}" type="slidenum">
              <a:rPr lang="en-US" smtClean="0"/>
              <a:pPr/>
              <a:t>‹#›</a:t>
            </a:fld>
            <a:endParaRPr lang="en-US"/>
          </a:p>
        </p:txBody>
      </p:sp>
    </p:spTree>
    <p:extLst>
      <p:ext uri="{BB962C8B-B14F-4D97-AF65-F5344CB8AC3E}">
        <p14:creationId xmlns:p14="http://schemas.microsoft.com/office/powerpoint/2010/main" xmlns="" val="828876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F9E18E-7D50-4A1B-802D-1358B1045E29}"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064AE-2C82-48C8-B566-7A987F699BF2}" type="slidenum">
              <a:rPr lang="en-US" smtClean="0"/>
              <a:pPr/>
              <a:t>‹#›</a:t>
            </a:fld>
            <a:endParaRPr lang="en-US"/>
          </a:p>
        </p:txBody>
      </p:sp>
    </p:spTree>
    <p:extLst>
      <p:ext uri="{BB962C8B-B14F-4D97-AF65-F5344CB8AC3E}">
        <p14:creationId xmlns:p14="http://schemas.microsoft.com/office/powerpoint/2010/main" xmlns="" val="1546098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BFF9E18E-7D50-4A1B-802D-1358B1045E29}" type="datetimeFigureOut">
              <a:rPr lang="en-US" smtClean="0"/>
              <a:pPr/>
              <a:t>8/18/2023</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ED9064AE-2C82-48C8-B566-7A987F699BF2}" type="slidenum">
              <a:rPr lang="en-US" smtClean="0"/>
              <a:pPr/>
              <a:t>‹#›</a:t>
            </a:fld>
            <a:endParaRPr lang="en-US"/>
          </a:p>
        </p:txBody>
      </p:sp>
      <p:sp>
        <p:nvSpPr>
          <p:cNvPr id="9" name="Rectangle 8"/>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41945642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dirty="0">
                <a:latin typeface="Andalus" panose="02020603050405020304" pitchFamily="18" charset="-78"/>
                <a:cs typeface="Andalus" panose="02020603050405020304" pitchFamily="18" charset="-78"/>
              </a:rPr>
              <a:t>Project Procurement and Contract Management </a:t>
            </a:r>
          </a:p>
        </p:txBody>
      </p:sp>
      <p:sp>
        <p:nvSpPr>
          <p:cNvPr id="3" name="Subtitle 2"/>
          <p:cNvSpPr>
            <a:spLocks noGrp="1"/>
          </p:cNvSpPr>
          <p:nvPr>
            <p:ph type="subTitle" idx="1"/>
          </p:nvPr>
        </p:nvSpPr>
        <p:spPr/>
        <p:txBody>
          <a:bodyPr/>
          <a:lstStyle/>
          <a:p>
            <a:r>
              <a:rPr lang="en-US" dirty="0" smtClean="0"/>
              <a:t>DR. </a:t>
            </a:r>
            <a:r>
              <a:rPr lang="en-US" smtClean="0"/>
              <a:t>M ASGHAR MUGHAL</a:t>
            </a:r>
            <a:endParaRPr lang="en-US" dirty="0"/>
          </a:p>
          <a:p>
            <a:r>
              <a:rPr lang="en-US" dirty="0"/>
              <a:t>Lecture </a:t>
            </a:r>
            <a:r>
              <a:rPr lang="en-US" dirty="0" smtClean="0"/>
              <a:t>3</a:t>
            </a:r>
            <a:endParaRPr lang="en-US" dirty="0"/>
          </a:p>
        </p:txBody>
      </p:sp>
    </p:spTree>
    <p:extLst>
      <p:ext uri="{BB962C8B-B14F-4D97-AF65-F5344CB8AC3E}">
        <p14:creationId xmlns:p14="http://schemas.microsoft.com/office/powerpoint/2010/main" xmlns="" val="24844171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5753"/>
          </a:xfrm>
        </p:spPr>
        <p:txBody>
          <a:bodyPr>
            <a:normAutofit fontScale="90000"/>
          </a:bodyPr>
          <a:lstStyle/>
          <a:p>
            <a:pPr algn="ctr"/>
            <a:r>
              <a:rPr lang="en-US" u="sng" dirty="0" smtClean="0">
                <a:latin typeface="Andalus" panose="02020603050405020304" pitchFamily="18" charset="-78"/>
                <a:cs typeface="Andalus" panose="02020603050405020304" pitchFamily="18" charset="-78"/>
              </a:rPr>
              <a:t>Project Procurement Management Overview </a:t>
            </a:r>
            <a:endParaRPr lang="en-US" u="sng" dirty="0">
              <a:latin typeface="Andalus" panose="02020603050405020304" pitchFamily="18" charset="-78"/>
              <a:cs typeface="Andalus" panose="02020603050405020304" pitchFamily="18" charset="-78"/>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3696268" y="1050878"/>
            <a:ext cx="4799463" cy="5653526"/>
          </a:xfrm>
        </p:spPr>
      </p:pic>
    </p:spTree>
    <p:extLst>
      <p:ext uri="{BB962C8B-B14F-4D97-AF65-F5344CB8AC3E}">
        <p14:creationId xmlns:p14="http://schemas.microsoft.com/office/powerpoint/2010/main" xmlns="" val="35522433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7765"/>
          </a:xfrm>
        </p:spPr>
        <p:txBody>
          <a:bodyPr/>
          <a:lstStyle/>
          <a:p>
            <a:r>
              <a:rPr lang="en-US" b="1" u="sng" dirty="0" smtClean="0"/>
              <a:t>Planning Procurement</a:t>
            </a:r>
            <a:endParaRPr lang="en-US" b="1" u="sng"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5752856" y="1779275"/>
            <a:ext cx="6066140" cy="3581400"/>
          </a:xfrm>
        </p:spPr>
      </p:pic>
      <p:pic>
        <p:nvPicPr>
          <p:cNvPr id="7" name="Content Placeholder 5"/>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554598" y="1779275"/>
            <a:ext cx="3251900" cy="3830575"/>
          </a:xfrm>
          <a:prstGeom prst="rect">
            <a:avLst/>
          </a:prstGeom>
        </p:spPr>
      </p:pic>
      <p:sp>
        <p:nvSpPr>
          <p:cNvPr id="8" name="Rectangle 7"/>
          <p:cNvSpPr/>
          <p:nvPr/>
        </p:nvSpPr>
        <p:spPr>
          <a:xfrm>
            <a:off x="1554598" y="1954663"/>
            <a:ext cx="1280886" cy="2380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2835484" y="3144834"/>
            <a:ext cx="291737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5902422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pPr algn="ctr"/>
            <a:r>
              <a:rPr lang="en-US" sz="3600" u="sng" dirty="0" smtClean="0"/>
              <a:t>Procurement Planning Flow Chart</a:t>
            </a:r>
            <a:endParaRPr lang="en-US" sz="3600" u="sng"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3920148" y="1078174"/>
            <a:ext cx="4351704" cy="5540990"/>
          </a:xfrm>
        </p:spPr>
      </p:pic>
    </p:spTree>
    <p:extLst>
      <p:ext uri="{BB962C8B-B14F-4D97-AF65-F5344CB8AC3E}">
        <p14:creationId xmlns:p14="http://schemas.microsoft.com/office/powerpoint/2010/main" xmlns="" val="23747399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PROCUREMENT ADVERTISEMENTS </a:t>
            </a:r>
            <a:br>
              <a:rPr lang="en-US" dirty="0"/>
            </a:br>
            <a:r>
              <a:rPr lang="en-US" dirty="0" smtClean="0"/>
              <a:t>PPRA RULES</a:t>
            </a:r>
            <a:endParaRPr lang="en-US" dirty="0"/>
          </a:p>
        </p:txBody>
      </p:sp>
      <p:sp>
        <p:nvSpPr>
          <p:cNvPr id="3" name="Content Placeholder 2"/>
          <p:cNvSpPr>
            <a:spLocks noGrp="1"/>
          </p:cNvSpPr>
          <p:nvPr>
            <p:ph idx="1"/>
          </p:nvPr>
        </p:nvSpPr>
        <p:spPr/>
        <p:txBody>
          <a:bodyPr/>
          <a:lstStyle/>
          <a:p>
            <a:pPr marL="0" indent="0">
              <a:buNone/>
            </a:pPr>
            <a:endParaRPr lang="en-US" dirty="0"/>
          </a:p>
          <a:p>
            <a:r>
              <a:rPr lang="en-US" dirty="0"/>
              <a:t>12.       Methods of advertisement.-  </a:t>
            </a:r>
          </a:p>
          <a:p>
            <a:r>
              <a:rPr lang="en-US" dirty="0"/>
              <a:t> </a:t>
            </a:r>
          </a:p>
          <a:p>
            <a:r>
              <a:rPr lang="en-US" dirty="0"/>
              <a:t>(1) Procurements over **five hundred thousand Pakistani Rupees and up to the limit of ***three million Pakistani Rupees shall be advertised on the Authority’s website in the manner and format specified by regulation by the Authority from time to time.  These procurement opportunities may also be advertised in print media, if deemed necessary by the procuring agency: </a:t>
            </a:r>
          </a:p>
        </p:txBody>
      </p:sp>
    </p:spTree>
    <p:extLst>
      <p:ext uri="{BB962C8B-B14F-4D97-AF65-F5344CB8AC3E}">
        <p14:creationId xmlns:p14="http://schemas.microsoft.com/office/powerpoint/2010/main" xmlns="" val="3493525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7398" y="77002"/>
            <a:ext cx="11354602" cy="6780998"/>
          </a:xfrm>
        </p:spPr>
        <p:txBody>
          <a:bodyPr>
            <a:normAutofit/>
          </a:bodyPr>
          <a:lstStyle/>
          <a:p>
            <a:r>
              <a:rPr lang="en-US" dirty="0" smtClean="0"/>
              <a:t>(2) All </a:t>
            </a:r>
            <a:r>
              <a:rPr lang="en-US" dirty="0"/>
              <a:t>procurement opportunities over **three million Pakistani Rupees should be advertised on the Authority’s website as well as in other print media or newspapers having wide circulation. The advertisement in the newspapers shall principally appear in at least two national dailies, one in English and the other in Urdu. </a:t>
            </a:r>
          </a:p>
          <a:p>
            <a:r>
              <a:rPr lang="en-US" dirty="0"/>
              <a:t> </a:t>
            </a:r>
          </a:p>
          <a:p>
            <a:r>
              <a:rPr lang="en-US" dirty="0"/>
              <a:t>(3) In cases where the procuring agency has its own website it may also post all advertisements concerning procurement on that website as well</a:t>
            </a:r>
            <a:r>
              <a:rPr lang="en-US" dirty="0" smtClean="0"/>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(4) A procuring agency utilizing electronic media shall ensure that the information posted on the website is complete for the purposes for which it has been posted, and such information shall remain available on that website until the closing date for the submission of bids.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13.       Response time.-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(1) The procuring agency may decide the response time for receipt of bids or proposals (including proposals for pre-qualification) from the date of publication of an advertisement or notice, keeping in view the individual procurement’s complexity, availability and urgency. However, under no circumstances the response time shall be less than fifteen ***days for national competitive bidding and thirty ***days for international competitive bidding from the date of publication of advertisement or notice.  </a:t>
            </a:r>
          </a:p>
          <a:p>
            <a:r>
              <a:rPr lang="en-US" dirty="0" smtClean="0"/>
              <a:t> </a:t>
            </a:r>
            <a:endParaRPr lang="en-US" dirty="0"/>
          </a:p>
        </p:txBody>
      </p:sp>
    </p:spTree>
    <p:extLst>
      <p:ext uri="{BB962C8B-B14F-4D97-AF65-F5344CB8AC3E}">
        <p14:creationId xmlns:p14="http://schemas.microsoft.com/office/powerpoint/2010/main" xmlns="" val="454746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7339" y="255068"/>
            <a:ext cx="10967988" cy="6241985"/>
          </a:xfrm>
        </p:spPr>
        <p:txBody>
          <a:bodyPr>
            <a:noAutofit/>
          </a:bodyPr>
          <a:lstStyle/>
          <a:p>
            <a:r>
              <a:rPr lang="en-US" sz="1800" dirty="0" smtClean="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All advertisements or notices shall expressly mention the response time allowed for that particular procurement along with the information for collection of bid documents which shall be issued till a given date, allowing sufficient time to complete and submit the bid by the closing date: </a:t>
            </a:r>
          </a:p>
          <a:p>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Provided that no time limit shall be applicable in case of emergency. </a:t>
            </a:r>
          </a:p>
          <a:p>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(2) The response time shall be calculated from the date of first publication of the advertisement in a newspaper or posting on the web site, as the case may be: </a:t>
            </a:r>
          </a:p>
          <a:p>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*Provided that for all procurements up to three million Pakistani Rupees, the response time shall be considered from the date of appearance of the advertisement on the Authority’s website. </a:t>
            </a:r>
          </a:p>
          <a:p>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(3) In situations where publication of such advertisements or notices has occurred in both electronic and print media, the response time shall be calculated from the day of its first publication in the newspapers. </a:t>
            </a:r>
          </a:p>
        </p:txBody>
      </p:sp>
    </p:spTree>
    <p:extLst>
      <p:ext uri="{BB962C8B-B14F-4D97-AF65-F5344CB8AC3E}">
        <p14:creationId xmlns:p14="http://schemas.microsoft.com/office/powerpoint/2010/main" xmlns="" val="1133138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10769" y="2701927"/>
            <a:ext cx="10515600" cy="1065505"/>
          </a:xfrm>
        </p:spPr>
        <p:txBody>
          <a:bodyPr>
            <a:normAutofit fontScale="90000"/>
          </a:bodyPr>
          <a:lstStyle/>
          <a:p>
            <a:pPr algn="ctr"/>
            <a:r>
              <a:rPr lang="en-US" u="sng" dirty="0" smtClean="0">
                <a:latin typeface="Andalus" panose="02020603050405020304" pitchFamily="18" charset="-78"/>
                <a:cs typeface="Andalus" panose="02020603050405020304" pitchFamily="18" charset="-78"/>
              </a:rPr>
              <a:t>Plan Procurement: Inputs</a:t>
            </a:r>
            <a:br>
              <a:rPr lang="en-US" u="sng" dirty="0" smtClean="0">
                <a:latin typeface="Andalus" panose="02020603050405020304" pitchFamily="18" charset="-78"/>
                <a:cs typeface="Andalus" panose="02020603050405020304" pitchFamily="18" charset="-78"/>
              </a:rPr>
            </a:br>
            <a:endParaRPr lang="en-US" u="sng"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xmlns="" val="5294451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1"/>
            <a:ext cx="9601200" cy="547914"/>
          </a:xfrm>
        </p:spPr>
        <p:txBody>
          <a:bodyPr>
            <a:normAutofit/>
          </a:bodyPr>
          <a:lstStyle/>
          <a:p>
            <a:r>
              <a:rPr lang="en-US" sz="3200" b="1" dirty="0" smtClean="0"/>
              <a:t>Input 1: Scope Baseline</a:t>
            </a:r>
            <a:endParaRPr lang="en-US" sz="3200" b="1" dirty="0"/>
          </a:p>
        </p:txBody>
      </p:sp>
      <p:sp>
        <p:nvSpPr>
          <p:cNvPr id="3" name="Content Placeholder 2"/>
          <p:cNvSpPr>
            <a:spLocks noGrp="1"/>
          </p:cNvSpPr>
          <p:nvPr>
            <p:ph idx="1"/>
          </p:nvPr>
        </p:nvSpPr>
        <p:spPr>
          <a:xfrm>
            <a:off x="1371600" y="1357085"/>
            <a:ext cx="9601200" cy="3581400"/>
          </a:xfrm>
        </p:spPr>
        <p:txBody>
          <a:bodyPr/>
          <a:lstStyle/>
          <a:p>
            <a:pPr marL="0" indent="0" algn="just">
              <a:buNone/>
            </a:pPr>
            <a:r>
              <a:rPr lang="en-US" dirty="0"/>
              <a:t>“The Scope Baseline describes the need, justification, requirements and current boundaries for the project</a:t>
            </a:r>
            <a:r>
              <a:rPr lang="en-US" dirty="0" smtClean="0"/>
              <a:t>”</a:t>
            </a:r>
          </a:p>
          <a:p>
            <a:pPr marL="457200" indent="-457200" algn="just">
              <a:buFont typeface="+mj-lt"/>
              <a:buAutoNum type="arabicPeriod"/>
            </a:pPr>
            <a:r>
              <a:rPr lang="en-US" dirty="0" smtClean="0"/>
              <a:t>Scope Statement </a:t>
            </a:r>
          </a:p>
          <a:p>
            <a:pPr marL="457200" indent="-457200" algn="just">
              <a:buFont typeface="+mj-lt"/>
              <a:buAutoNum type="arabicPeriod"/>
            </a:pPr>
            <a:r>
              <a:rPr lang="en-US" dirty="0" smtClean="0"/>
              <a:t>Work Breakdown Structure (WBS)</a:t>
            </a:r>
          </a:p>
          <a:p>
            <a:pPr marL="457200" indent="-457200" algn="just">
              <a:buFont typeface="+mj-lt"/>
              <a:buAutoNum type="arabicPeriod"/>
            </a:pPr>
            <a:r>
              <a:rPr lang="en-US" dirty="0" smtClean="0"/>
              <a:t>WBS Dictionary</a:t>
            </a:r>
          </a:p>
          <a:p>
            <a:pPr marL="0" indent="0" algn="just">
              <a:buNone/>
            </a:pPr>
            <a:endParaRPr lang="en-US" dirty="0"/>
          </a:p>
          <a:p>
            <a:pPr marL="0" indent="0" algn="just">
              <a:buNone/>
            </a:pPr>
            <a:endParaRPr lang="en-US" dirty="0"/>
          </a:p>
          <a:p>
            <a:endParaRPr lang="en-US" dirty="0"/>
          </a:p>
        </p:txBody>
      </p:sp>
    </p:spTree>
    <p:extLst>
      <p:ext uri="{BB962C8B-B14F-4D97-AF65-F5344CB8AC3E}">
        <p14:creationId xmlns:p14="http://schemas.microsoft.com/office/powerpoint/2010/main" xmlns="" val="3945560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9561"/>
          </a:xfrm>
        </p:spPr>
        <p:txBody>
          <a:bodyPr>
            <a:normAutofit/>
          </a:bodyPr>
          <a:lstStyle/>
          <a:p>
            <a:r>
              <a:rPr lang="en-US" sz="2800" b="1" u="sng" dirty="0" smtClean="0"/>
              <a:t>Scope </a:t>
            </a:r>
            <a:r>
              <a:rPr lang="en-US" sz="2800" b="1" u="sng" dirty="0"/>
              <a:t>Statement</a:t>
            </a:r>
          </a:p>
        </p:txBody>
      </p:sp>
      <p:sp>
        <p:nvSpPr>
          <p:cNvPr id="3" name="Content Placeholder 2"/>
          <p:cNvSpPr>
            <a:spLocks noGrp="1"/>
          </p:cNvSpPr>
          <p:nvPr>
            <p:ph idx="1"/>
          </p:nvPr>
        </p:nvSpPr>
        <p:spPr>
          <a:xfrm>
            <a:off x="838200" y="1204686"/>
            <a:ext cx="10515600" cy="4351338"/>
          </a:xfrm>
        </p:spPr>
        <p:txBody>
          <a:bodyPr/>
          <a:lstStyle/>
          <a:p>
            <a:pPr marL="0" indent="0" algn="just">
              <a:buNone/>
            </a:pPr>
            <a:r>
              <a:rPr lang="en-US" sz="1800" b="1" i="1" u="sng" dirty="0" smtClean="0"/>
              <a:t>Definition: </a:t>
            </a:r>
            <a:r>
              <a:rPr lang="en-US" sz="1800" dirty="0" smtClean="0"/>
              <a:t>The project scope statement contains the product scope description, service and result description, the list of deliverables, and acceptance criteria, as well as important information regarding technical issues or concerns that could impact cost estimating. Examples of constraints are required delivery dates, available skilled resources, and organizational policies. </a:t>
            </a:r>
          </a:p>
          <a:p>
            <a:pPr marL="0" indent="0" algn="ctr">
              <a:buNone/>
            </a:pPr>
            <a:endParaRPr lang="en-US" sz="1800" dirty="0"/>
          </a:p>
          <a:p>
            <a:pPr marL="0" indent="0">
              <a:buNone/>
            </a:pPr>
            <a:r>
              <a:rPr lang="en-US" sz="1800" b="1" i="1" u="sng" dirty="0" smtClean="0"/>
              <a:t>Scope Creep: </a:t>
            </a:r>
            <a:r>
              <a:rPr lang="en-US" sz="1800" i="1" dirty="0" smtClean="0"/>
              <a:t>Large </a:t>
            </a:r>
            <a:r>
              <a:rPr lang="en-US" sz="1800" i="1" dirty="0"/>
              <a:t>changes in scope are easily identified. It is the "minor </a:t>
            </a:r>
            <a:r>
              <a:rPr lang="en-US" sz="1800" i="1" dirty="0" smtClean="0"/>
              <a:t>refinements“ that </a:t>
            </a:r>
            <a:r>
              <a:rPr lang="en-US" sz="1800" i="1" dirty="0"/>
              <a:t>eventually build to be major scope changes </a:t>
            </a:r>
            <a:r>
              <a:rPr lang="en-US" sz="1800" i="1" dirty="0" smtClean="0"/>
              <a:t>that can cause </a:t>
            </a:r>
            <a:r>
              <a:rPr lang="en-US" sz="1800" i="1" dirty="0"/>
              <a:t>problems. These small refinements are known in the field </a:t>
            </a:r>
            <a:r>
              <a:rPr lang="en-US" sz="1800" i="1" dirty="0" smtClean="0"/>
              <a:t>as scope </a:t>
            </a:r>
            <a:r>
              <a:rPr lang="en-US" sz="1800" i="1" dirty="0"/>
              <a:t>creep. </a:t>
            </a:r>
            <a:endParaRPr lang="en-US" sz="1800" i="1" dirty="0" smtClean="0"/>
          </a:p>
          <a:p>
            <a:pPr marL="0" indent="0" algn="ctr">
              <a:buNone/>
            </a:pPr>
            <a:endParaRPr lang="en-US" sz="1800" i="1" dirty="0" smtClean="0"/>
          </a:p>
          <a:p>
            <a:pPr marL="0" indent="0">
              <a:buNone/>
            </a:pPr>
            <a:r>
              <a:rPr lang="en-US" sz="1800" b="1" i="1" u="sng" dirty="0" smtClean="0"/>
              <a:t>Procurement of Project Scope: </a:t>
            </a:r>
            <a:r>
              <a:rPr lang="en-US" sz="1800" dirty="0" smtClean="0"/>
              <a:t>Who </a:t>
            </a:r>
            <a:r>
              <a:rPr lang="en-US" sz="1800" dirty="0"/>
              <a:t>will be performing </a:t>
            </a:r>
            <a:r>
              <a:rPr lang="en-US" sz="1800" dirty="0" smtClean="0"/>
              <a:t>the various </a:t>
            </a:r>
            <a:r>
              <a:rPr lang="en-US" sz="1800" dirty="0"/>
              <a:t>segments of the project, particularly that work which will </a:t>
            </a:r>
            <a:r>
              <a:rPr lang="en-US" sz="1800" dirty="0" smtClean="0"/>
              <a:t>be purchased </a:t>
            </a:r>
            <a:r>
              <a:rPr lang="en-US" sz="1800" dirty="0"/>
              <a:t>from outside the company.</a:t>
            </a:r>
          </a:p>
        </p:txBody>
      </p:sp>
    </p:spTree>
    <p:extLst>
      <p:ext uri="{BB962C8B-B14F-4D97-AF65-F5344CB8AC3E}">
        <p14:creationId xmlns:p14="http://schemas.microsoft.com/office/powerpoint/2010/main" xmlns="" val="27547264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365125"/>
            <a:ext cx="10515600" cy="904117"/>
          </a:xfrm>
        </p:spPr>
        <p:txBody>
          <a:bodyPr>
            <a:normAutofit/>
          </a:bodyPr>
          <a:lstStyle/>
          <a:p>
            <a:r>
              <a:rPr lang="en-US" sz="2800" b="1" u="sng" dirty="0" smtClean="0"/>
              <a:t>Work Breakdown Structure (WBS)</a:t>
            </a:r>
            <a:endParaRPr lang="en-US" sz="2800" b="1" u="sng" dirty="0"/>
          </a:p>
        </p:txBody>
      </p:sp>
      <p:sp>
        <p:nvSpPr>
          <p:cNvPr id="3" name="Content Placeholder 2"/>
          <p:cNvSpPr>
            <a:spLocks noGrp="1"/>
          </p:cNvSpPr>
          <p:nvPr>
            <p:ph idx="1"/>
          </p:nvPr>
        </p:nvSpPr>
        <p:spPr>
          <a:xfrm>
            <a:off x="838200" y="1269242"/>
            <a:ext cx="10515600" cy="4351338"/>
          </a:xfrm>
        </p:spPr>
        <p:txBody>
          <a:bodyPr>
            <a:normAutofit/>
          </a:bodyPr>
          <a:lstStyle/>
          <a:p>
            <a:r>
              <a:rPr lang="en-US" sz="2400" dirty="0" smtClean="0"/>
              <a:t>Definition:</a:t>
            </a:r>
          </a:p>
          <a:p>
            <a:pPr lvl="1" algn="just"/>
            <a:r>
              <a:rPr lang="en-US" sz="1800" dirty="0" smtClean="0"/>
              <a:t>“Deliverable </a:t>
            </a:r>
            <a:r>
              <a:rPr lang="en-US" sz="1800" dirty="0"/>
              <a:t>oriented hierarchical decomposition of the work to be executed by the project team." The work breakdown structure visually defines the scope into manageable chunks that a project team can understand, as each level of the work breakdown structure provides further definition and detail.</a:t>
            </a:r>
            <a:endParaRPr lang="en-US" sz="1800" dirty="0" smtClean="0"/>
          </a:p>
          <a:p>
            <a:pPr lvl="1" algn="just"/>
            <a:endParaRPr lang="en-US" sz="1800" dirty="0"/>
          </a:p>
          <a:p>
            <a:pPr lvl="1" algn="just"/>
            <a:r>
              <a:rPr lang="en-US" sz="1800" dirty="0"/>
              <a:t>The work breakdown structure acts as a vehicle for breaking </a:t>
            </a:r>
            <a:r>
              <a:rPr lang="en-US" sz="1800" dirty="0" smtClean="0"/>
              <a:t>the work </a:t>
            </a:r>
            <a:r>
              <a:rPr lang="en-US" sz="1800" dirty="0"/>
              <a:t>down into smaller elements, thus providing a greater </a:t>
            </a:r>
            <a:r>
              <a:rPr lang="en-US" sz="1800" dirty="0" smtClean="0"/>
              <a:t>probability that </a:t>
            </a:r>
            <a:r>
              <a:rPr lang="en-US" sz="1800" dirty="0"/>
              <a:t>every major and minor activity will be accounted </a:t>
            </a:r>
            <a:r>
              <a:rPr lang="en-US" sz="1800" dirty="0" smtClean="0"/>
              <a:t>for.</a:t>
            </a:r>
          </a:p>
          <a:p>
            <a:pPr lvl="1" algn="just"/>
            <a:endParaRPr lang="en-US" sz="1800" dirty="0" smtClean="0"/>
          </a:p>
        </p:txBody>
      </p:sp>
    </p:spTree>
    <p:extLst>
      <p:ext uri="{BB962C8B-B14F-4D97-AF65-F5344CB8AC3E}">
        <p14:creationId xmlns:p14="http://schemas.microsoft.com/office/powerpoint/2010/main" xmlns="" val="13098063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1161"/>
          </a:xfrm>
        </p:spPr>
        <p:txBody>
          <a:bodyPr>
            <a:normAutofit/>
          </a:bodyPr>
          <a:lstStyle/>
          <a:p>
            <a:pPr algn="ctr"/>
            <a:r>
              <a:rPr lang="en-US" sz="2800" u="sng" dirty="0" smtClean="0"/>
              <a:t>WBS: Vehicle Development</a:t>
            </a:r>
            <a:endParaRPr lang="en-US" sz="2800" u="sng"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199543" y="996287"/>
            <a:ext cx="7792913" cy="5336275"/>
          </a:xfrm>
        </p:spPr>
      </p:pic>
    </p:spTree>
    <p:extLst>
      <p:ext uri="{BB962C8B-B14F-4D97-AF65-F5344CB8AC3E}">
        <p14:creationId xmlns:p14="http://schemas.microsoft.com/office/powerpoint/2010/main" xmlns="" val="31201021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What is a Work Breakdown Structure (WBS) | Project Management"/>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371599" y="685800"/>
            <a:ext cx="10469781" cy="536849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345347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941470" y="277779"/>
            <a:ext cx="11052543" cy="6272213"/>
          </a:xfrm>
          <a:prstGeom prst="rect">
            <a:avLst/>
          </a:prstGeom>
        </p:spPr>
      </p:pic>
    </p:spTree>
    <p:extLst>
      <p:ext uri="{BB962C8B-B14F-4D97-AF65-F5344CB8AC3E}">
        <p14:creationId xmlns:p14="http://schemas.microsoft.com/office/powerpoint/2010/main" xmlns="" val="1928507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845"/>
          </a:xfrm>
        </p:spPr>
        <p:txBody>
          <a:bodyPr>
            <a:normAutofit/>
          </a:bodyPr>
          <a:lstStyle/>
          <a:p>
            <a:pPr algn="ctr"/>
            <a:r>
              <a:rPr lang="en-US" sz="2800" u="sng" dirty="0" smtClean="0"/>
              <a:t>WBS: Construction of House</a:t>
            </a:r>
            <a:endParaRPr lang="en-US" sz="2800" u="sng"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061310" y="1187355"/>
            <a:ext cx="3911221" cy="5136739"/>
          </a:xfrm>
        </p:spPr>
      </p:pic>
      <p:pic>
        <p:nvPicPr>
          <p:cNvPr id="5" name="Picture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7196991" y="1187355"/>
            <a:ext cx="2683989" cy="3326634"/>
          </a:xfrm>
          <a:prstGeom prst="rect">
            <a:avLst/>
          </a:prstGeom>
          <a:ln>
            <a:solidFill>
              <a:srgbClr val="FF0000"/>
            </a:solidFill>
          </a:ln>
        </p:spPr>
      </p:pic>
      <p:sp>
        <p:nvSpPr>
          <p:cNvPr id="6" name="Rectangle 5"/>
          <p:cNvSpPr/>
          <p:nvPr/>
        </p:nvSpPr>
        <p:spPr>
          <a:xfrm>
            <a:off x="2025556" y="2074459"/>
            <a:ext cx="976952" cy="15028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stCxn id="6" idx="3"/>
            <a:endCxn id="6" idx="3"/>
          </p:cNvCxnSpPr>
          <p:nvPr/>
        </p:nvCxnSpPr>
        <p:spPr>
          <a:xfrm>
            <a:off x="3002508" y="2825882"/>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3"/>
            <a:endCxn id="5" idx="1"/>
          </p:cNvCxnSpPr>
          <p:nvPr/>
        </p:nvCxnSpPr>
        <p:spPr>
          <a:xfrm>
            <a:off x="3002508" y="2825882"/>
            <a:ext cx="4194483" cy="2479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515086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AutoShape 2" descr="https://www.stakeholdermap.com/plan-project/WBS-prince2-conference-full-size.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Content Placeholder 9"/>
          <p:cNvPicPr>
            <a:picLocks noGrp="1" noChangeAspect="1"/>
          </p:cNvPicPr>
          <p:nvPr>
            <p:ph idx="1"/>
          </p:nvPr>
        </p:nvPicPr>
        <p:blipFill>
          <a:blip r:embed="rId2"/>
          <a:stretch>
            <a:fillRect/>
          </a:stretch>
        </p:blipFill>
        <p:spPr>
          <a:xfrm>
            <a:off x="1371600" y="160338"/>
            <a:ext cx="10197966" cy="6207655"/>
          </a:xfrm>
          <a:prstGeom prst="rect">
            <a:avLst/>
          </a:prstGeom>
        </p:spPr>
      </p:pic>
    </p:spTree>
    <p:extLst>
      <p:ext uri="{BB962C8B-B14F-4D97-AF65-F5344CB8AC3E}">
        <p14:creationId xmlns:p14="http://schemas.microsoft.com/office/powerpoint/2010/main" xmlns="" val="2960588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0629" y="391885"/>
            <a:ext cx="9601200" cy="5965372"/>
          </a:xfrm>
        </p:spPr>
        <p:txBody>
          <a:bodyPr>
            <a:normAutofit lnSpcReduction="10000"/>
          </a:bodyPr>
          <a:lstStyle/>
          <a:p>
            <a:pPr marL="0" indent="0" algn="just">
              <a:buNone/>
            </a:pPr>
            <a:r>
              <a:rPr lang="en-US" sz="2800" b="1" u="sng" dirty="0" smtClean="0"/>
              <a:t>Input 2: Requirements </a:t>
            </a:r>
            <a:r>
              <a:rPr lang="en-US" sz="2800" b="1" u="sng" dirty="0"/>
              <a:t>Documentations</a:t>
            </a:r>
            <a:endParaRPr lang="en-US" sz="2800" dirty="0" smtClean="0"/>
          </a:p>
          <a:p>
            <a:pPr algn="just"/>
            <a:r>
              <a:rPr lang="en-US" i="0" dirty="0" smtClean="0"/>
              <a:t>Important information about the project requirements that is considered during planning for procurements</a:t>
            </a:r>
          </a:p>
          <a:p>
            <a:pPr algn="just"/>
            <a:r>
              <a:rPr lang="en-US" i="0" dirty="0" smtClean="0"/>
              <a:t>Requirements with contractual and legal implications that may include health, safety, security, performance, environment, insurance, intellectual property rights, equal employment opportunity, licenses and permits- all of which are considered when planning for procurements.</a:t>
            </a:r>
          </a:p>
          <a:p>
            <a:pPr marL="0" indent="0" algn="just">
              <a:buNone/>
            </a:pPr>
            <a:endParaRPr lang="en-US" i="0" dirty="0" smtClean="0"/>
          </a:p>
          <a:p>
            <a:pPr marL="0" indent="0" algn="just">
              <a:buNone/>
            </a:pPr>
            <a:r>
              <a:rPr lang="en-US" sz="2800" b="1" u="sng" dirty="0" smtClean="0"/>
              <a:t>Input 3: Teaming Agreements:</a:t>
            </a:r>
          </a:p>
          <a:p>
            <a:pPr algn="just"/>
            <a:r>
              <a:rPr lang="en-US" dirty="0" smtClean="0"/>
              <a:t>Assessing requirements for the formation of consortiums, joint ventures, partnerships or some other arrangements as defined by the parties. </a:t>
            </a:r>
          </a:p>
          <a:p>
            <a:pPr algn="just"/>
            <a:r>
              <a:rPr lang="en-US" dirty="0" smtClean="0"/>
              <a:t>When ever a teaming	 agreement is in effect, the roles of buyers and seller are predetermined, and such issues as scope of work, competition requirements and other critical issues are generally predefined. </a:t>
            </a:r>
          </a:p>
          <a:p>
            <a:pPr algn="just"/>
            <a:endParaRPr lang="en-US" dirty="0" smtClean="0"/>
          </a:p>
          <a:p>
            <a:pPr marL="0" indent="0" algn="just">
              <a:buNone/>
            </a:pPr>
            <a:r>
              <a:rPr lang="en-US" b="1" dirty="0" smtClean="0"/>
              <a:t> </a:t>
            </a:r>
          </a:p>
          <a:p>
            <a:pPr lvl="1"/>
            <a:endParaRPr lang="en-US" dirty="0"/>
          </a:p>
        </p:txBody>
      </p:sp>
    </p:spTree>
    <p:extLst>
      <p:ext uri="{BB962C8B-B14F-4D97-AF65-F5344CB8AC3E}">
        <p14:creationId xmlns:p14="http://schemas.microsoft.com/office/powerpoint/2010/main" xmlns="" val="15826453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580572"/>
            <a:ext cx="9601200" cy="5820228"/>
          </a:xfrm>
        </p:spPr>
        <p:txBody>
          <a:bodyPr>
            <a:normAutofit/>
          </a:bodyPr>
          <a:lstStyle/>
          <a:p>
            <a:pPr marL="0" indent="0">
              <a:buNone/>
            </a:pPr>
            <a:r>
              <a:rPr lang="en-US" sz="2800" b="1" u="sng" dirty="0"/>
              <a:t>Input 4: Risk </a:t>
            </a:r>
            <a:r>
              <a:rPr lang="en-US" sz="2800" b="1" u="sng" dirty="0" smtClean="0"/>
              <a:t>Register</a:t>
            </a:r>
          </a:p>
          <a:p>
            <a:pPr algn="just"/>
            <a:r>
              <a:rPr lang="en-US" dirty="0" smtClean="0"/>
              <a:t>List of identified risks:</a:t>
            </a:r>
          </a:p>
          <a:p>
            <a:pPr lvl="1" algn="just"/>
            <a:r>
              <a:rPr lang="en-US" i="0" dirty="0" smtClean="0"/>
              <a:t>The identified risks are described in as much details as possible. A simple structure for risks in the list may be applied, such as </a:t>
            </a:r>
            <a:r>
              <a:rPr lang="en-US" b="1" i="0" dirty="0" smtClean="0"/>
              <a:t>EVENT</a:t>
            </a:r>
            <a:r>
              <a:rPr lang="en-US" i="0" dirty="0" smtClean="0"/>
              <a:t> may occur, causing </a:t>
            </a:r>
            <a:r>
              <a:rPr lang="en-US" b="1" i="0" dirty="0"/>
              <a:t>IMPACT</a:t>
            </a:r>
            <a:r>
              <a:rPr lang="en-US" i="0" dirty="0"/>
              <a:t>,</a:t>
            </a:r>
            <a:r>
              <a:rPr lang="en-US" i="0" dirty="0" smtClean="0"/>
              <a:t> or if </a:t>
            </a:r>
            <a:r>
              <a:rPr lang="en-US" b="1" i="0" dirty="0"/>
              <a:t>CAUSE, EVENT </a:t>
            </a:r>
            <a:r>
              <a:rPr lang="en-US" i="0" dirty="0" smtClean="0"/>
              <a:t>may occur, leading to </a:t>
            </a:r>
            <a:r>
              <a:rPr lang="en-US" b="1" i="0" dirty="0" smtClean="0"/>
              <a:t>EFFECT.</a:t>
            </a:r>
          </a:p>
          <a:p>
            <a:pPr algn="just"/>
            <a:r>
              <a:rPr lang="en-US" dirty="0" smtClean="0"/>
              <a:t>List of Potential Responses:</a:t>
            </a:r>
            <a:endParaRPr lang="en-US" i="0" dirty="0"/>
          </a:p>
          <a:p>
            <a:pPr lvl="1" algn="just"/>
            <a:r>
              <a:rPr lang="en-US" i="0" dirty="0" smtClean="0"/>
              <a:t>Potential responses to risk may sometimes be identified during Identify Risk process. </a:t>
            </a:r>
          </a:p>
          <a:p>
            <a:pPr marL="0" indent="0">
              <a:buNone/>
            </a:pPr>
            <a:r>
              <a:rPr lang="en-US" sz="2800" b="1" u="sng" dirty="0"/>
              <a:t>Input 5: Risk Related Contract Decisions</a:t>
            </a:r>
          </a:p>
          <a:p>
            <a:pPr algn="just"/>
            <a:r>
              <a:rPr lang="en-US" dirty="0" smtClean="0"/>
              <a:t>Risk related contract decisions include agreements including insurance, bonding, services, and other items as appropriate. </a:t>
            </a:r>
            <a:endParaRPr lang="en-US" sz="1600" i="0" dirty="0" smtClean="0"/>
          </a:p>
        </p:txBody>
      </p:sp>
    </p:spTree>
    <p:extLst>
      <p:ext uri="{BB962C8B-B14F-4D97-AF65-F5344CB8AC3E}">
        <p14:creationId xmlns:p14="http://schemas.microsoft.com/office/powerpoint/2010/main" xmlns="" val="35969831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0971" y="449943"/>
            <a:ext cx="9601200" cy="6023428"/>
          </a:xfrm>
        </p:spPr>
        <p:txBody>
          <a:bodyPr/>
          <a:lstStyle/>
          <a:p>
            <a:pPr marL="0" indent="0">
              <a:buNone/>
            </a:pPr>
            <a:r>
              <a:rPr lang="en-US" sz="2400" b="1" u="sng" dirty="0"/>
              <a:t>Input 6: Activity Resource Requirements</a:t>
            </a:r>
            <a:endParaRPr lang="en-US" sz="2400" dirty="0" smtClean="0"/>
          </a:p>
          <a:p>
            <a:r>
              <a:rPr lang="en-US" dirty="0" smtClean="0"/>
              <a:t>Activity resource requirements contact information on specified needs such as people, equipment, or location</a:t>
            </a:r>
          </a:p>
          <a:p>
            <a:pPr marL="0" indent="0">
              <a:buNone/>
            </a:pPr>
            <a:r>
              <a:rPr lang="en-US" sz="2400" b="1" u="sng" dirty="0"/>
              <a:t>Input 7: Project Schedule</a:t>
            </a:r>
          </a:p>
          <a:p>
            <a:pPr algn="just"/>
            <a:r>
              <a:rPr lang="en-US" dirty="0" smtClean="0"/>
              <a:t>Project schedule contains information on required timelines or mandated deliverable dates.</a:t>
            </a:r>
          </a:p>
          <a:p>
            <a:pPr marL="0" indent="0">
              <a:buNone/>
            </a:pPr>
            <a:r>
              <a:rPr lang="en-US" sz="2400" b="1" u="sng" dirty="0"/>
              <a:t>Input 8: Activity Cost Estimates</a:t>
            </a:r>
          </a:p>
          <a:p>
            <a:pPr algn="just"/>
            <a:r>
              <a:rPr lang="en-US" dirty="0" smtClean="0"/>
              <a:t>Cost estimates developed by the procuring activity are used to evaluate the reasonableness of the bids and proposals received from potential suppliers.</a:t>
            </a:r>
          </a:p>
          <a:p>
            <a:pPr marL="0" indent="0">
              <a:buNone/>
            </a:pPr>
            <a:r>
              <a:rPr lang="en-US" sz="2400" b="1" u="sng" dirty="0"/>
              <a:t>Input 9: Cost Performance Baseline:</a:t>
            </a:r>
          </a:p>
          <a:p>
            <a:pPr marL="0" indent="0" algn="just">
              <a:buNone/>
            </a:pPr>
            <a:r>
              <a:rPr lang="en-US" dirty="0" smtClean="0"/>
              <a:t>The cost performance baseline provides detail on the planned budget over time</a:t>
            </a:r>
          </a:p>
        </p:txBody>
      </p:sp>
    </p:spTree>
    <p:extLst>
      <p:ext uri="{BB962C8B-B14F-4D97-AF65-F5344CB8AC3E}">
        <p14:creationId xmlns:p14="http://schemas.microsoft.com/office/powerpoint/2010/main" xmlns="" val="11675288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5604" y="478970"/>
            <a:ext cx="10731310" cy="6212116"/>
          </a:xfrm>
        </p:spPr>
        <p:txBody>
          <a:bodyPr>
            <a:normAutofit/>
          </a:bodyPr>
          <a:lstStyle/>
          <a:p>
            <a:pPr marL="0" indent="0">
              <a:buNone/>
            </a:pPr>
            <a:r>
              <a:rPr lang="en-US" sz="2800" b="1" u="sng" dirty="0"/>
              <a:t>Input 10: Enterprise Environmental Factors</a:t>
            </a:r>
            <a:r>
              <a:rPr lang="en-US" sz="2800" b="1" u="sng" dirty="0" smtClean="0"/>
              <a:t>:</a:t>
            </a:r>
          </a:p>
          <a:p>
            <a:pPr marL="0" indent="0">
              <a:buNone/>
            </a:pPr>
            <a:r>
              <a:rPr lang="en-US" dirty="0" smtClean="0"/>
              <a:t>Market </a:t>
            </a:r>
            <a:r>
              <a:rPr lang="en-US" dirty="0"/>
              <a:t>Conditions Assessment: Locating Potential Sellers</a:t>
            </a:r>
            <a:endParaRPr lang="en-US" dirty="0" smtClean="0"/>
          </a:p>
          <a:p>
            <a:r>
              <a:rPr lang="en-US" dirty="0" smtClean="0"/>
              <a:t>Identifying the Product Type:</a:t>
            </a:r>
          </a:p>
          <a:p>
            <a:pPr lvl="1"/>
            <a:r>
              <a:rPr lang="en-US" sz="2000" i="0" dirty="0" smtClean="0"/>
              <a:t>Product not available in finished form</a:t>
            </a:r>
          </a:p>
          <a:p>
            <a:pPr lvl="1"/>
            <a:r>
              <a:rPr lang="en-US" sz="2000" i="0" dirty="0" smtClean="0"/>
              <a:t>Single/Sole Supplier </a:t>
            </a:r>
          </a:p>
          <a:p>
            <a:pPr lvl="1"/>
            <a:r>
              <a:rPr lang="en-US" sz="2000" i="0" dirty="0" smtClean="0"/>
              <a:t>Multiple Suppliers</a:t>
            </a:r>
          </a:p>
          <a:p>
            <a:r>
              <a:rPr lang="en-US" dirty="0" smtClean="0"/>
              <a:t>The Phenomenon of Internet and e-commerce</a:t>
            </a:r>
          </a:p>
          <a:p>
            <a:r>
              <a:rPr lang="en-US" dirty="0" smtClean="0"/>
              <a:t>Budget Allocation</a:t>
            </a:r>
          </a:p>
          <a:p>
            <a:pPr lvl="1"/>
            <a:r>
              <a:rPr lang="en-US" sz="2000" i="0" dirty="0" smtClean="0"/>
              <a:t>Piece-meal procurements cost higher.</a:t>
            </a:r>
          </a:p>
          <a:p>
            <a:pPr lvl="1"/>
            <a:r>
              <a:rPr lang="en-US" sz="2000" i="0" dirty="0" smtClean="0"/>
              <a:t>Delays/stops in Procurement weaken footings for negotiations. </a:t>
            </a:r>
          </a:p>
          <a:p>
            <a:pPr marL="0" indent="0" algn="just">
              <a:buNone/>
            </a:pPr>
            <a:endParaRPr lang="en-US" dirty="0"/>
          </a:p>
          <a:p>
            <a:endParaRPr lang="en-US" i="0" dirty="0" smtClean="0"/>
          </a:p>
          <a:p>
            <a:pPr lvl="1"/>
            <a:endParaRPr lang="en-US" i="0" dirty="0" smtClean="0"/>
          </a:p>
          <a:p>
            <a:pPr lvl="1"/>
            <a:endParaRPr lang="en-US" sz="2000" i="0" dirty="0" smtClean="0"/>
          </a:p>
          <a:p>
            <a:pPr lvl="1"/>
            <a:endParaRPr lang="en-US" dirty="0"/>
          </a:p>
        </p:txBody>
      </p:sp>
    </p:spTree>
    <p:extLst>
      <p:ext uri="{BB962C8B-B14F-4D97-AF65-F5344CB8AC3E}">
        <p14:creationId xmlns:p14="http://schemas.microsoft.com/office/powerpoint/2010/main" xmlns="" val="10045937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0972" y="471714"/>
            <a:ext cx="9601200" cy="3581400"/>
          </a:xfrm>
        </p:spPr>
        <p:txBody>
          <a:bodyPr/>
          <a:lstStyle/>
          <a:p>
            <a:pPr marL="0" indent="0">
              <a:buNone/>
            </a:pPr>
            <a:r>
              <a:rPr lang="en-US" sz="2800" b="1" u="sng" dirty="0"/>
              <a:t>Input 11: Organizational Process Assets:</a:t>
            </a:r>
          </a:p>
          <a:p>
            <a:pPr algn="just"/>
            <a:r>
              <a:rPr lang="en-US" dirty="0"/>
              <a:t>Formal procurement documents, procedures, and guidelines. </a:t>
            </a:r>
            <a:endParaRPr lang="en-US" dirty="0" smtClean="0"/>
          </a:p>
          <a:p>
            <a:pPr algn="just"/>
            <a:r>
              <a:rPr lang="en-US" dirty="0" smtClean="0"/>
              <a:t>Most </a:t>
            </a:r>
            <a:r>
              <a:rPr lang="en-US" dirty="0"/>
              <a:t>organizations have formal procurement policies and buying organizations. When such procurement support is not available, the project team will have to supply both the resources and the expertise to perform such procurement activities. </a:t>
            </a:r>
            <a:endParaRPr lang="en-US" dirty="0" smtClean="0"/>
          </a:p>
          <a:p>
            <a:pPr algn="just"/>
            <a:r>
              <a:rPr lang="en-US" dirty="0" smtClean="0"/>
              <a:t>Management systems that are considered in developing the procurement management plan and selecting the contract types to be used.</a:t>
            </a:r>
          </a:p>
          <a:p>
            <a:pPr algn="just"/>
            <a:r>
              <a:rPr lang="en-US" dirty="0" smtClean="0"/>
              <a:t>An established multi-tiered supplier system of pre-qualified sellers based on prior experience.</a:t>
            </a:r>
            <a:endParaRPr lang="en-US" dirty="0"/>
          </a:p>
          <a:p>
            <a:endParaRPr lang="en-US" dirty="0"/>
          </a:p>
        </p:txBody>
      </p:sp>
    </p:spTree>
    <p:extLst>
      <p:ext uri="{BB962C8B-B14F-4D97-AF65-F5344CB8AC3E}">
        <p14:creationId xmlns:p14="http://schemas.microsoft.com/office/powerpoint/2010/main" xmlns="" val="7209928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78541" y="2005241"/>
            <a:ext cx="10515600" cy="1065505"/>
          </a:xfrm>
        </p:spPr>
        <p:txBody>
          <a:bodyPr>
            <a:normAutofit/>
          </a:bodyPr>
          <a:lstStyle/>
          <a:p>
            <a:pPr algn="ctr"/>
            <a:r>
              <a:rPr lang="en-US" u="sng" dirty="0" smtClean="0">
                <a:latin typeface="Andalus" panose="02020603050405020304" pitchFamily="18" charset="-78"/>
                <a:cs typeface="Andalus" panose="02020603050405020304" pitchFamily="18" charset="-78"/>
              </a:rPr>
              <a:t>Tools &amp; Techniques: Procurement Planning</a:t>
            </a:r>
            <a:endParaRPr lang="en-US" u="sng"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xmlns="" val="27125554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5752"/>
          </a:xfrm>
        </p:spPr>
        <p:txBody>
          <a:bodyPr>
            <a:normAutofit/>
          </a:bodyPr>
          <a:lstStyle/>
          <a:p>
            <a:pPr algn="ctr"/>
            <a:r>
              <a:rPr lang="en-US" sz="2800" b="1" u="sng" dirty="0" smtClean="0"/>
              <a:t>Make or Buy Analysis</a:t>
            </a:r>
            <a:endParaRPr lang="en-US" sz="2800" b="1" u="sng"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838200" y="1690688"/>
            <a:ext cx="4744679" cy="4351338"/>
          </a:xfrm>
        </p:spPr>
      </p:pic>
      <p:sp>
        <p:nvSpPr>
          <p:cNvPr id="5" name="TextBox 4"/>
          <p:cNvSpPr txBox="1"/>
          <p:nvPr/>
        </p:nvSpPr>
        <p:spPr>
          <a:xfrm>
            <a:off x="5722962" y="1050878"/>
            <a:ext cx="5630838" cy="2031325"/>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Key Considerations:</a:t>
            </a:r>
          </a:p>
          <a:p>
            <a:pPr marL="342900" indent="-342900">
              <a:buAutoNum type="arabicPeriod"/>
            </a:pPr>
            <a:r>
              <a:rPr lang="en-US" dirty="0" smtClean="0">
                <a:latin typeface="Times New Roman" panose="02020603050405020304" pitchFamily="18" charset="0"/>
                <a:cs typeface="Times New Roman" panose="02020603050405020304" pitchFamily="18" charset="0"/>
              </a:rPr>
              <a:t>Core function/competencies of the firm.</a:t>
            </a:r>
          </a:p>
          <a:p>
            <a:pPr marL="342900" indent="-342900">
              <a:buAutoNum type="arabicPeriod"/>
            </a:pPr>
            <a:r>
              <a:rPr lang="en-US" dirty="0" smtClean="0">
                <a:latin typeface="Times New Roman" panose="02020603050405020304" pitchFamily="18" charset="0"/>
                <a:cs typeface="Times New Roman" panose="02020603050405020304" pitchFamily="18" charset="0"/>
              </a:rPr>
              <a:t>Protect competitive position (Trademark </a:t>
            </a:r>
            <a:r>
              <a:rPr lang="en-US" dirty="0" err="1" smtClean="0">
                <a:latin typeface="Times New Roman" panose="02020603050405020304" pitchFamily="18" charset="0"/>
                <a:cs typeface="Times New Roman" panose="02020603050405020304" pitchFamily="18" charset="0"/>
              </a:rPr>
              <a:t>etc</a:t>
            </a:r>
            <a:r>
              <a:rPr lang="en-US" dirty="0" smtClean="0">
                <a:latin typeface="Times New Roman" panose="02020603050405020304" pitchFamily="18" charset="0"/>
                <a:cs typeface="Times New Roman" panose="02020603050405020304" pitchFamily="18" charset="0"/>
              </a:rPr>
              <a:t>)</a:t>
            </a:r>
          </a:p>
          <a:p>
            <a:pPr marL="342900" indent="-342900">
              <a:buAutoNum type="arabicPeriod"/>
            </a:pPr>
            <a:r>
              <a:rPr lang="en-US" dirty="0" smtClean="0">
                <a:latin typeface="Times New Roman" panose="02020603050405020304" pitchFamily="18" charset="0"/>
                <a:cs typeface="Times New Roman" panose="02020603050405020304" pitchFamily="18" charset="0"/>
              </a:rPr>
              <a:t>Secure project scope from competition</a:t>
            </a:r>
          </a:p>
          <a:p>
            <a:pPr marL="342900" indent="-342900">
              <a:buAutoNum type="arabicPeriod"/>
            </a:pPr>
            <a:r>
              <a:rPr lang="en-US" dirty="0" smtClean="0">
                <a:latin typeface="Times New Roman" panose="02020603050405020304" pitchFamily="18" charset="0"/>
                <a:cs typeface="Times New Roman" panose="02020603050405020304" pitchFamily="18" charset="0"/>
              </a:rPr>
              <a:t>Availability and ability of Resources</a:t>
            </a:r>
          </a:p>
          <a:p>
            <a:pPr marL="342900" indent="-342900">
              <a:buAutoNum type="arabicPeriod"/>
            </a:pPr>
            <a:endParaRPr lang="en-US" dirty="0" smtClean="0"/>
          </a:p>
          <a:p>
            <a:pPr marL="342900" indent="-342900">
              <a:buAutoNum type="arabicPeriod"/>
            </a:pPr>
            <a:endParaRPr lang="en-US" dirty="0"/>
          </a:p>
        </p:txBody>
      </p:sp>
      <p:sp>
        <p:nvSpPr>
          <p:cNvPr id="6" name="Rectangle 5"/>
          <p:cNvSpPr/>
          <p:nvPr/>
        </p:nvSpPr>
        <p:spPr>
          <a:xfrm>
            <a:off x="5722962" y="2912690"/>
            <a:ext cx="5630838" cy="3693319"/>
          </a:xfrm>
          <a:prstGeom prst="rect">
            <a:avLst/>
          </a:prstGeom>
        </p:spPr>
        <p:txBody>
          <a:bodyPr wrap="square">
            <a:spAutoFit/>
          </a:bodyPr>
          <a:lstStyle/>
          <a:p>
            <a:pPr algn="just"/>
            <a:r>
              <a:rPr lang="en-US" b="1" dirty="0" smtClean="0">
                <a:latin typeface="Times New Roman" panose="02020603050405020304" pitchFamily="18" charset="0"/>
              </a:rPr>
              <a:t>A Study of American firms reveal the following:</a:t>
            </a:r>
            <a:endParaRPr lang="en-US" b="1" i="0" u="none" strike="noStrike" baseline="0" dirty="0" smtClean="0">
              <a:latin typeface="Times New Roman" panose="02020603050405020304" pitchFamily="18" charset="0"/>
            </a:endParaRPr>
          </a:p>
          <a:p>
            <a:pPr marL="342900" indent="-342900" algn="just">
              <a:buAutoNum type="arabicPeriod"/>
            </a:pPr>
            <a:r>
              <a:rPr lang="en-US" b="0" i="1" u="none" strike="noStrike" baseline="0" dirty="0" smtClean="0">
                <a:latin typeface="Times New Roman" panose="02020603050405020304" pitchFamily="18" charset="0"/>
              </a:rPr>
              <a:t>Management tends to ignore the make-or-buy problem.</a:t>
            </a:r>
          </a:p>
          <a:p>
            <a:pPr marL="342900" indent="-342900" algn="just">
              <a:buAutoNum type="arabicPeriod"/>
            </a:pPr>
            <a:endParaRPr lang="en-US" b="0" i="1" u="none" strike="noStrike" baseline="0" dirty="0" smtClean="0">
              <a:latin typeface="Times New Roman" panose="02020603050405020304" pitchFamily="18" charset="0"/>
            </a:endParaRPr>
          </a:p>
          <a:p>
            <a:pPr algn="just"/>
            <a:r>
              <a:rPr lang="en-US" b="0" i="1" u="none" strike="noStrike" baseline="0" dirty="0" smtClean="0">
                <a:latin typeface="Times New Roman" panose="02020603050405020304" pitchFamily="18" charset="0"/>
              </a:rPr>
              <a:t>2. Many make-or-buy analyses are based on invalid cost comparisons, due to the excessive use of historical data when estimates of</a:t>
            </a:r>
            <a:r>
              <a:rPr lang="en-US" b="0" i="1" u="none" strike="noStrike" dirty="0" smtClean="0">
                <a:latin typeface="Times New Roman" panose="02020603050405020304" pitchFamily="18" charset="0"/>
              </a:rPr>
              <a:t> </a:t>
            </a:r>
            <a:r>
              <a:rPr lang="en-US" b="0" i="1" u="none" strike="noStrike" baseline="0" dirty="0" smtClean="0">
                <a:latin typeface="Times New Roman" panose="02020603050405020304" pitchFamily="18" charset="0"/>
              </a:rPr>
              <a:t>future costs should be used.</a:t>
            </a:r>
          </a:p>
          <a:p>
            <a:pPr algn="just"/>
            <a:endParaRPr lang="en-US" b="0" i="1" u="none" strike="noStrike" baseline="0" dirty="0" smtClean="0">
              <a:latin typeface="Times New Roman" panose="02020603050405020304" pitchFamily="18" charset="0"/>
            </a:endParaRPr>
          </a:p>
          <a:p>
            <a:pPr algn="just"/>
            <a:r>
              <a:rPr lang="en-US" b="0" i="1" u="none" strike="noStrike" baseline="0" dirty="0" smtClean="0">
                <a:latin typeface="Times New Roman" panose="02020603050405020304" pitchFamily="18" charset="0"/>
              </a:rPr>
              <a:t>3. American businesses lose more money in making things that should</a:t>
            </a:r>
            <a:r>
              <a:rPr lang="en-US" b="0" i="1" u="none" strike="noStrike" dirty="0" smtClean="0">
                <a:latin typeface="Times New Roman" panose="02020603050405020304" pitchFamily="18" charset="0"/>
              </a:rPr>
              <a:t> </a:t>
            </a:r>
            <a:r>
              <a:rPr lang="en-US" b="0" i="1" u="none" strike="noStrike" baseline="0" dirty="0" smtClean="0">
                <a:latin typeface="Times New Roman" panose="02020603050405020304" pitchFamily="18" charset="0"/>
              </a:rPr>
              <a:t>be bought than in buying things that should be made.</a:t>
            </a:r>
          </a:p>
          <a:p>
            <a:pPr algn="just"/>
            <a:endParaRPr lang="en-US" b="0" i="1" u="none" strike="noStrike" baseline="0" dirty="0" smtClean="0">
              <a:latin typeface="Times New Roman" panose="02020603050405020304" pitchFamily="18" charset="0"/>
            </a:endParaRPr>
          </a:p>
          <a:p>
            <a:pPr algn="just"/>
            <a:r>
              <a:rPr lang="en-US" b="0" i="1" u="none" strike="noStrike" baseline="0" dirty="0" smtClean="0">
                <a:latin typeface="Times New Roman" panose="02020603050405020304" pitchFamily="18" charset="0"/>
              </a:rPr>
              <a:t>4. Nevertheless, millions of dollars are lost annually by buying items</a:t>
            </a:r>
            <a:r>
              <a:rPr lang="en-US" b="0" i="1" u="none" strike="noStrike" dirty="0" smtClean="0">
                <a:latin typeface="Times New Roman" panose="02020603050405020304" pitchFamily="18" charset="0"/>
              </a:rPr>
              <a:t> </a:t>
            </a:r>
            <a:r>
              <a:rPr lang="en-US" b="0" i="1" u="none" strike="noStrike" baseline="0" dirty="0" smtClean="0">
                <a:latin typeface="Times New Roman" panose="02020603050405020304" pitchFamily="18" charset="0"/>
              </a:rPr>
              <a:t>that could be more economically made.</a:t>
            </a:r>
            <a:endParaRPr lang="en-US" dirty="0"/>
          </a:p>
        </p:txBody>
      </p:sp>
    </p:spTree>
    <p:extLst>
      <p:ext uri="{BB962C8B-B14F-4D97-AF65-F5344CB8AC3E}">
        <p14:creationId xmlns:p14="http://schemas.microsoft.com/office/powerpoint/2010/main" xmlns="" val="26934244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85800"/>
          </a:xfrm>
        </p:spPr>
        <p:txBody>
          <a:bodyPr>
            <a:normAutofit/>
          </a:bodyPr>
          <a:lstStyle/>
          <a:p>
            <a:pPr algn="ctr"/>
            <a:r>
              <a:rPr lang="en-US" sz="2800" b="1" u="sng" dirty="0" smtClean="0"/>
              <a:t>Budgeting &amp; Contract Types</a:t>
            </a:r>
            <a:endParaRPr lang="en-US" sz="2800" b="1" u="sng" dirty="0"/>
          </a:p>
        </p:txBody>
      </p:sp>
      <p:sp>
        <p:nvSpPr>
          <p:cNvPr id="3" name="Content Placeholder 2"/>
          <p:cNvSpPr>
            <a:spLocks noGrp="1"/>
          </p:cNvSpPr>
          <p:nvPr>
            <p:ph idx="1"/>
          </p:nvPr>
        </p:nvSpPr>
        <p:spPr>
          <a:xfrm>
            <a:off x="1371600" y="1371600"/>
            <a:ext cx="9601200" cy="3581400"/>
          </a:xfrm>
        </p:spPr>
        <p:txBody>
          <a:bodyPr/>
          <a:lstStyle/>
          <a:p>
            <a:r>
              <a:rPr lang="en-US" sz="2400" dirty="0" smtClean="0"/>
              <a:t>Perform preliminary budgeting for the procurements and develop a financial flow program for the project.</a:t>
            </a:r>
          </a:p>
          <a:p>
            <a:r>
              <a:rPr lang="en-US" sz="2400" dirty="0" smtClean="0"/>
              <a:t>The budgeting may be performed using historical data and basic market surveys.</a:t>
            </a:r>
          </a:p>
          <a:p>
            <a:r>
              <a:rPr lang="en-US" sz="2400" dirty="0" smtClean="0"/>
              <a:t>Identifying the types of financial contracts to be used:</a:t>
            </a:r>
          </a:p>
          <a:p>
            <a:pPr lvl="1"/>
            <a:r>
              <a:rPr lang="en-US" sz="2400" dirty="0" smtClean="0"/>
              <a:t>Fixed Price or Lump –Sum Contracts</a:t>
            </a:r>
          </a:p>
          <a:p>
            <a:pPr lvl="1"/>
            <a:r>
              <a:rPr lang="en-US" sz="2400" dirty="0" smtClean="0"/>
              <a:t>Cost-Reimbursable Contracts</a:t>
            </a:r>
          </a:p>
          <a:p>
            <a:pPr lvl="1"/>
            <a:r>
              <a:rPr lang="en-US" sz="2400" dirty="0" smtClean="0"/>
              <a:t>Time &amp; Material Contracts (T&amp;M)</a:t>
            </a:r>
          </a:p>
          <a:p>
            <a:endParaRPr lang="en-US" dirty="0"/>
          </a:p>
        </p:txBody>
      </p:sp>
    </p:spTree>
    <p:extLst>
      <p:ext uri="{BB962C8B-B14F-4D97-AF65-F5344CB8AC3E}">
        <p14:creationId xmlns:p14="http://schemas.microsoft.com/office/powerpoint/2010/main" xmlns="" val="22355256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u="sng" dirty="0" smtClean="0"/>
              <a:t>EXPERT JUDGMENT</a:t>
            </a:r>
            <a:endParaRPr lang="en-US" u="sng" dirty="0"/>
          </a:p>
        </p:txBody>
      </p:sp>
      <p:sp>
        <p:nvSpPr>
          <p:cNvPr id="3" name="Content Placeholder 2"/>
          <p:cNvSpPr>
            <a:spLocks noGrp="1"/>
          </p:cNvSpPr>
          <p:nvPr>
            <p:ph idx="1"/>
          </p:nvPr>
        </p:nvSpPr>
        <p:spPr/>
        <p:txBody>
          <a:bodyPr/>
          <a:lstStyle/>
          <a:p>
            <a:r>
              <a:rPr lang="en-US" dirty="0"/>
              <a:t> Expert judgment is when you call in an expert to get a skilled opinion. It's an estimation methodology for project planning that relies on the expert's opinion to estimate quantitative project details, such as timelines and potential resources</a:t>
            </a:r>
          </a:p>
        </p:txBody>
      </p:sp>
    </p:spTree>
    <p:extLst>
      <p:ext uri="{BB962C8B-B14F-4D97-AF65-F5344CB8AC3E}">
        <p14:creationId xmlns:p14="http://schemas.microsoft.com/office/powerpoint/2010/main" xmlns="" val="36154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78541" y="2005241"/>
            <a:ext cx="10515600" cy="1065505"/>
          </a:xfrm>
        </p:spPr>
        <p:txBody>
          <a:bodyPr>
            <a:normAutofit/>
          </a:bodyPr>
          <a:lstStyle/>
          <a:p>
            <a:pPr algn="ctr"/>
            <a:r>
              <a:rPr lang="en-US" u="sng" dirty="0" smtClean="0">
                <a:latin typeface="Andalus" panose="02020603050405020304" pitchFamily="18" charset="-78"/>
                <a:cs typeface="Andalus" panose="02020603050405020304" pitchFamily="18" charset="-78"/>
              </a:rPr>
              <a:t>Outputs: Procurement Planning</a:t>
            </a:r>
            <a:endParaRPr lang="en-US" u="sng"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xmlns="" val="9249051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371600" y="1390649"/>
            <a:ext cx="9601200" cy="5082721"/>
          </a:xfrm>
        </p:spPr>
        <p:txBody>
          <a:bodyPr>
            <a:normAutofit/>
          </a:bodyPr>
          <a:lstStyle/>
          <a:p>
            <a:pPr algn="just"/>
            <a:r>
              <a:rPr lang="en-US" sz="1800" dirty="0" smtClean="0"/>
              <a:t>What </a:t>
            </a:r>
            <a:r>
              <a:rPr lang="en-US" sz="1800" b="1" dirty="0" smtClean="0"/>
              <a:t>Contract types</a:t>
            </a:r>
            <a:r>
              <a:rPr lang="en-US" sz="1800" dirty="0" smtClean="0"/>
              <a:t> will be used?</a:t>
            </a:r>
          </a:p>
          <a:p>
            <a:pPr algn="just"/>
            <a:r>
              <a:rPr lang="en-US" sz="1800" dirty="0" smtClean="0"/>
              <a:t>Addressing </a:t>
            </a:r>
            <a:r>
              <a:rPr lang="en-US" sz="1800" b="1" dirty="0" smtClean="0"/>
              <a:t>Risk Management </a:t>
            </a:r>
            <a:r>
              <a:rPr lang="en-US" sz="1800" dirty="0" smtClean="0"/>
              <a:t>issues</a:t>
            </a:r>
          </a:p>
          <a:p>
            <a:pPr algn="just"/>
            <a:r>
              <a:rPr lang="en-US" sz="1800" dirty="0" smtClean="0"/>
              <a:t>If </a:t>
            </a:r>
            <a:r>
              <a:rPr lang="en-US" sz="1800" b="1" dirty="0" smtClean="0"/>
              <a:t>independent estimates </a:t>
            </a:r>
            <a:r>
              <a:rPr lang="en-US" sz="1800" dirty="0" smtClean="0"/>
              <a:t>required for evaluation, who will prepare them and when?</a:t>
            </a:r>
          </a:p>
          <a:p>
            <a:pPr algn="just"/>
            <a:r>
              <a:rPr lang="en-US" sz="1800" dirty="0" smtClean="0"/>
              <a:t>Defining the </a:t>
            </a:r>
            <a:r>
              <a:rPr lang="en-US" sz="1800" b="1" dirty="0" smtClean="0"/>
              <a:t>authority of procurement </a:t>
            </a:r>
            <a:r>
              <a:rPr lang="en-US" sz="1800" dirty="0" smtClean="0"/>
              <a:t>department and the project management team</a:t>
            </a:r>
          </a:p>
          <a:p>
            <a:pPr algn="just"/>
            <a:r>
              <a:rPr lang="en-US" sz="1800" b="1" dirty="0" smtClean="0"/>
              <a:t>If standard procurement documents </a:t>
            </a:r>
            <a:r>
              <a:rPr lang="en-US" sz="1800" dirty="0" smtClean="0"/>
              <a:t>are required (SOPs), where to find them?</a:t>
            </a:r>
          </a:p>
          <a:p>
            <a:pPr algn="just"/>
            <a:r>
              <a:rPr lang="en-US" sz="1800" dirty="0" smtClean="0"/>
              <a:t>How will </a:t>
            </a:r>
            <a:r>
              <a:rPr lang="en-US" sz="1800" b="1" dirty="0" smtClean="0"/>
              <a:t>multiple providers </a:t>
            </a:r>
            <a:r>
              <a:rPr lang="en-US" sz="1800" dirty="0" smtClean="0"/>
              <a:t>be managed?</a:t>
            </a:r>
          </a:p>
          <a:p>
            <a:pPr algn="just"/>
            <a:r>
              <a:rPr lang="en-US" sz="1800" dirty="0" smtClean="0"/>
              <a:t>How will </a:t>
            </a:r>
            <a:r>
              <a:rPr lang="en-US" sz="1800" b="1" dirty="0" smtClean="0"/>
              <a:t>procurement</a:t>
            </a:r>
            <a:r>
              <a:rPr lang="en-US" sz="1800" dirty="0" smtClean="0"/>
              <a:t> be </a:t>
            </a:r>
            <a:r>
              <a:rPr lang="en-US" sz="1800" b="1" dirty="0" smtClean="0"/>
              <a:t>coordinated</a:t>
            </a:r>
            <a:r>
              <a:rPr lang="en-US" sz="1800" dirty="0" smtClean="0"/>
              <a:t> with other project aspects, such as scheduling and performance reporting?</a:t>
            </a:r>
          </a:p>
          <a:p>
            <a:pPr algn="just"/>
            <a:r>
              <a:rPr lang="en-US" sz="1800" dirty="0" smtClean="0"/>
              <a:t>Handling </a:t>
            </a:r>
            <a:r>
              <a:rPr lang="en-US" sz="1800" b="1" dirty="0" smtClean="0"/>
              <a:t>Make or Buy</a:t>
            </a:r>
          </a:p>
          <a:p>
            <a:pPr algn="just"/>
            <a:r>
              <a:rPr lang="en-US" sz="1800" dirty="0" smtClean="0"/>
              <a:t>Maintaining the </a:t>
            </a:r>
            <a:r>
              <a:rPr lang="en-US" sz="1800" b="1" dirty="0" smtClean="0"/>
              <a:t>WBS</a:t>
            </a:r>
          </a:p>
          <a:p>
            <a:pPr algn="just"/>
            <a:r>
              <a:rPr lang="en-US" sz="1800" dirty="0" smtClean="0"/>
              <a:t>Form and format for procurements</a:t>
            </a:r>
          </a:p>
          <a:p>
            <a:pPr algn="just"/>
            <a:r>
              <a:rPr lang="en-US" sz="1800" dirty="0" smtClean="0"/>
              <a:t>Identify the pre-qualified seller (if available)</a:t>
            </a:r>
          </a:p>
          <a:p>
            <a:pPr algn="just"/>
            <a:endParaRPr lang="en-US" dirty="0"/>
          </a:p>
        </p:txBody>
      </p:sp>
      <p:sp>
        <p:nvSpPr>
          <p:cNvPr id="9" name="Title 1"/>
          <p:cNvSpPr>
            <a:spLocks noGrp="1"/>
          </p:cNvSpPr>
          <p:nvPr>
            <p:ph type="title"/>
          </p:nvPr>
        </p:nvSpPr>
        <p:spPr>
          <a:xfrm>
            <a:off x="1371600" y="685800"/>
            <a:ext cx="9601200" cy="704850"/>
          </a:xfrm>
        </p:spPr>
        <p:txBody>
          <a:bodyPr>
            <a:normAutofit/>
          </a:bodyPr>
          <a:lstStyle/>
          <a:p>
            <a:r>
              <a:rPr lang="en-US" sz="2800" b="1" u="sng" dirty="0" smtClean="0"/>
              <a:t>Output 1: Project </a:t>
            </a:r>
            <a:r>
              <a:rPr lang="en-US" sz="2800" b="1" u="sng" dirty="0"/>
              <a:t>Management Pan</a:t>
            </a:r>
          </a:p>
        </p:txBody>
      </p:sp>
    </p:spTree>
    <p:extLst>
      <p:ext uri="{BB962C8B-B14F-4D97-AF65-F5344CB8AC3E}">
        <p14:creationId xmlns:p14="http://schemas.microsoft.com/office/powerpoint/2010/main" xmlns="" val="28292562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85549"/>
            <a:ext cx="9601200" cy="856397"/>
          </a:xfrm>
        </p:spPr>
        <p:txBody>
          <a:bodyPr>
            <a:normAutofit/>
          </a:bodyPr>
          <a:lstStyle/>
          <a:p>
            <a:r>
              <a:rPr lang="en-US" sz="2800" b="1" u="sng" dirty="0" smtClean="0"/>
              <a:t>Output 2: Procurement </a:t>
            </a:r>
            <a:r>
              <a:rPr lang="en-US" sz="2800" b="1" u="sng" dirty="0"/>
              <a:t>Matrix</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011474" y="1241946"/>
            <a:ext cx="8321452" cy="5383880"/>
          </a:xfrm>
        </p:spPr>
      </p:pic>
    </p:spTree>
    <p:extLst>
      <p:ext uri="{BB962C8B-B14F-4D97-AF65-F5344CB8AC3E}">
        <p14:creationId xmlns:p14="http://schemas.microsoft.com/office/powerpoint/2010/main" xmlns="" val="2222127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1286"/>
          </a:xfrm>
        </p:spPr>
        <p:txBody>
          <a:bodyPr>
            <a:normAutofit/>
          </a:bodyPr>
          <a:lstStyle/>
          <a:p>
            <a:r>
              <a:rPr lang="en-US" sz="2800" b="1" u="sng" dirty="0" smtClean="0"/>
              <a:t>Output 3: Procurement </a:t>
            </a:r>
            <a:r>
              <a:rPr lang="en-US" sz="2800" b="1" u="sng" dirty="0"/>
              <a:t>Statement of Work</a:t>
            </a:r>
          </a:p>
        </p:txBody>
      </p:sp>
      <p:pic>
        <p:nvPicPr>
          <p:cNvPr id="11" name="Content Placeholder 10"/>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426272" y="1146412"/>
            <a:ext cx="7339455" cy="5504592"/>
          </a:xfrm>
        </p:spPr>
      </p:pic>
    </p:spTree>
    <p:extLst>
      <p:ext uri="{BB962C8B-B14F-4D97-AF65-F5344CB8AC3E}">
        <p14:creationId xmlns:p14="http://schemas.microsoft.com/office/powerpoint/2010/main" xmlns="" val="19440845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All You Need To Know About What Is Statement Of Work In Project Management  - Weekly Sharing - ZenTao"/>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1371599" y="601578"/>
            <a:ext cx="9745579" cy="501077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1460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900" y="359229"/>
            <a:ext cx="10611738" cy="453571"/>
          </a:xfrm>
        </p:spPr>
        <p:txBody>
          <a:bodyPr>
            <a:normAutofit fontScale="90000"/>
          </a:bodyPr>
          <a:lstStyle/>
          <a:p>
            <a:r>
              <a:rPr lang="en-US" sz="2800" b="1" u="sng" dirty="0" smtClean="0"/>
              <a:t>Output 4: Source Selection Criteria</a:t>
            </a:r>
            <a:endParaRPr lang="en-US" sz="2800" b="1" u="sng" dirty="0"/>
          </a:p>
        </p:txBody>
      </p:sp>
      <p:pic>
        <p:nvPicPr>
          <p:cNvPr id="8" name="Picture 7"/>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977901" y="990602"/>
            <a:ext cx="10611737" cy="3469577"/>
          </a:xfrm>
          <a:prstGeom prst="rect">
            <a:avLst/>
          </a:prstGeom>
        </p:spPr>
      </p:pic>
    </p:spTree>
    <p:extLst>
      <p:ext uri="{BB962C8B-B14F-4D97-AF65-F5344CB8AC3E}">
        <p14:creationId xmlns:p14="http://schemas.microsoft.com/office/powerpoint/2010/main" xmlns="" val="2953106894"/>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1199</TotalTime>
  <Words>1477</Words>
  <Application>Microsoft Office PowerPoint</Application>
  <PresentationFormat>Custom</PresentationFormat>
  <Paragraphs>132</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Crop</vt:lpstr>
      <vt:lpstr>Project Procurement and Contract Management </vt:lpstr>
      <vt:lpstr>Project Procurement Management Overview </vt:lpstr>
      <vt:lpstr>Planning Procurement</vt:lpstr>
      <vt:lpstr>Procurement Planning Flow Chart</vt:lpstr>
      <vt:lpstr>PROCUREMENT ADVERTISEMENTS  PPRA RULES</vt:lpstr>
      <vt:lpstr>Slide 6</vt:lpstr>
      <vt:lpstr>Slide 7</vt:lpstr>
      <vt:lpstr>Plan Procurement: Inputs </vt:lpstr>
      <vt:lpstr>Input 1: Scope Baseline</vt:lpstr>
      <vt:lpstr>Scope Statement</vt:lpstr>
      <vt:lpstr>Work Breakdown Structure (WBS)</vt:lpstr>
      <vt:lpstr>WBS: Vehicle Development</vt:lpstr>
      <vt:lpstr>Slide 13</vt:lpstr>
      <vt:lpstr>Slide 14</vt:lpstr>
      <vt:lpstr>WBS: Construction of House</vt:lpstr>
      <vt:lpstr>Slide 16</vt:lpstr>
      <vt:lpstr>Slide 17</vt:lpstr>
      <vt:lpstr>Slide 18</vt:lpstr>
      <vt:lpstr>Slide 19</vt:lpstr>
      <vt:lpstr>Slide 20</vt:lpstr>
      <vt:lpstr>Slide 21</vt:lpstr>
      <vt:lpstr>Tools &amp; Techniques: Procurement Planning</vt:lpstr>
      <vt:lpstr>Make or Buy Analysis</vt:lpstr>
      <vt:lpstr>Budgeting &amp; Contract Types</vt:lpstr>
      <vt:lpstr>EXPERT JUDGMENT</vt:lpstr>
      <vt:lpstr>Outputs: Procurement Planning</vt:lpstr>
      <vt:lpstr>Output 1: Project Management Pan</vt:lpstr>
      <vt:lpstr>Output 2: Procurement Matrix</vt:lpstr>
      <vt:lpstr>Output 3: Procurement Statement of Work</vt:lpstr>
      <vt:lpstr>Slide 30</vt:lpstr>
      <vt:lpstr>Output 4: Source Selection Criteria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Procurement and Contract Management</dc:title>
  <dc:creator>Bilal</dc:creator>
  <cp:lastModifiedBy>user</cp:lastModifiedBy>
  <cp:revision>56</cp:revision>
  <dcterms:created xsi:type="dcterms:W3CDTF">2017-10-07T06:44:46Z</dcterms:created>
  <dcterms:modified xsi:type="dcterms:W3CDTF">2023-08-18T05:33:18Z</dcterms:modified>
</cp:coreProperties>
</file>