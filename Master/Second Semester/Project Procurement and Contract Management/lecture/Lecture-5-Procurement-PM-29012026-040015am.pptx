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92" r:id="rId3"/>
    <p:sldId id="289" r:id="rId4"/>
    <p:sldId id="291" r:id="rId5"/>
    <p:sldId id="257" r:id="rId6"/>
    <p:sldId id="266" r:id="rId7"/>
    <p:sldId id="269" r:id="rId8"/>
    <p:sldId id="267" r:id="rId9"/>
    <p:sldId id="258" r:id="rId10"/>
    <p:sldId id="262" r:id="rId11"/>
    <p:sldId id="290" r:id="rId12"/>
    <p:sldId id="272" r:id="rId13"/>
    <p:sldId id="260" r:id="rId14"/>
    <p:sldId id="270" r:id="rId15"/>
    <p:sldId id="287" r:id="rId16"/>
    <p:sldId id="261" r:id="rId17"/>
    <p:sldId id="263" r:id="rId18"/>
    <p:sldId id="264" r:id="rId19"/>
    <p:sldId id="273" r:id="rId20"/>
    <p:sldId id="274" r:id="rId21"/>
    <p:sldId id="265" r:id="rId22"/>
    <p:sldId id="288" r:id="rId23"/>
    <p:sldId id="259" r:id="rId24"/>
    <p:sldId id="276" r:id="rId25"/>
    <p:sldId id="275" r:id="rId26"/>
    <p:sldId id="278" r:id="rId27"/>
    <p:sldId id="277" r:id="rId28"/>
    <p:sldId id="279" r:id="rId29"/>
    <p:sldId id="280" r:id="rId30"/>
    <p:sldId id="281" r:id="rId31"/>
    <p:sldId id="285" r:id="rId32"/>
    <p:sldId id="286" r:id="rId33"/>
    <p:sldId id="282" r:id="rId34"/>
    <p:sldId id="283" r:id="rId35"/>
    <p:sldId id="284"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Default Section" id="{061803CA-25C5-4169-A0E9-7F3E80D4CFE0}">
          <p14:sldIdLst>
            <p14:sldId id="256"/>
            <p14:sldId id="292"/>
            <p14:sldId id="289"/>
            <p14:sldId id="291"/>
            <p14:sldId id="257"/>
            <p14:sldId id="266"/>
            <p14:sldId id="269"/>
            <p14:sldId id="267"/>
            <p14:sldId id="258"/>
            <p14:sldId id="262"/>
            <p14:sldId id="290"/>
            <p14:sldId id="272"/>
            <p14:sldId id="260"/>
            <p14:sldId id="270"/>
            <p14:sldId id="287"/>
            <p14:sldId id="261"/>
            <p14:sldId id="263"/>
            <p14:sldId id="264"/>
            <p14:sldId id="273"/>
            <p14:sldId id="274"/>
            <p14:sldId id="265"/>
            <p14:sldId id="288"/>
            <p14:sldId id="259"/>
            <p14:sldId id="276"/>
            <p14:sldId id="275"/>
            <p14:sldId id="278"/>
            <p14:sldId id="277"/>
            <p14:sldId id="279"/>
            <p14:sldId id="280"/>
            <p14:sldId id="281"/>
            <p14:sldId id="285"/>
            <p14:sldId id="286"/>
            <p14:sldId id="282"/>
            <p14:sldId id="283"/>
            <p14:sldId id="284"/>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60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fld id="{CF6DC08E-F534-42B2-9B2F-29F073B7C432}" type="datetimeFigureOut">
              <a:rPr lang="en-US" smtClean="0"/>
              <a:pPr/>
              <a:t>8/18/2023</a:t>
            </a:fld>
            <a:endParaRPr lang="en-US"/>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CED67F57-8608-4B24-BB91-EF574E2315BA}" type="slidenum">
              <a:rPr lang="en-US" smtClean="0"/>
              <a:pPr/>
              <a:t>‹#›</a:t>
            </a:fld>
            <a:endParaRPr lang="en-US"/>
          </a:p>
        </p:txBody>
      </p:sp>
      <p:grpSp>
        <p:nvGrpSpPr>
          <p:cNvPr id="8" name="Group 7"/>
          <p:cNvGrpSpPr/>
          <p:nvPr/>
        </p:nvGrpSpPr>
        <p:grpSpPr>
          <a:xfrm>
            <a:off x="564643" y="744469"/>
            <a:ext cx="8005589" cy="5349671"/>
            <a:chOff x="564643" y="744469"/>
            <a:chExt cx="8005589" cy="5349671"/>
          </a:xfrm>
        </p:grpSpPr>
        <p:sp>
          <p:nvSpPr>
            <p:cNvPr id="11" name="Freeform 6"/>
            <p:cNvSpPr/>
            <p:nvPr/>
          </p:nvSpPr>
          <p:spPr bwMode="auto">
            <a:xfrm>
              <a:off x="6113972" y="1685652"/>
              <a:ext cx="2456260" cy="4408488"/>
            </a:xfrm>
            <a:custGeom>
              <a:avLst/>
              <a:gdLst/>
              <a:ahLst/>
              <a:cxnLst/>
              <a:rect l="l" t="t" r="r" b="b"/>
              <a:pathLst>
                <a:path w="10000" h="10000">
                  <a:moveTo>
                    <a:pt x="8761" y="0"/>
                  </a:moveTo>
                  <a:lnTo>
                    <a:pt x="10000" y="0"/>
                  </a:lnTo>
                  <a:lnTo>
                    <a:pt x="10000" y="10000"/>
                  </a:lnTo>
                  <a:lnTo>
                    <a:pt x="0" y="10000"/>
                  </a:lnTo>
                  <a:lnTo>
                    <a:pt x="0" y="9357"/>
                  </a:lnTo>
                  <a:lnTo>
                    <a:pt x="8761" y="935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564643" y="744469"/>
              <a:ext cx="2456505" cy="4408488"/>
            </a:xfrm>
            <a:custGeom>
              <a:avLst/>
              <a:gdLst/>
              <a:ahLst/>
              <a:cxnLst/>
              <a:rect l="l" t="t" r="r" b="b"/>
              <a:pathLst>
                <a:path w="10001" h="1000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xmlns="" val="3968987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6DC08E-F534-42B2-9B2F-29F073B7C432}"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67F57-8608-4B24-BB91-EF574E2315BA}" type="slidenum">
              <a:rPr lang="en-US" smtClean="0"/>
              <a:pPr/>
              <a:t>‹#›</a:t>
            </a:fld>
            <a:endParaRPr lang="en-US"/>
          </a:p>
        </p:txBody>
      </p:sp>
    </p:spTree>
    <p:extLst>
      <p:ext uri="{BB962C8B-B14F-4D97-AF65-F5344CB8AC3E}">
        <p14:creationId xmlns:p14="http://schemas.microsoft.com/office/powerpoint/2010/main" xmlns="" val="2340858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60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fld id="{CF6DC08E-F534-42B2-9B2F-29F073B7C432}" type="datetimeFigureOut">
              <a:rPr lang="en-US" smtClean="0"/>
              <a:pPr/>
              <a:t>8/18/2023</a:t>
            </a:fld>
            <a:endParaRPr lang="en-US"/>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CED67F57-8608-4B24-BB91-EF574E2315BA}" type="slidenum">
              <a:rPr lang="en-US" smtClean="0"/>
              <a:pPr/>
              <a:t>‹#›</a:t>
            </a:fld>
            <a:endParaRPr lang="en-US"/>
          </a:p>
        </p:txBody>
      </p:sp>
      <p:sp>
        <p:nvSpPr>
          <p:cNvPr id="7" name="Freeform 6"/>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bg2"/>
          </a:solidFill>
          <a:ln w="0">
            <a:noFill/>
            <a:prstDash val="solid"/>
            <a:round/>
            <a:headEnd/>
            <a:tailEnd/>
          </a:ln>
        </p:spPr>
      </p:sp>
      <p:sp>
        <p:nvSpPr>
          <p:cNvPr id="8" name="Freeform 7"/>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xmlns="" val="11824635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6DC08E-F534-42B2-9B2F-29F073B7C432}" type="datetimeFigureOut">
              <a:rPr lang="en-US" smtClean="0"/>
              <a:pPr/>
              <a:t>8/18/2023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67F57-8608-4B24-BB91-EF574E2315BA}" type="slidenum">
              <a:rPr lang="en-US" smtClean="0"/>
              <a:pPr/>
              <a:t>‹#›</a:t>
            </a:fld>
            <a:endParaRPr lang="en-US"/>
          </a:p>
        </p:txBody>
      </p:sp>
    </p:spTree>
    <p:extLst>
      <p:ext uri="{BB962C8B-B14F-4D97-AF65-F5344CB8AC3E}">
        <p14:creationId xmlns:p14="http://schemas.microsoft.com/office/powerpoint/2010/main" xmlns="" val="258797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6DC08E-F534-42B2-9B2F-29F073B7C432}" type="datetimeFigureOut">
              <a:rPr lang="en-US" smtClean="0"/>
              <a:pPr/>
              <a:t>8/18/2023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D67F57-8608-4B24-BB91-EF574E2315BA}" type="slidenum">
              <a:rPr lang="en-US" smtClean="0"/>
              <a:pPr/>
              <a:t>‹#›</a:t>
            </a:fld>
            <a:endParaRPr lang="en-US"/>
          </a:p>
        </p:txBody>
      </p:sp>
    </p:spTree>
    <p:extLst>
      <p:ext uri="{BB962C8B-B14F-4D97-AF65-F5344CB8AC3E}">
        <p14:creationId xmlns:p14="http://schemas.microsoft.com/office/powerpoint/2010/main" xmlns="" val="2965221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6DC08E-F534-42B2-9B2F-29F073B7C432}" type="datetimeFigureOut">
              <a:rPr lang="en-US" smtClean="0"/>
              <a:pPr/>
              <a:t>8/18/2023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D67F57-8608-4B24-BB91-EF574E2315BA}" type="slidenum">
              <a:rPr lang="en-US" smtClean="0"/>
              <a:pPr/>
              <a:t>‹#›</a:t>
            </a:fld>
            <a:endParaRPr lang="en-US"/>
          </a:p>
        </p:txBody>
      </p:sp>
    </p:spTree>
    <p:extLst>
      <p:ext uri="{BB962C8B-B14F-4D97-AF65-F5344CB8AC3E}">
        <p14:creationId xmlns:p14="http://schemas.microsoft.com/office/powerpoint/2010/main" xmlns="" val="1439247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6DC08E-F534-42B2-9B2F-29F073B7C432}" type="datetimeFigureOut">
              <a:rPr lang="en-US" smtClean="0"/>
              <a:pPr/>
              <a:t>8/18/2023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D67F57-8608-4B24-BB91-EF574E2315BA}" type="slidenum">
              <a:rPr lang="en-US" smtClean="0"/>
              <a:pPr/>
              <a:t>‹#›</a:t>
            </a:fld>
            <a:endParaRPr lang="en-US"/>
          </a:p>
        </p:txBody>
      </p:sp>
    </p:spTree>
    <p:extLst>
      <p:ext uri="{BB962C8B-B14F-4D97-AF65-F5344CB8AC3E}">
        <p14:creationId xmlns:p14="http://schemas.microsoft.com/office/powerpoint/2010/main" xmlns="" val="1268815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44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2925" y="2856344"/>
            <a:ext cx="2891790" cy="3011056"/>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CF6DC08E-F534-42B2-9B2F-29F073B7C432}" type="datetimeFigureOut">
              <a:rPr lang="en-US" smtClean="0"/>
              <a:pPr/>
              <a:t>8/18/2023</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CED67F57-8608-4B24-BB91-EF574E2315BA}" type="slidenum">
              <a:rPr lang="en-US" smtClean="0"/>
              <a:pPr/>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3864117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44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42925" y="2855968"/>
            <a:ext cx="2891790" cy="3011432"/>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CF6DC08E-F534-42B2-9B2F-29F073B7C432}" type="datetimeFigureOut">
              <a:rPr lang="en-US" smtClean="0"/>
              <a:pPr/>
              <a:t>8/18/2023</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CED67F57-8608-4B24-BB91-EF574E2315BA}" type="slidenum">
              <a:rPr lang="en-US" smtClean="0"/>
              <a:pPr/>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2924538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6DC08E-F534-42B2-9B2F-29F073B7C432}"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67F57-8608-4B24-BB91-EF574E2315BA}" type="slidenum">
              <a:rPr lang="en-US" smtClean="0"/>
              <a:pPr/>
              <a:t>‹#›</a:t>
            </a:fld>
            <a:endParaRPr lang="en-US"/>
          </a:p>
        </p:txBody>
      </p:sp>
    </p:spTree>
    <p:extLst>
      <p:ext uri="{BB962C8B-B14F-4D97-AF65-F5344CB8AC3E}">
        <p14:creationId xmlns:p14="http://schemas.microsoft.com/office/powerpoint/2010/main" xmlns="" val="759304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0797" y="624156"/>
            <a:ext cx="1490950"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28700" y="624156"/>
            <a:ext cx="5724525"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6DC08E-F534-42B2-9B2F-29F073B7C432}"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67F57-8608-4B24-BB91-EF574E2315BA}" type="slidenum">
              <a:rPr lang="en-US" smtClean="0"/>
              <a:pPr/>
              <a:t>‹#›</a:t>
            </a:fld>
            <a:endParaRPr lang="en-US"/>
          </a:p>
        </p:txBody>
      </p:sp>
    </p:spTree>
    <p:extLst>
      <p:ext uri="{BB962C8B-B14F-4D97-AF65-F5344CB8AC3E}">
        <p14:creationId xmlns:p14="http://schemas.microsoft.com/office/powerpoint/2010/main" xmlns="" val="2174647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1000" baseline="0">
                <a:solidFill>
                  <a:schemeClr val="tx2"/>
                </a:solidFill>
              </a:defRPr>
            </a:lvl1pPr>
          </a:lstStyle>
          <a:p>
            <a:fld id="{CF6DC08E-F534-42B2-9B2F-29F073B7C432}" type="datetimeFigureOut">
              <a:rPr lang="en-US" smtClean="0"/>
              <a:pPr/>
              <a:t>8/18/2023</a:t>
            </a:fld>
            <a:endParaRPr lang="en-US"/>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1000" baseline="0">
                <a:solidFill>
                  <a:schemeClr val="tx2"/>
                </a:solidFill>
              </a:defRPr>
            </a:lvl1pPr>
          </a:lstStyle>
          <a:p>
            <a:endParaRPr lang="en-US"/>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1000" baseline="0">
                <a:solidFill>
                  <a:schemeClr val="tx2"/>
                </a:solidFill>
              </a:defRPr>
            </a:lvl1pPr>
          </a:lstStyle>
          <a:p>
            <a:fld id="{CED67F57-8608-4B24-BB91-EF574E2315BA}" type="slidenum">
              <a:rPr lang="en-US" smtClean="0"/>
              <a:pPr/>
              <a:t>‹#›</a:t>
            </a:fld>
            <a:endParaRPr lang="en-US"/>
          </a:p>
        </p:txBody>
      </p:sp>
      <p:sp>
        <p:nvSpPr>
          <p:cNvPr id="9" name="Rectangle 8"/>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35771751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6912">
          <p15:clr>
            <a:srgbClr val="F26B43"/>
          </p15:clr>
        </p15:guide>
        <p15:guide id="2" pos="936">
          <p15:clr>
            <a:srgbClr val="F26B43"/>
          </p15:clr>
        </p15:guide>
        <p15:guide id="3" pos="864">
          <p15:clr>
            <a:srgbClr val="F26B43"/>
          </p15:clr>
        </p15:guide>
        <p15:guide id="4" orient="horz" pos="1368">
          <p15:clr>
            <a:srgbClr val="F26B43"/>
          </p15:clr>
        </p15:guide>
        <p15:guide id="5"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5184">
          <p15:clr>
            <a:srgbClr val="F26B43"/>
          </p15:clr>
        </p15:guide>
        <p15:guide id="10" pos="702">
          <p15:clr>
            <a:srgbClr val="F26B43"/>
          </p15:clr>
        </p15:guide>
        <p15:guide id="11" pos="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Contract Management</a:t>
            </a:r>
          </a:p>
        </p:txBody>
      </p:sp>
      <p:sp>
        <p:nvSpPr>
          <p:cNvPr id="3" name="Subtitle 2"/>
          <p:cNvSpPr>
            <a:spLocks noGrp="1"/>
          </p:cNvSpPr>
          <p:nvPr>
            <p:ph type="subTitle" idx="1"/>
          </p:nvPr>
        </p:nvSpPr>
        <p:spPr/>
        <p:txBody>
          <a:bodyPr/>
          <a:lstStyle/>
          <a:p>
            <a:r>
              <a:rPr lang="en-US" smtClean="0"/>
              <a:t>DR M ASGHAR MUGHAL</a:t>
            </a:r>
            <a:endParaRPr lang="en-US" dirty="0"/>
          </a:p>
          <a:p>
            <a:r>
              <a:rPr lang="en-US" dirty="0" smtClean="0"/>
              <a:t>Lecture </a:t>
            </a:r>
            <a:r>
              <a:rPr lang="en-US" dirty="0"/>
              <a:t>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92B8BF-E264-4457-8F58-0CE4A9ACF811}"/>
              </a:ext>
            </a:extLst>
          </p:cNvPr>
          <p:cNvSpPr>
            <a:spLocks noGrp="1"/>
          </p:cNvSpPr>
          <p:nvPr>
            <p:ph type="title"/>
          </p:nvPr>
        </p:nvSpPr>
        <p:spPr>
          <a:xfrm>
            <a:off x="1028700" y="685800"/>
            <a:ext cx="7200900" cy="648000"/>
          </a:xfrm>
        </p:spPr>
        <p:txBody>
          <a:bodyPr>
            <a:normAutofit/>
          </a:bodyPr>
          <a:lstStyle/>
          <a:p>
            <a:pPr algn="ctr"/>
            <a:r>
              <a:rPr lang="en-US" sz="3600" dirty="0"/>
              <a:t>Contract: Definition</a:t>
            </a:r>
            <a:endParaRPr lang="x-none" sz="3600" dirty="0"/>
          </a:p>
        </p:txBody>
      </p:sp>
      <p:sp>
        <p:nvSpPr>
          <p:cNvPr id="3" name="Content Placeholder 2">
            <a:extLst>
              <a:ext uri="{FF2B5EF4-FFF2-40B4-BE49-F238E27FC236}">
                <a16:creationId xmlns="" xmlns:a16="http://schemas.microsoft.com/office/drawing/2014/main" id="{57E140C8-C9F2-4B7F-82A0-E5F21C27FA72}"/>
              </a:ext>
            </a:extLst>
          </p:cNvPr>
          <p:cNvSpPr>
            <a:spLocks noGrp="1"/>
          </p:cNvSpPr>
          <p:nvPr>
            <p:ph idx="1"/>
          </p:nvPr>
        </p:nvSpPr>
        <p:spPr>
          <a:xfrm>
            <a:off x="1028700" y="1752600"/>
            <a:ext cx="7200900" cy="3581400"/>
          </a:xfrm>
        </p:spPr>
        <p:txBody>
          <a:bodyPr/>
          <a:lstStyle/>
          <a:p>
            <a:r>
              <a:rPr lang="en-US" dirty="0"/>
              <a:t>A </a:t>
            </a:r>
            <a:r>
              <a:rPr lang="en-US" b="1" dirty="0"/>
              <a:t>contract</a:t>
            </a:r>
            <a:r>
              <a:rPr lang="en-US" dirty="0"/>
              <a:t> is a mutually and legally binding agreement that obligates the seller to provide specified products or services, and obligates the buyer to pay for them. </a:t>
            </a:r>
            <a:endParaRPr lang="x-none" dirty="0"/>
          </a:p>
        </p:txBody>
      </p:sp>
    </p:spTree>
    <p:extLst>
      <p:ext uri="{BB962C8B-B14F-4D97-AF65-F5344CB8AC3E}">
        <p14:creationId xmlns:p14="http://schemas.microsoft.com/office/powerpoint/2010/main" xmlns="" val="3610025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EB1F60-EFB9-4F86-9772-D3DC34DAA620}"/>
              </a:ext>
            </a:extLst>
          </p:cNvPr>
          <p:cNvSpPr>
            <a:spLocks noGrp="1"/>
          </p:cNvSpPr>
          <p:nvPr>
            <p:ph type="title"/>
          </p:nvPr>
        </p:nvSpPr>
        <p:spPr>
          <a:xfrm>
            <a:off x="1028700" y="685800"/>
            <a:ext cx="7200900" cy="685800"/>
          </a:xfrm>
        </p:spPr>
        <p:txBody>
          <a:bodyPr>
            <a:normAutofit/>
          </a:bodyPr>
          <a:lstStyle/>
          <a:p>
            <a:pPr algn="ctr"/>
            <a:r>
              <a:rPr lang="en-US" sz="3600" dirty="0"/>
              <a:t>Procurement Contract Choices</a:t>
            </a:r>
            <a:endParaRPr lang="x-none" sz="3600" dirty="0"/>
          </a:p>
        </p:txBody>
      </p:sp>
      <p:pic>
        <p:nvPicPr>
          <p:cNvPr id="4" name="Picture 3">
            <a:extLst>
              <a:ext uri="{FF2B5EF4-FFF2-40B4-BE49-F238E27FC236}">
                <a16:creationId xmlns="" xmlns:a16="http://schemas.microsoft.com/office/drawing/2014/main" id="{935A0F9C-9CA2-49E5-90E8-14AF83C9164D}"/>
              </a:ext>
            </a:extLst>
          </p:cNvPr>
          <p:cNvPicPr>
            <a:picLocks noChangeAspect="1"/>
          </p:cNvPicPr>
          <p:nvPr/>
        </p:nvPicPr>
        <p:blipFill rotWithShape="1">
          <a:blip r:embed="rId2"/>
          <a:srcRect l="18333" t="18889" r="2917" b="7037"/>
          <a:stretch/>
        </p:blipFill>
        <p:spPr>
          <a:xfrm>
            <a:off x="1219200" y="1676400"/>
            <a:ext cx="7200900" cy="3810000"/>
          </a:xfrm>
          <a:prstGeom prst="rect">
            <a:avLst/>
          </a:prstGeom>
        </p:spPr>
      </p:pic>
    </p:spTree>
    <p:extLst>
      <p:ext uri="{BB962C8B-B14F-4D97-AF65-F5344CB8AC3E}">
        <p14:creationId xmlns:p14="http://schemas.microsoft.com/office/powerpoint/2010/main" xmlns="" val="32756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7CFF64-7E29-499E-B678-47324868F647}"/>
              </a:ext>
            </a:extLst>
          </p:cNvPr>
          <p:cNvSpPr>
            <a:spLocks noGrp="1"/>
          </p:cNvSpPr>
          <p:nvPr>
            <p:ph type="title"/>
          </p:nvPr>
        </p:nvSpPr>
        <p:spPr>
          <a:xfrm>
            <a:off x="1028700" y="685800"/>
            <a:ext cx="7200900" cy="648000"/>
          </a:xfrm>
        </p:spPr>
        <p:txBody>
          <a:bodyPr>
            <a:normAutofit/>
          </a:bodyPr>
          <a:lstStyle/>
          <a:p>
            <a:pPr algn="ctr"/>
            <a:r>
              <a:rPr lang="en-US" sz="3600" dirty="0"/>
              <a:t>Definitions</a:t>
            </a:r>
            <a:endParaRPr lang="x-none" sz="3600" dirty="0"/>
          </a:p>
        </p:txBody>
      </p:sp>
      <p:sp>
        <p:nvSpPr>
          <p:cNvPr id="3" name="Content Placeholder 2">
            <a:extLst>
              <a:ext uri="{FF2B5EF4-FFF2-40B4-BE49-F238E27FC236}">
                <a16:creationId xmlns="" xmlns:a16="http://schemas.microsoft.com/office/drawing/2014/main" id="{117B6B68-F3B3-493B-8F54-A54F7287F77A}"/>
              </a:ext>
            </a:extLst>
          </p:cNvPr>
          <p:cNvSpPr>
            <a:spLocks noGrp="1"/>
          </p:cNvSpPr>
          <p:nvPr>
            <p:ph idx="1"/>
          </p:nvPr>
        </p:nvSpPr>
        <p:spPr>
          <a:xfrm>
            <a:off x="1050471" y="1333800"/>
            <a:ext cx="7200900" cy="3085800"/>
          </a:xfrm>
        </p:spPr>
        <p:txBody>
          <a:bodyPr/>
          <a:lstStyle/>
          <a:p>
            <a:r>
              <a:rPr lang="en-US" dirty="0"/>
              <a:t>BOOT- Built, Own, Operate, Transfer</a:t>
            </a:r>
          </a:p>
          <a:p>
            <a:r>
              <a:rPr lang="en-US" dirty="0"/>
              <a:t>BOT- Built, Operate Transfer</a:t>
            </a:r>
          </a:p>
          <a:p>
            <a:r>
              <a:rPr lang="en-US" dirty="0"/>
              <a:t>BOO -  Built, Operate, Own</a:t>
            </a:r>
          </a:p>
          <a:p>
            <a:r>
              <a:rPr lang="en-US" dirty="0"/>
              <a:t>Design and Construct / Turn Key</a:t>
            </a:r>
          </a:p>
          <a:p>
            <a:r>
              <a:rPr lang="en-US" dirty="0"/>
              <a:t>Novation – Shifting of Contract </a:t>
            </a:r>
          </a:p>
          <a:p>
            <a:r>
              <a:rPr lang="en-US" dirty="0"/>
              <a:t>CM/PM – Construction Management/ Project Management</a:t>
            </a:r>
          </a:p>
          <a:p>
            <a:endParaRPr lang="en-US" dirty="0"/>
          </a:p>
          <a:p>
            <a:endParaRPr lang="en-US" dirty="0"/>
          </a:p>
          <a:p>
            <a:endParaRPr lang="en-US" dirty="0"/>
          </a:p>
          <a:p>
            <a:endParaRPr lang="x-none" dirty="0"/>
          </a:p>
        </p:txBody>
      </p:sp>
    </p:spTree>
    <p:extLst>
      <p:ext uri="{BB962C8B-B14F-4D97-AF65-F5344CB8AC3E}">
        <p14:creationId xmlns:p14="http://schemas.microsoft.com/office/powerpoint/2010/main" xmlns="" val="2239932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856396"/>
          </a:xfrm>
        </p:spPr>
        <p:txBody>
          <a:bodyPr/>
          <a:lstStyle/>
          <a:p>
            <a:r>
              <a:rPr lang="en-US" dirty="0"/>
              <a:t>Contract: Definition</a:t>
            </a:r>
          </a:p>
        </p:txBody>
      </p:sp>
      <p:sp>
        <p:nvSpPr>
          <p:cNvPr id="3" name="Content Placeholder 2"/>
          <p:cNvSpPr>
            <a:spLocks noGrp="1"/>
          </p:cNvSpPr>
          <p:nvPr>
            <p:ph idx="1"/>
          </p:nvPr>
        </p:nvSpPr>
        <p:spPr>
          <a:xfrm>
            <a:off x="846844" y="1371600"/>
            <a:ext cx="7200900" cy="3581400"/>
          </a:xfrm>
        </p:spPr>
        <p:txBody>
          <a:bodyPr>
            <a:normAutofit/>
          </a:bodyPr>
          <a:lstStyle/>
          <a:p>
            <a:pPr marL="0" indent="0" algn="just">
              <a:buNone/>
            </a:pPr>
            <a:r>
              <a:rPr lang="en-US" dirty="0"/>
              <a:t>Different types of contracts are suited to particular circumstances, there are three broad categories:</a:t>
            </a:r>
          </a:p>
          <a:p>
            <a:pPr marL="457200" indent="-457200" algn="just">
              <a:buFont typeface="+mj-lt"/>
              <a:buAutoNum type="arabicPeriod"/>
            </a:pPr>
            <a:r>
              <a:rPr lang="en-US" b="1" dirty="0"/>
              <a:t>Fixed price or lump sum</a:t>
            </a:r>
            <a:r>
              <a:rPr lang="en-US" dirty="0"/>
              <a:t>: involve a fixed total price for a well-defined product or service.</a:t>
            </a:r>
          </a:p>
          <a:p>
            <a:pPr marL="457200" indent="-457200" algn="just">
              <a:buFont typeface="+mj-lt"/>
              <a:buAutoNum type="arabicPeriod"/>
            </a:pPr>
            <a:r>
              <a:rPr lang="en-US" b="1" dirty="0"/>
              <a:t>Cost reimbursable</a:t>
            </a:r>
            <a:r>
              <a:rPr lang="en-US" dirty="0"/>
              <a:t>: involve payment to the seller for direct and indirect costs.</a:t>
            </a:r>
          </a:p>
          <a:p>
            <a:pPr marL="457200" indent="-457200" algn="just">
              <a:buFont typeface="+mj-lt"/>
              <a:buAutoNum type="arabicPeriod"/>
            </a:pPr>
            <a:r>
              <a:rPr lang="en-US" b="1" dirty="0"/>
              <a:t>Time and Materials Contract: </a:t>
            </a:r>
            <a:r>
              <a:rPr lang="en-US" dirty="0"/>
              <a:t>This is a hybrid contract of Fixed-Price and Cost Reimbursable contracts. Here, the risk is distributed to both parties.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rotWithShape="1">
          <a:blip r:embed="rId2"/>
          <a:srcRect l="4302" t="1639" r="2118" b="3278"/>
          <a:stretch/>
        </p:blipFill>
        <p:spPr>
          <a:xfrm>
            <a:off x="1524000" y="1143000"/>
            <a:ext cx="6629400" cy="4419600"/>
          </a:xfrm>
          <a:prstGeom prst="rect">
            <a:avLst/>
          </a:prstGeom>
        </p:spPr>
      </p:pic>
      <p:sp>
        <p:nvSpPr>
          <p:cNvPr id="5" name="TextBox 4"/>
          <p:cNvSpPr txBox="1"/>
          <p:nvPr/>
        </p:nvSpPr>
        <p:spPr>
          <a:xfrm>
            <a:off x="1752600" y="457200"/>
            <a:ext cx="5867400" cy="400110"/>
          </a:xfrm>
          <a:prstGeom prst="rect">
            <a:avLst/>
          </a:prstGeom>
          <a:noFill/>
        </p:spPr>
        <p:txBody>
          <a:bodyPr wrap="square" rtlCol="0">
            <a:spAutoFit/>
          </a:bodyPr>
          <a:lstStyle/>
          <a:p>
            <a:pPr algn="ctr"/>
            <a:r>
              <a:rPr lang="en-US" sz="2000" b="1" dirty="0"/>
              <a:t>Scope and Risk: Fixed-Price Contracts</a:t>
            </a:r>
          </a:p>
        </p:txBody>
      </p:sp>
    </p:spTree>
    <p:extLst>
      <p:ext uri="{BB962C8B-B14F-4D97-AF65-F5344CB8AC3E}">
        <p14:creationId xmlns:p14="http://schemas.microsoft.com/office/powerpoint/2010/main" xmlns="" val="3951406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1008795"/>
          </a:xfrm>
        </p:spPr>
        <p:txBody>
          <a:bodyPr>
            <a:normAutofit fontScale="90000"/>
          </a:bodyPr>
          <a:lstStyle/>
          <a:p>
            <a:r>
              <a:rPr lang="en-US" sz="4000" dirty="0"/>
              <a:t>Comparison Between Fixed-Price and  Cost Type Contracts</a:t>
            </a:r>
          </a:p>
        </p:txBody>
      </p:sp>
      <p:pic>
        <p:nvPicPr>
          <p:cNvPr id="4" name="Content Placeholder 3"/>
          <p:cNvPicPr>
            <a:picLocks noGrp="1" noChangeAspect="1"/>
          </p:cNvPicPr>
          <p:nvPr>
            <p:ph idx="1"/>
          </p:nvPr>
        </p:nvPicPr>
        <p:blipFill rotWithShape="1">
          <a:blip r:embed="rId2"/>
          <a:srcRect l="3997" t="5249" r="3469" b="9511"/>
          <a:stretch/>
        </p:blipFill>
        <p:spPr>
          <a:xfrm>
            <a:off x="1442719" y="1828800"/>
            <a:ext cx="6304281" cy="3886200"/>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xmlns="" val="1518062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1008796"/>
          </a:xfrm>
        </p:spPr>
        <p:txBody>
          <a:bodyPr>
            <a:normAutofit/>
          </a:bodyPr>
          <a:lstStyle/>
          <a:p>
            <a:r>
              <a:rPr lang="en-US" sz="4400" dirty="0"/>
              <a:t>Basic Types of Contracts</a:t>
            </a:r>
          </a:p>
        </p:txBody>
      </p:sp>
      <p:sp>
        <p:nvSpPr>
          <p:cNvPr id="3" name="Content Placeholder 2"/>
          <p:cNvSpPr>
            <a:spLocks noGrp="1"/>
          </p:cNvSpPr>
          <p:nvPr>
            <p:ph idx="1"/>
          </p:nvPr>
        </p:nvSpPr>
        <p:spPr/>
        <p:txBody>
          <a:bodyPr/>
          <a:lstStyle/>
          <a:p>
            <a:pPr marL="457200" indent="-457200">
              <a:buFont typeface="+mj-lt"/>
              <a:buAutoNum type="arabicPeriod"/>
            </a:pPr>
            <a:r>
              <a:rPr lang="en-US" dirty="0"/>
              <a:t>Firm Fixed Price Contract</a:t>
            </a:r>
          </a:p>
          <a:p>
            <a:pPr marL="457200" indent="-457200">
              <a:buFont typeface="+mj-lt"/>
              <a:buAutoNum type="arabicPeriod"/>
            </a:pPr>
            <a:r>
              <a:rPr lang="en-US" dirty="0"/>
              <a:t>Cost Reimbursement Contract</a:t>
            </a:r>
          </a:p>
          <a:p>
            <a:pPr marL="457200" indent="-457200">
              <a:buFont typeface="+mj-lt"/>
              <a:buAutoNum type="arabicPeriod"/>
            </a:pPr>
            <a:r>
              <a:rPr lang="en-US" dirty="0"/>
              <a:t>Time and Material Contract</a:t>
            </a:r>
          </a:p>
          <a:p>
            <a:endParaRPr lang="en-US" dirty="0"/>
          </a:p>
          <a:p>
            <a:endParaRPr lang="en-US" dirty="0"/>
          </a:p>
        </p:txBody>
      </p:sp>
    </p:spTree>
    <p:extLst>
      <p:ext uri="{BB962C8B-B14F-4D97-AF65-F5344CB8AC3E}">
        <p14:creationId xmlns:p14="http://schemas.microsoft.com/office/powerpoint/2010/main" xmlns="" val="3850981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703995"/>
          </a:xfrm>
        </p:spPr>
        <p:txBody>
          <a:bodyPr>
            <a:normAutofit/>
          </a:bodyPr>
          <a:lstStyle/>
          <a:p>
            <a:pPr algn="ctr"/>
            <a:r>
              <a:rPr lang="en-US" sz="3600" b="1" dirty="0"/>
              <a:t>Fixed Price Contracts</a:t>
            </a:r>
          </a:p>
        </p:txBody>
      </p:sp>
      <p:sp>
        <p:nvSpPr>
          <p:cNvPr id="3" name="Content Placeholder 2"/>
          <p:cNvSpPr>
            <a:spLocks noGrp="1"/>
          </p:cNvSpPr>
          <p:nvPr>
            <p:ph idx="1"/>
          </p:nvPr>
        </p:nvSpPr>
        <p:spPr>
          <a:xfrm>
            <a:off x="994410" y="1143000"/>
            <a:ext cx="7200900" cy="4800600"/>
          </a:xfrm>
        </p:spPr>
        <p:txBody>
          <a:bodyPr>
            <a:noAutofit/>
          </a:bodyPr>
          <a:lstStyle/>
          <a:p>
            <a:pPr algn="just"/>
            <a:r>
              <a:rPr lang="en-US" b="1" dirty="0"/>
              <a:t>Fixed price</a:t>
            </a:r>
            <a:r>
              <a:rPr lang="en-US" dirty="0"/>
              <a:t> or </a:t>
            </a:r>
            <a:r>
              <a:rPr lang="en-US" b="1" dirty="0"/>
              <a:t>lump sum contracts</a:t>
            </a:r>
            <a:r>
              <a:rPr lang="en-US" dirty="0"/>
              <a:t> involve a fixed total price for a well-defined product or service. These contracts are particularly suited where </a:t>
            </a:r>
            <a:r>
              <a:rPr lang="en-US" b="1" dirty="0"/>
              <a:t>supplies or services can be clearly specified </a:t>
            </a:r>
            <a:r>
              <a:rPr lang="en-US" dirty="0"/>
              <a:t>before tenders are invited. The </a:t>
            </a:r>
            <a:r>
              <a:rPr lang="en-US" b="1" dirty="0"/>
              <a:t>buyer incurs little risk </a:t>
            </a:r>
            <a:r>
              <a:rPr lang="en-US" dirty="0"/>
              <a:t>in this situation.</a:t>
            </a:r>
          </a:p>
          <a:p>
            <a:pPr algn="just"/>
            <a:r>
              <a:rPr lang="en-US" dirty="0"/>
              <a:t>It is the safest contract form to use if, and this is a big if: </a:t>
            </a:r>
          </a:p>
          <a:p>
            <a:pPr marL="873252" lvl="1" indent="-342900" algn="just">
              <a:buFont typeface="+mj-lt"/>
              <a:buAutoNum type="arabicPeriod"/>
            </a:pPr>
            <a:r>
              <a:rPr lang="en-US" sz="1800" dirty="0"/>
              <a:t>The project's buyer must know exactly what it wants to procure </a:t>
            </a:r>
          </a:p>
          <a:p>
            <a:pPr marL="873252" lvl="1" indent="-342900" algn="just">
              <a:buFont typeface="+mj-lt"/>
              <a:buAutoNum type="arabicPeriod"/>
            </a:pPr>
            <a:r>
              <a:rPr lang="en-US" sz="1800" dirty="0"/>
              <a:t>The buyer must be able to specify the desired article in very precise terms, so as to agree on a price between the buyer and seller </a:t>
            </a:r>
          </a:p>
          <a:p>
            <a:pPr marL="873252" lvl="1" indent="-342900" algn="just">
              <a:buFont typeface="+mj-lt"/>
              <a:buAutoNum type="arabicPeriod"/>
            </a:pPr>
            <a:r>
              <a:rPr lang="en-US" sz="1800" dirty="0"/>
              <a:t>The buyer must have reasonable confidence (probable assurances) that the item being procured will not subsequently change in specifications, or performance requirements, or terms, so as to require a redirection to the supplier.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780196"/>
          </a:xfrm>
        </p:spPr>
        <p:txBody>
          <a:bodyPr>
            <a:normAutofit/>
          </a:bodyPr>
          <a:lstStyle/>
          <a:p>
            <a:pPr algn="ctr"/>
            <a:r>
              <a:rPr lang="en-US" sz="3600" dirty="0"/>
              <a:t>Fixed Price Contract</a:t>
            </a:r>
          </a:p>
        </p:txBody>
      </p:sp>
      <p:sp>
        <p:nvSpPr>
          <p:cNvPr id="3" name="Content Placeholder 2"/>
          <p:cNvSpPr>
            <a:spLocks noGrp="1"/>
          </p:cNvSpPr>
          <p:nvPr>
            <p:ph idx="1"/>
          </p:nvPr>
        </p:nvSpPr>
        <p:spPr>
          <a:xfrm>
            <a:off x="994410" y="1066801"/>
            <a:ext cx="7200900" cy="5029200"/>
          </a:xfrm>
        </p:spPr>
        <p:txBody>
          <a:bodyPr>
            <a:normAutofit/>
          </a:bodyPr>
          <a:lstStyle/>
          <a:p>
            <a:pPr algn="just"/>
            <a:r>
              <a:rPr lang="en-US" b="1" dirty="0"/>
              <a:t>ADVANTAGE:</a:t>
            </a:r>
            <a:r>
              <a:rPr lang="en-US" dirty="0"/>
              <a:t> </a:t>
            </a:r>
          </a:p>
          <a:p>
            <a:pPr lvl="1" algn="just"/>
            <a:r>
              <a:rPr lang="en-US" dirty="0"/>
              <a:t>All that is required for payment is delivery of the stated item(s) for which the contract was issued. </a:t>
            </a:r>
          </a:p>
          <a:p>
            <a:pPr lvl="1" algn="just"/>
            <a:r>
              <a:rPr lang="en-US" dirty="0"/>
              <a:t>The main advantage of a Fixed-Price contract is that both parties know the scope of the work, and the total cost of the task before the work is started</a:t>
            </a:r>
          </a:p>
          <a:p>
            <a:pPr algn="just"/>
            <a:r>
              <a:rPr lang="en-US" b="1" dirty="0"/>
              <a:t>DISADVANTAGE:</a:t>
            </a:r>
            <a:r>
              <a:rPr lang="en-US" dirty="0"/>
              <a:t> </a:t>
            </a:r>
          </a:p>
          <a:p>
            <a:pPr lvl="1" algn="just"/>
            <a:r>
              <a:rPr lang="en-US" dirty="0"/>
              <a:t>Fixed price contract is most advantageous to the government and at the same time, inherently carries the maximum amount of risk to the contractor. </a:t>
            </a:r>
          </a:p>
          <a:p>
            <a:pPr lvl="1" algn="just"/>
            <a:r>
              <a:rPr lang="en-US" dirty="0"/>
              <a:t>This is because under the fixed price model, the government contracts with the institution for a given set of deliverables at a set price. Therefore, if expenditures exceed the fixed price contract amount, the Institution must bear the cost overruns.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776B6C4-147F-475D-B44E-093D9B9C1CDF}"/>
              </a:ext>
            </a:extLst>
          </p:cNvPr>
          <p:cNvSpPr>
            <a:spLocks noGrp="1"/>
          </p:cNvSpPr>
          <p:nvPr>
            <p:ph idx="1"/>
          </p:nvPr>
        </p:nvSpPr>
        <p:spPr>
          <a:xfrm>
            <a:off x="971550" y="1447800"/>
            <a:ext cx="7200900" cy="4876800"/>
          </a:xfrm>
        </p:spPr>
        <p:txBody>
          <a:bodyPr>
            <a:normAutofit/>
          </a:bodyPr>
          <a:lstStyle/>
          <a:p>
            <a:pPr marL="0" indent="0" algn="just">
              <a:buNone/>
            </a:pPr>
            <a:r>
              <a:rPr lang="en-US" b="1" dirty="0"/>
              <a:t>DISADVANTAGE:</a:t>
            </a:r>
            <a:r>
              <a:rPr lang="en-US" dirty="0"/>
              <a:t> </a:t>
            </a:r>
          </a:p>
          <a:p>
            <a:pPr algn="just"/>
            <a:r>
              <a:rPr lang="en-US" dirty="0"/>
              <a:t>In practice the work is never completed without any changes in scope or “extra” work</a:t>
            </a:r>
          </a:p>
          <a:p>
            <a:pPr algn="just"/>
            <a:r>
              <a:rPr lang="en-US" dirty="0"/>
              <a:t>The claim for “Extras or Variations” include</a:t>
            </a:r>
          </a:p>
          <a:p>
            <a:pPr lvl="1" algn="just"/>
            <a:r>
              <a:rPr lang="en-US" dirty="0"/>
              <a:t>Cost of design changes</a:t>
            </a:r>
          </a:p>
          <a:p>
            <a:pPr lvl="1" algn="just"/>
            <a:r>
              <a:rPr lang="en-US" dirty="0"/>
              <a:t>Charges based on errors and omissions in the contract documents used for tendering</a:t>
            </a:r>
          </a:p>
          <a:p>
            <a:pPr lvl="1" algn="just"/>
            <a:r>
              <a:rPr lang="en-US" dirty="0"/>
              <a:t>Cost from delays in claims </a:t>
            </a:r>
          </a:p>
          <a:p>
            <a:pPr algn="just"/>
            <a:r>
              <a:rPr lang="en-US" dirty="0"/>
              <a:t>Often the LUMP-SUM contract end up providing opportunities for profit making to contractors.</a:t>
            </a:r>
          </a:p>
          <a:p>
            <a:pPr algn="just"/>
            <a:r>
              <a:rPr lang="en-US" dirty="0"/>
              <a:t>It is also criticized for inviting confrontations approach to conflicts arising out of contract variations.</a:t>
            </a:r>
          </a:p>
          <a:p>
            <a:pPr algn="just"/>
            <a:endParaRPr lang="x-none" dirty="0"/>
          </a:p>
        </p:txBody>
      </p:sp>
      <p:sp>
        <p:nvSpPr>
          <p:cNvPr id="4" name="Title 1">
            <a:extLst>
              <a:ext uri="{FF2B5EF4-FFF2-40B4-BE49-F238E27FC236}">
                <a16:creationId xmlns="" xmlns:a16="http://schemas.microsoft.com/office/drawing/2014/main" id="{22D8F5E9-910B-44EF-A314-54D142E6645F}"/>
              </a:ext>
            </a:extLst>
          </p:cNvPr>
          <p:cNvSpPr>
            <a:spLocks noGrp="1"/>
          </p:cNvSpPr>
          <p:nvPr>
            <p:ph type="title"/>
          </p:nvPr>
        </p:nvSpPr>
        <p:spPr>
          <a:xfrm>
            <a:off x="822960" y="286605"/>
            <a:ext cx="7543800" cy="780196"/>
          </a:xfrm>
        </p:spPr>
        <p:txBody>
          <a:bodyPr>
            <a:normAutofit/>
          </a:bodyPr>
          <a:lstStyle/>
          <a:p>
            <a:pPr algn="ctr"/>
            <a:r>
              <a:rPr lang="en-US" sz="3600" dirty="0"/>
              <a:t>Fixed Price Contract</a:t>
            </a:r>
          </a:p>
        </p:txBody>
      </p:sp>
    </p:spTree>
    <p:extLst>
      <p:ext uri="{BB962C8B-B14F-4D97-AF65-F5344CB8AC3E}">
        <p14:creationId xmlns:p14="http://schemas.microsoft.com/office/powerpoint/2010/main" xmlns="" val="1746877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780195"/>
          </a:xfrm>
        </p:spPr>
        <p:txBody>
          <a:bodyPr>
            <a:normAutofit/>
          </a:bodyPr>
          <a:lstStyle/>
          <a:p>
            <a:pPr algn="ctr"/>
            <a:r>
              <a:rPr lang="en-US" sz="3600" b="1" dirty="0"/>
              <a:t>Cost Reimbursement Contracts</a:t>
            </a:r>
          </a:p>
        </p:txBody>
      </p:sp>
      <p:sp>
        <p:nvSpPr>
          <p:cNvPr id="3" name="Content Placeholder 2"/>
          <p:cNvSpPr>
            <a:spLocks noGrp="1"/>
          </p:cNvSpPr>
          <p:nvPr>
            <p:ph idx="1"/>
          </p:nvPr>
        </p:nvSpPr>
        <p:spPr>
          <a:xfrm>
            <a:off x="994410" y="1295400"/>
            <a:ext cx="7200900" cy="4952999"/>
          </a:xfrm>
        </p:spPr>
        <p:txBody>
          <a:bodyPr>
            <a:noAutofit/>
          </a:bodyPr>
          <a:lstStyle/>
          <a:p>
            <a:pPr algn="just"/>
            <a:r>
              <a:rPr lang="en-US" i="1" dirty="0">
                <a:latin typeface="+mj-lt"/>
              </a:rPr>
              <a:t>Cost-reimbursement types of contracts provide for payment of allowable incurred costs, to the extent prescribed in the contract.</a:t>
            </a:r>
            <a:endParaRPr lang="en-US" i="1" dirty="0">
              <a:solidFill>
                <a:srgbClr val="FF0000"/>
              </a:solidFill>
              <a:latin typeface="+mj-lt"/>
            </a:endParaRPr>
          </a:p>
          <a:p>
            <a:pPr algn="just"/>
            <a:r>
              <a:rPr lang="en-US" i="1" dirty="0">
                <a:latin typeface="+mj-lt"/>
              </a:rPr>
              <a:t>Under the cost reimbursable type contract the sellers obligation is merely to provide a "best efforts" commitment to complete all of the work as stipulated in the contract.</a:t>
            </a:r>
          </a:p>
          <a:p>
            <a:pPr algn="just"/>
            <a:r>
              <a:rPr lang="en-US" i="1" dirty="0">
                <a:solidFill>
                  <a:schemeClr val="tx1"/>
                </a:solidFill>
                <a:latin typeface="+mj-lt"/>
              </a:rPr>
              <a:t>It is the safest contract form to use if, and this is a big if, the project's buyer is sure that the scope of the procurements can not be locked at any cost.</a:t>
            </a:r>
          </a:p>
          <a:p>
            <a:pPr algn="just"/>
            <a:r>
              <a:rPr lang="en-US" i="1" dirty="0">
                <a:latin typeface="+mj-lt"/>
              </a:rPr>
              <a:t>Sellers are normally obligated to notify the buyer in advance if they anticipate exceeding the authorized funding levels.</a:t>
            </a:r>
            <a:endParaRPr lang="en-US" i="1" dirty="0">
              <a:solidFill>
                <a:srgbClr val="FF0000"/>
              </a:solidFill>
              <a:latin typeface="+mj-lt"/>
            </a:endParaRPr>
          </a:p>
        </p:txBody>
      </p:sp>
    </p:spTree>
    <p:extLst>
      <p:ext uri="{BB962C8B-B14F-4D97-AF65-F5344CB8AC3E}">
        <p14:creationId xmlns:p14="http://schemas.microsoft.com/office/powerpoint/2010/main" xmlns="" val="325761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457200"/>
            <a:ext cx="7200900" cy="1485900"/>
          </a:xfrm>
        </p:spPr>
        <p:txBody>
          <a:bodyPr>
            <a:normAutofit/>
          </a:bodyPr>
          <a:lstStyle/>
          <a:p>
            <a:pPr algn="ctr"/>
            <a:r>
              <a:rPr lang="en-US" sz="3600" b="1" dirty="0"/>
              <a:t>Time And Materials Contract</a:t>
            </a:r>
            <a:endParaRPr lang="en-US" sz="3600" dirty="0"/>
          </a:p>
        </p:txBody>
      </p:sp>
      <p:sp>
        <p:nvSpPr>
          <p:cNvPr id="3" name="Content Placeholder 2"/>
          <p:cNvSpPr>
            <a:spLocks noGrp="1"/>
          </p:cNvSpPr>
          <p:nvPr>
            <p:ph idx="1"/>
          </p:nvPr>
        </p:nvSpPr>
        <p:spPr>
          <a:xfrm>
            <a:off x="1018464" y="1234269"/>
            <a:ext cx="7200900" cy="3581400"/>
          </a:xfrm>
        </p:spPr>
        <p:txBody>
          <a:bodyPr>
            <a:normAutofit/>
          </a:bodyPr>
          <a:lstStyle/>
          <a:p>
            <a:pPr algn="just"/>
            <a:r>
              <a:rPr lang="en-US" b="1" dirty="0"/>
              <a:t>Unit price contracts</a:t>
            </a:r>
            <a:r>
              <a:rPr lang="en-US" dirty="0"/>
              <a:t> require the buyer to pay the seller a predetermined amount per unit of service, and the total value of the contract is a function of the quantities needed to complete the work.</a:t>
            </a:r>
          </a:p>
          <a:p>
            <a:pPr algn="just"/>
            <a:r>
              <a:rPr lang="en-US" dirty="0"/>
              <a:t>Unit price contracts are also called a </a:t>
            </a:r>
            <a:r>
              <a:rPr lang="en-US" b="1" dirty="0"/>
              <a:t>time and materials contract</a:t>
            </a:r>
            <a:r>
              <a:rPr lang="en-US" dirty="0"/>
              <a:t>, and may incorporate volume discounts.</a:t>
            </a:r>
          </a:p>
          <a:p>
            <a:pPr algn="just"/>
            <a:r>
              <a:rPr lang="en-US" dirty="0"/>
              <a:t>This type of contract is often used for services that are needed when the work cannot be clearly specified and total costs cannot be estimated in a contract. Many contract programmers and consultants prefer to use unit price contracts</a:t>
            </a:r>
          </a:p>
          <a:p>
            <a:pPr algn="just"/>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28600"/>
            <a:ext cx="8016240" cy="1066799"/>
          </a:xfrm>
        </p:spPr>
        <p:txBody>
          <a:bodyPr>
            <a:noAutofit/>
          </a:bodyPr>
          <a:lstStyle/>
          <a:p>
            <a:pPr algn="ctr"/>
            <a:r>
              <a:rPr lang="en-US" sz="3600" b="1" dirty="0"/>
              <a:t>Available Variables in the Contract Types</a:t>
            </a:r>
          </a:p>
        </p:txBody>
      </p:sp>
      <p:sp>
        <p:nvSpPr>
          <p:cNvPr id="3" name="Content Placeholder 2"/>
          <p:cNvSpPr>
            <a:spLocks noGrp="1"/>
          </p:cNvSpPr>
          <p:nvPr>
            <p:ph idx="1"/>
          </p:nvPr>
        </p:nvSpPr>
        <p:spPr>
          <a:xfrm>
            <a:off x="984345" y="1295399"/>
            <a:ext cx="2705100" cy="3124200"/>
          </a:xfrm>
        </p:spPr>
        <p:txBody>
          <a:bodyPr/>
          <a:lstStyle/>
          <a:p>
            <a:pPr marL="457200" indent="-457200">
              <a:buFont typeface="+mj-lt"/>
              <a:buAutoNum type="arabicPeriod"/>
            </a:pPr>
            <a:r>
              <a:rPr lang="en-US" dirty="0"/>
              <a:t>Incentive Fee Contracts</a:t>
            </a:r>
          </a:p>
          <a:p>
            <a:pPr marL="457200" indent="-457200">
              <a:buFont typeface="+mj-lt"/>
              <a:buAutoNum type="arabicPeriod"/>
            </a:pPr>
            <a:r>
              <a:rPr lang="en-US" dirty="0"/>
              <a:t>Award Fee Contracts</a:t>
            </a:r>
          </a:p>
        </p:txBody>
      </p:sp>
      <p:pic>
        <p:nvPicPr>
          <p:cNvPr id="5" name="Picture 4"/>
          <p:cNvPicPr>
            <a:picLocks noChangeAspect="1"/>
          </p:cNvPicPr>
          <p:nvPr/>
        </p:nvPicPr>
        <p:blipFill rotWithShape="1">
          <a:blip r:embed="rId2"/>
          <a:srcRect l="24912" t="32030" r="35041" b="19786"/>
          <a:stretch/>
        </p:blipFill>
        <p:spPr>
          <a:xfrm>
            <a:off x="3657600" y="1295399"/>
            <a:ext cx="4393097" cy="2971800"/>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xmlns="" val="254086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295400" y="2438400"/>
            <a:ext cx="7200900" cy="1485900"/>
          </a:xfrm>
        </p:spPr>
        <p:txBody>
          <a:bodyPr>
            <a:normAutofit/>
          </a:bodyPr>
          <a:lstStyle/>
          <a:p>
            <a:pPr algn="ctr"/>
            <a:r>
              <a:rPr lang="en-US" dirty="0"/>
              <a:t>Fixed Price Contracts</a:t>
            </a:r>
          </a:p>
        </p:txBody>
      </p:sp>
    </p:spTree>
    <p:extLst>
      <p:ext uri="{BB962C8B-B14F-4D97-AF65-F5344CB8AC3E}">
        <p14:creationId xmlns:p14="http://schemas.microsoft.com/office/powerpoint/2010/main" xmlns="" val="1204003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685800"/>
          </a:xfrm>
        </p:spPr>
        <p:txBody>
          <a:bodyPr>
            <a:normAutofit fontScale="90000"/>
          </a:bodyPr>
          <a:lstStyle/>
          <a:p>
            <a:r>
              <a:rPr lang="en-US" dirty="0"/>
              <a:t>Fixed Price Contracts</a:t>
            </a:r>
          </a:p>
        </p:txBody>
      </p:sp>
      <p:sp>
        <p:nvSpPr>
          <p:cNvPr id="3" name="Content Placeholder 2"/>
          <p:cNvSpPr>
            <a:spLocks noGrp="1"/>
          </p:cNvSpPr>
          <p:nvPr>
            <p:ph idx="1"/>
          </p:nvPr>
        </p:nvSpPr>
        <p:spPr>
          <a:xfrm>
            <a:off x="1028700" y="1371600"/>
            <a:ext cx="7200900" cy="3581400"/>
          </a:xfrm>
        </p:spPr>
        <p:txBody>
          <a:bodyPr>
            <a:normAutofit fontScale="92500" lnSpcReduction="10000"/>
          </a:bodyPr>
          <a:lstStyle/>
          <a:p>
            <a:pPr algn="just"/>
            <a:r>
              <a:rPr lang="en-US" dirty="0"/>
              <a:t>Firm fixed-price contracts are used when it is determined that the price quoted by the contractor is reasonable to the client and when the client wants to procure the goods or services at that price without any opportunity for the contractor to obtain any adjustments in price based on actual expenditures incurred during the project.</a:t>
            </a:r>
          </a:p>
          <a:p>
            <a:pPr algn="just"/>
            <a:r>
              <a:rPr lang="en-US" dirty="0"/>
              <a:t>Following are categories of Fixed price contracts:</a:t>
            </a:r>
          </a:p>
          <a:p>
            <a:pPr marL="971550" lvl="1" indent="-514350">
              <a:buFont typeface="+mj-lt"/>
              <a:buAutoNum type="arabicParenR"/>
            </a:pPr>
            <a:r>
              <a:rPr lang="en-US" dirty="0"/>
              <a:t>Firm Fixed-Price contract (FFP)</a:t>
            </a:r>
          </a:p>
          <a:p>
            <a:pPr marL="971550" lvl="1" indent="-514350">
              <a:buFont typeface="+mj-lt"/>
              <a:buAutoNum type="arabicParenR"/>
            </a:pPr>
            <a:r>
              <a:rPr lang="en-US" dirty="0"/>
              <a:t>Fixed Price Incentive Fee contract (FPIF)</a:t>
            </a:r>
          </a:p>
          <a:p>
            <a:pPr marL="971550" lvl="1" indent="-514350">
              <a:buFont typeface="+mj-lt"/>
              <a:buAutoNum type="arabicParenR"/>
            </a:pPr>
            <a:r>
              <a:rPr lang="en-US" dirty="0"/>
              <a:t>Fixed Price Award Fee (FPAF)</a:t>
            </a:r>
          </a:p>
          <a:p>
            <a:pPr marL="971550" lvl="1" indent="-514350">
              <a:buFont typeface="+mj-lt"/>
              <a:buAutoNum type="arabicParenR"/>
            </a:pPr>
            <a:r>
              <a:rPr lang="en-US" dirty="0"/>
              <a:t>Fixed Price with Economic Price Adjustment contracts (FP-EPA)</a:t>
            </a:r>
          </a:p>
          <a:p>
            <a:pPr marL="971550" lvl="1" indent="-514350">
              <a:buFont typeface="+mj-lt"/>
              <a:buAutoNum type="arabicParenR"/>
            </a:pPr>
            <a:endParaRPr lang="en-US" dirty="0"/>
          </a:p>
          <a:p>
            <a:pPr lvl="1" algn="just"/>
            <a:endParaRPr lang="en-US" dirty="0"/>
          </a:p>
          <a:p>
            <a:pPr algn="just"/>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627795"/>
          </a:xfrm>
        </p:spPr>
        <p:txBody>
          <a:bodyPr>
            <a:normAutofit/>
          </a:bodyPr>
          <a:lstStyle/>
          <a:p>
            <a:r>
              <a:rPr lang="en-US" sz="3200" b="1" dirty="0"/>
              <a:t>1.	Firm Fixed-Price Contract (FFP)</a:t>
            </a:r>
            <a:endParaRPr lang="en-US" sz="3200" dirty="0"/>
          </a:p>
        </p:txBody>
      </p:sp>
      <p:sp>
        <p:nvSpPr>
          <p:cNvPr id="3" name="Content Placeholder 2"/>
          <p:cNvSpPr>
            <a:spLocks noGrp="1"/>
          </p:cNvSpPr>
          <p:nvPr>
            <p:ph idx="1"/>
          </p:nvPr>
        </p:nvSpPr>
        <p:spPr>
          <a:xfrm>
            <a:off x="860491" y="914400"/>
            <a:ext cx="7200900" cy="4572000"/>
          </a:xfrm>
        </p:spPr>
        <p:txBody>
          <a:bodyPr>
            <a:noAutofit/>
          </a:bodyPr>
          <a:lstStyle/>
          <a:p>
            <a:pPr marL="457200" indent="-457200" algn="just">
              <a:buFont typeface="+mj-lt"/>
              <a:buAutoNum type="arabicPeriod"/>
            </a:pPr>
            <a:r>
              <a:rPr lang="en-US" sz="1800" i="1" dirty="0"/>
              <a:t>In this type of contract, the fee is fixed. </a:t>
            </a:r>
          </a:p>
          <a:p>
            <a:pPr marL="457200" indent="-457200" algn="just">
              <a:buFont typeface="+mj-lt"/>
              <a:buAutoNum type="arabicPeriod"/>
            </a:pPr>
            <a:r>
              <a:rPr lang="en-US" sz="1800" i="1" dirty="0"/>
              <a:t>The seller has to complete the job within an agreed amount of money and time. </a:t>
            </a:r>
          </a:p>
          <a:p>
            <a:pPr marL="457200" indent="-457200" algn="just">
              <a:buFont typeface="+mj-lt"/>
              <a:buAutoNum type="arabicPeriod"/>
            </a:pPr>
            <a:r>
              <a:rPr lang="en-US" sz="1800" i="1" dirty="0"/>
              <a:t>Any cost increase due to bad performance of the seller will be the responsibility of the seller, who is contractually bound to complete the job within the agreed amount.</a:t>
            </a:r>
          </a:p>
          <a:p>
            <a:pPr marL="457200" indent="-457200" algn="just">
              <a:buFont typeface="+mj-lt"/>
              <a:buAutoNum type="arabicPeriod"/>
            </a:pPr>
            <a:r>
              <a:rPr lang="en-US" sz="1800" i="1" dirty="0"/>
              <a:t>A Firm Fixed-Price contract is mostly used in government or semi-government contracts where the scope of work is specified with every possible detail outlined.</a:t>
            </a:r>
          </a:p>
          <a:p>
            <a:pPr marL="457200" indent="-457200" algn="just">
              <a:buFont typeface="+mj-lt"/>
              <a:buAutoNum type="arabicPeriod"/>
            </a:pPr>
            <a:r>
              <a:rPr lang="en-US" sz="1800" i="1" dirty="0"/>
              <a:t>This type of contract is easy to float on the market, receive bids, and evaluate the bids primarily on a cost basis.</a:t>
            </a:r>
          </a:p>
          <a:p>
            <a:pPr marL="457200" indent="-457200" algn="just">
              <a:buFont typeface="+mj-lt"/>
              <a:buAutoNum type="arabicPeriod"/>
            </a:pPr>
            <a:r>
              <a:rPr lang="en-US" sz="1800" i="1" dirty="0"/>
              <a:t>Since the risk is borne by the seller, the cost tends to be higher. Another drawback of a Firm Fixed-Price contract is possible disputes between the buyer and the seller if the scope is not clear. Moreover, any deviation from the original scope can cost you a lot.</a:t>
            </a:r>
          </a:p>
          <a:p>
            <a:pPr algn="just"/>
            <a:r>
              <a:rPr lang="en-US" sz="1800" b="1" i="1" dirty="0"/>
              <a:t>Example:</a:t>
            </a:r>
            <a:r>
              <a:rPr lang="en-US" sz="1800" i="1" dirty="0"/>
              <a:t> The seller has to complete the job for 100,000 USD within 18 months.</a:t>
            </a:r>
          </a:p>
          <a:p>
            <a:endParaRPr lang="en-US" sz="1600" i="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703996"/>
          </a:xfrm>
        </p:spPr>
        <p:txBody>
          <a:bodyPr>
            <a:normAutofit fontScale="90000"/>
          </a:bodyPr>
          <a:lstStyle/>
          <a:p>
            <a:pPr algn="just"/>
            <a:r>
              <a:rPr lang="en-US" sz="3600" b="1" dirty="0"/>
              <a:t>2</a:t>
            </a:r>
            <a:r>
              <a:rPr lang="en-US" sz="3200" b="1" dirty="0"/>
              <a:t>.	</a:t>
            </a:r>
            <a:r>
              <a:rPr lang="en-US" sz="3600" b="1" dirty="0"/>
              <a:t>Fixed-Price Incentive Fee Contract (FPIF)</a:t>
            </a:r>
            <a:endParaRPr lang="en-US" sz="3600" dirty="0"/>
          </a:p>
        </p:txBody>
      </p:sp>
      <p:sp>
        <p:nvSpPr>
          <p:cNvPr id="3" name="Content Placeholder 2"/>
          <p:cNvSpPr>
            <a:spLocks noGrp="1"/>
          </p:cNvSpPr>
          <p:nvPr>
            <p:ph idx="1"/>
          </p:nvPr>
        </p:nvSpPr>
        <p:spPr>
          <a:xfrm>
            <a:off x="850256" y="1371600"/>
            <a:ext cx="7200900" cy="3581400"/>
          </a:xfrm>
        </p:spPr>
        <p:txBody>
          <a:bodyPr>
            <a:normAutofit/>
          </a:bodyPr>
          <a:lstStyle/>
          <a:p>
            <a:pPr algn="just"/>
            <a:r>
              <a:rPr lang="en-US" i="1" dirty="0"/>
              <a:t>In this type of contract, although the price is fixed, the seller is given an additional incentive based on his performance. This incentive lowers the risk borne by the seller.</a:t>
            </a:r>
          </a:p>
          <a:p>
            <a:pPr algn="just"/>
            <a:r>
              <a:rPr lang="en-US" i="1" dirty="0"/>
              <a:t>The incentive can be tied to any project metrics such as cost, time, or technical performance.</a:t>
            </a:r>
          </a:p>
          <a:p>
            <a:pPr algn="just"/>
            <a:r>
              <a:rPr lang="en-US" b="1" i="1" dirty="0"/>
              <a:t>Example:</a:t>
            </a:r>
            <a:r>
              <a:rPr lang="en-US" i="1" dirty="0"/>
              <a:t> 10,000 USD will be paid to contractor as an incentive if he completes the work before two months</a:t>
            </a:r>
          </a:p>
          <a:p>
            <a:pPr algn="just"/>
            <a:endParaRPr lang="en-US" i="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627796"/>
          </a:xfrm>
        </p:spPr>
        <p:txBody>
          <a:bodyPr>
            <a:normAutofit/>
          </a:bodyPr>
          <a:lstStyle/>
          <a:p>
            <a:r>
              <a:rPr lang="en-US" sz="3200" dirty="0"/>
              <a:t>Example of FPIF Contract </a:t>
            </a:r>
          </a:p>
        </p:txBody>
      </p:sp>
      <p:pic>
        <p:nvPicPr>
          <p:cNvPr id="4" name="Content Placeholder 3"/>
          <p:cNvPicPr>
            <a:picLocks noGrp="1" noChangeAspect="1"/>
          </p:cNvPicPr>
          <p:nvPr>
            <p:ph idx="1"/>
          </p:nvPr>
        </p:nvPicPr>
        <p:blipFill rotWithShape="1">
          <a:blip r:embed="rId2"/>
          <a:srcRect l="18804" t="22297" r="38596" b="24664"/>
          <a:stretch/>
        </p:blipFill>
        <p:spPr>
          <a:xfrm>
            <a:off x="1143000" y="914401"/>
            <a:ext cx="7543800" cy="5073554"/>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xmlns="" val="219026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62000" y="1143000"/>
            <a:ext cx="7543800" cy="5486400"/>
          </a:xfrm>
        </p:spPr>
        <p:txBody>
          <a:bodyPr>
            <a:normAutofit/>
          </a:bodyPr>
          <a:lstStyle/>
          <a:p>
            <a:pPr algn="just">
              <a:lnSpc>
                <a:spcPct val="120000"/>
              </a:lnSpc>
            </a:pPr>
            <a:r>
              <a:rPr lang="en-US" sz="1800" i="1" dirty="0"/>
              <a:t>Award-fee provisions may be used in fixed-price contracts when the Government wishes to motivate a contractor and other incentives cannot be used because contractor performance cannot be measured objectively. Such contracts shall :</a:t>
            </a:r>
          </a:p>
          <a:p>
            <a:pPr lvl="1" algn="just">
              <a:lnSpc>
                <a:spcPct val="120000"/>
              </a:lnSpc>
            </a:pPr>
            <a:r>
              <a:rPr lang="en-US" sz="1800" dirty="0"/>
              <a:t>(1) Establish a fixed price (including normal profit) for the effort. This price will be paid for satisfactory contract performance. Award fee earned (if any) will be paid in addition to that fixed price.</a:t>
            </a:r>
          </a:p>
          <a:p>
            <a:pPr lvl="1" algn="just">
              <a:lnSpc>
                <a:spcPct val="120000"/>
              </a:lnSpc>
            </a:pPr>
            <a:r>
              <a:rPr lang="en-US" sz="1800" dirty="0"/>
              <a:t>(2) Provide for periodic evaluation of the contractor's performance against an award-fee plan. </a:t>
            </a:r>
          </a:p>
          <a:p>
            <a:pPr algn="just">
              <a:lnSpc>
                <a:spcPct val="120000"/>
              </a:lnSpc>
            </a:pPr>
            <a:r>
              <a:rPr lang="en-US" sz="1800" i="1" dirty="0"/>
              <a:t>Likely not to be found independently, rather, the award fee provisions would be additive to another fixed price type contract: FFP/AF, or FPI/AF, or FPEPA/AF.</a:t>
            </a:r>
          </a:p>
        </p:txBody>
      </p:sp>
      <p:sp>
        <p:nvSpPr>
          <p:cNvPr id="2" name="Title 1"/>
          <p:cNvSpPr>
            <a:spLocks noGrp="1"/>
          </p:cNvSpPr>
          <p:nvPr>
            <p:ph type="title" idx="4294967295"/>
          </p:nvPr>
        </p:nvSpPr>
        <p:spPr>
          <a:xfrm>
            <a:off x="762000" y="274093"/>
            <a:ext cx="7543800" cy="550863"/>
          </a:xfrm>
        </p:spPr>
        <p:txBody>
          <a:bodyPr>
            <a:normAutofit/>
          </a:bodyPr>
          <a:lstStyle/>
          <a:p>
            <a:r>
              <a:rPr lang="en-US" sz="2800" b="1" dirty="0"/>
              <a:t>3.	Fixed-Price Contracts With Award Fees:</a:t>
            </a:r>
          </a:p>
        </p:txBody>
      </p:sp>
    </p:spTree>
    <p:extLst>
      <p:ext uri="{BB962C8B-B14F-4D97-AF65-F5344CB8AC3E}">
        <p14:creationId xmlns:p14="http://schemas.microsoft.com/office/powerpoint/2010/main" xmlns="" val="675073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932596"/>
          </a:xfrm>
        </p:spPr>
        <p:txBody>
          <a:bodyPr>
            <a:normAutofit/>
          </a:bodyPr>
          <a:lstStyle/>
          <a:p>
            <a:r>
              <a:rPr lang="en-US" sz="2800" b="1" dirty="0"/>
              <a:t>4. Fixed-Price with Economic Price Adjustment Contracts (FP-EPA)</a:t>
            </a:r>
            <a:endParaRPr lang="en-US" sz="2800" dirty="0"/>
          </a:p>
        </p:txBody>
      </p:sp>
      <p:sp>
        <p:nvSpPr>
          <p:cNvPr id="3" name="Content Placeholder 2"/>
          <p:cNvSpPr>
            <a:spLocks noGrp="1"/>
          </p:cNvSpPr>
          <p:nvPr>
            <p:ph idx="1"/>
          </p:nvPr>
        </p:nvSpPr>
        <p:spPr>
          <a:xfrm>
            <a:off x="994410" y="1219200"/>
            <a:ext cx="7200900" cy="5029200"/>
          </a:xfrm>
        </p:spPr>
        <p:txBody>
          <a:bodyPr>
            <a:normAutofit fontScale="92500" lnSpcReduction="10000"/>
          </a:bodyPr>
          <a:lstStyle/>
          <a:p>
            <a:pPr algn="just">
              <a:lnSpc>
                <a:spcPct val="120000"/>
              </a:lnSpc>
            </a:pPr>
            <a:r>
              <a:rPr lang="en-US" sz="1900" dirty="0"/>
              <a:t>If the contract is multi-year long, a Fixed-Price with Economic Price Adjustment contract is used. Here, you include a special provision in a clause which protects the seller from inflation.</a:t>
            </a:r>
          </a:p>
          <a:p>
            <a:pPr algn="just">
              <a:lnSpc>
                <a:spcPct val="120000"/>
              </a:lnSpc>
            </a:pPr>
            <a:r>
              <a:rPr lang="en-US" sz="1900" i="1" dirty="0"/>
              <a:t>Economic price adjustments are of three general types: </a:t>
            </a:r>
          </a:p>
          <a:p>
            <a:pPr lvl="1" algn="just">
              <a:lnSpc>
                <a:spcPct val="120000"/>
              </a:lnSpc>
            </a:pPr>
            <a:r>
              <a:rPr lang="en-US" sz="1900" i="1" dirty="0"/>
              <a:t>(a) Adjustments based on established prices</a:t>
            </a:r>
          </a:p>
          <a:p>
            <a:pPr lvl="1" algn="just">
              <a:lnSpc>
                <a:spcPct val="120000"/>
              </a:lnSpc>
            </a:pPr>
            <a:r>
              <a:rPr lang="en-US" sz="1900" i="1" dirty="0"/>
              <a:t>(b) Adjustments based on actual costs of labor or material</a:t>
            </a:r>
          </a:p>
          <a:p>
            <a:pPr lvl="1" algn="just">
              <a:lnSpc>
                <a:spcPct val="120000"/>
              </a:lnSpc>
            </a:pPr>
            <a:r>
              <a:rPr lang="en-US" sz="1900" i="1" dirty="0"/>
              <a:t>(c) Adjustments based on cost indexes of labor or material</a:t>
            </a:r>
            <a:endParaRPr lang="en-US" sz="1900" dirty="0"/>
          </a:p>
          <a:p>
            <a:pPr marL="0" indent="0" algn="just">
              <a:lnSpc>
                <a:spcPct val="120000"/>
              </a:lnSpc>
              <a:buNone/>
            </a:pPr>
            <a:r>
              <a:rPr lang="en-US" sz="1900" b="1" dirty="0"/>
              <a:t>Example:</a:t>
            </a:r>
            <a:r>
              <a:rPr lang="en-US" sz="1900" dirty="0"/>
              <a:t> About 3% of the cost of the project will be increased after a certain time duration based on the Consumer Price Index.</a:t>
            </a:r>
          </a:p>
          <a:p>
            <a:pPr algn="just">
              <a:lnSpc>
                <a:spcPct val="120000"/>
              </a:lnSpc>
              <a:buNone/>
            </a:pPr>
            <a:r>
              <a:rPr lang="en-US" sz="1900" b="1" dirty="0"/>
              <a:t>Purchase Order (PO)</a:t>
            </a:r>
          </a:p>
          <a:p>
            <a:pPr marL="0" indent="0" algn="just">
              <a:lnSpc>
                <a:spcPct val="120000"/>
              </a:lnSpc>
              <a:buNone/>
            </a:pPr>
            <a:r>
              <a:rPr lang="en-US" sz="1900" dirty="0"/>
              <a:t>This type of contract is used to buy commodities.</a:t>
            </a:r>
          </a:p>
          <a:p>
            <a:pPr marL="0" indent="0" algn="just">
              <a:lnSpc>
                <a:spcPct val="120000"/>
              </a:lnSpc>
              <a:buNone/>
            </a:pPr>
            <a:r>
              <a:rPr lang="en-US" sz="1900" b="1" dirty="0"/>
              <a:t>Example:</a:t>
            </a:r>
            <a:r>
              <a:rPr lang="en-US" sz="1900" dirty="0"/>
              <a:t> Buy 10,000 bolts at the cost of 1.00 USD</a:t>
            </a:r>
          </a:p>
          <a:p>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143000" y="3048000"/>
            <a:ext cx="7200900" cy="838200"/>
          </a:xfrm>
        </p:spPr>
        <p:txBody>
          <a:bodyPr>
            <a:normAutofit/>
          </a:bodyPr>
          <a:lstStyle/>
          <a:p>
            <a:pPr algn="ctr"/>
            <a:r>
              <a:rPr lang="en-US" sz="3600" b="1" dirty="0"/>
              <a:t>Cost Reimbursable Contracts</a:t>
            </a:r>
            <a:r>
              <a:rPr lang="en-US" sz="3600" dirty="0"/>
              <a:t> </a:t>
            </a:r>
          </a:p>
        </p:txBody>
      </p:sp>
    </p:spTree>
    <p:extLst>
      <p:ext uri="{BB962C8B-B14F-4D97-AF65-F5344CB8AC3E}">
        <p14:creationId xmlns:p14="http://schemas.microsoft.com/office/powerpoint/2010/main" xmlns="" val="336105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381000"/>
            <a:ext cx="7200900" cy="914400"/>
          </a:xfrm>
        </p:spPr>
        <p:txBody>
          <a:bodyPr>
            <a:normAutofit/>
          </a:bodyPr>
          <a:lstStyle/>
          <a:p>
            <a:r>
              <a:rPr lang="en-US" sz="3600" b="1" dirty="0"/>
              <a:t>Cost Reimbursable Contracts</a:t>
            </a:r>
            <a:r>
              <a:rPr lang="en-US" sz="3600" dirty="0"/>
              <a:t> </a:t>
            </a:r>
          </a:p>
        </p:txBody>
      </p:sp>
      <p:sp>
        <p:nvSpPr>
          <p:cNvPr id="3" name="Content Placeholder 2"/>
          <p:cNvSpPr>
            <a:spLocks noGrp="1"/>
          </p:cNvSpPr>
          <p:nvPr>
            <p:ph idx="1"/>
          </p:nvPr>
        </p:nvSpPr>
        <p:spPr>
          <a:xfrm>
            <a:off x="1028700" y="1143000"/>
            <a:ext cx="7200900" cy="5410200"/>
          </a:xfrm>
        </p:spPr>
        <p:txBody>
          <a:bodyPr>
            <a:noAutofit/>
          </a:bodyPr>
          <a:lstStyle/>
          <a:p>
            <a:pPr algn="just"/>
            <a:r>
              <a:rPr lang="en-US" b="1" dirty="0"/>
              <a:t>Cost reimbursable or cost-plus</a:t>
            </a:r>
            <a:r>
              <a:rPr lang="en-US" dirty="0"/>
              <a:t> contracts involve payment to the seller for direct and indirect actual costs. These contracts are often used for projects that include the provision of goods and services associated with new technologies. The buyer absorbs more risk with the type of contract, which has three forms:</a:t>
            </a:r>
          </a:p>
          <a:p>
            <a:pPr lvl="1" algn="just"/>
            <a:r>
              <a:rPr lang="en-US" b="1" dirty="0"/>
              <a:t>Cost plus incentive fee (CPIF):</a:t>
            </a:r>
            <a:r>
              <a:rPr lang="en-US" dirty="0"/>
              <a:t> the buyer pays the seller for allowable performance costs plus a predetermined fee and an incentive bonus.</a:t>
            </a:r>
          </a:p>
          <a:p>
            <a:pPr lvl="1" algn="just"/>
            <a:r>
              <a:rPr lang="en-US" b="1" dirty="0"/>
              <a:t>Cost plus fixed fee (CPFF):</a:t>
            </a:r>
            <a:r>
              <a:rPr lang="en-US" dirty="0"/>
              <a:t> the buyer pays the seller for allowable performance costs plus a fixed fee payment usually based on a percentage of estimated costs.</a:t>
            </a:r>
          </a:p>
          <a:p>
            <a:pPr lvl="1" algn="just"/>
            <a:r>
              <a:rPr lang="en-US" b="1" dirty="0"/>
              <a:t>Cost plus percentage of costs (CPPC):</a:t>
            </a:r>
            <a:r>
              <a:rPr lang="en-US" dirty="0"/>
              <a:t> the buyer pays the seller for allowable performance costs plus a predetermined percentage based on total costs.</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780196"/>
          </a:xfrm>
        </p:spPr>
        <p:txBody>
          <a:bodyPr>
            <a:normAutofit/>
          </a:bodyPr>
          <a:lstStyle/>
          <a:p>
            <a:r>
              <a:rPr lang="en-US" sz="3600" b="1" dirty="0"/>
              <a:t>Cost Plus Fixed Fee (CPFF):</a:t>
            </a:r>
            <a:endParaRPr lang="en-US" sz="3600" dirty="0"/>
          </a:p>
        </p:txBody>
      </p:sp>
      <p:sp>
        <p:nvSpPr>
          <p:cNvPr id="3" name="Content Placeholder 2"/>
          <p:cNvSpPr>
            <a:spLocks noGrp="1"/>
          </p:cNvSpPr>
          <p:nvPr>
            <p:ph idx="1"/>
          </p:nvPr>
        </p:nvSpPr>
        <p:spPr>
          <a:xfrm>
            <a:off x="822960" y="1066800"/>
            <a:ext cx="7543800" cy="5562599"/>
          </a:xfrm>
        </p:spPr>
        <p:txBody>
          <a:bodyPr>
            <a:normAutofit/>
          </a:bodyPr>
          <a:lstStyle/>
          <a:p>
            <a:pPr algn="just"/>
            <a:r>
              <a:rPr lang="en-US" i="1" dirty="0"/>
              <a:t>A cost-plus-fixed-fee contract is a cost-reimbursement contract that provides for payment to the contractor of a negotiated fee that is fixed at inception of the contract.</a:t>
            </a:r>
          </a:p>
          <a:p>
            <a:pPr algn="just"/>
            <a:r>
              <a:rPr lang="en-US" i="1" dirty="0"/>
              <a:t>The fixed fee does not vary with actual cost, but may be adjusted as a result of changes in the work to be performed under the contract.</a:t>
            </a:r>
          </a:p>
          <a:p>
            <a:pPr algn="just"/>
            <a:r>
              <a:rPr lang="en-US" dirty="0"/>
              <a:t>Appropriate anytime there are: </a:t>
            </a:r>
          </a:p>
          <a:p>
            <a:pPr lvl="1" algn="just"/>
            <a:r>
              <a:rPr lang="en-US" dirty="0"/>
              <a:t>Substantial cost uncertainties </a:t>
            </a:r>
          </a:p>
          <a:p>
            <a:pPr lvl="1" algn="just"/>
            <a:r>
              <a:rPr lang="en-US" dirty="0"/>
              <a:t>Where estimates of costs are difficult or impossible to accurately forecast. </a:t>
            </a:r>
          </a:p>
          <a:p>
            <a:pPr lvl="1" algn="just"/>
            <a:r>
              <a:rPr lang="en-US" dirty="0"/>
              <a:t>High technical uncertainty, challenging schedule goals</a:t>
            </a:r>
          </a:p>
          <a:p>
            <a:pPr marL="0" indent="0" algn="just">
              <a:buNone/>
            </a:pPr>
            <a:r>
              <a:rPr lang="en-US" dirty="0"/>
              <a:t> Sub-Types:</a:t>
            </a:r>
          </a:p>
          <a:p>
            <a:pPr marL="457200" indent="-457200" algn="just">
              <a:buFont typeface="+mj-lt"/>
              <a:buAutoNum type="arabicPeriod"/>
            </a:pPr>
            <a:r>
              <a:rPr lang="en-US" dirty="0"/>
              <a:t>The Completion Form: Payable on Completion  of Goals</a:t>
            </a:r>
          </a:p>
          <a:p>
            <a:pPr marL="457200" indent="-457200" algn="just">
              <a:buFont typeface="+mj-lt"/>
              <a:buAutoNum type="arabicPeriod"/>
            </a:pPr>
            <a:r>
              <a:rPr lang="en-US" dirty="0"/>
              <a:t>The Term Form: Payable at Specified Period of Time</a:t>
            </a:r>
          </a:p>
        </p:txBody>
      </p:sp>
    </p:spTree>
    <p:extLst>
      <p:ext uri="{BB962C8B-B14F-4D97-AF65-F5344CB8AC3E}">
        <p14:creationId xmlns:p14="http://schemas.microsoft.com/office/powerpoint/2010/main" xmlns="" val="3485250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627796"/>
          </a:xfrm>
        </p:spPr>
        <p:txBody>
          <a:bodyPr>
            <a:normAutofit/>
          </a:bodyPr>
          <a:lstStyle/>
          <a:p>
            <a:r>
              <a:rPr lang="en-US" sz="3600" dirty="0"/>
              <a:t>Example of CPFF Contract</a:t>
            </a:r>
          </a:p>
        </p:txBody>
      </p:sp>
      <p:pic>
        <p:nvPicPr>
          <p:cNvPr id="4" name="Content Placeholder 3"/>
          <p:cNvPicPr>
            <a:picLocks noGrp="1" noChangeAspect="1"/>
          </p:cNvPicPr>
          <p:nvPr>
            <p:ph idx="1"/>
          </p:nvPr>
        </p:nvPicPr>
        <p:blipFill rotWithShape="1">
          <a:blip r:embed="rId2"/>
          <a:srcRect l="24129" t="31768" r="35401" b="24665"/>
          <a:stretch/>
        </p:blipFill>
        <p:spPr>
          <a:xfrm>
            <a:off x="990600" y="1295400"/>
            <a:ext cx="7772400" cy="4704347"/>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xmlns="" val="3345754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780196"/>
          </a:xfrm>
        </p:spPr>
        <p:txBody>
          <a:bodyPr>
            <a:normAutofit/>
          </a:bodyPr>
          <a:lstStyle/>
          <a:p>
            <a:r>
              <a:rPr lang="en-US" sz="3600" b="1" dirty="0"/>
              <a:t>Cost Plus Incentive Fee (CPIF):</a:t>
            </a:r>
            <a:endParaRPr lang="en-US" sz="3600" dirty="0"/>
          </a:p>
        </p:txBody>
      </p:sp>
      <p:sp>
        <p:nvSpPr>
          <p:cNvPr id="3" name="Content Placeholder 2"/>
          <p:cNvSpPr>
            <a:spLocks noGrp="1"/>
          </p:cNvSpPr>
          <p:nvPr>
            <p:ph idx="1"/>
          </p:nvPr>
        </p:nvSpPr>
        <p:spPr>
          <a:xfrm>
            <a:off x="830921" y="1066800"/>
            <a:ext cx="7543800" cy="5410199"/>
          </a:xfrm>
        </p:spPr>
        <p:txBody>
          <a:bodyPr>
            <a:noAutofit/>
          </a:bodyPr>
          <a:lstStyle/>
          <a:p>
            <a:pPr algn="just"/>
            <a:r>
              <a:rPr lang="en-US" sz="1800" dirty="0"/>
              <a:t>The cost-plus-incentive-fee contract is a cost-reimbursement contract that provides for the initially negotiated fee to be adjusted later by a formula based on the relationship of total </a:t>
            </a:r>
          </a:p>
          <a:p>
            <a:pPr algn="just"/>
            <a:r>
              <a:rPr lang="en-US" sz="1800" dirty="0"/>
              <a:t>This contract type specifies a target cost, a target fee, minimum and maximum fees, and a fee adjustment formula allowable costs to total target costs.</a:t>
            </a:r>
          </a:p>
          <a:p>
            <a:pPr algn="just"/>
            <a:r>
              <a:rPr lang="en-US" sz="1800" dirty="0"/>
              <a:t>Distinction from CPFF: CPIF contracts contain no price ceiling beyond which the seller cannot recover costs</a:t>
            </a:r>
          </a:p>
          <a:p>
            <a:pPr algn="just"/>
            <a:r>
              <a:rPr lang="en-US" sz="1800" dirty="0"/>
              <a:t>WHY CPIF contracts: Appropriate whenever there exists considerable technical risks, and the buyer would like to encourage the seller to minimize costs.</a:t>
            </a:r>
          </a:p>
          <a:p>
            <a:pPr algn="just"/>
            <a:r>
              <a:rPr lang="en-US" sz="1800" i="1" dirty="0"/>
              <a:t>Types of Incentives: </a:t>
            </a:r>
          </a:p>
          <a:p>
            <a:pPr marL="873252" lvl="1" indent="-342900" algn="just">
              <a:buFont typeface="+mj-lt"/>
              <a:buAutoNum type="arabicPeriod"/>
            </a:pPr>
            <a:r>
              <a:rPr lang="en-US" sz="1800" dirty="0"/>
              <a:t>Deliveries of end-items ahead of schedule </a:t>
            </a:r>
          </a:p>
          <a:p>
            <a:pPr marL="873252" lvl="1" indent="-342900" algn="just">
              <a:buFont typeface="+mj-lt"/>
              <a:buAutoNum type="arabicPeriod"/>
            </a:pPr>
            <a:r>
              <a:rPr lang="en-US" sz="1800" dirty="0"/>
              <a:t>Product reliability</a:t>
            </a:r>
          </a:p>
          <a:p>
            <a:pPr marL="873252" lvl="1" indent="-342900" algn="just">
              <a:buFont typeface="+mj-lt"/>
              <a:buAutoNum type="arabicPeriod"/>
            </a:pPr>
            <a:r>
              <a:rPr lang="en-US" sz="1800" dirty="0"/>
              <a:t>Maintenance costs </a:t>
            </a:r>
          </a:p>
          <a:p>
            <a:pPr marL="873252" lvl="1" indent="-342900" algn="just">
              <a:buFont typeface="+mj-lt"/>
              <a:buAutoNum type="arabicPeriod"/>
            </a:pPr>
            <a:r>
              <a:rPr lang="en-US" sz="1800" dirty="0"/>
              <a:t>Weight of hard work and so forth</a:t>
            </a:r>
          </a:p>
        </p:txBody>
      </p:sp>
    </p:spTree>
    <p:extLst>
      <p:ext uri="{BB962C8B-B14F-4D97-AF65-F5344CB8AC3E}">
        <p14:creationId xmlns:p14="http://schemas.microsoft.com/office/powerpoint/2010/main" xmlns="" val="13164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627795"/>
          </a:xfrm>
        </p:spPr>
        <p:txBody>
          <a:bodyPr>
            <a:normAutofit/>
          </a:bodyPr>
          <a:lstStyle/>
          <a:p>
            <a:r>
              <a:rPr lang="en-US" sz="3200" dirty="0"/>
              <a:t>Element of CPIF:</a:t>
            </a:r>
          </a:p>
        </p:txBody>
      </p:sp>
      <p:sp>
        <p:nvSpPr>
          <p:cNvPr id="3" name="Content Placeholder 2"/>
          <p:cNvSpPr>
            <a:spLocks noGrp="1"/>
          </p:cNvSpPr>
          <p:nvPr>
            <p:ph idx="1"/>
          </p:nvPr>
        </p:nvSpPr>
        <p:spPr>
          <a:xfrm>
            <a:off x="814999" y="914400"/>
            <a:ext cx="7200900" cy="3581400"/>
          </a:xfrm>
        </p:spPr>
        <p:txBody>
          <a:bodyPr/>
          <a:lstStyle/>
          <a:p>
            <a:pPr algn="just"/>
            <a:r>
              <a:rPr lang="en-US" dirty="0"/>
              <a:t>CPIF contracts contain the following five elements: </a:t>
            </a:r>
          </a:p>
          <a:p>
            <a:pPr lvl="1" algn="just"/>
            <a:r>
              <a:rPr lang="en-US" dirty="0"/>
              <a:t>(1) a target cost</a:t>
            </a:r>
          </a:p>
          <a:p>
            <a:pPr lvl="1" algn="just"/>
            <a:r>
              <a:rPr lang="en-US" dirty="0"/>
              <a:t>(2) a target fee</a:t>
            </a:r>
          </a:p>
          <a:p>
            <a:pPr lvl="1" algn="just"/>
            <a:r>
              <a:rPr lang="en-US" dirty="0"/>
              <a:t>(3) a maximum allowable fee</a:t>
            </a:r>
          </a:p>
          <a:p>
            <a:pPr lvl="1" algn="just"/>
            <a:r>
              <a:rPr lang="en-US" dirty="0"/>
              <a:t>(4) a minimum allowable fee </a:t>
            </a:r>
          </a:p>
          <a:p>
            <a:pPr lvl="1" algn="just"/>
            <a:r>
              <a:rPr lang="en-US" dirty="0"/>
              <a:t>(5) A fee adjustment formula based on seller performance between the maximum or minimum fee ranges.</a:t>
            </a:r>
          </a:p>
        </p:txBody>
      </p:sp>
    </p:spTree>
    <p:extLst>
      <p:ext uri="{BB962C8B-B14F-4D97-AF65-F5344CB8AC3E}">
        <p14:creationId xmlns:p14="http://schemas.microsoft.com/office/powerpoint/2010/main" xmlns="" val="2955047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551596"/>
          </a:xfrm>
        </p:spPr>
        <p:txBody>
          <a:bodyPr>
            <a:normAutofit fontScale="90000"/>
          </a:bodyPr>
          <a:lstStyle/>
          <a:p>
            <a:r>
              <a:rPr lang="en-US" sz="3600" dirty="0"/>
              <a:t>Example of CPIF Contract</a:t>
            </a:r>
          </a:p>
        </p:txBody>
      </p:sp>
      <p:pic>
        <p:nvPicPr>
          <p:cNvPr id="4" name="Content Placeholder 3"/>
          <p:cNvPicPr>
            <a:picLocks noGrp="1" noChangeAspect="1"/>
          </p:cNvPicPr>
          <p:nvPr>
            <p:ph idx="1"/>
          </p:nvPr>
        </p:nvPicPr>
        <p:blipFill rotWithShape="1">
          <a:blip r:embed="rId2"/>
          <a:srcRect l="3803" t="5249" r="3286" b="1934"/>
          <a:stretch/>
        </p:blipFill>
        <p:spPr>
          <a:xfrm>
            <a:off x="800214" y="1066800"/>
            <a:ext cx="8038986" cy="5252138"/>
          </a:xfrm>
          <a:prstGeom prst="rect">
            <a:avLst/>
          </a:prstGeom>
        </p:spPr>
      </p:pic>
    </p:spTree>
    <p:extLst>
      <p:ext uri="{BB962C8B-B14F-4D97-AF65-F5344CB8AC3E}">
        <p14:creationId xmlns:p14="http://schemas.microsoft.com/office/powerpoint/2010/main" xmlns="" val="2283892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81000"/>
            <a:ext cx="7543800" cy="551596"/>
          </a:xfrm>
        </p:spPr>
        <p:txBody>
          <a:bodyPr>
            <a:normAutofit/>
          </a:bodyPr>
          <a:lstStyle/>
          <a:p>
            <a:r>
              <a:rPr lang="en-US" sz="3200" dirty="0"/>
              <a:t>Cost Plus Award Fee (CPAF):</a:t>
            </a:r>
          </a:p>
        </p:txBody>
      </p:sp>
      <p:sp>
        <p:nvSpPr>
          <p:cNvPr id="3" name="Content Placeholder 2"/>
          <p:cNvSpPr>
            <a:spLocks noGrp="1"/>
          </p:cNvSpPr>
          <p:nvPr>
            <p:ph idx="1"/>
          </p:nvPr>
        </p:nvSpPr>
        <p:spPr>
          <a:xfrm>
            <a:off x="834333" y="929184"/>
            <a:ext cx="7543800" cy="5166816"/>
          </a:xfrm>
        </p:spPr>
        <p:txBody>
          <a:bodyPr>
            <a:normAutofit fontScale="92500" lnSpcReduction="10000"/>
          </a:bodyPr>
          <a:lstStyle/>
          <a:p>
            <a:pPr algn="just"/>
            <a:r>
              <a:rPr lang="en-US" i="1" dirty="0"/>
              <a:t>A cost-plus-award-fee contract is a cost-reimbursement contract that provides for a fee consisting of </a:t>
            </a:r>
          </a:p>
          <a:p>
            <a:pPr lvl="1" algn="just"/>
            <a:r>
              <a:rPr lang="en-US" i="1" dirty="0"/>
              <a:t>(1) a base amount fixed at inception of the contract and </a:t>
            </a:r>
          </a:p>
          <a:p>
            <a:pPr lvl="1" algn="just"/>
            <a:r>
              <a:rPr lang="en-US" i="1" dirty="0"/>
              <a:t>(2) an award amount that the contractor may earn in whole or in part during performance and that is sufficient to provide motivation for excellence in such areas as quality, timeliness, technical ingenuity, and cost effective management.	</a:t>
            </a:r>
            <a:endParaRPr lang="en-US" dirty="0"/>
          </a:p>
          <a:p>
            <a:r>
              <a:rPr lang="en-US" dirty="0"/>
              <a:t>Typically contain six elements: </a:t>
            </a:r>
          </a:p>
          <a:p>
            <a:pPr lvl="1"/>
            <a:r>
              <a:rPr lang="en-US" dirty="0"/>
              <a:t>(1) Total estimated costs </a:t>
            </a:r>
          </a:p>
          <a:p>
            <a:pPr lvl="1"/>
            <a:r>
              <a:rPr lang="en-US" dirty="0"/>
              <a:t>(2) A "base fee," stated as a percentage of total estimated costs</a:t>
            </a:r>
          </a:p>
          <a:p>
            <a:pPr lvl="1"/>
            <a:r>
              <a:rPr lang="en-US" dirty="0"/>
              <a:t>(3) An "award fee," also stated as a percentage of total estimated costs </a:t>
            </a:r>
          </a:p>
          <a:p>
            <a:pPr lvl="1"/>
            <a:r>
              <a:rPr lang="en-US" dirty="0"/>
              <a:t>(4) The award fee's broadly defined "performance criteria"</a:t>
            </a:r>
          </a:p>
          <a:p>
            <a:pPr lvl="1"/>
            <a:r>
              <a:rPr lang="en-US" dirty="0"/>
              <a:t>(5) An award fee "evaluation board”; which evaluates the performance of the firm against the award criteria.</a:t>
            </a:r>
          </a:p>
        </p:txBody>
      </p:sp>
    </p:spTree>
    <p:extLst>
      <p:ext uri="{BB962C8B-B14F-4D97-AF65-F5344CB8AC3E}">
        <p14:creationId xmlns:p14="http://schemas.microsoft.com/office/powerpoint/2010/main" xmlns="" val="38307959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762000"/>
            <a:ext cx="7543800" cy="5181600"/>
          </a:xfrm>
        </p:spPr>
        <p:txBody>
          <a:bodyPr>
            <a:normAutofit fontScale="92500" lnSpcReduction="10000"/>
          </a:bodyPr>
          <a:lstStyle/>
          <a:p>
            <a:pPr algn="just"/>
            <a:r>
              <a:rPr lang="en-US" dirty="0"/>
              <a:t>Unlike incentive fee provisions, award fee criteria are not to be subject to a mathematical formula, nor are they quantifiable. </a:t>
            </a:r>
          </a:p>
          <a:p>
            <a:pPr algn="just"/>
            <a:r>
              <a:rPr lang="en-US" dirty="0"/>
              <a:t>Rather, the award fees are given out based on the "subjective“ determination of the evaluation board, typically requiring concurrence by the superior fee</a:t>
            </a:r>
          </a:p>
          <a:p>
            <a:r>
              <a:rPr lang="en-US" dirty="0"/>
              <a:t>determining executive who has the final say. The subjective terms refer to broadly stated criteria, and may fall into such general categories as: </a:t>
            </a:r>
          </a:p>
          <a:p>
            <a:pPr marL="749808" lvl="1" indent="-457200">
              <a:buFont typeface="+mj-lt"/>
              <a:buAutoNum type="arabicPeriod"/>
            </a:pPr>
            <a:r>
              <a:rPr lang="en-US" dirty="0"/>
              <a:t>Technical achievements </a:t>
            </a:r>
          </a:p>
          <a:p>
            <a:pPr marL="749808" lvl="1" indent="-457200">
              <a:buFont typeface="+mj-lt"/>
              <a:buAutoNum type="arabicPeriod"/>
            </a:pPr>
            <a:r>
              <a:rPr lang="en-US" dirty="0"/>
              <a:t>Management performance </a:t>
            </a:r>
          </a:p>
          <a:p>
            <a:pPr marL="749808" lvl="1" indent="-457200">
              <a:buFont typeface="+mj-lt"/>
              <a:buAutoNum type="arabicPeriod"/>
            </a:pPr>
            <a:r>
              <a:rPr lang="en-US" dirty="0"/>
              <a:t>Allocation of adequate resources</a:t>
            </a:r>
          </a:p>
          <a:p>
            <a:pPr marL="749808" lvl="1" indent="-457200">
              <a:buFont typeface="+mj-lt"/>
              <a:buAutoNum type="arabicPeriod"/>
            </a:pPr>
            <a:r>
              <a:rPr lang="en-US" dirty="0"/>
              <a:t>Product reproducibility</a:t>
            </a:r>
          </a:p>
          <a:p>
            <a:pPr algn="just"/>
            <a:r>
              <a:rPr lang="en-US" dirty="0"/>
              <a:t>While the award fee type contract is normally used on cost reimbursable type contracts, it can also work well on any type of contract, even fixed price contracts, time and material contracts, etc. For example a "CPFF/AF" or "CPIF/AF" or FPIF/AF" </a:t>
            </a:r>
            <a:r>
              <a:rPr lang="en-US" dirty="0" err="1"/>
              <a:t>orv"FFP</a:t>
            </a:r>
            <a:r>
              <a:rPr lang="en-US" dirty="0"/>
              <a:t>/AF" type contract</a:t>
            </a:r>
          </a:p>
        </p:txBody>
      </p:sp>
    </p:spTree>
    <p:extLst>
      <p:ext uri="{BB962C8B-B14F-4D97-AF65-F5344CB8AC3E}">
        <p14:creationId xmlns:p14="http://schemas.microsoft.com/office/powerpoint/2010/main" xmlns="" val="1447491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545" y="457200"/>
            <a:ext cx="7200900" cy="990600"/>
          </a:xfrm>
        </p:spPr>
        <p:txBody>
          <a:bodyPr>
            <a:normAutofit/>
          </a:bodyPr>
          <a:lstStyle/>
          <a:p>
            <a:r>
              <a:rPr lang="en-US" sz="2800" dirty="0"/>
              <a:t>Cost Plus a Percentage of Costs Fee |CPPCF):</a:t>
            </a:r>
          </a:p>
        </p:txBody>
      </p:sp>
      <p:sp>
        <p:nvSpPr>
          <p:cNvPr id="3" name="Content Placeholder 2"/>
          <p:cNvSpPr>
            <a:spLocks noGrp="1"/>
          </p:cNvSpPr>
          <p:nvPr>
            <p:ph idx="1"/>
          </p:nvPr>
        </p:nvSpPr>
        <p:spPr>
          <a:xfrm>
            <a:off x="1060545" y="1447800"/>
            <a:ext cx="7200900" cy="3581400"/>
          </a:xfrm>
        </p:spPr>
        <p:txBody>
          <a:bodyPr/>
          <a:lstStyle/>
          <a:p>
            <a:pPr algn="just"/>
            <a:endParaRPr lang="en-US" dirty="0"/>
          </a:p>
          <a:p>
            <a:pPr algn="just"/>
            <a:r>
              <a:rPr lang="en-US" dirty="0"/>
              <a:t>Under the CPPCF contract, the seller's earned fee, or profit, increases as a stipulated percentage rate of funds actually expended. </a:t>
            </a:r>
          </a:p>
          <a:p>
            <a:pPr algn="just"/>
            <a:r>
              <a:rPr lang="en-US" dirty="0"/>
              <a:t>There is no incentive on a seller to keep costs down to a minimum, in fact, the incentive is to spend more money and thus get a greater fee. </a:t>
            </a:r>
          </a:p>
          <a:p>
            <a:pPr algn="just"/>
            <a:r>
              <a:rPr lang="en-US" dirty="0"/>
              <a:t>The CPPCF contract is a bad business arrangement for any project.</a:t>
            </a:r>
          </a:p>
        </p:txBody>
      </p:sp>
    </p:spTree>
    <p:extLst>
      <p:ext uri="{BB962C8B-B14F-4D97-AF65-F5344CB8AC3E}">
        <p14:creationId xmlns:p14="http://schemas.microsoft.com/office/powerpoint/2010/main" xmlns="" val="3197121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533400"/>
            <a:ext cx="7200900" cy="5181600"/>
          </a:xfrm>
        </p:spPr>
        <p:txBody>
          <a:bodyPr>
            <a:normAutofit/>
          </a:bodyPr>
          <a:lstStyle/>
          <a:p>
            <a:r>
              <a:rPr lang="en-US" b="1" dirty="0"/>
              <a:t>Cost Contracts:</a:t>
            </a:r>
          </a:p>
          <a:p>
            <a:pPr lvl="1" algn="just"/>
            <a:r>
              <a:rPr lang="en-US" i="1" dirty="0"/>
              <a:t>A cost contract is a cost-reimbursement contract in which the contractor receives no fee. A cost contract may be appropriate for research and development work, particularly with nonprofit educational institutions or other nonprofit organizations, and for facilities contracts.</a:t>
            </a:r>
          </a:p>
          <a:p>
            <a:pPr algn="just"/>
            <a:r>
              <a:rPr lang="en-US" b="1" i="0" dirty="0"/>
              <a:t>Cost Sharing Contracts:</a:t>
            </a:r>
          </a:p>
          <a:p>
            <a:pPr lvl="1" algn="just"/>
            <a:r>
              <a:rPr lang="en-US" i="1" dirty="0"/>
              <a:t>A cost-sharing contract is a cost-reimbursement contract in which the contractor receives no fee and is reimbursed only for an agreed upon portion of its allowable costs. A cost-sharing contract may be used when the contractor agrees to absorb a portion of the costs, in the expectation of substantial compensating benefits.</a:t>
            </a:r>
            <a:endParaRPr lang="en-US" dirty="0"/>
          </a:p>
        </p:txBody>
      </p:sp>
    </p:spTree>
    <p:extLst>
      <p:ext uri="{BB962C8B-B14F-4D97-AF65-F5344CB8AC3E}">
        <p14:creationId xmlns:p14="http://schemas.microsoft.com/office/powerpoint/2010/main" xmlns="" val="618227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304800"/>
            <a:ext cx="7200900" cy="762000"/>
          </a:xfrm>
        </p:spPr>
        <p:txBody>
          <a:bodyPr>
            <a:normAutofit/>
          </a:bodyPr>
          <a:lstStyle/>
          <a:p>
            <a:r>
              <a:rPr lang="en-US" sz="3600" dirty="0"/>
              <a:t>Time and Materials Contracts</a:t>
            </a:r>
          </a:p>
        </p:txBody>
      </p:sp>
      <p:sp>
        <p:nvSpPr>
          <p:cNvPr id="3" name="Content Placeholder 2"/>
          <p:cNvSpPr>
            <a:spLocks noGrp="1"/>
          </p:cNvSpPr>
          <p:nvPr>
            <p:ph idx="1"/>
          </p:nvPr>
        </p:nvSpPr>
        <p:spPr>
          <a:xfrm>
            <a:off x="1028700" y="1066800"/>
            <a:ext cx="7200900" cy="5105400"/>
          </a:xfrm>
        </p:spPr>
        <p:txBody>
          <a:bodyPr>
            <a:noAutofit/>
          </a:bodyPr>
          <a:lstStyle/>
          <a:p>
            <a:pPr algn="just"/>
            <a:r>
              <a:rPr lang="en-US" sz="1600" dirty="0"/>
              <a:t>Time and Material (T&amp;M) contracts are a </a:t>
            </a:r>
            <a:r>
              <a:rPr lang="en-US" sz="1600" b="1" dirty="0"/>
              <a:t>hybrid type </a:t>
            </a:r>
            <a:r>
              <a:rPr lang="en-US" sz="1600" dirty="0"/>
              <a:t>of contractual arrangement that contains aspects of both cost-reimbursable and fixed-price-type arrangements.</a:t>
            </a:r>
          </a:p>
          <a:p>
            <a:pPr algn="just"/>
            <a:r>
              <a:rPr lang="en-US" sz="1600" dirty="0"/>
              <a:t>T&amp;M contracts resemble cost-type arrangements in that they are open ended, because the full value of the arrangement is not defined at the time of the award.</a:t>
            </a:r>
          </a:p>
          <a:p>
            <a:pPr algn="just"/>
            <a:r>
              <a:rPr lang="en-US" sz="1600" dirty="0"/>
              <a:t>Considered appropriate in those circumstances when it is </a:t>
            </a:r>
            <a:r>
              <a:rPr lang="en-US" sz="1600" b="1" dirty="0"/>
              <a:t>not possible at the time of award to estimate accurately</a:t>
            </a:r>
            <a:r>
              <a:rPr lang="en-US" sz="1600" dirty="0"/>
              <a:t> the extent, or duration, or costs of a job with any degree of confidence</a:t>
            </a:r>
          </a:p>
          <a:p>
            <a:pPr algn="just"/>
            <a:r>
              <a:rPr lang="en-US" sz="1600" dirty="0"/>
              <a:t>The T&amp;M contracts are used primarily to </a:t>
            </a:r>
            <a:r>
              <a:rPr lang="en-US" sz="1600" b="1" dirty="0"/>
              <a:t>procure emergency services, repairs, maintenance, overhauls</a:t>
            </a:r>
            <a:r>
              <a:rPr lang="en-US" sz="1600" dirty="0"/>
              <a:t>, but are also used extensively to procure engineering and technical services as purchased labor, where the direct supervision of the purchased people is done by project staff.</a:t>
            </a:r>
          </a:p>
          <a:p>
            <a:pPr algn="just"/>
            <a:r>
              <a:rPr lang="en-US" sz="1600" b="1" dirty="0"/>
              <a:t>Labor costs </a:t>
            </a:r>
            <a:r>
              <a:rPr lang="en-US" sz="1600" dirty="0"/>
              <a:t>typically carry all </a:t>
            </a:r>
            <a:r>
              <a:rPr lang="en-US" sz="1600" b="1" dirty="0"/>
              <a:t>indirect expenses </a:t>
            </a:r>
            <a:r>
              <a:rPr lang="en-US" sz="1600" dirty="0"/>
              <a:t>including profit, but </a:t>
            </a:r>
            <a:r>
              <a:rPr lang="en-US" sz="1600" b="1" dirty="0"/>
              <a:t>material costs may carry material handing costs only</a:t>
            </a:r>
            <a:r>
              <a:rPr lang="en-US" sz="1600" dirty="0"/>
              <a:t>, and are sometimes billed without profits.</a:t>
            </a:r>
          </a:p>
          <a:p>
            <a:pPr algn="just"/>
            <a:r>
              <a:rPr lang="en-US" sz="1600" dirty="0"/>
              <a:t>Because of the risks of cost growth, the T&amp;M type contracts are normally discouraged without justification.</a:t>
            </a:r>
          </a:p>
        </p:txBody>
      </p:sp>
    </p:spTree>
    <p:extLst>
      <p:ext uri="{BB962C8B-B14F-4D97-AF65-F5344CB8AC3E}">
        <p14:creationId xmlns:p14="http://schemas.microsoft.com/office/powerpoint/2010/main" xmlns="" val="1861583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609600"/>
          </a:xfrm>
        </p:spPr>
        <p:txBody>
          <a:bodyPr>
            <a:normAutofit fontScale="90000"/>
          </a:bodyPr>
          <a:lstStyle/>
          <a:p>
            <a:r>
              <a:rPr lang="en-US" dirty="0"/>
              <a:t>Other Contract Types:</a:t>
            </a:r>
          </a:p>
        </p:txBody>
      </p:sp>
      <p:sp>
        <p:nvSpPr>
          <p:cNvPr id="3" name="Content Placeholder 2"/>
          <p:cNvSpPr>
            <a:spLocks noGrp="1"/>
          </p:cNvSpPr>
          <p:nvPr>
            <p:ph idx="1"/>
          </p:nvPr>
        </p:nvSpPr>
        <p:spPr>
          <a:xfrm>
            <a:off x="1028700" y="1329518"/>
            <a:ext cx="7200900" cy="5299881"/>
          </a:xfrm>
        </p:spPr>
        <p:txBody>
          <a:bodyPr>
            <a:normAutofit fontScale="92500" lnSpcReduction="20000"/>
          </a:bodyPr>
          <a:lstStyle/>
          <a:p>
            <a:pPr algn="just"/>
            <a:r>
              <a:rPr lang="en-US" b="1" dirty="0"/>
              <a:t>Labor-Hour Contracts:  </a:t>
            </a:r>
          </a:p>
          <a:p>
            <a:pPr lvl="1" algn="just"/>
            <a:r>
              <a:rPr lang="en-US" dirty="0"/>
              <a:t>The "Labor-Hour" contract is a variation of the Time &amp; Material (T&amp;M) contract, but as the name implies, is restricted to labor services only, without materials supplied in the contractual arrangement.</a:t>
            </a:r>
          </a:p>
          <a:p>
            <a:pPr algn="just"/>
            <a:r>
              <a:rPr lang="en-US" b="1" dirty="0"/>
              <a:t>Letter Contracts:	</a:t>
            </a:r>
          </a:p>
          <a:p>
            <a:pPr lvl="1" algn="just"/>
            <a:r>
              <a:rPr lang="en-US" i="1" dirty="0"/>
              <a:t>A letter contract is a written preliminary contractual instrument that authorizes the contractor to begin immediately manufacturing supplies or performing services.</a:t>
            </a:r>
          </a:p>
          <a:p>
            <a:pPr lvl="1" algn="just"/>
            <a:r>
              <a:rPr lang="en-US" dirty="0"/>
              <a:t>Letter contracts, however, lack one key thing most contracts have: a "statement of work.“</a:t>
            </a:r>
          </a:p>
          <a:p>
            <a:pPr lvl="1" algn="just"/>
            <a:r>
              <a:rPr lang="en-US" dirty="0"/>
              <a:t>There is probably no contractual arrangement which has the potential of higher risks than with use of a letter contract. Why then would we ever consider using a letter contract?</a:t>
            </a:r>
          </a:p>
          <a:p>
            <a:pPr lvl="1" algn="just"/>
            <a:r>
              <a:rPr lang="en-US" dirty="0"/>
              <a:t>Letter contracts are used in circumstances when a seller must be authorized to start work immediately in order to support the project's effort, and a negotiated definitive contract is not possible in the time available</a:t>
            </a:r>
          </a:p>
          <a:p>
            <a:pPr lvl="1" algn="just"/>
            <a:endParaRPr lang="en-US" dirty="0"/>
          </a:p>
        </p:txBody>
      </p:sp>
    </p:spTree>
    <p:extLst>
      <p:ext uri="{BB962C8B-B14F-4D97-AF65-F5344CB8AC3E}">
        <p14:creationId xmlns:p14="http://schemas.microsoft.com/office/powerpoint/2010/main" xmlns="" val="8631618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122" y="457200"/>
            <a:ext cx="7200900" cy="1066800"/>
          </a:xfrm>
        </p:spPr>
        <p:txBody>
          <a:bodyPr>
            <a:normAutofit/>
          </a:bodyPr>
          <a:lstStyle/>
          <a:p>
            <a:r>
              <a:rPr lang="en-US" sz="3200" dirty="0"/>
              <a:t>Some general guidelines for selection of contract type</a:t>
            </a:r>
          </a:p>
        </p:txBody>
      </p:sp>
      <p:sp>
        <p:nvSpPr>
          <p:cNvPr id="3" name="Content Placeholder 2"/>
          <p:cNvSpPr>
            <a:spLocks noGrp="1"/>
          </p:cNvSpPr>
          <p:nvPr>
            <p:ph idx="1"/>
          </p:nvPr>
        </p:nvSpPr>
        <p:spPr>
          <a:xfrm>
            <a:off x="1235122" y="1524000"/>
            <a:ext cx="7200900" cy="4876800"/>
          </a:xfrm>
        </p:spPr>
        <p:txBody>
          <a:bodyPr>
            <a:normAutofit fontScale="92500" lnSpcReduction="10000"/>
          </a:bodyPr>
          <a:lstStyle/>
          <a:p>
            <a:pPr algn="just"/>
            <a:r>
              <a:rPr lang="en-US" dirty="0"/>
              <a:t>1. Determinations of contract type are best done by a </a:t>
            </a:r>
            <a:r>
              <a:rPr lang="en-US" b="1" dirty="0"/>
              <a:t>multifunctional procurement committee </a:t>
            </a:r>
            <a:r>
              <a:rPr lang="en-US" dirty="0"/>
              <a:t>representing a broad cross-section of interests, for example procurement, engineering, manufacturing, contracts, finance, legal, quality, etc.</a:t>
            </a:r>
          </a:p>
          <a:p>
            <a:pPr algn="just"/>
            <a:r>
              <a:rPr lang="en-US" dirty="0"/>
              <a:t>2. The </a:t>
            </a:r>
            <a:r>
              <a:rPr lang="en-US" b="1" dirty="0"/>
              <a:t>best interests of both partie</a:t>
            </a:r>
            <a:r>
              <a:rPr lang="en-US" dirty="0"/>
              <a:t>s — the project and the seller — should be balanced, and both parties should mutually benefit from the final choice as to the contract type.</a:t>
            </a:r>
          </a:p>
          <a:p>
            <a:pPr algn="just"/>
            <a:r>
              <a:rPr lang="en-US" dirty="0"/>
              <a:t>3. Any contract type </a:t>
            </a:r>
            <a:r>
              <a:rPr lang="en-US" b="1" dirty="0"/>
              <a:t>other than a FFP must be justified </a:t>
            </a:r>
            <a:r>
              <a:rPr lang="en-US" dirty="0"/>
              <a:t>on its own merits, and have a rationale to support the selection of a type other than a FFP.</a:t>
            </a:r>
          </a:p>
          <a:p>
            <a:pPr algn="just"/>
            <a:r>
              <a:rPr lang="en-US" dirty="0"/>
              <a:t>4. However, it should be understood that </a:t>
            </a:r>
            <a:r>
              <a:rPr lang="en-US" b="1" dirty="0"/>
              <a:t>even a FFP type contract can be the wrong type,</a:t>
            </a:r>
            <a:r>
              <a:rPr lang="en-US" dirty="0"/>
              <a:t> whenever there are unknowns in the procurement statement of work and specification, and the potential sellers in any competition are likely to incorporate pricing "contingencies" into their contract proposals, in order to cover the unknown risks.</a:t>
            </a:r>
          </a:p>
        </p:txBody>
      </p:sp>
    </p:spTree>
    <p:extLst>
      <p:ext uri="{BB962C8B-B14F-4D97-AF65-F5344CB8AC3E}">
        <p14:creationId xmlns:p14="http://schemas.microsoft.com/office/powerpoint/2010/main" xmlns="" val="3803057206"/>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2671</TotalTime>
  <Words>2129</Words>
  <Application>Microsoft Office PowerPoint</Application>
  <PresentationFormat>On-screen Show (4:3)</PresentationFormat>
  <Paragraphs>179</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Crop</vt:lpstr>
      <vt:lpstr>Contract Management</vt:lpstr>
      <vt:lpstr>Contract: Definition</vt:lpstr>
      <vt:lpstr>Procurement Contract Choices</vt:lpstr>
      <vt:lpstr>Definitions</vt:lpstr>
      <vt:lpstr>Contract: Definition</vt:lpstr>
      <vt:lpstr>Slide 6</vt:lpstr>
      <vt:lpstr>Comparison Between Fixed-Price and  Cost Type Contracts</vt:lpstr>
      <vt:lpstr>Basic Types of Contracts</vt:lpstr>
      <vt:lpstr>Fixed Price Contracts</vt:lpstr>
      <vt:lpstr>Fixed Price Contract</vt:lpstr>
      <vt:lpstr>Fixed Price Contract</vt:lpstr>
      <vt:lpstr>Cost Reimbursement Contracts</vt:lpstr>
      <vt:lpstr>Time And Materials Contract</vt:lpstr>
      <vt:lpstr>Available Variables in the Contract Types</vt:lpstr>
      <vt:lpstr>Fixed Price Contracts</vt:lpstr>
      <vt:lpstr>Fixed Price Contracts</vt:lpstr>
      <vt:lpstr>1. Firm Fixed-Price Contract (FFP)</vt:lpstr>
      <vt:lpstr>2. Fixed-Price Incentive Fee Contract (FPIF)</vt:lpstr>
      <vt:lpstr>Example of FPIF Contract </vt:lpstr>
      <vt:lpstr>3. Fixed-Price Contracts With Award Fees:</vt:lpstr>
      <vt:lpstr>4. Fixed-Price with Economic Price Adjustment Contracts (FP-EPA)</vt:lpstr>
      <vt:lpstr>Cost Reimbursable Contracts </vt:lpstr>
      <vt:lpstr>Cost Reimbursable Contracts </vt:lpstr>
      <vt:lpstr>Cost Plus Fixed Fee (CPFF):</vt:lpstr>
      <vt:lpstr>Example of CPFF Contract</vt:lpstr>
      <vt:lpstr>Cost Plus Incentive Fee (CPIF):</vt:lpstr>
      <vt:lpstr>Element of CPIF:</vt:lpstr>
      <vt:lpstr>Example of CPIF Contract</vt:lpstr>
      <vt:lpstr>Cost Plus Award Fee (CPAF):</vt:lpstr>
      <vt:lpstr>Slide 30</vt:lpstr>
      <vt:lpstr>Cost Plus a Percentage of Costs Fee |CPPCF):</vt:lpstr>
      <vt:lpstr>Slide 32</vt:lpstr>
      <vt:lpstr>Time and Materials Contracts</vt:lpstr>
      <vt:lpstr>Other Contract Types:</vt:lpstr>
      <vt:lpstr>Some general guidelines for selection of contract type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Toshiba-N</dc:creator>
  <cp:lastModifiedBy>user</cp:lastModifiedBy>
  <cp:revision>57</cp:revision>
  <dcterms:created xsi:type="dcterms:W3CDTF">2017-10-26T11:36:05Z</dcterms:created>
  <dcterms:modified xsi:type="dcterms:W3CDTF">2023-08-18T06:43:17Z</dcterms:modified>
</cp:coreProperties>
</file>