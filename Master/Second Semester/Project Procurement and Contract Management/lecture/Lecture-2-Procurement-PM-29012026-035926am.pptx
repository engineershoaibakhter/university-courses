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Default Extension="vsdx" ContentType="application/vnd.ms-visio.drawing"/>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66" r:id="rId5"/>
    <p:sldId id="259" r:id="rId6"/>
    <p:sldId id="260" r:id="rId7"/>
    <p:sldId id="270" r:id="rId8"/>
    <p:sldId id="262" r:id="rId9"/>
    <p:sldId id="263" r:id="rId10"/>
    <p:sldId id="271" r:id="rId11"/>
    <p:sldId id="264" r:id="rId12"/>
    <p:sldId id="267" r:id="rId13"/>
    <p:sldId id="272" r:id="rId14"/>
    <p:sldId id="265" r:id="rId15"/>
    <p:sldId id="269" r:id="rId16"/>
    <p:sldId id="268"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1201273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691936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3319642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68E0C63-5F52-495D-A94E-0FD5B1F473E8}"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1787973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68E0C63-5F52-495D-A94E-0FD5B1F473E8}" type="datetimeFigureOut">
              <a:rPr lang="en-US" smtClean="0"/>
              <a:pPr/>
              <a:t>8/18/2023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134784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68E0C63-5F52-495D-A94E-0FD5B1F473E8}" type="datetimeFigureOut">
              <a:rPr lang="en-US" smtClean="0"/>
              <a:pPr/>
              <a:t>8/18/2023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32700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8E0C63-5F52-495D-A94E-0FD5B1F473E8}" type="datetimeFigureOut">
              <a:rPr lang="en-US" smtClean="0"/>
              <a:pPr/>
              <a:t>8/18/2023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3820282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8E0C63-5F52-495D-A94E-0FD5B1F473E8}"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392665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8E0C63-5F52-495D-A94E-0FD5B1F473E8}"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984477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8E0C63-5F52-495D-A94E-0FD5B1F473E8}"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1026728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4157182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3963010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708763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68E0C63-5F52-495D-A94E-0FD5B1F473E8}" type="datetimeFigureOut">
              <a:rPr lang="en-US" smtClean="0"/>
              <a:pPr/>
              <a:t>8/18/2023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1887112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68E0C63-5F52-495D-A94E-0FD5B1F473E8}" type="datetimeFigureOut">
              <a:rPr lang="en-US" smtClean="0"/>
              <a:pPr/>
              <a:t>8/18/2023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1821242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36222999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668E0C63-5F52-495D-A94E-0FD5B1F473E8}"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300734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668E0C63-5F52-495D-A94E-0FD5B1F473E8}" type="datetimeFigureOut">
              <a:rPr lang="en-US" smtClean="0"/>
              <a:pPr/>
              <a:t>8/18/2023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7363DDE-1DBD-4D7F-BAF3-6CDD4EB4243D}" type="slidenum">
              <a:rPr lang="en-US" smtClean="0"/>
              <a:pPr/>
              <a:t>‹#›</a:t>
            </a:fld>
            <a:endParaRPr lang="en-US"/>
          </a:p>
        </p:txBody>
      </p:sp>
    </p:spTree>
    <p:extLst>
      <p:ext uri="{BB962C8B-B14F-4D97-AF65-F5344CB8AC3E}">
        <p14:creationId xmlns:p14="http://schemas.microsoft.com/office/powerpoint/2010/main" xmlns="" val="418755079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package" Target="../embeddings/_________Microsoft_Visio1111.vsd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dirty="0">
                <a:latin typeface="Andalus" panose="02020603050405020304" pitchFamily="18" charset="-78"/>
                <a:cs typeface="Andalus" panose="02020603050405020304" pitchFamily="18" charset="-78"/>
              </a:rPr>
              <a:t>Project </a:t>
            </a:r>
            <a:r>
              <a:rPr lang="en-US" sz="5400" dirty="0" smtClean="0">
                <a:latin typeface="Andalus" panose="02020603050405020304" pitchFamily="18" charset="-78"/>
                <a:cs typeface="Andalus" panose="02020603050405020304" pitchFamily="18" charset="-78"/>
              </a:rPr>
              <a:t>Procurement Categories</a:t>
            </a:r>
            <a:endParaRPr lang="en-US" sz="5400" dirty="0">
              <a:latin typeface="Andalus" panose="02020603050405020304" pitchFamily="18" charset="-78"/>
              <a:cs typeface="Andalus" panose="02020603050405020304" pitchFamily="18" charset="-78"/>
            </a:endParaRPr>
          </a:p>
        </p:txBody>
      </p:sp>
      <p:sp>
        <p:nvSpPr>
          <p:cNvPr id="3" name="Subtitle 2"/>
          <p:cNvSpPr>
            <a:spLocks noGrp="1"/>
          </p:cNvSpPr>
          <p:nvPr>
            <p:ph type="subTitle" idx="1"/>
          </p:nvPr>
        </p:nvSpPr>
        <p:spPr/>
        <p:txBody>
          <a:bodyPr/>
          <a:lstStyle/>
          <a:p>
            <a:r>
              <a:rPr lang="en-US" dirty="0" smtClean="0"/>
              <a:t>DR. m </a:t>
            </a:r>
            <a:r>
              <a:rPr lang="en-US" dirty="0" err="1" smtClean="0"/>
              <a:t>asghar</a:t>
            </a:r>
            <a:r>
              <a:rPr lang="en-US" dirty="0" smtClean="0"/>
              <a:t> </a:t>
            </a:r>
            <a:r>
              <a:rPr lang="en-US" smtClean="0"/>
              <a:t>mughal</a:t>
            </a:r>
            <a:endParaRPr lang="en-US" dirty="0"/>
          </a:p>
          <a:p>
            <a:r>
              <a:rPr lang="en-US" dirty="0"/>
              <a:t>Lecture 2</a:t>
            </a:r>
          </a:p>
        </p:txBody>
      </p:sp>
    </p:spTree>
    <p:extLst>
      <p:ext uri="{BB962C8B-B14F-4D97-AF65-F5344CB8AC3E}">
        <p14:creationId xmlns:p14="http://schemas.microsoft.com/office/powerpoint/2010/main" xmlns="" val="2701819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Procurement Categories</a:t>
            </a:r>
          </a:p>
        </p:txBody>
      </p:sp>
      <p:sp>
        <p:nvSpPr>
          <p:cNvPr id="3" name="Content Placeholder 2"/>
          <p:cNvSpPr>
            <a:spLocks noGrp="1"/>
          </p:cNvSpPr>
          <p:nvPr>
            <p:ph idx="1"/>
          </p:nvPr>
        </p:nvSpPr>
        <p:spPr>
          <a:xfrm>
            <a:off x="735060" y="2290527"/>
            <a:ext cx="11016338" cy="4442000"/>
          </a:xfrm>
        </p:spPr>
        <p:txBody>
          <a:bodyPr>
            <a:normAutofit fontScale="92500" lnSpcReduction="10000"/>
          </a:bodyPr>
          <a:lstStyle/>
          <a:p>
            <a:pPr algn="just"/>
            <a:r>
              <a:rPr lang="en-US" sz="2000" dirty="0">
                <a:latin typeface="Andalus" panose="02020603050405020304" pitchFamily="18" charset="-78"/>
                <a:cs typeface="Andalus" panose="02020603050405020304" pitchFamily="18" charset="-78"/>
              </a:rPr>
              <a:t>Why do we need to categorize the projects?</a:t>
            </a:r>
          </a:p>
          <a:p>
            <a:pPr lvl="1" algn="just"/>
            <a:r>
              <a:rPr lang="en-US" sz="1800" dirty="0">
                <a:latin typeface="Andalus" panose="02020603050405020304" pitchFamily="18" charset="-78"/>
                <a:cs typeface="Andalus" panose="02020603050405020304" pitchFamily="18" charset="-78"/>
              </a:rPr>
              <a:t>Every project has a unique nature</a:t>
            </a:r>
          </a:p>
          <a:p>
            <a:pPr lvl="1" algn="just"/>
            <a:r>
              <a:rPr lang="en-US" sz="1800" dirty="0">
                <a:latin typeface="Andalus" panose="02020603050405020304" pitchFamily="18" charset="-78"/>
                <a:cs typeface="Andalus" panose="02020603050405020304" pitchFamily="18" charset="-78"/>
              </a:rPr>
              <a:t>Complexity of project</a:t>
            </a:r>
          </a:p>
          <a:p>
            <a:pPr lvl="1" algn="just"/>
            <a:r>
              <a:rPr lang="en-US" sz="1800" dirty="0">
                <a:latin typeface="Andalus" panose="02020603050405020304" pitchFamily="18" charset="-78"/>
                <a:cs typeface="Andalus" panose="02020603050405020304" pitchFamily="18" charset="-78"/>
              </a:rPr>
              <a:t>Risk associated with projects</a:t>
            </a:r>
          </a:p>
          <a:p>
            <a:pPr lvl="1" algn="just"/>
            <a:r>
              <a:rPr lang="en-US" sz="1800" dirty="0">
                <a:latin typeface="Andalus" panose="02020603050405020304" pitchFamily="18" charset="-78"/>
                <a:cs typeface="Andalus" panose="02020603050405020304" pitchFamily="18" charset="-78"/>
              </a:rPr>
              <a:t>Characters of projects (Schedule, cost, quality) </a:t>
            </a:r>
          </a:p>
          <a:p>
            <a:pPr algn="just"/>
            <a:r>
              <a:rPr lang="en-US" sz="2000" dirty="0">
                <a:latin typeface="Andalus" panose="02020603050405020304" pitchFamily="18" charset="-78"/>
                <a:cs typeface="Andalus" panose="02020603050405020304" pitchFamily="18" charset="-78"/>
              </a:rPr>
              <a:t>Some Projects can be managed by single individual and some requires a team</a:t>
            </a:r>
          </a:p>
          <a:p>
            <a:pPr algn="just"/>
            <a:r>
              <a:rPr lang="en-US" sz="2000" dirty="0">
                <a:latin typeface="Andalus" panose="02020603050405020304" pitchFamily="18" charset="-78"/>
                <a:cs typeface="Andalus" panose="02020603050405020304" pitchFamily="18" charset="-78"/>
              </a:rPr>
              <a:t>Basis of Categorization</a:t>
            </a:r>
          </a:p>
          <a:p>
            <a:pPr lvl="1" algn="just"/>
            <a:r>
              <a:rPr lang="en-US" sz="1800" dirty="0">
                <a:latin typeface="Andalus" panose="02020603050405020304" pitchFamily="18" charset="-78"/>
                <a:cs typeface="Andalus" panose="02020603050405020304" pitchFamily="18" charset="-78"/>
              </a:rPr>
              <a:t>Small or Big (capital problems, time)</a:t>
            </a:r>
          </a:p>
          <a:p>
            <a:pPr lvl="1" algn="just"/>
            <a:r>
              <a:rPr lang="en-US" sz="1800" dirty="0">
                <a:latin typeface="Andalus" panose="02020603050405020304" pitchFamily="18" charset="-78"/>
                <a:cs typeface="Andalus" panose="02020603050405020304" pitchFamily="18" charset="-78"/>
              </a:rPr>
              <a:t>Simple or Complex (team of specialists)</a:t>
            </a:r>
          </a:p>
          <a:p>
            <a:pPr lvl="1" algn="just"/>
            <a:r>
              <a:rPr lang="en-US" sz="1800" dirty="0">
                <a:latin typeface="Andalus" panose="02020603050405020304" pitchFamily="18" charset="-78"/>
                <a:cs typeface="Andalus" panose="02020603050405020304" pitchFamily="18" charset="-78"/>
              </a:rPr>
              <a:t>High risks or minimal</a:t>
            </a:r>
          </a:p>
          <a:p>
            <a:pPr lvl="1" algn="just"/>
            <a:r>
              <a:rPr lang="en-US" sz="1800" dirty="0">
                <a:latin typeface="Andalus" panose="02020603050405020304" pitchFamily="18" charset="-78"/>
                <a:cs typeface="Andalus" panose="02020603050405020304" pitchFamily="18" charset="-78"/>
              </a:rPr>
              <a:t>Unique characteristics</a:t>
            </a:r>
          </a:p>
          <a:p>
            <a:pPr lvl="1" algn="just"/>
            <a:r>
              <a:rPr lang="en-US" sz="1800" dirty="0">
                <a:latin typeface="Andalus" panose="02020603050405020304" pitchFamily="18" charset="-78"/>
                <a:cs typeface="Andalus" panose="02020603050405020304" pitchFamily="18" charset="-78"/>
              </a:rPr>
              <a:t>Off the shelf or manufacture</a:t>
            </a:r>
          </a:p>
          <a:p>
            <a:pPr lvl="1" algn="just"/>
            <a:endParaRPr lang="en-US"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2418948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949817"/>
          </a:xfrm>
        </p:spPr>
        <p:txBody>
          <a:bodyPr/>
          <a:lstStyle/>
          <a:p>
            <a:r>
              <a:rPr lang="en-US" dirty="0">
                <a:latin typeface="Andalus" panose="02020603050405020304" pitchFamily="18" charset="-78"/>
                <a:cs typeface="Andalus" panose="02020603050405020304" pitchFamily="18" charset="-78"/>
              </a:rPr>
              <a:t>Categories </a:t>
            </a:r>
          </a:p>
        </p:txBody>
      </p:sp>
      <p:sp>
        <p:nvSpPr>
          <p:cNvPr id="3" name="Content Placeholder 2"/>
          <p:cNvSpPr>
            <a:spLocks noGrp="1"/>
          </p:cNvSpPr>
          <p:nvPr>
            <p:ph idx="1"/>
          </p:nvPr>
        </p:nvSpPr>
        <p:spPr/>
        <p:txBody>
          <a:bodyPr/>
          <a:lstStyle/>
          <a:p>
            <a:pPr marL="457200" indent="-457200" algn="just">
              <a:buFont typeface="+mj-lt"/>
              <a:buAutoNum type="arabicPeriod"/>
            </a:pPr>
            <a:r>
              <a:rPr lang="en-US" dirty="0">
                <a:latin typeface="Andalus" panose="02020603050405020304" pitchFamily="18" charset="-78"/>
                <a:cs typeface="Andalus" panose="02020603050405020304" pitchFamily="18" charset="-78"/>
              </a:rPr>
              <a:t>Major (high risk) complexity procurements</a:t>
            </a:r>
          </a:p>
          <a:p>
            <a:pPr marL="457200" indent="-457200" algn="just">
              <a:buFont typeface="+mj-lt"/>
              <a:buAutoNum type="arabicPeriod"/>
            </a:pPr>
            <a:r>
              <a:rPr lang="en-US" dirty="0">
                <a:latin typeface="Andalus" panose="02020603050405020304" pitchFamily="18" charset="-78"/>
                <a:cs typeface="Andalus" panose="02020603050405020304" pitchFamily="18" charset="-78"/>
              </a:rPr>
              <a:t>Minor (low risk) complexity procurements</a:t>
            </a:r>
          </a:p>
          <a:p>
            <a:pPr marL="457200" indent="-457200" algn="just">
              <a:buFont typeface="+mj-lt"/>
              <a:buAutoNum type="arabicPeriod"/>
            </a:pPr>
            <a:r>
              <a:rPr lang="en-US" dirty="0">
                <a:latin typeface="Andalus" panose="02020603050405020304" pitchFamily="18" charset="-78"/>
                <a:cs typeface="Andalus" panose="02020603050405020304" pitchFamily="18" charset="-78"/>
              </a:rPr>
              <a:t>COTS (Commercial Off-The Shelf)</a:t>
            </a:r>
          </a:p>
          <a:p>
            <a:pPr algn="just"/>
            <a:r>
              <a:rPr lang="en-US" dirty="0">
                <a:latin typeface="Andalus" panose="02020603050405020304" pitchFamily="18" charset="-78"/>
                <a:cs typeface="Andalus" panose="02020603050405020304" pitchFamily="18" charset="-78"/>
              </a:rPr>
              <a:t>Special procurements</a:t>
            </a:r>
          </a:p>
          <a:p>
            <a:pPr lvl="1" algn="just"/>
            <a:r>
              <a:rPr lang="en-US" dirty="0">
                <a:latin typeface="Andalus" panose="02020603050405020304" pitchFamily="18" charset="-78"/>
                <a:cs typeface="Andalus" panose="02020603050405020304" pitchFamily="18" charset="-78"/>
              </a:rPr>
              <a:t>Teaming arrangements.</a:t>
            </a:r>
          </a:p>
          <a:p>
            <a:pPr lvl="1" algn="just"/>
            <a:r>
              <a:rPr lang="en-US" dirty="0">
                <a:latin typeface="Andalus" panose="02020603050405020304" pitchFamily="18" charset="-78"/>
                <a:cs typeface="Andalus" panose="02020603050405020304" pitchFamily="18" charset="-78"/>
              </a:rPr>
              <a:t>Interdivisional work.</a:t>
            </a:r>
          </a:p>
        </p:txBody>
      </p:sp>
    </p:spTree>
    <p:extLst>
      <p:ext uri="{BB962C8B-B14F-4D97-AF65-F5344CB8AC3E}">
        <p14:creationId xmlns:p14="http://schemas.microsoft.com/office/powerpoint/2010/main" xmlns="" val="217697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xmlns="" val="966667330"/>
              </p:ext>
            </p:extLst>
          </p:nvPr>
        </p:nvGraphicFramePr>
        <p:xfrm>
          <a:off x="3027460" y="579459"/>
          <a:ext cx="6973686" cy="6278541"/>
        </p:xfrm>
        <a:graphic>
          <a:graphicData uri="http://schemas.openxmlformats.org/presentationml/2006/ole">
            <p:oleObj spid="_x0000_s1045" name="Visio" r:id="rId3" imgW="7534364" imgH="6734132" progId="">
              <p:embed/>
            </p:oleObj>
          </a:graphicData>
        </a:graphic>
      </p:graphicFrame>
      <p:sp>
        <p:nvSpPr>
          <p:cNvPr id="8" name="Left Brace 7"/>
          <p:cNvSpPr/>
          <p:nvPr/>
        </p:nvSpPr>
        <p:spPr>
          <a:xfrm>
            <a:off x="4997003" y="2833352"/>
            <a:ext cx="103031" cy="3361386"/>
          </a:xfrm>
          <a:prstGeom prst="leftBrace">
            <a:avLst/>
          </a:prstGeom>
          <a:solidFill>
            <a:schemeClr val="tx1"/>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3342711" y="4190879"/>
            <a:ext cx="1564139" cy="1077218"/>
          </a:xfrm>
          <a:prstGeom prst="rect">
            <a:avLst/>
          </a:prstGeom>
          <a:noFill/>
        </p:spPr>
        <p:txBody>
          <a:bodyPr wrap="square" rtlCol="0">
            <a:spAutoFit/>
          </a:bodyPr>
          <a:lstStyle/>
          <a:p>
            <a:r>
              <a:rPr lang="en-US" sz="1600" b="1" u="sng" dirty="0" smtClean="0"/>
              <a:t>Three Generic Procurement Categories </a:t>
            </a:r>
            <a:endParaRPr lang="en-US" sz="1600" b="1" u="sng" dirty="0"/>
          </a:p>
        </p:txBody>
      </p:sp>
      <p:sp>
        <p:nvSpPr>
          <p:cNvPr id="10" name="TextBox 9"/>
          <p:cNvSpPr txBox="1"/>
          <p:nvPr/>
        </p:nvSpPr>
        <p:spPr>
          <a:xfrm>
            <a:off x="10019763" y="4221657"/>
            <a:ext cx="1700011" cy="830997"/>
          </a:xfrm>
          <a:prstGeom prst="rect">
            <a:avLst/>
          </a:prstGeom>
          <a:noFill/>
        </p:spPr>
        <p:txBody>
          <a:bodyPr wrap="square" rtlCol="0">
            <a:spAutoFit/>
          </a:bodyPr>
          <a:lstStyle/>
          <a:p>
            <a:r>
              <a:rPr lang="en-US" sz="1600" b="1" u="sng" dirty="0" smtClean="0"/>
              <a:t>Two Special Procurement Relationships</a:t>
            </a:r>
            <a:endParaRPr lang="en-US" sz="1600" b="1" u="sng" dirty="0"/>
          </a:p>
        </p:txBody>
      </p:sp>
      <p:sp>
        <p:nvSpPr>
          <p:cNvPr id="11" name="Right Brace 10"/>
          <p:cNvSpPr/>
          <p:nvPr/>
        </p:nvSpPr>
        <p:spPr>
          <a:xfrm>
            <a:off x="10019763" y="2833352"/>
            <a:ext cx="45719" cy="3361386"/>
          </a:xfrm>
          <a:prstGeom prst="rightBrace">
            <a:avLst/>
          </a:prstGeom>
          <a:solidFill>
            <a:schemeClr val="tx1"/>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itle 1"/>
          <p:cNvSpPr>
            <a:spLocks noGrp="1"/>
          </p:cNvSpPr>
          <p:nvPr>
            <p:ph type="title"/>
          </p:nvPr>
        </p:nvSpPr>
        <p:spPr>
          <a:xfrm>
            <a:off x="1413680" y="263212"/>
            <a:ext cx="2904186" cy="934524"/>
          </a:xfrm>
        </p:spPr>
        <p:txBody>
          <a:bodyPr/>
          <a:lstStyle/>
          <a:p>
            <a:r>
              <a:rPr lang="en-US" u="sng" dirty="0">
                <a:latin typeface="Andalus" panose="02020603050405020304" pitchFamily="18" charset="-78"/>
                <a:cs typeface="Andalus" panose="02020603050405020304" pitchFamily="18" charset="-78"/>
              </a:rPr>
              <a:t>Categories </a:t>
            </a:r>
          </a:p>
        </p:txBody>
      </p:sp>
    </p:spTree>
    <p:extLst>
      <p:ext uri="{BB962C8B-B14F-4D97-AF65-F5344CB8AC3E}">
        <p14:creationId xmlns:p14="http://schemas.microsoft.com/office/powerpoint/2010/main" xmlns="" val="3847492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Major (high risk) complexity procurements</a:t>
            </a:r>
          </a:p>
        </p:txBody>
      </p:sp>
      <p:sp>
        <p:nvSpPr>
          <p:cNvPr id="3" name="Content Placeholder 2"/>
          <p:cNvSpPr>
            <a:spLocks noGrp="1"/>
          </p:cNvSpPr>
          <p:nvPr>
            <p:ph idx="1"/>
          </p:nvPr>
        </p:nvSpPr>
        <p:spPr/>
        <p:txBody>
          <a:bodyPr/>
          <a:lstStyle/>
          <a:p>
            <a:pPr algn="just"/>
            <a:r>
              <a:rPr lang="en-US" dirty="0">
                <a:latin typeface="Andalus" panose="02020603050405020304" pitchFamily="18" charset="-78"/>
                <a:cs typeface="Andalus" panose="02020603050405020304" pitchFamily="18" charset="-78"/>
              </a:rPr>
              <a:t>They often require something new from seller, that might not exist </a:t>
            </a:r>
            <a:r>
              <a:rPr lang="en-US" dirty="0" err="1">
                <a:latin typeface="Andalus" panose="02020603050405020304" pitchFamily="18" charset="-78"/>
                <a:cs typeface="Andalus" panose="02020603050405020304" pitchFamily="18" charset="-78"/>
              </a:rPr>
              <a:t>e.g</a:t>
            </a:r>
            <a:r>
              <a:rPr lang="en-US" dirty="0">
                <a:latin typeface="Andalus" panose="02020603050405020304" pitchFamily="18" charset="-78"/>
                <a:cs typeface="Andalus" panose="02020603050405020304" pitchFamily="18" charset="-78"/>
              </a:rPr>
              <a:t> new software system, new product design, new construction tools.</a:t>
            </a:r>
          </a:p>
          <a:p>
            <a:pPr algn="just"/>
            <a:r>
              <a:rPr lang="en-US" dirty="0">
                <a:latin typeface="Andalus" panose="02020603050405020304" pitchFamily="18" charset="-78"/>
                <a:cs typeface="Andalus" panose="02020603050405020304" pitchFamily="18" charset="-78"/>
              </a:rPr>
              <a:t>They represent high risks to the project's technical, quality, costs, and schedule.</a:t>
            </a:r>
          </a:p>
          <a:p>
            <a:pPr algn="just"/>
            <a:r>
              <a:rPr lang="en-US" dirty="0">
                <a:latin typeface="Andalus" panose="02020603050405020304" pitchFamily="18" charset="-78"/>
                <a:cs typeface="Andalus" panose="02020603050405020304" pitchFamily="18" charset="-78"/>
              </a:rPr>
              <a:t>long-term relationship being created between a company (project buyer) and a supplier (seller).</a:t>
            </a:r>
          </a:p>
          <a:p>
            <a:pPr algn="just"/>
            <a:r>
              <a:rPr lang="en-US" dirty="0">
                <a:latin typeface="Andalus" panose="02020603050405020304" pitchFamily="18" charset="-78"/>
                <a:cs typeface="Andalus" panose="02020603050405020304" pitchFamily="18" charset="-78"/>
              </a:rPr>
              <a:t>Early identification of these procurements will be critical to any project in order to adequately plan and organize for them.</a:t>
            </a:r>
          </a:p>
          <a:p>
            <a:pPr algn="just"/>
            <a:endParaRPr lang="en-US"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2344010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Major (high risk) complexity procurements</a:t>
            </a:r>
            <a:endParaRPr lang="en-US" dirty="0"/>
          </a:p>
        </p:txBody>
      </p:sp>
      <p:sp>
        <p:nvSpPr>
          <p:cNvPr id="3" name="Content Placeholder 2"/>
          <p:cNvSpPr>
            <a:spLocks noGrp="1"/>
          </p:cNvSpPr>
          <p:nvPr>
            <p:ph idx="1"/>
          </p:nvPr>
        </p:nvSpPr>
        <p:spPr/>
        <p:txBody>
          <a:bodyPr>
            <a:normAutofit fontScale="92500" lnSpcReduction="10000"/>
          </a:bodyPr>
          <a:lstStyle/>
          <a:p>
            <a:r>
              <a:rPr lang="en-US" dirty="0">
                <a:latin typeface="Andalus" panose="02020603050405020304" pitchFamily="18" charset="-78"/>
                <a:cs typeface="Andalus" panose="02020603050405020304" pitchFamily="18" charset="-78"/>
              </a:rPr>
              <a:t>Characteristics of Major </a:t>
            </a:r>
            <a:r>
              <a:rPr lang="en-US" dirty="0" smtClean="0">
                <a:latin typeface="Andalus" panose="02020603050405020304" pitchFamily="18" charset="-78"/>
                <a:cs typeface="Andalus" panose="02020603050405020304" pitchFamily="18" charset="-78"/>
              </a:rPr>
              <a:t>Complex Procurements</a:t>
            </a:r>
            <a:endParaRPr lang="en-US" dirty="0">
              <a:latin typeface="Andalus" panose="02020603050405020304" pitchFamily="18" charset="-78"/>
              <a:cs typeface="Andalus" panose="02020603050405020304" pitchFamily="18" charset="-78"/>
            </a:endParaRPr>
          </a:p>
          <a:p>
            <a:pPr lvl="1"/>
            <a:r>
              <a:rPr lang="en-US" dirty="0">
                <a:latin typeface="Andalus" panose="02020603050405020304" pitchFamily="18" charset="-78"/>
                <a:cs typeface="Andalus" panose="02020603050405020304" pitchFamily="18" charset="-78"/>
              </a:rPr>
              <a:t>A new Product or system</a:t>
            </a:r>
          </a:p>
          <a:p>
            <a:pPr lvl="1"/>
            <a:r>
              <a:rPr lang="en-US" dirty="0">
                <a:latin typeface="Andalus" panose="02020603050405020304" pitchFamily="18" charset="-78"/>
                <a:cs typeface="Andalus" panose="02020603050405020304" pitchFamily="18" charset="-78"/>
              </a:rPr>
              <a:t>High cost</a:t>
            </a:r>
          </a:p>
          <a:p>
            <a:pPr lvl="1"/>
            <a:r>
              <a:rPr lang="en-US" dirty="0">
                <a:latin typeface="Andalus" panose="02020603050405020304" pitchFamily="18" charset="-78"/>
                <a:cs typeface="Andalus" panose="02020603050405020304" pitchFamily="18" charset="-78"/>
              </a:rPr>
              <a:t>Demands quality to have competitive edge</a:t>
            </a:r>
          </a:p>
          <a:p>
            <a:pPr lvl="1"/>
            <a:r>
              <a:rPr lang="en-US" dirty="0">
                <a:latin typeface="Andalus" panose="02020603050405020304" pitchFamily="18" charset="-78"/>
                <a:cs typeface="Andalus" panose="02020603050405020304" pitchFamily="18" charset="-78"/>
              </a:rPr>
              <a:t>High risk to overall project</a:t>
            </a:r>
          </a:p>
          <a:p>
            <a:pPr lvl="1"/>
            <a:r>
              <a:rPr lang="en-US" dirty="0">
                <a:latin typeface="Andalus" panose="02020603050405020304" pitchFamily="18" charset="-78"/>
                <a:cs typeface="Andalus" panose="02020603050405020304" pitchFamily="18" charset="-78"/>
              </a:rPr>
              <a:t>Long-term relationship</a:t>
            </a:r>
          </a:p>
          <a:p>
            <a:pPr lvl="1"/>
            <a:r>
              <a:rPr lang="en-US" dirty="0">
                <a:latin typeface="Andalus" panose="02020603050405020304" pitchFamily="18" charset="-78"/>
                <a:cs typeface="Andalus" panose="02020603050405020304" pitchFamily="18" charset="-78"/>
              </a:rPr>
              <a:t>Uncontrol growth in project scope “SCOPE CREEP”</a:t>
            </a:r>
          </a:p>
          <a:p>
            <a:r>
              <a:rPr lang="en-US" dirty="0">
                <a:latin typeface="Andalus" panose="02020603050405020304" pitchFamily="18" charset="-78"/>
                <a:cs typeface="Andalus" panose="02020603050405020304" pitchFamily="18" charset="-78"/>
              </a:rPr>
              <a:t>Managing Major </a:t>
            </a:r>
            <a:r>
              <a:rPr lang="en-US" dirty="0" smtClean="0">
                <a:latin typeface="Andalus" panose="02020603050405020304" pitchFamily="18" charset="-78"/>
                <a:cs typeface="Andalus" panose="02020603050405020304" pitchFamily="18" charset="-78"/>
              </a:rPr>
              <a:t>Complex Procurements</a:t>
            </a:r>
            <a:endParaRPr lang="en-US" dirty="0">
              <a:latin typeface="Andalus" panose="02020603050405020304" pitchFamily="18" charset="-78"/>
              <a:cs typeface="Andalus" panose="02020603050405020304" pitchFamily="18" charset="-78"/>
            </a:endParaRPr>
          </a:p>
          <a:p>
            <a:pPr lvl="1"/>
            <a:r>
              <a:rPr lang="en-US" dirty="0">
                <a:latin typeface="Andalus" panose="02020603050405020304" pitchFamily="18" charset="-78"/>
                <a:cs typeface="Andalus" panose="02020603050405020304" pitchFamily="18" charset="-78"/>
              </a:rPr>
              <a:t>“Integrated project team" approach</a:t>
            </a:r>
          </a:p>
          <a:p>
            <a:pPr lvl="1"/>
            <a:r>
              <a:rPr lang="en-US" dirty="0">
                <a:latin typeface="Andalus" panose="02020603050405020304" pitchFamily="18" charset="-78"/>
                <a:cs typeface="Andalus" panose="02020603050405020304" pitchFamily="18" charset="-78"/>
              </a:rPr>
              <a:t>Sub-Projects to total project</a:t>
            </a:r>
          </a:p>
          <a:p>
            <a:pPr lvl="1"/>
            <a:endParaRPr lang="en-US" dirty="0">
              <a:latin typeface="Andalus" panose="02020603050405020304" pitchFamily="18" charset="-78"/>
              <a:cs typeface="Andalus" panose="02020603050405020304" pitchFamily="18" charset="-78"/>
            </a:endParaRPr>
          </a:p>
          <a:p>
            <a:endParaRPr lang="en-US" dirty="0"/>
          </a:p>
          <a:p>
            <a:endParaRPr lang="en-US" dirty="0"/>
          </a:p>
        </p:txBody>
      </p:sp>
    </p:spTree>
    <p:extLst>
      <p:ext uri="{BB962C8B-B14F-4D97-AF65-F5344CB8AC3E}">
        <p14:creationId xmlns:p14="http://schemas.microsoft.com/office/powerpoint/2010/main" xmlns="" val="186605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Major Complex Procurements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Some examples of these kinds of procurements would be:</a:t>
            </a:r>
          </a:p>
          <a:p>
            <a:r>
              <a:rPr lang="en-US" dirty="0" smtClean="0"/>
              <a:t>The </a:t>
            </a:r>
            <a:r>
              <a:rPr lang="en-US" dirty="0"/>
              <a:t>architectural design of a new commercial center.</a:t>
            </a:r>
          </a:p>
          <a:p>
            <a:r>
              <a:rPr lang="en-US" dirty="0" smtClean="0"/>
              <a:t>The </a:t>
            </a:r>
            <a:r>
              <a:rPr lang="en-US" dirty="0"/>
              <a:t>construction of a new production factory.</a:t>
            </a:r>
          </a:p>
          <a:p>
            <a:r>
              <a:rPr lang="en-US" dirty="0" smtClean="0"/>
              <a:t>The </a:t>
            </a:r>
            <a:r>
              <a:rPr lang="en-US" dirty="0"/>
              <a:t>outsourcing of information technology services.</a:t>
            </a:r>
          </a:p>
          <a:p>
            <a:r>
              <a:rPr lang="en-US" dirty="0" smtClean="0"/>
              <a:t>The </a:t>
            </a:r>
            <a:r>
              <a:rPr lang="en-US" dirty="0"/>
              <a:t>creation of a new software package.</a:t>
            </a:r>
          </a:p>
          <a:p>
            <a:r>
              <a:rPr lang="en-US" dirty="0" smtClean="0"/>
              <a:t>The </a:t>
            </a:r>
            <a:r>
              <a:rPr lang="en-US" dirty="0"/>
              <a:t>development of a new computer.</a:t>
            </a:r>
          </a:p>
          <a:p>
            <a:r>
              <a:rPr lang="en-US" dirty="0" smtClean="0"/>
              <a:t>The </a:t>
            </a:r>
            <a:r>
              <a:rPr lang="en-US" dirty="0"/>
              <a:t>development of a new airplane.</a:t>
            </a:r>
          </a:p>
          <a:p>
            <a:r>
              <a:rPr lang="en-US" dirty="0" smtClean="0"/>
              <a:t> </a:t>
            </a:r>
            <a:r>
              <a:rPr lang="en-US" dirty="0"/>
              <a:t>The development of a new radar system, or any critical </a:t>
            </a:r>
            <a:r>
              <a:rPr lang="en-US" dirty="0" smtClean="0"/>
              <a:t>project component</a:t>
            </a:r>
            <a:r>
              <a:rPr lang="en-US" dirty="0"/>
              <a:t>.</a:t>
            </a:r>
          </a:p>
        </p:txBody>
      </p:sp>
    </p:spTree>
    <p:extLst>
      <p:ext uri="{BB962C8B-B14F-4D97-AF65-F5344CB8AC3E}">
        <p14:creationId xmlns:p14="http://schemas.microsoft.com/office/powerpoint/2010/main" xmlns="" val="2086327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Minor (low-risk) Complexity Procurements</a:t>
            </a:r>
          </a:p>
        </p:txBody>
      </p:sp>
      <p:sp>
        <p:nvSpPr>
          <p:cNvPr id="3" name="Content Placeholder 2"/>
          <p:cNvSpPr>
            <a:spLocks noGrp="1"/>
          </p:cNvSpPr>
          <p:nvPr>
            <p:ph idx="1"/>
          </p:nvPr>
        </p:nvSpPr>
        <p:spPr/>
        <p:txBody>
          <a:bodyPr>
            <a:normAutofit/>
          </a:bodyPr>
          <a:lstStyle/>
          <a:p>
            <a:pPr algn="just"/>
            <a:r>
              <a:rPr lang="en-US" dirty="0">
                <a:latin typeface="Andalus" panose="02020603050405020304" pitchFamily="18" charset="-78"/>
                <a:cs typeface="Andalus" panose="02020603050405020304" pitchFamily="18" charset="-78"/>
              </a:rPr>
              <a:t>Minor procurements are those that exist in some form with a given seller and are defined by seller’s own product specification, they do not require creation of something new.</a:t>
            </a:r>
          </a:p>
          <a:p>
            <a:pPr algn="just"/>
            <a:r>
              <a:rPr lang="en-US" dirty="0">
                <a:latin typeface="Andalus" panose="02020603050405020304" pitchFamily="18" charset="-78"/>
                <a:cs typeface="Andalus" panose="02020603050405020304" pitchFamily="18" charset="-78"/>
              </a:rPr>
              <a:t>The articles are generally bought without modifications to the seller's product, or perhaps with only minimal modifications.</a:t>
            </a:r>
          </a:p>
          <a:p>
            <a:pPr algn="just"/>
            <a:r>
              <a:rPr lang="en-US" dirty="0">
                <a:latin typeface="Andalus" panose="02020603050405020304" pitchFamily="18" charset="-78"/>
                <a:cs typeface="Andalus" panose="02020603050405020304" pitchFamily="18" charset="-78"/>
              </a:rPr>
              <a:t>These items will often carry a high monetary value.</a:t>
            </a:r>
          </a:p>
          <a:p>
            <a:pPr algn="just"/>
            <a:r>
              <a:rPr lang="en-US" dirty="0">
                <a:latin typeface="Andalus" panose="02020603050405020304" pitchFamily="18" charset="-78"/>
                <a:cs typeface="Andalus" panose="02020603050405020304" pitchFamily="18" charset="-78"/>
              </a:rPr>
              <a:t>These Procurements could also be the next stage of Major CP’s where Buyer and seller engage again in procurement of articles as a result of Long-term relationship.</a:t>
            </a:r>
          </a:p>
          <a:p>
            <a:pPr algn="just"/>
            <a:r>
              <a:rPr lang="en-US" dirty="0">
                <a:latin typeface="Andalus" panose="02020603050405020304" pitchFamily="18" charset="-78"/>
                <a:cs typeface="Andalus" panose="02020603050405020304" pitchFamily="18" charset="-78"/>
              </a:rPr>
              <a:t>For Example: Purchase of existing software system, existing product design, existing construction tools etc. </a:t>
            </a:r>
          </a:p>
          <a:p>
            <a:pPr algn="just"/>
            <a:endParaRPr lang="en-US" dirty="0">
              <a:latin typeface="Andalus" panose="02020603050405020304" pitchFamily="18" charset="-78"/>
              <a:cs typeface="Andalus" panose="02020603050405020304" pitchFamily="18" charset="-78"/>
            </a:endParaRPr>
          </a:p>
          <a:p>
            <a:pPr algn="just"/>
            <a:endParaRPr lang="en-US" dirty="0">
              <a:latin typeface="Andalus" panose="02020603050405020304" pitchFamily="18" charset="-78"/>
              <a:cs typeface="Andalus" panose="02020603050405020304" pitchFamily="18" charset="-78"/>
            </a:endParaRPr>
          </a:p>
          <a:p>
            <a:endParaRPr lang="en-US" dirty="0"/>
          </a:p>
          <a:p>
            <a:pPr marL="0" indent="0">
              <a:buNone/>
            </a:pPr>
            <a:endParaRPr lang="en-US" dirty="0"/>
          </a:p>
        </p:txBody>
      </p:sp>
    </p:spTree>
    <p:extLst>
      <p:ext uri="{BB962C8B-B14F-4D97-AF65-F5344CB8AC3E}">
        <p14:creationId xmlns:p14="http://schemas.microsoft.com/office/powerpoint/2010/main" xmlns="" val="792993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Minor (low-risk) Complexity Procurements</a:t>
            </a:r>
            <a:endParaRPr lang="en-US" dirty="0"/>
          </a:p>
        </p:txBody>
      </p:sp>
      <p:sp>
        <p:nvSpPr>
          <p:cNvPr id="3" name="Content Placeholder 2"/>
          <p:cNvSpPr>
            <a:spLocks noGrp="1"/>
          </p:cNvSpPr>
          <p:nvPr>
            <p:ph idx="1"/>
          </p:nvPr>
        </p:nvSpPr>
        <p:spPr/>
        <p:txBody>
          <a:bodyPr>
            <a:normAutofit/>
          </a:bodyPr>
          <a:lstStyle/>
          <a:p>
            <a:r>
              <a:rPr lang="en-US" dirty="0">
                <a:latin typeface="Andalus" panose="02020603050405020304" pitchFamily="18" charset="-78"/>
                <a:cs typeface="Andalus" panose="02020603050405020304" pitchFamily="18" charset="-78"/>
              </a:rPr>
              <a:t>Characteristics of Minor </a:t>
            </a:r>
            <a:r>
              <a:rPr lang="en-US" dirty="0" smtClean="0">
                <a:latin typeface="Andalus" panose="02020603050405020304" pitchFamily="18" charset="-78"/>
                <a:cs typeface="Andalus" panose="02020603050405020304" pitchFamily="18" charset="-78"/>
              </a:rPr>
              <a:t>Complex Procurements</a:t>
            </a:r>
            <a:endParaRPr lang="en-US" dirty="0">
              <a:latin typeface="Andalus" panose="02020603050405020304" pitchFamily="18" charset="-78"/>
              <a:cs typeface="Andalus" panose="02020603050405020304" pitchFamily="18" charset="-78"/>
            </a:endParaRPr>
          </a:p>
          <a:p>
            <a:pPr lvl="1"/>
            <a:r>
              <a:rPr lang="en-US" dirty="0">
                <a:latin typeface="Andalus" panose="02020603050405020304" pitchFamily="18" charset="-78"/>
                <a:cs typeface="Andalus" panose="02020603050405020304" pitchFamily="18" charset="-78"/>
              </a:rPr>
              <a:t>Low risk</a:t>
            </a:r>
          </a:p>
          <a:p>
            <a:pPr lvl="1"/>
            <a:r>
              <a:rPr lang="en-US" dirty="0">
                <a:latin typeface="Andalus" panose="02020603050405020304" pitchFamily="18" charset="-78"/>
                <a:cs typeface="Andalus" panose="02020603050405020304" pitchFamily="18" charset="-78"/>
              </a:rPr>
              <a:t>High cost</a:t>
            </a:r>
          </a:p>
          <a:p>
            <a:pPr lvl="1"/>
            <a:r>
              <a:rPr lang="en-US" dirty="0">
                <a:latin typeface="Andalus" panose="02020603050405020304" pitchFamily="18" charset="-78"/>
                <a:cs typeface="Andalus" panose="02020603050405020304" pitchFamily="18" charset="-78"/>
              </a:rPr>
              <a:t>Tight schedule</a:t>
            </a:r>
          </a:p>
          <a:p>
            <a:pPr lvl="1"/>
            <a:r>
              <a:rPr lang="en-US" dirty="0">
                <a:latin typeface="Andalus" panose="02020603050405020304" pitchFamily="18" charset="-78"/>
                <a:cs typeface="Andalus" panose="02020603050405020304" pitchFamily="18" charset="-78"/>
              </a:rPr>
              <a:t>Same product or little modifications</a:t>
            </a:r>
          </a:p>
          <a:p>
            <a:pPr lvl="1"/>
            <a:r>
              <a:rPr lang="en-US" dirty="0">
                <a:latin typeface="Andalus" panose="02020603050405020304" pitchFamily="18" charset="-78"/>
                <a:cs typeface="Andalus" panose="02020603050405020304" pitchFamily="18" charset="-78"/>
              </a:rPr>
              <a:t>Maintaining the quality/specifications</a:t>
            </a:r>
          </a:p>
          <a:p>
            <a:r>
              <a:rPr lang="en-US" dirty="0">
                <a:latin typeface="Andalus" panose="02020603050405020304" pitchFamily="18" charset="-78"/>
                <a:cs typeface="Andalus" panose="02020603050405020304" pitchFamily="18" charset="-78"/>
              </a:rPr>
              <a:t>Managing minor </a:t>
            </a:r>
            <a:r>
              <a:rPr lang="en-US" dirty="0" smtClean="0">
                <a:latin typeface="Andalus" panose="02020603050405020304" pitchFamily="18" charset="-78"/>
                <a:cs typeface="Andalus" panose="02020603050405020304" pitchFamily="18" charset="-78"/>
              </a:rPr>
              <a:t>Complex Procurements</a:t>
            </a:r>
            <a:endParaRPr lang="en-US" dirty="0">
              <a:latin typeface="Andalus" panose="02020603050405020304" pitchFamily="18" charset="-78"/>
              <a:cs typeface="Andalus" panose="02020603050405020304" pitchFamily="18" charset="-78"/>
            </a:endParaRPr>
          </a:p>
          <a:p>
            <a:pPr lvl="1"/>
            <a:r>
              <a:rPr lang="en-US" dirty="0">
                <a:latin typeface="Andalus" panose="02020603050405020304" pitchFamily="18" charset="-78"/>
                <a:cs typeface="Andalus" panose="02020603050405020304" pitchFamily="18" charset="-78"/>
              </a:rPr>
              <a:t>Scheduling time to meet the deadlines</a:t>
            </a:r>
          </a:p>
          <a:p>
            <a:pPr lvl="1"/>
            <a:r>
              <a:rPr lang="en-US" dirty="0">
                <a:latin typeface="Andalus" panose="02020603050405020304" pitchFamily="18" charset="-78"/>
                <a:cs typeface="Andalus" panose="02020603050405020304" pitchFamily="18" charset="-78"/>
              </a:rPr>
              <a:t>Budgeting funds to acquire products</a:t>
            </a:r>
          </a:p>
          <a:p>
            <a:endParaRPr lang="en-US" dirty="0"/>
          </a:p>
        </p:txBody>
      </p:sp>
    </p:spTree>
    <p:extLst>
      <p:ext uri="{BB962C8B-B14F-4D97-AF65-F5344CB8AC3E}">
        <p14:creationId xmlns:p14="http://schemas.microsoft.com/office/powerpoint/2010/main" xmlns="" val="1957185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Minor Complex procurement</a:t>
            </a:r>
            <a:endParaRPr lang="en-US" dirty="0"/>
          </a:p>
        </p:txBody>
      </p:sp>
      <p:sp>
        <p:nvSpPr>
          <p:cNvPr id="3" name="Content Placeholder 2"/>
          <p:cNvSpPr>
            <a:spLocks noGrp="1"/>
          </p:cNvSpPr>
          <p:nvPr>
            <p:ph idx="1"/>
          </p:nvPr>
        </p:nvSpPr>
        <p:spPr/>
        <p:txBody>
          <a:bodyPr/>
          <a:lstStyle/>
          <a:p>
            <a:r>
              <a:rPr lang="en-US" dirty="0"/>
              <a:t>The purchase of existing automobiles, buses, </a:t>
            </a:r>
            <a:r>
              <a:rPr lang="en-US" dirty="0" smtClean="0"/>
              <a:t>transportation vehicles </a:t>
            </a:r>
            <a:r>
              <a:rPr lang="en-US" dirty="0"/>
              <a:t>or perhaps aircraft. </a:t>
            </a:r>
            <a:endParaRPr lang="en-US" i="1" dirty="0"/>
          </a:p>
          <a:p>
            <a:r>
              <a:rPr lang="en-US" dirty="0" smtClean="0"/>
              <a:t>The </a:t>
            </a:r>
            <a:r>
              <a:rPr lang="en-US" dirty="0"/>
              <a:t>purchase of an existing </a:t>
            </a:r>
            <a:r>
              <a:rPr lang="en-US" dirty="0" smtClean="0"/>
              <a:t>radar system</a:t>
            </a:r>
            <a:r>
              <a:rPr lang="en-US" dirty="0"/>
              <a:t>, or large </a:t>
            </a:r>
            <a:r>
              <a:rPr lang="en-US" dirty="0" smtClean="0"/>
              <a:t>electrical generators.</a:t>
            </a:r>
          </a:p>
          <a:p>
            <a:r>
              <a:rPr lang="en-US" dirty="0" smtClean="0"/>
              <a:t>The </a:t>
            </a:r>
            <a:r>
              <a:rPr lang="en-US" dirty="0"/>
              <a:t>purchase of existing, but high value software. </a:t>
            </a:r>
            <a:endParaRPr lang="en-US" i="1" dirty="0"/>
          </a:p>
          <a:p>
            <a:r>
              <a:rPr lang="en-US" dirty="0" smtClean="0"/>
              <a:t>The</a:t>
            </a:r>
            <a:r>
              <a:rPr lang="en-US" dirty="0"/>
              <a:t> </a:t>
            </a:r>
            <a:r>
              <a:rPr lang="en-US" dirty="0" smtClean="0"/>
              <a:t>purchase </a:t>
            </a:r>
            <a:r>
              <a:rPr lang="en-US" dirty="0"/>
              <a:t>of existing computers, and other developed, but high </a:t>
            </a:r>
            <a:r>
              <a:rPr lang="en-US" dirty="0" smtClean="0"/>
              <a:t>value components</a:t>
            </a:r>
            <a:r>
              <a:rPr lang="en-US" dirty="0"/>
              <a:t>.</a:t>
            </a:r>
          </a:p>
        </p:txBody>
      </p:sp>
    </p:spTree>
    <p:extLst>
      <p:ext uri="{BB962C8B-B14F-4D97-AF65-F5344CB8AC3E}">
        <p14:creationId xmlns:p14="http://schemas.microsoft.com/office/powerpoint/2010/main" xmlns="" val="2021016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Commercial-Off-The-Shelf (COTS) </a:t>
            </a:r>
          </a:p>
        </p:txBody>
      </p:sp>
      <p:sp>
        <p:nvSpPr>
          <p:cNvPr id="3" name="Content Placeholder 2"/>
          <p:cNvSpPr>
            <a:spLocks noGrp="1"/>
          </p:cNvSpPr>
          <p:nvPr>
            <p:ph idx="1"/>
          </p:nvPr>
        </p:nvSpPr>
        <p:spPr/>
        <p:txBody>
          <a:bodyPr/>
          <a:lstStyle/>
          <a:p>
            <a:pPr algn="just"/>
            <a:r>
              <a:rPr lang="en-US" dirty="0">
                <a:latin typeface="Andalus" panose="02020603050405020304" pitchFamily="18" charset="-78"/>
                <a:cs typeface="Andalus" panose="02020603050405020304" pitchFamily="18" charset="-78"/>
              </a:rPr>
              <a:t>A Commercial off–the-Shelf (COTS) item is one that is sold, leased, or licensed to the general public; offered by a vendor trying to profit from it</a:t>
            </a:r>
          </a:p>
          <a:p>
            <a:pPr algn="just"/>
            <a:r>
              <a:rPr lang="en-US" dirty="0">
                <a:latin typeface="Andalus" panose="02020603050405020304" pitchFamily="18" charset="-78"/>
                <a:cs typeface="Andalus" panose="02020603050405020304" pitchFamily="18" charset="-78"/>
              </a:rPr>
              <a:t>It is supported and evolved by the vendor who retains the Intellectual Property (IP) rights; available in multiple, identical copies; and used without modification of the internals</a:t>
            </a:r>
          </a:p>
          <a:p>
            <a:pPr algn="just"/>
            <a:r>
              <a:rPr lang="en-US" dirty="0">
                <a:latin typeface="Andalus" panose="02020603050405020304" pitchFamily="18" charset="-78"/>
                <a:cs typeface="Andalus" panose="02020603050405020304" pitchFamily="18" charset="-78"/>
              </a:rPr>
              <a:t>The fundamental principles of basic purchasing will be more applicable than a requirement to manage complicated contracts or subcontracts as critical subprojects. </a:t>
            </a:r>
          </a:p>
          <a:p>
            <a:pPr algn="just"/>
            <a:r>
              <a:rPr lang="en-US" dirty="0">
                <a:latin typeface="Andalus" panose="02020603050405020304" pitchFamily="18" charset="-78"/>
                <a:cs typeface="Andalus" panose="02020603050405020304" pitchFamily="18" charset="-78"/>
              </a:rPr>
              <a:t>These commodities will often have interchangeable (substitute) components</a:t>
            </a:r>
          </a:p>
        </p:txBody>
      </p:sp>
    </p:spTree>
    <p:extLst>
      <p:ext uri="{BB962C8B-B14F-4D97-AF65-F5344CB8AC3E}">
        <p14:creationId xmlns:p14="http://schemas.microsoft.com/office/powerpoint/2010/main" xmlns="" val="3872809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Commercial-Off-The-Shelf (COTS) </a:t>
            </a:r>
            <a:endParaRPr lang="en-US" dirty="0"/>
          </a:p>
        </p:txBody>
      </p:sp>
      <p:sp>
        <p:nvSpPr>
          <p:cNvPr id="3" name="Content Placeholder 2"/>
          <p:cNvSpPr>
            <a:spLocks noGrp="1"/>
          </p:cNvSpPr>
          <p:nvPr>
            <p:ph idx="1"/>
          </p:nvPr>
        </p:nvSpPr>
        <p:spPr>
          <a:xfrm>
            <a:off x="900820" y="2448836"/>
            <a:ext cx="9601200" cy="4319752"/>
          </a:xfrm>
        </p:spPr>
        <p:txBody>
          <a:bodyPr>
            <a:normAutofit/>
          </a:bodyPr>
          <a:lstStyle/>
          <a:p>
            <a:r>
              <a:rPr lang="en-US" dirty="0">
                <a:latin typeface="Andalus" panose="02020603050405020304" pitchFamily="18" charset="-78"/>
                <a:cs typeface="Andalus" panose="02020603050405020304" pitchFamily="18" charset="-78"/>
              </a:rPr>
              <a:t>Characteristics</a:t>
            </a:r>
          </a:p>
          <a:p>
            <a:pPr lvl="1"/>
            <a:r>
              <a:rPr lang="en-US" dirty="0">
                <a:latin typeface="Andalus" panose="02020603050405020304" pitchFamily="18" charset="-78"/>
                <a:cs typeface="Andalus" panose="02020603050405020304" pitchFamily="18" charset="-78"/>
              </a:rPr>
              <a:t>Low risk</a:t>
            </a:r>
          </a:p>
          <a:p>
            <a:pPr lvl="1"/>
            <a:r>
              <a:rPr lang="en-US" dirty="0">
                <a:latin typeface="Andalus" panose="02020603050405020304" pitchFamily="18" charset="-78"/>
                <a:cs typeface="Andalus" panose="02020603050405020304" pitchFamily="18" charset="-78"/>
              </a:rPr>
              <a:t>Lower cost</a:t>
            </a:r>
          </a:p>
          <a:p>
            <a:pPr lvl="1"/>
            <a:r>
              <a:rPr lang="en-US" dirty="0">
                <a:latin typeface="Andalus" panose="02020603050405020304" pitchFamily="18" charset="-78"/>
                <a:cs typeface="Andalus" panose="02020603050405020304" pitchFamily="18" charset="-78"/>
              </a:rPr>
              <a:t>Not as tailored as you required</a:t>
            </a:r>
          </a:p>
          <a:p>
            <a:pPr lvl="1"/>
            <a:r>
              <a:rPr lang="en-US" dirty="0">
                <a:latin typeface="Andalus" panose="02020603050405020304" pitchFamily="18" charset="-78"/>
                <a:cs typeface="Andalus" panose="02020603050405020304" pitchFamily="18" charset="-78"/>
              </a:rPr>
              <a:t>Less time taking</a:t>
            </a:r>
          </a:p>
          <a:p>
            <a:pPr lvl="1"/>
            <a:r>
              <a:rPr lang="en-US" dirty="0">
                <a:latin typeface="Andalus" panose="02020603050405020304" pitchFamily="18" charset="-78"/>
                <a:cs typeface="Andalus" panose="02020603050405020304" pitchFamily="18" charset="-78"/>
              </a:rPr>
              <a:t>Available immediately</a:t>
            </a:r>
          </a:p>
          <a:p>
            <a:r>
              <a:rPr lang="en-US" dirty="0">
                <a:latin typeface="Andalus" panose="02020603050405020304" pitchFamily="18" charset="-78"/>
                <a:cs typeface="Andalus" panose="02020603050405020304" pitchFamily="18" charset="-78"/>
              </a:rPr>
              <a:t>In Short:</a:t>
            </a:r>
          </a:p>
          <a:p>
            <a:pPr lvl="1"/>
            <a:r>
              <a:rPr lang="en-US" dirty="0">
                <a:latin typeface="Andalus" panose="02020603050405020304" pitchFamily="18" charset="-78"/>
                <a:cs typeface="Andalus" panose="02020603050405020304" pitchFamily="18" charset="-78"/>
              </a:rPr>
              <a:t>Mostly off the shelf buys are included here.</a:t>
            </a:r>
          </a:p>
          <a:p>
            <a:pPr lvl="1"/>
            <a:r>
              <a:rPr lang="en-US" dirty="0">
                <a:latin typeface="Andalus" panose="02020603050405020304" pitchFamily="18" charset="-78"/>
                <a:cs typeface="Andalus" panose="02020603050405020304" pitchFamily="18" charset="-78"/>
              </a:rPr>
              <a:t>Regular buys like raw material</a:t>
            </a:r>
          </a:p>
          <a:p>
            <a:pPr lvl="1"/>
            <a:r>
              <a:rPr lang="en-US" dirty="0">
                <a:latin typeface="Andalus" panose="02020603050405020304" pitchFamily="18" charset="-78"/>
                <a:cs typeface="Andalus" panose="02020603050405020304" pitchFamily="18" charset="-78"/>
              </a:rPr>
              <a:t>Principles of Basic purchasing apply (not complex contract)</a:t>
            </a:r>
          </a:p>
          <a:p>
            <a:pPr lvl="1"/>
            <a:r>
              <a:rPr lang="en-US" dirty="0">
                <a:latin typeface="Andalus" panose="02020603050405020304" pitchFamily="18" charset="-78"/>
                <a:cs typeface="Andalus" panose="02020603050405020304" pitchFamily="18" charset="-78"/>
              </a:rPr>
              <a:t>Outsourced routing services (cafe, accounting)</a:t>
            </a:r>
          </a:p>
          <a:p>
            <a:endParaRPr lang="en-US" dirty="0"/>
          </a:p>
          <a:p>
            <a:endParaRPr lang="en-US" dirty="0"/>
          </a:p>
        </p:txBody>
      </p:sp>
    </p:spTree>
    <p:extLst>
      <p:ext uri="{BB962C8B-B14F-4D97-AF65-F5344CB8AC3E}">
        <p14:creationId xmlns:p14="http://schemas.microsoft.com/office/powerpoint/2010/main" xmlns="" val="671596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808149"/>
          </a:xfrm>
        </p:spPr>
        <p:txBody>
          <a:bodyPr/>
          <a:lstStyle/>
          <a:p>
            <a:r>
              <a:rPr lang="en-US" dirty="0" smtClean="0"/>
              <a:t>Example of COTS</a:t>
            </a:r>
            <a:endParaRPr lang="en-US" dirty="0"/>
          </a:p>
        </p:txBody>
      </p:sp>
      <p:sp>
        <p:nvSpPr>
          <p:cNvPr id="3" name="Content Placeholder 2"/>
          <p:cNvSpPr>
            <a:spLocks noGrp="1"/>
          </p:cNvSpPr>
          <p:nvPr>
            <p:ph idx="1"/>
          </p:nvPr>
        </p:nvSpPr>
        <p:spPr>
          <a:xfrm>
            <a:off x="1081889" y="2924396"/>
            <a:ext cx="9601200" cy="3581400"/>
          </a:xfrm>
        </p:spPr>
        <p:txBody>
          <a:bodyPr>
            <a:normAutofit/>
          </a:bodyPr>
          <a:lstStyle/>
          <a:p>
            <a:r>
              <a:rPr lang="en-US" dirty="0"/>
              <a:t>Purchased labor, which will brought in plant and supervised by </a:t>
            </a:r>
            <a:r>
              <a:rPr lang="en-US" dirty="0" smtClean="0"/>
              <a:t>the project's </a:t>
            </a:r>
            <a:r>
              <a:rPr lang="en-US" dirty="0"/>
              <a:t>staff.</a:t>
            </a:r>
          </a:p>
          <a:p>
            <a:r>
              <a:rPr lang="en-US" dirty="0" smtClean="0"/>
              <a:t>Purchased </a:t>
            </a:r>
            <a:r>
              <a:rPr lang="en-US" dirty="0"/>
              <a:t>services, or testing, of a routine nature.</a:t>
            </a:r>
          </a:p>
          <a:p>
            <a:r>
              <a:rPr lang="en-US" dirty="0" smtClean="0"/>
              <a:t>Raw </a:t>
            </a:r>
            <a:r>
              <a:rPr lang="en-US" dirty="0"/>
              <a:t>materials: nuts, bolts, fasteners, sheet metal, paints, </a:t>
            </a:r>
            <a:r>
              <a:rPr lang="en-US" dirty="0" smtClean="0"/>
              <a:t>solvents, etc</a:t>
            </a:r>
            <a:r>
              <a:rPr lang="en-US" dirty="0"/>
              <a:t>.</a:t>
            </a:r>
          </a:p>
          <a:p>
            <a:r>
              <a:rPr lang="en-US" dirty="0" smtClean="0"/>
              <a:t>Pencils</a:t>
            </a:r>
            <a:r>
              <a:rPr lang="en-US" dirty="0"/>
              <a:t>, paper, office supplies. </a:t>
            </a:r>
          </a:p>
          <a:p>
            <a:r>
              <a:rPr lang="en-US" dirty="0" smtClean="0"/>
              <a:t>Existing</a:t>
            </a:r>
            <a:r>
              <a:rPr lang="en-US" dirty="0"/>
              <a:t> </a:t>
            </a:r>
            <a:r>
              <a:rPr lang="en-US" dirty="0" smtClean="0"/>
              <a:t>computers</a:t>
            </a:r>
            <a:r>
              <a:rPr lang="en-US" dirty="0"/>
              <a:t>, printers, scanners, etc</a:t>
            </a:r>
            <a:r>
              <a:rPr lang="en-US" dirty="0" smtClean="0"/>
              <a:t>.</a:t>
            </a:r>
          </a:p>
          <a:p>
            <a:r>
              <a:rPr lang="en-US" dirty="0" smtClean="0"/>
              <a:t>Packaged</a:t>
            </a:r>
            <a:r>
              <a:rPr lang="en-US" dirty="0"/>
              <a:t> </a:t>
            </a:r>
            <a:r>
              <a:rPr lang="en-US" dirty="0" smtClean="0"/>
              <a:t>commercial </a:t>
            </a:r>
            <a:r>
              <a:rPr lang="en-US" dirty="0"/>
              <a:t>software.</a:t>
            </a:r>
          </a:p>
          <a:p>
            <a:r>
              <a:rPr lang="en-US" dirty="0" smtClean="0"/>
              <a:t>Outsourced </a:t>
            </a:r>
            <a:r>
              <a:rPr lang="en-US" dirty="0"/>
              <a:t>complete but routine services, for </a:t>
            </a:r>
            <a:r>
              <a:rPr lang="en-US" dirty="0" smtClean="0"/>
              <a:t>example, cafeteria</a:t>
            </a:r>
            <a:r>
              <a:rPr lang="en-US" dirty="0"/>
              <a:t>, accounting, security, etc.</a:t>
            </a:r>
          </a:p>
        </p:txBody>
      </p:sp>
    </p:spTree>
    <p:extLst>
      <p:ext uri="{BB962C8B-B14F-4D97-AF65-F5344CB8AC3E}">
        <p14:creationId xmlns:p14="http://schemas.microsoft.com/office/powerpoint/2010/main" xmlns="" val="746756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ndalus" panose="02020603050405020304" pitchFamily="18" charset="-78"/>
                <a:cs typeface="Andalus" panose="02020603050405020304" pitchFamily="18" charset="-78"/>
              </a:rPr>
              <a:t>Special Procurements: Teaming Agreements </a:t>
            </a:r>
          </a:p>
        </p:txBody>
      </p:sp>
      <p:sp>
        <p:nvSpPr>
          <p:cNvPr id="3" name="Content Placeholder 2"/>
          <p:cNvSpPr>
            <a:spLocks noGrp="1"/>
          </p:cNvSpPr>
          <p:nvPr>
            <p:ph idx="1"/>
          </p:nvPr>
        </p:nvSpPr>
        <p:spPr>
          <a:xfrm>
            <a:off x="1299173" y="2732179"/>
            <a:ext cx="9601200" cy="3959087"/>
          </a:xfrm>
        </p:spPr>
        <p:txBody>
          <a:bodyPr>
            <a:normAutofit/>
          </a:bodyPr>
          <a:lstStyle/>
          <a:p>
            <a:pPr algn="just"/>
            <a:r>
              <a:rPr lang="en-US" dirty="0">
                <a:latin typeface="Andalus" panose="02020603050405020304" pitchFamily="18" charset="-78"/>
                <a:cs typeface="Andalus" panose="02020603050405020304" pitchFamily="18" charset="-78"/>
              </a:rPr>
              <a:t>In teaming agreements two or more teams (companies) agree to combine their assets, facilities, people, </a:t>
            </a:r>
            <a:r>
              <a:rPr lang="en-US" dirty="0" smtClean="0">
                <a:latin typeface="Andalus" panose="02020603050405020304" pitchFamily="18" charset="-78"/>
                <a:cs typeface="Andalus" panose="02020603050405020304" pitchFamily="18" charset="-78"/>
              </a:rPr>
              <a:t>share </a:t>
            </a:r>
            <a:r>
              <a:rPr lang="en-US" dirty="0">
                <a:latin typeface="Andalus" panose="02020603050405020304" pitchFamily="18" charset="-78"/>
                <a:cs typeface="Andalus" panose="02020603050405020304" pitchFamily="18" charset="-78"/>
              </a:rPr>
              <a:t>risks, etc., and go after a new segment of work, typically in the form of some new project.</a:t>
            </a:r>
          </a:p>
          <a:p>
            <a:pPr algn="just"/>
            <a:r>
              <a:rPr lang="en-US" dirty="0">
                <a:latin typeface="Andalus" panose="02020603050405020304" pitchFamily="18" charset="-78"/>
                <a:cs typeface="Andalus" panose="02020603050405020304" pitchFamily="18" charset="-78"/>
              </a:rPr>
              <a:t>It </a:t>
            </a:r>
            <a:r>
              <a:rPr lang="en-US" dirty="0" smtClean="0">
                <a:latin typeface="Andalus" panose="02020603050405020304" pitchFamily="18" charset="-78"/>
                <a:cs typeface="Andalus" panose="02020603050405020304" pitchFamily="18" charset="-78"/>
              </a:rPr>
              <a:t>enhances </a:t>
            </a:r>
            <a:r>
              <a:rPr lang="en-US" dirty="0">
                <a:latin typeface="Andalus" panose="02020603050405020304" pitchFamily="18" charset="-78"/>
                <a:cs typeface="Andalus" panose="02020603050405020304" pitchFamily="18" charset="-78"/>
              </a:rPr>
              <a:t>a firm's competitive posture</a:t>
            </a:r>
          </a:p>
          <a:p>
            <a:pPr algn="just"/>
            <a:r>
              <a:rPr lang="en-US" dirty="0">
                <a:latin typeface="Andalus" panose="02020603050405020304" pitchFamily="18" charset="-78"/>
                <a:cs typeface="Andalus" panose="02020603050405020304" pitchFamily="18" charset="-78"/>
              </a:rPr>
              <a:t>It is a legal contractual arrangement between two or more corporations typically to form a partnership or joint venture, but can be some other arrangement as defined by the parties. </a:t>
            </a:r>
          </a:p>
          <a:p>
            <a:pPr algn="just"/>
            <a:r>
              <a:rPr lang="en-US" dirty="0">
                <a:latin typeface="Andalus" panose="02020603050405020304" pitchFamily="18" charset="-78"/>
                <a:cs typeface="Andalus" panose="02020603050405020304" pitchFamily="18" charset="-78"/>
              </a:rPr>
              <a:t>Usually these arrangements are formed to capture new business and the roles of each firm is specifically prescribed in their agreement. Whenever the new business opportunity ends, generally the teaming agreement also ends.</a:t>
            </a:r>
          </a:p>
        </p:txBody>
      </p:sp>
    </p:spTree>
    <p:extLst>
      <p:ext uri="{BB962C8B-B14F-4D97-AF65-F5344CB8AC3E}">
        <p14:creationId xmlns:p14="http://schemas.microsoft.com/office/powerpoint/2010/main" xmlns="" val="3534193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769513"/>
          </a:xfrm>
        </p:spPr>
        <p:txBody>
          <a:bodyPr/>
          <a:lstStyle/>
          <a:p>
            <a:r>
              <a:rPr lang="en-US" dirty="0">
                <a:latin typeface="Andalus" panose="02020603050405020304" pitchFamily="18" charset="-78"/>
                <a:cs typeface="Andalus" panose="02020603050405020304" pitchFamily="18" charset="-78"/>
              </a:rPr>
              <a:t>Teaming Agreement</a:t>
            </a:r>
          </a:p>
        </p:txBody>
      </p:sp>
      <p:sp>
        <p:nvSpPr>
          <p:cNvPr id="3" name="Content Placeholder 2"/>
          <p:cNvSpPr>
            <a:spLocks noGrp="1"/>
          </p:cNvSpPr>
          <p:nvPr>
            <p:ph idx="1"/>
          </p:nvPr>
        </p:nvSpPr>
        <p:spPr>
          <a:xfrm>
            <a:off x="1154317" y="2768066"/>
            <a:ext cx="9601200" cy="3991303"/>
          </a:xfrm>
        </p:spPr>
        <p:txBody>
          <a:bodyPr>
            <a:normAutofit/>
          </a:bodyPr>
          <a:lstStyle/>
          <a:p>
            <a:r>
              <a:rPr lang="en-US" dirty="0" smtClean="0">
                <a:latin typeface="Andalus" panose="02020603050405020304" pitchFamily="18" charset="-78"/>
                <a:cs typeface="Andalus" panose="02020603050405020304" pitchFamily="18" charset="-78"/>
              </a:rPr>
              <a:t>Procured </a:t>
            </a:r>
            <a:r>
              <a:rPr lang="en-US" dirty="0">
                <a:latin typeface="Andalus" panose="02020603050405020304" pitchFamily="18" charset="-78"/>
                <a:cs typeface="Andalus" panose="02020603050405020304" pitchFamily="18" charset="-78"/>
              </a:rPr>
              <a:t>under a legal contract</a:t>
            </a:r>
          </a:p>
          <a:p>
            <a:r>
              <a:rPr lang="en-US" dirty="0">
                <a:latin typeface="Andalus" panose="02020603050405020304" pitchFamily="18" charset="-78"/>
                <a:cs typeface="Andalus" panose="02020603050405020304" pitchFamily="18" charset="-78"/>
              </a:rPr>
              <a:t>Combine assets, facilities, people, shared risks</a:t>
            </a:r>
          </a:p>
          <a:p>
            <a:r>
              <a:rPr lang="en-US" dirty="0">
                <a:latin typeface="Andalus" panose="02020603050405020304" pitchFamily="18" charset="-78"/>
                <a:cs typeface="Andalus" panose="02020603050405020304" pitchFamily="18" charset="-78"/>
              </a:rPr>
              <a:t>All other procurements as per normal principles</a:t>
            </a:r>
          </a:p>
          <a:p>
            <a:r>
              <a:rPr lang="en-US" dirty="0">
                <a:latin typeface="Andalus" panose="02020603050405020304" pitchFamily="18" charset="-78"/>
                <a:cs typeface="Andalus" panose="02020603050405020304" pitchFamily="18" charset="-78"/>
              </a:rPr>
              <a:t>Prime Contractor-subcontractor arrangements </a:t>
            </a:r>
            <a:endParaRPr lang="en-US" dirty="0" smtClean="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3709492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010798"/>
          </a:xfrm>
        </p:spPr>
        <p:txBody>
          <a:bodyPr>
            <a:normAutofit/>
          </a:bodyPr>
          <a:lstStyle/>
          <a:p>
            <a:r>
              <a:rPr lang="en-US" dirty="0">
                <a:latin typeface="Andalus" panose="02020603050405020304" pitchFamily="18" charset="-78"/>
                <a:cs typeface="Andalus" panose="02020603050405020304" pitchFamily="18" charset="-78"/>
              </a:rPr>
              <a:t>Special Procurements: Interdivisional Procurement </a:t>
            </a:r>
            <a:endParaRPr lang="en-US" dirty="0"/>
          </a:p>
        </p:txBody>
      </p:sp>
      <p:sp>
        <p:nvSpPr>
          <p:cNvPr id="3" name="Content Placeholder 2"/>
          <p:cNvSpPr>
            <a:spLocks noGrp="1"/>
          </p:cNvSpPr>
          <p:nvPr>
            <p:ph idx="1"/>
          </p:nvPr>
        </p:nvSpPr>
        <p:spPr>
          <a:xfrm>
            <a:off x="1272011" y="2543893"/>
            <a:ext cx="10484069" cy="4420645"/>
          </a:xfrm>
        </p:spPr>
        <p:txBody>
          <a:bodyPr>
            <a:noAutofit/>
          </a:bodyPr>
          <a:lstStyle/>
          <a:p>
            <a:pPr algn="just"/>
            <a:r>
              <a:rPr lang="en-US" dirty="0">
                <a:latin typeface="Andalus" panose="02020603050405020304" pitchFamily="18" charset="-78"/>
                <a:cs typeface="Andalus" panose="02020603050405020304" pitchFamily="18" charset="-78"/>
              </a:rPr>
              <a:t>Interdivisional work are the procurements made within a single company by one operating unit (the project) with another operating unit (the performing organization).</a:t>
            </a:r>
          </a:p>
          <a:p>
            <a:pPr algn="just"/>
            <a:r>
              <a:rPr lang="en-US" dirty="0">
                <a:latin typeface="Andalus" panose="02020603050405020304" pitchFamily="18" charset="-78"/>
                <a:cs typeface="Andalus" panose="02020603050405020304" pitchFamily="18" charset="-78"/>
              </a:rPr>
              <a:t>Can be very </a:t>
            </a:r>
            <a:r>
              <a:rPr lang="en-US" dirty="0" smtClean="0">
                <a:latin typeface="Andalus" panose="02020603050405020304" pitchFamily="18" charset="-78"/>
                <a:cs typeface="Andalus" panose="02020603050405020304" pitchFamily="18" charset="-78"/>
              </a:rPr>
              <a:t>difficult to manage (organizational </a:t>
            </a:r>
            <a:r>
              <a:rPr lang="en-US" dirty="0">
                <a:latin typeface="Andalus" panose="02020603050405020304" pitchFamily="18" charset="-78"/>
                <a:cs typeface="Andalus" panose="02020603050405020304" pitchFamily="18" charset="-78"/>
              </a:rPr>
              <a:t>relationships</a:t>
            </a:r>
            <a:r>
              <a:rPr lang="en-US" dirty="0" smtClean="0">
                <a:latin typeface="Andalus" panose="02020603050405020304" pitchFamily="18" charset="-78"/>
                <a:cs typeface="Andalus" panose="02020603050405020304" pitchFamily="18" charset="-78"/>
              </a:rPr>
              <a:t>).</a:t>
            </a:r>
            <a:endParaRPr lang="en-US" dirty="0">
              <a:latin typeface="Andalus" panose="02020603050405020304" pitchFamily="18" charset="-78"/>
              <a:cs typeface="Andalus" panose="02020603050405020304" pitchFamily="18" charset="-78"/>
            </a:endParaRPr>
          </a:p>
          <a:p>
            <a:pPr algn="just"/>
            <a:r>
              <a:rPr lang="en-US" dirty="0" smtClean="0">
                <a:latin typeface="Andalus" panose="02020603050405020304" pitchFamily="18" charset="-78"/>
                <a:cs typeface="Andalus" panose="02020603050405020304" pitchFamily="18" charset="-78"/>
              </a:rPr>
              <a:t>Coordination between an operating unit and a performing unit.</a:t>
            </a:r>
            <a:endParaRPr lang="en-US" dirty="0">
              <a:latin typeface="Andalus" panose="02020603050405020304" pitchFamily="18" charset="-78"/>
              <a:cs typeface="Andalus" panose="02020603050405020304" pitchFamily="18" charset="-78"/>
            </a:endParaRPr>
          </a:p>
          <a:p>
            <a:pPr algn="just"/>
            <a:r>
              <a:rPr lang="en-US" dirty="0">
                <a:latin typeface="Andalus" panose="02020603050405020304" pitchFamily="18" charset="-78"/>
                <a:cs typeface="Andalus" panose="02020603050405020304" pitchFamily="18" charset="-78"/>
              </a:rPr>
              <a:t>Senior Executives insist work to remain in </a:t>
            </a:r>
            <a:r>
              <a:rPr lang="en-US" dirty="0" smtClean="0">
                <a:latin typeface="Andalus" panose="02020603050405020304" pitchFamily="18" charset="-78"/>
                <a:cs typeface="Andalus" panose="02020603050405020304" pitchFamily="18" charset="-78"/>
              </a:rPr>
              <a:t>company.</a:t>
            </a:r>
            <a:endParaRPr lang="en-US" dirty="0">
              <a:latin typeface="Andalus" panose="02020603050405020304" pitchFamily="18" charset="-78"/>
              <a:cs typeface="Andalus" panose="02020603050405020304" pitchFamily="18" charset="-78"/>
            </a:endParaRPr>
          </a:p>
          <a:p>
            <a:pPr algn="just"/>
            <a:r>
              <a:rPr lang="en-US" dirty="0">
                <a:latin typeface="Andalus" panose="02020603050405020304" pitchFamily="18" charset="-78"/>
                <a:cs typeface="Andalus" panose="02020603050405020304" pitchFamily="18" charset="-78"/>
              </a:rPr>
              <a:t>Sometimes most compelling reason is availability of company work force and facilities (even if </a:t>
            </a:r>
            <a:r>
              <a:rPr lang="en-US" dirty="0" smtClean="0">
                <a:latin typeface="Andalus" panose="02020603050405020304" pitchFamily="18" charset="-78"/>
                <a:cs typeface="Andalus" panose="02020603050405020304" pitchFamily="18" charset="-78"/>
              </a:rPr>
              <a:t>cheaper alternatives are </a:t>
            </a:r>
            <a:r>
              <a:rPr lang="en-US" dirty="0">
                <a:latin typeface="Andalus" panose="02020603050405020304" pitchFamily="18" charset="-78"/>
                <a:cs typeface="Andalus" panose="02020603050405020304" pitchFamily="18" charset="-78"/>
              </a:rPr>
              <a:t>available</a:t>
            </a:r>
            <a:r>
              <a:rPr lang="en-US" dirty="0" smtClean="0">
                <a:latin typeface="Andalus" panose="02020603050405020304" pitchFamily="18" charset="-78"/>
                <a:cs typeface="Andalus" panose="02020603050405020304" pitchFamily="18" charset="-78"/>
              </a:rPr>
              <a:t>).</a:t>
            </a:r>
            <a:endParaRPr lang="en-US" dirty="0">
              <a:latin typeface="Andalus" panose="02020603050405020304" pitchFamily="18" charset="-78"/>
              <a:cs typeface="Andalus" panose="02020603050405020304" pitchFamily="18" charset="-78"/>
            </a:endParaRPr>
          </a:p>
          <a:p>
            <a:pPr algn="just"/>
            <a:r>
              <a:rPr lang="en-US" dirty="0">
                <a:latin typeface="Andalus" panose="02020603050405020304" pitchFamily="18" charset="-78"/>
                <a:cs typeface="Andalus" panose="02020603050405020304" pitchFamily="18" charset="-78"/>
              </a:rPr>
              <a:t>Project Managers may not be able to control </a:t>
            </a:r>
            <a:r>
              <a:rPr lang="en-US" dirty="0" smtClean="0">
                <a:latin typeface="Andalus" panose="02020603050405020304" pitchFamily="18" charset="-78"/>
                <a:cs typeface="Andalus" panose="02020603050405020304" pitchFamily="18" charset="-78"/>
              </a:rPr>
              <a:t>cost.</a:t>
            </a:r>
            <a:endParaRPr lang="en-US" dirty="0">
              <a:latin typeface="Andalus" panose="02020603050405020304" pitchFamily="18" charset="-78"/>
              <a:cs typeface="Andalus" panose="02020603050405020304" pitchFamily="18" charset="-78"/>
            </a:endParaRPr>
          </a:p>
          <a:p>
            <a:pPr algn="just"/>
            <a:r>
              <a:rPr lang="en-US" dirty="0" smtClean="0">
                <a:latin typeface="Andalus" panose="02020603050405020304" pitchFamily="18" charset="-78"/>
                <a:cs typeface="Andalus" panose="02020603050405020304" pitchFamily="18" charset="-78"/>
              </a:rPr>
              <a:t>Issues with respect to sharing success and failure.</a:t>
            </a:r>
            <a:endParaRPr lang="en-US"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296545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92239"/>
          </a:xfrm>
        </p:spPr>
        <p:txBody>
          <a:bodyPr/>
          <a:lstStyle/>
          <a:p>
            <a:r>
              <a:rPr lang="en-US" dirty="0" smtClean="0">
                <a:latin typeface="Andalus"/>
              </a:rPr>
              <a:t>Example: Interdivisional Procurement</a:t>
            </a:r>
            <a:endParaRPr lang="en-US" dirty="0">
              <a:latin typeface="Andalus"/>
            </a:endParaRPr>
          </a:p>
        </p:txBody>
      </p:sp>
      <p:sp>
        <p:nvSpPr>
          <p:cNvPr id="3" name="Content Placeholder 2"/>
          <p:cNvSpPr>
            <a:spLocks noGrp="1"/>
          </p:cNvSpPr>
          <p:nvPr>
            <p:ph idx="1"/>
          </p:nvPr>
        </p:nvSpPr>
        <p:spPr/>
        <p:txBody>
          <a:bodyPr/>
          <a:lstStyle/>
          <a:p>
            <a:r>
              <a:rPr lang="en-US" dirty="0"/>
              <a:t>Some examples of these procurements might be:</a:t>
            </a:r>
          </a:p>
          <a:p>
            <a:pPr lvl="1"/>
            <a:r>
              <a:rPr lang="en-US" dirty="0"/>
              <a:t>The development of some new component or product.</a:t>
            </a:r>
          </a:p>
          <a:p>
            <a:pPr lvl="1"/>
            <a:r>
              <a:rPr lang="en-US" dirty="0"/>
              <a:t>The manufacture of parts.</a:t>
            </a:r>
          </a:p>
          <a:p>
            <a:pPr lvl="1"/>
            <a:r>
              <a:rPr lang="en-US" dirty="0"/>
              <a:t>The procurement of parts for the project.</a:t>
            </a:r>
          </a:p>
          <a:p>
            <a:pPr lvl="1"/>
            <a:r>
              <a:rPr lang="en-US" dirty="0"/>
              <a:t>Design and testing services.</a:t>
            </a:r>
          </a:p>
          <a:p>
            <a:pPr lvl="1"/>
            <a:r>
              <a:rPr lang="en-US" dirty="0"/>
              <a:t>Purchased labor.</a:t>
            </a:r>
            <a:endParaRPr lang="en-US" dirty="0">
              <a:latin typeface="Andalus" panose="02020603050405020304" pitchFamily="18" charset="-78"/>
              <a:cs typeface="Andalus" panose="02020603050405020304" pitchFamily="18" charset="-78"/>
            </a:endParaRPr>
          </a:p>
          <a:p>
            <a:endParaRPr lang="en-US" dirty="0"/>
          </a:p>
        </p:txBody>
      </p:sp>
    </p:spTree>
    <p:extLst>
      <p:ext uri="{BB962C8B-B14F-4D97-AF65-F5344CB8AC3E}">
        <p14:creationId xmlns:p14="http://schemas.microsoft.com/office/powerpoint/2010/main" xmlns="" val="19916996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3086</TotalTime>
  <Words>1080</Words>
  <Application>Microsoft Office PowerPoint</Application>
  <PresentationFormat>Custom</PresentationFormat>
  <Paragraphs>125</Paragraphs>
  <Slides>17</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Ion Boardroom</vt:lpstr>
      <vt:lpstr>Visio</vt:lpstr>
      <vt:lpstr>Project Procurement Categories</vt:lpstr>
      <vt:lpstr>Procurement Categories</vt:lpstr>
      <vt:lpstr>Categories </vt:lpstr>
      <vt:lpstr>Categories </vt:lpstr>
      <vt:lpstr>Major (high risk) complexity procurements</vt:lpstr>
      <vt:lpstr>Major (high risk) complexity procurements</vt:lpstr>
      <vt:lpstr>Examples Major Complex Procurements</vt:lpstr>
      <vt:lpstr>Minor (low-risk) Complexity Procurements</vt:lpstr>
      <vt:lpstr>Minor (low-risk) Complexity Procurements</vt:lpstr>
      <vt:lpstr>Example of Minor Complex procurement</vt:lpstr>
      <vt:lpstr>Commercial-Off-The-Shelf (COTS) </vt:lpstr>
      <vt:lpstr>Commercial-Off-The-Shelf (COTS) </vt:lpstr>
      <vt:lpstr>Example of COTS</vt:lpstr>
      <vt:lpstr>Special Procurements: Teaming Agreements </vt:lpstr>
      <vt:lpstr>Teaming Agreement</vt:lpstr>
      <vt:lpstr>Special Procurements: Interdivisional Procurement </vt:lpstr>
      <vt:lpstr>Example: Interdivisional Procurement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Procurement and Contract Management </dc:title>
  <dc:creator>Rabbia Butt</dc:creator>
  <cp:lastModifiedBy>user</cp:lastModifiedBy>
  <cp:revision>42</cp:revision>
  <dcterms:created xsi:type="dcterms:W3CDTF">2017-09-21T12:36:11Z</dcterms:created>
  <dcterms:modified xsi:type="dcterms:W3CDTF">2023-08-18T05:24:16Z</dcterms:modified>
</cp:coreProperties>
</file>