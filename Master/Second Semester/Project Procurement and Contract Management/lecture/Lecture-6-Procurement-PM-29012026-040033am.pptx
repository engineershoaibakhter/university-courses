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72" r:id="rId5"/>
    <p:sldId id="260" r:id="rId6"/>
    <p:sldId id="273" r:id="rId7"/>
    <p:sldId id="261" r:id="rId8"/>
    <p:sldId id="274" r:id="rId9"/>
    <p:sldId id="262" r:id="rId10"/>
    <p:sldId id="266" r:id="rId11"/>
    <p:sldId id="267" r:id="rId12"/>
    <p:sldId id="268" r:id="rId13"/>
    <p:sldId id="264" r:id="rId14"/>
    <p:sldId id="265" r:id="rId15"/>
    <p:sldId id="276" r:id="rId16"/>
    <p:sldId id="269" r:id="rId17"/>
    <p:sldId id="270" r:id="rId18"/>
    <p:sldId id="27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p:scale>
          <a:sx n="90" d="100"/>
          <a:sy n="90" d="100"/>
        </p:scale>
        <p:origin x="18" y="258"/>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6D0FDF11-8303-4BBD-92B3-4B427D6D80FD}" type="datetimeFigureOut">
              <a:rPr lang="en-US" smtClean="0"/>
              <a:pPr/>
              <a:t>8/23/2023</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56D5A082-EC01-4103-82A4-667132FD6B26}" type="slidenum">
              <a:rPr lang="en-US" smtClean="0"/>
              <a:pPr/>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 xmlns:p14="http://schemas.microsoft.com/office/powerpoint/2010/main" val="344153276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D0FDF11-8303-4BBD-92B3-4B427D6D80FD}" type="datetimeFigureOut">
              <a:rPr lang="en-US" smtClean="0"/>
              <a:pPr/>
              <a:t>8/23/2023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D5A082-EC01-4103-82A4-667132FD6B26}" type="slidenum">
              <a:rPr lang="en-US" smtClean="0"/>
              <a:pPr/>
              <a:t>‹#›</a:t>
            </a:fld>
            <a:endParaRPr lang="en-US"/>
          </a:p>
        </p:txBody>
      </p:sp>
    </p:spTree>
    <p:extLst>
      <p:ext uri="{BB962C8B-B14F-4D97-AF65-F5344CB8AC3E}">
        <p14:creationId xmlns="" xmlns:p14="http://schemas.microsoft.com/office/powerpoint/2010/main" val="2175224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6D0FDF11-8303-4BBD-92B3-4B427D6D80FD}" type="datetimeFigureOut">
              <a:rPr lang="en-US" smtClean="0"/>
              <a:pPr/>
              <a:t>8/23/2023</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56D5A082-EC01-4103-82A4-667132FD6B26}" type="slidenum">
              <a:rPr lang="en-US" smtClean="0"/>
              <a:pPr/>
              <a:t>‹#›</a:t>
            </a:fld>
            <a:endParaRPr lang="en-US"/>
          </a:p>
        </p:txBody>
      </p:sp>
      <p:sp>
        <p:nvSpPr>
          <p:cNvPr id="7" name="Freeform 6"/>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 xmlns:p14="http://schemas.microsoft.com/office/powerpoint/2010/main" val="211857550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D0FDF11-8303-4BBD-92B3-4B427D6D80FD}" type="datetimeFigureOut">
              <a:rPr lang="en-US" smtClean="0"/>
              <a:pPr/>
              <a:t>8/23/2023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D5A082-EC01-4103-82A4-667132FD6B26}" type="slidenum">
              <a:rPr lang="en-US" smtClean="0"/>
              <a:pPr/>
              <a:t>‹#›</a:t>
            </a:fld>
            <a:endParaRPr lang="en-US"/>
          </a:p>
        </p:txBody>
      </p:sp>
    </p:spTree>
    <p:extLst>
      <p:ext uri="{BB962C8B-B14F-4D97-AF65-F5344CB8AC3E}">
        <p14:creationId xmlns="" xmlns:p14="http://schemas.microsoft.com/office/powerpoint/2010/main" val="2198017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D0FDF11-8303-4BBD-92B3-4B427D6D80FD}" type="datetimeFigureOut">
              <a:rPr lang="en-US" smtClean="0"/>
              <a:pPr/>
              <a:t>8/23/2023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D5A082-EC01-4103-82A4-667132FD6B26}" type="slidenum">
              <a:rPr lang="en-US" smtClean="0"/>
              <a:pPr/>
              <a:t>‹#›</a:t>
            </a:fld>
            <a:endParaRPr lang="en-US"/>
          </a:p>
        </p:txBody>
      </p:sp>
    </p:spTree>
    <p:extLst>
      <p:ext uri="{BB962C8B-B14F-4D97-AF65-F5344CB8AC3E}">
        <p14:creationId xmlns="" xmlns:p14="http://schemas.microsoft.com/office/powerpoint/2010/main" val="485688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D0FDF11-8303-4BBD-92B3-4B427D6D80FD}" type="datetimeFigureOut">
              <a:rPr lang="en-US" smtClean="0"/>
              <a:pPr/>
              <a:t>8/23/2023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D5A082-EC01-4103-82A4-667132FD6B26}" type="slidenum">
              <a:rPr lang="en-US" smtClean="0"/>
              <a:pPr/>
              <a:t>‹#›</a:t>
            </a:fld>
            <a:endParaRPr lang="en-US"/>
          </a:p>
        </p:txBody>
      </p:sp>
    </p:spTree>
    <p:extLst>
      <p:ext uri="{BB962C8B-B14F-4D97-AF65-F5344CB8AC3E}">
        <p14:creationId xmlns="" xmlns:p14="http://schemas.microsoft.com/office/powerpoint/2010/main" val="138826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FDF11-8303-4BBD-92B3-4B427D6D80FD}" type="datetimeFigureOut">
              <a:rPr lang="en-US" smtClean="0"/>
              <a:pPr/>
              <a:t>8/23/2023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6D5A082-EC01-4103-82A4-667132FD6B26}" type="slidenum">
              <a:rPr lang="en-US" smtClean="0"/>
              <a:pPr/>
              <a:t>‹#›</a:t>
            </a:fld>
            <a:endParaRPr lang="en-US"/>
          </a:p>
        </p:txBody>
      </p:sp>
    </p:spTree>
    <p:extLst>
      <p:ext uri="{BB962C8B-B14F-4D97-AF65-F5344CB8AC3E}">
        <p14:creationId xmlns="" xmlns:p14="http://schemas.microsoft.com/office/powerpoint/2010/main" val="900508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6D0FDF11-8303-4BBD-92B3-4B427D6D80FD}" type="datetimeFigureOut">
              <a:rPr lang="en-US" smtClean="0"/>
              <a:pPr/>
              <a:t>8/23/2023</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6D5A082-EC01-4103-82A4-667132FD6B26}" type="slidenum">
              <a:rPr lang="en-US" smtClean="0"/>
              <a:pPr/>
              <a:t>‹#›</a:t>
            </a:fld>
            <a:endParaRPr lang="en-US"/>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 xmlns:p14="http://schemas.microsoft.com/office/powerpoint/2010/main" val="260871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6D0FDF11-8303-4BBD-92B3-4B427D6D80FD}" type="datetimeFigureOut">
              <a:rPr lang="en-US" smtClean="0"/>
              <a:pPr/>
              <a:t>8/23/2023</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6D5A082-EC01-4103-82A4-667132FD6B26}" type="slidenum">
              <a:rPr lang="en-US" smtClean="0"/>
              <a:pPr/>
              <a:t>‹#›</a:t>
            </a:fld>
            <a:endParaRPr lang="en-US"/>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 xmlns:p14="http://schemas.microsoft.com/office/powerpoint/2010/main" val="3687638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D0FDF11-8303-4BBD-92B3-4B427D6D80FD}" type="datetimeFigureOut">
              <a:rPr lang="en-US" smtClean="0"/>
              <a:pPr/>
              <a:t>8/23/2023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D5A082-EC01-4103-82A4-667132FD6B26}" type="slidenum">
              <a:rPr lang="en-US" smtClean="0"/>
              <a:pPr/>
              <a:t>‹#›</a:t>
            </a:fld>
            <a:endParaRPr lang="en-US"/>
          </a:p>
        </p:txBody>
      </p:sp>
    </p:spTree>
    <p:extLst>
      <p:ext uri="{BB962C8B-B14F-4D97-AF65-F5344CB8AC3E}">
        <p14:creationId xmlns="" xmlns:p14="http://schemas.microsoft.com/office/powerpoint/2010/main" val="2696943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D0FDF11-8303-4BBD-92B3-4B427D6D80FD}" type="datetimeFigureOut">
              <a:rPr lang="en-US" smtClean="0"/>
              <a:pPr/>
              <a:t>8/23/2023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D5A082-EC01-4103-82A4-667132FD6B26}" type="slidenum">
              <a:rPr lang="en-US" smtClean="0"/>
              <a:pPr/>
              <a:t>‹#›</a:t>
            </a:fld>
            <a:endParaRPr lang="en-US"/>
          </a:p>
        </p:txBody>
      </p:sp>
    </p:spTree>
    <p:extLst>
      <p:ext uri="{BB962C8B-B14F-4D97-AF65-F5344CB8AC3E}">
        <p14:creationId xmlns="" xmlns:p14="http://schemas.microsoft.com/office/powerpoint/2010/main" val="740721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6D0FDF11-8303-4BBD-92B3-4B427D6D80FD}" type="datetimeFigureOut">
              <a:rPr lang="en-US" smtClean="0"/>
              <a:pPr/>
              <a:t>8/23/2023</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56D5A082-EC01-4103-82A4-667132FD6B26}" type="slidenum">
              <a:rPr lang="en-US" smtClean="0"/>
              <a:pPr/>
              <a:t>‹#›</a:t>
            </a:fld>
            <a:endParaRPr lang="en-US"/>
          </a:p>
        </p:txBody>
      </p:sp>
      <p:sp>
        <p:nvSpPr>
          <p:cNvPr id="9" name="Rectangle 8"/>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 xmlns:p14="http://schemas.microsoft.com/office/powerpoint/2010/main" val="22144220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4974" y="1712890"/>
            <a:ext cx="8361229" cy="778100"/>
          </a:xfrm>
        </p:spPr>
        <p:txBody>
          <a:bodyPr>
            <a:normAutofit/>
          </a:bodyPr>
          <a:lstStyle/>
          <a:p>
            <a:r>
              <a:rPr lang="en-US" sz="4400" dirty="0"/>
              <a:t>Project Procurement Risks</a:t>
            </a:r>
          </a:p>
        </p:txBody>
      </p:sp>
      <p:sp>
        <p:nvSpPr>
          <p:cNvPr id="4" name="Subtitle 3"/>
          <p:cNvSpPr>
            <a:spLocks noGrp="1"/>
          </p:cNvSpPr>
          <p:nvPr>
            <p:ph type="subTitle" idx="1"/>
          </p:nvPr>
        </p:nvSpPr>
        <p:spPr>
          <a:xfrm>
            <a:off x="2726893" y="5146432"/>
            <a:ext cx="6831673" cy="448296"/>
          </a:xfrm>
        </p:spPr>
        <p:txBody>
          <a:bodyPr>
            <a:normAutofit fontScale="92500" lnSpcReduction="10000"/>
          </a:bodyPr>
          <a:lstStyle/>
          <a:p>
            <a:r>
              <a:rPr lang="en-US" smtClean="0"/>
              <a:t>Lecture</a:t>
            </a:r>
            <a:r>
              <a:rPr lang="en-US" smtClean="0"/>
              <a:t> </a:t>
            </a:r>
            <a:r>
              <a:rPr lang="en-US" smtClean="0"/>
              <a:t>6</a:t>
            </a:r>
            <a:endParaRPr lang="en-US" dirty="0"/>
          </a:p>
        </p:txBody>
      </p:sp>
      <p:sp>
        <p:nvSpPr>
          <p:cNvPr id="5" name="Footer Placeholder 4"/>
          <p:cNvSpPr>
            <a:spLocks noGrp="1"/>
          </p:cNvSpPr>
          <p:nvPr>
            <p:ph type="ftr" sz="quarter" idx="11"/>
          </p:nvPr>
        </p:nvSpPr>
        <p:spPr/>
        <p:txBody>
          <a:bodyPr/>
          <a:lstStyle/>
          <a:p>
            <a:r>
              <a:rPr lang="en-US" dirty="0"/>
              <a:t>Lecture </a:t>
            </a:r>
            <a:r>
              <a:rPr lang="en-US" dirty="0" smtClean="0"/>
              <a:t>6</a:t>
            </a:r>
            <a:endParaRPr lang="en-US" dirty="0"/>
          </a:p>
        </p:txBody>
      </p:sp>
      <p:sp>
        <p:nvSpPr>
          <p:cNvPr id="3" name="Rectangle 2"/>
          <p:cNvSpPr/>
          <p:nvPr/>
        </p:nvSpPr>
        <p:spPr>
          <a:xfrm>
            <a:off x="1962116" y="3087193"/>
            <a:ext cx="8267252" cy="923330"/>
          </a:xfrm>
          <a:prstGeom prst="rect">
            <a:avLst/>
          </a:prstGeom>
        </p:spPr>
        <p:txBody>
          <a:bodyPr wrap="square">
            <a:spAutoFit/>
          </a:bodyPr>
          <a:lstStyle/>
          <a:p>
            <a:pPr algn="ctr"/>
            <a:r>
              <a:rPr lang="en-US" i="1" dirty="0" smtClean="0">
                <a:latin typeface="Times New Roman" panose="02020603050405020304" pitchFamily="18" charset="0"/>
              </a:rPr>
              <a:t>“Risk </a:t>
            </a:r>
            <a:r>
              <a:rPr lang="en-US" i="1" dirty="0">
                <a:latin typeface="Times New Roman" panose="02020603050405020304" pitchFamily="18" charset="0"/>
              </a:rPr>
              <a:t>management. . . is the art and science of identifying, analyzing</a:t>
            </a:r>
          </a:p>
          <a:p>
            <a:pPr algn="ctr"/>
            <a:r>
              <a:rPr lang="en-US" i="1" dirty="0">
                <a:latin typeface="Times New Roman" panose="02020603050405020304" pitchFamily="18" charset="0"/>
              </a:rPr>
              <a:t>and responding to risk factors throughout the life of a project and in</a:t>
            </a:r>
          </a:p>
          <a:p>
            <a:pPr algn="ctr"/>
            <a:r>
              <a:rPr lang="en-US" i="1" dirty="0">
                <a:latin typeface="Times New Roman" panose="02020603050405020304" pitchFamily="18" charset="0"/>
              </a:rPr>
              <a:t>the best interests of its </a:t>
            </a:r>
            <a:r>
              <a:rPr lang="en-US" i="1" dirty="0" smtClean="0">
                <a:latin typeface="Times New Roman" panose="02020603050405020304" pitchFamily="18" charset="0"/>
              </a:rPr>
              <a:t>objectives”</a:t>
            </a:r>
            <a:endParaRPr lang="en-US" dirty="0"/>
          </a:p>
        </p:txBody>
      </p:sp>
    </p:spTree>
    <p:extLst>
      <p:ext uri="{BB962C8B-B14F-4D97-AF65-F5344CB8AC3E}">
        <p14:creationId xmlns="" xmlns:p14="http://schemas.microsoft.com/office/powerpoint/2010/main" val="20351284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6852" y="272255"/>
            <a:ext cx="9601200" cy="616387"/>
          </a:xfrm>
        </p:spPr>
        <p:txBody>
          <a:bodyPr>
            <a:normAutofit/>
          </a:bodyPr>
          <a:lstStyle/>
          <a:p>
            <a:pPr algn="ctr"/>
            <a:r>
              <a:rPr lang="en-GB" sz="2900" b="1" dirty="0"/>
              <a:t>The Management of Project Procurement Risks</a:t>
            </a:r>
            <a:endParaRPr lang="en-US" sz="2900" b="1" dirty="0"/>
          </a:p>
        </p:txBody>
      </p:sp>
      <p:sp>
        <p:nvSpPr>
          <p:cNvPr id="3" name="Content Placeholder 2"/>
          <p:cNvSpPr>
            <a:spLocks noGrp="1"/>
          </p:cNvSpPr>
          <p:nvPr>
            <p:ph idx="1"/>
          </p:nvPr>
        </p:nvSpPr>
        <p:spPr>
          <a:xfrm>
            <a:off x="749674" y="1203335"/>
            <a:ext cx="5284304" cy="480253"/>
          </a:xfrm>
        </p:spPr>
        <p:txBody>
          <a:bodyPr>
            <a:normAutofit/>
          </a:bodyPr>
          <a:lstStyle/>
          <a:p>
            <a:r>
              <a:rPr lang="en-US" dirty="0"/>
              <a:t>Why Manage Risks?</a:t>
            </a:r>
          </a:p>
          <a:p>
            <a:pPr marL="0" indent="0">
              <a:buNone/>
            </a:pPr>
            <a:endParaRPr lang="en-US" dirty="0"/>
          </a:p>
        </p:txBody>
      </p:sp>
      <p:sp>
        <p:nvSpPr>
          <p:cNvPr id="4" name="Rectangle 3"/>
          <p:cNvSpPr txBox="1">
            <a:spLocks noChangeArrowheads="1"/>
          </p:cNvSpPr>
          <p:nvPr/>
        </p:nvSpPr>
        <p:spPr>
          <a:xfrm>
            <a:off x="1356852" y="1683588"/>
            <a:ext cx="9601200" cy="20688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defRPr/>
            </a:pPr>
            <a:r>
              <a:rPr lang="en-US" sz="2000" dirty="0"/>
              <a:t>It is a fact of life that chance events will occur and affect the outcome of your contract</a:t>
            </a:r>
          </a:p>
          <a:p>
            <a:pPr lvl="1">
              <a:defRPr/>
            </a:pPr>
            <a:r>
              <a:rPr lang="en-US" sz="2000" dirty="0"/>
              <a:t> </a:t>
            </a:r>
            <a:r>
              <a:rPr lang="en-US" sz="2000" i="1" dirty="0"/>
              <a:t>Murphy’s Laws</a:t>
            </a:r>
            <a:r>
              <a:rPr lang="en-US" sz="2000" dirty="0"/>
              <a:t> codify this “knowledge”</a:t>
            </a:r>
          </a:p>
          <a:p>
            <a:pPr lvl="2">
              <a:defRPr/>
            </a:pPr>
            <a:r>
              <a:rPr lang="en-US" dirty="0"/>
              <a:t>If anything can go wrong, it will! </a:t>
            </a:r>
          </a:p>
          <a:p>
            <a:pPr lvl="2">
              <a:defRPr/>
            </a:pPr>
            <a:r>
              <a:rPr lang="en-US" dirty="0"/>
              <a:t>Of things that could go wrong, the one that causes the most damage will occur!</a:t>
            </a:r>
          </a:p>
        </p:txBody>
      </p:sp>
      <p:sp>
        <p:nvSpPr>
          <p:cNvPr id="5" name="Rectangle 7"/>
          <p:cNvSpPr>
            <a:spLocks noChangeArrowheads="1"/>
          </p:cNvSpPr>
          <p:nvPr/>
        </p:nvSpPr>
        <p:spPr bwMode="auto">
          <a:xfrm>
            <a:off x="1356851" y="3776492"/>
            <a:ext cx="9601200" cy="2362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lvl1pPr marL="342900" indent="-342900">
              <a:lnSpc>
                <a:spcPct val="90000"/>
              </a:lnSpc>
              <a:spcBef>
                <a:spcPts val="1000"/>
              </a:spcBef>
              <a:buFont typeface="Arial" panose="020B0604020202020204" pitchFamily="34" charset="0"/>
              <a:buChar char="•"/>
              <a:defRPr sz="2200">
                <a:solidFill>
                  <a:schemeClr val="tx1"/>
                </a:solidFill>
                <a:latin typeface="Century Gothic" panose="020B0502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Century Gothic" panose="020B0502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Century Gothic" panose="020B0502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Century Gothic" panose="020B0502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Century Gothic" panose="020B0502020202020204" pitchFamily="34" charset="0"/>
              </a:defRPr>
            </a:lvl5pPr>
            <a:lvl6pPr marL="2514600" indent="-228600" defTabSz="457200" fontAlgn="base">
              <a:lnSpc>
                <a:spcPct val="90000"/>
              </a:lnSpc>
              <a:spcBef>
                <a:spcPts val="500"/>
              </a:spcBef>
              <a:spcAft>
                <a:spcPct val="0"/>
              </a:spcAft>
              <a:buFont typeface="Arial" panose="020B0604020202020204" pitchFamily="34" charset="0"/>
              <a:buChar char="•"/>
              <a:defRPr sz="1600">
                <a:solidFill>
                  <a:schemeClr val="tx1"/>
                </a:solidFill>
                <a:latin typeface="Century Gothic" panose="020B0502020202020204" pitchFamily="34" charset="0"/>
              </a:defRPr>
            </a:lvl6pPr>
            <a:lvl7pPr marL="2971800" indent="-228600" defTabSz="457200" fontAlgn="base">
              <a:lnSpc>
                <a:spcPct val="90000"/>
              </a:lnSpc>
              <a:spcBef>
                <a:spcPts val="500"/>
              </a:spcBef>
              <a:spcAft>
                <a:spcPct val="0"/>
              </a:spcAft>
              <a:buFont typeface="Arial" panose="020B0604020202020204" pitchFamily="34" charset="0"/>
              <a:buChar char="•"/>
              <a:defRPr sz="1600">
                <a:solidFill>
                  <a:schemeClr val="tx1"/>
                </a:solidFill>
                <a:latin typeface="Century Gothic" panose="020B0502020202020204" pitchFamily="34" charset="0"/>
              </a:defRPr>
            </a:lvl7pPr>
            <a:lvl8pPr marL="3429000" indent="-228600" defTabSz="457200" fontAlgn="base">
              <a:lnSpc>
                <a:spcPct val="90000"/>
              </a:lnSpc>
              <a:spcBef>
                <a:spcPts val="500"/>
              </a:spcBef>
              <a:spcAft>
                <a:spcPct val="0"/>
              </a:spcAft>
              <a:buFont typeface="Arial" panose="020B0604020202020204" pitchFamily="34" charset="0"/>
              <a:buChar char="•"/>
              <a:defRPr sz="1600">
                <a:solidFill>
                  <a:schemeClr val="tx1"/>
                </a:solidFill>
                <a:latin typeface="Century Gothic" panose="020B0502020202020204" pitchFamily="34" charset="0"/>
              </a:defRPr>
            </a:lvl8pPr>
            <a:lvl9pPr marL="3886200" indent="-228600" defTabSz="457200" fontAlgn="base">
              <a:lnSpc>
                <a:spcPct val="90000"/>
              </a:lnSpc>
              <a:spcBef>
                <a:spcPts val="500"/>
              </a:spcBef>
              <a:spcAft>
                <a:spcPct val="0"/>
              </a:spcAft>
              <a:buFont typeface="Arial" panose="020B0604020202020204" pitchFamily="34" charset="0"/>
              <a:buChar char="•"/>
              <a:defRPr sz="1600">
                <a:solidFill>
                  <a:schemeClr val="tx1"/>
                </a:solidFill>
                <a:latin typeface="Century Gothic" panose="020B0502020202020204" pitchFamily="34" charset="0"/>
              </a:defRPr>
            </a:lvl9pPr>
          </a:lstStyle>
          <a:p>
            <a:r>
              <a:rPr lang="en-US" sz="2000" dirty="0">
                <a:latin typeface="Times New Roman" panose="02020603050405020304" pitchFamily="18" charset="0"/>
              </a:rPr>
              <a:t>The matter of risk, the possibility that something may go wrong, or may not happen as planned, is an essential part of effective project management.</a:t>
            </a:r>
          </a:p>
          <a:p>
            <a:r>
              <a:rPr lang="en-US" altLang="en-US" sz="2000" dirty="0" smtClean="0">
                <a:latin typeface="Times New Roman" panose="02020603050405020304" pitchFamily="18" charset="0"/>
              </a:rPr>
              <a:t>Risk </a:t>
            </a:r>
            <a:r>
              <a:rPr lang="en-US" altLang="en-US" sz="2000" dirty="0">
                <a:latin typeface="Times New Roman" panose="02020603050405020304" pitchFamily="18" charset="0"/>
              </a:rPr>
              <a:t>management attempts to identify such events, minimize their impact &amp; provide a response if the event is detected</a:t>
            </a:r>
          </a:p>
          <a:p>
            <a:pPr lvl="1" eaLnBrk="1" hangingPunct="1">
              <a:spcBef>
                <a:spcPct val="20000"/>
              </a:spcBef>
              <a:buFontTx/>
              <a:buChar char="–"/>
            </a:pPr>
            <a:r>
              <a:rPr lang="en-US" altLang="en-US" i="1" dirty="0">
                <a:latin typeface="Times New Roman" panose="02020603050405020304" pitchFamily="18" charset="0"/>
              </a:rPr>
              <a:t>The essence of contract Management is Risk Management!</a:t>
            </a:r>
            <a:endParaRPr lang="en-US" altLang="en-US" dirty="0">
              <a:latin typeface="Times New Roman" panose="02020603050405020304" pitchFamily="18" charset="0"/>
            </a:endParaRPr>
          </a:p>
        </p:txBody>
      </p:sp>
      <p:sp>
        <p:nvSpPr>
          <p:cNvPr id="7" name="Footer Placeholder 4"/>
          <p:cNvSpPr>
            <a:spLocks noGrp="1"/>
          </p:cNvSpPr>
          <p:nvPr>
            <p:ph type="ftr" sz="quarter" idx="11"/>
          </p:nvPr>
        </p:nvSpPr>
        <p:spPr>
          <a:xfrm>
            <a:off x="2584054" y="6453386"/>
            <a:ext cx="7023377" cy="404614"/>
          </a:xfrm>
        </p:spPr>
        <p:txBody>
          <a:bodyPr/>
          <a:lstStyle/>
          <a:p>
            <a:pPr algn="ctr"/>
            <a:r>
              <a:rPr lang="en-US" dirty="0"/>
              <a:t>Lecture </a:t>
            </a:r>
            <a:r>
              <a:rPr lang="en-US" dirty="0" smtClean="0"/>
              <a:t>6</a:t>
            </a:r>
            <a:endParaRPr lang="en-US" dirty="0"/>
          </a:p>
        </p:txBody>
      </p:sp>
    </p:spTree>
    <p:extLst>
      <p:ext uri="{BB962C8B-B14F-4D97-AF65-F5344CB8AC3E}">
        <p14:creationId xmlns="" xmlns:p14="http://schemas.microsoft.com/office/powerpoint/2010/main" val="15149326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66174"/>
            <a:ext cx="9601200" cy="716727"/>
          </a:xfrm>
        </p:spPr>
        <p:txBody>
          <a:bodyPr vert="horz" lIns="91440" tIns="45720" rIns="91440" bIns="45720" rtlCol="0" anchor="t">
            <a:normAutofit/>
          </a:bodyPr>
          <a:lstStyle/>
          <a:p>
            <a:pPr algn="ctr"/>
            <a:r>
              <a:rPr lang="en-US" sz="2900" b="1" dirty="0"/>
              <a:t>Risk During Contract </a:t>
            </a:r>
          </a:p>
        </p:txBody>
      </p:sp>
      <p:sp>
        <p:nvSpPr>
          <p:cNvPr id="3" name="Content Placeholder 2"/>
          <p:cNvSpPr>
            <a:spLocks noGrp="1"/>
          </p:cNvSpPr>
          <p:nvPr>
            <p:ph idx="1"/>
          </p:nvPr>
        </p:nvSpPr>
        <p:spPr>
          <a:xfrm>
            <a:off x="1371601" y="982901"/>
            <a:ext cx="9601199" cy="2240325"/>
          </a:xfrm>
        </p:spPr>
        <p:txBody>
          <a:bodyPr>
            <a:normAutofit/>
          </a:bodyPr>
          <a:lstStyle/>
          <a:p>
            <a:pPr algn="just" fontAlgn="auto">
              <a:spcAft>
                <a:spcPts val="0"/>
              </a:spcAft>
              <a:defRPr/>
            </a:pPr>
            <a:r>
              <a:rPr lang="en-US" sz="2400" dirty="0"/>
              <a:t>Risk and the associated cost to address the risk, varies over the contract life cycle</a:t>
            </a:r>
          </a:p>
          <a:p>
            <a:pPr lvl="1" algn="just" fontAlgn="auto">
              <a:spcAft>
                <a:spcPts val="0"/>
              </a:spcAft>
              <a:defRPr/>
            </a:pPr>
            <a:r>
              <a:rPr lang="en-US" dirty="0"/>
              <a:t>For initial phase there is high chance of risk events, but low cost impact</a:t>
            </a:r>
          </a:p>
          <a:p>
            <a:pPr lvl="1" algn="just" fontAlgn="auto">
              <a:spcAft>
                <a:spcPts val="0"/>
              </a:spcAft>
              <a:defRPr/>
            </a:pPr>
            <a:r>
              <a:rPr lang="en-US" dirty="0"/>
              <a:t>For final phase there is low chance of risk events, but cost impact is high</a:t>
            </a:r>
          </a:p>
          <a:p>
            <a:pPr algn="just" fontAlgn="auto">
              <a:spcAft>
                <a:spcPts val="0"/>
              </a:spcAft>
              <a:defRPr/>
            </a:pPr>
            <a:r>
              <a:rPr lang="en-US" sz="2400" dirty="0"/>
              <a:t>Identifying and managing risks will greatly affect contract success</a:t>
            </a:r>
          </a:p>
          <a:p>
            <a:endParaRPr lang="en-US" dirty="0"/>
          </a:p>
        </p:txBody>
      </p:sp>
      <p:pic>
        <p:nvPicPr>
          <p:cNvPr id="4" name="Picture 7" descr="C:\My Documents\Phil\Editing\McGraw-Hill\Larson\Revised Original Files\Chap007\gra93925_0701.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764653" y="3642852"/>
            <a:ext cx="6107250" cy="239090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Footer Placeholder 4"/>
          <p:cNvSpPr>
            <a:spLocks noGrp="1"/>
          </p:cNvSpPr>
          <p:nvPr>
            <p:ph type="ftr" sz="quarter" idx="11"/>
          </p:nvPr>
        </p:nvSpPr>
        <p:spPr>
          <a:xfrm>
            <a:off x="2584054" y="6453386"/>
            <a:ext cx="7023377" cy="404614"/>
          </a:xfrm>
        </p:spPr>
        <p:txBody>
          <a:bodyPr/>
          <a:lstStyle/>
          <a:p>
            <a:pPr algn="ctr"/>
            <a:r>
              <a:rPr lang="en-US" dirty="0"/>
              <a:t>Lecture </a:t>
            </a:r>
            <a:r>
              <a:rPr lang="en-US" dirty="0" smtClean="0"/>
              <a:t>6</a:t>
            </a:r>
            <a:endParaRPr lang="en-US" dirty="0"/>
          </a:p>
        </p:txBody>
      </p:sp>
    </p:spTree>
    <p:extLst>
      <p:ext uri="{BB962C8B-B14F-4D97-AF65-F5344CB8AC3E}">
        <p14:creationId xmlns="" xmlns:p14="http://schemas.microsoft.com/office/powerpoint/2010/main" val="30487424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0324" y="365125"/>
            <a:ext cx="10515600" cy="521979"/>
          </a:xfrm>
        </p:spPr>
        <p:txBody>
          <a:bodyPr>
            <a:normAutofit fontScale="90000"/>
          </a:bodyPr>
          <a:lstStyle/>
          <a:p>
            <a:pPr algn="ctr"/>
            <a:r>
              <a:rPr lang="en-US" sz="3200" b="1" dirty="0" smtClean="0"/>
              <a:t>Rationale for Assessing Risk</a:t>
            </a:r>
            <a:endParaRPr lang="en-US" b="1" dirty="0"/>
          </a:p>
        </p:txBody>
      </p:sp>
      <p:sp>
        <p:nvSpPr>
          <p:cNvPr id="3" name="Content Placeholder 2"/>
          <p:cNvSpPr>
            <a:spLocks noGrp="1"/>
          </p:cNvSpPr>
          <p:nvPr>
            <p:ph idx="1"/>
          </p:nvPr>
        </p:nvSpPr>
        <p:spPr>
          <a:xfrm>
            <a:off x="1250324" y="1062520"/>
            <a:ext cx="10515600" cy="5390866"/>
          </a:xfrm>
        </p:spPr>
        <p:txBody>
          <a:bodyPr>
            <a:normAutofit/>
          </a:bodyPr>
          <a:lstStyle/>
          <a:p>
            <a:pPr marL="0" indent="0" algn="just">
              <a:buNone/>
            </a:pPr>
            <a:r>
              <a:rPr lang="en-US" sz="2400" dirty="0" smtClean="0"/>
              <a:t>The </a:t>
            </a:r>
            <a:r>
              <a:rPr lang="en-US" sz="2400" dirty="0"/>
              <a:t>project risk management process is needed to ensure that</a:t>
            </a:r>
            <a:r>
              <a:rPr lang="en-US" sz="2400" dirty="0" smtClean="0"/>
              <a:t>:</a:t>
            </a:r>
          </a:p>
          <a:p>
            <a:pPr lvl="1" algn="just"/>
            <a:r>
              <a:rPr lang="en-US" sz="2000" dirty="0" smtClean="0"/>
              <a:t>All </a:t>
            </a:r>
            <a:r>
              <a:rPr lang="en-US" sz="2000" dirty="0"/>
              <a:t>significant risks to the success of the project are identified;</a:t>
            </a:r>
          </a:p>
          <a:p>
            <a:pPr lvl="1" algn="just"/>
            <a:r>
              <a:rPr lang="en-US" sz="2000" dirty="0" smtClean="0"/>
              <a:t>Identified </a:t>
            </a:r>
            <a:r>
              <a:rPr lang="en-US" sz="2000" dirty="0"/>
              <a:t>risks are understood, with both the range of potential </a:t>
            </a:r>
            <a:r>
              <a:rPr lang="en-US" sz="2000" dirty="0" smtClean="0"/>
              <a:t>consequences they </a:t>
            </a:r>
            <a:r>
              <a:rPr lang="en-US" sz="2000" dirty="0"/>
              <a:t>represent and the likelihood of values in that range </a:t>
            </a:r>
            <a:r>
              <a:rPr lang="en-US" sz="2000" dirty="0" smtClean="0"/>
              <a:t>being determined </a:t>
            </a:r>
            <a:r>
              <a:rPr lang="en-US" sz="2000" dirty="0"/>
              <a:t>as far as is necessary for decision-making;</a:t>
            </a:r>
          </a:p>
          <a:p>
            <a:pPr lvl="1" algn="just"/>
            <a:r>
              <a:rPr lang="en-US" sz="2000" dirty="0" smtClean="0"/>
              <a:t>Assessment </a:t>
            </a:r>
            <a:r>
              <a:rPr lang="en-US" sz="2000" dirty="0"/>
              <a:t>is undertaken of individual risks relative to the other </a:t>
            </a:r>
            <a:r>
              <a:rPr lang="en-US" sz="2000" dirty="0" smtClean="0"/>
              <a:t>risks to </a:t>
            </a:r>
            <a:r>
              <a:rPr lang="en-US" sz="2000" dirty="0"/>
              <a:t>support priority setting and resource allocation;</a:t>
            </a:r>
          </a:p>
          <a:p>
            <a:pPr lvl="1" algn="just"/>
            <a:r>
              <a:rPr lang="en-US" sz="2000" dirty="0" smtClean="0"/>
              <a:t>Strategies </a:t>
            </a:r>
            <a:r>
              <a:rPr lang="en-US" sz="2000" dirty="0"/>
              <a:t>for treating the risks take account of opportunities to </a:t>
            </a:r>
            <a:r>
              <a:rPr lang="en-US" sz="2000" dirty="0" smtClean="0"/>
              <a:t>address more </a:t>
            </a:r>
            <a:r>
              <a:rPr lang="en-US" sz="2000" dirty="0"/>
              <a:t>than one risk;</a:t>
            </a:r>
          </a:p>
          <a:p>
            <a:pPr lvl="1" algn="just"/>
            <a:r>
              <a:rPr lang="en-US" sz="2000" dirty="0" smtClean="0"/>
              <a:t>The </a:t>
            </a:r>
            <a:r>
              <a:rPr lang="en-US" sz="2000" dirty="0"/>
              <a:t>process itself and the risk treatment strategies are </a:t>
            </a:r>
            <a:r>
              <a:rPr lang="en-US" sz="2000" dirty="0" smtClean="0"/>
              <a:t>implemented cost-effectively</a:t>
            </a:r>
            <a:r>
              <a:rPr lang="en-US" sz="2000" dirty="0"/>
              <a:t>.</a:t>
            </a:r>
          </a:p>
        </p:txBody>
      </p:sp>
      <p:sp>
        <p:nvSpPr>
          <p:cNvPr id="4" name="Footer Placeholder 4"/>
          <p:cNvSpPr>
            <a:spLocks noGrp="1"/>
          </p:cNvSpPr>
          <p:nvPr>
            <p:ph type="ftr" sz="quarter" idx="11"/>
          </p:nvPr>
        </p:nvSpPr>
        <p:spPr>
          <a:xfrm>
            <a:off x="2584054" y="6453386"/>
            <a:ext cx="7023377" cy="404614"/>
          </a:xfrm>
        </p:spPr>
        <p:txBody>
          <a:bodyPr/>
          <a:lstStyle/>
          <a:p>
            <a:pPr algn="ctr"/>
            <a:r>
              <a:rPr lang="en-US" dirty="0"/>
              <a:t>Lecture </a:t>
            </a:r>
            <a:r>
              <a:rPr lang="en-US" dirty="0" smtClean="0"/>
              <a:t>6</a:t>
            </a:r>
            <a:endParaRPr lang="en-US" dirty="0"/>
          </a:p>
        </p:txBody>
      </p:sp>
    </p:spTree>
    <p:extLst>
      <p:ext uri="{BB962C8B-B14F-4D97-AF65-F5344CB8AC3E}">
        <p14:creationId xmlns="" xmlns:p14="http://schemas.microsoft.com/office/powerpoint/2010/main" val="458575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66997"/>
            <a:ext cx="9601200" cy="586040"/>
          </a:xfrm>
        </p:spPr>
        <p:txBody>
          <a:bodyPr vert="horz" lIns="91440" tIns="45720" rIns="91440" bIns="45720" rtlCol="0" anchor="t">
            <a:normAutofit/>
          </a:bodyPr>
          <a:lstStyle/>
          <a:p>
            <a:pPr algn="ctr"/>
            <a:r>
              <a:rPr lang="en-US" sz="3200" b="1" dirty="0"/>
              <a:t>What is Risk Management</a:t>
            </a:r>
          </a:p>
        </p:txBody>
      </p:sp>
      <p:sp>
        <p:nvSpPr>
          <p:cNvPr id="3" name="Content Placeholder 2"/>
          <p:cNvSpPr>
            <a:spLocks noGrp="1"/>
          </p:cNvSpPr>
          <p:nvPr>
            <p:ph idx="1"/>
          </p:nvPr>
        </p:nvSpPr>
        <p:spPr>
          <a:xfrm>
            <a:off x="1371600" y="1460090"/>
            <a:ext cx="9601200" cy="3581400"/>
          </a:xfrm>
        </p:spPr>
        <p:txBody>
          <a:bodyPr>
            <a:normAutofit lnSpcReduction="10000"/>
          </a:bodyPr>
          <a:lstStyle/>
          <a:p>
            <a:pPr algn="just"/>
            <a:r>
              <a:rPr lang="en-US" sz="2000" b="1" dirty="0"/>
              <a:t>Risk</a:t>
            </a:r>
            <a:r>
              <a:rPr lang="en-US" sz="2000" dirty="0"/>
              <a:t>: Possibility of loss or injury, a dangerous element or factor, the chance of loss, the degree of probability of such loss.</a:t>
            </a:r>
          </a:p>
          <a:p>
            <a:pPr algn="just"/>
            <a:r>
              <a:rPr lang="en-US" sz="2000" b="1" dirty="0"/>
              <a:t>Risk Identification</a:t>
            </a:r>
            <a:r>
              <a:rPr lang="en-US" sz="2000" dirty="0"/>
              <a:t>: The process of systematically identifying all possible risk events which may impact a project.</a:t>
            </a:r>
          </a:p>
          <a:p>
            <a:pPr algn="just"/>
            <a:r>
              <a:rPr lang="en-US" sz="2000" b="1" dirty="0"/>
              <a:t>Risk Assessment</a:t>
            </a:r>
            <a:r>
              <a:rPr lang="en-US" sz="2000" dirty="0"/>
              <a:t>: The process of subjectively determining the probability that a specific interplay of performance, schedule, and cost, as an objective, will or will not be attained along the planned course of action. </a:t>
            </a:r>
          </a:p>
          <a:p>
            <a:pPr algn="just"/>
            <a:r>
              <a:rPr lang="en-US" sz="2000" b="1" dirty="0"/>
              <a:t>Risk Management </a:t>
            </a:r>
            <a:r>
              <a:rPr lang="en-US" sz="2000" dirty="0"/>
              <a:t>is the systematic process of identifying, analyzing, and responding to risk. It includes maximizing the probability and consequences of positive events and minimizing the probability and consequences of adverse events to project objectives</a:t>
            </a:r>
          </a:p>
        </p:txBody>
      </p:sp>
      <p:sp>
        <p:nvSpPr>
          <p:cNvPr id="4" name="Footer Placeholder 3"/>
          <p:cNvSpPr>
            <a:spLocks noGrp="1"/>
          </p:cNvSpPr>
          <p:nvPr>
            <p:ph type="ftr" sz="quarter" idx="11"/>
          </p:nvPr>
        </p:nvSpPr>
        <p:spPr/>
        <p:txBody>
          <a:bodyPr/>
          <a:lstStyle/>
          <a:p>
            <a:pPr algn="ctr"/>
            <a:r>
              <a:rPr lang="en-US" dirty="0"/>
              <a:t>Lecture 4</a:t>
            </a:r>
          </a:p>
        </p:txBody>
      </p:sp>
    </p:spTree>
    <p:extLst>
      <p:ext uri="{BB962C8B-B14F-4D97-AF65-F5344CB8AC3E}">
        <p14:creationId xmlns="" xmlns:p14="http://schemas.microsoft.com/office/powerpoint/2010/main" val="3084704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71600" y="655123"/>
            <a:ext cx="6178210" cy="3033154"/>
          </a:xfrm>
          <a:prstGeom prst="rect">
            <a:avLst/>
          </a:prstGeom>
          <a:ln w="3175">
            <a:solidFill>
              <a:schemeClr val="tx1"/>
            </a:solidFill>
          </a:ln>
        </p:spPr>
      </p:pic>
      <p:pic>
        <p:nvPicPr>
          <p:cNvPr id="5" name="Picture 4"/>
          <p:cNvPicPr>
            <a:picLocks noChangeAspect="1"/>
          </p:cNvPicPr>
          <p:nvPr/>
        </p:nvPicPr>
        <p:blipFill>
          <a:blip r:embed="rId3"/>
          <a:stretch>
            <a:fillRect/>
          </a:stretch>
        </p:blipFill>
        <p:spPr>
          <a:xfrm>
            <a:off x="4794590" y="3718954"/>
            <a:ext cx="6178210" cy="3042874"/>
          </a:xfrm>
          <a:prstGeom prst="rect">
            <a:avLst/>
          </a:prstGeom>
          <a:ln w="3175">
            <a:solidFill>
              <a:schemeClr val="tx1"/>
            </a:solidFill>
          </a:ln>
        </p:spPr>
      </p:pic>
    </p:spTree>
    <p:extLst>
      <p:ext uri="{BB962C8B-B14F-4D97-AF65-F5344CB8AC3E}">
        <p14:creationId xmlns="" xmlns:p14="http://schemas.microsoft.com/office/powerpoint/2010/main" val="1050854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434288"/>
            <a:ext cx="9601200" cy="759542"/>
          </a:xfrm>
        </p:spPr>
        <p:txBody>
          <a:bodyPr vert="horz" lIns="91440" tIns="45720" rIns="91440" bIns="45720" rtlCol="0" anchor="t">
            <a:normAutofit/>
          </a:bodyPr>
          <a:lstStyle/>
          <a:p>
            <a:pPr algn="ctr"/>
            <a:r>
              <a:rPr lang="en-US" sz="3200" b="1" dirty="0"/>
              <a:t>Risk C</a:t>
            </a:r>
            <a:r>
              <a:rPr lang="en-US" sz="3200" b="1" dirty="0" smtClean="0"/>
              <a:t>ategories</a:t>
            </a:r>
            <a:endParaRPr lang="en-US" sz="3200" b="1" dirty="0"/>
          </a:p>
        </p:txBody>
      </p:sp>
      <p:sp>
        <p:nvSpPr>
          <p:cNvPr id="3" name="Content Placeholder 2"/>
          <p:cNvSpPr>
            <a:spLocks noGrp="1"/>
          </p:cNvSpPr>
          <p:nvPr>
            <p:ph idx="1"/>
          </p:nvPr>
        </p:nvSpPr>
        <p:spPr>
          <a:xfrm>
            <a:off x="1371600" y="1328212"/>
            <a:ext cx="9601200" cy="3581400"/>
          </a:xfrm>
        </p:spPr>
        <p:txBody>
          <a:bodyPr>
            <a:normAutofit fontScale="77500" lnSpcReduction="20000"/>
          </a:bodyPr>
          <a:lstStyle/>
          <a:p>
            <a:pPr algn="just" fontAlgn="auto">
              <a:spcAft>
                <a:spcPts val="0"/>
              </a:spcAft>
              <a:defRPr/>
            </a:pPr>
            <a:r>
              <a:rPr lang="en-US" altLang="en-US" sz="2400" dirty="0"/>
              <a:t>Risks associated with the </a:t>
            </a:r>
            <a:r>
              <a:rPr lang="en-US" altLang="en-US" sz="2800" b="1" dirty="0"/>
              <a:t>technical aspects </a:t>
            </a:r>
            <a:r>
              <a:rPr lang="en-US" altLang="en-US" sz="2400" dirty="0"/>
              <a:t>of a contract can have the most </a:t>
            </a:r>
            <a:r>
              <a:rPr lang="en-US" altLang="en-US" sz="2400" dirty="0" smtClean="0"/>
              <a:t>severe </a:t>
            </a:r>
            <a:r>
              <a:rPr lang="en-US" altLang="en-US" sz="2400" dirty="0"/>
              <a:t>outcomes</a:t>
            </a:r>
          </a:p>
          <a:p>
            <a:pPr lvl="1" algn="just" fontAlgn="auto">
              <a:spcAft>
                <a:spcPts val="0"/>
              </a:spcAft>
              <a:defRPr/>
            </a:pPr>
            <a:r>
              <a:rPr lang="en-US" altLang="en-US" dirty="0"/>
              <a:t>Can be </a:t>
            </a:r>
            <a:r>
              <a:rPr lang="en-US" altLang="en-US" i="1" dirty="0"/>
              <a:t>mitigated</a:t>
            </a:r>
            <a:r>
              <a:rPr lang="en-US" altLang="en-US" dirty="0"/>
              <a:t> by </a:t>
            </a:r>
            <a:r>
              <a:rPr lang="en-US" altLang="en-US" b="1" dirty="0"/>
              <a:t>building and testing prototypes </a:t>
            </a:r>
            <a:r>
              <a:rPr lang="en-US" altLang="en-US" dirty="0"/>
              <a:t>of critical components</a:t>
            </a:r>
          </a:p>
          <a:p>
            <a:pPr lvl="1" algn="just" fontAlgn="auto">
              <a:spcAft>
                <a:spcPts val="0"/>
              </a:spcAft>
              <a:defRPr/>
            </a:pPr>
            <a:r>
              <a:rPr lang="en-US" altLang="en-US" dirty="0"/>
              <a:t>Have available </a:t>
            </a:r>
            <a:r>
              <a:rPr lang="en-US" altLang="en-US" sz="2100" b="1" dirty="0"/>
              <a:t>backup or alternate designs </a:t>
            </a:r>
            <a:r>
              <a:rPr lang="en-US" altLang="en-US" dirty="0"/>
              <a:t>that have much lower risk</a:t>
            </a:r>
          </a:p>
          <a:p>
            <a:pPr algn="just" fontAlgn="auto">
              <a:spcAft>
                <a:spcPts val="0"/>
              </a:spcAft>
              <a:defRPr/>
            </a:pPr>
            <a:r>
              <a:rPr lang="en-US" altLang="en-US" sz="2400" dirty="0"/>
              <a:t>Risks associated with the </a:t>
            </a:r>
            <a:r>
              <a:rPr lang="en-US" altLang="en-US" sz="2800" b="1" dirty="0"/>
              <a:t>schedule </a:t>
            </a:r>
            <a:r>
              <a:rPr lang="en-US" altLang="en-US" sz="2400" dirty="0"/>
              <a:t>usually require a trade-off</a:t>
            </a:r>
          </a:p>
          <a:p>
            <a:pPr lvl="1" algn="just" fontAlgn="auto">
              <a:spcAft>
                <a:spcPts val="0"/>
              </a:spcAft>
              <a:defRPr/>
            </a:pPr>
            <a:r>
              <a:rPr lang="en-US" altLang="en-US" dirty="0"/>
              <a:t>Manage </a:t>
            </a:r>
            <a:r>
              <a:rPr lang="en-US" altLang="en-US" sz="2100" b="1" dirty="0"/>
              <a:t>“slack” time </a:t>
            </a:r>
            <a:r>
              <a:rPr lang="en-US" altLang="en-US" dirty="0"/>
              <a:t>to provide resources for delayed components </a:t>
            </a:r>
          </a:p>
          <a:p>
            <a:pPr lvl="1" algn="just" fontAlgn="auto">
              <a:spcAft>
                <a:spcPts val="0"/>
              </a:spcAft>
              <a:defRPr/>
            </a:pPr>
            <a:r>
              <a:rPr lang="en-US" altLang="en-US" dirty="0"/>
              <a:t>Bring in </a:t>
            </a:r>
            <a:r>
              <a:rPr lang="en-US" altLang="en-US" sz="2100" b="1" dirty="0"/>
              <a:t>more people (increase costs) </a:t>
            </a:r>
            <a:r>
              <a:rPr lang="en-US" altLang="en-US" dirty="0"/>
              <a:t>or reduce performance</a:t>
            </a:r>
          </a:p>
          <a:p>
            <a:pPr algn="just" fontAlgn="auto">
              <a:spcAft>
                <a:spcPts val="0"/>
              </a:spcAft>
              <a:defRPr/>
            </a:pPr>
            <a:r>
              <a:rPr lang="en-US" altLang="en-US" sz="2400" dirty="0"/>
              <a:t>Risks associated with</a:t>
            </a:r>
            <a:r>
              <a:rPr lang="en-US" altLang="en-US" sz="2400" b="1" dirty="0"/>
              <a:t> </a:t>
            </a:r>
            <a:r>
              <a:rPr lang="en-US" altLang="en-US" sz="2800" b="1" dirty="0"/>
              <a:t>costs</a:t>
            </a:r>
            <a:r>
              <a:rPr lang="en-US" altLang="en-US" sz="2400" b="1" dirty="0"/>
              <a:t> </a:t>
            </a:r>
            <a:r>
              <a:rPr lang="en-US" altLang="en-US" sz="2400" dirty="0"/>
              <a:t>usually result from estimate errors and omissions</a:t>
            </a:r>
          </a:p>
          <a:p>
            <a:pPr lvl="1" algn="just" fontAlgn="auto">
              <a:spcAft>
                <a:spcPts val="0"/>
              </a:spcAft>
              <a:defRPr/>
            </a:pPr>
            <a:r>
              <a:rPr lang="en-US" altLang="en-US" dirty="0"/>
              <a:t>Time &amp; cost are related; trade-off schedule delays with lower cost</a:t>
            </a:r>
          </a:p>
          <a:p>
            <a:pPr lvl="1" algn="just" fontAlgn="auto">
              <a:spcAft>
                <a:spcPts val="0"/>
              </a:spcAft>
              <a:defRPr/>
            </a:pPr>
            <a:r>
              <a:rPr lang="en-US" altLang="en-US" sz="2100" b="1" dirty="0"/>
              <a:t>“Descope” options </a:t>
            </a:r>
            <a:r>
              <a:rPr lang="en-US" altLang="en-US" dirty="0"/>
              <a:t>that remove components of the contract, but still allow the primary mission to proceed</a:t>
            </a:r>
          </a:p>
          <a:p>
            <a:pPr algn="just" fontAlgn="auto">
              <a:spcAft>
                <a:spcPts val="0"/>
              </a:spcAft>
              <a:defRPr/>
            </a:pPr>
            <a:r>
              <a:rPr lang="en-US" altLang="en-US" sz="2400" dirty="0"/>
              <a:t>All “budgets” </a:t>
            </a:r>
            <a:r>
              <a:rPr lang="en-US" altLang="en-US" sz="2400" dirty="0" smtClean="0"/>
              <a:t>should </a:t>
            </a:r>
            <a:r>
              <a:rPr lang="en-US" altLang="en-US" sz="2400" dirty="0"/>
              <a:t>include a reserve percentage that can be expended as risk events occur</a:t>
            </a:r>
          </a:p>
          <a:p>
            <a:endParaRPr lang="en-US" dirty="0"/>
          </a:p>
        </p:txBody>
      </p:sp>
      <p:sp>
        <p:nvSpPr>
          <p:cNvPr id="4" name="Footer Placeholder 3"/>
          <p:cNvSpPr>
            <a:spLocks noGrp="1"/>
          </p:cNvSpPr>
          <p:nvPr>
            <p:ph type="ftr" sz="quarter" idx="11"/>
          </p:nvPr>
        </p:nvSpPr>
        <p:spPr/>
        <p:txBody>
          <a:bodyPr/>
          <a:lstStyle/>
          <a:p>
            <a:pPr algn="ctr"/>
            <a:r>
              <a:rPr lang="en-US" dirty="0" smtClean="0"/>
              <a:t>Lecture 6</a:t>
            </a:r>
            <a:endParaRPr lang="en-US" dirty="0"/>
          </a:p>
        </p:txBody>
      </p:sp>
    </p:spTree>
    <p:extLst>
      <p:ext uri="{BB962C8B-B14F-4D97-AF65-F5344CB8AC3E}">
        <p14:creationId xmlns="" xmlns:p14="http://schemas.microsoft.com/office/powerpoint/2010/main" val="5157852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1448" y="907959"/>
            <a:ext cx="10361053" cy="5222384"/>
          </a:xfrm>
        </p:spPr>
        <p:txBody>
          <a:bodyPr>
            <a:normAutofit fontScale="85000" lnSpcReduction="10000"/>
          </a:bodyPr>
          <a:lstStyle/>
          <a:p>
            <a:pPr marL="0" indent="0" algn="just">
              <a:buNone/>
            </a:pPr>
            <a:r>
              <a:rPr lang="en-US" sz="2000" dirty="0"/>
              <a:t>For some projects, risk management may be a formal requirement at specific stages </a:t>
            </a:r>
            <a:r>
              <a:rPr lang="en-US" sz="2000" dirty="0" smtClean="0"/>
              <a:t>of the </a:t>
            </a:r>
            <a:r>
              <a:rPr lang="en-US" sz="2000" dirty="0"/>
              <a:t>project development. There may be many reasons for this</a:t>
            </a:r>
            <a:r>
              <a:rPr lang="en-US" sz="2000" dirty="0" smtClean="0"/>
              <a:t>:</a:t>
            </a:r>
          </a:p>
          <a:p>
            <a:pPr algn="just"/>
            <a:r>
              <a:rPr lang="en-US" sz="2000" b="1" dirty="0" smtClean="0"/>
              <a:t>Economic </a:t>
            </a:r>
            <a:r>
              <a:rPr lang="en-US" sz="2000" b="1" dirty="0"/>
              <a:t>viability </a:t>
            </a:r>
            <a:r>
              <a:rPr lang="en-US" sz="2000" dirty="0"/>
              <a:t>assessment, for high-level strategic decision-making about </a:t>
            </a:r>
            <a:r>
              <a:rPr lang="en-US" sz="2000" dirty="0" smtClean="0"/>
              <a:t>whether or </a:t>
            </a:r>
            <a:r>
              <a:rPr lang="en-US" sz="2000" dirty="0"/>
              <a:t>not to proceed with a project;</a:t>
            </a:r>
          </a:p>
          <a:p>
            <a:pPr algn="just"/>
            <a:r>
              <a:rPr lang="en-US" sz="2000" b="1" dirty="0" smtClean="0"/>
              <a:t>Financial </a:t>
            </a:r>
            <a:r>
              <a:rPr lang="en-US" sz="2000" b="1" dirty="0"/>
              <a:t>feasibility </a:t>
            </a:r>
            <a:r>
              <a:rPr lang="en-US" sz="2000" dirty="0"/>
              <a:t>assessment, when a finance package is being assembled;</a:t>
            </a:r>
          </a:p>
          <a:p>
            <a:pPr algn="just"/>
            <a:r>
              <a:rPr lang="en-US" sz="2000" b="1" dirty="0" smtClean="0"/>
              <a:t>Corporate </a:t>
            </a:r>
            <a:r>
              <a:rPr lang="en-US" sz="2000" b="1" dirty="0"/>
              <a:t>governance and accountability</a:t>
            </a:r>
            <a:r>
              <a:rPr lang="en-US" sz="2000" dirty="0"/>
              <a:t>, for managers, project staff, end-users </a:t>
            </a:r>
            <a:r>
              <a:rPr lang="en-US" sz="2000" dirty="0" smtClean="0"/>
              <a:t>and suppliers </a:t>
            </a:r>
            <a:r>
              <a:rPr lang="en-US" sz="2000" dirty="0"/>
              <a:t>to demonstrate that they have fully assessed all the material risks, that </a:t>
            </a:r>
            <a:r>
              <a:rPr lang="en-US" sz="2000" dirty="0" smtClean="0"/>
              <a:t>the measures </a:t>
            </a:r>
            <a:r>
              <a:rPr lang="en-US" sz="2000" dirty="0"/>
              <a:t>taken to control risk are appropriate, and that the economic reward for </a:t>
            </a:r>
            <a:r>
              <a:rPr lang="en-US" sz="2000" dirty="0" smtClean="0"/>
              <a:t>taking on </a:t>
            </a:r>
            <a:r>
              <a:rPr lang="en-US" sz="2000" dirty="0"/>
              <a:t>the risk that remains is adequate;</a:t>
            </a:r>
          </a:p>
          <a:p>
            <a:pPr algn="just"/>
            <a:r>
              <a:rPr lang="en-US" sz="2000" b="1" dirty="0" smtClean="0"/>
              <a:t>Contractual </a:t>
            </a:r>
            <a:r>
              <a:rPr lang="en-US" sz="2000" b="1" dirty="0"/>
              <a:t>purposes</a:t>
            </a:r>
            <a:r>
              <a:rPr lang="en-US" sz="2000" dirty="0"/>
              <a:t>, to assess alternative contractual and legal frameworks for </a:t>
            </a:r>
            <a:r>
              <a:rPr lang="en-US" sz="2000" dirty="0" smtClean="0"/>
              <a:t>the project</a:t>
            </a:r>
            <a:r>
              <a:rPr lang="en-US" sz="2000" dirty="0"/>
              <a:t>, in the context of deciding who should bear what risks and determining </a:t>
            </a:r>
            <a:r>
              <a:rPr lang="en-US" sz="2000" dirty="0" smtClean="0"/>
              <a:t>an equitable </a:t>
            </a:r>
            <a:r>
              <a:rPr lang="en-US" sz="2000" dirty="0"/>
              <a:t>allocation and sharing of risks and rewards between the parties involved;</a:t>
            </a:r>
          </a:p>
          <a:p>
            <a:pPr algn="just"/>
            <a:r>
              <a:rPr lang="en-US" sz="2000" b="1" dirty="0" smtClean="0"/>
              <a:t>Tendering</a:t>
            </a:r>
            <a:r>
              <a:rPr lang="en-US" sz="2000" dirty="0"/>
              <a:t>, when deciding whether or not to bid, or accept a bid, for a proposed </a:t>
            </a:r>
            <a:r>
              <a:rPr lang="en-US" sz="2000" dirty="0" smtClean="0"/>
              <a:t>project, and </a:t>
            </a:r>
            <a:r>
              <a:rPr lang="en-US" sz="2000" dirty="0"/>
              <a:t>in what form;</a:t>
            </a:r>
          </a:p>
          <a:p>
            <a:pPr algn="just"/>
            <a:r>
              <a:rPr lang="en-US" sz="2000" b="1" dirty="0" smtClean="0"/>
              <a:t>Regulatory </a:t>
            </a:r>
            <a:r>
              <a:rPr lang="en-US" sz="2000" b="1" dirty="0"/>
              <a:t>purposes</a:t>
            </a:r>
            <a:r>
              <a:rPr lang="en-US" sz="2000" dirty="0"/>
              <a:t>, for legislative, judicial or licensing agencies, or for public </a:t>
            </a:r>
            <a:r>
              <a:rPr lang="en-US" sz="2000" dirty="0" smtClean="0"/>
              <a:t>inquiries, to </a:t>
            </a:r>
            <a:r>
              <a:rPr lang="en-US" sz="2000" dirty="0"/>
              <a:t>demonstrate accountability in a public or social context;</a:t>
            </a:r>
          </a:p>
          <a:p>
            <a:pPr algn="just"/>
            <a:r>
              <a:rPr lang="en-US" sz="2000" b="1" dirty="0" smtClean="0"/>
              <a:t>Communication </a:t>
            </a:r>
            <a:r>
              <a:rPr lang="en-US" sz="2000" b="1" dirty="0"/>
              <a:t>purposes</a:t>
            </a:r>
            <a:r>
              <a:rPr lang="en-US" sz="2000" dirty="0"/>
              <a:t>, to provide information for owners, sponsors, users, </a:t>
            </a:r>
            <a:r>
              <a:rPr lang="en-US" sz="2000" dirty="0" smtClean="0"/>
              <a:t>contractors, joint </a:t>
            </a:r>
            <a:r>
              <a:rPr lang="en-US" sz="2000" dirty="0"/>
              <a:t>venture partners or other stakeholders, or to demonstrate capability and </a:t>
            </a:r>
            <a:r>
              <a:rPr lang="en-US" sz="2000" dirty="0" smtClean="0"/>
              <a:t>competence in </a:t>
            </a:r>
            <a:r>
              <a:rPr lang="en-US" sz="2000" dirty="0"/>
              <a:t>an area.</a:t>
            </a:r>
          </a:p>
        </p:txBody>
      </p:sp>
    </p:spTree>
    <p:extLst>
      <p:ext uri="{BB962C8B-B14F-4D97-AF65-F5344CB8AC3E}">
        <p14:creationId xmlns="" xmlns:p14="http://schemas.microsoft.com/office/powerpoint/2010/main" val="1851615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544132"/>
            <a:ext cx="9601200" cy="640724"/>
          </a:xfrm>
        </p:spPr>
        <p:txBody>
          <a:bodyPr vert="horz" lIns="91440" tIns="45720" rIns="91440" bIns="45720" rtlCol="0" anchor="t">
            <a:normAutofit/>
          </a:bodyPr>
          <a:lstStyle/>
          <a:p>
            <a:pPr algn="ctr"/>
            <a:r>
              <a:rPr lang="en-US" sz="3200" b="1" u="sng" dirty="0"/>
              <a:t>Steps in Risk Management</a:t>
            </a:r>
          </a:p>
        </p:txBody>
      </p:sp>
      <p:sp>
        <p:nvSpPr>
          <p:cNvPr id="3" name="Content Placeholder 2"/>
          <p:cNvSpPr>
            <a:spLocks noGrp="1"/>
          </p:cNvSpPr>
          <p:nvPr>
            <p:ph idx="1"/>
          </p:nvPr>
        </p:nvSpPr>
        <p:spPr>
          <a:xfrm>
            <a:off x="1371600" y="1500389"/>
            <a:ext cx="9601200" cy="3581400"/>
          </a:xfrm>
        </p:spPr>
        <p:txBody>
          <a:bodyPr/>
          <a:lstStyle/>
          <a:p>
            <a:r>
              <a:rPr lang="en-US" dirty="0"/>
              <a:t>The </a:t>
            </a:r>
            <a:r>
              <a:rPr lang="en-US" dirty="0" smtClean="0"/>
              <a:t>Identification </a:t>
            </a:r>
            <a:r>
              <a:rPr lang="en-US" dirty="0"/>
              <a:t>of potential project risks</a:t>
            </a:r>
          </a:p>
          <a:p>
            <a:r>
              <a:rPr lang="en-US" dirty="0"/>
              <a:t>The A</a:t>
            </a:r>
            <a:r>
              <a:rPr lang="en-US" dirty="0" smtClean="0"/>
              <a:t>ssessment </a:t>
            </a:r>
            <a:r>
              <a:rPr lang="en-US" dirty="0"/>
              <a:t>of the probability of a risk's </a:t>
            </a:r>
          </a:p>
          <a:p>
            <a:r>
              <a:rPr lang="en-US" dirty="0"/>
              <a:t>The </a:t>
            </a:r>
            <a:r>
              <a:rPr lang="en-US" dirty="0" smtClean="0"/>
              <a:t>Development </a:t>
            </a:r>
            <a:r>
              <a:rPr lang="en-US" dirty="0"/>
              <a:t>of a risk closure plan</a:t>
            </a:r>
          </a:p>
        </p:txBody>
      </p:sp>
      <p:sp>
        <p:nvSpPr>
          <p:cNvPr id="4" name="Footer Placeholder 3"/>
          <p:cNvSpPr>
            <a:spLocks noGrp="1"/>
          </p:cNvSpPr>
          <p:nvPr>
            <p:ph type="ftr" sz="quarter" idx="11"/>
          </p:nvPr>
        </p:nvSpPr>
        <p:spPr/>
        <p:txBody>
          <a:bodyPr/>
          <a:lstStyle/>
          <a:p>
            <a:r>
              <a:rPr lang="en-US"/>
              <a:t>Lecture 4</a:t>
            </a:r>
          </a:p>
        </p:txBody>
      </p:sp>
    </p:spTree>
    <p:extLst>
      <p:ext uri="{BB962C8B-B14F-4D97-AF65-F5344CB8AC3E}">
        <p14:creationId xmlns="" xmlns:p14="http://schemas.microsoft.com/office/powerpoint/2010/main" val="25679537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565063"/>
            <a:ext cx="9601200" cy="808149"/>
          </a:xfrm>
        </p:spPr>
        <p:txBody>
          <a:bodyPr vert="horz" lIns="91440" tIns="45720" rIns="91440" bIns="45720" rtlCol="0" anchor="t">
            <a:normAutofit/>
          </a:bodyPr>
          <a:lstStyle/>
          <a:p>
            <a:r>
              <a:rPr lang="en-US" sz="2900" b="1" u="sng" dirty="0"/>
              <a:t>The Identification of Potential Project Risks</a:t>
            </a:r>
          </a:p>
        </p:txBody>
      </p:sp>
      <p:sp>
        <p:nvSpPr>
          <p:cNvPr id="3" name="Content Placeholder 2"/>
          <p:cNvSpPr>
            <a:spLocks noGrp="1"/>
          </p:cNvSpPr>
          <p:nvPr>
            <p:ph idx="1"/>
          </p:nvPr>
        </p:nvSpPr>
        <p:spPr>
          <a:xfrm>
            <a:off x="1371600" y="1191296"/>
            <a:ext cx="9601200" cy="3581400"/>
          </a:xfrm>
        </p:spPr>
        <p:txBody>
          <a:bodyPr>
            <a:normAutofit fontScale="92500"/>
          </a:bodyPr>
          <a:lstStyle/>
          <a:p>
            <a:pPr marL="0" indent="0">
              <a:buNone/>
            </a:pPr>
            <a:r>
              <a:rPr lang="en-US" sz="2400" dirty="0"/>
              <a:t>1. WBS (Work-breakdown Structure)</a:t>
            </a:r>
          </a:p>
          <a:p>
            <a:r>
              <a:rPr lang="en-US" sz="2400" dirty="0"/>
              <a:t>Breaking the project into manageable pieces (WBS elements) exposing the critical stages within each WBS </a:t>
            </a:r>
            <a:r>
              <a:rPr lang="en-US" sz="2400" dirty="0" smtClean="0"/>
              <a:t>elements.</a:t>
            </a:r>
            <a:endParaRPr lang="en-US" sz="2400" dirty="0"/>
          </a:p>
          <a:p>
            <a:pPr marL="0" indent="0">
              <a:buNone/>
            </a:pPr>
            <a:r>
              <a:rPr lang="en-US" sz="2400" dirty="0"/>
              <a:t>2. Brainstorming </a:t>
            </a:r>
          </a:p>
          <a:p>
            <a:pPr algn="just"/>
            <a:r>
              <a:rPr lang="en-US" sz="2400" dirty="0"/>
              <a:t>The initial goal of the Brainstorming approach is to develop a comprehensive listing of all possible risks facing the new project, but not necessarily to immediately resolve </a:t>
            </a:r>
            <a:r>
              <a:rPr lang="en-US" sz="2400" dirty="0" smtClean="0"/>
              <a:t>them.</a:t>
            </a:r>
            <a:endParaRPr lang="en-US" sz="2400" dirty="0"/>
          </a:p>
          <a:p>
            <a:pPr algn="just"/>
            <a:r>
              <a:rPr lang="en-US" sz="2400" dirty="0"/>
              <a:t>In Brain Storming the facilitator, the official scribe and the team is involved who identifies the risk that can occur during any stage of the </a:t>
            </a:r>
            <a:r>
              <a:rPr lang="en-US" sz="2400" dirty="0" smtClean="0"/>
              <a:t>project.</a:t>
            </a:r>
            <a:endParaRPr lang="en-US" sz="2400" dirty="0"/>
          </a:p>
        </p:txBody>
      </p:sp>
      <p:sp>
        <p:nvSpPr>
          <p:cNvPr id="4" name="Footer Placeholder 3"/>
          <p:cNvSpPr>
            <a:spLocks noGrp="1"/>
          </p:cNvSpPr>
          <p:nvPr>
            <p:ph type="ftr" sz="quarter" idx="11"/>
          </p:nvPr>
        </p:nvSpPr>
        <p:spPr/>
        <p:txBody>
          <a:bodyPr/>
          <a:lstStyle/>
          <a:p>
            <a:pPr algn="ctr"/>
            <a:r>
              <a:rPr lang="en-US" dirty="0"/>
              <a:t>Lecture </a:t>
            </a:r>
            <a:r>
              <a:rPr lang="en-US" dirty="0" smtClean="0"/>
              <a:t>6</a:t>
            </a:r>
            <a:endParaRPr lang="en-US" dirty="0"/>
          </a:p>
        </p:txBody>
      </p:sp>
    </p:spTree>
    <p:extLst>
      <p:ext uri="{BB962C8B-B14F-4D97-AF65-F5344CB8AC3E}">
        <p14:creationId xmlns="" xmlns:p14="http://schemas.microsoft.com/office/powerpoint/2010/main" val="111150105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35039"/>
            <a:ext cx="9601200" cy="862781"/>
          </a:xfrm>
        </p:spPr>
        <p:txBody>
          <a:bodyPr vert="horz" lIns="91440" tIns="45720" rIns="91440" bIns="45720" rtlCol="0" anchor="t">
            <a:normAutofit/>
          </a:bodyPr>
          <a:lstStyle/>
          <a:p>
            <a:r>
              <a:rPr lang="en-US" sz="2900" b="1" u="sng" dirty="0"/>
              <a:t>The Identification of Potential Project Risks</a:t>
            </a:r>
          </a:p>
        </p:txBody>
      </p:sp>
      <p:sp>
        <p:nvSpPr>
          <p:cNvPr id="3" name="Content Placeholder 2"/>
          <p:cNvSpPr>
            <a:spLocks noGrp="1"/>
          </p:cNvSpPr>
          <p:nvPr>
            <p:ph idx="1"/>
          </p:nvPr>
        </p:nvSpPr>
        <p:spPr>
          <a:xfrm>
            <a:off x="1371600" y="666429"/>
            <a:ext cx="9601200" cy="4904805"/>
          </a:xfrm>
        </p:spPr>
        <p:txBody>
          <a:bodyPr>
            <a:normAutofit/>
          </a:bodyPr>
          <a:lstStyle/>
          <a:p>
            <a:pPr marL="0" indent="0">
              <a:buNone/>
            </a:pPr>
            <a:r>
              <a:rPr lang="en-US" sz="2400" dirty="0"/>
              <a:t>3. The Delphi Technique</a:t>
            </a:r>
          </a:p>
          <a:p>
            <a:pPr marL="530352" lvl="1" indent="0" algn="just">
              <a:buNone/>
            </a:pPr>
            <a:r>
              <a:rPr lang="en-US" sz="2000" dirty="0"/>
              <a:t>A risk facilitator will be selected. This is typically a person who is an expert in research data collection, but not necessarily in the project itself, he will create a list of risk associated with project, another panel of team members or experts will be formulated and the facilitator will ask this panel to rank the preliminary risk criteria according to some designation such as: </a:t>
            </a:r>
            <a:endParaRPr lang="en-US" sz="2000" dirty="0" smtClean="0"/>
          </a:p>
          <a:p>
            <a:pPr lvl="1" algn="just"/>
            <a:r>
              <a:rPr lang="en-US" sz="2000" dirty="0" smtClean="0"/>
              <a:t>(</a:t>
            </a:r>
            <a:r>
              <a:rPr lang="en-US" sz="2000" dirty="0"/>
              <a:t>1) a very critical risk, </a:t>
            </a:r>
            <a:endParaRPr lang="en-US" sz="2000" dirty="0" smtClean="0"/>
          </a:p>
          <a:p>
            <a:pPr lvl="1" algn="just"/>
            <a:r>
              <a:rPr lang="en-US" sz="2000" dirty="0" smtClean="0"/>
              <a:t>(</a:t>
            </a:r>
            <a:r>
              <a:rPr lang="en-US" sz="2000" dirty="0"/>
              <a:t>2) a somewhat critical risk, or </a:t>
            </a:r>
            <a:endParaRPr lang="en-US" sz="2000" dirty="0" smtClean="0"/>
          </a:p>
          <a:p>
            <a:pPr lvl="1" algn="just"/>
            <a:r>
              <a:rPr lang="en-US" sz="2000" dirty="0" smtClean="0"/>
              <a:t>(</a:t>
            </a:r>
            <a:r>
              <a:rPr lang="en-US" sz="2000" dirty="0"/>
              <a:t>3) not a critical risk issue. </a:t>
            </a:r>
            <a:endParaRPr lang="en-US" sz="2000" dirty="0" smtClean="0"/>
          </a:p>
          <a:p>
            <a:pPr marL="0" indent="0" algn="just">
              <a:buNone/>
            </a:pPr>
            <a:r>
              <a:rPr lang="en-US" sz="2000" dirty="0" smtClean="0"/>
              <a:t>The </a:t>
            </a:r>
            <a:r>
              <a:rPr lang="en-US" sz="2000" dirty="0"/>
              <a:t>panel will be asked to respond and the facilitator will compile the inputs and will come with new list of risk and will continue the process until the results shows the consensus of experts about risk.</a:t>
            </a:r>
          </a:p>
        </p:txBody>
      </p:sp>
      <p:pic>
        <p:nvPicPr>
          <p:cNvPr id="5" name="Content Placeholder 3"/>
          <p:cNvPicPr>
            <a:picLocks noChangeAspect="1"/>
          </p:cNvPicPr>
          <p:nvPr/>
        </p:nvPicPr>
        <p:blipFill rotWithShape="1">
          <a:blip r:embed="rId2"/>
          <a:srcRect l="2963" t="3776" r="2606" b="5604"/>
          <a:stretch/>
        </p:blipFill>
        <p:spPr>
          <a:xfrm>
            <a:off x="8144085" y="4599603"/>
            <a:ext cx="3459780" cy="2190614"/>
          </a:xfrm>
          <a:prstGeom prst="rect">
            <a:avLst/>
          </a:prstGeom>
          <a:ln w="3175">
            <a:solidFill>
              <a:schemeClr val="tx1"/>
            </a:solidFill>
          </a:ln>
        </p:spPr>
      </p:pic>
    </p:spTree>
    <p:extLst>
      <p:ext uri="{BB962C8B-B14F-4D97-AF65-F5344CB8AC3E}">
        <p14:creationId xmlns="" xmlns:p14="http://schemas.microsoft.com/office/powerpoint/2010/main" val="24583539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5487" y="507107"/>
            <a:ext cx="9601200" cy="1012600"/>
          </a:xfrm>
        </p:spPr>
        <p:txBody>
          <a:bodyPr vert="horz" lIns="91440" tIns="45720" rIns="91440" bIns="45720" rtlCol="0" anchor="t">
            <a:normAutofit/>
          </a:bodyPr>
          <a:lstStyle/>
          <a:p>
            <a:r>
              <a:rPr lang="en-US" sz="2900" b="1" u="sng" dirty="0"/>
              <a:t>The Identification of Potential Project Risks</a:t>
            </a:r>
          </a:p>
        </p:txBody>
      </p:sp>
      <p:sp>
        <p:nvSpPr>
          <p:cNvPr id="3" name="Content Placeholder 2"/>
          <p:cNvSpPr>
            <a:spLocks noGrp="1"/>
          </p:cNvSpPr>
          <p:nvPr>
            <p:ph idx="1"/>
          </p:nvPr>
        </p:nvSpPr>
        <p:spPr>
          <a:xfrm>
            <a:off x="1444276" y="1224299"/>
            <a:ext cx="9601200" cy="3581400"/>
          </a:xfrm>
        </p:spPr>
        <p:txBody>
          <a:bodyPr>
            <a:normAutofit/>
          </a:bodyPr>
          <a:lstStyle/>
          <a:p>
            <a:pPr marL="0" indent="0" algn="just">
              <a:buNone/>
            </a:pPr>
            <a:r>
              <a:rPr lang="en-US" dirty="0"/>
              <a:t>4. Interview </a:t>
            </a:r>
          </a:p>
          <a:p>
            <a:pPr algn="just"/>
            <a:r>
              <a:rPr lang="en-US" sz="2000" dirty="0"/>
              <a:t>In this process risk identification is directed to specific individuals who are considered to be experts in a particular project, or perhaps the technology of the project. </a:t>
            </a:r>
            <a:endParaRPr lang="en-US" sz="2000" dirty="0" smtClean="0"/>
          </a:p>
          <a:p>
            <a:pPr algn="just"/>
            <a:r>
              <a:rPr lang="en-US" sz="2000" dirty="0" smtClean="0"/>
              <a:t>They </a:t>
            </a:r>
            <a:r>
              <a:rPr lang="en-US" sz="2000" dirty="0"/>
              <a:t>have been there before, and have valuable experiences to share. They do not necessarily have to be working on the project. </a:t>
            </a:r>
          </a:p>
          <a:p>
            <a:pPr algn="just"/>
            <a:r>
              <a:rPr lang="en-US" sz="2000" dirty="0"/>
              <a:t>The interviewing process can be performed to both identify new risks, and also to assess the risks identified earlier using Brainstorming or the Delphi Technique.</a:t>
            </a:r>
          </a:p>
          <a:p>
            <a:pPr marL="0" indent="0">
              <a:buNone/>
            </a:pPr>
            <a:endParaRPr lang="en-US" dirty="0"/>
          </a:p>
        </p:txBody>
      </p:sp>
    </p:spTree>
    <p:extLst>
      <p:ext uri="{BB962C8B-B14F-4D97-AF65-F5344CB8AC3E}">
        <p14:creationId xmlns="" xmlns:p14="http://schemas.microsoft.com/office/powerpoint/2010/main" val="22079649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412126"/>
            <a:ext cx="9601200" cy="848032"/>
          </a:xfrm>
        </p:spPr>
        <p:txBody>
          <a:bodyPr vert="horz" lIns="91440" tIns="45720" rIns="91440" bIns="45720" rtlCol="0" anchor="t">
            <a:normAutofit/>
          </a:bodyPr>
          <a:lstStyle/>
          <a:p>
            <a:pPr algn="ctr"/>
            <a:r>
              <a:rPr lang="en-US" sz="2900" b="1" dirty="0"/>
              <a:t>Assessing the Risk Impact</a:t>
            </a:r>
          </a:p>
        </p:txBody>
      </p:sp>
      <p:sp>
        <p:nvSpPr>
          <p:cNvPr id="3" name="Content Placeholder 2"/>
          <p:cNvSpPr>
            <a:spLocks noGrp="1"/>
          </p:cNvSpPr>
          <p:nvPr>
            <p:ph idx="1"/>
          </p:nvPr>
        </p:nvSpPr>
        <p:spPr>
          <a:xfrm>
            <a:off x="1371600" y="1260158"/>
            <a:ext cx="9601200" cy="3581400"/>
          </a:xfrm>
        </p:spPr>
        <p:txBody>
          <a:bodyPr>
            <a:normAutofit/>
          </a:bodyPr>
          <a:lstStyle/>
          <a:p>
            <a:pPr fontAlgn="auto">
              <a:spcAft>
                <a:spcPts val="0"/>
              </a:spcAft>
              <a:defRPr/>
            </a:pPr>
            <a:r>
              <a:rPr lang="en-US" altLang="en-US" sz="2400" dirty="0"/>
              <a:t>Not all risks need to be subject to monitoring and control</a:t>
            </a:r>
          </a:p>
          <a:p>
            <a:pPr fontAlgn="auto">
              <a:spcAft>
                <a:spcPts val="0"/>
              </a:spcAft>
              <a:defRPr/>
            </a:pPr>
            <a:r>
              <a:rPr lang="en-US" altLang="en-US" sz="2400" dirty="0"/>
              <a:t>Use a </a:t>
            </a:r>
            <a:r>
              <a:rPr lang="en-US" altLang="en-US" sz="2400" i="1" dirty="0"/>
              <a:t>Scenario Analysis</a:t>
            </a:r>
            <a:r>
              <a:rPr lang="en-US" altLang="en-US" sz="2400" dirty="0"/>
              <a:t> to assess the risk event impact</a:t>
            </a:r>
          </a:p>
          <a:p>
            <a:pPr lvl="1" fontAlgn="auto">
              <a:spcAft>
                <a:spcPts val="0"/>
              </a:spcAft>
              <a:defRPr/>
            </a:pPr>
            <a:r>
              <a:rPr lang="en-US" altLang="en-US" dirty="0"/>
              <a:t>Determine all consequences and their severity if the event happens</a:t>
            </a:r>
          </a:p>
          <a:p>
            <a:pPr lvl="1" fontAlgn="auto">
              <a:spcAft>
                <a:spcPts val="0"/>
              </a:spcAft>
              <a:defRPr/>
            </a:pPr>
            <a:r>
              <a:rPr lang="en-US" altLang="en-US" dirty="0"/>
              <a:t>Identify when, during the contract, will the event likely happen</a:t>
            </a:r>
          </a:p>
          <a:p>
            <a:pPr lvl="1" fontAlgn="auto">
              <a:spcAft>
                <a:spcPts val="0"/>
              </a:spcAft>
              <a:defRPr/>
            </a:pPr>
            <a:r>
              <a:rPr lang="en-US" altLang="en-US" dirty="0"/>
              <a:t>Estimate the probability that the risk event will occur</a:t>
            </a:r>
          </a:p>
          <a:p>
            <a:pPr lvl="1" fontAlgn="auto">
              <a:spcAft>
                <a:spcPts val="0"/>
              </a:spcAft>
              <a:defRPr/>
            </a:pPr>
            <a:r>
              <a:rPr lang="en-US" altLang="en-US" dirty="0"/>
              <a:t>Determine how difficult it will be to detect the event occurrence</a:t>
            </a:r>
          </a:p>
          <a:p>
            <a:pPr marL="0" indent="0">
              <a:buNone/>
            </a:pPr>
            <a:endParaRPr lang="en-US" dirty="0"/>
          </a:p>
        </p:txBody>
      </p:sp>
      <p:sp>
        <p:nvSpPr>
          <p:cNvPr id="5" name="Footer Placeholder 4"/>
          <p:cNvSpPr>
            <a:spLocks noGrp="1"/>
          </p:cNvSpPr>
          <p:nvPr>
            <p:ph type="ftr" sz="quarter" idx="11"/>
          </p:nvPr>
        </p:nvSpPr>
        <p:spPr/>
        <p:txBody>
          <a:bodyPr/>
          <a:lstStyle/>
          <a:p>
            <a:r>
              <a:rPr lang="en-US"/>
              <a:t>Lecture 4</a:t>
            </a:r>
          </a:p>
        </p:txBody>
      </p:sp>
    </p:spTree>
    <p:extLst>
      <p:ext uri="{BB962C8B-B14F-4D97-AF65-F5344CB8AC3E}">
        <p14:creationId xmlns="" xmlns:p14="http://schemas.microsoft.com/office/powerpoint/2010/main" val="19941732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1"/>
            <a:ext cx="9601200" cy="709862"/>
          </a:xfrm>
        </p:spPr>
        <p:txBody>
          <a:bodyPr>
            <a:normAutofit/>
          </a:bodyPr>
          <a:lstStyle/>
          <a:p>
            <a:r>
              <a:rPr lang="en-US" sz="4000" dirty="0"/>
              <a:t>Ranking the risk importance</a:t>
            </a:r>
          </a:p>
        </p:txBody>
      </p:sp>
      <p:sp>
        <p:nvSpPr>
          <p:cNvPr id="3" name="Content Placeholder 2"/>
          <p:cNvSpPr>
            <a:spLocks noGrp="1"/>
          </p:cNvSpPr>
          <p:nvPr>
            <p:ph idx="1"/>
          </p:nvPr>
        </p:nvSpPr>
        <p:spPr>
          <a:xfrm>
            <a:off x="838200" y="1825625"/>
            <a:ext cx="6156158" cy="4351338"/>
          </a:xfrm>
        </p:spPr>
        <p:txBody>
          <a:bodyPr>
            <a:normAutofit/>
          </a:bodyPr>
          <a:lstStyle/>
          <a:p>
            <a:pPr fontAlgn="auto">
              <a:spcAft>
                <a:spcPts val="0"/>
              </a:spcAft>
              <a:defRPr/>
            </a:pPr>
            <a:r>
              <a:rPr lang="en-US" dirty="0"/>
              <a:t>Rank risks from those that can be neglected to those that require elevated vigilance</a:t>
            </a:r>
          </a:p>
          <a:p>
            <a:pPr fontAlgn="auto">
              <a:spcAft>
                <a:spcPts val="0"/>
              </a:spcAft>
              <a:defRPr/>
            </a:pPr>
            <a:r>
              <a:rPr lang="en-US" dirty="0"/>
              <a:t>A </a:t>
            </a:r>
            <a:r>
              <a:rPr lang="en-US" i="1" dirty="0"/>
              <a:t>Risk Severity Matrix</a:t>
            </a:r>
            <a:r>
              <a:rPr lang="en-US" dirty="0"/>
              <a:t> can be helpful in prioritizing risks</a:t>
            </a:r>
          </a:p>
          <a:p>
            <a:pPr lvl="1" fontAlgn="auto">
              <a:spcAft>
                <a:spcPts val="0"/>
              </a:spcAft>
              <a:defRPr/>
            </a:pPr>
            <a:r>
              <a:rPr lang="en-US" sz="1800" dirty="0"/>
              <a:t>Plot of event probability versus impact</a:t>
            </a:r>
          </a:p>
          <a:p>
            <a:pPr fontAlgn="auto">
              <a:spcAft>
                <a:spcPts val="0"/>
              </a:spcAft>
              <a:defRPr/>
            </a:pPr>
            <a:r>
              <a:rPr lang="en-US" dirty="0"/>
              <a:t>Red zone identifies the most important events</a:t>
            </a:r>
          </a:p>
          <a:p>
            <a:pPr fontAlgn="auto">
              <a:spcAft>
                <a:spcPts val="0"/>
              </a:spcAft>
              <a:defRPr/>
            </a:pPr>
            <a:r>
              <a:rPr lang="en-US" dirty="0"/>
              <a:t>Yellow zone lists risks that are moderately important</a:t>
            </a:r>
          </a:p>
          <a:p>
            <a:pPr fontAlgn="auto">
              <a:spcAft>
                <a:spcPts val="0"/>
              </a:spcAft>
              <a:defRPr/>
            </a:pPr>
            <a:r>
              <a:rPr lang="en-US" dirty="0"/>
              <a:t>Green zone events probably can be safely ignored</a:t>
            </a:r>
          </a:p>
          <a:p>
            <a:endParaRPr lang="en-US" dirty="0"/>
          </a:p>
        </p:txBody>
      </p:sp>
      <p:sp>
        <p:nvSpPr>
          <p:cNvPr id="5" name="Footer Placeholder 4"/>
          <p:cNvSpPr>
            <a:spLocks noGrp="1"/>
          </p:cNvSpPr>
          <p:nvPr>
            <p:ph type="ftr" sz="quarter" idx="11"/>
          </p:nvPr>
        </p:nvSpPr>
        <p:spPr/>
        <p:txBody>
          <a:bodyPr/>
          <a:lstStyle/>
          <a:p>
            <a:r>
              <a:rPr lang="en-US"/>
              <a:t>Lecture 4</a:t>
            </a:r>
          </a:p>
        </p:txBody>
      </p:sp>
      <p:pic>
        <p:nvPicPr>
          <p:cNvPr id="4" name="Picture 6" descr="D:\LaACES\Student Ballooning Course\Project Management\Lecture 7\Images\Severity Matrix Scaled.jp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7287126" y="1395662"/>
            <a:ext cx="4165488" cy="44597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 xmlns:p14="http://schemas.microsoft.com/office/powerpoint/2010/main" val="1816477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181" y="531254"/>
            <a:ext cx="9601200" cy="640724"/>
          </a:xfrm>
        </p:spPr>
        <p:txBody>
          <a:bodyPr>
            <a:normAutofit/>
          </a:bodyPr>
          <a:lstStyle/>
          <a:p>
            <a:pPr algn="ctr"/>
            <a:r>
              <a:rPr lang="en-US" sz="3600" dirty="0" smtClean="0"/>
              <a:t>Quantitative Risk Analysis</a:t>
            </a:r>
            <a:endParaRPr lang="en-US" sz="3600" dirty="0"/>
          </a:p>
        </p:txBody>
      </p:sp>
      <p:pic>
        <p:nvPicPr>
          <p:cNvPr id="4" name="Content Placeholder 3"/>
          <p:cNvPicPr>
            <a:picLocks noGrp="1" noChangeAspect="1"/>
          </p:cNvPicPr>
          <p:nvPr>
            <p:ph idx="1"/>
          </p:nvPr>
        </p:nvPicPr>
        <p:blipFill>
          <a:blip r:embed="rId2"/>
          <a:stretch>
            <a:fillRect/>
          </a:stretch>
        </p:blipFill>
        <p:spPr>
          <a:xfrm>
            <a:off x="1230181" y="1693131"/>
            <a:ext cx="4410765" cy="2904399"/>
          </a:xfrm>
          <a:prstGeom prst="rect">
            <a:avLst/>
          </a:prstGeom>
        </p:spPr>
      </p:pic>
      <p:pic>
        <p:nvPicPr>
          <p:cNvPr id="5" name="Picture 4"/>
          <p:cNvPicPr>
            <a:picLocks noChangeAspect="1"/>
          </p:cNvPicPr>
          <p:nvPr/>
        </p:nvPicPr>
        <p:blipFill rotWithShape="1">
          <a:blip r:embed="rId3"/>
          <a:srcRect l="1956" t="2936" r="1889" b="4821"/>
          <a:stretch/>
        </p:blipFill>
        <p:spPr>
          <a:xfrm>
            <a:off x="6318363" y="1693131"/>
            <a:ext cx="5495685" cy="2904399"/>
          </a:xfrm>
          <a:prstGeom prst="rect">
            <a:avLst/>
          </a:prstGeom>
          <a:ln>
            <a:solidFill>
              <a:schemeClr val="tx1"/>
            </a:solidFill>
          </a:ln>
        </p:spPr>
      </p:pic>
    </p:spTree>
    <p:extLst>
      <p:ext uri="{BB962C8B-B14F-4D97-AF65-F5344CB8AC3E}">
        <p14:creationId xmlns="" xmlns:p14="http://schemas.microsoft.com/office/powerpoint/2010/main" val="2028083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83905"/>
            <a:ext cx="9601200" cy="803787"/>
          </a:xfrm>
        </p:spPr>
        <p:txBody>
          <a:bodyPr>
            <a:normAutofit/>
          </a:bodyPr>
          <a:lstStyle/>
          <a:p>
            <a:pPr algn="ctr"/>
            <a:r>
              <a:rPr lang="en-US" sz="3600" dirty="0"/>
              <a:t>Risk Response Strategies</a:t>
            </a:r>
          </a:p>
        </p:txBody>
      </p:sp>
      <p:sp>
        <p:nvSpPr>
          <p:cNvPr id="3" name="Content Placeholder 2"/>
          <p:cNvSpPr>
            <a:spLocks noGrp="1"/>
          </p:cNvSpPr>
          <p:nvPr>
            <p:ph idx="1"/>
          </p:nvPr>
        </p:nvSpPr>
        <p:spPr>
          <a:xfrm>
            <a:off x="1371600" y="1087692"/>
            <a:ext cx="9601200" cy="5365694"/>
          </a:xfrm>
        </p:spPr>
        <p:txBody>
          <a:bodyPr>
            <a:normAutofit fontScale="55000" lnSpcReduction="20000"/>
          </a:bodyPr>
          <a:lstStyle/>
          <a:p>
            <a:pPr algn="just">
              <a:lnSpc>
                <a:spcPct val="120000"/>
              </a:lnSpc>
              <a:spcAft>
                <a:spcPts val="0"/>
              </a:spcAft>
              <a:defRPr/>
            </a:pPr>
            <a:endParaRPr lang="en-US" sz="3500" b="1" dirty="0" smtClean="0"/>
          </a:p>
          <a:p>
            <a:pPr algn="just">
              <a:lnSpc>
                <a:spcPct val="120000"/>
              </a:lnSpc>
              <a:spcAft>
                <a:spcPts val="0"/>
              </a:spcAft>
              <a:defRPr/>
            </a:pPr>
            <a:r>
              <a:rPr lang="en-US" sz="3500" b="1" dirty="0" smtClean="0"/>
              <a:t>Avoid Risk:  </a:t>
            </a:r>
            <a:r>
              <a:rPr lang="en-US" sz="3500" dirty="0" smtClean="0"/>
              <a:t>Projects </a:t>
            </a:r>
            <a:r>
              <a:rPr lang="en-US" sz="3500" dirty="0"/>
              <a:t>can sometimes eliminate identified risks through a reexamination of the requirements which may have caused the risk</a:t>
            </a:r>
            <a:r>
              <a:rPr lang="en-US" sz="3500" dirty="0" smtClean="0"/>
              <a:t>.</a:t>
            </a:r>
          </a:p>
          <a:p>
            <a:pPr lvl="1" algn="just">
              <a:lnSpc>
                <a:spcPct val="120000"/>
              </a:lnSpc>
              <a:spcAft>
                <a:spcPts val="0"/>
              </a:spcAft>
              <a:defRPr/>
            </a:pPr>
            <a:r>
              <a:rPr lang="en-US" sz="2800" dirty="0" smtClean="0"/>
              <a:t>Hiring/consulting experts</a:t>
            </a:r>
          </a:p>
          <a:p>
            <a:pPr lvl="1" algn="just">
              <a:lnSpc>
                <a:spcPct val="120000"/>
              </a:lnSpc>
              <a:spcAft>
                <a:spcPts val="0"/>
              </a:spcAft>
              <a:defRPr/>
            </a:pPr>
            <a:r>
              <a:rPr lang="en-US" sz="2800" dirty="0" smtClean="0"/>
              <a:t>Pre-qualification/Request for Proposal (RFP) for solicitation</a:t>
            </a:r>
            <a:endParaRPr lang="en-US" sz="2800" dirty="0"/>
          </a:p>
          <a:p>
            <a:pPr algn="just" fontAlgn="auto">
              <a:lnSpc>
                <a:spcPct val="120000"/>
              </a:lnSpc>
              <a:spcAft>
                <a:spcPts val="0"/>
              </a:spcAft>
              <a:defRPr/>
            </a:pPr>
            <a:endParaRPr lang="en-US" sz="3500" b="1" dirty="0" smtClean="0"/>
          </a:p>
          <a:p>
            <a:pPr algn="just" fontAlgn="auto">
              <a:lnSpc>
                <a:spcPct val="120000"/>
              </a:lnSpc>
              <a:spcAft>
                <a:spcPts val="0"/>
              </a:spcAft>
              <a:defRPr/>
            </a:pPr>
            <a:r>
              <a:rPr lang="en-US" sz="3500" b="1" dirty="0" smtClean="0"/>
              <a:t>Mitigating Risk</a:t>
            </a:r>
            <a:r>
              <a:rPr lang="en-US" sz="3500" dirty="0" smtClean="0"/>
              <a:t>: Actions </a:t>
            </a:r>
            <a:r>
              <a:rPr lang="en-US" sz="3500" dirty="0"/>
              <a:t>are taken during the contract to </a:t>
            </a:r>
            <a:r>
              <a:rPr lang="en-US" sz="3500" dirty="0" smtClean="0"/>
              <a:t>either </a:t>
            </a:r>
            <a:r>
              <a:rPr lang="en-US" sz="3500" dirty="0"/>
              <a:t>reduce the likelihood of a </a:t>
            </a:r>
            <a:r>
              <a:rPr lang="en-US" sz="3500" dirty="0" smtClean="0"/>
              <a:t>risk </a:t>
            </a:r>
            <a:r>
              <a:rPr lang="en-US" sz="3500" dirty="0"/>
              <a:t>or reduce the impact of the </a:t>
            </a:r>
            <a:r>
              <a:rPr lang="en-US" sz="3500" dirty="0" smtClean="0"/>
              <a:t>risk:</a:t>
            </a:r>
          </a:p>
          <a:p>
            <a:pPr lvl="1">
              <a:lnSpc>
                <a:spcPct val="120000"/>
              </a:lnSpc>
            </a:pPr>
            <a:r>
              <a:rPr lang="en-US" sz="2800" dirty="0"/>
              <a:t>Adding additional product testing, proofing, prototyping, are all risk mitigation </a:t>
            </a:r>
            <a:r>
              <a:rPr lang="en-US" sz="2800" dirty="0" smtClean="0"/>
              <a:t>strategies</a:t>
            </a:r>
          </a:p>
          <a:p>
            <a:pPr lvl="1">
              <a:lnSpc>
                <a:spcPct val="120000"/>
              </a:lnSpc>
            </a:pPr>
            <a:r>
              <a:rPr lang="en-US" sz="2800" dirty="0"/>
              <a:t>Employing only experienced personnel, using only proven suppliers, will mitigate risks</a:t>
            </a:r>
            <a:r>
              <a:rPr lang="en-US" sz="2800" dirty="0" smtClean="0"/>
              <a:t>.</a:t>
            </a:r>
          </a:p>
          <a:p>
            <a:pPr lvl="1">
              <a:lnSpc>
                <a:spcPct val="120000"/>
              </a:lnSpc>
            </a:pPr>
            <a:r>
              <a:rPr lang="en-US" sz="2800" dirty="0"/>
              <a:t>Inserting incentive performance provisions into </a:t>
            </a:r>
            <a:r>
              <a:rPr lang="en-US" sz="2800" dirty="0" smtClean="0"/>
              <a:t>contracts with </a:t>
            </a:r>
            <a:r>
              <a:rPr lang="en-US" sz="2800" dirty="0"/>
              <a:t>sellers can sometimes help.</a:t>
            </a:r>
          </a:p>
          <a:p>
            <a:pPr lvl="1" fontAlgn="auto">
              <a:lnSpc>
                <a:spcPct val="120000"/>
              </a:lnSpc>
              <a:defRPr/>
            </a:pPr>
            <a:endParaRPr lang="en-US" sz="2800" dirty="0"/>
          </a:p>
          <a:p>
            <a:pPr marL="457200" lvl="1" indent="0" algn="just" fontAlgn="auto">
              <a:lnSpc>
                <a:spcPct val="120000"/>
              </a:lnSpc>
              <a:spcAft>
                <a:spcPts val="0"/>
              </a:spcAft>
              <a:buNone/>
              <a:defRPr/>
            </a:pPr>
            <a:r>
              <a:rPr lang="en-US" sz="3300" dirty="0" smtClean="0"/>
              <a:t>For </a:t>
            </a:r>
            <a:r>
              <a:rPr lang="en-US" sz="3300" dirty="0"/>
              <a:t>example, testing electrical components after receipt would reduce the likelihood that “bad” parts would be used in a </a:t>
            </a:r>
            <a:r>
              <a:rPr lang="en-US" sz="3300" dirty="0" smtClean="0"/>
              <a:t>circuit</a:t>
            </a:r>
          </a:p>
          <a:p>
            <a:pPr lvl="1" algn="just" fontAlgn="auto">
              <a:lnSpc>
                <a:spcPct val="120000"/>
              </a:lnSpc>
              <a:spcAft>
                <a:spcPts val="0"/>
              </a:spcAft>
              <a:defRPr/>
            </a:pPr>
            <a:endParaRPr lang="en-US" sz="3500" dirty="0"/>
          </a:p>
          <a:p>
            <a:endParaRPr lang="en-US" dirty="0"/>
          </a:p>
        </p:txBody>
      </p:sp>
      <p:sp>
        <p:nvSpPr>
          <p:cNvPr id="4" name="Footer Placeholder 3"/>
          <p:cNvSpPr>
            <a:spLocks noGrp="1"/>
          </p:cNvSpPr>
          <p:nvPr>
            <p:ph type="ftr" sz="quarter" idx="11"/>
          </p:nvPr>
        </p:nvSpPr>
        <p:spPr/>
        <p:txBody>
          <a:bodyPr/>
          <a:lstStyle/>
          <a:p>
            <a:r>
              <a:rPr lang="en-US"/>
              <a:t>Lecture 4</a:t>
            </a:r>
          </a:p>
        </p:txBody>
      </p:sp>
    </p:spTree>
    <p:extLst>
      <p:ext uri="{BB962C8B-B14F-4D97-AF65-F5344CB8AC3E}">
        <p14:creationId xmlns="" xmlns:p14="http://schemas.microsoft.com/office/powerpoint/2010/main" val="86059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742950"/>
          </a:xfrm>
        </p:spPr>
        <p:txBody>
          <a:bodyPr>
            <a:normAutofit/>
          </a:bodyPr>
          <a:lstStyle/>
          <a:p>
            <a:pPr algn="ctr"/>
            <a:r>
              <a:rPr lang="en-US" sz="3200" dirty="0"/>
              <a:t>Risk Response Strategies</a:t>
            </a:r>
          </a:p>
        </p:txBody>
      </p:sp>
      <p:sp>
        <p:nvSpPr>
          <p:cNvPr id="3" name="Content Placeholder 2"/>
          <p:cNvSpPr>
            <a:spLocks noGrp="1"/>
          </p:cNvSpPr>
          <p:nvPr>
            <p:ph idx="1"/>
          </p:nvPr>
        </p:nvSpPr>
        <p:spPr>
          <a:xfrm>
            <a:off x="1371600" y="1428750"/>
            <a:ext cx="9601200" cy="4559926"/>
          </a:xfrm>
        </p:spPr>
        <p:txBody>
          <a:bodyPr>
            <a:noAutofit/>
          </a:bodyPr>
          <a:lstStyle/>
          <a:p>
            <a:pPr algn="just">
              <a:lnSpc>
                <a:spcPct val="120000"/>
              </a:lnSpc>
              <a:spcAft>
                <a:spcPts val="0"/>
              </a:spcAft>
              <a:defRPr/>
            </a:pPr>
            <a:r>
              <a:rPr lang="en-US" sz="1500" b="1" dirty="0"/>
              <a:t>Sharing or Transferring Risk</a:t>
            </a:r>
          </a:p>
          <a:p>
            <a:pPr lvl="1" algn="just">
              <a:lnSpc>
                <a:spcPct val="120000"/>
              </a:lnSpc>
              <a:spcAft>
                <a:spcPts val="0"/>
              </a:spcAft>
              <a:defRPr/>
            </a:pPr>
            <a:r>
              <a:rPr lang="en-US" sz="1500" dirty="0"/>
              <a:t>Using contract types to shift and share risks in complex procurements.</a:t>
            </a:r>
          </a:p>
          <a:p>
            <a:pPr lvl="1">
              <a:lnSpc>
                <a:spcPct val="120000"/>
              </a:lnSpc>
            </a:pPr>
            <a:r>
              <a:rPr lang="en-US" sz="1500" dirty="0"/>
              <a:t>Using terms such as “Liquidated Damages” and other techniques such as buying performance insurance, bonding, guarantees, and warranties</a:t>
            </a:r>
          </a:p>
          <a:p>
            <a:pPr lvl="1" algn="just">
              <a:lnSpc>
                <a:spcPct val="120000"/>
              </a:lnSpc>
              <a:spcAft>
                <a:spcPts val="0"/>
              </a:spcAft>
              <a:defRPr/>
            </a:pPr>
            <a:r>
              <a:rPr lang="en-US" sz="1500" dirty="0"/>
              <a:t>Many companies in an attempt to reduce their risk exposure will form strategic joint ventures, sometimes called teaming agreements to spread or share the risk.</a:t>
            </a:r>
          </a:p>
          <a:p>
            <a:endParaRPr lang="en-US" sz="1500" b="1" dirty="0" smtClean="0"/>
          </a:p>
          <a:p>
            <a:r>
              <a:rPr lang="en-US" sz="1500" b="1" dirty="0" smtClean="0"/>
              <a:t>Accept </a:t>
            </a:r>
            <a:r>
              <a:rPr lang="en-US" sz="1500" b="1" dirty="0"/>
              <a:t>the Risks</a:t>
            </a:r>
          </a:p>
          <a:p>
            <a:pPr lvl="1"/>
            <a:r>
              <a:rPr lang="en-US" sz="1500" dirty="0"/>
              <a:t>This last approach is the one taken when all else fails. Sometimes risks cannot be eliminated altogether. The only option for the project is to lice with the condition</a:t>
            </a:r>
          </a:p>
          <a:p>
            <a:pPr lvl="1"/>
            <a:r>
              <a:rPr lang="en-US" sz="1500" dirty="0"/>
              <a:t>Risk contingency plans will be made, but the identified risks cannot be eliminated </a:t>
            </a:r>
            <a:r>
              <a:rPr lang="en-US" sz="1500" dirty="0" smtClean="0"/>
              <a:t>completely.</a:t>
            </a:r>
            <a:endParaRPr lang="en-US" sz="1500" dirty="0"/>
          </a:p>
        </p:txBody>
      </p:sp>
      <p:sp>
        <p:nvSpPr>
          <p:cNvPr id="4" name="Footer Placeholder 3"/>
          <p:cNvSpPr>
            <a:spLocks noGrp="1"/>
          </p:cNvSpPr>
          <p:nvPr>
            <p:ph type="ftr" sz="quarter" idx="11"/>
          </p:nvPr>
        </p:nvSpPr>
        <p:spPr/>
        <p:txBody>
          <a:bodyPr/>
          <a:lstStyle/>
          <a:p>
            <a:r>
              <a:rPr lang="en-US"/>
              <a:t>Lecture 4</a:t>
            </a:r>
          </a:p>
        </p:txBody>
      </p:sp>
    </p:spTree>
    <p:extLst>
      <p:ext uri="{BB962C8B-B14F-4D97-AF65-F5344CB8AC3E}">
        <p14:creationId xmlns="" xmlns:p14="http://schemas.microsoft.com/office/powerpoint/2010/main" val="21274370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85800"/>
          </a:xfrm>
        </p:spPr>
        <p:txBody>
          <a:bodyPr>
            <a:normAutofit fontScale="90000"/>
          </a:bodyPr>
          <a:lstStyle/>
          <a:p>
            <a:r>
              <a:rPr lang="en-US" dirty="0" smtClean="0"/>
              <a:t>Developing a Risk Register!</a:t>
            </a:r>
            <a:endParaRPr lang="en-US" dirty="0"/>
          </a:p>
        </p:txBody>
      </p:sp>
      <p:pic>
        <p:nvPicPr>
          <p:cNvPr id="5" name="Content Placeholder 4"/>
          <p:cNvPicPr>
            <a:picLocks noGrp="1" noChangeAspect="1"/>
          </p:cNvPicPr>
          <p:nvPr>
            <p:ph idx="1"/>
          </p:nvPr>
        </p:nvPicPr>
        <p:blipFill>
          <a:blip r:embed="rId2">
            <a:extLst>
              <a:ext uri="{28A0092B-C50C-407E-A947-70E740481C1C}">
                <a14:useLocalDpi xmlns="" xmlns:a14="http://schemas.microsoft.com/office/drawing/2010/main" val="0"/>
              </a:ext>
            </a:extLst>
          </a:blip>
          <a:stretch>
            <a:fillRect/>
          </a:stretch>
        </p:blipFill>
        <p:spPr>
          <a:xfrm>
            <a:off x="1371600" y="1371599"/>
            <a:ext cx="10101135" cy="4527755"/>
          </a:xfrm>
        </p:spPr>
      </p:pic>
      <p:sp>
        <p:nvSpPr>
          <p:cNvPr id="4" name="Footer Placeholder 3"/>
          <p:cNvSpPr>
            <a:spLocks noGrp="1"/>
          </p:cNvSpPr>
          <p:nvPr>
            <p:ph type="ftr" sz="quarter" idx="11"/>
          </p:nvPr>
        </p:nvSpPr>
        <p:spPr/>
        <p:txBody>
          <a:bodyPr/>
          <a:lstStyle/>
          <a:p>
            <a:pPr algn="ctr"/>
            <a:r>
              <a:rPr lang="en-US" dirty="0" smtClean="0"/>
              <a:t>Lecture 4</a:t>
            </a:r>
            <a:endParaRPr lang="en-US" dirty="0"/>
          </a:p>
        </p:txBody>
      </p:sp>
    </p:spTree>
    <p:extLst>
      <p:ext uri="{BB962C8B-B14F-4D97-AF65-F5344CB8AC3E}">
        <p14:creationId xmlns="" xmlns:p14="http://schemas.microsoft.com/office/powerpoint/2010/main" val="2159829746"/>
      </p:ext>
    </p:extLst>
  </p:cSld>
  <p:clrMapOvr>
    <a:masterClrMapping/>
  </p:clrMapOvr>
  <p:timing>
    <p:tnLst>
      <p:par>
        <p:cTn id="1" dur="indefinite" restart="never" nodeType="tmRoot"/>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Crop</Template>
  <TotalTime>303</TotalTime>
  <Words>1564</Words>
  <Application>Microsoft Office PowerPoint</Application>
  <PresentationFormat>Custom</PresentationFormat>
  <Paragraphs>122</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Crop</vt:lpstr>
      <vt:lpstr>Project Procurement Risks</vt:lpstr>
      <vt:lpstr>The Management of Project Procurement Risks</vt:lpstr>
      <vt:lpstr>Risk During Contract </vt:lpstr>
      <vt:lpstr>Rationale for Assessing Risk</vt:lpstr>
      <vt:lpstr>What is Risk Management</vt:lpstr>
      <vt:lpstr>Slide 6</vt:lpstr>
      <vt:lpstr>Risk Categories</vt:lpstr>
      <vt:lpstr>Slide 8</vt:lpstr>
      <vt:lpstr>Steps in Risk Management</vt:lpstr>
      <vt:lpstr>The Identification of Potential Project Risks</vt:lpstr>
      <vt:lpstr>The Identification of Potential Project Risks</vt:lpstr>
      <vt:lpstr>The Identification of Potential Project Risks</vt:lpstr>
      <vt:lpstr>Assessing the Risk Impact</vt:lpstr>
      <vt:lpstr>Ranking the risk importance</vt:lpstr>
      <vt:lpstr>Quantitative Risk Analysis</vt:lpstr>
      <vt:lpstr>Risk Response Strategies</vt:lpstr>
      <vt:lpstr>Risk Response Strategies</vt:lpstr>
      <vt:lpstr>Developing a Risk Register!</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Procurement Risks</dc:title>
  <dc:creator>Bilal</dc:creator>
  <cp:lastModifiedBy>user</cp:lastModifiedBy>
  <cp:revision>26</cp:revision>
  <dcterms:created xsi:type="dcterms:W3CDTF">2018-03-05T06:33:21Z</dcterms:created>
  <dcterms:modified xsi:type="dcterms:W3CDTF">2023-08-23T06:29:46Z</dcterms:modified>
</cp:coreProperties>
</file>