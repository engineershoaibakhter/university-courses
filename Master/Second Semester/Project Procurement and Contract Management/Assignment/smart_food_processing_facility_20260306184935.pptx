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C583D-0CAA-4C43-B1BB-A45D428BEB0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81B4-FA41-B04C-A5B8-031515E62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3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12" Type="http://schemas.openxmlformats.org/officeDocument/2006/relationships/image" Target="../media/image10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0" Type="http://schemas.openxmlformats.org/officeDocument/2006/relationships/image" Target="../media/image8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13" Type="http://schemas.openxmlformats.org/officeDocument/2006/relationships/image" Target="../media/image22.png" /><Relationship Id="rId3" Type="http://schemas.openxmlformats.org/officeDocument/2006/relationships/image" Target="../media/image1.png" /><Relationship Id="rId7" Type="http://schemas.openxmlformats.org/officeDocument/2006/relationships/image" Target="../media/image16.png" /><Relationship Id="rId12" Type="http://schemas.openxmlformats.org/officeDocument/2006/relationships/image" Target="../media/image2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11" Type="http://schemas.openxmlformats.org/officeDocument/2006/relationships/image" Target="../media/image20.png" /><Relationship Id="rId5" Type="http://schemas.openxmlformats.org/officeDocument/2006/relationships/image" Target="../media/image14.png" /><Relationship Id="rId15" Type="http://schemas.openxmlformats.org/officeDocument/2006/relationships/image" Target="../media/image24.png" /><Relationship Id="rId10" Type="http://schemas.openxmlformats.org/officeDocument/2006/relationships/image" Target="../media/image19.png" /><Relationship Id="rId4" Type="http://schemas.openxmlformats.org/officeDocument/2006/relationships/image" Target="../media/image13.png" /><Relationship Id="rId9" Type="http://schemas.openxmlformats.org/officeDocument/2006/relationships/image" Target="../media/image18.png" /><Relationship Id="rId14" Type="http://schemas.openxmlformats.org/officeDocument/2006/relationships/image" Target="../media/image2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 /><Relationship Id="rId13" Type="http://schemas.openxmlformats.org/officeDocument/2006/relationships/image" Target="../media/image34.png" /><Relationship Id="rId18" Type="http://schemas.openxmlformats.org/officeDocument/2006/relationships/image" Target="../media/image39.png" /><Relationship Id="rId3" Type="http://schemas.openxmlformats.org/officeDocument/2006/relationships/image" Target="../media/image1.png" /><Relationship Id="rId21" Type="http://schemas.openxmlformats.org/officeDocument/2006/relationships/image" Target="../media/image42.png" /><Relationship Id="rId7" Type="http://schemas.openxmlformats.org/officeDocument/2006/relationships/image" Target="../media/image28.png" /><Relationship Id="rId12" Type="http://schemas.openxmlformats.org/officeDocument/2006/relationships/image" Target="../media/image33.png" /><Relationship Id="rId17" Type="http://schemas.openxmlformats.org/officeDocument/2006/relationships/image" Target="../media/image38.png" /><Relationship Id="rId2" Type="http://schemas.openxmlformats.org/officeDocument/2006/relationships/notesSlide" Target="../notesSlides/notesSlide3.xml" /><Relationship Id="rId16" Type="http://schemas.openxmlformats.org/officeDocument/2006/relationships/image" Target="../media/image37.png" /><Relationship Id="rId20" Type="http://schemas.openxmlformats.org/officeDocument/2006/relationships/image" Target="../media/image4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11" Type="http://schemas.openxmlformats.org/officeDocument/2006/relationships/image" Target="../media/image32.png" /><Relationship Id="rId5" Type="http://schemas.openxmlformats.org/officeDocument/2006/relationships/image" Target="../media/image26.png" /><Relationship Id="rId15" Type="http://schemas.openxmlformats.org/officeDocument/2006/relationships/image" Target="../media/image36.png" /><Relationship Id="rId10" Type="http://schemas.openxmlformats.org/officeDocument/2006/relationships/image" Target="../media/image31.png" /><Relationship Id="rId19" Type="http://schemas.openxmlformats.org/officeDocument/2006/relationships/image" Target="../media/image40.png" /><Relationship Id="rId4" Type="http://schemas.openxmlformats.org/officeDocument/2006/relationships/image" Target="../media/image25.png" /><Relationship Id="rId9" Type="http://schemas.openxmlformats.org/officeDocument/2006/relationships/image" Target="../media/image30.png" /><Relationship Id="rId14" Type="http://schemas.openxmlformats.org/officeDocument/2006/relationships/image" Target="../media/image35.png" /><Relationship Id="rId22" Type="http://schemas.openxmlformats.org/officeDocument/2006/relationships/image" Target="../media/image43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13" Type="http://schemas.openxmlformats.org/officeDocument/2006/relationships/image" Target="../media/image51.png" /><Relationship Id="rId18" Type="http://schemas.openxmlformats.org/officeDocument/2006/relationships/image" Target="../media/image56.png" /><Relationship Id="rId26" Type="http://schemas.openxmlformats.org/officeDocument/2006/relationships/image" Target="../media/image64.png" /><Relationship Id="rId3" Type="http://schemas.openxmlformats.org/officeDocument/2006/relationships/image" Target="../media/image1.png" /><Relationship Id="rId21" Type="http://schemas.openxmlformats.org/officeDocument/2006/relationships/image" Target="../media/image59.png" /><Relationship Id="rId7" Type="http://schemas.openxmlformats.org/officeDocument/2006/relationships/image" Target="../media/image47.svg" /><Relationship Id="rId12" Type="http://schemas.openxmlformats.org/officeDocument/2006/relationships/image" Target="../media/image50.png" /><Relationship Id="rId17" Type="http://schemas.openxmlformats.org/officeDocument/2006/relationships/image" Target="../media/image55.png" /><Relationship Id="rId25" Type="http://schemas.openxmlformats.org/officeDocument/2006/relationships/image" Target="../media/image63.png" /><Relationship Id="rId2" Type="http://schemas.openxmlformats.org/officeDocument/2006/relationships/notesSlide" Target="../notesSlides/notesSlide4.xml" /><Relationship Id="rId16" Type="http://schemas.openxmlformats.org/officeDocument/2006/relationships/image" Target="../media/image54.png" /><Relationship Id="rId20" Type="http://schemas.openxmlformats.org/officeDocument/2006/relationships/image" Target="../media/image58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6.png" /><Relationship Id="rId11" Type="http://schemas.openxmlformats.org/officeDocument/2006/relationships/image" Target="../media/image41.png" /><Relationship Id="rId24" Type="http://schemas.openxmlformats.org/officeDocument/2006/relationships/image" Target="../media/image62.png" /><Relationship Id="rId5" Type="http://schemas.openxmlformats.org/officeDocument/2006/relationships/image" Target="../media/image45.png" /><Relationship Id="rId15" Type="http://schemas.openxmlformats.org/officeDocument/2006/relationships/image" Target="../media/image53.png" /><Relationship Id="rId23" Type="http://schemas.openxmlformats.org/officeDocument/2006/relationships/image" Target="../media/image61.png" /><Relationship Id="rId10" Type="http://schemas.openxmlformats.org/officeDocument/2006/relationships/image" Target="../media/image49.png" /><Relationship Id="rId19" Type="http://schemas.openxmlformats.org/officeDocument/2006/relationships/image" Target="../media/image57.png" /><Relationship Id="rId4" Type="http://schemas.openxmlformats.org/officeDocument/2006/relationships/image" Target="../media/image44.png" /><Relationship Id="rId9" Type="http://schemas.openxmlformats.org/officeDocument/2006/relationships/image" Target="../media/image48.png" /><Relationship Id="rId14" Type="http://schemas.openxmlformats.org/officeDocument/2006/relationships/image" Target="../media/image52.png" /><Relationship Id="rId22" Type="http://schemas.openxmlformats.org/officeDocument/2006/relationships/image" Target="../media/image60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 /><Relationship Id="rId13" Type="http://schemas.openxmlformats.org/officeDocument/2006/relationships/image" Target="../media/image74.png" /><Relationship Id="rId18" Type="http://schemas.openxmlformats.org/officeDocument/2006/relationships/image" Target="../media/image79.png" /><Relationship Id="rId3" Type="http://schemas.openxmlformats.org/officeDocument/2006/relationships/image" Target="../media/image1.png" /><Relationship Id="rId21" Type="http://schemas.openxmlformats.org/officeDocument/2006/relationships/image" Target="../media/image82.png" /><Relationship Id="rId7" Type="http://schemas.openxmlformats.org/officeDocument/2006/relationships/image" Target="../media/image68.png" /><Relationship Id="rId12" Type="http://schemas.openxmlformats.org/officeDocument/2006/relationships/image" Target="../media/image73.png" /><Relationship Id="rId17" Type="http://schemas.openxmlformats.org/officeDocument/2006/relationships/image" Target="../media/image78.png" /><Relationship Id="rId2" Type="http://schemas.openxmlformats.org/officeDocument/2006/relationships/notesSlide" Target="../notesSlides/notesSlide5.xml" /><Relationship Id="rId16" Type="http://schemas.openxmlformats.org/officeDocument/2006/relationships/image" Target="../media/image77.png" /><Relationship Id="rId20" Type="http://schemas.openxmlformats.org/officeDocument/2006/relationships/image" Target="../media/image8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7.png" /><Relationship Id="rId11" Type="http://schemas.openxmlformats.org/officeDocument/2006/relationships/image" Target="../media/image72.png" /><Relationship Id="rId24" Type="http://schemas.openxmlformats.org/officeDocument/2006/relationships/image" Target="../media/image85.png" /><Relationship Id="rId5" Type="http://schemas.openxmlformats.org/officeDocument/2006/relationships/image" Target="../media/image66.svg" /><Relationship Id="rId15" Type="http://schemas.openxmlformats.org/officeDocument/2006/relationships/image" Target="../media/image76.png" /><Relationship Id="rId23" Type="http://schemas.openxmlformats.org/officeDocument/2006/relationships/image" Target="../media/image84.png" /><Relationship Id="rId10" Type="http://schemas.openxmlformats.org/officeDocument/2006/relationships/image" Target="../media/image71.png" /><Relationship Id="rId19" Type="http://schemas.openxmlformats.org/officeDocument/2006/relationships/image" Target="../media/image80.png" /><Relationship Id="rId4" Type="http://schemas.openxmlformats.org/officeDocument/2006/relationships/image" Target="../media/image65.png" /><Relationship Id="rId9" Type="http://schemas.openxmlformats.org/officeDocument/2006/relationships/image" Target="../media/image70.png" /><Relationship Id="rId14" Type="http://schemas.openxmlformats.org/officeDocument/2006/relationships/image" Target="../media/image75.png" /><Relationship Id="rId22" Type="http://schemas.openxmlformats.org/officeDocument/2006/relationships/image" Target="../media/image8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 /><Relationship Id="rId3" Type="http://schemas.openxmlformats.org/officeDocument/2006/relationships/image" Target="../media/image86.png" /><Relationship Id="rId7" Type="http://schemas.openxmlformats.org/officeDocument/2006/relationships/image" Target="../media/image90.png" /><Relationship Id="rId12" Type="http://schemas.openxmlformats.org/officeDocument/2006/relationships/image" Target="../media/image9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9.png" /><Relationship Id="rId11" Type="http://schemas.openxmlformats.org/officeDocument/2006/relationships/image" Target="../media/image93.png" /><Relationship Id="rId5" Type="http://schemas.openxmlformats.org/officeDocument/2006/relationships/image" Target="../media/image88.svg" /><Relationship Id="rId10" Type="http://schemas.openxmlformats.org/officeDocument/2006/relationships/image" Target="../media/image92.png" /><Relationship Id="rId4" Type="http://schemas.openxmlformats.org/officeDocument/2006/relationships/image" Target="../media/image87.png" /><Relationship Id="rId9" Type="http://schemas.openxmlformats.org/officeDocument/2006/relationships/image" Target="../media/image91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 /><Relationship Id="rId13" Type="http://schemas.openxmlformats.org/officeDocument/2006/relationships/image" Target="../media/image104.png" /><Relationship Id="rId3" Type="http://schemas.openxmlformats.org/officeDocument/2006/relationships/image" Target="../media/image86.png" /><Relationship Id="rId7" Type="http://schemas.openxmlformats.org/officeDocument/2006/relationships/image" Target="../media/image98.png" /><Relationship Id="rId12" Type="http://schemas.openxmlformats.org/officeDocument/2006/relationships/image" Target="../media/image10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7.png" /><Relationship Id="rId11" Type="http://schemas.openxmlformats.org/officeDocument/2006/relationships/image" Target="../media/image102.png" /><Relationship Id="rId5" Type="http://schemas.openxmlformats.org/officeDocument/2006/relationships/image" Target="../media/image96.png" /><Relationship Id="rId10" Type="http://schemas.openxmlformats.org/officeDocument/2006/relationships/image" Target="../media/image101.png" /><Relationship Id="rId4" Type="http://schemas.openxmlformats.org/officeDocument/2006/relationships/image" Target="../media/image95.png" /><Relationship Id="rId9" Type="http://schemas.openxmlformats.org/officeDocument/2006/relationships/image" Target="../media/image100.png" /><Relationship Id="rId14" Type="http://schemas.openxmlformats.org/officeDocument/2006/relationships/image" Target="../media/image105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 /><Relationship Id="rId13" Type="http://schemas.openxmlformats.org/officeDocument/2006/relationships/image" Target="../media/image114.png" /><Relationship Id="rId3" Type="http://schemas.openxmlformats.org/officeDocument/2006/relationships/image" Target="../media/image86.png" /><Relationship Id="rId7" Type="http://schemas.openxmlformats.org/officeDocument/2006/relationships/image" Target="../media/image108.png" /><Relationship Id="rId12" Type="http://schemas.openxmlformats.org/officeDocument/2006/relationships/image" Target="../media/image1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7.png" /><Relationship Id="rId11" Type="http://schemas.openxmlformats.org/officeDocument/2006/relationships/image" Target="../media/image112.png" /><Relationship Id="rId5" Type="http://schemas.openxmlformats.org/officeDocument/2006/relationships/image" Target="../media/image4.png" /><Relationship Id="rId10" Type="http://schemas.openxmlformats.org/officeDocument/2006/relationships/image" Target="../media/image111.png" /><Relationship Id="rId4" Type="http://schemas.openxmlformats.org/officeDocument/2006/relationships/image" Target="../media/image106.png" /><Relationship Id="rId9" Type="http://schemas.openxmlformats.org/officeDocument/2006/relationships/image" Target="../media/image110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 /><Relationship Id="rId13" Type="http://schemas.openxmlformats.org/officeDocument/2006/relationships/image" Target="../media/image123.png" /><Relationship Id="rId18" Type="http://schemas.openxmlformats.org/officeDocument/2006/relationships/image" Target="../media/image128.png" /><Relationship Id="rId3" Type="http://schemas.openxmlformats.org/officeDocument/2006/relationships/image" Target="../media/image1.png" /><Relationship Id="rId21" Type="http://schemas.openxmlformats.org/officeDocument/2006/relationships/image" Target="../media/image131.png" /><Relationship Id="rId7" Type="http://schemas.openxmlformats.org/officeDocument/2006/relationships/image" Target="../media/image118.png" /><Relationship Id="rId12" Type="http://schemas.openxmlformats.org/officeDocument/2006/relationships/image" Target="../media/image122.png" /><Relationship Id="rId17" Type="http://schemas.openxmlformats.org/officeDocument/2006/relationships/image" Target="../media/image127.png" /><Relationship Id="rId2" Type="http://schemas.openxmlformats.org/officeDocument/2006/relationships/notesSlide" Target="../notesSlides/notesSlide9.xml" /><Relationship Id="rId16" Type="http://schemas.openxmlformats.org/officeDocument/2006/relationships/image" Target="../media/image126.png" /><Relationship Id="rId20" Type="http://schemas.openxmlformats.org/officeDocument/2006/relationships/image" Target="../media/image130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7.png" /><Relationship Id="rId11" Type="http://schemas.openxmlformats.org/officeDocument/2006/relationships/image" Target="../media/image121.png" /><Relationship Id="rId5" Type="http://schemas.openxmlformats.org/officeDocument/2006/relationships/image" Target="../media/image116.png" /><Relationship Id="rId15" Type="http://schemas.openxmlformats.org/officeDocument/2006/relationships/image" Target="../media/image125.png" /><Relationship Id="rId10" Type="http://schemas.openxmlformats.org/officeDocument/2006/relationships/image" Target="../media/image120.png" /><Relationship Id="rId19" Type="http://schemas.openxmlformats.org/officeDocument/2006/relationships/image" Target="../media/image129.png" /><Relationship Id="rId4" Type="http://schemas.openxmlformats.org/officeDocument/2006/relationships/image" Target="../media/image115.svg" /><Relationship Id="rId9" Type="http://schemas.openxmlformats.org/officeDocument/2006/relationships/image" Target="../media/image119.png" /><Relationship Id="rId14" Type="http://schemas.openxmlformats.org/officeDocument/2006/relationships/image" Target="../media/image124.png" /><Relationship Id="rId22" Type="http://schemas.openxmlformats.org/officeDocument/2006/relationships/image" Target="../media/image132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 /><Relationship Id="rId13" Type="http://schemas.openxmlformats.org/officeDocument/2006/relationships/image" Target="../media/image140.png" /><Relationship Id="rId3" Type="http://schemas.openxmlformats.org/officeDocument/2006/relationships/image" Target="../media/image86.png" /><Relationship Id="rId7" Type="http://schemas.openxmlformats.org/officeDocument/2006/relationships/image" Target="../media/image117.png" /><Relationship Id="rId12" Type="http://schemas.openxmlformats.org/officeDocument/2006/relationships/image" Target="../media/image139.png" /><Relationship Id="rId17" Type="http://schemas.openxmlformats.org/officeDocument/2006/relationships/image" Target="../media/image144.png" /><Relationship Id="rId2" Type="http://schemas.openxmlformats.org/officeDocument/2006/relationships/notesSlide" Target="../notesSlides/notesSlide10.xml" /><Relationship Id="rId16" Type="http://schemas.openxmlformats.org/officeDocument/2006/relationships/image" Target="../media/image143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6.png" /><Relationship Id="rId11" Type="http://schemas.openxmlformats.org/officeDocument/2006/relationships/image" Target="../media/image138.png" /><Relationship Id="rId5" Type="http://schemas.openxmlformats.org/officeDocument/2006/relationships/image" Target="../media/image134.svg" /><Relationship Id="rId15" Type="http://schemas.openxmlformats.org/officeDocument/2006/relationships/image" Target="../media/image142.png" /><Relationship Id="rId10" Type="http://schemas.openxmlformats.org/officeDocument/2006/relationships/image" Target="../media/image137.png" /><Relationship Id="rId4" Type="http://schemas.openxmlformats.org/officeDocument/2006/relationships/image" Target="../media/image133.png" /><Relationship Id="rId9" Type="http://schemas.openxmlformats.org/officeDocument/2006/relationships/image" Target="../media/image136.png" /><Relationship Id="rId14" Type="http://schemas.openxmlformats.org/officeDocument/2006/relationships/image" Target="../media/image141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 /><Relationship Id="rId13" Type="http://schemas.openxmlformats.org/officeDocument/2006/relationships/image" Target="../media/image154.png" /><Relationship Id="rId18" Type="http://schemas.openxmlformats.org/officeDocument/2006/relationships/image" Target="../media/image159.png" /><Relationship Id="rId3" Type="http://schemas.openxmlformats.org/officeDocument/2006/relationships/image" Target="../media/image1.png" /><Relationship Id="rId21" Type="http://schemas.openxmlformats.org/officeDocument/2006/relationships/image" Target="../media/image162.png" /><Relationship Id="rId7" Type="http://schemas.openxmlformats.org/officeDocument/2006/relationships/image" Target="../media/image148.png" /><Relationship Id="rId12" Type="http://schemas.openxmlformats.org/officeDocument/2006/relationships/image" Target="../media/image153.png" /><Relationship Id="rId17" Type="http://schemas.openxmlformats.org/officeDocument/2006/relationships/image" Target="../media/image158.png" /><Relationship Id="rId2" Type="http://schemas.openxmlformats.org/officeDocument/2006/relationships/notesSlide" Target="../notesSlides/notesSlide11.xml" /><Relationship Id="rId16" Type="http://schemas.openxmlformats.org/officeDocument/2006/relationships/image" Target="../media/image157.png" /><Relationship Id="rId20" Type="http://schemas.openxmlformats.org/officeDocument/2006/relationships/image" Target="../media/image16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47.png" /><Relationship Id="rId11" Type="http://schemas.openxmlformats.org/officeDocument/2006/relationships/image" Target="../media/image152.png" /><Relationship Id="rId24" Type="http://schemas.openxmlformats.org/officeDocument/2006/relationships/image" Target="../media/image165.png" /><Relationship Id="rId5" Type="http://schemas.openxmlformats.org/officeDocument/2006/relationships/image" Target="../media/image146.svg" /><Relationship Id="rId15" Type="http://schemas.openxmlformats.org/officeDocument/2006/relationships/image" Target="../media/image156.png" /><Relationship Id="rId23" Type="http://schemas.openxmlformats.org/officeDocument/2006/relationships/image" Target="../media/image164.png" /><Relationship Id="rId10" Type="http://schemas.openxmlformats.org/officeDocument/2006/relationships/image" Target="../media/image151.png" /><Relationship Id="rId19" Type="http://schemas.openxmlformats.org/officeDocument/2006/relationships/image" Target="../media/image160.png" /><Relationship Id="rId4" Type="http://schemas.openxmlformats.org/officeDocument/2006/relationships/image" Target="../media/image145.png" /><Relationship Id="rId9" Type="http://schemas.openxmlformats.org/officeDocument/2006/relationships/image" Target="../media/image150.png" /><Relationship Id="rId14" Type="http://schemas.openxmlformats.org/officeDocument/2006/relationships/image" Target="../media/image155.png" /><Relationship Id="rId22" Type="http://schemas.openxmlformats.org/officeDocument/2006/relationships/image" Target="../media/image163.png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 /><Relationship Id="rId13" Type="http://schemas.openxmlformats.org/officeDocument/2006/relationships/image" Target="../media/image175.png" /><Relationship Id="rId3" Type="http://schemas.openxmlformats.org/officeDocument/2006/relationships/image" Target="../media/image86.png" /><Relationship Id="rId7" Type="http://schemas.openxmlformats.org/officeDocument/2006/relationships/image" Target="../media/image169.png" /><Relationship Id="rId12" Type="http://schemas.openxmlformats.org/officeDocument/2006/relationships/image" Target="../media/image174.png" /><Relationship Id="rId17" Type="http://schemas.openxmlformats.org/officeDocument/2006/relationships/image" Target="../media/image179.png" /><Relationship Id="rId2" Type="http://schemas.openxmlformats.org/officeDocument/2006/relationships/notesSlide" Target="../notesSlides/notesSlide12.xml" /><Relationship Id="rId16" Type="http://schemas.openxmlformats.org/officeDocument/2006/relationships/image" Target="../media/image178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8.png" /><Relationship Id="rId11" Type="http://schemas.openxmlformats.org/officeDocument/2006/relationships/image" Target="../media/image173.png" /><Relationship Id="rId5" Type="http://schemas.openxmlformats.org/officeDocument/2006/relationships/image" Target="../media/image167.svg" /><Relationship Id="rId15" Type="http://schemas.openxmlformats.org/officeDocument/2006/relationships/image" Target="../media/image177.png" /><Relationship Id="rId10" Type="http://schemas.openxmlformats.org/officeDocument/2006/relationships/image" Target="../media/image172.png" /><Relationship Id="rId4" Type="http://schemas.openxmlformats.org/officeDocument/2006/relationships/image" Target="../media/image166.png" /><Relationship Id="rId9" Type="http://schemas.openxmlformats.org/officeDocument/2006/relationships/image" Target="../media/image171.png" /><Relationship Id="rId14" Type="http://schemas.openxmlformats.org/officeDocument/2006/relationships/image" Target="../media/image176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 /><Relationship Id="rId13" Type="http://schemas.openxmlformats.org/officeDocument/2006/relationships/image" Target="../media/image187.png" /><Relationship Id="rId18" Type="http://schemas.openxmlformats.org/officeDocument/2006/relationships/image" Target="../media/image192.png" /><Relationship Id="rId26" Type="http://schemas.openxmlformats.org/officeDocument/2006/relationships/image" Target="../media/image200.png" /><Relationship Id="rId3" Type="http://schemas.openxmlformats.org/officeDocument/2006/relationships/image" Target="../media/image1.png" /><Relationship Id="rId21" Type="http://schemas.openxmlformats.org/officeDocument/2006/relationships/image" Target="../media/image195.png" /><Relationship Id="rId7" Type="http://schemas.openxmlformats.org/officeDocument/2006/relationships/image" Target="../media/image181.png" /><Relationship Id="rId12" Type="http://schemas.openxmlformats.org/officeDocument/2006/relationships/image" Target="../media/image186.png" /><Relationship Id="rId17" Type="http://schemas.openxmlformats.org/officeDocument/2006/relationships/image" Target="../media/image191.png" /><Relationship Id="rId25" Type="http://schemas.openxmlformats.org/officeDocument/2006/relationships/image" Target="../media/image199.png" /><Relationship Id="rId2" Type="http://schemas.openxmlformats.org/officeDocument/2006/relationships/notesSlide" Target="../notesSlides/notesSlide13.xml" /><Relationship Id="rId16" Type="http://schemas.openxmlformats.org/officeDocument/2006/relationships/image" Target="../media/image190.png" /><Relationship Id="rId20" Type="http://schemas.openxmlformats.org/officeDocument/2006/relationships/image" Target="../media/image194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0.png" /><Relationship Id="rId11" Type="http://schemas.openxmlformats.org/officeDocument/2006/relationships/image" Target="../media/image185.png" /><Relationship Id="rId24" Type="http://schemas.openxmlformats.org/officeDocument/2006/relationships/image" Target="../media/image198.png" /><Relationship Id="rId5" Type="http://schemas.openxmlformats.org/officeDocument/2006/relationships/image" Target="../media/image134.svg" /><Relationship Id="rId15" Type="http://schemas.openxmlformats.org/officeDocument/2006/relationships/image" Target="../media/image189.png" /><Relationship Id="rId23" Type="http://schemas.openxmlformats.org/officeDocument/2006/relationships/image" Target="../media/image197.png" /><Relationship Id="rId10" Type="http://schemas.openxmlformats.org/officeDocument/2006/relationships/image" Target="../media/image184.png" /><Relationship Id="rId19" Type="http://schemas.openxmlformats.org/officeDocument/2006/relationships/image" Target="../media/image193.png" /><Relationship Id="rId4" Type="http://schemas.openxmlformats.org/officeDocument/2006/relationships/image" Target="../media/image133.png" /><Relationship Id="rId9" Type="http://schemas.openxmlformats.org/officeDocument/2006/relationships/image" Target="../media/image183.png" /><Relationship Id="rId14" Type="http://schemas.openxmlformats.org/officeDocument/2006/relationships/image" Target="../media/image188.png" /><Relationship Id="rId22" Type="http://schemas.openxmlformats.org/officeDocument/2006/relationships/image" Target="../media/image196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 /><Relationship Id="rId13" Type="http://schemas.openxmlformats.org/officeDocument/2006/relationships/image" Target="../media/image208.png" /><Relationship Id="rId18" Type="http://schemas.openxmlformats.org/officeDocument/2006/relationships/image" Target="../media/image213.png" /><Relationship Id="rId3" Type="http://schemas.openxmlformats.org/officeDocument/2006/relationships/image" Target="../media/image1.png" /><Relationship Id="rId21" Type="http://schemas.openxmlformats.org/officeDocument/2006/relationships/image" Target="../media/image216.png" /><Relationship Id="rId7" Type="http://schemas.openxmlformats.org/officeDocument/2006/relationships/image" Target="../media/image203.png" /><Relationship Id="rId12" Type="http://schemas.openxmlformats.org/officeDocument/2006/relationships/image" Target="../media/image207.png" /><Relationship Id="rId17" Type="http://schemas.openxmlformats.org/officeDocument/2006/relationships/image" Target="../media/image212.png" /><Relationship Id="rId25" Type="http://schemas.openxmlformats.org/officeDocument/2006/relationships/image" Target="../media/image220.png" /><Relationship Id="rId2" Type="http://schemas.openxmlformats.org/officeDocument/2006/relationships/notesSlide" Target="../notesSlides/notesSlide14.xml" /><Relationship Id="rId16" Type="http://schemas.openxmlformats.org/officeDocument/2006/relationships/image" Target="../media/image211.png" /><Relationship Id="rId20" Type="http://schemas.openxmlformats.org/officeDocument/2006/relationships/image" Target="../media/image215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4.png" /><Relationship Id="rId11" Type="http://schemas.openxmlformats.org/officeDocument/2006/relationships/image" Target="../media/image206.png" /><Relationship Id="rId24" Type="http://schemas.openxmlformats.org/officeDocument/2006/relationships/image" Target="../media/image219.png" /><Relationship Id="rId5" Type="http://schemas.openxmlformats.org/officeDocument/2006/relationships/image" Target="../media/image202.svg" /><Relationship Id="rId15" Type="http://schemas.openxmlformats.org/officeDocument/2006/relationships/image" Target="../media/image210.png" /><Relationship Id="rId23" Type="http://schemas.openxmlformats.org/officeDocument/2006/relationships/image" Target="../media/image218.png" /><Relationship Id="rId10" Type="http://schemas.openxmlformats.org/officeDocument/2006/relationships/image" Target="../media/image205.png" /><Relationship Id="rId19" Type="http://schemas.openxmlformats.org/officeDocument/2006/relationships/image" Target="../media/image214.png" /><Relationship Id="rId4" Type="http://schemas.openxmlformats.org/officeDocument/2006/relationships/image" Target="../media/image201.png" /><Relationship Id="rId9" Type="http://schemas.openxmlformats.org/officeDocument/2006/relationships/image" Target="../media/image204.png" /><Relationship Id="rId14" Type="http://schemas.openxmlformats.org/officeDocument/2006/relationships/image" Target="../media/image209.png" /><Relationship Id="rId22" Type="http://schemas.openxmlformats.org/officeDocument/2006/relationships/image" Target="../media/image217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 /><Relationship Id="rId13" Type="http://schemas.openxmlformats.org/officeDocument/2006/relationships/image" Target="../media/image227.png" /><Relationship Id="rId18" Type="http://schemas.openxmlformats.org/officeDocument/2006/relationships/image" Target="../media/image232.png" /><Relationship Id="rId3" Type="http://schemas.openxmlformats.org/officeDocument/2006/relationships/image" Target="../media/image1.png" /><Relationship Id="rId7" Type="http://schemas.openxmlformats.org/officeDocument/2006/relationships/image" Target="../media/image181.png" /><Relationship Id="rId12" Type="http://schemas.openxmlformats.org/officeDocument/2006/relationships/image" Target="../media/image226.png" /><Relationship Id="rId17" Type="http://schemas.openxmlformats.org/officeDocument/2006/relationships/image" Target="../media/image231.png" /><Relationship Id="rId2" Type="http://schemas.openxmlformats.org/officeDocument/2006/relationships/notesSlide" Target="../notesSlides/notesSlide15.xml" /><Relationship Id="rId16" Type="http://schemas.openxmlformats.org/officeDocument/2006/relationships/image" Target="../media/image230.png" /><Relationship Id="rId20" Type="http://schemas.openxmlformats.org/officeDocument/2006/relationships/image" Target="../media/image234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0.png" /><Relationship Id="rId11" Type="http://schemas.openxmlformats.org/officeDocument/2006/relationships/image" Target="../media/image225.png" /><Relationship Id="rId5" Type="http://schemas.openxmlformats.org/officeDocument/2006/relationships/image" Target="../media/image222.svg" /><Relationship Id="rId15" Type="http://schemas.openxmlformats.org/officeDocument/2006/relationships/image" Target="../media/image229.png" /><Relationship Id="rId10" Type="http://schemas.openxmlformats.org/officeDocument/2006/relationships/image" Target="../media/image224.png" /><Relationship Id="rId19" Type="http://schemas.openxmlformats.org/officeDocument/2006/relationships/image" Target="../media/image233.png" /><Relationship Id="rId4" Type="http://schemas.openxmlformats.org/officeDocument/2006/relationships/image" Target="../media/image221.png" /><Relationship Id="rId9" Type="http://schemas.openxmlformats.org/officeDocument/2006/relationships/image" Target="../media/image223.png" /><Relationship Id="rId14" Type="http://schemas.openxmlformats.org/officeDocument/2006/relationships/image" Target="../media/image22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6476695" y="-2857500"/>
            <a:ext cx="7619695" cy="76196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-952805" y="3047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/>
          <a:stretch/>
        </p:blipFill>
        <p:spPr>
          <a:xfrm>
            <a:off x="2857500" y="952805"/>
            <a:ext cx="3810305" cy="38103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>
            <a:alphaModFix amt="3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3455" b="3345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9334195" y="2057400"/>
            <a:ext cx="3810305" cy="3810305"/>
          </a:xfrm>
          <a:prstGeom prst="ellipse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9286646" y="3952951"/>
            <a:ext cx="95098" cy="9509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5FF">
                <a:alpha val="100000"/>
              </a:srgbClr>
            </a:outerShdw>
          </a:effectLst>
        </p:spPr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359445" y="489204"/>
            <a:ext cx="2857500" cy="285750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t="-267" b="-267"/>
          <a:stretch/>
        </p:blipFill>
        <p:spPr>
          <a:xfrm>
            <a:off x="487375" y="3286354"/>
            <a:ext cx="1714500" cy="1723644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-714146" y="-714146"/>
            <a:ext cx="1429207" cy="1429207"/>
          </a:xfrm>
          <a:prstGeom prst="ellipse">
            <a:avLst/>
          </a:prstGeom>
          <a:noFill/>
          <a:ln w="12700">
            <a:solidFill>
              <a:srgbClr val="00F5FF">
                <a:alpha val="20000"/>
              </a:srgbClr>
            </a:solidFill>
            <a:prstDash val="solid"/>
          </a:ln>
        </p:spPr>
      </p:sp>
      <p:sp>
        <p:nvSpPr>
          <p:cNvPr id="13" name="Text 4"/>
          <p:cNvSpPr txBox="1"/>
          <p:nvPr/>
        </p:nvSpPr>
        <p:spPr>
          <a:xfrm>
            <a:off x="1009498" y="761695"/>
            <a:ext cx="10534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Group Project Proposal </a:t>
            </a:r>
            <a:endParaRPr lang="en-US" sz="10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/>
          <a:srcRect l="-7230" r="-7230"/>
          <a:stretch/>
        </p:blipFill>
        <p:spPr>
          <a:xfrm>
            <a:off x="761695" y="795528"/>
            <a:ext cx="171907" cy="133502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761695" y="1114654"/>
            <a:ext cx="108402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2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Smart Food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22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 &amp;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22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Export Facility </a:t>
            </a:r>
            <a:endParaRPr lang="en-US" sz="63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761695" y="3622853"/>
            <a:ext cx="1143000" cy="3840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761695" y="3965753"/>
            <a:ext cx="67537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38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Industry 4.0 infrastructure designed for zero-waste operations and global export compliance.</a:t>
            </a:r>
            <a:endParaRPr lang="en-US" sz="18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/>
          <a:srcRect l="-7143" r="-7143"/>
          <a:stretch/>
        </p:blipFill>
        <p:spPr>
          <a:xfrm>
            <a:off x="1000354" y="5125212"/>
            <a:ext cx="133502" cy="133502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4"/>
          <a:srcRect l="-113" r="-113"/>
          <a:stretch/>
        </p:blipFill>
        <p:spPr>
          <a:xfrm>
            <a:off x="761695" y="4987138"/>
            <a:ext cx="3486607" cy="409651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228039" y="4987138"/>
            <a:ext cx="30961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AI • IoT • Automation • Blockchain </a:t>
            </a:r>
            <a:endParaRPr lang="en-US" sz="1000" dirty="0"/>
          </a:p>
        </p:txBody>
      </p:sp>
      <p:sp>
        <p:nvSpPr>
          <p:cNvPr id="21" name="Shape 8"/>
          <p:cNvSpPr/>
          <p:nvPr/>
        </p:nvSpPr>
        <p:spPr>
          <a:xfrm>
            <a:off x="761695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9"/>
          <p:cNvSpPr/>
          <p:nvPr/>
        </p:nvSpPr>
        <p:spPr>
          <a:xfrm>
            <a:off x="761695" y="5586984"/>
            <a:ext cx="38405" cy="839419"/>
          </a:xfrm>
          <a:prstGeom prst="rect">
            <a:avLst/>
          </a:prstGeom>
          <a:solidFill>
            <a:srgbClr val="00F5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5FF">
                <a:alpha val="100000"/>
              </a:srgbClr>
            </a:outerShdw>
          </a:effectLst>
        </p:spPr>
      </p:sp>
      <p:sp>
        <p:nvSpPr>
          <p:cNvPr id="23" name="Text 10"/>
          <p:cNvSpPr txBox="1"/>
          <p:nvPr/>
        </p:nvSpPr>
        <p:spPr>
          <a:xfrm>
            <a:off x="961949" y="5748833"/>
            <a:ext cx="168432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Muhammad Shoaib Akhter Qadri</a:t>
            </a:r>
            <a:endParaRPr lang="en-US" sz="1000" dirty="0"/>
          </a:p>
        </p:txBody>
      </p:sp>
      <p:sp>
        <p:nvSpPr>
          <p:cNvPr id="24" name="Text 11"/>
          <p:cNvSpPr txBox="1"/>
          <p:nvPr/>
        </p:nvSpPr>
        <p:spPr>
          <a:xfrm>
            <a:off x="961949" y="612648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25" name="Shape 12"/>
          <p:cNvSpPr/>
          <p:nvPr/>
        </p:nvSpPr>
        <p:spPr>
          <a:xfrm>
            <a:off x="2926080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3"/>
          <p:cNvSpPr/>
          <p:nvPr/>
        </p:nvSpPr>
        <p:spPr>
          <a:xfrm>
            <a:off x="2926080" y="5586984"/>
            <a:ext cx="38405" cy="839419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FF88">
                <a:alpha val="100000"/>
              </a:srgbClr>
            </a:outerShdw>
          </a:effectLst>
        </p:spPr>
      </p:sp>
      <p:sp>
        <p:nvSpPr>
          <p:cNvPr id="27" name="Text 14"/>
          <p:cNvSpPr txBox="1"/>
          <p:nvPr/>
        </p:nvSpPr>
        <p:spPr>
          <a:xfrm>
            <a:off x="3126334" y="5748833"/>
            <a:ext cx="17163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Hafiz Muhammad Hamza</a:t>
            </a:r>
            <a:endParaRPr lang="en-US" sz="1000" dirty="0"/>
          </a:p>
        </p:txBody>
      </p:sp>
      <p:sp>
        <p:nvSpPr>
          <p:cNvPr id="28" name="Text 15"/>
          <p:cNvSpPr txBox="1"/>
          <p:nvPr/>
        </p:nvSpPr>
        <p:spPr>
          <a:xfrm>
            <a:off x="3126334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29" name="Shape 16"/>
          <p:cNvSpPr/>
          <p:nvPr/>
        </p:nvSpPr>
        <p:spPr>
          <a:xfrm>
            <a:off x="5090465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17"/>
          <p:cNvSpPr/>
          <p:nvPr/>
        </p:nvSpPr>
        <p:spPr>
          <a:xfrm>
            <a:off x="5090465" y="5586984"/>
            <a:ext cx="38405" cy="839419"/>
          </a:xfrm>
          <a:prstGeom prst="rect">
            <a:avLst/>
          </a:prstGeom>
          <a:solidFill>
            <a:srgbClr val="BF0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BF00FF">
                <a:alpha val="100000"/>
              </a:srgbClr>
            </a:outerShdw>
          </a:effectLst>
        </p:spPr>
      </p:sp>
      <p:sp>
        <p:nvSpPr>
          <p:cNvPr id="31" name="Text 18"/>
          <p:cNvSpPr txBox="1"/>
          <p:nvPr/>
        </p:nvSpPr>
        <p:spPr>
          <a:xfrm>
            <a:off x="5289804" y="5748833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Junaid Nazir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5289804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33" name="Shape 20"/>
          <p:cNvSpPr/>
          <p:nvPr/>
        </p:nvSpPr>
        <p:spPr>
          <a:xfrm>
            <a:off x="7253935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1"/>
          <p:cNvSpPr/>
          <p:nvPr/>
        </p:nvSpPr>
        <p:spPr>
          <a:xfrm>
            <a:off x="7253935" y="5586984"/>
            <a:ext cx="38405" cy="839419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FFD700">
                <a:alpha val="100000"/>
              </a:srgbClr>
            </a:outerShdw>
          </a:effectLst>
        </p:spPr>
      </p:sp>
      <p:sp>
        <p:nvSpPr>
          <p:cNvPr id="35" name="Text 22"/>
          <p:cNvSpPr txBox="1"/>
          <p:nvPr/>
        </p:nvSpPr>
        <p:spPr>
          <a:xfrm>
            <a:off x="7454189" y="5748833"/>
            <a:ext cx="11155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Abdul Mohemin</a:t>
            </a:r>
            <a:endParaRPr lang="en-US" sz="1000" dirty="0"/>
          </a:p>
        </p:txBody>
      </p:sp>
      <p:sp>
        <p:nvSpPr>
          <p:cNvPr id="36" name="Text 23"/>
          <p:cNvSpPr txBox="1"/>
          <p:nvPr/>
        </p:nvSpPr>
        <p:spPr>
          <a:xfrm>
            <a:off x="7454189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37" name="Shape 24"/>
          <p:cNvSpPr/>
          <p:nvPr/>
        </p:nvSpPr>
        <p:spPr>
          <a:xfrm>
            <a:off x="9418320" y="5586984"/>
            <a:ext cx="2018995" cy="866851"/>
          </a:xfrm>
          <a:prstGeom prst="roundRect">
            <a:avLst>
              <a:gd name="adj" fmla="val 2782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5"/>
          <p:cNvSpPr/>
          <p:nvPr/>
        </p:nvSpPr>
        <p:spPr>
          <a:xfrm>
            <a:off x="9418320" y="5586984"/>
            <a:ext cx="38405" cy="839419"/>
          </a:xfrm>
          <a:prstGeom prst="rect">
            <a:avLst/>
          </a:prstGeom>
          <a:solidFill>
            <a:srgbClr val="FF336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FF3366">
                <a:alpha val="100000"/>
              </a:srgbClr>
            </a:outerShdw>
          </a:effectLst>
        </p:spPr>
      </p:sp>
      <p:sp>
        <p:nvSpPr>
          <p:cNvPr id="39" name="Text 26"/>
          <p:cNvSpPr txBox="1"/>
          <p:nvPr/>
        </p:nvSpPr>
        <p:spPr>
          <a:xfrm>
            <a:off x="9618574" y="5748833"/>
            <a:ext cx="8394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Adal Imtiaz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9618574" y="596646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</a:t>
            </a:r>
            <a:endParaRPr lang="en-US" sz="800" dirty="0"/>
          </a:p>
        </p:txBody>
      </p:sp>
      <p:sp>
        <p:nvSpPr>
          <p:cNvPr id="41" name="Text 28"/>
          <p:cNvSpPr txBox="1"/>
          <p:nvPr/>
        </p:nvSpPr>
        <p:spPr>
          <a:xfrm>
            <a:off x="11282782" y="6344107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1904695" y="-190469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82305" y="3047695"/>
            <a:ext cx="5715000" cy="57150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649224"/>
            <a:ext cx="458388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</a:t>
            </a:r>
            <a:r>
              <a:rPr lang="en-US" sz="3600" b="1" kern="0" spc="-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Overview</a:t>
            </a:r>
            <a:endParaRPr lang="en-US" sz="36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420" b="-420"/>
          <a:stretch/>
        </p:blipFill>
        <p:spPr>
          <a:xfrm>
            <a:off x="761695" y="1304849"/>
            <a:ext cx="761695" cy="384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6590995" y="571500"/>
            <a:ext cx="48390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future-proof, export-grade smart facility integrated with Industry 4.0 technologies for maximum efficiency.</a:t>
            </a:r>
            <a:endParaRPr lang="en-US" sz="1300" dirty="0"/>
          </a:p>
        </p:txBody>
      </p:sp>
      <p:sp>
        <p:nvSpPr>
          <p:cNvPr id="10" name="Shape 3"/>
          <p:cNvSpPr/>
          <p:nvPr/>
        </p:nvSpPr>
        <p:spPr>
          <a:xfrm>
            <a:off x="761695" y="1723644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761695" y="1723644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1104595" y="203819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00F5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1257300" y="2210105"/>
            <a:ext cx="304495" cy="2670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904695" y="2171700"/>
            <a:ext cx="2255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 &amp; Strategy</a:t>
            </a:r>
            <a:endParaRPr lang="en-US" sz="1800" dirty="0"/>
          </a:p>
        </p:txBody>
      </p:sp>
      <p:sp>
        <p:nvSpPr>
          <p:cNvPr id="15" name="Text 7"/>
          <p:cNvSpPr txBox="1"/>
          <p:nvPr/>
        </p:nvSpPr>
        <p:spPr>
          <a:xfrm>
            <a:off x="1104595" y="2838298"/>
            <a:ext cx="46387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establish a world-class smart food processing hub that sets new benchmarks for automation, hygiene, and digital integration.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1218895" y="372252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Future-proof industrial design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3771900"/>
            <a:ext cx="114300" cy="1143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218895" y="405079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decision making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4101084"/>
            <a:ext cx="114300" cy="1143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218895" y="437906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modular architecture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4429354"/>
            <a:ext cx="114300" cy="11430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210605" y="1723644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2"/>
          <p:cNvSpPr/>
          <p:nvPr/>
        </p:nvSpPr>
        <p:spPr>
          <a:xfrm>
            <a:off x="6210605" y="1723644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24" name="Shape 13"/>
          <p:cNvSpPr/>
          <p:nvPr/>
        </p:nvSpPr>
        <p:spPr>
          <a:xfrm>
            <a:off x="6553505" y="203819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00FF8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91579" y="2210105"/>
            <a:ext cx="333756" cy="2670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353605" y="2171700"/>
            <a:ext cx="19083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Scope</a:t>
            </a:r>
            <a:endParaRPr lang="en-US" sz="1800" dirty="0"/>
          </a:p>
        </p:txBody>
      </p:sp>
      <p:sp>
        <p:nvSpPr>
          <p:cNvPr id="27" name="Text 15"/>
          <p:cNvSpPr txBox="1"/>
          <p:nvPr/>
        </p:nvSpPr>
        <p:spPr>
          <a:xfrm>
            <a:off x="6553505" y="283829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processing capabilities for diverse food categories with end-to-end quality assurance protocols.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6658661" y="347837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Fruits &amp; Vegetables</a:t>
            </a:r>
            <a:endParaRPr lang="en-US" sz="11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553505" y="3528670"/>
            <a:ext cx="105156" cy="1143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6658661" y="3806647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Packaged Food Products</a:t>
            </a:r>
            <a:endParaRPr lang="en-US" sz="11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553505" y="3856939"/>
            <a:ext cx="105156" cy="1143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658661" y="4135831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Value-Added Processing</a:t>
            </a:r>
            <a:endParaRPr lang="en-US" sz="11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6553505" y="4185209"/>
            <a:ext cx="105156" cy="114300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761695" y="5251399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20"/>
          <p:cNvSpPr/>
          <p:nvPr/>
        </p:nvSpPr>
        <p:spPr>
          <a:xfrm>
            <a:off x="761695" y="5251399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36" name="Shape 21"/>
          <p:cNvSpPr/>
          <p:nvPr/>
        </p:nvSpPr>
        <p:spPr>
          <a:xfrm>
            <a:off x="1104595" y="556503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FD7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276502" y="5736946"/>
            <a:ext cx="267005" cy="26700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1904695" y="5698541"/>
            <a:ext cx="1394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Goals</a:t>
            </a:r>
            <a:endParaRPr lang="en-US" sz="1800" dirty="0"/>
          </a:p>
        </p:txBody>
      </p:sp>
      <p:sp>
        <p:nvSpPr>
          <p:cNvPr id="39" name="Text 23"/>
          <p:cNvSpPr txBox="1"/>
          <p:nvPr/>
        </p:nvSpPr>
        <p:spPr>
          <a:xfrm>
            <a:off x="1104595" y="636513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Achieving operational excellence through strict adherence to global standards and waste reduction targets.</a:t>
            </a:r>
            <a:endParaRPr lang="en-US" sz="1200" dirty="0"/>
          </a:p>
        </p:txBody>
      </p:sp>
      <p:sp>
        <p:nvSpPr>
          <p:cNvPr id="40" name="Text 24"/>
          <p:cNvSpPr txBox="1"/>
          <p:nvPr/>
        </p:nvSpPr>
        <p:spPr>
          <a:xfrm>
            <a:off x="1238098" y="7005218"/>
            <a:ext cx="4543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Waste Operations</a:t>
            </a:r>
            <a:endParaRPr lang="en-US" sz="11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1104595" y="7055510"/>
            <a:ext cx="133502" cy="11430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238098" y="7334402"/>
            <a:ext cx="4543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Export Compliance</a:t>
            </a:r>
            <a:endParaRPr lang="en-US" sz="11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1104595" y="7383780"/>
            <a:ext cx="133502" cy="114300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238098" y="7662672"/>
            <a:ext cx="4543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Audit-Ready Digital Records</a:t>
            </a:r>
            <a:endParaRPr lang="en-US" sz="11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1104595" y="7712964"/>
            <a:ext cx="133502" cy="114300"/>
          </a:xfrm>
          <a:prstGeom prst="rect">
            <a:avLst/>
          </a:prstGeom>
        </p:spPr>
      </p:pic>
      <p:sp>
        <p:nvSpPr>
          <p:cNvPr id="46" name="Shape 27"/>
          <p:cNvSpPr/>
          <p:nvPr/>
        </p:nvSpPr>
        <p:spPr>
          <a:xfrm>
            <a:off x="6210605" y="5251399"/>
            <a:ext cx="5219395" cy="3305556"/>
          </a:xfrm>
          <a:prstGeom prst="roundRect">
            <a:avLst>
              <a:gd name="adj" fmla="val 255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Shape 28"/>
          <p:cNvSpPr/>
          <p:nvPr/>
        </p:nvSpPr>
        <p:spPr>
          <a:xfrm>
            <a:off x="6210605" y="5251399"/>
            <a:ext cx="38405" cy="3305556"/>
          </a:xfrm>
          <a:prstGeom prst="roundRect">
            <a:avLst>
              <a:gd name="adj" fmla="val 219568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</p:sp>
      <p:sp>
        <p:nvSpPr>
          <p:cNvPr id="48" name="Shape 29"/>
          <p:cNvSpPr/>
          <p:nvPr/>
        </p:nvSpPr>
        <p:spPr>
          <a:xfrm>
            <a:off x="6553505" y="5565038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BF00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724498" y="5736946"/>
            <a:ext cx="267005" cy="267005"/>
          </a:xfrm>
          <a:prstGeom prst="rect">
            <a:avLst/>
          </a:prstGeom>
        </p:spPr>
      </p:pic>
      <p:sp>
        <p:nvSpPr>
          <p:cNvPr id="50" name="Text 30"/>
          <p:cNvSpPr txBox="1"/>
          <p:nvPr/>
        </p:nvSpPr>
        <p:spPr>
          <a:xfrm>
            <a:off x="7353605" y="5698541"/>
            <a:ext cx="1677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51" name="Text 31"/>
          <p:cNvSpPr txBox="1"/>
          <p:nvPr/>
        </p:nvSpPr>
        <p:spPr>
          <a:xfrm>
            <a:off x="6553505" y="6365138"/>
            <a:ext cx="4638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tangible value through optimized resource utilization and advanced traceability systems.</a:t>
            </a:r>
            <a:endParaRPr lang="en-US" sz="1200" dirty="0"/>
          </a:p>
        </p:txBody>
      </p:sp>
      <p:sp>
        <p:nvSpPr>
          <p:cNvPr id="52" name="Text 32"/>
          <p:cNvSpPr txBox="1"/>
          <p:nvPr/>
        </p:nvSpPr>
        <p:spPr>
          <a:xfrm>
            <a:off x="6639458" y="7005218"/>
            <a:ext cx="459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Efficiency</a:t>
            </a:r>
            <a:endParaRPr lang="en-US" sz="1100" dirty="0"/>
          </a:p>
        </p:txBody>
      </p:sp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6553505" y="7055510"/>
            <a:ext cx="85954" cy="114300"/>
          </a:xfrm>
          <a:prstGeom prst="rect">
            <a:avLst/>
          </a:prstGeom>
        </p:spPr>
      </p:pic>
      <p:sp>
        <p:nvSpPr>
          <p:cNvPr id="54" name="Text 33"/>
          <p:cNvSpPr txBox="1"/>
          <p:nvPr/>
        </p:nvSpPr>
        <p:spPr>
          <a:xfrm>
            <a:off x="6639458" y="7334402"/>
            <a:ext cx="459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Control &amp; Savings</a:t>
            </a:r>
            <a:endParaRPr lang="en-US" sz="1100" dirty="0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6553505" y="7383780"/>
            <a:ext cx="85954" cy="114300"/>
          </a:xfrm>
          <a:prstGeom prst="rect">
            <a:avLst/>
          </a:prstGeom>
        </p:spPr>
      </p:pic>
      <p:sp>
        <p:nvSpPr>
          <p:cNvPr id="56" name="Text 34"/>
          <p:cNvSpPr txBox="1"/>
          <p:nvPr/>
        </p:nvSpPr>
        <p:spPr>
          <a:xfrm>
            <a:off x="6639458" y="7662672"/>
            <a:ext cx="459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Throughput &amp; Scale</a:t>
            </a:r>
            <a:endParaRPr lang="en-US" sz="1100" dirty="0"/>
          </a:p>
        </p:txBody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6553505" y="7712964"/>
            <a:ext cx="85954" cy="114300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11259922" y="6344107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0" y="-381305"/>
            <a:ext cx="7619695" cy="76196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609905" y="1021385"/>
            <a:ext cx="952805" cy="9528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10153498" y="3923690"/>
            <a:ext cx="1429207" cy="1429207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 l="-98" r="-98"/>
          <a:stretch/>
        </p:blipFill>
        <p:spPr>
          <a:xfrm>
            <a:off x="4958791" y="381305"/>
            <a:ext cx="2276856" cy="30449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330038" y="381305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13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Industry 4.0 Integrated </a:t>
            </a:r>
            <a:endParaRPr lang="en-US" sz="9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 l="-8400" r="-8400"/>
          <a:stretch/>
        </p:blipFill>
        <p:spPr>
          <a:xfrm>
            <a:off x="5120640" y="476402"/>
            <a:ext cx="133502" cy="11430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666598" y="838505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Facility </a:t>
            </a:r>
            <a:r>
              <a:rPr lang="en-US" sz="36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Features</a:t>
            </a:r>
            <a:endParaRPr lang="en-US" sz="360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rcRect l="-385" r="-385"/>
          <a:stretch/>
        </p:blipFill>
        <p:spPr>
          <a:xfrm>
            <a:off x="5715000" y="1484071"/>
            <a:ext cx="761695" cy="28346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761695" y="2194560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4"/>
          <p:cNvSpPr/>
          <p:nvPr/>
        </p:nvSpPr>
        <p:spPr>
          <a:xfrm>
            <a:off x="761695" y="3003804"/>
            <a:ext cx="10649102" cy="28346"/>
          </a:xfrm>
          <a:prstGeom prst="rect">
            <a:avLst/>
          </a:prstGeom>
          <a:solidFill>
            <a:srgbClr val="00F5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00F5FF">
                <a:alpha val="30000"/>
              </a:srgbClr>
            </a:outerShdw>
          </a:effectLst>
        </p:spPr>
      </p:sp>
      <p:sp>
        <p:nvSpPr>
          <p:cNvPr id="14" name="Shape 5"/>
          <p:cNvSpPr/>
          <p:nvPr/>
        </p:nvSpPr>
        <p:spPr>
          <a:xfrm>
            <a:off x="1620317" y="2203704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7377" y="2384755"/>
            <a:ext cx="476402" cy="476402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76249" y="2527402"/>
            <a:ext cx="237744" cy="19019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914754" y="2347265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 Automation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1914754" y="2699309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 handling and conveyor orchestration for high-speed throughput and precision sorting.</a:t>
            </a:r>
            <a:endParaRPr lang="en-US" sz="11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>
            <a:alphaModFix amt="30000"/>
          </a:blip>
          <a:srcRect t="-180" b="-180"/>
          <a:stretch/>
        </p:blipFill>
        <p:spPr>
          <a:xfrm>
            <a:off x="11087100" y="2546604"/>
            <a:ext cx="95098" cy="152705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761695" y="3204058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9"/>
          <p:cNvSpPr/>
          <p:nvPr/>
        </p:nvSpPr>
        <p:spPr>
          <a:xfrm>
            <a:off x="761695" y="4013302"/>
            <a:ext cx="10649102" cy="28346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00FF88">
                <a:alpha val="30000"/>
              </a:srgbClr>
            </a:outerShdw>
          </a:effectLst>
        </p:spPr>
      </p:sp>
      <p:sp>
        <p:nvSpPr>
          <p:cNvPr id="22" name="Shape 10"/>
          <p:cNvSpPr/>
          <p:nvPr/>
        </p:nvSpPr>
        <p:spPr>
          <a:xfrm>
            <a:off x="1620317" y="3213202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57377" y="3394253"/>
            <a:ext cx="476402" cy="476402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76249" y="3537814"/>
            <a:ext cx="237744" cy="190195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1914754" y="3356762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IoT Sensor Grid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1914754" y="3708806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of temperature, humidity, vibration, and critical quality assurance metrics.</a:t>
            </a:r>
            <a:endParaRPr lang="en-US" sz="11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5">
            <a:alphaModFix amt="30000"/>
          </a:blip>
          <a:srcRect t="-180" b="-180"/>
          <a:stretch/>
        </p:blipFill>
        <p:spPr>
          <a:xfrm>
            <a:off x="11087100" y="3556102"/>
            <a:ext cx="95098" cy="152705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761695" y="4213555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14"/>
          <p:cNvSpPr/>
          <p:nvPr/>
        </p:nvSpPr>
        <p:spPr>
          <a:xfrm>
            <a:off x="761695" y="5023714"/>
            <a:ext cx="10649102" cy="28346"/>
          </a:xfrm>
          <a:prstGeom prst="rect">
            <a:avLst/>
          </a:prstGeom>
          <a:solidFill>
            <a:srgbClr val="BF0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BF00FF">
                <a:alpha val="30000"/>
              </a:srgbClr>
            </a:outerShdw>
          </a:effectLst>
        </p:spPr>
      </p:sp>
      <p:sp>
        <p:nvSpPr>
          <p:cNvPr id="30" name="Shape 15"/>
          <p:cNvSpPr/>
          <p:nvPr/>
        </p:nvSpPr>
        <p:spPr>
          <a:xfrm>
            <a:off x="1620317" y="4223614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57377" y="4404665"/>
            <a:ext cx="476402" cy="476402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00023" y="4547311"/>
            <a:ext cx="190195" cy="190195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1914754" y="4366260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Intelligence Engine</a:t>
            </a:r>
            <a:endParaRPr lang="en-US" sz="1600" dirty="0"/>
          </a:p>
        </p:txBody>
      </p:sp>
      <p:sp>
        <p:nvSpPr>
          <p:cNvPr id="34" name="Text 17"/>
          <p:cNvSpPr txBox="1"/>
          <p:nvPr/>
        </p:nvSpPr>
        <p:spPr>
          <a:xfrm>
            <a:off x="1914754" y="4718304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for quality control, anomaly detection, and predictive maintenance models.</a:t>
            </a:r>
            <a:endParaRPr lang="en-US" sz="11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8">
            <a:alphaModFix amt="30000"/>
          </a:blip>
          <a:srcRect t="-180" b="-180"/>
          <a:stretch/>
        </p:blipFill>
        <p:spPr>
          <a:xfrm>
            <a:off x="11087100" y="4566514"/>
            <a:ext cx="95098" cy="152705"/>
          </a:xfrm>
          <a:prstGeom prst="rect">
            <a:avLst/>
          </a:prstGeom>
        </p:spPr>
      </p:pic>
      <p:sp>
        <p:nvSpPr>
          <p:cNvPr id="36" name="Shape 18"/>
          <p:cNvSpPr/>
          <p:nvPr/>
        </p:nvSpPr>
        <p:spPr>
          <a:xfrm>
            <a:off x="761695" y="5223053"/>
            <a:ext cx="10668305" cy="857707"/>
          </a:xfrm>
          <a:prstGeom prst="roundRect">
            <a:avLst>
              <a:gd name="adj" fmla="val 284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Shape 19"/>
          <p:cNvSpPr/>
          <p:nvPr/>
        </p:nvSpPr>
        <p:spPr>
          <a:xfrm>
            <a:off x="761695" y="6033211"/>
            <a:ext cx="10649102" cy="28346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5400000" algn="bl" rotWithShape="0">
              <a:srgbClr val="FFD700">
                <a:alpha val="30000"/>
              </a:srgbClr>
            </a:outerShdw>
          </a:effectLst>
        </p:spPr>
      </p:sp>
      <p:sp>
        <p:nvSpPr>
          <p:cNvPr id="38" name="Shape 20"/>
          <p:cNvSpPr/>
          <p:nvPr/>
        </p:nvSpPr>
        <p:spPr>
          <a:xfrm>
            <a:off x="1620317" y="5233111"/>
            <a:ext cx="9144" cy="838505"/>
          </a:xfrm>
          <a:prstGeom prst="roundRect">
            <a:avLst>
              <a:gd name="adj" fmla="val 272727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57377" y="5414162"/>
            <a:ext cx="476402" cy="476402"/>
          </a:xfrm>
          <a:prstGeom prst="rect">
            <a:avLst/>
          </a:prstGeom>
        </p:spPr>
      </p:pic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76249" y="5556809"/>
            <a:ext cx="237744" cy="190195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1914754" y="5375758"/>
            <a:ext cx="8763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 Traceability</a:t>
            </a:r>
            <a:endParaRPr lang="en-US" sz="1600" dirty="0"/>
          </a:p>
        </p:txBody>
      </p:sp>
      <p:sp>
        <p:nvSpPr>
          <p:cNvPr id="42" name="Text 22"/>
          <p:cNvSpPr txBox="1"/>
          <p:nvPr/>
        </p:nvSpPr>
        <p:spPr>
          <a:xfrm>
            <a:off x="1914754" y="5727802"/>
            <a:ext cx="8763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lot-level provenance tracking from farm sourcing to final export port delivery.</a:t>
            </a:r>
            <a:endParaRPr lang="en-US" sz="1100" dirty="0"/>
          </a:p>
        </p:txBody>
      </p:sp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21">
            <a:alphaModFix amt="30000"/>
          </a:blip>
          <a:srcRect t="-180" b="-180"/>
          <a:stretch/>
        </p:blipFill>
        <p:spPr>
          <a:xfrm>
            <a:off x="11087100" y="5576011"/>
            <a:ext cx="95098" cy="152705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715061" y="6267298"/>
            <a:ext cx="2076602" cy="305410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ISO 22000 Compliant Architecture </a:t>
            </a:r>
            <a:endParaRPr lang="en-US" sz="90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04749" y="6362395"/>
            <a:ext cx="114300" cy="114300"/>
          </a:xfrm>
          <a:prstGeom prst="rect">
            <a:avLst/>
          </a:prstGeom>
        </p:spPr>
      </p:pic>
      <p:sp>
        <p:nvSpPr>
          <p:cNvPr id="46" name="Text 24"/>
          <p:cNvSpPr txBox="1"/>
          <p:nvPr/>
        </p:nvSpPr>
        <p:spPr>
          <a:xfrm>
            <a:off x="11258093" y="6344107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-952805" y="-952805"/>
            <a:ext cx="4762195" cy="47621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8382305" y="3047695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353605" y="982980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7353605" y="982980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7534656" y="122803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BF00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77302" y="1370686"/>
            <a:ext cx="190195" cy="19019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162849" y="1144829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2" name="Text 5"/>
          <p:cNvSpPr txBox="1"/>
          <p:nvPr/>
        </p:nvSpPr>
        <p:spPr>
          <a:xfrm>
            <a:off x="8162849" y="1440180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for QC, anomaly detection, and predictive maintenance models.</a:t>
            </a:r>
            <a:endParaRPr lang="en-US" sz="900" dirty="0"/>
          </a:p>
        </p:txBody>
      </p:sp>
      <p:sp>
        <p:nvSpPr>
          <p:cNvPr id="13" name="Shape 6"/>
          <p:cNvSpPr/>
          <p:nvPr/>
        </p:nvSpPr>
        <p:spPr>
          <a:xfrm>
            <a:off x="7353605" y="2101291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7353605" y="2101291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7534656" y="234635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77302" y="2488997"/>
            <a:ext cx="190195" cy="19019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162849" y="2263140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Internet of Things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8162849" y="2558491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sensor network monitoring temperature, humidity, and machine health.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7353605" y="3219602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7353605" y="3219602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7534656" y="3464662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FF8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53528" y="3607308"/>
            <a:ext cx="237744" cy="19019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162849" y="3381451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Automation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8162849" y="3676802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guided vehicles (AGVs) and robotic pick-and-place systems.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7353605" y="4337914"/>
            <a:ext cx="4267505" cy="972007"/>
          </a:xfrm>
          <a:prstGeom prst="roundRect">
            <a:avLst>
              <a:gd name="adj" fmla="val 2213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7353605" y="4337914"/>
            <a:ext cx="28346" cy="972007"/>
          </a:xfrm>
          <a:prstGeom prst="roundRect">
            <a:avLst>
              <a:gd name="adj" fmla="val 759024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7534656" y="4582973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53528" y="4725619"/>
            <a:ext cx="237744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162849" y="4499762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 Ledger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162849" y="4795114"/>
            <a:ext cx="33723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record keeping for supply chain transparency and audit trails.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571500" y="381305"/>
            <a:ext cx="65919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</a:t>
            </a:r>
            <a:r>
              <a:rPr lang="en-US" sz="31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Dive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571500" y="857707"/>
            <a:ext cx="6515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4.0 Architecture Stack</a:t>
            </a:r>
            <a:endParaRPr lang="en-US" sz="10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2"/>
          <a:srcRect l="-18708" r="-18708"/>
          <a:stretch/>
        </p:blipFill>
        <p:spPr>
          <a:xfrm>
            <a:off x="571500" y="1248156"/>
            <a:ext cx="6400800" cy="4657954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652321" y="1946758"/>
            <a:ext cx="761695" cy="761695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00123" y="2193646"/>
            <a:ext cx="267005" cy="267005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1531620" y="2803550"/>
            <a:ext cx="1009498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24"/>
          <p:cNvSpPr txBox="1"/>
          <p:nvPr/>
        </p:nvSpPr>
        <p:spPr>
          <a:xfrm>
            <a:off x="1531620" y="2803550"/>
            <a:ext cx="10671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A.I. Engine</a:t>
            </a:r>
            <a:endParaRPr lang="en-US" sz="12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230368" y="1946758"/>
            <a:ext cx="761695" cy="761695"/>
          </a:xfrm>
          <a:prstGeom prst="rect">
            <a:avLst/>
          </a:prstGeom>
        </p:spPr>
      </p:pic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44338" y="2193646"/>
            <a:ext cx="333756" cy="267005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5210251" y="2803550"/>
            <a:ext cx="809244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26"/>
          <p:cNvSpPr txBox="1"/>
          <p:nvPr/>
        </p:nvSpPr>
        <p:spPr>
          <a:xfrm>
            <a:off x="5210251" y="2803550"/>
            <a:ext cx="8668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IoT Grid</a:t>
            </a:r>
            <a:endParaRPr lang="en-US" sz="12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602943" y="3792931"/>
            <a:ext cx="761695" cy="761695"/>
          </a:xfrm>
          <a:prstGeom prst="rect">
            <a:avLst/>
          </a:prstGeom>
        </p:spPr>
      </p:pic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16913" y="4040734"/>
            <a:ext cx="333756" cy="267005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1531620" y="4649724"/>
            <a:ext cx="905256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Text 28"/>
          <p:cNvSpPr txBox="1"/>
          <p:nvPr/>
        </p:nvSpPr>
        <p:spPr>
          <a:xfrm>
            <a:off x="1531620" y="4649724"/>
            <a:ext cx="9628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Robotics</a:t>
            </a:r>
            <a:endParaRPr lang="en-US" sz="12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102352" y="3792931"/>
            <a:ext cx="761695" cy="761695"/>
          </a:xfrm>
          <a:prstGeom prst="rect">
            <a:avLst/>
          </a:prstGeom>
        </p:spPr>
      </p:pic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20"/>
          <a:srcRect l="-685" r="-685"/>
          <a:stretch/>
        </p:blipFill>
        <p:spPr>
          <a:xfrm>
            <a:off x="5330952" y="4040734"/>
            <a:ext cx="304495" cy="267005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4955134" y="4649724"/>
            <a:ext cx="1057046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9" name="Text 30"/>
          <p:cNvSpPr txBox="1"/>
          <p:nvPr/>
        </p:nvSpPr>
        <p:spPr>
          <a:xfrm>
            <a:off x="4955134" y="4649724"/>
            <a:ext cx="11146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</a:t>
            </a:r>
            <a:endParaRPr lang="en-US" sz="12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247949" y="2842870"/>
            <a:ext cx="1047902" cy="1047902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22"/>
          <a:srcRect t="-24" b="-24"/>
          <a:stretch/>
        </p:blipFill>
        <p:spPr>
          <a:xfrm>
            <a:off x="3534156" y="3176626"/>
            <a:ext cx="476402" cy="381305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3146450" y="3985870"/>
            <a:ext cx="1257300" cy="323698"/>
          </a:xfrm>
          <a:prstGeom prst="roundRect">
            <a:avLst>
              <a:gd name="adj" fmla="val 199402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Text 32"/>
          <p:cNvSpPr txBox="1"/>
          <p:nvPr/>
        </p:nvSpPr>
        <p:spPr>
          <a:xfrm>
            <a:off x="3146450" y="3985870"/>
            <a:ext cx="13149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54" name="Shape 33"/>
          <p:cNvSpPr/>
          <p:nvPr/>
        </p:nvSpPr>
        <p:spPr>
          <a:xfrm>
            <a:off x="0" y="6096305"/>
            <a:ext cx="12191695" cy="76169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5" name="Shape 34"/>
          <p:cNvSpPr/>
          <p:nvPr/>
        </p:nvSpPr>
        <p:spPr>
          <a:xfrm>
            <a:off x="0" y="60963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35"/>
          <p:cNvSpPr txBox="1"/>
          <p:nvPr/>
        </p:nvSpPr>
        <p:spPr>
          <a:xfrm>
            <a:off x="1487729" y="6144768"/>
            <a:ext cx="85862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99.9%</a:t>
            </a:r>
            <a:endParaRPr lang="en-US" sz="2100" dirty="0"/>
          </a:p>
        </p:txBody>
      </p:sp>
      <p:sp>
        <p:nvSpPr>
          <p:cNvPr id="57" name="Text 36"/>
          <p:cNvSpPr txBox="1"/>
          <p:nvPr/>
        </p:nvSpPr>
        <p:spPr>
          <a:xfrm>
            <a:off x="1487729" y="6544361"/>
            <a:ext cx="838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</a:t>
            </a:r>
            <a:endParaRPr lang="en-US" sz="900" dirty="0"/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3"/>
          <a:srcRect t="-2127" b="-2127"/>
          <a:stretch/>
        </p:blipFill>
        <p:spPr>
          <a:xfrm>
            <a:off x="3788359" y="6291072"/>
            <a:ext cx="9144" cy="381305"/>
          </a:xfrm>
          <a:prstGeom prst="rect">
            <a:avLst/>
          </a:prstGeom>
        </p:spPr>
      </p:pic>
      <p:sp>
        <p:nvSpPr>
          <p:cNvPr id="59" name="Text 37"/>
          <p:cNvSpPr txBox="1"/>
          <p:nvPr/>
        </p:nvSpPr>
        <p:spPr>
          <a:xfrm>
            <a:off x="5668366" y="6144768"/>
            <a:ext cx="102961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20ms</a:t>
            </a:r>
            <a:endParaRPr lang="en-US" sz="2100" dirty="0"/>
          </a:p>
        </p:txBody>
      </p:sp>
      <p:sp>
        <p:nvSpPr>
          <p:cNvPr id="60" name="Text 38"/>
          <p:cNvSpPr txBox="1"/>
          <p:nvPr/>
        </p:nvSpPr>
        <p:spPr>
          <a:xfrm>
            <a:off x="5668366" y="6544361"/>
            <a:ext cx="991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900" dirty="0"/>
          </a:p>
        </p:txBody>
      </p:sp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23"/>
          <a:srcRect t="-2127" b="-2127"/>
          <a:stretch/>
        </p:blipFill>
        <p:spPr>
          <a:xfrm>
            <a:off x="8128102" y="6291072"/>
            <a:ext cx="9144" cy="381305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10037369" y="6144768"/>
            <a:ext cx="10954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2100" dirty="0"/>
          </a:p>
        </p:txBody>
      </p:sp>
      <p:sp>
        <p:nvSpPr>
          <p:cNvPr id="63" name="Text 40"/>
          <p:cNvSpPr txBox="1"/>
          <p:nvPr/>
        </p:nvSpPr>
        <p:spPr>
          <a:xfrm>
            <a:off x="10037369" y="6544361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900" dirty="0"/>
          </a:p>
        </p:txBody>
      </p:sp>
      <p:pic>
        <p:nvPicPr>
          <p:cNvPr id="64" name="Image 21" descr="preencoded.png"/>
          <p:cNvPicPr>
            <a:picLocks noChangeAspect="1"/>
          </p:cNvPicPr>
          <p:nvPr/>
        </p:nvPicPr>
        <p:blipFill>
          <a:blip r:embed="rId24"/>
          <a:srcRect l="-57" r="-57"/>
          <a:stretch/>
        </p:blipFill>
        <p:spPr>
          <a:xfrm>
            <a:off x="1144829" y="6357823"/>
            <a:ext cx="200254" cy="228600"/>
          </a:xfrm>
          <a:prstGeom prst="rect">
            <a:avLst/>
          </a:prstGeom>
        </p:spPr>
      </p:pic>
      <p:pic>
        <p:nvPicPr>
          <p:cNvPr id="65" name="Image 22" descr="preencoded.png"/>
          <p:cNvPicPr>
            <a:picLocks noChangeAspect="1"/>
          </p:cNvPicPr>
          <p:nvPr/>
        </p:nvPicPr>
        <p:blipFill>
          <a:blip r:embed="rId25"/>
          <a:srcRect l="-57" r="-57"/>
          <a:stretch/>
        </p:blipFill>
        <p:spPr>
          <a:xfrm>
            <a:off x="5325466" y="6357823"/>
            <a:ext cx="200254" cy="228600"/>
          </a:xfrm>
          <a:prstGeom prst="rect">
            <a:avLst/>
          </a:prstGeom>
        </p:spPr>
      </p:pic>
      <p:pic>
        <p:nvPicPr>
          <p:cNvPr id="66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9666122" y="6357823"/>
            <a:ext cx="228600" cy="228600"/>
          </a:xfrm>
          <a:prstGeom prst="rect">
            <a:avLst/>
          </a:prstGeom>
        </p:spPr>
      </p:pic>
      <p:sp>
        <p:nvSpPr>
          <p:cNvPr id="67" name="Text 41"/>
          <p:cNvSpPr txBox="1"/>
          <p:nvPr/>
        </p:nvSpPr>
        <p:spPr>
          <a:xfrm>
            <a:off x="11483950" y="6420002"/>
            <a:ext cx="5102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2286000" y="2000707"/>
            <a:ext cx="7619695" cy="28575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26410" y="2743200"/>
            <a:ext cx="38405" cy="384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2743200"/>
            <a:ext cx="38405" cy="3840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12810" y="2743200"/>
            <a:ext cx="38405" cy="38405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12810" y="2743200"/>
            <a:ext cx="38405" cy="38405"/>
          </a:xfrm>
          <a:prstGeom prst="rect">
            <a:avLst/>
          </a:prstGeom>
        </p:spPr>
      </p:pic>
      <p:sp>
        <p:nvSpPr>
          <p:cNvPr id="10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Food Export </a:t>
            </a:r>
            <a:r>
              <a:rPr lang="en-US" sz="3100" b="1" kern="0" spc="-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Supply Chain</a:t>
            </a:r>
            <a:endParaRPr lang="en-US" sz="3100" dirty="0"/>
          </a:p>
        </p:txBody>
      </p:sp>
      <p:sp>
        <p:nvSpPr>
          <p:cNvPr id="11" name="Text 2"/>
          <p:cNvSpPr txBox="1"/>
          <p:nvPr/>
        </p:nvSpPr>
        <p:spPr>
          <a:xfrm>
            <a:off x="514807" y="1076249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Visibility from Farm to Global Table</a:t>
            </a:r>
            <a:endParaRPr lang="en-US" sz="12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3658514" y="6067044"/>
            <a:ext cx="4874666" cy="409651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3953866" y="6186830"/>
            <a:ext cx="219456" cy="171907"/>
          </a:xfrm>
          <a:prstGeom prst="rect">
            <a:avLst/>
          </a:prstGeom>
        </p:spPr>
      </p:pic>
      <p:sp>
        <p:nvSpPr>
          <p:cNvPr id="14" name="Text 3"/>
          <p:cNvSpPr txBox="1"/>
          <p:nvPr/>
        </p:nvSpPr>
        <p:spPr>
          <a:xfrm>
            <a:off x="4287622" y="6067044"/>
            <a:ext cx="22009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Powered by Blockchain Ledger</a:t>
            </a:r>
            <a:endParaRPr lang="en-US" sz="1000" dirty="0"/>
          </a:p>
        </p:txBody>
      </p:sp>
      <p:sp>
        <p:nvSpPr>
          <p:cNvPr id="15" name="Text 4"/>
          <p:cNvSpPr txBox="1"/>
          <p:nvPr/>
        </p:nvSpPr>
        <p:spPr>
          <a:xfrm>
            <a:off x="6565392" y="6067044"/>
            <a:ext cx="17437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Immutable Transparency</a:t>
            </a:r>
            <a:endParaRPr lang="en-US" sz="10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/>
          <a:srcRect t="-398" b="-398"/>
          <a:stretch/>
        </p:blipFill>
        <p:spPr>
          <a:xfrm>
            <a:off x="1047902" y="3438144"/>
            <a:ext cx="10096805" cy="19202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2381098" y="3581705"/>
            <a:ext cx="114300" cy="19202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2438705" y="3543300"/>
            <a:ext cx="57607" cy="95098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4209898" y="3581705"/>
            <a:ext cx="114300" cy="19202"/>
          </a:xfrm>
          <a:prstGeom prst="rect">
            <a:avLst/>
          </a:prstGeom>
        </p:spPr>
      </p:pic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4267505" y="3543300"/>
            <a:ext cx="57607" cy="95098"/>
          </a:xfrm>
          <a:prstGeom prst="rect">
            <a:avLst/>
          </a:prstGeom>
        </p:spPr>
      </p:pic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6038698" y="3581705"/>
            <a:ext cx="114300" cy="19202"/>
          </a:xfrm>
          <a:prstGeom prst="rect">
            <a:avLst/>
          </a:prstGeom>
        </p:spPr>
      </p:pic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6096305" y="3543300"/>
            <a:ext cx="57607" cy="95098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7867498" y="3581705"/>
            <a:ext cx="114300" cy="19202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7925105" y="3543300"/>
            <a:ext cx="57607" cy="95098"/>
          </a:xfrm>
          <a:prstGeom prst="rect">
            <a:avLst/>
          </a:prstGeom>
        </p:spPr>
      </p:pic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9696298" y="3581705"/>
            <a:ext cx="114300" cy="19202"/>
          </a:xfrm>
          <a:prstGeom prst="rect">
            <a:avLst/>
          </a:prstGeom>
        </p:spPr>
      </p:pic>
      <p:pic>
        <p:nvPicPr>
          <p:cNvPr id="26" name="Image 19" descr="preencoded.png"/>
          <p:cNvPicPr>
            <a:picLocks noChangeAspect="1"/>
          </p:cNvPicPr>
          <p:nvPr/>
        </p:nvPicPr>
        <p:blipFill>
          <a:blip r:embed="rId12"/>
          <a:srcRect t="-1587" b="-1587"/>
          <a:stretch/>
        </p:blipFill>
        <p:spPr>
          <a:xfrm>
            <a:off x="9753905" y="3543300"/>
            <a:ext cx="57607" cy="95098"/>
          </a:xfrm>
          <a:prstGeom prst="rect">
            <a:avLst/>
          </a:prstGeom>
        </p:spPr>
      </p:pic>
      <p:sp>
        <p:nvSpPr>
          <p:cNvPr id="27" name="Text 5"/>
          <p:cNvSpPr txBox="1"/>
          <p:nvPr/>
        </p:nvSpPr>
        <p:spPr>
          <a:xfrm>
            <a:off x="891540" y="4227271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Farm Sourcing</a:t>
            </a:r>
            <a:endParaRPr lang="en-US" sz="1200" dirty="0"/>
          </a:p>
        </p:txBody>
      </p:sp>
      <p:sp>
        <p:nvSpPr>
          <p:cNvPr id="28" name="Text 6"/>
          <p:cNvSpPr txBox="1"/>
          <p:nvPr/>
        </p:nvSpPr>
        <p:spPr>
          <a:xfrm>
            <a:off x="960120" y="4466844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Grower certification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Geo-tagged lots</a:t>
            </a:r>
            <a:endParaRPr lang="en-US" sz="900" dirty="0"/>
          </a:p>
        </p:txBody>
      </p:sp>
      <p:sp>
        <p:nvSpPr>
          <p:cNvPr id="29" name="Shape 7"/>
          <p:cNvSpPr/>
          <p:nvPr/>
        </p:nvSpPr>
        <p:spPr>
          <a:xfrm>
            <a:off x="10479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</p:sp>
      <p:sp>
        <p:nvSpPr>
          <p:cNvPr id="30" name="Shape 8"/>
          <p:cNvSpPr/>
          <p:nvPr/>
        </p:nvSpPr>
        <p:spPr>
          <a:xfrm>
            <a:off x="1047902" y="2989174"/>
            <a:ext cx="952805" cy="1047902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9"/>
          <p:cNvSpPr/>
          <p:nvPr/>
        </p:nvSpPr>
        <p:spPr>
          <a:xfrm>
            <a:off x="10570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13"/>
          <a:srcRect l="-90" r="-90"/>
          <a:stretch/>
        </p:blipFill>
        <p:spPr>
          <a:xfrm>
            <a:off x="1333195" y="3360420"/>
            <a:ext cx="381305" cy="304495"/>
          </a:xfrm>
          <a:prstGeom prst="rect">
            <a:avLst/>
          </a:prstGeom>
        </p:spPr>
      </p:pic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676095" y="2894076"/>
            <a:ext cx="228600" cy="228600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16386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11"/>
          <p:cNvSpPr txBox="1"/>
          <p:nvPr/>
        </p:nvSpPr>
        <p:spPr>
          <a:xfrm>
            <a:off x="2844698" y="4227271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36" name="Text 12"/>
          <p:cNvSpPr txBox="1"/>
          <p:nvPr/>
        </p:nvSpPr>
        <p:spPr>
          <a:xfrm>
            <a:off x="2854757" y="4466844"/>
            <a:ext cx="1000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wash,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cut, sort &amp; pack</a:t>
            </a:r>
            <a:endParaRPr lang="en-US" sz="900" dirty="0"/>
          </a:p>
        </p:txBody>
      </p:sp>
      <p:sp>
        <p:nvSpPr>
          <p:cNvPr id="37" name="Shape 13"/>
          <p:cNvSpPr/>
          <p:nvPr/>
        </p:nvSpPr>
        <p:spPr>
          <a:xfrm>
            <a:off x="28767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</p:sp>
      <p:sp>
        <p:nvSpPr>
          <p:cNvPr id="38" name="Shape 14"/>
          <p:cNvSpPr/>
          <p:nvPr/>
        </p:nvSpPr>
        <p:spPr>
          <a:xfrm>
            <a:off x="2876702" y="2989174"/>
            <a:ext cx="952805" cy="1047902"/>
          </a:xfrm>
          <a:prstGeom prst="rect">
            <a:avLst/>
          </a:prstGeom>
          <a:solidFill>
            <a:srgbClr val="00F5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15"/>
          <p:cNvSpPr/>
          <p:nvPr/>
        </p:nvSpPr>
        <p:spPr>
          <a:xfrm>
            <a:off x="28858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15"/>
          <a:srcRect l="-50" r="-50"/>
          <a:stretch/>
        </p:blipFill>
        <p:spPr>
          <a:xfrm>
            <a:off x="3181198" y="3360420"/>
            <a:ext cx="342900" cy="304495"/>
          </a:xfrm>
          <a:prstGeom prst="rect">
            <a:avLst/>
          </a:prstGeom>
        </p:spPr>
      </p:pic>
      <p:pic>
        <p:nvPicPr>
          <p:cNvPr id="41" name="Image 2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504895" y="2894076"/>
            <a:ext cx="228600" cy="228600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34674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17"/>
          <p:cNvSpPr txBox="1"/>
          <p:nvPr/>
        </p:nvSpPr>
        <p:spPr>
          <a:xfrm>
            <a:off x="4554626" y="4227271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44" name="Text 18"/>
          <p:cNvSpPr txBox="1"/>
          <p:nvPr/>
        </p:nvSpPr>
        <p:spPr>
          <a:xfrm>
            <a:off x="4626864" y="4466844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grading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sampling</a:t>
            </a:r>
            <a:endParaRPr lang="en-US" sz="900" dirty="0"/>
          </a:p>
        </p:txBody>
      </p:sp>
      <p:sp>
        <p:nvSpPr>
          <p:cNvPr id="45" name="Shape 19"/>
          <p:cNvSpPr/>
          <p:nvPr/>
        </p:nvSpPr>
        <p:spPr>
          <a:xfrm>
            <a:off x="47055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</p:sp>
      <p:sp>
        <p:nvSpPr>
          <p:cNvPr id="46" name="Shape 20"/>
          <p:cNvSpPr/>
          <p:nvPr/>
        </p:nvSpPr>
        <p:spPr>
          <a:xfrm>
            <a:off x="4705502" y="2989174"/>
            <a:ext cx="952805" cy="1047902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21"/>
          <p:cNvSpPr/>
          <p:nvPr/>
        </p:nvSpPr>
        <p:spPr>
          <a:xfrm>
            <a:off x="47146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029200" y="3360420"/>
            <a:ext cx="304495" cy="304495"/>
          </a:xfrm>
          <a:prstGeom prst="rect">
            <a:avLst/>
          </a:prstGeom>
        </p:spPr>
      </p:pic>
      <p:pic>
        <p:nvPicPr>
          <p:cNvPr id="49" name="Image 2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333695" y="2894076"/>
            <a:ext cx="228600" cy="228600"/>
          </a:xfrm>
          <a:prstGeom prst="rect">
            <a:avLst/>
          </a:prstGeom>
        </p:spPr>
      </p:pic>
      <p:sp>
        <p:nvSpPr>
          <p:cNvPr id="50" name="Text 22"/>
          <p:cNvSpPr/>
          <p:nvPr/>
        </p:nvSpPr>
        <p:spPr>
          <a:xfrm>
            <a:off x="52962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23"/>
          <p:cNvSpPr txBox="1"/>
          <p:nvPr/>
        </p:nvSpPr>
        <p:spPr>
          <a:xfrm>
            <a:off x="6573622" y="4227271"/>
            <a:ext cx="8823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52" name="Text 24"/>
          <p:cNvSpPr txBox="1"/>
          <p:nvPr/>
        </p:nvSpPr>
        <p:spPr>
          <a:xfrm>
            <a:off x="6594653" y="4466844"/>
            <a:ext cx="838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labeling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sealing</a:t>
            </a:r>
            <a:endParaRPr lang="en-US" sz="900" dirty="0"/>
          </a:p>
        </p:txBody>
      </p:sp>
      <p:sp>
        <p:nvSpPr>
          <p:cNvPr id="53" name="Shape 25"/>
          <p:cNvSpPr/>
          <p:nvPr/>
        </p:nvSpPr>
        <p:spPr>
          <a:xfrm>
            <a:off x="65343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</p:sp>
      <p:sp>
        <p:nvSpPr>
          <p:cNvPr id="54" name="Shape 26"/>
          <p:cNvSpPr/>
          <p:nvPr/>
        </p:nvSpPr>
        <p:spPr>
          <a:xfrm>
            <a:off x="6534302" y="2989174"/>
            <a:ext cx="952805" cy="1047902"/>
          </a:xfrm>
          <a:prstGeom prst="rect">
            <a:avLst/>
          </a:prstGeom>
          <a:solidFill>
            <a:srgbClr val="00A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27"/>
          <p:cNvSpPr/>
          <p:nvPr/>
        </p:nvSpPr>
        <p:spPr>
          <a:xfrm>
            <a:off x="65434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26" descr="preencoded.png"/>
          <p:cNvPicPr>
            <a:picLocks noChangeAspect="1"/>
          </p:cNvPicPr>
          <p:nvPr/>
        </p:nvPicPr>
        <p:blipFill>
          <a:blip r:embed="rId19"/>
          <a:srcRect l="-90" r="-90"/>
          <a:stretch/>
        </p:blipFill>
        <p:spPr>
          <a:xfrm>
            <a:off x="6819595" y="3360420"/>
            <a:ext cx="381305" cy="304495"/>
          </a:xfrm>
          <a:prstGeom prst="rect">
            <a:avLst/>
          </a:prstGeom>
        </p:spPr>
      </p:pic>
      <p:pic>
        <p:nvPicPr>
          <p:cNvPr id="57" name="Image 2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162495" y="2894076"/>
            <a:ext cx="228600" cy="228600"/>
          </a:xfrm>
          <a:prstGeom prst="rect">
            <a:avLst/>
          </a:prstGeom>
        </p:spPr>
      </p:pic>
      <p:sp>
        <p:nvSpPr>
          <p:cNvPr id="58" name="Text 28"/>
          <p:cNvSpPr/>
          <p:nvPr/>
        </p:nvSpPr>
        <p:spPr>
          <a:xfrm>
            <a:off x="71250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29"/>
          <p:cNvSpPr txBox="1"/>
          <p:nvPr/>
        </p:nvSpPr>
        <p:spPr>
          <a:xfrm>
            <a:off x="8208569" y="4227271"/>
            <a:ext cx="1267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60" name="Text 30"/>
          <p:cNvSpPr txBox="1"/>
          <p:nvPr/>
        </p:nvSpPr>
        <p:spPr>
          <a:xfrm>
            <a:off x="8218627" y="4466844"/>
            <a:ext cx="1248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chain monitoring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Customs docs</a:t>
            </a:r>
            <a:endParaRPr lang="en-US" sz="900" dirty="0"/>
          </a:p>
        </p:txBody>
      </p:sp>
      <p:sp>
        <p:nvSpPr>
          <p:cNvPr id="61" name="Shape 31"/>
          <p:cNvSpPr/>
          <p:nvPr/>
        </p:nvSpPr>
        <p:spPr>
          <a:xfrm>
            <a:off x="83631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</p:sp>
      <p:sp>
        <p:nvSpPr>
          <p:cNvPr id="62" name="Shape 32"/>
          <p:cNvSpPr/>
          <p:nvPr/>
        </p:nvSpPr>
        <p:spPr>
          <a:xfrm>
            <a:off x="8363102" y="2989174"/>
            <a:ext cx="952805" cy="1047902"/>
          </a:xfrm>
          <a:prstGeom prst="rect">
            <a:avLst/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33"/>
          <p:cNvSpPr/>
          <p:nvPr/>
        </p:nvSpPr>
        <p:spPr>
          <a:xfrm>
            <a:off x="83722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21"/>
          <a:srcRect l="-90" r="-90"/>
          <a:stretch/>
        </p:blipFill>
        <p:spPr>
          <a:xfrm>
            <a:off x="8648395" y="3360420"/>
            <a:ext cx="381305" cy="304495"/>
          </a:xfrm>
          <a:prstGeom prst="rect">
            <a:avLst/>
          </a:prstGeom>
        </p:spPr>
      </p:pic>
      <p:pic>
        <p:nvPicPr>
          <p:cNvPr id="65" name="Image 2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991295" y="2894076"/>
            <a:ext cx="228600" cy="228600"/>
          </a:xfrm>
          <a:prstGeom prst="rect">
            <a:avLst/>
          </a:prstGeom>
        </p:spPr>
      </p:pic>
      <p:sp>
        <p:nvSpPr>
          <p:cNvPr id="66" name="Text 34"/>
          <p:cNvSpPr/>
          <p:nvPr/>
        </p:nvSpPr>
        <p:spPr>
          <a:xfrm>
            <a:off x="89538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00" dirty="0"/>
          </a:p>
        </p:txBody>
      </p:sp>
      <p:sp>
        <p:nvSpPr>
          <p:cNvPr id="67" name="Text 35"/>
          <p:cNvSpPr txBox="1"/>
          <p:nvPr/>
        </p:nvSpPr>
        <p:spPr>
          <a:xfrm>
            <a:off x="10062972" y="4227271"/>
            <a:ext cx="1213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Market</a:t>
            </a:r>
            <a:endParaRPr lang="en-US" sz="1200" dirty="0"/>
          </a:p>
        </p:txBody>
      </p:sp>
      <p:sp>
        <p:nvSpPr>
          <p:cNvPr id="68" name="Text 36"/>
          <p:cNvSpPr txBox="1"/>
          <p:nvPr/>
        </p:nvSpPr>
        <p:spPr>
          <a:xfrm>
            <a:off x="10131552" y="4466844"/>
            <a:ext cx="10771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clearance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distribution</a:t>
            </a:r>
            <a:endParaRPr lang="en-US" sz="900" dirty="0"/>
          </a:p>
        </p:txBody>
      </p:sp>
      <p:sp>
        <p:nvSpPr>
          <p:cNvPr id="69" name="Shape 37"/>
          <p:cNvSpPr/>
          <p:nvPr/>
        </p:nvSpPr>
        <p:spPr>
          <a:xfrm>
            <a:off x="10191902" y="2989174"/>
            <a:ext cx="952805" cy="1047902"/>
          </a:xfrm>
          <a:custGeom>
            <a:avLst/>
            <a:gdLst/>
            <a:ahLst/>
            <a:cxnLst/>
            <a:rect l="l" t="t" r="r" b="b"/>
            <a:pathLst>
              <a:path w="952805" h="1047902">
                <a:moveTo>
                  <a:pt x="476402" y="0"/>
                </a:moveTo>
                <a:lnTo>
                  <a:pt x="952805" y="261976"/>
                </a:lnTo>
                <a:lnTo>
                  <a:pt x="952805" y="785927"/>
                </a:lnTo>
                <a:lnTo>
                  <a:pt x="476402" y="1047902"/>
                </a:lnTo>
                <a:lnTo>
                  <a:pt x="0" y="785927"/>
                </a:lnTo>
                <a:lnTo>
                  <a:pt x="0" y="261976"/>
                </a:lnTo>
                <a:close/>
              </a:path>
            </a:pathLst>
          </a:custGeom>
          <a:solidFill>
            <a:srgbClr val="0D1B3E">
              <a:alpha val="90000"/>
            </a:srgbClr>
          </a:solidFill>
          <a:ln/>
        </p:spPr>
      </p:sp>
      <p:sp>
        <p:nvSpPr>
          <p:cNvPr id="70" name="Shape 38"/>
          <p:cNvSpPr/>
          <p:nvPr/>
        </p:nvSpPr>
        <p:spPr>
          <a:xfrm>
            <a:off x="10191902" y="2989174"/>
            <a:ext cx="952805" cy="1047902"/>
          </a:xfrm>
          <a:prstGeom prst="rect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39"/>
          <p:cNvSpPr/>
          <p:nvPr/>
        </p:nvSpPr>
        <p:spPr>
          <a:xfrm>
            <a:off x="10201046" y="2998318"/>
            <a:ext cx="933602" cy="1028700"/>
          </a:xfrm>
          <a:prstGeom prst="rect">
            <a:avLst/>
          </a:prstGeom>
          <a:solidFill>
            <a:srgbClr val="0208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3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0515600" y="3360420"/>
            <a:ext cx="304495" cy="304495"/>
          </a:xfrm>
          <a:prstGeom prst="rect">
            <a:avLst/>
          </a:prstGeom>
        </p:spPr>
      </p:pic>
      <p:pic>
        <p:nvPicPr>
          <p:cNvPr id="73" name="Image 31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820095" y="2894076"/>
            <a:ext cx="228600" cy="228600"/>
          </a:xfrm>
          <a:prstGeom prst="rect">
            <a:avLst/>
          </a:prstGeom>
        </p:spPr>
      </p:pic>
      <p:sp>
        <p:nvSpPr>
          <p:cNvPr id="74" name="Text 40"/>
          <p:cNvSpPr/>
          <p:nvPr/>
        </p:nvSpPr>
        <p:spPr>
          <a:xfrm>
            <a:off x="10782605" y="289407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900" dirty="0"/>
          </a:p>
        </p:txBody>
      </p:sp>
      <p:sp>
        <p:nvSpPr>
          <p:cNvPr id="75" name="Text 41"/>
          <p:cNvSpPr txBox="1"/>
          <p:nvPr/>
        </p:nvSpPr>
        <p:spPr>
          <a:xfrm>
            <a:off x="11259007" y="6344107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8382305" y="-952805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-952805" y="3047695"/>
            <a:ext cx="4762195" cy="4762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476402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</a:t>
            </a:r>
            <a:r>
              <a:rPr lang="en-US" sz="36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</a:t>
            </a: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Contract?</a:t>
            </a:r>
            <a:endParaRPr lang="en-US" sz="3600" dirty="0"/>
          </a:p>
        </p:txBody>
      </p:sp>
      <p:sp>
        <p:nvSpPr>
          <p:cNvPr id="8" name="Text 2"/>
          <p:cNvSpPr txBox="1"/>
          <p:nvPr/>
        </p:nvSpPr>
        <p:spPr>
          <a:xfrm>
            <a:off x="761695" y="1028700"/>
            <a:ext cx="5791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optimal procurement strategy for minimizing owner risk and ensuring budget certainty.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771754" y="3638398"/>
            <a:ext cx="3429000" cy="1371600"/>
          </a:xfrm>
          <a:prstGeom prst="roundRect">
            <a:avLst>
              <a:gd name="adj" fmla="val 7407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71754" y="3638398"/>
            <a:ext cx="38405" cy="1371600"/>
          </a:xfrm>
          <a:prstGeom prst="roundRect">
            <a:avLst>
              <a:gd name="adj" fmla="val 264549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1000354" y="3853282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1061618" y="3909974"/>
            <a:ext cx="105156" cy="1143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43254" y="3838651"/>
            <a:ext cx="17675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Lump-Sum Payment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000354" y="4209898"/>
            <a:ext cx="30769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agreed-upon price simplifies financial planning and eliminates variable billing surprises.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4384548" y="3638398"/>
            <a:ext cx="3429000" cy="1371600"/>
          </a:xfrm>
          <a:prstGeom prst="roundRect">
            <a:avLst>
              <a:gd name="adj" fmla="val 7407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4548" y="3638398"/>
            <a:ext cx="38405" cy="1371600"/>
          </a:xfrm>
          <a:prstGeom prst="roundRect">
            <a:avLst>
              <a:gd name="adj" fmla="val 264549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613148" y="3853282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675327" y="3909974"/>
            <a:ext cx="105156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956048" y="3838651"/>
            <a:ext cx="15197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 Control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4613148" y="4209898"/>
            <a:ext cx="30769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have 100% clarity on total expenditure before breaking ground, protecting capital allocation.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997342" y="3638398"/>
            <a:ext cx="3429000" cy="1371600"/>
          </a:xfrm>
          <a:prstGeom prst="roundRect">
            <a:avLst>
              <a:gd name="adj" fmla="val 7407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7997342" y="3638398"/>
            <a:ext cx="38405" cy="1371600"/>
          </a:xfrm>
          <a:prstGeom prst="roundRect">
            <a:avLst>
              <a:gd name="adj" fmla="val 264549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225942" y="3853282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288122" y="3909974"/>
            <a:ext cx="105156" cy="1143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568842" y="3838651"/>
            <a:ext cx="1270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Transfer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8225942" y="4209898"/>
            <a:ext cx="3076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contractor absorbs risks related to material price hikes, labor inefficiencies, and delays.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761695" y="5201107"/>
            <a:ext cx="5238598" cy="1171346"/>
          </a:xfrm>
          <a:prstGeom prst="roundRect">
            <a:avLst>
              <a:gd name="adj" fmla="val 10155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761695" y="5201107"/>
            <a:ext cx="38405" cy="1171346"/>
          </a:xfrm>
          <a:prstGeom prst="roundRect">
            <a:avLst>
              <a:gd name="adj" fmla="val 309716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990295" y="5415077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1052474" y="5471770"/>
            <a:ext cx="105156" cy="1143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33195" y="5400446"/>
            <a:ext cx="25850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Construction Fit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72607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Perfectly suited for standard industrial buildings and equipment installation where scope is well-defined and unlikely to change.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191402" y="5201107"/>
            <a:ext cx="5238598" cy="1171346"/>
          </a:xfrm>
          <a:prstGeom prst="roundRect">
            <a:avLst>
              <a:gd name="adj" fmla="val 10155"/>
            </a:avLst>
          </a:prstGeom>
          <a:solidFill>
            <a:srgbClr val="0D1B3E">
              <a:alpha val="6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191402" y="5201107"/>
            <a:ext cx="38405" cy="1171346"/>
          </a:xfrm>
          <a:prstGeom prst="roundRect">
            <a:avLst>
              <a:gd name="adj" fmla="val 309716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420002" y="5415077"/>
            <a:ext cx="228600" cy="228600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6482182" y="5471770"/>
            <a:ext cx="105156" cy="1143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762902" y="5400446"/>
            <a:ext cx="15645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Industry Proven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6420002" y="5772607"/>
            <a:ext cx="4886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dominant contract model for food processing facilities, ensuring accountability and adherence to strict export-grade specifications.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761695" y="6372454"/>
            <a:ext cx="10668305" cy="504749"/>
          </a:xfrm>
          <a:prstGeom prst="roundRect">
            <a:avLst>
              <a:gd name="adj" fmla="val 8203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057046" y="6529730"/>
            <a:ext cx="171907" cy="19019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419149" y="6372454"/>
            <a:ext cx="81253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kern="0" spc="38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"Fixed Price contracts align incentives for efficiency, ensuring the facility is operational on time and within budget."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761695" y="1923898"/>
            <a:ext cx="3372307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761695" y="3200400"/>
            <a:ext cx="3346704" cy="38405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1000354" y="23052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71346" y="2476195"/>
            <a:ext cx="228600" cy="2286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762049" y="216255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Profile</a:t>
            </a:r>
            <a:endParaRPr lang="en-US" sz="1000" dirty="0"/>
          </a:p>
        </p:txBody>
      </p:sp>
      <p:sp>
        <p:nvSpPr>
          <p:cNvPr id="47" name="Text 34"/>
          <p:cNvSpPr txBox="1"/>
          <p:nvPr/>
        </p:nvSpPr>
        <p:spPr>
          <a:xfrm>
            <a:off x="1762049" y="2409444"/>
            <a:ext cx="221924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Lowest Risk</a:t>
            </a:r>
            <a:endParaRPr lang="en-US" sz="2100" dirty="0"/>
          </a:p>
        </p:txBody>
      </p:sp>
      <p:sp>
        <p:nvSpPr>
          <p:cNvPr id="48" name="Text 35"/>
          <p:cNvSpPr txBox="1"/>
          <p:nvPr/>
        </p:nvSpPr>
        <p:spPr>
          <a:xfrm>
            <a:off x="1762049" y="2848356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bears overruns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4412894" y="1923898"/>
            <a:ext cx="3372307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4412894" y="3200400"/>
            <a:ext cx="3346704" cy="38405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4651553" y="23052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22546" y="2476195"/>
            <a:ext cx="228600" cy="22860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5413248" y="216255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Predictability</a:t>
            </a:r>
            <a:endParaRPr lang="en-US" sz="1000" dirty="0"/>
          </a:p>
        </p:txBody>
      </p:sp>
      <p:sp>
        <p:nvSpPr>
          <p:cNvPr id="54" name="Text 40"/>
          <p:cNvSpPr txBox="1"/>
          <p:nvPr/>
        </p:nvSpPr>
        <p:spPr>
          <a:xfrm>
            <a:off x="5413248" y="2409444"/>
            <a:ext cx="24003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Certainty</a:t>
            </a:r>
            <a:endParaRPr lang="en-US" sz="2100" dirty="0"/>
          </a:p>
        </p:txBody>
      </p:sp>
      <p:sp>
        <p:nvSpPr>
          <p:cNvPr id="55" name="Text 41"/>
          <p:cNvSpPr txBox="1"/>
          <p:nvPr/>
        </p:nvSpPr>
        <p:spPr>
          <a:xfrm>
            <a:off x="5413248" y="2848356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Lump-sum defined cost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8064094" y="1923898"/>
            <a:ext cx="3372307" cy="1333195"/>
          </a:xfrm>
          <a:prstGeom prst="roundRect">
            <a:avLst>
              <a:gd name="adj" fmla="val 156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8064094" y="3200400"/>
            <a:ext cx="3346704" cy="38405"/>
          </a:xfrm>
          <a:prstGeom prst="rect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8302752" y="2305202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73745" y="2476195"/>
            <a:ext cx="228600" cy="228600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9064447" y="2162556"/>
            <a:ext cx="22192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Fit</a:t>
            </a:r>
            <a:endParaRPr lang="en-US" sz="1000" dirty="0"/>
          </a:p>
        </p:txBody>
      </p:sp>
      <p:sp>
        <p:nvSpPr>
          <p:cNvPr id="61" name="Text 46"/>
          <p:cNvSpPr txBox="1"/>
          <p:nvPr/>
        </p:nvSpPr>
        <p:spPr>
          <a:xfrm>
            <a:off x="9064447" y="2409444"/>
            <a:ext cx="221924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</a:t>
            </a:r>
            <a:endParaRPr lang="en-US" sz="2100" dirty="0"/>
          </a:p>
        </p:txBody>
      </p:sp>
      <p:sp>
        <p:nvSpPr>
          <p:cNvPr id="62" name="Text 47"/>
          <p:cNvSpPr txBox="1"/>
          <p:nvPr/>
        </p:nvSpPr>
        <p:spPr>
          <a:xfrm>
            <a:off x="9064447" y="2848356"/>
            <a:ext cx="22192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for defined scope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11256264" y="6838798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2438705" y="1371600"/>
            <a:ext cx="7619695" cy="47621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 </a:t>
            </a:r>
            <a:r>
              <a:rPr lang="en-US" sz="3100" b="1" kern="0" spc="-75" dirty="0">
                <a:solidFill>
                  <a:srgbClr val="BF0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Advantages</a:t>
            </a:r>
            <a:endParaRPr lang="en-US" sz="3100" dirty="0"/>
          </a:p>
        </p:txBody>
      </p:sp>
      <p:sp>
        <p:nvSpPr>
          <p:cNvPr id="7" name="Text 2"/>
          <p:cNvSpPr txBox="1"/>
          <p:nvPr/>
        </p:nvSpPr>
        <p:spPr>
          <a:xfrm>
            <a:off x="514807" y="1057046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benefits of the Lump-Sum procurement model for the Owner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71500" y="5159045"/>
            <a:ext cx="11048695" cy="1266444"/>
          </a:xfrm>
          <a:prstGeom prst="roundRect">
            <a:avLst>
              <a:gd name="adj" fmla="val 13029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66851" y="5378501"/>
            <a:ext cx="19412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Allocation Model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4302252" y="5378501"/>
            <a:ext cx="17346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 vs. T&amp;M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866851" y="6082589"/>
            <a:ext cx="75895" cy="75895"/>
          </a:xfrm>
          <a:prstGeom prst="ellipse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00354" y="6035040"/>
            <a:ext cx="11365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Risk (Low)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145182" y="6082589"/>
            <a:ext cx="75895" cy="75895"/>
          </a:xfrm>
          <a:prstGeom prst="ellipse">
            <a:avLst/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278685" y="6035040"/>
            <a:ext cx="14282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Risk (High)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139282" y="5359298"/>
            <a:ext cx="9144" cy="8668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776618" y="5359298"/>
            <a:ext cx="46296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"By locking in the price and scope, we shift the focus from negotiating costs to monitoring quality and schedule performance."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76618" y="6049670"/>
            <a:ext cx="4668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Procurement Strategy Committee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71500" y="1857146"/>
            <a:ext cx="3534156" cy="2734056"/>
          </a:xfrm>
          <a:prstGeom prst="roundRect">
            <a:avLst>
              <a:gd name="adj" fmla="val 37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03450" y="2152498"/>
            <a:ext cx="666598" cy="666598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2222906" y="2333549"/>
            <a:ext cx="228600" cy="3044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6561" y="3010205"/>
            <a:ext cx="210860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 Certainty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28446" y="3438144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total cost known upfront eliminates financial surprises. Payments are linked to defined milestones rather than hourly labor, ensuring capital efficiency.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089697" y="1857146"/>
            <a:ext cx="3534156" cy="2734056"/>
          </a:xfrm>
          <a:prstGeom prst="roundRect">
            <a:avLst>
              <a:gd name="adj" fmla="val 372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1647" y="2152498"/>
            <a:ext cx="666598" cy="666598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9741103" y="2333549"/>
            <a:ext cx="228600" cy="3044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786470" y="3010205"/>
            <a:ext cx="214243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Deliverables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8346643" y="3438144"/>
            <a:ext cx="302026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is rigidly defined with specific performance guarantees. Facility handover only occurs after all acceptance criteria and quality standards are met.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866851" y="5672938"/>
            <a:ext cx="4895698" cy="286207"/>
          </a:xfrm>
          <a:prstGeom prst="roundRect">
            <a:avLst>
              <a:gd name="adj" fmla="val 8519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66851" y="5672938"/>
            <a:ext cx="495605" cy="286207"/>
          </a:xfrm>
          <a:prstGeom prst="roundRect">
            <a:avLst>
              <a:gd name="adj" fmla="val 85197"/>
            </a:avLst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908914" y="5745175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1356055" y="5672938"/>
            <a:ext cx="4410151" cy="286207"/>
          </a:xfrm>
          <a:prstGeom prst="roundRect">
            <a:avLst>
              <a:gd name="adj" fmla="val 85197"/>
            </a:avLst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2989174" y="5745175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Risk (90%)</a:t>
            </a:r>
            <a:endParaRPr lang="en-US" sz="8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t="-139383" b="-139383"/>
          <a:stretch/>
        </p:blipFill>
        <p:spPr>
          <a:xfrm>
            <a:off x="6433718" y="5359298"/>
            <a:ext cx="200254" cy="866851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154119" y="1720901"/>
            <a:ext cx="3883457" cy="3002890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28716" y="2045513"/>
            <a:ext cx="733349" cy="733349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12510" y="2229307"/>
            <a:ext cx="371246" cy="37124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5087722" y="2988259"/>
            <a:ext cx="201716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Protection</a:t>
            </a:r>
            <a:endParaRPr lang="en-US" sz="1600" dirty="0"/>
          </a:p>
        </p:txBody>
      </p:sp>
      <p:sp>
        <p:nvSpPr>
          <p:cNvPr id="38" name="Text 25"/>
          <p:cNvSpPr txBox="1"/>
          <p:nvPr/>
        </p:nvSpPr>
        <p:spPr>
          <a:xfrm>
            <a:off x="4440326" y="3460090"/>
            <a:ext cx="33147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Contractor absorbs liability for delays, material price hikes, and productivity issues. The Owner is shielded from market volatility and construction inefficiencies.</a:t>
            </a:r>
            <a:endParaRPr lang="en-US" sz="10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4"/>
          <a:srcRect t="-1231" b="-1231"/>
          <a:stretch/>
        </p:blipFill>
        <p:spPr>
          <a:xfrm>
            <a:off x="5455310" y="1605686"/>
            <a:ext cx="1285646" cy="24780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426964" y="1605686"/>
            <a:ext cx="1343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 Benefit</a:t>
            </a:r>
            <a:endParaRPr lang="en-US" sz="800" dirty="0"/>
          </a:p>
        </p:txBody>
      </p:sp>
      <p:sp>
        <p:nvSpPr>
          <p:cNvPr id="41" name="Text 27"/>
          <p:cNvSpPr txBox="1"/>
          <p:nvPr/>
        </p:nvSpPr>
        <p:spPr>
          <a:xfrm>
            <a:off x="11269066" y="6344107"/>
            <a:ext cx="646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/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2305" y="-1904695"/>
            <a:ext cx="5715000" cy="5715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Procurement </a:t>
            </a:r>
            <a:r>
              <a:rPr lang="en-US" sz="31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endParaRPr lang="en-US" sz="31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approach to securing the optimal Fixed Price Contract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71500" y="5943600"/>
            <a:ext cx="11048695" cy="533095"/>
          </a:xfrm>
          <a:prstGeom prst="roundRect">
            <a:avLst>
              <a:gd name="adj" fmla="val 73511"/>
            </a:avLst>
          </a:prstGeom>
          <a:solidFill>
            <a:srgbClr val="00F5FF">
              <a:alpha val="5000"/>
            </a:srgbClr>
          </a:solidFill>
          <a:ln w="12700">
            <a:solidFill>
              <a:srgbClr val="00F5FF">
                <a:alpha val="10000"/>
              </a:srgbClr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851" y="6115507"/>
            <a:ext cx="190195" cy="1901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00607" y="6096305"/>
            <a:ext cx="5191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 A transparent, risk-mitigated path to </a:t>
            </a:r>
            <a:r>
              <a:rPr lang="en-US" sz="12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Success</a:t>
            </a:r>
            <a:r>
              <a:rPr lang="en-US" sz="1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485132" y="6105449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Success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761695" y="1837944"/>
            <a:ext cx="4762195" cy="38103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374697" y="2560320"/>
            <a:ext cx="15407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Award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/>
          <a:stretch/>
        </p:blipFill>
        <p:spPr>
          <a:xfrm>
            <a:off x="3023921" y="2322576"/>
            <a:ext cx="237744" cy="19019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451506" y="2855671"/>
            <a:ext cx="138348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 Execution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2441448" y="3627425"/>
            <a:ext cx="140634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Bidding Phase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47695" y="3388766"/>
            <a:ext cx="190195" cy="19019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2182673" y="3922776"/>
            <a:ext cx="192755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Prequalification &amp; RFP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2139696" y="4786884"/>
            <a:ext cx="20071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Objectives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47695" y="4549140"/>
            <a:ext cx="190195" cy="1901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2152498" y="5082235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Scope, Specs &amp; Requirements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6286500" y="1559052"/>
            <a:ext cx="19202" cy="437174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6590995" y="1559052"/>
            <a:ext cx="48390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6791249" y="1711757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 2026 - Phase 1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6791249" y="1931213"/>
            <a:ext cx="4553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Requirements Gathering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6791249" y="2235708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technical specifications, lock BoM (Bill of Materials), and establish acceptance criteria.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6590995" y="3142793"/>
            <a:ext cx="48390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6791249" y="3294583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 2026 - Phase 2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6791249" y="3514039"/>
            <a:ext cx="4553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RFP &amp; Evaluation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6791249" y="3818534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Request for Proposal, conduct site visits, and score vendors on technical + commercial fit.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590995" y="4725619"/>
            <a:ext cx="4839005" cy="1209751"/>
          </a:xfrm>
          <a:prstGeom prst="roundRect">
            <a:avLst>
              <a:gd name="adj" fmla="val 952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6791249" y="4877410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 2026 - Phase 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6791249" y="5096866"/>
            <a:ext cx="4553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Award &amp; Mobilization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6791249" y="5401361"/>
            <a:ext cx="4515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Fixed Price Contract negotiations and commence site mobilization.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9196121" y="6110021"/>
            <a:ext cx="2486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Approved by Steering Committee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38951" y="1606601"/>
            <a:ext cx="152705" cy="152705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238951" y="3190342"/>
            <a:ext cx="152705" cy="152705"/>
          </a:xfrm>
          <a:prstGeom prst="rect">
            <a:avLst/>
          </a:prstGeom>
        </p:spPr>
      </p:pic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238951" y="4773168"/>
            <a:ext cx="152705" cy="15270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11258093" y="6344107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/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-952805" y="-952805"/>
            <a:ext cx="3810305" cy="38103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9334195" y="4000500"/>
            <a:ext cx="3810305" cy="381030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76402" y="286207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Selection </a:t>
            </a:r>
            <a:r>
              <a:rPr lang="en-US" sz="3100" b="1" kern="0" spc="-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</a:t>
            </a:r>
            <a:endParaRPr lang="en-US" sz="3100" dirty="0"/>
          </a:p>
        </p:txBody>
      </p:sp>
      <p:sp>
        <p:nvSpPr>
          <p:cNvPr id="8" name="Text 2"/>
          <p:cNvSpPr txBox="1"/>
          <p:nvPr/>
        </p:nvSpPr>
        <p:spPr>
          <a:xfrm>
            <a:off x="514807" y="933602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 approach to choosing the Fixed Price model</a:t>
            </a:r>
            <a:endParaRPr lang="en-US" sz="12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 l="-403" r="-403"/>
          <a:stretch/>
        </p:blipFill>
        <p:spPr>
          <a:xfrm>
            <a:off x="6086246" y="1352398"/>
            <a:ext cx="19202" cy="5219395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77102" y="5223967"/>
            <a:ext cx="38405" cy="384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4476902" y="1542593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4476902" y="1542593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13" name="Shape 5"/>
          <p:cNvSpPr/>
          <p:nvPr/>
        </p:nvSpPr>
        <p:spPr>
          <a:xfrm>
            <a:off x="7895844" y="175747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01000" y="1861718"/>
            <a:ext cx="171907" cy="171907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4581144" y="1666037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Define Scope &amp; Budget</a:t>
            </a:r>
            <a:endParaRPr lang="en-US" sz="1200" dirty="0"/>
          </a:p>
        </p:txBody>
      </p:sp>
      <p:sp>
        <p:nvSpPr>
          <p:cNvPr id="16" name="Text 7"/>
          <p:cNvSpPr txBox="1"/>
          <p:nvPr/>
        </p:nvSpPr>
        <p:spPr>
          <a:xfrm>
            <a:off x="4619549" y="1933042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clear project boundaries, deliverables, and initial cost estimations.</a:t>
            </a:r>
            <a:endParaRPr lang="en-US" sz="9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8467344" y="1947672"/>
            <a:ext cx="381305" cy="9144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476695" y="2549347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9"/>
          <p:cNvSpPr/>
          <p:nvPr/>
        </p:nvSpPr>
        <p:spPr>
          <a:xfrm>
            <a:off x="6476695" y="2549347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</p:sp>
      <p:sp>
        <p:nvSpPr>
          <p:cNvPr id="20" name="Shape 10"/>
          <p:cNvSpPr/>
          <p:nvPr/>
        </p:nvSpPr>
        <p:spPr>
          <a:xfrm>
            <a:off x="6696151" y="276423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BF00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rcRect l="-1064" r="-1064"/>
          <a:stretch/>
        </p:blipFill>
        <p:spPr>
          <a:xfrm>
            <a:off x="6776618" y="2869387"/>
            <a:ext cx="219456" cy="171907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220102" y="2673706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Evaluate Contract Types</a:t>
            </a:r>
            <a:endParaRPr lang="en-US" sz="1200" dirty="0"/>
          </a:p>
        </p:txBody>
      </p:sp>
      <p:sp>
        <p:nvSpPr>
          <p:cNvPr id="23" name="Text 12"/>
          <p:cNvSpPr txBox="1"/>
          <p:nvPr/>
        </p:nvSpPr>
        <p:spPr>
          <a:xfrm>
            <a:off x="7220102" y="2939796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T&amp;M, Cost Plus, and Fixed Price models against risk tolerance.</a:t>
            </a:r>
            <a:endParaRPr lang="en-US" sz="9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6124651" y="2955341"/>
            <a:ext cx="381305" cy="9144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/>
          <a:srcRect l="-21" r="-21"/>
          <a:stretch/>
        </p:blipFill>
        <p:spPr>
          <a:xfrm>
            <a:off x="4476902" y="3557016"/>
            <a:ext cx="4000500" cy="811073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7895844" y="37719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3"/>
          <a:srcRect l="-760" r="-760"/>
          <a:stretch/>
        </p:blipFill>
        <p:spPr>
          <a:xfrm>
            <a:off x="8010144" y="3877056"/>
            <a:ext cx="152705" cy="171907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4562856" y="3680460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Fixed Price</a:t>
            </a:r>
            <a:endParaRPr lang="en-US" sz="1200" dirty="0"/>
          </a:p>
        </p:txBody>
      </p:sp>
      <p:sp>
        <p:nvSpPr>
          <p:cNvPr id="29" name="Text 15"/>
          <p:cNvSpPr txBox="1"/>
          <p:nvPr/>
        </p:nvSpPr>
        <p:spPr>
          <a:xfrm>
            <a:off x="4600346" y="3947465"/>
            <a:ext cx="31528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decision to lock in costs and transfer risk to the contractor.</a:t>
            </a:r>
            <a:endParaRPr lang="en-US" sz="9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4"/>
          <a:srcRect l="-2127" r="-2127"/>
          <a:stretch/>
        </p:blipFill>
        <p:spPr>
          <a:xfrm>
            <a:off x="8467344" y="3962095"/>
            <a:ext cx="381305" cy="9144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6476695" y="4563770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17"/>
          <p:cNvSpPr/>
          <p:nvPr/>
        </p:nvSpPr>
        <p:spPr>
          <a:xfrm>
            <a:off x="6476695" y="4563770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00FF88"/>
          </a:solidFill>
          <a:ln w="1270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33" name="Shape 18"/>
          <p:cNvSpPr/>
          <p:nvPr/>
        </p:nvSpPr>
        <p:spPr>
          <a:xfrm>
            <a:off x="6696151" y="4779569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0FF8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5"/>
          <a:srcRect t="-842" b="-842"/>
          <a:stretch/>
        </p:blipFill>
        <p:spPr>
          <a:xfrm>
            <a:off x="6791249" y="4883810"/>
            <a:ext cx="190195" cy="171907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7220102" y="4688129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Tender &amp; Selection</a:t>
            </a:r>
            <a:endParaRPr lang="en-US" sz="1200" dirty="0"/>
          </a:p>
        </p:txBody>
      </p:sp>
      <p:sp>
        <p:nvSpPr>
          <p:cNvPr id="36" name="Text 20"/>
          <p:cNvSpPr txBox="1"/>
          <p:nvPr/>
        </p:nvSpPr>
        <p:spPr>
          <a:xfrm>
            <a:off x="7220102" y="4954219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bidding process to identify the most capable vendor.</a:t>
            </a:r>
            <a:endParaRPr lang="en-US" sz="9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6124651" y="4969764"/>
            <a:ext cx="381305" cy="9144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>
            <a:off x="4476902" y="5571439"/>
            <a:ext cx="4000500" cy="819302"/>
          </a:xfrm>
          <a:prstGeom prst="roundRect">
            <a:avLst>
              <a:gd name="adj" fmla="val 3114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4476902" y="5571439"/>
            <a:ext cx="28346" cy="819302"/>
          </a:xfrm>
          <a:prstGeom prst="roundRect">
            <a:avLst>
              <a:gd name="adj" fmla="val 9002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0" name="Shape 23"/>
          <p:cNvSpPr/>
          <p:nvPr/>
        </p:nvSpPr>
        <p:spPr>
          <a:xfrm>
            <a:off x="7895844" y="5786323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001000" y="5891479"/>
            <a:ext cx="171907" cy="171907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4581144" y="5694883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Award &amp; Kickoff</a:t>
            </a:r>
            <a:endParaRPr lang="en-US" sz="1200" dirty="0"/>
          </a:p>
        </p:txBody>
      </p:sp>
      <p:sp>
        <p:nvSpPr>
          <p:cNvPr id="43" name="Text 25"/>
          <p:cNvSpPr txBox="1"/>
          <p:nvPr/>
        </p:nvSpPr>
        <p:spPr>
          <a:xfrm>
            <a:off x="4619549" y="5961888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contract signing and commence project mobilization phase.</a:t>
            </a:r>
            <a:endParaRPr lang="en-US" sz="9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0"/>
          <a:srcRect l="-2127" r="-2127"/>
          <a:stretch/>
        </p:blipFill>
        <p:spPr>
          <a:xfrm>
            <a:off x="8467344" y="5976518"/>
            <a:ext cx="381305" cy="9144"/>
          </a:xfrm>
          <a:prstGeom prst="rect">
            <a:avLst/>
          </a:prstGeom>
        </p:spPr>
      </p:pic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905195" y="1757477"/>
            <a:ext cx="381305" cy="381305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5876849" y="1757477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00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05195" y="2764231"/>
            <a:ext cx="381305" cy="381305"/>
          </a:xfrm>
          <a:prstGeom prst="rect">
            <a:avLst/>
          </a:prstGeom>
        </p:spPr>
      </p:pic>
      <p:sp>
        <p:nvSpPr>
          <p:cNvPr id="48" name="Text 27"/>
          <p:cNvSpPr/>
          <p:nvPr/>
        </p:nvSpPr>
        <p:spPr>
          <a:xfrm>
            <a:off x="5876849" y="2764231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0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00" dirty="0"/>
          </a:p>
        </p:txBody>
      </p:sp>
      <p:pic>
        <p:nvPicPr>
          <p:cNvPr id="49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857646" y="3724351"/>
            <a:ext cx="476402" cy="476402"/>
          </a:xfrm>
          <a:prstGeom prst="rect">
            <a:avLst/>
          </a:prstGeom>
        </p:spPr>
      </p:pic>
      <p:pic>
        <p:nvPicPr>
          <p:cNvPr id="50" name="Image 20" descr="preencoded.png"/>
          <p:cNvPicPr>
            <a:picLocks noChangeAspect="1"/>
          </p:cNvPicPr>
          <p:nvPr/>
        </p:nvPicPr>
        <p:blipFill>
          <a:blip r:embed="rId20"/>
          <a:srcRect t="-842" b="-842"/>
          <a:stretch/>
        </p:blipFill>
        <p:spPr>
          <a:xfrm>
            <a:off x="6001207" y="3877056"/>
            <a:ext cx="190195" cy="171907"/>
          </a:xfrm>
          <a:prstGeom prst="rect">
            <a:avLst/>
          </a:prstGeom>
        </p:spPr>
      </p:pic>
      <p:pic>
        <p:nvPicPr>
          <p:cNvPr id="51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905195" y="4779569"/>
            <a:ext cx="381305" cy="381305"/>
          </a:xfrm>
          <a:prstGeom prst="rect">
            <a:avLst/>
          </a:prstGeom>
        </p:spPr>
      </p:pic>
      <p:sp>
        <p:nvSpPr>
          <p:cNvPr id="52" name="Text 28"/>
          <p:cNvSpPr/>
          <p:nvPr/>
        </p:nvSpPr>
        <p:spPr>
          <a:xfrm>
            <a:off x="5876849" y="4779569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000" dirty="0"/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905195" y="5786323"/>
            <a:ext cx="381305" cy="381305"/>
          </a:xfrm>
          <a:prstGeom prst="rect">
            <a:avLst/>
          </a:prstGeom>
        </p:spPr>
      </p:pic>
      <p:sp>
        <p:nvSpPr>
          <p:cNvPr id="54" name="Text 29"/>
          <p:cNvSpPr/>
          <p:nvPr/>
        </p:nvSpPr>
        <p:spPr>
          <a:xfrm>
            <a:off x="5876849" y="5786323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30"/>
          <p:cNvSpPr txBox="1"/>
          <p:nvPr/>
        </p:nvSpPr>
        <p:spPr>
          <a:xfrm>
            <a:off x="11256264" y="6344107"/>
            <a:ext cx="669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 /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-952805" y="2095805"/>
            <a:ext cx="5715000" cy="57150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</a:t>
            </a:r>
            <a:r>
              <a:rPr lang="en-US" sz="3100" b="1" kern="0" spc="-75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Comparison</a:t>
            </a:r>
            <a:endParaRPr lang="en-US" sz="3100" dirty="0"/>
          </a:p>
        </p:txBody>
      </p:sp>
      <p:sp>
        <p:nvSpPr>
          <p:cNvPr id="8" name="Text 2"/>
          <p:cNvSpPr txBox="1"/>
          <p:nvPr/>
        </p:nvSpPr>
        <p:spPr>
          <a:xfrm>
            <a:off x="514807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procurement models against project goals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71500" y="1543507"/>
            <a:ext cx="11048695" cy="504749"/>
          </a:xfrm>
          <a:prstGeom prst="roundRect">
            <a:avLst>
              <a:gd name="adj" fmla="val 8203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1676095" y="1695298"/>
            <a:ext cx="23774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Type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4067251" y="1695298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Owner Risk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5924398" y="1695298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Predictability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7777886" y="1695298"/>
            <a:ext cx="2179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Flexibility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10058400" y="1695298"/>
            <a:ext cx="1438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71500" y="3575304"/>
            <a:ext cx="11048695" cy="1057046"/>
          </a:xfrm>
          <a:prstGeom prst="roundRect">
            <a:avLst>
              <a:gd name="adj" fmla="val 187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71754" y="386334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4400" y="400598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76095" y="3887114"/>
            <a:ext cx="23774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&amp; Materials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676095" y="4144061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Rate / Hourly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10058400" y="3728009"/>
            <a:ext cx="1362456" cy="752551"/>
          </a:xfrm>
          <a:prstGeom prst="roundRect">
            <a:avLst>
              <a:gd name="adj" fmla="val 2460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172700" y="4025189"/>
            <a:ext cx="152705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420502" y="3728009"/>
            <a:ext cx="9436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for undefined scope or small changes.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571500" y="4817059"/>
            <a:ext cx="11048695" cy="1057046"/>
          </a:xfrm>
          <a:prstGeom prst="roundRect">
            <a:avLst>
              <a:gd name="adj" fmla="val 187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71754" y="510509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3B3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8174" y="5247742"/>
            <a:ext cx="142646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76095" y="5128870"/>
            <a:ext cx="23774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Reimbursable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1676095" y="5385816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Plus Fee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10058400" y="4969764"/>
            <a:ext cx="1362456" cy="752551"/>
          </a:xfrm>
          <a:prstGeom prst="roundRect">
            <a:avLst>
              <a:gd name="adj" fmla="val 2460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72700" y="5266944"/>
            <a:ext cx="152705" cy="1527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420502" y="4969764"/>
            <a:ext cx="9436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suitable. High uncertainty for owner.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2"/>
          <a:srcRect t="-14" b="-14"/>
          <a:stretch/>
        </p:blipFill>
        <p:spPr>
          <a:xfrm>
            <a:off x="571500" y="5868619"/>
            <a:ext cx="11048695" cy="886054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3"/>
          <a:srcRect l="-50" r="-50"/>
          <a:stretch/>
        </p:blipFill>
        <p:spPr>
          <a:xfrm>
            <a:off x="895198" y="6159398"/>
            <a:ext cx="342900" cy="30449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429207" y="6058814"/>
            <a:ext cx="93442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Recommendation: Fixed Price Contract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1429207" y="6364224"/>
            <a:ext cx="9915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with the project's goal of zero-waste efficiency and strict export compliance, minimizing financial exposure while ensuring on-time delivery.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4484218" y="3948379"/>
            <a:ext cx="961949" cy="304495"/>
          </a:xfrm>
          <a:prstGeom prst="roundRect">
            <a:avLst>
              <a:gd name="adj" fmla="val 300300"/>
            </a:avLst>
          </a:prstGeom>
          <a:solidFill>
            <a:srgbClr val="00F5FF">
              <a:alpha val="15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4455871" y="3948379"/>
            <a:ext cx="10195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Risk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391656" y="4037076"/>
            <a:ext cx="171907" cy="133502"/>
          </a:xfrm>
          <a:prstGeom prst="rect">
            <a:avLst/>
          </a:prstGeom>
        </p:spPr>
      </p:pic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562649" y="4037076"/>
            <a:ext cx="171907" cy="133502"/>
          </a:xfrm>
          <a:prstGeom prst="rect">
            <a:avLst/>
          </a:prstGeom>
        </p:spPr>
      </p:pic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734556" y="4037076"/>
            <a:ext cx="171907" cy="133502"/>
          </a:xfrm>
          <a:prstGeom prst="rect">
            <a:avLst/>
          </a:prstGeom>
        </p:spPr>
      </p:pic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438998" y="4037076"/>
            <a:ext cx="171907" cy="133502"/>
          </a:xfrm>
          <a:prstGeom prst="rect">
            <a:avLst/>
          </a:prstGeom>
        </p:spPr>
      </p:pic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610905" y="4037076"/>
            <a:ext cx="171907" cy="133502"/>
          </a:xfrm>
          <a:prstGeom prst="rect">
            <a:avLst/>
          </a:prstGeom>
        </p:spPr>
      </p:pic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781898" y="4037076"/>
            <a:ext cx="171907" cy="133502"/>
          </a:xfrm>
          <a:prstGeom prst="rect">
            <a:avLst/>
          </a:prstGeom>
        </p:spPr>
      </p:pic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953805" y="4037076"/>
            <a:ext cx="171907" cy="133502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4486046" y="5190134"/>
            <a:ext cx="952805" cy="304495"/>
          </a:xfrm>
          <a:prstGeom prst="roundRect">
            <a:avLst>
              <a:gd name="adj" fmla="val 300300"/>
            </a:avLst>
          </a:prstGeom>
          <a:solidFill>
            <a:srgbClr val="FF3B30">
              <a:alpha val="15000"/>
            </a:srgbClr>
          </a:solidFill>
          <a:ln w="12700">
            <a:solidFill>
              <a:srgbClr val="FF3B30">
                <a:alpha val="30000"/>
              </a:srgbClr>
            </a:solidFill>
            <a:prstDash val="solid"/>
          </a:ln>
        </p:spPr>
      </p:sp>
      <p:sp>
        <p:nvSpPr>
          <p:cNvPr id="45" name="Text 26"/>
          <p:cNvSpPr/>
          <p:nvPr/>
        </p:nvSpPr>
        <p:spPr>
          <a:xfrm>
            <a:off x="4457700" y="5190134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</a:t>
            </a:r>
            <a:endParaRPr lang="en-US" sz="9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391656" y="5278831"/>
            <a:ext cx="171907" cy="133502"/>
          </a:xfrm>
          <a:prstGeom prst="rect">
            <a:avLst/>
          </a:prstGeom>
        </p:spPr>
      </p:pic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438998" y="5278831"/>
            <a:ext cx="171907" cy="133502"/>
          </a:xfrm>
          <a:prstGeom prst="rect">
            <a:avLst/>
          </a:prstGeom>
        </p:spPr>
      </p:pic>
      <p:pic>
        <p:nvPicPr>
          <p:cNvPr id="48" name="Image 19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610905" y="5278831"/>
            <a:ext cx="171907" cy="133502"/>
          </a:xfrm>
          <a:prstGeom prst="rect">
            <a:avLst/>
          </a:prstGeom>
        </p:spPr>
      </p:pic>
      <p:pic>
        <p:nvPicPr>
          <p:cNvPr id="49" name="Image 20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781898" y="5278831"/>
            <a:ext cx="171907" cy="133502"/>
          </a:xfrm>
          <a:prstGeom prst="rect">
            <a:avLst/>
          </a:prstGeom>
        </p:spPr>
      </p:pic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953805" y="5278831"/>
            <a:ext cx="171907" cy="133502"/>
          </a:xfrm>
          <a:prstGeom prst="rect">
            <a:avLst/>
          </a:prstGeom>
        </p:spPr>
      </p:pic>
      <p:pic>
        <p:nvPicPr>
          <p:cNvPr id="51" name="Image 22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9124798" y="5278831"/>
            <a:ext cx="171907" cy="133502"/>
          </a:xfrm>
          <a:prstGeom prst="rect">
            <a:avLst/>
          </a:prstGeom>
        </p:spPr>
      </p:pic>
      <p:pic>
        <p:nvPicPr>
          <p:cNvPr id="52" name="Image 23" descr="preencoded.png"/>
          <p:cNvPicPr>
            <a:picLocks noChangeAspect="1"/>
          </p:cNvPicPr>
          <p:nvPr/>
        </p:nvPicPr>
        <p:blipFill>
          <a:blip r:embed="rId15"/>
          <a:srcRect t="-13" b="-13"/>
          <a:stretch/>
        </p:blipFill>
        <p:spPr>
          <a:xfrm>
            <a:off x="571500" y="2333549"/>
            <a:ext cx="11048695" cy="1051560"/>
          </a:xfrm>
          <a:prstGeom prst="rect">
            <a:avLst/>
          </a:prstGeom>
        </p:spPr>
      </p:pic>
      <p:sp>
        <p:nvSpPr>
          <p:cNvPr id="53" name="Shape 27"/>
          <p:cNvSpPr/>
          <p:nvPr/>
        </p:nvSpPr>
        <p:spPr>
          <a:xfrm>
            <a:off x="771754" y="2247595"/>
            <a:ext cx="914400" cy="181051"/>
          </a:xfrm>
          <a:prstGeom prst="roundRect">
            <a:avLst>
              <a:gd name="adj" fmla="val 212653"/>
            </a:avLst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28"/>
          <p:cNvSpPr txBox="1"/>
          <p:nvPr/>
        </p:nvSpPr>
        <p:spPr>
          <a:xfrm>
            <a:off x="771754" y="2247595"/>
            <a:ext cx="9912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55" name="Shape 29"/>
          <p:cNvSpPr/>
          <p:nvPr/>
        </p:nvSpPr>
        <p:spPr>
          <a:xfrm>
            <a:off x="771754" y="262158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2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90626" y="2764231"/>
            <a:ext cx="237744" cy="190195"/>
          </a:xfrm>
          <a:prstGeom prst="rect">
            <a:avLst/>
          </a:prstGeom>
        </p:spPr>
      </p:pic>
      <p:sp>
        <p:nvSpPr>
          <p:cNvPr id="57" name="Text 30"/>
          <p:cNvSpPr txBox="1"/>
          <p:nvPr/>
        </p:nvSpPr>
        <p:spPr>
          <a:xfrm>
            <a:off x="1676095" y="2645359"/>
            <a:ext cx="23774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</a:t>
            </a:r>
            <a:endParaRPr lang="en-US" sz="1300" dirty="0"/>
          </a:p>
        </p:txBody>
      </p:sp>
      <p:sp>
        <p:nvSpPr>
          <p:cNvPr id="58" name="Text 31"/>
          <p:cNvSpPr txBox="1"/>
          <p:nvPr/>
        </p:nvSpPr>
        <p:spPr>
          <a:xfrm>
            <a:off x="1676095" y="2902306"/>
            <a:ext cx="23774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Lump Sum / Turnkey</a:t>
            </a:r>
            <a:endParaRPr lang="en-US" sz="900" dirty="0"/>
          </a:p>
        </p:txBody>
      </p:sp>
      <p:sp>
        <p:nvSpPr>
          <p:cNvPr id="59" name="Shape 32"/>
          <p:cNvSpPr/>
          <p:nvPr/>
        </p:nvSpPr>
        <p:spPr>
          <a:xfrm>
            <a:off x="4486046" y="2706624"/>
            <a:ext cx="952805" cy="304495"/>
          </a:xfrm>
          <a:prstGeom prst="roundRect">
            <a:avLst>
              <a:gd name="adj" fmla="val 300300"/>
            </a:avLst>
          </a:prstGeom>
          <a:solidFill>
            <a:srgbClr val="00FF88">
              <a:alpha val="15000"/>
            </a:srgbClr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60" name="Text 33"/>
          <p:cNvSpPr/>
          <p:nvPr/>
        </p:nvSpPr>
        <p:spPr>
          <a:xfrm>
            <a:off x="4457700" y="2706624"/>
            <a:ext cx="10104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</a:t>
            </a:r>
            <a:endParaRPr lang="en-US" sz="900" dirty="0"/>
          </a:p>
        </p:txBody>
      </p:sp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391656" y="2795321"/>
            <a:ext cx="171907" cy="133502"/>
          </a:xfrm>
          <a:prstGeom prst="rect">
            <a:avLst/>
          </a:prstGeom>
        </p:spPr>
      </p:pic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562649" y="2795321"/>
            <a:ext cx="171907" cy="133502"/>
          </a:xfrm>
          <a:prstGeom prst="rect">
            <a:avLst/>
          </a:prstGeom>
        </p:spPr>
      </p:pic>
      <p:pic>
        <p:nvPicPr>
          <p:cNvPr id="63" name="Image 27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734556" y="2795321"/>
            <a:ext cx="171907" cy="133502"/>
          </a:xfrm>
          <a:prstGeom prst="rect">
            <a:avLst/>
          </a:prstGeom>
        </p:spPr>
      </p:pic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6905549" y="2795321"/>
            <a:ext cx="171907" cy="133502"/>
          </a:xfrm>
          <a:prstGeom prst="rect">
            <a:avLst/>
          </a:prstGeom>
        </p:spPr>
      </p:pic>
      <p:pic>
        <p:nvPicPr>
          <p:cNvPr id="65" name="Image 29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7077456" y="2795321"/>
            <a:ext cx="171907" cy="133502"/>
          </a:xfrm>
          <a:prstGeom prst="rect">
            <a:avLst/>
          </a:prstGeom>
        </p:spPr>
      </p:pic>
      <p:pic>
        <p:nvPicPr>
          <p:cNvPr id="66" name="Image 30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438998" y="2795321"/>
            <a:ext cx="171907" cy="133502"/>
          </a:xfrm>
          <a:prstGeom prst="rect">
            <a:avLst/>
          </a:prstGeom>
        </p:spPr>
      </p:pic>
      <p:pic>
        <p:nvPicPr>
          <p:cNvPr id="67" name="Image 31" descr="preencoded.png"/>
          <p:cNvPicPr>
            <a:picLocks noChangeAspect="1"/>
          </p:cNvPicPr>
          <p:nvPr/>
        </p:nvPicPr>
        <p:blipFill>
          <a:blip r:embed="rId14"/>
          <a:srcRect l="-7230" r="-7230"/>
          <a:stretch/>
        </p:blipFill>
        <p:spPr>
          <a:xfrm>
            <a:off x="8610905" y="2795321"/>
            <a:ext cx="171907" cy="133502"/>
          </a:xfrm>
          <a:prstGeom prst="rect">
            <a:avLst/>
          </a:prstGeom>
        </p:spPr>
      </p:pic>
      <p:pic>
        <p:nvPicPr>
          <p:cNvPr id="68" name="Image 32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8781898" y="2795321"/>
            <a:ext cx="171907" cy="133502"/>
          </a:xfrm>
          <a:prstGeom prst="rect">
            <a:avLst/>
          </a:prstGeom>
        </p:spPr>
      </p:pic>
      <p:pic>
        <p:nvPicPr>
          <p:cNvPr id="69" name="Image 33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8953805" y="2795321"/>
            <a:ext cx="171907" cy="133502"/>
          </a:xfrm>
          <a:prstGeom prst="rect">
            <a:avLst/>
          </a:prstGeom>
        </p:spPr>
      </p:pic>
      <p:pic>
        <p:nvPicPr>
          <p:cNvPr id="70" name="Image 34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9124798" y="2795321"/>
            <a:ext cx="171907" cy="133502"/>
          </a:xfrm>
          <a:prstGeom prst="rect">
            <a:avLst/>
          </a:prstGeom>
        </p:spPr>
      </p:pic>
      <p:sp>
        <p:nvSpPr>
          <p:cNvPr id="71" name="Shape 34"/>
          <p:cNvSpPr/>
          <p:nvPr/>
        </p:nvSpPr>
        <p:spPr>
          <a:xfrm>
            <a:off x="10058400" y="2486254"/>
            <a:ext cx="1362456" cy="752551"/>
          </a:xfrm>
          <a:prstGeom prst="roundRect">
            <a:avLst>
              <a:gd name="adj" fmla="val 2460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3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172700" y="2783434"/>
            <a:ext cx="152705" cy="152705"/>
          </a:xfrm>
          <a:prstGeom prst="rect">
            <a:avLst/>
          </a:prstGeom>
        </p:spPr>
      </p:pic>
      <p:sp>
        <p:nvSpPr>
          <p:cNvPr id="73" name="Text 35"/>
          <p:cNvSpPr txBox="1"/>
          <p:nvPr/>
        </p:nvSpPr>
        <p:spPr>
          <a:xfrm>
            <a:off x="10420502" y="2486254"/>
            <a:ext cx="9436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defined scope &amp; budget control.</a:t>
            </a:r>
            <a:endParaRPr lang="en-US" sz="900" dirty="0"/>
          </a:p>
        </p:txBody>
      </p:sp>
      <p:pic>
        <p:nvPicPr>
          <p:cNvPr id="74" name="Image 36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905549" y="4037076"/>
            <a:ext cx="171907" cy="133502"/>
          </a:xfrm>
          <a:prstGeom prst="rect">
            <a:avLst/>
          </a:prstGeom>
        </p:spPr>
      </p:pic>
      <p:pic>
        <p:nvPicPr>
          <p:cNvPr id="75" name="Image 37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7077456" y="4037076"/>
            <a:ext cx="171907" cy="133502"/>
          </a:xfrm>
          <a:prstGeom prst="rect">
            <a:avLst/>
          </a:prstGeom>
        </p:spPr>
      </p:pic>
      <p:pic>
        <p:nvPicPr>
          <p:cNvPr id="76" name="Image 38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9124798" y="4037076"/>
            <a:ext cx="171907" cy="133502"/>
          </a:xfrm>
          <a:prstGeom prst="rect">
            <a:avLst/>
          </a:prstGeom>
        </p:spPr>
      </p:pic>
      <p:pic>
        <p:nvPicPr>
          <p:cNvPr id="77" name="Image 39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562649" y="5278831"/>
            <a:ext cx="171907" cy="133502"/>
          </a:xfrm>
          <a:prstGeom prst="rect">
            <a:avLst/>
          </a:prstGeom>
        </p:spPr>
      </p:pic>
      <p:pic>
        <p:nvPicPr>
          <p:cNvPr id="78" name="Image 40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734556" y="5278831"/>
            <a:ext cx="171907" cy="133502"/>
          </a:xfrm>
          <a:prstGeom prst="rect">
            <a:avLst/>
          </a:prstGeom>
        </p:spPr>
      </p:pic>
      <p:pic>
        <p:nvPicPr>
          <p:cNvPr id="79" name="Image 41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6905549" y="5278831"/>
            <a:ext cx="171907" cy="133502"/>
          </a:xfrm>
          <a:prstGeom prst="rect">
            <a:avLst/>
          </a:prstGeom>
        </p:spPr>
      </p:pic>
      <p:pic>
        <p:nvPicPr>
          <p:cNvPr id="80" name="Image 42" descr="preencoded.png"/>
          <p:cNvPicPr>
            <a:picLocks noChangeAspect="1"/>
          </p:cNvPicPr>
          <p:nvPr/>
        </p:nvPicPr>
        <p:blipFill>
          <a:blip r:embed="rId14">
            <a:alphaModFix amt="30000"/>
          </a:blip>
          <a:srcRect l="-7230" r="-7230"/>
          <a:stretch/>
        </p:blipFill>
        <p:spPr>
          <a:xfrm>
            <a:off x="7077456" y="5278831"/>
            <a:ext cx="171907" cy="133502"/>
          </a:xfrm>
          <a:prstGeom prst="rect">
            <a:avLst/>
          </a:prstGeom>
        </p:spPr>
      </p:pic>
      <p:sp>
        <p:nvSpPr>
          <p:cNvPr id="81" name="Text 36"/>
          <p:cNvSpPr txBox="1"/>
          <p:nvPr/>
        </p:nvSpPr>
        <p:spPr>
          <a:xfrm>
            <a:off x="11282782" y="6621170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-952805" y="1371600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15000"/>
          </a:blip>
          <a:srcRect/>
          <a:stretch/>
        </p:blipFill>
        <p:spPr>
          <a:xfrm>
            <a:off x="8382305" y="724205"/>
            <a:ext cx="4762195" cy="4762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 &amp; </a:t>
            </a:r>
            <a:r>
              <a:rPr lang="en-US" sz="31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Mitigation</a:t>
            </a:r>
            <a:endParaRPr lang="en-US" sz="3100" dirty="0"/>
          </a:p>
        </p:txBody>
      </p:sp>
      <p:sp>
        <p:nvSpPr>
          <p:cNvPr id="8" name="Text 2"/>
          <p:cNvSpPr txBox="1"/>
          <p:nvPr/>
        </p:nvSpPr>
        <p:spPr>
          <a:xfrm>
            <a:off x="514807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strategies to neutralize project threats and ensure stability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71500" y="5695798"/>
            <a:ext cx="11048695" cy="780898"/>
          </a:xfrm>
          <a:prstGeom prst="roundRect">
            <a:avLst>
              <a:gd name="adj" fmla="val 3427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819302" y="5848502"/>
            <a:ext cx="15773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Residual Risk Level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6067044"/>
            <a:ext cx="1505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2438705" y="5934456"/>
            <a:ext cx="6117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(Safe)</a:t>
            </a:r>
            <a:endParaRPr lang="en-US" sz="800" dirty="0"/>
          </a:p>
        </p:txBody>
      </p:sp>
      <p:sp>
        <p:nvSpPr>
          <p:cNvPr id="13" name="Text 7"/>
          <p:cNvSpPr txBox="1"/>
          <p:nvPr/>
        </p:nvSpPr>
        <p:spPr>
          <a:xfrm>
            <a:off x="6635801" y="5934456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800" dirty="0"/>
          </a:p>
        </p:txBody>
      </p:sp>
      <p:sp>
        <p:nvSpPr>
          <p:cNvPr id="14" name="Text 8"/>
          <p:cNvSpPr txBox="1"/>
          <p:nvPr/>
        </p:nvSpPr>
        <p:spPr>
          <a:xfrm>
            <a:off x="10708538" y="5934456"/>
            <a:ext cx="7936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(Critical)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57300" y="6141110"/>
            <a:ext cx="133502" cy="1335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71500" y="1543507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71500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3267151" y="1543507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933602" y="1765706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771754" y="1789481"/>
            <a:ext cx="105156" cy="9509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71754" y="198516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6851" y="2080260"/>
            <a:ext cx="152705" cy="152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71754" y="242316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Overrun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771754" y="2685593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Uncontrolled budget expansion due to material price volatility and scope creep.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3286354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3638398" y="1765706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3476549" y="1789481"/>
            <a:ext cx="105156" cy="9509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3476549" y="198516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3590849" y="2080260"/>
            <a:ext cx="114300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3476549" y="242316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Price Contract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3476549" y="2685593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Lump-sum agreement locks in costs, transferring financial risk to the contractor.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6191402" y="1543507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91402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8887054" y="1543507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6553505" y="1852574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6391656" y="1876349"/>
            <a:ext cx="105156" cy="95098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391656" y="2072030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6467551" y="2167128"/>
            <a:ext cx="190195" cy="152705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391656" y="2510028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Equipment Failure</a:t>
            </a:r>
            <a:endParaRPr lang="en-US" sz="1300" dirty="0"/>
          </a:p>
        </p:txBody>
      </p:sp>
      <p:sp>
        <p:nvSpPr>
          <p:cNvPr id="40" name="Text 27"/>
          <p:cNvSpPr txBox="1"/>
          <p:nvPr/>
        </p:nvSpPr>
        <p:spPr>
          <a:xfrm>
            <a:off x="6391656" y="2772461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machinery downtime leading to production bottlenecks.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8906256" y="1543507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9258300" y="1765706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9096451" y="1789481"/>
            <a:ext cx="105156" cy="95098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096451" y="198516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191549" y="2080260"/>
            <a:ext cx="152705" cy="15270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9096451" y="242316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Maintenance</a:t>
            </a:r>
            <a:endParaRPr lang="en-US" sz="1300" dirty="0"/>
          </a:p>
        </p:txBody>
      </p:sp>
      <p:sp>
        <p:nvSpPr>
          <p:cNvPr id="47" name="Text 32"/>
          <p:cNvSpPr txBox="1"/>
          <p:nvPr/>
        </p:nvSpPr>
        <p:spPr>
          <a:xfrm>
            <a:off x="9096451" y="2685593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IoT sensors detect anomalies early to schedule repairs without stoppage.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571500" y="3619195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34"/>
          <p:cNvSpPr/>
          <p:nvPr/>
        </p:nvSpPr>
        <p:spPr>
          <a:xfrm>
            <a:off x="571500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3267151" y="3619195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933602" y="3929177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771754" y="3952951"/>
            <a:ext cx="105156" cy="95098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771754" y="414771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847649" y="4243730"/>
            <a:ext cx="190195" cy="152705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771754" y="458663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Supply Disruption</a:t>
            </a:r>
            <a:endParaRPr lang="en-US" sz="1300" dirty="0"/>
          </a:p>
        </p:txBody>
      </p:sp>
      <p:sp>
        <p:nvSpPr>
          <p:cNvPr id="56" name="Text 39"/>
          <p:cNvSpPr txBox="1"/>
          <p:nvPr/>
        </p:nvSpPr>
        <p:spPr>
          <a:xfrm>
            <a:off x="771754" y="4849063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in raw material arrival or cold chain integrity breaches.</a:t>
            </a:r>
            <a:endParaRPr lang="en-US" sz="900" dirty="0"/>
          </a:p>
        </p:txBody>
      </p:sp>
      <p:sp>
        <p:nvSpPr>
          <p:cNvPr id="57" name="Shape 40"/>
          <p:cNvSpPr/>
          <p:nvPr/>
        </p:nvSpPr>
        <p:spPr>
          <a:xfrm>
            <a:off x="3286354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8" name="Text 41"/>
          <p:cNvSpPr txBox="1"/>
          <p:nvPr/>
        </p:nvSpPr>
        <p:spPr>
          <a:xfrm>
            <a:off x="3638398" y="3842309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3476549" y="3866083"/>
            <a:ext cx="105156" cy="95098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3476549" y="406176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6"/>
          <a:srcRect t="-180" b="-180"/>
          <a:stretch/>
        </p:blipFill>
        <p:spPr>
          <a:xfrm>
            <a:off x="3552444" y="4156862"/>
            <a:ext cx="190195" cy="152705"/>
          </a:xfrm>
          <a:prstGeom prst="rect">
            <a:avLst/>
          </a:prstGeom>
        </p:spPr>
      </p:pic>
      <p:sp>
        <p:nvSpPr>
          <p:cNvPr id="62" name="Text 43"/>
          <p:cNvSpPr txBox="1"/>
          <p:nvPr/>
        </p:nvSpPr>
        <p:spPr>
          <a:xfrm>
            <a:off x="3476549" y="4499762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Blockchain Tracking</a:t>
            </a:r>
            <a:endParaRPr lang="en-US" sz="1300" dirty="0"/>
          </a:p>
        </p:txBody>
      </p:sp>
      <p:sp>
        <p:nvSpPr>
          <p:cNvPr id="63" name="Text 44"/>
          <p:cNvSpPr txBox="1"/>
          <p:nvPr/>
        </p:nvSpPr>
        <p:spPr>
          <a:xfrm>
            <a:off x="3476549" y="4762195"/>
            <a:ext cx="24003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ledger visibility and multi-source vendor strategy ensure continuity.</a:t>
            </a:r>
            <a:endParaRPr lang="en-US" sz="900" dirty="0"/>
          </a:p>
        </p:txBody>
      </p:sp>
      <p:sp>
        <p:nvSpPr>
          <p:cNvPr id="64" name="Shape 45"/>
          <p:cNvSpPr/>
          <p:nvPr/>
        </p:nvSpPr>
        <p:spPr>
          <a:xfrm>
            <a:off x="6191402" y="3619195"/>
            <a:ext cx="5429707" cy="1886407"/>
          </a:xfrm>
          <a:prstGeom prst="roundRect">
            <a:avLst>
              <a:gd name="adj" fmla="val 5876"/>
            </a:avLst>
          </a:prstGeom>
          <a:solidFill>
            <a:srgbClr val="02081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5" name="Shape 46"/>
          <p:cNvSpPr/>
          <p:nvPr/>
        </p:nvSpPr>
        <p:spPr>
          <a:xfrm>
            <a:off x="6191402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EF4444">
              <a:alpha val="8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8887054" y="3619195"/>
            <a:ext cx="9144" cy="1867205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48"/>
          <p:cNvSpPr txBox="1"/>
          <p:nvPr/>
        </p:nvSpPr>
        <p:spPr>
          <a:xfrm>
            <a:off x="6553505" y="3929177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RISK</a:t>
            </a:r>
            <a:endParaRPr lang="en-US" sz="800" dirty="0"/>
          </a:p>
        </p:txBody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9"/>
          <a:srcRect l="-5288" r="-5288"/>
          <a:stretch/>
        </p:blipFill>
        <p:spPr>
          <a:xfrm>
            <a:off x="6391656" y="3952951"/>
            <a:ext cx="105156" cy="95098"/>
          </a:xfrm>
          <a:prstGeom prst="rect">
            <a:avLst/>
          </a:prstGeom>
        </p:spPr>
      </p:pic>
      <p:sp>
        <p:nvSpPr>
          <p:cNvPr id="69" name="Shape 49"/>
          <p:cNvSpPr/>
          <p:nvPr/>
        </p:nvSpPr>
        <p:spPr>
          <a:xfrm>
            <a:off x="6391656" y="414771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486754" y="4243730"/>
            <a:ext cx="152705" cy="152705"/>
          </a:xfrm>
          <a:prstGeom prst="rect">
            <a:avLst/>
          </a:prstGeom>
        </p:spPr>
      </p:pic>
      <p:sp>
        <p:nvSpPr>
          <p:cNvPr id="71" name="Text 50"/>
          <p:cNvSpPr txBox="1"/>
          <p:nvPr/>
        </p:nvSpPr>
        <p:spPr>
          <a:xfrm>
            <a:off x="6391656" y="458663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Non-Compliance</a:t>
            </a:r>
            <a:endParaRPr lang="en-US" sz="1300" dirty="0"/>
          </a:p>
        </p:txBody>
      </p:sp>
      <p:sp>
        <p:nvSpPr>
          <p:cNvPr id="72" name="Text 51"/>
          <p:cNvSpPr txBox="1"/>
          <p:nvPr/>
        </p:nvSpPr>
        <p:spPr>
          <a:xfrm>
            <a:off x="6391656" y="4849063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to meet strict international food safety and export standards.</a:t>
            </a:r>
            <a:endParaRPr lang="en-US" sz="900" dirty="0"/>
          </a:p>
        </p:txBody>
      </p:sp>
      <p:sp>
        <p:nvSpPr>
          <p:cNvPr id="73" name="Shape 52"/>
          <p:cNvSpPr/>
          <p:nvPr/>
        </p:nvSpPr>
        <p:spPr>
          <a:xfrm>
            <a:off x="8906256" y="3619195"/>
            <a:ext cx="2714854" cy="1886407"/>
          </a:xfrm>
          <a:prstGeom prst="roundRect">
            <a:avLst>
              <a:gd name="adj" fmla="val 5876"/>
            </a:avLst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74" name="Text 53"/>
          <p:cNvSpPr txBox="1"/>
          <p:nvPr/>
        </p:nvSpPr>
        <p:spPr>
          <a:xfrm>
            <a:off x="9258300" y="3929177"/>
            <a:ext cx="22558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MITIGATION</a:t>
            </a:r>
            <a:endParaRPr lang="en-US" sz="800" dirty="0"/>
          </a:p>
        </p:txBody>
      </p:sp>
      <p:pic>
        <p:nvPicPr>
          <p:cNvPr id="75" name="Image 19" descr="preencoded.png"/>
          <p:cNvPicPr>
            <a:picLocks noChangeAspect="1"/>
          </p:cNvPicPr>
          <p:nvPr/>
        </p:nvPicPr>
        <p:blipFill>
          <a:blip r:embed="rId11"/>
          <a:srcRect l="-5288" r="-5288"/>
          <a:stretch/>
        </p:blipFill>
        <p:spPr>
          <a:xfrm>
            <a:off x="9096451" y="3952951"/>
            <a:ext cx="105156" cy="95098"/>
          </a:xfrm>
          <a:prstGeom prst="rect">
            <a:avLst/>
          </a:prstGeom>
        </p:spPr>
      </p:pic>
      <p:sp>
        <p:nvSpPr>
          <p:cNvPr id="76" name="Shape 54"/>
          <p:cNvSpPr/>
          <p:nvPr/>
        </p:nvSpPr>
        <p:spPr>
          <a:xfrm>
            <a:off x="9096451" y="414771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20" descr="preencoded.png"/>
          <p:cNvPicPr>
            <a:picLocks noChangeAspect="1"/>
          </p:cNvPicPr>
          <p:nvPr/>
        </p:nvPicPr>
        <p:blipFill>
          <a:blip r:embed="rId18"/>
          <a:srcRect t="-180" b="-180"/>
          <a:stretch/>
        </p:blipFill>
        <p:spPr>
          <a:xfrm>
            <a:off x="9172346" y="4243730"/>
            <a:ext cx="190195" cy="152705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9096451" y="4586630"/>
            <a:ext cx="2417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Auto-Inspection</a:t>
            </a:r>
            <a:endParaRPr lang="en-US" sz="1300" dirty="0"/>
          </a:p>
        </p:txBody>
      </p:sp>
      <p:sp>
        <p:nvSpPr>
          <p:cNvPr id="79" name="Text 56"/>
          <p:cNvSpPr txBox="1"/>
          <p:nvPr/>
        </p:nvSpPr>
        <p:spPr>
          <a:xfrm>
            <a:off x="9096451" y="4849063"/>
            <a:ext cx="24003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QC systems achieve 99.9% defect detection accuracy.</a:t>
            </a:r>
            <a:endParaRPr lang="en-US" sz="900" dirty="0"/>
          </a:p>
        </p:txBody>
      </p:sp>
      <p:pic>
        <p:nvPicPr>
          <p:cNvPr id="80" name="Image 21" descr="preencoded.png"/>
          <p:cNvPicPr>
            <a:picLocks noChangeAspect="1"/>
          </p:cNvPicPr>
          <p:nvPr/>
        </p:nvPicPr>
        <p:blipFill>
          <a:blip r:embed="rId19"/>
          <a:srcRect l="-1" r="-1"/>
          <a:stretch/>
        </p:blipFill>
        <p:spPr>
          <a:xfrm>
            <a:off x="2438705" y="6124651"/>
            <a:ext cx="8934602" cy="114300"/>
          </a:xfrm>
          <a:prstGeom prst="rect">
            <a:avLst/>
          </a:prstGeom>
        </p:spPr>
      </p:pic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20"/>
          <a:srcRect l="-3" r="-3"/>
          <a:stretch/>
        </p:blipFill>
        <p:spPr>
          <a:xfrm>
            <a:off x="2438705" y="6124651"/>
            <a:ext cx="2978201" cy="114300"/>
          </a:xfrm>
          <a:prstGeom prst="rect">
            <a:avLst/>
          </a:prstGeom>
        </p:spPr>
      </p:pic>
      <p:pic>
        <p:nvPicPr>
          <p:cNvPr id="82" name="Image 23" descr="preencoded.png"/>
          <p:cNvPicPr>
            <a:picLocks noChangeAspect="1"/>
          </p:cNvPicPr>
          <p:nvPr/>
        </p:nvPicPr>
        <p:blipFill>
          <a:blip r:embed="rId21">
            <a:alphaModFix amt="20000"/>
          </a:blip>
          <a:srcRect/>
          <a:stretch/>
        </p:blipFill>
        <p:spPr>
          <a:xfrm>
            <a:off x="5416906" y="6124651"/>
            <a:ext cx="2978201" cy="114300"/>
          </a:xfrm>
          <a:prstGeom prst="rect">
            <a:avLst/>
          </a:prstGeom>
        </p:spPr>
      </p:pic>
      <p:pic>
        <p:nvPicPr>
          <p:cNvPr id="83" name="Image 24" descr="preencoded.png"/>
          <p:cNvPicPr>
            <a:picLocks noChangeAspect="1"/>
          </p:cNvPicPr>
          <p:nvPr/>
        </p:nvPicPr>
        <p:blipFill>
          <a:blip r:embed="rId22">
            <a:alphaModFix amt="20000"/>
          </a:blip>
          <a:srcRect/>
          <a:stretch/>
        </p:blipFill>
        <p:spPr>
          <a:xfrm>
            <a:off x="8395106" y="6124651"/>
            <a:ext cx="2978201" cy="114300"/>
          </a:xfrm>
          <a:prstGeom prst="rect">
            <a:avLst/>
          </a:prstGeom>
        </p:spPr>
      </p:pic>
      <p:pic>
        <p:nvPicPr>
          <p:cNvPr id="84" name="Image 25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172054" y="2371954"/>
            <a:ext cx="228600" cy="228600"/>
          </a:xfrm>
          <a:prstGeom prst="rect">
            <a:avLst/>
          </a:prstGeom>
        </p:spPr>
      </p:pic>
      <p:pic>
        <p:nvPicPr>
          <p:cNvPr id="85" name="Image 26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3258007" y="2438705"/>
            <a:ext cx="57607" cy="95098"/>
          </a:xfrm>
          <a:prstGeom prst="rect">
            <a:avLst/>
          </a:prstGeom>
        </p:spPr>
      </p:pic>
      <p:pic>
        <p:nvPicPr>
          <p:cNvPr id="86" name="Image 27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791956" y="2371954"/>
            <a:ext cx="228600" cy="228600"/>
          </a:xfrm>
          <a:prstGeom prst="rect">
            <a:avLst/>
          </a:prstGeom>
        </p:spPr>
      </p:pic>
      <p:pic>
        <p:nvPicPr>
          <p:cNvPr id="87" name="Image 28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8876995" y="2438705"/>
            <a:ext cx="57607" cy="95098"/>
          </a:xfrm>
          <a:prstGeom prst="rect">
            <a:avLst/>
          </a:prstGeom>
        </p:spPr>
      </p:pic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172054" y="4448556"/>
            <a:ext cx="228600" cy="228600"/>
          </a:xfrm>
          <a:prstGeom prst="rect">
            <a:avLst/>
          </a:prstGeom>
        </p:spPr>
      </p:pic>
      <p:pic>
        <p:nvPicPr>
          <p:cNvPr id="89" name="Image 30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3258007" y="4515307"/>
            <a:ext cx="57607" cy="95098"/>
          </a:xfrm>
          <a:prstGeom prst="rect">
            <a:avLst/>
          </a:prstGeom>
        </p:spPr>
      </p:pic>
      <p:pic>
        <p:nvPicPr>
          <p:cNvPr id="90" name="Image 3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791956" y="4448556"/>
            <a:ext cx="228600" cy="228600"/>
          </a:xfrm>
          <a:prstGeom prst="rect">
            <a:avLst/>
          </a:prstGeom>
        </p:spPr>
      </p:pic>
      <p:pic>
        <p:nvPicPr>
          <p:cNvPr id="91" name="Image 32" descr="preencoded.png"/>
          <p:cNvPicPr>
            <a:picLocks noChangeAspect="1"/>
          </p:cNvPicPr>
          <p:nvPr/>
        </p:nvPicPr>
        <p:blipFill>
          <a:blip r:embed="rId24"/>
          <a:srcRect t="-1587" b="-1587"/>
          <a:stretch/>
        </p:blipFill>
        <p:spPr>
          <a:xfrm>
            <a:off x="8876995" y="4515307"/>
            <a:ext cx="57607" cy="95098"/>
          </a:xfrm>
          <a:prstGeom prst="rect">
            <a:avLst/>
          </a:prstGeom>
        </p:spPr>
      </p:pic>
      <p:sp>
        <p:nvSpPr>
          <p:cNvPr id="92" name="Text 57"/>
          <p:cNvSpPr txBox="1"/>
          <p:nvPr/>
        </p:nvSpPr>
        <p:spPr>
          <a:xfrm>
            <a:off x="11313871" y="6344107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6476695" y="952805"/>
            <a:ext cx="3810305" cy="381030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904695" y="2095805"/>
            <a:ext cx="3810305" cy="38103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38805" y="838505"/>
            <a:ext cx="5715000" cy="5715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476402" y="286207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Sustainability &amp; </a:t>
            </a:r>
            <a:r>
              <a:rPr lang="en-US" sz="3100" b="1" kern="0" spc="-75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Waste</a:t>
            </a:r>
            <a:endParaRPr lang="en-US" sz="3100" dirty="0"/>
          </a:p>
        </p:txBody>
      </p:sp>
      <p:sp>
        <p:nvSpPr>
          <p:cNvPr id="9" name="Text 2"/>
          <p:cNvSpPr txBox="1"/>
          <p:nvPr/>
        </p:nvSpPr>
        <p:spPr>
          <a:xfrm>
            <a:off x="514807" y="933602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impact targets and circular economy initiatives</a:t>
            </a:r>
            <a:endParaRPr lang="en-US" sz="12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238598" y="2838298"/>
            <a:ext cx="1714500" cy="171450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 rot="5700000">
            <a:off x="5143500" y="2743200"/>
            <a:ext cx="1867205" cy="1867205"/>
          </a:xfrm>
          <a:prstGeom prst="ellipse">
            <a:avLst/>
          </a:prstGeom>
          <a:noFill/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5758891" y="3624682"/>
            <a:ext cx="676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5673852" y="4052621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2030</a:t>
            </a:r>
            <a:endParaRPr lang="en-US" sz="8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05195" y="3195828"/>
            <a:ext cx="381305" cy="381305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1143000" y="154350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7"/>
          <p:cNvSpPr/>
          <p:nvPr/>
        </p:nvSpPr>
        <p:spPr>
          <a:xfrm>
            <a:off x="1143000" y="154350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Shape 8"/>
          <p:cNvSpPr/>
          <p:nvPr/>
        </p:nvSpPr>
        <p:spPr>
          <a:xfrm>
            <a:off x="1314907" y="181325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4B8A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23721" y="1946758"/>
            <a:ext cx="237744" cy="19019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914754" y="1695298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 Packaging</a:t>
            </a:r>
            <a:endParaRPr lang="en-US" sz="1200" dirty="0"/>
          </a:p>
        </p:txBody>
      </p:sp>
      <p:sp>
        <p:nvSpPr>
          <p:cNvPr id="20" name="Text 10"/>
          <p:cNvSpPr txBox="1"/>
          <p:nvPr/>
        </p:nvSpPr>
        <p:spPr>
          <a:xfrm>
            <a:off x="1914754" y="1923898"/>
            <a:ext cx="1390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1800" dirty="0"/>
          </a:p>
        </p:txBody>
      </p:sp>
      <p:sp>
        <p:nvSpPr>
          <p:cNvPr id="21" name="Text 11"/>
          <p:cNvSpPr txBox="1"/>
          <p:nvPr/>
        </p:nvSpPr>
        <p:spPr>
          <a:xfrm>
            <a:off x="1914754" y="2217420"/>
            <a:ext cx="1564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Biodegradable materials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8572500" y="154350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11020349" y="154350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10420502" y="181325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10563149" y="1946758"/>
            <a:ext cx="171907" cy="19019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857793" y="1695298"/>
            <a:ext cx="1421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 Reduction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8946490" y="1923898"/>
            <a:ext cx="1334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40%</a:t>
            </a:r>
            <a:endParaRPr lang="en-US" sz="1800" dirty="0"/>
          </a:p>
        </p:txBody>
      </p:sp>
      <p:sp>
        <p:nvSpPr>
          <p:cNvPr id="28" name="Text 17"/>
          <p:cNvSpPr txBox="1"/>
          <p:nvPr/>
        </p:nvSpPr>
        <p:spPr>
          <a:xfrm>
            <a:off x="8789213" y="2217420"/>
            <a:ext cx="14904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landfill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1143000" y="446958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1143000" y="446958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1314907" y="473933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1457554" y="4872838"/>
            <a:ext cx="171907" cy="19019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914754" y="4621378"/>
            <a:ext cx="1541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1914754" y="4849978"/>
            <a:ext cx="1371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30%</a:t>
            </a:r>
            <a:endParaRPr lang="en-US" sz="1800" dirty="0"/>
          </a:p>
        </p:txBody>
      </p:sp>
      <p:sp>
        <p:nvSpPr>
          <p:cNvPr id="35" name="Text 23"/>
          <p:cNvSpPr txBox="1"/>
          <p:nvPr/>
        </p:nvSpPr>
        <p:spPr>
          <a:xfrm>
            <a:off x="1914754" y="5143500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kWh per unit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8572500" y="4469587"/>
            <a:ext cx="2476195" cy="1000354"/>
          </a:xfrm>
          <a:prstGeom prst="roundRect">
            <a:avLst>
              <a:gd name="adj" fmla="val 2089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11020349" y="4469587"/>
            <a:ext cx="28346" cy="1000354"/>
          </a:xfrm>
          <a:prstGeom prst="roundRect">
            <a:avLst>
              <a:gd name="adj" fmla="val 737338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10420502" y="473933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577779" y="4872838"/>
            <a:ext cx="142646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8581644" y="4621378"/>
            <a:ext cx="1704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Water Conservation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8761781" y="4849978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35%</a:t>
            </a:r>
            <a:endParaRPr lang="en-US" sz="1800" dirty="0"/>
          </a:p>
        </p:txBody>
      </p:sp>
      <p:sp>
        <p:nvSpPr>
          <p:cNvPr id="42" name="Text 29"/>
          <p:cNvSpPr txBox="1"/>
          <p:nvPr/>
        </p:nvSpPr>
        <p:spPr>
          <a:xfrm>
            <a:off x="8761781" y="5143500"/>
            <a:ext cx="1524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recycling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2723998" y="6229807"/>
            <a:ext cx="1809598" cy="342900"/>
          </a:xfrm>
          <a:prstGeom prst="roundRect">
            <a:avLst>
              <a:gd name="adj" fmla="val 26666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5"/>
          <a:srcRect t="-100" b="-100"/>
          <a:stretch/>
        </p:blipFill>
        <p:spPr>
          <a:xfrm>
            <a:off x="2885846" y="6324905"/>
            <a:ext cx="114300" cy="152705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3096158" y="6229807"/>
            <a:ext cx="1334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ISO 14001 Certified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4815230" y="6229807"/>
            <a:ext cx="2391156" cy="342900"/>
          </a:xfrm>
          <a:prstGeom prst="roundRect">
            <a:avLst>
              <a:gd name="adj" fmla="val 26666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977079" y="6324905"/>
            <a:ext cx="152705" cy="15270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5224882" y="6229807"/>
            <a:ext cx="18928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Carbon Neutral Operation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7489850" y="6229807"/>
            <a:ext cx="1981505" cy="342900"/>
          </a:xfrm>
          <a:prstGeom prst="roundRect">
            <a:avLst>
              <a:gd name="adj" fmla="val 26666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7"/>
          <a:srcRect t="-180" b="-180"/>
          <a:stretch/>
        </p:blipFill>
        <p:spPr>
          <a:xfrm>
            <a:off x="7651699" y="6324905"/>
            <a:ext cx="190195" cy="15270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7937906" y="6229807"/>
            <a:ext cx="1429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Fair Trade Sourcing</a:t>
            </a:r>
            <a:endParaRPr lang="en-US" sz="900" dirty="0"/>
          </a:p>
        </p:txBody>
      </p:sp>
      <p:sp>
        <p:nvSpPr>
          <p:cNvPr id="52" name="Text 36"/>
          <p:cNvSpPr txBox="1"/>
          <p:nvPr/>
        </p:nvSpPr>
        <p:spPr>
          <a:xfrm>
            <a:off x="11290097" y="6344107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-1429207" y="-1429207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15000"/>
          </a:blip>
          <a:srcRect/>
          <a:stretch/>
        </p:blipFill>
        <p:spPr>
          <a:xfrm>
            <a:off x="7905902" y="2572207"/>
            <a:ext cx="5715000" cy="57150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4876495" y="2743200"/>
            <a:ext cx="2857500" cy="28575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571500" y="381305"/>
            <a:ext cx="66394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Performance </a:t>
            </a:r>
            <a:r>
              <a:rPr lang="en-US" sz="31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Indicators</a:t>
            </a:r>
            <a:endParaRPr lang="en-US" sz="3100" dirty="0"/>
          </a:p>
        </p:txBody>
      </p:sp>
      <p:sp>
        <p:nvSpPr>
          <p:cNvPr id="9" name="Text 2"/>
          <p:cNvSpPr txBox="1"/>
          <p:nvPr/>
        </p:nvSpPr>
        <p:spPr>
          <a:xfrm>
            <a:off x="571500" y="868680"/>
            <a:ext cx="547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operational metrics at full capacity</a:t>
            </a:r>
            <a:endParaRPr lang="en-US" sz="1200" dirty="0"/>
          </a:p>
        </p:txBody>
      </p:sp>
      <p:sp>
        <p:nvSpPr>
          <p:cNvPr id="10" name="Shape 3"/>
          <p:cNvSpPr/>
          <p:nvPr/>
        </p:nvSpPr>
        <p:spPr>
          <a:xfrm>
            <a:off x="9676181" y="754380"/>
            <a:ext cx="1952244" cy="342900"/>
          </a:xfrm>
          <a:prstGeom prst="roundRect">
            <a:avLst>
              <a:gd name="adj" fmla="val 26666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1" name="Text 4"/>
          <p:cNvSpPr txBox="1"/>
          <p:nvPr/>
        </p:nvSpPr>
        <p:spPr>
          <a:xfrm>
            <a:off x="9990734" y="840334"/>
            <a:ext cx="1552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10B981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LIVE DATA STREAM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39858" y="889711"/>
            <a:ext cx="72238" cy="72238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571500" y="1383487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571500" y="1383487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809244" y="1640434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Quality Accuracy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3521354" y="164043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06394" y="1726387"/>
            <a:ext cx="171907" cy="171907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09244" y="2125980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F5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0"/>
          <p:cNvSpPr txBox="1"/>
          <p:nvPr/>
        </p:nvSpPr>
        <p:spPr>
          <a:xfrm>
            <a:off x="951890" y="2630729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+14% vs Industry Std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rcRect l="-1358" r="-1358"/>
          <a:stretch/>
        </p:blipFill>
        <p:spPr>
          <a:xfrm>
            <a:off x="809244" y="2661818"/>
            <a:ext cx="95098" cy="123444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>
            <a:alphaModFix amt="20000"/>
          </a:blip>
          <a:srcRect/>
          <a:stretch/>
        </p:blipFill>
        <p:spPr>
          <a:xfrm>
            <a:off x="3140050" y="2853842"/>
            <a:ext cx="1143000" cy="114300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4330598" y="1383487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2"/>
          <p:cNvSpPr/>
          <p:nvPr/>
        </p:nvSpPr>
        <p:spPr>
          <a:xfrm>
            <a:off x="4330598" y="1383487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4568342" y="1640434"/>
            <a:ext cx="14246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 Diversion</a:t>
            </a:r>
            <a:endParaRPr lang="en-US" sz="1000" dirty="0"/>
          </a:p>
        </p:txBody>
      </p:sp>
      <p:sp>
        <p:nvSpPr>
          <p:cNvPr id="25" name="Shape 14"/>
          <p:cNvSpPr/>
          <p:nvPr/>
        </p:nvSpPr>
        <p:spPr>
          <a:xfrm>
            <a:off x="7280453" y="164043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66406" y="1726387"/>
            <a:ext cx="171907" cy="171907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4568342" y="2125980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B981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100%</a:t>
            </a:r>
            <a:endParaRPr lang="en-US" sz="3600" dirty="0"/>
          </a:p>
        </p:txBody>
      </p:sp>
      <p:sp>
        <p:nvSpPr>
          <p:cNvPr id="28" name="Text 16"/>
          <p:cNvSpPr txBox="1"/>
          <p:nvPr/>
        </p:nvSpPr>
        <p:spPr>
          <a:xfrm>
            <a:off x="4740250" y="2630729"/>
            <a:ext cx="3000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Target Achieved</a:t>
            </a:r>
            <a:endParaRPr lang="en-US" sz="9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68342" y="2661818"/>
            <a:ext cx="123444" cy="123444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5">
            <a:alphaModFix amt="15000"/>
          </a:blip>
          <a:srcRect/>
          <a:stretch/>
        </p:blipFill>
        <p:spPr>
          <a:xfrm>
            <a:off x="6994246" y="2948940"/>
            <a:ext cx="761695" cy="761695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8089697" y="1383487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18"/>
          <p:cNvSpPr/>
          <p:nvPr/>
        </p:nvSpPr>
        <p:spPr>
          <a:xfrm>
            <a:off x="8089697" y="1383487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8328355" y="1640434"/>
            <a:ext cx="1334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 Markets</a:t>
            </a:r>
            <a:endParaRPr lang="en-US" sz="1000" dirty="0"/>
          </a:p>
        </p:txBody>
      </p:sp>
      <p:sp>
        <p:nvSpPr>
          <p:cNvPr id="34" name="Shape 20"/>
          <p:cNvSpPr/>
          <p:nvPr/>
        </p:nvSpPr>
        <p:spPr>
          <a:xfrm>
            <a:off x="11039551" y="164043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FD7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125505" y="1726387"/>
            <a:ext cx="171907" cy="171907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8328355" y="2125980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D7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50+</a:t>
            </a:r>
            <a:endParaRPr lang="en-US" sz="3600" dirty="0"/>
          </a:p>
        </p:txBody>
      </p:sp>
      <p:sp>
        <p:nvSpPr>
          <p:cNvPr id="37" name="Text 22"/>
          <p:cNvSpPr txBox="1"/>
          <p:nvPr/>
        </p:nvSpPr>
        <p:spPr>
          <a:xfrm>
            <a:off x="8528609" y="2630729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Active Destinations</a:t>
            </a:r>
            <a:endParaRPr lang="en-US" sz="9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7"/>
          <a:srcRect t="-524" b="-524"/>
          <a:stretch/>
        </p:blipFill>
        <p:spPr>
          <a:xfrm>
            <a:off x="8328355" y="2661818"/>
            <a:ext cx="152705" cy="123444"/>
          </a:xfrm>
          <a:prstGeom prst="rect">
            <a:avLst/>
          </a:prstGeom>
        </p:spPr>
      </p:pic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8">
            <a:alphaModFix amt="30000"/>
          </a:blip>
          <a:srcRect t="-16667" b="-16667"/>
          <a:stretch/>
        </p:blipFill>
        <p:spPr>
          <a:xfrm>
            <a:off x="10372954" y="3044038"/>
            <a:ext cx="1429207" cy="952805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571500" y="4044391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571500" y="4044391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BF00FF"/>
          </a:solidFill>
          <a:ln w="12700">
            <a:solidFill>
              <a:srgbClr val="BF00FF">
                <a:alpha val="0"/>
              </a:srgbClr>
            </a:solidFill>
            <a:prstDash val="solid"/>
          </a:ln>
        </p:spPr>
      </p:sp>
      <p:sp>
        <p:nvSpPr>
          <p:cNvPr id="42" name="Text 25"/>
          <p:cNvSpPr txBox="1"/>
          <p:nvPr/>
        </p:nvSpPr>
        <p:spPr>
          <a:xfrm>
            <a:off x="809244" y="4301338"/>
            <a:ext cx="14218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43" name="Shape 26"/>
          <p:cNvSpPr/>
          <p:nvPr/>
        </p:nvSpPr>
        <p:spPr>
          <a:xfrm>
            <a:off x="3521354" y="430133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BF00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606394" y="4387291"/>
            <a:ext cx="171907" cy="171907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809244" y="4786884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F00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40%</a:t>
            </a:r>
            <a:endParaRPr lang="en-US" sz="3600" dirty="0"/>
          </a:p>
        </p:txBody>
      </p:sp>
      <p:sp>
        <p:nvSpPr>
          <p:cNvPr id="46" name="Text 28"/>
          <p:cNvSpPr txBox="1"/>
          <p:nvPr/>
        </p:nvSpPr>
        <p:spPr>
          <a:xfrm>
            <a:off x="951890" y="5291633"/>
            <a:ext cx="3029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OpEx Reduction</a:t>
            </a:r>
            <a:endParaRPr lang="en-US" sz="90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20"/>
          <a:srcRect l="-1358" r="-1358"/>
          <a:stretch/>
        </p:blipFill>
        <p:spPr>
          <a:xfrm>
            <a:off x="809244" y="5322722"/>
            <a:ext cx="95098" cy="123444"/>
          </a:xfrm>
          <a:prstGeom prst="rect">
            <a:avLst/>
          </a:prstGeom>
        </p:spPr>
      </p:pic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21"/>
          <a:srcRect l="-174" r="-174"/>
          <a:stretch/>
        </p:blipFill>
        <p:spPr>
          <a:xfrm>
            <a:off x="809244" y="6090818"/>
            <a:ext cx="610819" cy="99670"/>
          </a:xfrm>
          <a:prstGeom prst="rect">
            <a:avLst/>
          </a:prstGeom>
        </p:spPr>
      </p:pic>
      <p:sp>
        <p:nvSpPr>
          <p:cNvPr id="49" name="Shape 29"/>
          <p:cNvSpPr/>
          <p:nvPr/>
        </p:nvSpPr>
        <p:spPr>
          <a:xfrm>
            <a:off x="1467612" y="6024982"/>
            <a:ext cx="619049" cy="171907"/>
          </a:xfrm>
          <a:prstGeom prst="roundRect">
            <a:avLst>
              <a:gd name="adj" fmla="val 236407"/>
            </a:avLst>
          </a:prstGeom>
          <a:solidFill>
            <a:srgbClr val="BF00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30"/>
          <p:cNvSpPr/>
          <p:nvPr/>
        </p:nvSpPr>
        <p:spPr>
          <a:xfrm>
            <a:off x="2126894" y="5958230"/>
            <a:ext cx="619049" cy="237744"/>
          </a:xfrm>
          <a:prstGeom prst="roundRect">
            <a:avLst>
              <a:gd name="adj" fmla="val 123077"/>
            </a:avLst>
          </a:prstGeom>
          <a:solidFill>
            <a:srgbClr val="BF00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31"/>
          <p:cNvSpPr/>
          <p:nvPr/>
        </p:nvSpPr>
        <p:spPr>
          <a:xfrm>
            <a:off x="2785262" y="5857646"/>
            <a:ext cx="619049" cy="333756"/>
          </a:xfrm>
          <a:prstGeom prst="roundRect">
            <a:avLst>
              <a:gd name="adj" fmla="val 62622"/>
            </a:avLst>
          </a:prstGeom>
          <a:solidFill>
            <a:srgbClr val="BF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32"/>
          <p:cNvSpPr/>
          <p:nvPr/>
        </p:nvSpPr>
        <p:spPr>
          <a:xfrm>
            <a:off x="4330598" y="4044391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Shape 33"/>
          <p:cNvSpPr/>
          <p:nvPr/>
        </p:nvSpPr>
        <p:spPr>
          <a:xfrm>
            <a:off x="4330598" y="4044391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4" name="Text 34"/>
          <p:cNvSpPr txBox="1"/>
          <p:nvPr/>
        </p:nvSpPr>
        <p:spPr>
          <a:xfrm>
            <a:off x="4568342" y="4301338"/>
            <a:ext cx="609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Uptime</a:t>
            </a:r>
            <a:endParaRPr lang="en-US" sz="1000" dirty="0"/>
          </a:p>
        </p:txBody>
      </p:sp>
      <p:sp>
        <p:nvSpPr>
          <p:cNvPr id="55" name="Shape 35"/>
          <p:cNvSpPr/>
          <p:nvPr/>
        </p:nvSpPr>
        <p:spPr>
          <a:xfrm>
            <a:off x="7280453" y="430133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22"/>
          <a:srcRect l="-1064" r="-1064"/>
          <a:stretch/>
        </p:blipFill>
        <p:spPr>
          <a:xfrm>
            <a:off x="7341718" y="4387291"/>
            <a:ext cx="219456" cy="171907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4568342" y="4786884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9E0B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24/7</a:t>
            </a:r>
            <a:endParaRPr lang="en-US" sz="3600" dirty="0"/>
          </a:p>
        </p:txBody>
      </p:sp>
      <p:sp>
        <p:nvSpPr>
          <p:cNvPr id="58" name="Text 37"/>
          <p:cNvSpPr txBox="1"/>
          <p:nvPr/>
        </p:nvSpPr>
        <p:spPr>
          <a:xfrm>
            <a:off x="4721047" y="5291633"/>
            <a:ext cx="30193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Continuous Ops</a:t>
            </a:r>
            <a:endParaRPr lang="en-US" sz="900" dirty="0"/>
          </a:p>
        </p:txBody>
      </p:sp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23"/>
          <a:srcRect t="-1359" b="-1359"/>
          <a:stretch/>
        </p:blipFill>
        <p:spPr>
          <a:xfrm>
            <a:off x="4568342" y="5322722"/>
            <a:ext cx="105156" cy="123444"/>
          </a:xfrm>
          <a:prstGeom prst="rect">
            <a:avLst/>
          </a:prstGeom>
        </p:spPr>
      </p:pic>
      <p:sp>
        <p:nvSpPr>
          <p:cNvPr id="60" name="Shape 38"/>
          <p:cNvSpPr/>
          <p:nvPr/>
        </p:nvSpPr>
        <p:spPr>
          <a:xfrm>
            <a:off x="4643323" y="6086246"/>
            <a:ext cx="95098" cy="95098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39"/>
          <p:cNvSpPr/>
          <p:nvPr/>
        </p:nvSpPr>
        <p:spPr>
          <a:xfrm>
            <a:off x="5345582" y="6038698"/>
            <a:ext cx="95098" cy="190195"/>
          </a:xfrm>
          <a:prstGeom prst="roundRect">
            <a:avLst>
              <a:gd name="adj" fmla="val 96153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40"/>
          <p:cNvSpPr/>
          <p:nvPr/>
        </p:nvSpPr>
        <p:spPr>
          <a:xfrm>
            <a:off x="6047842" y="6062472"/>
            <a:ext cx="95098" cy="142646"/>
          </a:xfrm>
          <a:prstGeom prst="roundRect">
            <a:avLst>
              <a:gd name="adj" fmla="val 96153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1"/>
          <p:cNvSpPr/>
          <p:nvPr/>
        </p:nvSpPr>
        <p:spPr>
          <a:xfrm>
            <a:off x="6750101" y="6014923"/>
            <a:ext cx="95098" cy="237744"/>
          </a:xfrm>
          <a:prstGeom prst="roundRect">
            <a:avLst>
              <a:gd name="adj" fmla="val 961534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42"/>
          <p:cNvSpPr/>
          <p:nvPr/>
        </p:nvSpPr>
        <p:spPr>
          <a:xfrm>
            <a:off x="7453274" y="6086246"/>
            <a:ext cx="95098" cy="95098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43"/>
          <p:cNvSpPr/>
          <p:nvPr/>
        </p:nvSpPr>
        <p:spPr>
          <a:xfrm>
            <a:off x="8089697" y="4044391"/>
            <a:ext cx="3534156" cy="2438705"/>
          </a:xfrm>
          <a:prstGeom prst="roundRect">
            <a:avLst>
              <a:gd name="adj" fmla="val 468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6" name="Shape 44"/>
          <p:cNvSpPr/>
          <p:nvPr/>
        </p:nvSpPr>
        <p:spPr>
          <a:xfrm>
            <a:off x="8089697" y="4044391"/>
            <a:ext cx="3534156" cy="28346"/>
          </a:xfrm>
          <a:prstGeom prst="roundRect">
            <a:avLst>
              <a:gd name="adj" fmla="val 403231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7" name="Text 45"/>
          <p:cNvSpPr txBox="1"/>
          <p:nvPr/>
        </p:nvSpPr>
        <p:spPr>
          <a:xfrm>
            <a:off x="8328355" y="4301338"/>
            <a:ext cx="11375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68" name="Shape 46"/>
          <p:cNvSpPr/>
          <p:nvPr/>
        </p:nvSpPr>
        <p:spPr>
          <a:xfrm>
            <a:off x="11039551" y="430133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24"/>
          <a:srcRect l="-1064" r="-1064"/>
          <a:stretch/>
        </p:blipFill>
        <p:spPr>
          <a:xfrm>
            <a:off x="11100816" y="4387291"/>
            <a:ext cx="219456" cy="171907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8328355" y="4786884"/>
            <a:ext cx="3248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4899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100%</a:t>
            </a:r>
            <a:endParaRPr lang="en-US" sz="3600" dirty="0"/>
          </a:p>
        </p:txBody>
      </p:sp>
      <p:sp>
        <p:nvSpPr>
          <p:cNvPr id="71" name="Text 48"/>
          <p:cNvSpPr txBox="1"/>
          <p:nvPr/>
        </p:nvSpPr>
        <p:spPr>
          <a:xfrm>
            <a:off x="8481060" y="5291633"/>
            <a:ext cx="30193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Blockchain Verified</a:t>
            </a:r>
            <a:endParaRPr lang="en-US" sz="900" dirty="0"/>
          </a:p>
        </p:txBody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25"/>
          <a:srcRect t="-1359" b="-1359"/>
          <a:stretch/>
        </p:blipFill>
        <p:spPr>
          <a:xfrm>
            <a:off x="8328355" y="5322722"/>
            <a:ext cx="105156" cy="123444"/>
          </a:xfrm>
          <a:prstGeom prst="rect">
            <a:avLst/>
          </a:prstGeom>
        </p:spPr>
      </p:pic>
      <p:pic>
        <p:nvPicPr>
          <p:cNvPr id="73" name="Image 22" descr="preencoded.png"/>
          <p:cNvPicPr>
            <a:picLocks noChangeAspect="1"/>
          </p:cNvPicPr>
          <p:nvPr/>
        </p:nvPicPr>
        <p:blipFill>
          <a:blip r:embed="rId26">
            <a:alphaModFix amt="10000"/>
          </a:blip>
          <a:srcRect t="-12500" b="-12500"/>
          <a:stretch/>
        </p:blipFill>
        <p:spPr>
          <a:xfrm>
            <a:off x="10561320" y="5344668"/>
            <a:ext cx="1285646" cy="1285646"/>
          </a:xfrm>
          <a:prstGeom prst="rect">
            <a:avLst/>
          </a:prstGeom>
        </p:spPr>
      </p:pic>
      <p:sp>
        <p:nvSpPr>
          <p:cNvPr id="74" name="Text 49"/>
          <p:cNvSpPr txBox="1"/>
          <p:nvPr/>
        </p:nvSpPr>
        <p:spPr>
          <a:xfrm>
            <a:off x="11289182" y="6344107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15000"/>
          </a:blip>
          <a:srcRect/>
          <a:stretch/>
        </p:blipFill>
        <p:spPr>
          <a:xfrm>
            <a:off x="-1218895" y="1371600"/>
            <a:ext cx="4762195" cy="47621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4876495" y="-685800"/>
            <a:ext cx="3810305" cy="381030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>
            <a:alphaModFix amt="15000"/>
          </a:blip>
          <a:srcRect/>
          <a:stretch/>
        </p:blipFill>
        <p:spPr>
          <a:xfrm>
            <a:off x="8648395" y="1410005"/>
            <a:ext cx="4762195" cy="476219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2438705" y="1371600"/>
            <a:ext cx="28346" cy="28346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9753905" y="4800600"/>
            <a:ext cx="38405" cy="38405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8515807" y="2743200"/>
            <a:ext cx="19202" cy="19202"/>
          </a:xfrm>
          <a:prstGeom prst="ellipse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4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</a:t>
            </a:r>
            <a:r>
              <a:rPr lang="en-US" sz="3100" b="1" kern="0" spc="-75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12" name="Text 5"/>
          <p:cNvSpPr txBox="1"/>
          <p:nvPr/>
        </p:nvSpPr>
        <p:spPr>
          <a:xfrm>
            <a:off x="514807" y="1028700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Summarizing the path to operational excellence and financial security</a:t>
            </a: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1390802" y="1733702"/>
            <a:ext cx="2857500" cy="3619195"/>
          </a:xfrm>
          <a:prstGeom prst="roundRect">
            <a:avLst>
              <a:gd name="adj" fmla="val 34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1390802" y="1733702"/>
            <a:ext cx="2857500" cy="38405"/>
          </a:xfrm>
          <a:prstGeom prst="roundRect">
            <a:avLst>
              <a:gd name="adj" fmla="val 253967"/>
            </a:avLst>
          </a:prstGeom>
          <a:solidFill>
            <a:srgbClr val="00F5FF"/>
          </a:solidFill>
          <a:ln w="12700">
            <a:solidFill>
              <a:srgbClr val="00F5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581351" y="2057400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00F5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704795" y="2180844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060143" y="2723998"/>
            <a:ext cx="15197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Facility</a:t>
            </a:r>
            <a:endParaRPr lang="en-US" sz="15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l="-2127" r="-2127"/>
          <a:stretch/>
        </p:blipFill>
        <p:spPr>
          <a:xfrm>
            <a:off x="2628900" y="3105302"/>
            <a:ext cx="381305" cy="9144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23644" y="3434486"/>
            <a:ext cx="114300" cy="1143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952244" y="3305556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automation for maximum throughput</a:t>
            </a:r>
            <a:endParaRPr lang="en-US" sz="10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23644" y="3951122"/>
            <a:ext cx="114300" cy="1143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952244" y="3821278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sensor network for real-time monitoring</a:t>
            </a:r>
            <a:endParaRPr lang="en-US" sz="10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23644" y="4466844"/>
            <a:ext cx="114300" cy="11430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1952244" y="4336999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reduces downtime</a:t>
            </a:r>
            <a:endParaRPr lang="en-US" sz="1000" dirty="0"/>
          </a:p>
        </p:txBody>
      </p:sp>
      <p:sp>
        <p:nvSpPr>
          <p:cNvPr id="25" name="Shape 13"/>
          <p:cNvSpPr/>
          <p:nvPr/>
        </p:nvSpPr>
        <p:spPr>
          <a:xfrm>
            <a:off x="7944307" y="1733702"/>
            <a:ext cx="2857500" cy="3619195"/>
          </a:xfrm>
          <a:prstGeom prst="roundRect">
            <a:avLst>
              <a:gd name="adj" fmla="val 341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7944307" y="1733702"/>
            <a:ext cx="2857500" cy="38405"/>
          </a:xfrm>
          <a:prstGeom prst="roundRect">
            <a:avLst>
              <a:gd name="adj" fmla="val 25396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Shape 15"/>
          <p:cNvSpPr/>
          <p:nvPr/>
        </p:nvSpPr>
        <p:spPr>
          <a:xfrm>
            <a:off x="9134856" y="2057400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58300" y="2180844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8656625" y="2723998"/>
            <a:ext cx="14401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Ready</a:t>
            </a:r>
            <a:endParaRPr lang="en-US" sz="15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3">
            <a:alphaModFix amt="50000"/>
          </a:blip>
          <a:srcRect l="-2127" r="-2127"/>
          <a:stretch/>
        </p:blipFill>
        <p:spPr>
          <a:xfrm>
            <a:off x="9182405" y="3105302"/>
            <a:ext cx="381305" cy="9144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77149" y="3434486"/>
            <a:ext cx="114300" cy="1143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8505749" y="3305556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waste &amp; sustainable operations</a:t>
            </a:r>
            <a:endParaRPr lang="en-US" sz="10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77149" y="3951122"/>
            <a:ext cx="114300" cy="11430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8505749" y="3821278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traceability for export trust</a:t>
            </a:r>
            <a:endParaRPr lang="en-US" sz="100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277149" y="4466844"/>
            <a:ext cx="114300" cy="11430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8505749" y="4336999"/>
            <a:ext cx="20391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with EU/US food safety standards</a:t>
            </a:r>
            <a:endParaRPr lang="en-US" sz="1000" dirty="0"/>
          </a:p>
        </p:txBody>
      </p:sp>
      <p:sp>
        <p:nvSpPr>
          <p:cNvPr id="37" name="Shape 20"/>
          <p:cNvSpPr/>
          <p:nvPr/>
        </p:nvSpPr>
        <p:spPr>
          <a:xfrm>
            <a:off x="571500" y="5829300"/>
            <a:ext cx="11048695" cy="761695"/>
          </a:xfrm>
          <a:prstGeom prst="roundRect">
            <a:avLst>
              <a:gd name="adj" fmla="val 3601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21"/>
          <p:cNvSpPr/>
          <p:nvPr/>
        </p:nvSpPr>
        <p:spPr>
          <a:xfrm>
            <a:off x="571500" y="6571793"/>
            <a:ext cx="11048695" cy="19202"/>
          </a:xfrm>
          <a:prstGeom prst="roundRect">
            <a:avLst>
              <a:gd name="adj" fmla="val 1428601"/>
            </a:avLst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580644" y="5838444"/>
            <a:ext cx="11030407" cy="733349"/>
          </a:xfrm>
          <a:prstGeom prst="roundRect">
            <a:avLst>
              <a:gd name="adj" fmla="val 38864"/>
            </a:avLst>
          </a:prstGeom>
          <a:solidFill>
            <a:srgbClr val="FFD70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61949" y="6072530"/>
            <a:ext cx="267005" cy="267005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1419149" y="5967374"/>
            <a:ext cx="6143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for Execution</a:t>
            </a:r>
            <a:endParaRPr lang="en-US" sz="1300" dirty="0"/>
          </a:p>
        </p:txBody>
      </p:sp>
      <p:sp>
        <p:nvSpPr>
          <p:cNvPr id="42" name="Text 24"/>
          <p:cNvSpPr txBox="1"/>
          <p:nvPr/>
        </p:nvSpPr>
        <p:spPr>
          <a:xfrm>
            <a:off x="1419149" y="6243523"/>
            <a:ext cx="6715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adopting the Fixed Price approach, we secure the foundation for a world-class smart facility.</a:t>
            </a:r>
            <a:endParaRPr lang="en-US" sz="1000" dirty="0"/>
          </a:p>
        </p:txBody>
      </p:sp>
      <p:sp>
        <p:nvSpPr>
          <p:cNvPr id="43" name="Shape 25"/>
          <p:cNvSpPr/>
          <p:nvPr/>
        </p:nvSpPr>
        <p:spPr>
          <a:xfrm>
            <a:off x="9234526" y="6010351"/>
            <a:ext cx="2000707" cy="390449"/>
          </a:xfrm>
          <a:prstGeom prst="roundRect">
            <a:avLst>
              <a:gd name="adj" fmla="val 68544"/>
            </a:avLst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26"/>
          <p:cNvSpPr txBox="1"/>
          <p:nvPr/>
        </p:nvSpPr>
        <p:spPr>
          <a:xfrm>
            <a:off x="9682582" y="6010351"/>
            <a:ext cx="1628546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01600" rIns="228600" bIns="1016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Approve Strategy </a:t>
            </a:r>
            <a:endParaRPr lang="en-US" sz="10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6"/>
          <a:srcRect l="-3425" r="-3425"/>
          <a:stretch/>
        </p:blipFill>
        <p:spPr>
          <a:xfrm>
            <a:off x="9463126" y="6139282"/>
            <a:ext cx="142646" cy="133502"/>
          </a:xfrm>
          <a:prstGeom prst="rect">
            <a:avLst/>
          </a:prstGeom>
        </p:spPr>
      </p:pic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7"/>
          <a:srcRect l="-5" r="-5"/>
          <a:stretch/>
        </p:blipFill>
        <p:spPr>
          <a:xfrm>
            <a:off x="4476902" y="1543507"/>
            <a:ext cx="3238805" cy="4000500"/>
          </a:xfrm>
          <a:prstGeom prst="rect">
            <a:avLst/>
          </a:prstGeom>
        </p:spPr>
      </p:pic>
      <p:sp>
        <p:nvSpPr>
          <p:cNvPr id="47" name="Shape 27"/>
          <p:cNvSpPr/>
          <p:nvPr/>
        </p:nvSpPr>
        <p:spPr>
          <a:xfrm>
            <a:off x="5810098" y="183794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D7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8"/>
          <a:srcRect l="-685" r="-685"/>
          <a:stretch/>
        </p:blipFill>
        <p:spPr>
          <a:xfrm>
            <a:off x="5943600" y="1990649"/>
            <a:ext cx="304495" cy="267005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5204765" y="2600554"/>
            <a:ext cx="1791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 Contract</a:t>
            </a:r>
            <a:endParaRPr lang="en-US" sz="1600" dirty="0"/>
          </a:p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809744" y="3348533"/>
            <a:ext cx="114300" cy="114300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5038344" y="3219602"/>
            <a:ext cx="2419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</a:t>
            </a: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 minimizes owner risk</a:t>
            </a:r>
            <a:endParaRPr lang="en-US" sz="1000" dirty="0"/>
          </a:p>
        </p:txBody>
      </p:sp>
      <p:pic>
        <p:nvPicPr>
          <p:cNvPr id="52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809744" y="3865169"/>
            <a:ext cx="114300" cy="114300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5038344" y="3735324"/>
            <a:ext cx="2419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budget certainty &amp; control</a:t>
            </a:r>
            <a:endParaRPr lang="en-US" sz="1000" dirty="0"/>
          </a:p>
        </p:txBody>
      </p:sp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1"/>
          <a:srcRect l="-2571" r="-2571"/>
          <a:stretch/>
        </p:blipFill>
        <p:spPr>
          <a:xfrm>
            <a:off x="4809744" y="4380890"/>
            <a:ext cx="105156" cy="114300"/>
          </a:xfrm>
          <a:prstGeom prst="rect">
            <a:avLst/>
          </a:prstGeom>
        </p:spPr>
      </p:pic>
      <p:sp>
        <p:nvSpPr>
          <p:cNvPr id="55" name="Text 31"/>
          <p:cNvSpPr txBox="1"/>
          <p:nvPr/>
        </p:nvSpPr>
        <p:spPr>
          <a:xfrm>
            <a:off x="5029200" y="4251960"/>
            <a:ext cx="2429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Incentivized timeline for faster delivery</a:t>
            </a:r>
            <a:endParaRPr lang="en-US" sz="1000" dirty="0"/>
          </a:p>
        </p:txBody>
      </p:sp>
      <p:pic>
        <p:nvPicPr>
          <p:cNvPr id="56" name="Image 22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4809744" y="4804258"/>
            <a:ext cx="142646" cy="114300"/>
          </a:xfrm>
          <a:prstGeom prst="rect">
            <a:avLst/>
          </a:prstGeom>
        </p:spPr>
      </p:pic>
      <p:sp>
        <p:nvSpPr>
          <p:cNvPr id="57" name="Text 32"/>
          <p:cNvSpPr txBox="1"/>
          <p:nvPr/>
        </p:nvSpPr>
        <p:spPr>
          <a:xfrm>
            <a:off x="5067605" y="4767682"/>
            <a:ext cx="21881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point of accountability</a:t>
            </a:r>
            <a:endParaRPr lang="en-US" sz="1000" dirty="0"/>
          </a:p>
        </p:txBody>
      </p:sp>
      <p:pic>
        <p:nvPicPr>
          <p:cNvPr id="58" name="Image 23" descr="preencoded.png"/>
          <p:cNvPicPr>
            <a:picLocks noChangeAspect="1"/>
          </p:cNvPicPr>
          <p:nvPr/>
        </p:nvPicPr>
        <p:blipFill>
          <a:blip r:embed="rId23"/>
          <a:srcRect t="-748" b="-748"/>
          <a:stretch/>
        </p:blipFill>
        <p:spPr>
          <a:xfrm>
            <a:off x="5147158" y="1438351"/>
            <a:ext cx="1904695" cy="237744"/>
          </a:xfrm>
          <a:prstGeom prst="rect">
            <a:avLst/>
          </a:prstGeom>
        </p:spPr>
      </p:pic>
      <p:sp>
        <p:nvSpPr>
          <p:cNvPr id="59" name="Text 33"/>
          <p:cNvSpPr/>
          <p:nvPr/>
        </p:nvSpPr>
        <p:spPr>
          <a:xfrm>
            <a:off x="5440680" y="1438351"/>
            <a:ext cx="16879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Recommended Strategy</a:t>
            </a:r>
            <a:endParaRPr lang="en-US" sz="800" dirty="0"/>
          </a:p>
        </p:txBody>
      </p:sp>
      <p:pic>
        <p:nvPicPr>
          <p:cNvPr id="60" name="Image 24" descr="preencoded.png"/>
          <p:cNvPicPr>
            <a:picLocks noChangeAspect="1"/>
          </p:cNvPicPr>
          <p:nvPr/>
        </p:nvPicPr>
        <p:blipFill>
          <a:blip r:embed="rId24"/>
          <a:srcRect l="-4373" r="-4373"/>
          <a:stretch/>
        </p:blipFill>
        <p:spPr>
          <a:xfrm>
            <a:off x="5261458" y="1516075"/>
            <a:ext cx="105156" cy="85954"/>
          </a:xfrm>
          <a:prstGeom prst="rect">
            <a:avLst/>
          </a:prstGeom>
        </p:spPr>
      </p:pic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25">
            <a:alphaModFix amt="50000"/>
          </a:blip>
          <a:srcRect t="-400" b="-400"/>
          <a:stretch/>
        </p:blipFill>
        <p:spPr>
          <a:xfrm>
            <a:off x="5810098" y="3010205"/>
            <a:ext cx="571500" cy="19202"/>
          </a:xfrm>
          <a:prstGeom prst="rect">
            <a:avLst/>
          </a:prstGeom>
        </p:spPr>
      </p:pic>
      <p:sp>
        <p:nvSpPr>
          <p:cNvPr id="62" name="Text 34"/>
          <p:cNvSpPr txBox="1"/>
          <p:nvPr/>
        </p:nvSpPr>
        <p:spPr>
          <a:xfrm>
            <a:off x="11284610" y="6458407"/>
            <a:ext cx="6355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/ 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-952805" y="-952805"/>
            <a:ext cx="5715000" cy="5715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7429500" y="2095805"/>
            <a:ext cx="5715000" cy="57150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4190695" y="838505"/>
            <a:ext cx="3810305" cy="381030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rcRect l="-303" r="-303"/>
          <a:stretch/>
        </p:blipFill>
        <p:spPr>
          <a:xfrm>
            <a:off x="10466222" y="6086246"/>
            <a:ext cx="1352398" cy="390449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0837469" y="6086246"/>
            <a:ext cx="10387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Q&amp;A Session </a:t>
            </a:r>
            <a:endParaRPr lang="en-US" sz="10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10657332" y="6215177"/>
            <a:ext cx="105156" cy="133502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1">
            <a:alphaModFix amt="40000"/>
          </a:blip>
          <a:srcRect/>
          <a:stretch/>
        </p:blipFill>
        <p:spPr>
          <a:xfrm>
            <a:off x="9598457" y="1193292"/>
            <a:ext cx="771754" cy="771754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2">
            <a:alphaModFix amt="40000"/>
          </a:blip>
          <a:srcRect l="-2879" r="-2879"/>
          <a:stretch/>
        </p:blipFill>
        <p:spPr>
          <a:xfrm>
            <a:off x="1206094" y="4313225"/>
            <a:ext cx="390449" cy="590702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3">
            <a:alphaModFix amt="40000"/>
          </a:blip>
          <a:srcRect/>
          <a:stretch/>
        </p:blipFill>
        <p:spPr>
          <a:xfrm>
            <a:off x="2424074" y="1259129"/>
            <a:ext cx="418795" cy="418795"/>
          </a:xfrm>
          <a:prstGeom prst="rect">
            <a:avLst/>
          </a:prstGeom>
        </p:spPr>
      </p:pic>
      <p:sp>
        <p:nvSpPr>
          <p:cNvPr id="14" name="Shape 2"/>
          <p:cNvSpPr/>
          <p:nvPr/>
        </p:nvSpPr>
        <p:spPr>
          <a:xfrm>
            <a:off x="95280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3"/>
          <p:cNvSpPr/>
          <p:nvPr/>
        </p:nvSpPr>
        <p:spPr>
          <a:xfrm>
            <a:off x="1619402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F5FF">
                <a:alpha val="30000"/>
              </a:srgbClr>
            </a:solidFill>
            <a:prstDash val="solid"/>
          </a:ln>
        </p:spPr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1805026" y="5030114"/>
            <a:ext cx="200254" cy="228600"/>
          </a:xfrm>
          <a:prstGeom prst="rect">
            <a:avLst/>
          </a:prstGeom>
        </p:spPr>
      </p:pic>
      <p:sp>
        <p:nvSpPr>
          <p:cNvPr id="17" name="Text 4"/>
          <p:cNvSpPr txBox="1"/>
          <p:nvPr/>
        </p:nvSpPr>
        <p:spPr>
          <a:xfrm>
            <a:off x="1264615" y="5544007"/>
            <a:ext cx="12865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Muhammad Shoaib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Akhter Qadri</a:t>
            </a:r>
            <a:endParaRPr lang="en-US" sz="1000" dirty="0"/>
          </a:p>
        </p:txBody>
      </p:sp>
      <p:sp>
        <p:nvSpPr>
          <p:cNvPr id="18" name="Text 5"/>
          <p:cNvSpPr txBox="1"/>
          <p:nvPr/>
        </p:nvSpPr>
        <p:spPr>
          <a:xfrm>
            <a:off x="1547165" y="5928970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</a:t>
            </a:r>
            <a:endParaRPr lang="en-US" sz="800" dirty="0"/>
          </a:p>
        </p:txBody>
      </p:sp>
      <p:sp>
        <p:nvSpPr>
          <p:cNvPr id="19" name="Shape 6"/>
          <p:cNvSpPr/>
          <p:nvPr/>
        </p:nvSpPr>
        <p:spPr>
          <a:xfrm>
            <a:off x="304769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7"/>
          <p:cNvSpPr/>
          <p:nvPr/>
        </p:nvSpPr>
        <p:spPr>
          <a:xfrm>
            <a:off x="3715207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5"/>
          <a:srcRect l="-57" r="-57"/>
          <a:stretch/>
        </p:blipFill>
        <p:spPr>
          <a:xfrm>
            <a:off x="3900830" y="5030114"/>
            <a:ext cx="200254" cy="228600"/>
          </a:xfrm>
          <a:prstGeom prst="rect">
            <a:avLst/>
          </a:prstGeom>
        </p:spPr>
      </p:pic>
      <p:sp>
        <p:nvSpPr>
          <p:cNvPr id="22" name="Text 8"/>
          <p:cNvSpPr txBox="1"/>
          <p:nvPr/>
        </p:nvSpPr>
        <p:spPr>
          <a:xfrm>
            <a:off x="3422599" y="5544007"/>
            <a:ext cx="11622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Hafiz Muhammad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Hamza</a:t>
            </a:r>
            <a:endParaRPr lang="en-US" sz="1000" dirty="0"/>
          </a:p>
        </p:txBody>
      </p:sp>
      <p:sp>
        <p:nvSpPr>
          <p:cNvPr id="23" name="Text 9"/>
          <p:cNvSpPr txBox="1"/>
          <p:nvPr/>
        </p:nvSpPr>
        <p:spPr>
          <a:xfrm>
            <a:off x="3409798" y="5928970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</a:t>
            </a:r>
            <a:endParaRPr lang="en-US" sz="800" dirty="0"/>
          </a:p>
        </p:txBody>
      </p:sp>
      <p:sp>
        <p:nvSpPr>
          <p:cNvPr id="24" name="Shape 10"/>
          <p:cNvSpPr/>
          <p:nvPr/>
        </p:nvSpPr>
        <p:spPr>
          <a:xfrm>
            <a:off x="5143500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11"/>
          <p:cNvSpPr/>
          <p:nvPr/>
        </p:nvSpPr>
        <p:spPr>
          <a:xfrm>
            <a:off x="5810098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5952744" y="5030114"/>
            <a:ext cx="286207" cy="228600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5848502" y="5544007"/>
            <a:ext cx="4956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Junaid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Nazir</a:t>
            </a:r>
            <a:endParaRPr lang="en-US" sz="1000" dirty="0"/>
          </a:p>
        </p:txBody>
      </p:sp>
      <p:sp>
        <p:nvSpPr>
          <p:cNvPr id="28" name="Text 13"/>
          <p:cNvSpPr txBox="1"/>
          <p:nvPr/>
        </p:nvSpPr>
        <p:spPr>
          <a:xfrm>
            <a:off x="5576011" y="5928970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Lead</a:t>
            </a:r>
            <a:endParaRPr lang="en-US" sz="800" dirty="0"/>
          </a:p>
        </p:txBody>
      </p:sp>
      <p:sp>
        <p:nvSpPr>
          <p:cNvPr id="29" name="Shape 14"/>
          <p:cNvSpPr/>
          <p:nvPr/>
        </p:nvSpPr>
        <p:spPr>
          <a:xfrm>
            <a:off x="723930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15"/>
          <p:cNvSpPr/>
          <p:nvPr/>
        </p:nvSpPr>
        <p:spPr>
          <a:xfrm>
            <a:off x="7905902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BF00FF">
                <a:alpha val="30000"/>
              </a:srgbClr>
            </a:solidFill>
            <a:prstDash val="solid"/>
          </a:ln>
        </p:spPr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7"/>
          <a:srcRect l="-80" r="-80"/>
          <a:stretch/>
        </p:blipFill>
        <p:spPr>
          <a:xfrm>
            <a:off x="8048549" y="5030114"/>
            <a:ext cx="286207" cy="228600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7868412" y="5544007"/>
            <a:ext cx="6483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Abdul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Mohemin</a:t>
            </a:r>
            <a:endParaRPr lang="en-US" sz="1000" dirty="0"/>
          </a:p>
        </p:txBody>
      </p:sp>
      <p:sp>
        <p:nvSpPr>
          <p:cNvPr id="33" name="Text 17"/>
          <p:cNvSpPr txBox="1"/>
          <p:nvPr/>
        </p:nvSpPr>
        <p:spPr>
          <a:xfrm>
            <a:off x="7798003" y="5928970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34" name="Shape 18"/>
          <p:cNvSpPr/>
          <p:nvPr/>
        </p:nvSpPr>
        <p:spPr>
          <a:xfrm>
            <a:off x="9334195" y="4658868"/>
            <a:ext cx="1904695" cy="1628546"/>
          </a:xfrm>
          <a:prstGeom prst="roundRect">
            <a:avLst>
              <a:gd name="adj" fmla="val 105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19"/>
          <p:cNvSpPr/>
          <p:nvPr/>
        </p:nvSpPr>
        <p:spPr>
          <a:xfrm>
            <a:off x="10001707" y="4858207"/>
            <a:ext cx="571500" cy="571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8"/>
          <a:srcRect l="-80" r="-80"/>
          <a:stretch/>
        </p:blipFill>
        <p:spPr>
          <a:xfrm>
            <a:off x="10144354" y="5030114"/>
            <a:ext cx="286207" cy="228600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10063886" y="5544007"/>
            <a:ext cx="4480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Imtiaz</a:t>
            </a:r>
            <a:endParaRPr lang="en-US" sz="1000" dirty="0"/>
          </a:p>
        </p:txBody>
      </p:sp>
      <p:sp>
        <p:nvSpPr>
          <p:cNvPr id="38" name="Text 21"/>
          <p:cNvSpPr txBox="1"/>
          <p:nvPr/>
        </p:nvSpPr>
        <p:spPr>
          <a:xfrm>
            <a:off x="9644177" y="5928970"/>
            <a:ext cx="1295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</a:t>
            </a:r>
            <a:endParaRPr lang="en-US" sz="800" dirty="0"/>
          </a:p>
        </p:txBody>
      </p:sp>
      <p:sp>
        <p:nvSpPr>
          <p:cNvPr id="39" name="Shape 22"/>
          <p:cNvSpPr/>
          <p:nvPr/>
        </p:nvSpPr>
        <p:spPr>
          <a:xfrm>
            <a:off x="4707331" y="381305"/>
            <a:ext cx="2781605" cy="304495"/>
          </a:xfrm>
          <a:prstGeom prst="roundRect">
            <a:avLst>
              <a:gd name="adj" fmla="val 3003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23"/>
          <p:cNvSpPr txBox="1"/>
          <p:nvPr/>
        </p:nvSpPr>
        <p:spPr>
          <a:xfrm>
            <a:off x="4743907" y="448056"/>
            <a:ext cx="270845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Food Processing Facility</a:t>
            </a:r>
            <a:endParaRPr lang="en-US" sz="900" dirty="0"/>
          </a:p>
        </p:txBody>
      </p:sp>
      <p:sp>
        <p:nvSpPr>
          <p:cNvPr id="41" name="Text 24"/>
          <p:cNvSpPr txBox="1"/>
          <p:nvPr/>
        </p:nvSpPr>
        <p:spPr>
          <a:xfrm>
            <a:off x="3420770" y="875995"/>
            <a:ext cx="5353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0" b="1" kern="0" spc="-150" dirty="0">
                <a:solidFill>
                  <a:srgbClr val="00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</a:t>
            </a:r>
            <a:r>
              <a:rPr lang="en-US" sz="7500" b="1" kern="0" spc="-150" dirty="0">
                <a:solidFill>
                  <a:srgbClr val="BF0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</a:t>
            </a:r>
            <a:endParaRPr lang="en-US" sz="75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9"/>
          <a:srcRect t="-400" b="-400"/>
          <a:stretch/>
        </p:blipFill>
        <p:spPr>
          <a:xfrm>
            <a:off x="5524805" y="2018995"/>
            <a:ext cx="1143000" cy="38405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4854550" y="2343607"/>
            <a:ext cx="34344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Floor is open for questions</a:t>
            </a:r>
            <a:endParaRPr lang="en-US" sz="18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20"/>
          <a:srcRect l="-80" r="-80"/>
          <a:stretch/>
        </p:blipFill>
        <p:spPr>
          <a:xfrm>
            <a:off x="4504334" y="2391156"/>
            <a:ext cx="286207" cy="2286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381305" y="6344107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/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Shoaib Akhter</cp:lastModifiedBy>
  <cp:revision>2</cp:revision>
  <dcterms:created xsi:type="dcterms:W3CDTF">2026-03-06T18:49:35Z</dcterms:created>
  <dcterms:modified xsi:type="dcterms:W3CDTF">2026-03-07T05:23:51Z</dcterms:modified>
</cp:coreProperties>
</file>