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3"/>
  </p:notesMasterIdLst>
  <p:sldIdLst>
    <p:sldId id="256" r:id="rId2"/>
    <p:sldId id="288" r:id="rId3"/>
    <p:sldId id="365" r:id="rId4"/>
    <p:sldId id="366" r:id="rId5"/>
    <p:sldId id="342" r:id="rId6"/>
    <p:sldId id="367" r:id="rId7"/>
    <p:sldId id="257" r:id="rId8"/>
    <p:sldId id="258" r:id="rId9"/>
    <p:sldId id="259" r:id="rId10"/>
    <p:sldId id="356" r:id="rId11"/>
    <p:sldId id="357" r:id="rId12"/>
    <p:sldId id="358" r:id="rId13"/>
    <p:sldId id="359" r:id="rId14"/>
    <p:sldId id="372" r:id="rId15"/>
    <p:sldId id="373" r:id="rId16"/>
    <p:sldId id="374" r:id="rId17"/>
    <p:sldId id="260" r:id="rId18"/>
    <p:sldId id="261" r:id="rId19"/>
    <p:sldId id="262" r:id="rId20"/>
    <p:sldId id="263" r:id="rId21"/>
    <p:sldId id="264" r:id="rId22"/>
    <p:sldId id="265" r:id="rId23"/>
    <p:sldId id="273" r:id="rId24"/>
    <p:sldId id="274" r:id="rId25"/>
    <p:sldId id="370" r:id="rId26"/>
    <p:sldId id="371" r:id="rId27"/>
    <p:sldId id="266" r:id="rId28"/>
    <p:sldId id="267" r:id="rId29"/>
    <p:sldId id="329" r:id="rId30"/>
    <p:sldId id="330" r:id="rId31"/>
    <p:sldId id="275" r:id="rId32"/>
    <p:sldId id="276" r:id="rId33"/>
    <p:sldId id="331" r:id="rId34"/>
    <p:sldId id="332" r:id="rId35"/>
    <p:sldId id="333" r:id="rId36"/>
    <p:sldId id="334" r:id="rId37"/>
    <p:sldId id="335" r:id="rId38"/>
    <p:sldId id="336" r:id="rId39"/>
    <p:sldId id="337" r:id="rId40"/>
    <p:sldId id="338" r:id="rId41"/>
    <p:sldId id="268" r:id="rId42"/>
    <p:sldId id="269" r:id="rId43"/>
    <p:sldId id="272" r:id="rId44"/>
    <p:sldId id="270" r:id="rId45"/>
    <p:sldId id="339" r:id="rId46"/>
    <p:sldId id="340" r:id="rId47"/>
    <p:sldId id="341" r:id="rId48"/>
    <p:sldId id="376" r:id="rId49"/>
    <p:sldId id="271" r:id="rId50"/>
    <p:sldId id="287" r:id="rId51"/>
    <p:sldId id="368" r:id="rId52"/>
    <p:sldId id="369" r:id="rId53"/>
    <p:sldId id="279" r:id="rId54"/>
    <p:sldId id="280" r:id="rId55"/>
    <p:sldId id="281" r:id="rId56"/>
    <p:sldId id="282" r:id="rId57"/>
    <p:sldId id="283" r:id="rId58"/>
    <p:sldId id="284" r:id="rId59"/>
    <p:sldId id="285" r:id="rId60"/>
    <p:sldId id="295" r:id="rId61"/>
    <p:sldId id="296" r:id="rId62"/>
    <p:sldId id="364" r:id="rId63"/>
    <p:sldId id="346" r:id="rId64"/>
    <p:sldId id="348" r:id="rId65"/>
    <p:sldId id="347" r:id="rId66"/>
    <p:sldId id="349" r:id="rId67"/>
    <p:sldId id="350" r:id="rId68"/>
    <p:sldId id="351" r:id="rId69"/>
    <p:sldId id="352" r:id="rId70"/>
    <p:sldId id="361" r:id="rId71"/>
    <p:sldId id="362" r:id="rId72"/>
    <p:sldId id="378" r:id="rId73"/>
    <p:sldId id="377" r:id="rId74"/>
    <p:sldId id="297" r:id="rId75"/>
    <p:sldId id="343" r:id="rId76"/>
    <p:sldId id="298" r:id="rId77"/>
    <p:sldId id="299" r:id="rId78"/>
    <p:sldId id="300" r:id="rId79"/>
    <p:sldId id="301" r:id="rId80"/>
    <p:sldId id="302" r:id="rId81"/>
    <p:sldId id="360" r:id="rId82"/>
    <p:sldId id="354" r:id="rId83"/>
    <p:sldId id="355" r:id="rId84"/>
    <p:sldId id="303" r:id="rId85"/>
    <p:sldId id="345" r:id="rId86"/>
    <p:sldId id="306" r:id="rId87"/>
    <p:sldId id="307" r:id="rId88"/>
    <p:sldId id="308" r:id="rId89"/>
    <p:sldId id="309" r:id="rId90"/>
    <p:sldId id="310" r:id="rId91"/>
    <p:sldId id="311" r:id="rId92"/>
    <p:sldId id="312" r:id="rId93"/>
    <p:sldId id="313" r:id="rId94"/>
    <p:sldId id="314" r:id="rId95"/>
    <p:sldId id="315" r:id="rId96"/>
    <p:sldId id="316" r:id="rId97"/>
    <p:sldId id="317" r:id="rId98"/>
    <p:sldId id="318" r:id="rId99"/>
    <p:sldId id="319" r:id="rId100"/>
    <p:sldId id="363" r:id="rId101"/>
    <p:sldId id="320" r:id="rId102"/>
    <p:sldId id="321" r:id="rId103"/>
    <p:sldId id="322" r:id="rId104"/>
    <p:sldId id="323" r:id="rId105"/>
    <p:sldId id="324" r:id="rId106"/>
    <p:sldId id="325" r:id="rId107"/>
    <p:sldId id="326" r:id="rId108"/>
    <p:sldId id="327" r:id="rId109"/>
    <p:sldId id="328" r:id="rId110"/>
    <p:sldId id="344" r:id="rId111"/>
    <p:sldId id="286" r:id="rId11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p:cViewPr varScale="1">
        <p:scale>
          <a:sx n="74" d="100"/>
          <a:sy n="74" d="100"/>
        </p:scale>
        <p:origin x="32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slide" Target="slides/slide109.xml"/><Relationship Id="rId115"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9A2AD9F-639A-462C-8207-5211AF7A6418}" type="datetimeFigureOut">
              <a:rPr lang="en-US" smtClean="0"/>
              <a:pPr/>
              <a:t>3/5/2022</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A879FEC0-7AD2-4CBE-AC50-EF5A4B5A1FEF}" type="slidenum">
              <a:rPr lang="en-US" smtClean="0"/>
              <a:pPr/>
              <a:t>‹#›</a:t>
            </a:fld>
            <a:endParaRPr lang="en-US"/>
          </a:p>
        </p:txBody>
      </p:sp>
    </p:spTree>
    <p:extLst>
      <p:ext uri="{BB962C8B-B14F-4D97-AF65-F5344CB8AC3E}">
        <p14:creationId xmlns:p14="http://schemas.microsoft.com/office/powerpoint/2010/main" val="4156918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85A15A-83D7-42C1-9900-898D8C3E3A47}" type="slidenum">
              <a:rPr lang="en-AU" altLang="en-US" smtClean="0">
                <a:ea typeface="MS PGothic" panose="020B0600070205080204" pitchFamily="34" charset="-128"/>
              </a:rPr>
              <a:pPr/>
              <a:t>3</a:t>
            </a:fld>
            <a:endParaRPr lang="en-AU" altLang="en-US" smtClean="0">
              <a:ea typeface="MS PGothic" panose="020B0600070205080204" pitchFamily="34" charset="-128"/>
            </a:endParaRPr>
          </a:p>
        </p:txBody>
      </p:sp>
      <p:sp>
        <p:nvSpPr>
          <p:cNvPr id="3277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ea typeface="MS PGothic" panose="020B0600070205080204" pitchFamily="34" charset="-128"/>
            </a:endParaRPr>
          </a:p>
        </p:txBody>
      </p:sp>
    </p:spTree>
    <p:extLst>
      <p:ext uri="{BB962C8B-B14F-4D97-AF65-F5344CB8AC3E}">
        <p14:creationId xmlns:p14="http://schemas.microsoft.com/office/powerpoint/2010/main" val="373416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F217075-01C7-41E2-B1D7-25E11A6042FA}" type="slidenum">
              <a:rPr lang="en-AU" altLang="en-US" smtClean="0">
                <a:ea typeface="MS PGothic" panose="020B0600070205080204" pitchFamily="34" charset="-128"/>
              </a:rPr>
              <a:pPr/>
              <a:t>4</a:t>
            </a:fld>
            <a:endParaRPr lang="en-AU" altLang="en-US" smtClean="0">
              <a:ea typeface="MS PGothic" panose="020B0600070205080204" pitchFamily="34" charset="-128"/>
            </a:endParaRPr>
          </a:p>
        </p:txBody>
      </p:sp>
      <p:sp>
        <p:nvSpPr>
          <p:cNvPr id="3481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ea typeface="MS PGothic" panose="020B0600070205080204" pitchFamily="34" charset="-128"/>
            </a:endParaRPr>
          </a:p>
        </p:txBody>
      </p:sp>
    </p:spTree>
    <p:extLst>
      <p:ext uri="{BB962C8B-B14F-4D97-AF65-F5344CB8AC3E}">
        <p14:creationId xmlns:p14="http://schemas.microsoft.com/office/powerpoint/2010/main" val="62266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879FEC0-7AD2-4CBE-AC50-EF5A4B5A1FEF}" type="slidenum">
              <a:rPr lang="en-US" smtClean="0"/>
              <a:pPr/>
              <a:t>24</a:t>
            </a:fld>
            <a:endParaRPr lang="en-US"/>
          </a:p>
        </p:txBody>
      </p:sp>
    </p:spTree>
    <p:extLst>
      <p:ext uri="{BB962C8B-B14F-4D97-AF65-F5344CB8AC3E}">
        <p14:creationId xmlns:p14="http://schemas.microsoft.com/office/powerpoint/2010/main" val="1412094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7612A38-4C07-4D99-9C21-383842E6A4BA}" type="slidenum">
              <a:rPr lang="en-US" smtClean="0"/>
              <a:pPr/>
              <a:t>61</a:t>
            </a:fld>
            <a:endParaRPr lang="en-US"/>
          </a:p>
        </p:txBody>
      </p:sp>
    </p:spTree>
    <p:extLst>
      <p:ext uri="{BB962C8B-B14F-4D97-AF65-F5344CB8AC3E}">
        <p14:creationId xmlns:p14="http://schemas.microsoft.com/office/powerpoint/2010/main" val="1800967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01C3CC4-1C89-4ECB-976D-25DFE6990A32}" type="datetimeFigureOut">
              <a:rPr lang="en-US" smtClean="0"/>
              <a:pPr/>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1C3CC4-1C89-4ECB-976D-25DFE6990A32}" type="datetimeFigureOut">
              <a:rPr lang="en-US" smtClean="0"/>
              <a:pPr/>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01C3CC4-1C89-4ECB-976D-25DFE6990A32}" type="datetimeFigureOut">
              <a:rPr lang="en-US" smtClean="0"/>
              <a:pPr/>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01C3CC4-1C89-4ECB-976D-25DFE6990A32}" type="datetimeFigureOut">
              <a:rPr lang="en-US" smtClean="0"/>
              <a:pPr/>
              <a:t>3/5/2022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01C3CC4-1C89-4ECB-976D-25DFE6990A32}" type="datetimeFigureOut">
              <a:rPr lang="en-US" smtClean="0"/>
              <a:pPr/>
              <a:t>3/5/2022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01C3CC4-1C89-4ECB-976D-25DFE6990A32}" type="datetimeFigureOut">
              <a:rPr lang="en-US" smtClean="0"/>
              <a:pPr/>
              <a:t>3/5/2022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1C3CC4-1C89-4ECB-976D-25DFE6990A32}" type="datetimeFigureOut">
              <a:rPr lang="en-US" smtClean="0"/>
              <a:pPr/>
              <a:t>3/5/2022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1C3CC4-1C89-4ECB-976D-25DFE6990A32}" type="datetimeFigureOut">
              <a:rPr lang="en-US" smtClean="0"/>
              <a:pPr/>
              <a:t>3/5/2022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01C3CC4-1C89-4ECB-976D-25DFE6990A32}" type="datetimeFigureOut">
              <a:rPr lang="en-US" smtClean="0"/>
              <a:pPr/>
              <a:t>3/5/2022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1C3CC4-1C89-4ECB-976D-25DFE6990A32}" type="datetimeFigureOut">
              <a:rPr lang="en-US" smtClean="0"/>
              <a:pPr/>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01C3CC4-1C89-4ECB-976D-25DFE6990A32}" type="datetimeFigureOut">
              <a:rPr lang="en-US" smtClean="0"/>
              <a:pPr/>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D2E37C-D651-418C-98C3-AC3DAB1FC86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1C3CC4-1C89-4ECB-976D-25DFE6990A32}" type="datetimeFigureOut">
              <a:rPr lang="en-US" smtClean="0"/>
              <a:pPr/>
              <a:t>3/5/2022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D2E37C-D651-418C-98C3-AC3DAB1FC86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s://searchcompliance.techtarget.com/definition/speculative-risk" TargetMode="Externa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prezi.com/flslhli_pjxf/the-it-department-at-hamelin-hospital/"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www.youtube.com/watch?v=b1EtsGKlW-s"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Project Risk Management</a:t>
            </a:r>
            <a:endParaRPr lang="en-US" dirty="0"/>
          </a:p>
        </p:txBody>
      </p:sp>
      <p:sp>
        <p:nvSpPr>
          <p:cNvPr id="3" name="Subtitle 2"/>
          <p:cNvSpPr>
            <a:spLocks noGrp="1"/>
          </p:cNvSpPr>
          <p:nvPr>
            <p:ph type="subTitle" idx="1"/>
          </p:nvPr>
        </p:nvSpPr>
        <p:spPr/>
        <p:txBody>
          <a:bodyPr/>
          <a:lstStyle/>
          <a:p>
            <a:r>
              <a:rPr lang="en-US" dirty="0" smtClean="0"/>
              <a:t>Prepared by Dr. </a:t>
            </a:r>
            <a:r>
              <a:rPr lang="en-US" dirty="0" err="1" smtClean="0"/>
              <a:t>Mutasim</a:t>
            </a:r>
            <a:r>
              <a:rPr lang="en-US" dirty="0" smtClean="0"/>
              <a:t> </a:t>
            </a:r>
            <a:r>
              <a:rPr lang="en-US" dirty="0" err="1" smtClean="0"/>
              <a:t>Billah</a:t>
            </a:r>
            <a:r>
              <a:rPr lang="en-US" dirty="0" smtClean="0"/>
              <a:t> </a:t>
            </a:r>
            <a:r>
              <a:rPr lang="en-US" dirty="0" err="1" smtClean="0"/>
              <a:t>Tufail</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Risk Management</a:t>
            </a:r>
          </a:p>
          <a:p>
            <a:r>
              <a:rPr lang="en-US" dirty="0" smtClean="0"/>
              <a:t>Project </a:t>
            </a:r>
            <a:r>
              <a:rPr lang="en-US" dirty="0"/>
              <a:t>R</a:t>
            </a:r>
            <a:r>
              <a:rPr lang="en-US" dirty="0" smtClean="0"/>
              <a:t>isk Management</a:t>
            </a:r>
          </a:p>
          <a:p>
            <a:r>
              <a:rPr lang="en-US" dirty="0" smtClean="0"/>
              <a:t>Business Risk vs Project Risk</a:t>
            </a:r>
          </a:p>
          <a:p>
            <a:r>
              <a:rPr lang="en-US" dirty="0" smtClean="0"/>
              <a:t>Opportunity vs Threat</a:t>
            </a:r>
          </a:p>
          <a:p>
            <a:r>
              <a:rPr lang="en-US" dirty="0" smtClean="0"/>
              <a:t>Risk Response Planning</a:t>
            </a:r>
          </a:p>
          <a:p>
            <a:r>
              <a:rPr lang="en-US" dirty="0" smtClean="0"/>
              <a:t>Risk Appetite and Risk Tolerance</a:t>
            </a:r>
          </a:p>
          <a:p>
            <a:r>
              <a:rPr lang="en-US" dirty="0" smtClean="0"/>
              <a:t>Project risk management Processes</a:t>
            </a:r>
          </a:p>
          <a:p>
            <a:r>
              <a:rPr lang="en-US" dirty="0" smtClean="0"/>
              <a:t>Questions </a:t>
            </a:r>
          </a:p>
          <a:p>
            <a:r>
              <a:rPr lang="en-US" dirty="0" smtClean="0"/>
              <a:t>Case Study</a:t>
            </a:r>
          </a:p>
          <a:p>
            <a:endParaRPr lang="en-US" dirty="0"/>
          </a:p>
        </p:txBody>
      </p:sp>
    </p:spTree>
    <p:extLst>
      <p:ext uri="{BB962C8B-B14F-4D97-AF65-F5344CB8AC3E}">
        <p14:creationId xmlns:p14="http://schemas.microsoft.com/office/powerpoint/2010/main" val="6227695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xfrm>
            <a:off x="901700" y="1925638"/>
            <a:ext cx="7342188" cy="3752850"/>
          </a:xfrm>
        </p:spPr>
        <p:txBody>
          <a:bodyPr lIns="90475" tIns="44444" rIns="90475" bIns="44444"/>
          <a:lstStyle/>
          <a:p>
            <a:pPr marL="444500" indent="-444500" eaLnBrk="1" hangingPunct="1">
              <a:buClr>
                <a:srgbClr val="BF0922"/>
              </a:buClr>
              <a:buSzPct val="60000"/>
              <a:buFont typeface="Lucida Grande"/>
              <a:buChar char="►"/>
            </a:pPr>
            <a:r>
              <a:rPr lang="en-US" altLang="en-US" dirty="0" smtClean="0">
                <a:latin typeface="Arial" panose="020B0604020202020204" pitchFamily="34" charset="0"/>
                <a:ea typeface="MS PGothic" panose="020B0600070205080204" pitchFamily="34" charset="-128"/>
                <a:cs typeface="Arial" panose="020B0604020202020204" pitchFamily="34" charset="0"/>
              </a:rPr>
              <a:t>Single unit</a:t>
            </a:r>
          </a:p>
          <a:p>
            <a:pPr marL="444500" indent="-444500" eaLnBrk="1" hangingPunct="1">
              <a:buClr>
                <a:srgbClr val="BF0922"/>
              </a:buClr>
              <a:buSzPct val="60000"/>
              <a:buFont typeface="Lucida Grande"/>
              <a:buChar char="►"/>
            </a:pPr>
            <a:r>
              <a:rPr lang="en-US" altLang="en-US" dirty="0" smtClean="0">
                <a:latin typeface="Arial" panose="020B0604020202020204" pitchFamily="34" charset="0"/>
                <a:ea typeface="MS PGothic" panose="020B0600070205080204" pitchFamily="34" charset="-128"/>
                <a:cs typeface="Arial" panose="020B0604020202020204" pitchFamily="34" charset="0"/>
              </a:rPr>
              <a:t>Many related activities</a:t>
            </a:r>
          </a:p>
          <a:p>
            <a:pPr marL="444500" indent="-444500" eaLnBrk="1" hangingPunct="1">
              <a:buClr>
                <a:srgbClr val="BF0922"/>
              </a:buClr>
              <a:buSzPct val="60000"/>
              <a:buFont typeface="Lucida Grande"/>
              <a:buChar char="►"/>
            </a:pPr>
            <a:r>
              <a:rPr lang="en-US" altLang="en-US" dirty="0" smtClean="0">
                <a:latin typeface="Arial" panose="020B0604020202020204" pitchFamily="34" charset="0"/>
                <a:ea typeface="MS PGothic" panose="020B0600070205080204" pitchFamily="34" charset="-128"/>
                <a:cs typeface="Arial" panose="020B0604020202020204" pitchFamily="34" charset="0"/>
              </a:rPr>
              <a:t>Difficult production planning and inventory control</a:t>
            </a:r>
          </a:p>
          <a:p>
            <a:pPr marL="444500" indent="-444500" eaLnBrk="1" hangingPunct="1">
              <a:buClr>
                <a:srgbClr val="BF0922"/>
              </a:buClr>
              <a:buSzPct val="60000"/>
              <a:buFont typeface="Lucida Grande"/>
              <a:buChar char="►"/>
            </a:pPr>
            <a:r>
              <a:rPr lang="en-US" altLang="en-US" dirty="0" smtClean="0">
                <a:latin typeface="Arial" panose="020B0604020202020204" pitchFamily="34" charset="0"/>
                <a:ea typeface="MS PGothic" panose="020B0600070205080204" pitchFamily="34" charset="-128"/>
                <a:cs typeface="Arial" panose="020B0604020202020204" pitchFamily="34" charset="0"/>
              </a:rPr>
              <a:t>General purpose equipment</a:t>
            </a:r>
          </a:p>
          <a:p>
            <a:pPr marL="444500" indent="-444500" eaLnBrk="1" hangingPunct="1">
              <a:buClr>
                <a:srgbClr val="BF0922"/>
              </a:buClr>
              <a:buSzPct val="60000"/>
              <a:buFont typeface="Lucida Grande"/>
              <a:buChar char="►"/>
            </a:pPr>
            <a:r>
              <a:rPr lang="en-US" altLang="en-US" dirty="0" smtClean="0">
                <a:latin typeface="Arial" panose="020B0604020202020204" pitchFamily="34" charset="0"/>
                <a:ea typeface="MS PGothic" panose="020B0600070205080204" pitchFamily="34" charset="-128"/>
                <a:cs typeface="Arial" panose="020B0604020202020204" pitchFamily="34" charset="0"/>
              </a:rPr>
              <a:t>High labor skills</a:t>
            </a:r>
          </a:p>
        </p:txBody>
      </p:sp>
      <p:sp>
        <p:nvSpPr>
          <p:cNvPr id="31747" name="Rectangle 3"/>
          <p:cNvSpPr>
            <a:spLocks noGrp="1" noChangeArrowheads="1"/>
          </p:cNvSpPr>
          <p:nvPr>
            <p:ph type="title"/>
          </p:nvPr>
        </p:nvSpPr>
        <p:spPr>
          <a:xfrm>
            <a:off x="685800" y="434975"/>
            <a:ext cx="7772400" cy="874713"/>
          </a:xfrm>
        </p:spPr>
        <p:txBody>
          <a:bodyPr/>
          <a:lstStyle/>
          <a:p>
            <a:pPr eaLnBrk="1" hangingPunct="1"/>
            <a:r>
              <a:rPr lang="en-US" altLang="en-US" smtClean="0">
                <a:latin typeface="Arial" panose="020B0604020202020204" pitchFamily="34" charset="0"/>
                <a:ea typeface="MS PGothic" panose="020B0600070205080204" pitchFamily="34" charset="-128"/>
                <a:cs typeface="Arial" panose="020B0604020202020204" pitchFamily="34" charset="0"/>
              </a:rPr>
              <a:t>Project Characteristics</a:t>
            </a:r>
          </a:p>
        </p:txBody>
      </p:sp>
    </p:spTree>
    <p:extLst>
      <p:ext uri="{BB962C8B-B14F-4D97-AF65-F5344CB8AC3E}">
        <p14:creationId xmlns:p14="http://schemas.microsoft.com/office/powerpoint/2010/main" val="487594281"/>
      </p:ext>
    </p:extLst>
  </p:cSld>
  <p:clrMapOvr>
    <a:masterClrMapping/>
  </p:clrMapOvr>
  <p:transition>
    <p:pull dir="l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2700" y="1773238"/>
            <a:ext cx="3113088"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475" y="2508250"/>
            <a:ext cx="3163888" cy="320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Rectangle 4"/>
          <p:cNvSpPr>
            <a:spLocks noGrp="1" noChangeArrowheads="1"/>
          </p:cNvSpPr>
          <p:nvPr>
            <p:ph type="title"/>
          </p:nvPr>
        </p:nvSpPr>
        <p:spPr>
          <a:xfrm>
            <a:off x="685800" y="434975"/>
            <a:ext cx="7772400" cy="874713"/>
          </a:xfrm>
        </p:spPr>
        <p:txBody>
          <a:bodyPr/>
          <a:lstStyle/>
          <a:p>
            <a:pPr eaLnBrk="1" hangingPunct="1"/>
            <a:r>
              <a:rPr lang="en-US" altLang="en-US" smtClean="0">
                <a:latin typeface="Arial" panose="020B0604020202020204" pitchFamily="34" charset="0"/>
                <a:ea typeface="MS PGothic" panose="020B0600070205080204" pitchFamily="34" charset="-128"/>
                <a:cs typeface="Arial" panose="020B0604020202020204" pitchFamily="34" charset="0"/>
              </a:rPr>
              <a:t>Examples of Projects</a:t>
            </a:r>
          </a:p>
        </p:txBody>
      </p:sp>
      <p:sp>
        <p:nvSpPr>
          <p:cNvPr id="35845" name="Rectangle 5"/>
          <p:cNvSpPr>
            <a:spLocks noChangeArrowheads="1"/>
          </p:cNvSpPr>
          <p:nvPr/>
        </p:nvSpPr>
        <p:spPr bwMode="auto">
          <a:xfrm>
            <a:off x="684213" y="1844675"/>
            <a:ext cx="401955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lnSpc>
                <a:spcPct val="90000"/>
              </a:lnSpc>
              <a:spcAft>
                <a:spcPts val="1200"/>
              </a:spcAft>
              <a:buClr>
                <a:schemeClr val="accent1"/>
              </a:buClr>
              <a:buFont typeface="Arial Unicode MS" panose="020B0604020202020204" pitchFamily="34" charset="-128"/>
              <a:buChar char="▶"/>
              <a:defRPr sz="3200">
                <a:solidFill>
                  <a:schemeClr val="tx1"/>
                </a:solidFill>
                <a:latin typeface="Arial" panose="020B0604020202020204" pitchFamily="34" charset="0"/>
                <a:cs typeface="Arial" panose="020B0604020202020204" pitchFamily="34" charset="0"/>
              </a:defRPr>
            </a:lvl1pPr>
            <a:lvl2pPr marL="742950" indent="-285750">
              <a:lnSpc>
                <a:spcPct val="90000"/>
              </a:lnSpc>
              <a:spcAft>
                <a:spcPts val="1200"/>
              </a:spcAft>
              <a:buClr>
                <a:schemeClr val="accent1"/>
              </a:buClr>
              <a:buFont typeface="Arial Unicode MS" panose="020B0604020202020204" pitchFamily="34" charset="-128"/>
              <a:buChar char="▶"/>
              <a:defRPr sz="2800">
                <a:solidFill>
                  <a:schemeClr val="tx1"/>
                </a:solidFill>
                <a:latin typeface="Arial" panose="020B0604020202020204" pitchFamily="34" charset="0"/>
                <a:cs typeface="Arial" panose="020B0604020202020204" pitchFamily="34" charset="0"/>
              </a:defRPr>
            </a:lvl2pPr>
            <a:lvl3pPr marL="1143000" indent="-228600">
              <a:lnSpc>
                <a:spcPct val="90000"/>
              </a:lnSpc>
              <a:spcAft>
                <a:spcPts val="1200"/>
              </a:spcAft>
              <a:buClr>
                <a:schemeClr val="accent1"/>
              </a:buClr>
              <a:buFont typeface="Arial Unicode MS" panose="020B0604020202020204" pitchFamily="34" charset="-128"/>
              <a:buChar char="▶"/>
              <a:defRPr sz="2400">
                <a:solidFill>
                  <a:schemeClr val="tx1"/>
                </a:solidFill>
                <a:latin typeface="Arial" panose="020B0604020202020204" pitchFamily="34" charset="0"/>
                <a:cs typeface="Arial" panose="020B0604020202020204" pitchFamily="34" charset="0"/>
              </a:defRPr>
            </a:lvl3pPr>
            <a:lvl4pPr marL="1600200" indent="-228600">
              <a:lnSpc>
                <a:spcPct val="90000"/>
              </a:lnSpc>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4pPr>
            <a:lvl5pPr marL="2057400" indent="-228600">
              <a:lnSpc>
                <a:spcPct val="90000"/>
              </a:lnSpc>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lnSpc>
                <a:spcPct val="90000"/>
              </a:lnSpc>
              <a:spcBef>
                <a:spcPct val="0"/>
              </a:spcBef>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lnSpc>
                <a:spcPct val="90000"/>
              </a:lnSpc>
              <a:spcBef>
                <a:spcPct val="0"/>
              </a:spcBef>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lnSpc>
                <a:spcPct val="90000"/>
              </a:lnSpc>
              <a:spcBef>
                <a:spcPct val="0"/>
              </a:spcBef>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lnSpc>
                <a:spcPct val="90000"/>
              </a:lnSpc>
              <a:spcBef>
                <a:spcPct val="0"/>
              </a:spcBef>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40000"/>
              </a:spcBef>
              <a:spcAft>
                <a:spcPct val="0"/>
              </a:spcAft>
              <a:buClr>
                <a:srgbClr val="BF0922"/>
              </a:buClr>
              <a:buSzPct val="60000"/>
              <a:buFont typeface="Lucida Grande"/>
              <a:buChar char="►"/>
            </a:pPr>
            <a:r>
              <a:rPr lang="en-US" altLang="en-US" sz="2800"/>
              <a:t>Building Construction</a:t>
            </a:r>
          </a:p>
        </p:txBody>
      </p:sp>
      <p:sp>
        <p:nvSpPr>
          <p:cNvPr id="35846" name="Rectangle 6"/>
          <p:cNvSpPr>
            <a:spLocks noChangeArrowheads="1"/>
          </p:cNvSpPr>
          <p:nvPr/>
        </p:nvSpPr>
        <p:spPr bwMode="auto">
          <a:xfrm>
            <a:off x="5003800" y="5661025"/>
            <a:ext cx="33909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457200" indent="-457200">
              <a:lnSpc>
                <a:spcPct val="90000"/>
              </a:lnSpc>
              <a:spcAft>
                <a:spcPts val="1200"/>
              </a:spcAft>
              <a:buClr>
                <a:schemeClr val="accent1"/>
              </a:buClr>
              <a:buFont typeface="Arial Unicode MS" panose="020B0604020202020204" pitchFamily="34" charset="-128"/>
              <a:buChar char="▶"/>
              <a:defRPr sz="3200">
                <a:solidFill>
                  <a:schemeClr val="tx1"/>
                </a:solidFill>
                <a:latin typeface="Arial" panose="020B0604020202020204" pitchFamily="34" charset="0"/>
                <a:cs typeface="Arial" panose="020B0604020202020204" pitchFamily="34" charset="0"/>
              </a:defRPr>
            </a:lvl1pPr>
            <a:lvl2pPr marL="742950" indent="-285750">
              <a:lnSpc>
                <a:spcPct val="90000"/>
              </a:lnSpc>
              <a:spcAft>
                <a:spcPts val="1200"/>
              </a:spcAft>
              <a:buClr>
                <a:schemeClr val="accent1"/>
              </a:buClr>
              <a:buFont typeface="Arial Unicode MS" panose="020B0604020202020204" pitchFamily="34" charset="-128"/>
              <a:buChar char="▶"/>
              <a:defRPr sz="2800">
                <a:solidFill>
                  <a:schemeClr val="tx1"/>
                </a:solidFill>
                <a:latin typeface="Arial" panose="020B0604020202020204" pitchFamily="34" charset="0"/>
                <a:cs typeface="Arial" panose="020B0604020202020204" pitchFamily="34" charset="0"/>
              </a:defRPr>
            </a:lvl2pPr>
            <a:lvl3pPr marL="1143000" indent="-228600">
              <a:lnSpc>
                <a:spcPct val="90000"/>
              </a:lnSpc>
              <a:spcAft>
                <a:spcPts val="1200"/>
              </a:spcAft>
              <a:buClr>
                <a:schemeClr val="accent1"/>
              </a:buClr>
              <a:buFont typeface="Arial Unicode MS" panose="020B0604020202020204" pitchFamily="34" charset="-128"/>
              <a:buChar char="▶"/>
              <a:defRPr sz="2400">
                <a:solidFill>
                  <a:schemeClr val="tx1"/>
                </a:solidFill>
                <a:latin typeface="Arial" panose="020B0604020202020204" pitchFamily="34" charset="0"/>
                <a:cs typeface="Arial" panose="020B0604020202020204" pitchFamily="34" charset="0"/>
              </a:defRPr>
            </a:lvl3pPr>
            <a:lvl4pPr marL="1600200" indent="-228600">
              <a:lnSpc>
                <a:spcPct val="90000"/>
              </a:lnSpc>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4pPr>
            <a:lvl5pPr marL="2057400" indent="-228600">
              <a:lnSpc>
                <a:spcPct val="90000"/>
              </a:lnSpc>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lnSpc>
                <a:spcPct val="90000"/>
              </a:lnSpc>
              <a:spcBef>
                <a:spcPct val="0"/>
              </a:spcBef>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lnSpc>
                <a:spcPct val="90000"/>
              </a:lnSpc>
              <a:spcBef>
                <a:spcPct val="0"/>
              </a:spcBef>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lnSpc>
                <a:spcPct val="90000"/>
              </a:lnSpc>
              <a:spcBef>
                <a:spcPct val="0"/>
              </a:spcBef>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lnSpc>
                <a:spcPct val="90000"/>
              </a:lnSpc>
              <a:spcBef>
                <a:spcPct val="0"/>
              </a:spcBef>
              <a:spcAft>
                <a:spcPts val="1200"/>
              </a:spcAft>
              <a:buClr>
                <a:schemeClr val="accent1"/>
              </a:buClr>
              <a:buFont typeface="Arial Unicode MS" panose="020B0604020202020204" pitchFamily="34" charset="-128"/>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40000"/>
              </a:spcBef>
              <a:spcAft>
                <a:spcPct val="0"/>
              </a:spcAft>
              <a:buClr>
                <a:srgbClr val="BF0922"/>
              </a:buClr>
              <a:buSzPct val="60000"/>
              <a:buFont typeface="Lucida Grande"/>
              <a:buChar char="►"/>
            </a:pPr>
            <a:r>
              <a:rPr lang="en-US" altLang="en-US" sz="2800"/>
              <a:t>Research Project</a:t>
            </a:r>
          </a:p>
        </p:txBody>
      </p:sp>
    </p:spTree>
    <p:extLst>
      <p:ext uri="{BB962C8B-B14F-4D97-AF65-F5344CB8AC3E}">
        <p14:creationId xmlns:p14="http://schemas.microsoft.com/office/powerpoint/2010/main" val="2113209112"/>
      </p:ext>
    </p:extLst>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35845"/>
                                        </p:tgtEl>
                                        <p:attrNameLst>
                                          <p:attrName>style.visibility</p:attrName>
                                        </p:attrNameLst>
                                      </p:cBhvr>
                                      <p:to>
                                        <p:strVal val="visible"/>
                                      </p:to>
                                    </p:set>
                                    <p:animEffect transition="in" filter="wipe(left)">
                                      <p:cBhvr>
                                        <p:cTn id="7" dur="1000"/>
                                        <p:tgtEl>
                                          <p:spTgt spid="35845"/>
                                        </p:tgtEl>
                                      </p:cBhvr>
                                    </p:animEffect>
                                  </p:childTnLst>
                                </p:cTn>
                              </p:par>
                            </p:childTnLst>
                          </p:cTn>
                        </p:par>
                        <p:par>
                          <p:cTn id="8" fill="hold" nodeType="afterGroup">
                            <p:stCondLst>
                              <p:cond delay="2000"/>
                            </p:stCondLst>
                            <p:childTnLst>
                              <p:par>
                                <p:cTn id="9" presetID="9" presetClass="entr" presetSubtype="0" fill="hold" nodeType="afterEffect">
                                  <p:stCondLst>
                                    <p:cond delay="1000"/>
                                  </p:stCondLst>
                                  <p:childTnLst>
                                    <p:set>
                                      <p:cBhvr>
                                        <p:cTn id="10" dur="1" fill="hold">
                                          <p:stCondLst>
                                            <p:cond delay="0"/>
                                          </p:stCondLst>
                                        </p:cTn>
                                        <p:tgtEl>
                                          <p:spTgt spid="35843"/>
                                        </p:tgtEl>
                                        <p:attrNameLst>
                                          <p:attrName>style.visibility</p:attrName>
                                        </p:attrNameLst>
                                      </p:cBhvr>
                                      <p:to>
                                        <p:strVal val="visible"/>
                                      </p:to>
                                    </p:set>
                                    <p:animEffect transition="in" filter="dissolve">
                                      <p:cBhvr>
                                        <p:cTn id="11" dur="1000"/>
                                        <p:tgtEl>
                                          <p:spTgt spid="35843"/>
                                        </p:tgtEl>
                                      </p:cBhvr>
                                    </p:animEffect>
                                  </p:childTnLst>
                                </p:cTn>
                              </p:par>
                            </p:childTnLst>
                          </p:cTn>
                        </p:par>
                        <p:par>
                          <p:cTn id="12" fill="hold" nodeType="afterGroup">
                            <p:stCondLst>
                              <p:cond delay="4000"/>
                            </p:stCondLst>
                            <p:childTnLst>
                              <p:par>
                                <p:cTn id="13" presetID="22" presetClass="entr" presetSubtype="8" fill="hold" grpId="0" nodeType="afterEffect">
                                  <p:stCondLst>
                                    <p:cond delay="1000"/>
                                  </p:stCondLst>
                                  <p:childTnLst>
                                    <p:set>
                                      <p:cBhvr>
                                        <p:cTn id="14" dur="1" fill="hold">
                                          <p:stCondLst>
                                            <p:cond delay="0"/>
                                          </p:stCondLst>
                                        </p:cTn>
                                        <p:tgtEl>
                                          <p:spTgt spid="35846"/>
                                        </p:tgtEl>
                                        <p:attrNameLst>
                                          <p:attrName>style.visibility</p:attrName>
                                        </p:attrNameLst>
                                      </p:cBhvr>
                                      <p:to>
                                        <p:strVal val="visible"/>
                                      </p:to>
                                    </p:set>
                                    <p:animEffect transition="in" filter="wipe(left)">
                                      <p:cBhvr>
                                        <p:cTn id="15" dur="1000"/>
                                        <p:tgtEl>
                                          <p:spTgt spid="35846"/>
                                        </p:tgtEl>
                                      </p:cBhvr>
                                    </p:animEffect>
                                  </p:childTnLst>
                                </p:cTn>
                              </p:par>
                            </p:childTnLst>
                          </p:cTn>
                        </p:par>
                        <p:par>
                          <p:cTn id="16" fill="hold" nodeType="afterGroup">
                            <p:stCondLst>
                              <p:cond delay="6000"/>
                            </p:stCondLst>
                            <p:childTnLst>
                              <p:par>
                                <p:cTn id="17" presetID="9" presetClass="entr" presetSubtype="0" fill="hold" nodeType="afterEffect">
                                  <p:stCondLst>
                                    <p:cond delay="1000"/>
                                  </p:stCondLst>
                                  <p:childTnLst>
                                    <p:set>
                                      <p:cBhvr>
                                        <p:cTn id="18" dur="1" fill="hold">
                                          <p:stCondLst>
                                            <p:cond delay="0"/>
                                          </p:stCondLst>
                                        </p:cTn>
                                        <p:tgtEl>
                                          <p:spTgt spid="35842"/>
                                        </p:tgtEl>
                                        <p:attrNameLst>
                                          <p:attrName>style.visibility</p:attrName>
                                        </p:attrNameLst>
                                      </p:cBhvr>
                                      <p:to>
                                        <p:strVal val="visible"/>
                                      </p:to>
                                    </p:set>
                                    <p:animEffect transition="in" filter="dissolve">
                                      <p:cBhvr>
                                        <p:cTn id="19" dur="1000"/>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autoUpdateAnimBg="0"/>
      <p:bldP spid="35846"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Life Cycle.</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4118" y="1480474"/>
            <a:ext cx="9109881" cy="4965232"/>
          </a:xfrm>
          <a:prstGeom prst="rect">
            <a:avLst/>
          </a:prstGeom>
        </p:spPr>
      </p:pic>
    </p:spTree>
    <p:extLst>
      <p:ext uri="{BB962C8B-B14F-4D97-AF65-F5344CB8AC3E}">
        <p14:creationId xmlns:p14="http://schemas.microsoft.com/office/powerpoint/2010/main" val="16822134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Why Risk Management?</a:t>
            </a:r>
            <a:endParaRPr lang="en-US" dirty="0"/>
          </a:p>
        </p:txBody>
      </p:sp>
    </p:spTree>
    <p:extLst>
      <p:ext uri="{BB962C8B-B14F-4D97-AF65-F5344CB8AC3E}">
        <p14:creationId xmlns:p14="http://schemas.microsoft.com/office/powerpoint/2010/main" val="11982419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The PMBOK® defines project risk management as:</a:t>
            </a:r>
          </a:p>
          <a:p>
            <a:r>
              <a:rPr lang="en-US" dirty="0"/>
              <a:t> </a:t>
            </a:r>
            <a:endParaRPr lang="en-US" sz="2800" dirty="0"/>
          </a:p>
          <a:p>
            <a:r>
              <a:rPr lang="en-US" i="1" dirty="0"/>
              <a:t>‘The processes concerned with conducting risk management planning, </a:t>
            </a:r>
            <a:r>
              <a:rPr lang="en-US" i="1" dirty="0" smtClean="0"/>
              <a:t>identification</a:t>
            </a:r>
            <a:r>
              <a:rPr lang="en-US" i="1" dirty="0"/>
              <a:t>, analysis, responses and monitoring and control a project. The </a:t>
            </a:r>
            <a:r>
              <a:rPr lang="en-US" i="1" dirty="0" smtClean="0"/>
              <a:t>objective </a:t>
            </a:r>
            <a:r>
              <a:rPr lang="en-US" i="1" dirty="0"/>
              <a:t>is to:</a:t>
            </a:r>
            <a:endParaRPr lang="en-US" sz="2800" dirty="0"/>
          </a:p>
          <a:p>
            <a:pPr lvl="1"/>
            <a:r>
              <a:rPr lang="en-US" i="1" dirty="0"/>
              <a:t>Increase the </a:t>
            </a:r>
            <a:r>
              <a:rPr lang="en-US" i="1" dirty="0">
                <a:solidFill>
                  <a:srgbClr val="FF0000"/>
                </a:solidFill>
              </a:rPr>
              <a:t>probability</a:t>
            </a:r>
            <a:r>
              <a:rPr lang="en-US" i="1" dirty="0"/>
              <a:t> and </a:t>
            </a:r>
            <a:r>
              <a:rPr lang="en-US" i="1" dirty="0">
                <a:solidFill>
                  <a:srgbClr val="0070C0"/>
                </a:solidFill>
              </a:rPr>
              <a:t>impact</a:t>
            </a:r>
            <a:r>
              <a:rPr lang="en-US" i="1" dirty="0"/>
              <a:t> of positive events, and to</a:t>
            </a:r>
            <a:endParaRPr lang="en-US" sz="2400" dirty="0"/>
          </a:p>
          <a:p>
            <a:pPr lvl="1"/>
            <a:r>
              <a:rPr lang="en-US" i="1" dirty="0"/>
              <a:t>Decrease the </a:t>
            </a:r>
            <a:r>
              <a:rPr lang="en-US" i="1" dirty="0">
                <a:solidFill>
                  <a:srgbClr val="FF0000"/>
                </a:solidFill>
              </a:rPr>
              <a:t>probability</a:t>
            </a:r>
            <a:r>
              <a:rPr lang="en-US" i="1" dirty="0"/>
              <a:t> and </a:t>
            </a:r>
            <a:r>
              <a:rPr lang="en-US" i="1" dirty="0">
                <a:solidFill>
                  <a:srgbClr val="0070C0"/>
                </a:solidFill>
              </a:rPr>
              <a:t>impact</a:t>
            </a:r>
            <a:r>
              <a:rPr lang="en-US" i="1" dirty="0"/>
              <a:t> of events adverse to the project </a:t>
            </a:r>
            <a:r>
              <a:rPr lang="en-US" i="1" dirty="0" smtClean="0"/>
              <a:t>objectives</a:t>
            </a:r>
            <a:r>
              <a:rPr lang="en-US" i="1" dirty="0"/>
              <a:t>’.</a:t>
            </a:r>
            <a:endParaRPr lang="en-US" sz="2400" dirty="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endParaRPr lang="en-US" dirty="0"/>
          </a:p>
        </p:txBody>
      </p:sp>
      <p:sp>
        <p:nvSpPr>
          <p:cNvPr id="3" name="Content Placeholder 2"/>
          <p:cNvSpPr>
            <a:spLocks noGrp="1"/>
          </p:cNvSpPr>
          <p:nvPr>
            <p:ph idx="1"/>
          </p:nvPr>
        </p:nvSpPr>
        <p:spPr>
          <a:xfrm>
            <a:off x="457200" y="914400"/>
            <a:ext cx="8229600" cy="5211763"/>
          </a:xfrm>
        </p:spPr>
        <p:txBody>
          <a:bodyPr>
            <a:normAutofit fontScale="92500" lnSpcReduction="20000"/>
          </a:bodyPr>
          <a:lstStyle/>
          <a:p>
            <a:r>
              <a:rPr lang="en-US" dirty="0"/>
              <a:t>A risk is a future event that may or may not happen, but if it does occur it will have an </a:t>
            </a:r>
            <a:r>
              <a:rPr lang="en-US" dirty="0" smtClean="0"/>
              <a:t>effect </a:t>
            </a:r>
            <a:r>
              <a:rPr lang="en-US" dirty="0"/>
              <a:t>on project </a:t>
            </a:r>
            <a:endParaRPr lang="en-US" dirty="0" smtClean="0"/>
          </a:p>
          <a:p>
            <a:r>
              <a:rPr lang="en-US" dirty="0" smtClean="0"/>
              <a:t>scope</a:t>
            </a:r>
            <a:r>
              <a:rPr lang="en-US" dirty="0"/>
              <a:t>, </a:t>
            </a:r>
            <a:r>
              <a:rPr lang="en-US" dirty="0" smtClean="0">
                <a:solidFill>
                  <a:srgbClr val="FF0000"/>
                </a:solidFill>
              </a:rPr>
              <a:t>(boundaries)</a:t>
            </a:r>
          </a:p>
          <a:p>
            <a:r>
              <a:rPr lang="en-US" dirty="0" smtClean="0"/>
              <a:t>schedule</a:t>
            </a:r>
            <a:r>
              <a:rPr lang="en-US" dirty="0"/>
              <a:t>, </a:t>
            </a:r>
            <a:r>
              <a:rPr lang="en-US" dirty="0" smtClean="0">
                <a:solidFill>
                  <a:srgbClr val="FF0000"/>
                </a:solidFill>
              </a:rPr>
              <a:t>(Time constrains)</a:t>
            </a:r>
          </a:p>
          <a:p>
            <a:r>
              <a:rPr lang="en-US" dirty="0" smtClean="0"/>
              <a:t>cost</a:t>
            </a:r>
            <a:r>
              <a:rPr lang="en-US" dirty="0"/>
              <a:t>, or </a:t>
            </a:r>
            <a:r>
              <a:rPr lang="en-US" dirty="0" smtClean="0"/>
              <a:t>quality</a:t>
            </a:r>
            <a:r>
              <a:rPr lang="en-US" dirty="0"/>
              <a:t>. </a:t>
            </a:r>
            <a:r>
              <a:rPr lang="en-US" dirty="0" smtClean="0">
                <a:solidFill>
                  <a:srgbClr val="FF0000"/>
                </a:solidFill>
              </a:rPr>
              <a:t>(budget)</a:t>
            </a:r>
          </a:p>
          <a:p>
            <a:r>
              <a:rPr lang="en-US" dirty="0" smtClean="0"/>
              <a:t>It </a:t>
            </a:r>
            <a:r>
              <a:rPr lang="en-US" dirty="0"/>
              <a:t>may have one or more causes and, if it occurs, it may have one or more impacts. </a:t>
            </a:r>
            <a:endParaRPr lang="en-US" dirty="0" smtClean="0"/>
          </a:p>
          <a:p>
            <a:r>
              <a:rPr lang="en-US" dirty="0" smtClean="0"/>
              <a:t>The </a:t>
            </a:r>
            <a:r>
              <a:rPr lang="en-US" dirty="0"/>
              <a:t>PMBOK® Guide advises that risks include both </a:t>
            </a:r>
            <a:endParaRPr lang="en-US" dirty="0" smtClean="0"/>
          </a:p>
          <a:p>
            <a:r>
              <a:rPr lang="en-US" dirty="0"/>
              <a:t>T</a:t>
            </a:r>
            <a:r>
              <a:rPr lang="en-US" dirty="0" smtClean="0"/>
              <a:t>hreats </a:t>
            </a:r>
            <a:r>
              <a:rPr lang="en-US" dirty="0"/>
              <a:t>and </a:t>
            </a:r>
            <a:endParaRPr lang="en-US" dirty="0" smtClean="0"/>
          </a:p>
          <a:p>
            <a:r>
              <a:rPr lang="en-US" dirty="0"/>
              <a:t>O</a:t>
            </a:r>
            <a:r>
              <a:rPr lang="en-US" dirty="0" smtClean="0"/>
              <a:t>pportunities. </a:t>
            </a:r>
            <a:endParaRPr lang="en-US" dirty="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What a project manager needs to know is what is the likelihood a risk will occur and if it does what will it impact as this affects the project plan.</a:t>
            </a:r>
          </a:p>
        </p:txBody>
      </p:sp>
      <p:pic>
        <p:nvPicPr>
          <p:cNvPr id="1026" name="Picture 2"/>
          <p:cNvPicPr>
            <a:picLocks noChangeAspect="1" noChangeArrowheads="1"/>
          </p:cNvPicPr>
          <p:nvPr/>
        </p:nvPicPr>
        <p:blipFill>
          <a:blip r:embed="rId2"/>
          <a:srcRect/>
          <a:stretch>
            <a:fillRect/>
          </a:stretch>
        </p:blipFill>
        <p:spPr bwMode="auto">
          <a:xfrm>
            <a:off x="2895600" y="3276600"/>
            <a:ext cx="5543550" cy="3286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Probability</a:t>
            </a:r>
            <a:endParaRPr lang="en-US" dirty="0"/>
          </a:p>
        </p:txBody>
      </p:sp>
      <p:sp>
        <p:nvSpPr>
          <p:cNvPr id="3" name="Content Placeholder 2"/>
          <p:cNvSpPr>
            <a:spLocks noGrp="1"/>
          </p:cNvSpPr>
          <p:nvPr>
            <p:ph idx="1"/>
          </p:nvPr>
        </p:nvSpPr>
        <p:spPr/>
        <p:txBody>
          <a:bodyPr/>
          <a:lstStyle/>
          <a:p>
            <a:r>
              <a:rPr lang="en-US" dirty="0" smtClean="0"/>
              <a:t>What is the probability of a donkey can fly???</a:t>
            </a:r>
          </a:p>
          <a:p>
            <a:endParaRPr lang="en-US" dirty="0" smtClean="0"/>
          </a:p>
          <a:p>
            <a:endParaRPr lang="en-US" dirty="0" smtClean="0"/>
          </a:p>
          <a:p>
            <a:endParaRPr lang="en-US" dirty="0" smtClean="0"/>
          </a:p>
          <a:p>
            <a:r>
              <a:rPr lang="en-US" dirty="0" smtClean="0"/>
              <a:t>What is the probability of getting a natural number on a roll of a dice??</a:t>
            </a:r>
          </a:p>
          <a:p>
            <a:endParaRPr lang="en-US" dirty="0"/>
          </a:p>
        </p:txBody>
      </p:sp>
      <p:pic>
        <p:nvPicPr>
          <p:cNvPr id="1026" name="Picture 2" descr="TYI 30: Expected number of Dice throws | Combinatorics and more"/>
          <p:cNvPicPr>
            <a:picLocks noChangeAspect="1" noChangeArrowheads="1"/>
          </p:cNvPicPr>
          <p:nvPr/>
        </p:nvPicPr>
        <p:blipFill>
          <a:blip r:embed="rId2"/>
          <a:srcRect/>
          <a:stretch>
            <a:fillRect/>
          </a:stretch>
        </p:blipFill>
        <p:spPr bwMode="auto">
          <a:xfrm>
            <a:off x="6629400" y="4433207"/>
            <a:ext cx="2514600" cy="2424793"/>
          </a:xfrm>
          <a:prstGeom prst="rect">
            <a:avLst/>
          </a:prstGeom>
          <a:noFill/>
        </p:spPr>
      </p:pic>
      <p:pic>
        <p:nvPicPr>
          <p:cNvPr id="1030" name="Picture 6" descr="Flying Donkey Fly"/>
          <p:cNvPicPr>
            <a:picLocks noChangeAspect="1" noChangeArrowheads="1"/>
          </p:cNvPicPr>
          <p:nvPr/>
        </p:nvPicPr>
        <p:blipFill>
          <a:blip r:embed="rId3" cstate="print"/>
          <a:srcRect/>
          <a:stretch>
            <a:fillRect/>
          </a:stretch>
        </p:blipFill>
        <p:spPr bwMode="auto">
          <a:xfrm>
            <a:off x="1143000" y="2209800"/>
            <a:ext cx="2514600" cy="1677239"/>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15962"/>
          </a:xfrm>
        </p:spPr>
        <p:txBody>
          <a:bodyPr>
            <a:normAutofit fontScale="90000"/>
          </a:bodyPr>
          <a:lstStyle/>
          <a:p>
            <a:r>
              <a:rPr lang="en-US" dirty="0" smtClean="0"/>
              <a:t>Example no 1.</a:t>
            </a:r>
            <a:endParaRPr lang="en-US" dirty="0"/>
          </a:p>
        </p:txBody>
      </p:sp>
      <p:sp>
        <p:nvSpPr>
          <p:cNvPr id="3" name="Content Placeholder 2"/>
          <p:cNvSpPr>
            <a:spLocks noGrp="1"/>
          </p:cNvSpPr>
          <p:nvPr>
            <p:ph idx="1"/>
          </p:nvPr>
        </p:nvSpPr>
        <p:spPr>
          <a:xfrm>
            <a:off x="533400" y="5410200"/>
            <a:ext cx="8077200" cy="792163"/>
          </a:xfrm>
        </p:spPr>
        <p:txBody>
          <a:bodyPr/>
          <a:lstStyle/>
          <a:p>
            <a:r>
              <a:rPr lang="en-US" dirty="0" smtClean="0"/>
              <a:t>What is the probability of getting head??</a:t>
            </a:r>
            <a:endParaRPr lang="en-US" dirty="0"/>
          </a:p>
        </p:txBody>
      </p:sp>
      <p:pic>
        <p:nvPicPr>
          <p:cNvPr id="110594" name="Picture 2"/>
          <p:cNvPicPr>
            <a:picLocks noChangeAspect="1" noChangeArrowheads="1"/>
          </p:cNvPicPr>
          <p:nvPr/>
        </p:nvPicPr>
        <p:blipFill>
          <a:blip r:embed="rId2"/>
          <a:srcRect/>
          <a:stretch>
            <a:fillRect/>
          </a:stretch>
        </p:blipFill>
        <p:spPr bwMode="auto">
          <a:xfrm>
            <a:off x="914400" y="1219200"/>
            <a:ext cx="7134225" cy="1040081"/>
          </a:xfrm>
          <a:prstGeom prst="rect">
            <a:avLst/>
          </a:prstGeom>
          <a:noFill/>
          <a:ln w="9525">
            <a:noFill/>
            <a:miter lim="800000"/>
            <a:headEnd/>
            <a:tailEnd/>
          </a:ln>
          <a:effectLst/>
        </p:spPr>
      </p:pic>
      <p:pic>
        <p:nvPicPr>
          <p:cNvPr id="110595" name="Picture 3"/>
          <p:cNvPicPr>
            <a:picLocks noChangeAspect="1" noChangeArrowheads="1"/>
          </p:cNvPicPr>
          <p:nvPr/>
        </p:nvPicPr>
        <p:blipFill>
          <a:blip r:embed="rId3"/>
          <a:srcRect/>
          <a:stretch>
            <a:fillRect/>
          </a:stretch>
        </p:blipFill>
        <p:spPr bwMode="auto">
          <a:xfrm>
            <a:off x="3429000" y="2362200"/>
            <a:ext cx="2909970"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Example 2</a:t>
            </a:r>
            <a:endParaRPr lang="en-US" dirty="0"/>
          </a:p>
        </p:txBody>
      </p:sp>
      <p:pic>
        <p:nvPicPr>
          <p:cNvPr id="4" name="Picture 2"/>
          <p:cNvPicPr>
            <a:picLocks noGrp="1" noChangeAspect="1" noChangeArrowheads="1"/>
          </p:cNvPicPr>
          <p:nvPr>
            <p:ph idx="1"/>
          </p:nvPr>
        </p:nvPicPr>
        <p:blipFill>
          <a:blip r:embed="rId2"/>
          <a:srcRect/>
          <a:stretch>
            <a:fillRect/>
          </a:stretch>
        </p:blipFill>
        <p:spPr bwMode="auto">
          <a:xfrm>
            <a:off x="533400" y="1066800"/>
            <a:ext cx="8229600" cy="1199773"/>
          </a:xfrm>
          <a:prstGeom prst="rect">
            <a:avLst/>
          </a:prstGeom>
          <a:noFill/>
          <a:ln w="9525">
            <a:noFill/>
            <a:miter lim="800000"/>
            <a:headEnd/>
            <a:tailEnd/>
          </a:ln>
          <a:effectLst/>
        </p:spPr>
      </p:pic>
      <p:pic>
        <p:nvPicPr>
          <p:cNvPr id="111619" name="Picture 3"/>
          <p:cNvPicPr>
            <a:picLocks noChangeAspect="1" noChangeArrowheads="1"/>
          </p:cNvPicPr>
          <p:nvPr/>
        </p:nvPicPr>
        <p:blipFill>
          <a:blip r:embed="rId3"/>
          <a:srcRect/>
          <a:stretch>
            <a:fillRect/>
          </a:stretch>
        </p:blipFill>
        <p:spPr bwMode="auto">
          <a:xfrm>
            <a:off x="2895600" y="2286000"/>
            <a:ext cx="3652838" cy="2490852"/>
          </a:xfrm>
          <a:prstGeom prst="rect">
            <a:avLst/>
          </a:prstGeom>
          <a:noFill/>
          <a:ln w="9525">
            <a:noFill/>
            <a:miter lim="800000"/>
            <a:headEnd/>
            <a:tailEnd/>
          </a:ln>
          <a:effectLst/>
        </p:spPr>
      </p:pic>
      <p:sp>
        <p:nvSpPr>
          <p:cNvPr id="7" name="TextBox 6"/>
          <p:cNvSpPr txBox="1"/>
          <p:nvPr/>
        </p:nvSpPr>
        <p:spPr>
          <a:xfrm>
            <a:off x="838200" y="4953000"/>
            <a:ext cx="7391400" cy="1200329"/>
          </a:xfrm>
          <a:prstGeom prst="rect">
            <a:avLst/>
          </a:prstGeom>
          <a:noFill/>
        </p:spPr>
        <p:txBody>
          <a:bodyPr wrap="square" rtlCol="0">
            <a:spAutoFit/>
          </a:bodyPr>
          <a:lstStyle/>
          <a:p>
            <a:r>
              <a:rPr lang="en-US" sz="2400" b="1" dirty="0" smtClean="0"/>
              <a:t>What is the probability of getting 4 or P(4)=???</a:t>
            </a:r>
          </a:p>
          <a:p>
            <a:endParaRPr lang="en-US" sz="2400" b="1" dirty="0" smtClean="0"/>
          </a:p>
          <a:p>
            <a:r>
              <a:rPr lang="en-US" sz="2400" b="1" dirty="0" smtClean="0"/>
              <a:t>What is the probability of getting even number??</a:t>
            </a:r>
            <a:endParaRPr lang="en-US" sz="2400"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92162"/>
          </a:xfrm>
        </p:spPr>
        <p:txBody>
          <a:bodyPr/>
          <a:lstStyle/>
          <a:p>
            <a:r>
              <a:rPr lang="en-US" dirty="0" smtClean="0"/>
              <a:t>Example 3</a:t>
            </a:r>
            <a:endParaRPr lang="en-US" dirty="0"/>
          </a:p>
        </p:txBody>
      </p:sp>
      <p:sp>
        <p:nvSpPr>
          <p:cNvPr id="3" name="Content Placeholder 2"/>
          <p:cNvSpPr>
            <a:spLocks noGrp="1"/>
          </p:cNvSpPr>
          <p:nvPr>
            <p:ph idx="1"/>
          </p:nvPr>
        </p:nvSpPr>
        <p:spPr>
          <a:xfrm>
            <a:off x="533400" y="5181600"/>
            <a:ext cx="8153400" cy="1066800"/>
          </a:xfrm>
        </p:spPr>
        <p:txBody>
          <a:bodyPr>
            <a:normAutofit fontScale="92500" lnSpcReduction="10000"/>
          </a:bodyPr>
          <a:lstStyle/>
          <a:p>
            <a:r>
              <a:rPr lang="en-US" b="1" dirty="0" smtClean="0"/>
              <a:t>P (Jack)= ???</a:t>
            </a:r>
          </a:p>
          <a:p>
            <a:r>
              <a:rPr lang="en-US" b="1" dirty="0" smtClean="0"/>
              <a:t>P (Face card)= ???</a:t>
            </a:r>
            <a:endParaRPr lang="en-US" b="1" dirty="0"/>
          </a:p>
        </p:txBody>
      </p:sp>
      <p:pic>
        <p:nvPicPr>
          <p:cNvPr id="112642" name="Picture 2"/>
          <p:cNvPicPr>
            <a:picLocks noChangeAspect="1" noChangeArrowheads="1"/>
          </p:cNvPicPr>
          <p:nvPr/>
        </p:nvPicPr>
        <p:blipFill>
          <a:blip r:embed="rId2"/>
          <a:srcRect/>
          <a:stretch>
            <a:fillRect/>
          </a:stretch>
        </p:blipFill>
        <p:spPr bwMode="auto">
          <a:xfrm>
            <a:off x="2743200" y="1981200"/>
            <a:ext cx="3989258" cy="3338260"/>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990600" y="990600"/>
            <a:ext cx="7134225" cy="10400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Pure Risk VS Speculative Risk (2-1)</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Pure Risk:  </a:t>
            </a:r>
            <a:r>
              <a:rPr lang="en-US" dirty="0" smtClean="0"/>
              <a:t>(Insurable) Threat of loss without opportunity to gain.</a:t>
            </a:r>
          </a:p>
          <a:p>
            <a:r>
              <a:rPr lang="en-US" dirty="0" smtClean="0"/>
              <a:t>1. Personal Risk: (Premature Death, Poor health, unemployment etc.)</a:t>
            </a:r>
          </a:p>
          <a:p>
            <a:endParaRPr lang="en-US" dirty="0" smtClean="0"/>
          </a:p>
          <a:p>
            <a:r>
              <a:rPr lang="en-US" dirty="0" smtClean="0"/>
              <a:t>2. Physical Risk: (Property Risk) </a:t>
            </a:r>
          </a:p>
          <a:p>
            <a:r>
              <a:rPr lang="en-US" dirty="0" smtClean="0"/>
              <a:t>Restaurant damage because of fire. </a:t>
            </a:r>
          </a:p>
          <a:p>
            <a:r>
              <a:rPr lang="en-US" dirty="0" smtClean="0"/>
              <a:t>Loss of sale (during the construction of infrastructure)</a:t>
            </a:r>
          </a:p>
          <a:p>
            <a:endParaRPr lang="en-US" dirty="0" smtClean="0"/>
          </a:p>
          <a:p>
            <a:r>
              <a:rPr lang="en-US" dirty="0" smtClean="0"/>
              <a:t>3.liabblity Risk: Risk occur due to legislation.</a:t>
            </a:r>
          </a:p>
          <a:p>
            <a:endParaRPr lang="en-US" dirty="0" smtClean="0"/>
          </a:p>
          <a:p>
            <a:r>
              <a:rPr lang="en-US" dirty="0" smtClean="0"/>
              <a:t>4.Risk arises from failure of other: Agreement violation, non compliance/cost overrun.</a:t>
            </a:r>
          </a:p>
          <a:p>
            <a:endParaRPr lang="en-US" dirty="0"/>
          </a:p>
        </p:txBody>
      </p:sp>
      <p:pic>
        <p:nvPicPr>
          <p:cNvPr id="2050" name="Picture 2" descr="Understanding Speculative and Pure Risk in Insurance"/>
          <p:cNvPicPr>
            <a:picLocks noChangeAspect="1" noChangeArrowheads="1"/>
          </p:cNvPicPr>
          <p:nvPr/>
        </p:nvPicPr>
        <p:blipFill>
          <a:blip r:embed="rId2"/>
          <a:srcRect/>
          <a:stretch>
            <a:fillRect/>
          </a:stretch>
        </p:blipFill>
        <p:spPr bwMode="auto">
          <a:xfrm>
            <a:off x="4800600" y="5248274"/>
            <a:ext cx="4229100" cy="1609726"/>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Pure Risk VS Speculative Risk (2-2)</a:t>
            </a:r>
            <a:endParaRPr lang="en-US" dirty="0"/>
          </a:p>
        </p:txBody>
      </p:sp>
      <p:sp>
        <p:nvSpPr>
          <p:cNvPr id="3" name="Content Placeholder 2"/>
          <p:cNvSpPr>
            <a:spLocks noGrp="1"/>
          </p:cNvSpPr>
          <p:nvPr>
            <p:ph idx="1"/>
          </p:nvPr>
        </p:nvSpPr>
        <p:spPr>
          <a:xfrm>
            <a:off x="457200" y="1600201"/>
            <a:ext cx="8229600" cy="3352800"/>
          </a:xfrm>
        </p:spPr>
        <p:txBody>
          <a:bodyPr/>
          <a:lstStyle/>
          <a:p>
            <a:r>
              <a:rPr lang="en-US" b="1" dirty="0" smtClean="0"/>
              <a:t>(profit or loss, Gambling/ Horse race betting</a:t>
            </a:r>
          </a:p>
          <a:p>
            <a:r>
              <a:rPr lang="en-US" b="1" dirty="0" smtClean="0"/>
              <a:t>Speculative Risk. (uninsurable)</a:t>
            </a:r>
          </a:p>
          <a:p>
            <a:r>
              <a:rPr lang="en-US" dirty="0" smtClean="0"/>
              <a:t>While pure risk is beyond human control and can only result in a loss if it occurs, </a:t>
            </a:r>
            <a:r>
              <a:rPr lang="en-US" u="sng" dirty="0" smtClean="0">
                <a:hlinkClick r:id="rId2"/>
              </a:rPr>
              <a:t>speculative risk</a:t>
            </a:r>
            <a:r>
              <a:rPr lang="en-US" dirty="0" smtClean="0"/>
              <a:t> is taken on voluntarily and can result in either a profit or loss.</a:t>
            </a:r>
          </a:p>
        </p:txBody>
      </p:sp>
      <p:sp>
        <p:nvSpPr>
          <p:cNvPr id="1026" name="AutoShape 2" descr="China&amp;#39;s crackdown on cross-border gambling aims for payment platforms and  others abetting | South China Morning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China&amp;#39;s crackdown on cross-border gambling aims for payment platforms and  others abetting | South China Morning Po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0" name="Picture 6" descr="China aims to dismantle networks for fundraising and attracting gamblers. Photo: Shutterstock"/>
          <p:cNvPicPr>
            <a:picLocks noChangeAspect="1" noChangeArrowheads="1"/>
          </p:cNvPicPr>
          <p:nvPr/>
        </p:nvPicPr>
        <p:blipFill>
          <a:blip r:embed="rId3"/>
          <a:srcRect/>
          <a:stretch>
            <a:fillRect/>
          </a:stretch>
        </p:blipFill>
        <p:spPr bwMode="auto">
          <a:xfrm>
            <a:off x="533400" y="4800600"/>
            <a:ext cx="3886200" cy="2057400"/>
          </a:xfrm>
          <a:prstGeom prst="rect">
            <a:avLst/>
          </a:prstGeom>
          <a:noFill/>
        </p:spPr>
      </p:pic>
      <p:pic>
        <p:nvPicPr>
          <p:cNvPr id="1032" name="Picture 8" descr="10 Famous Horse Racing Scandals - HISTORY"/>
          <p:cNvPicPr>
            <a:picLocks noChangeAspect="1" noChangeArrowheads="1"/>
          </p:cNvPicPr>
          <p:nvPr/>
        </p:nvPicPr>
        <p:blipFill>
          <a:blip r:embed="rId4" cstate="print"/>
          <a:srcRect/>
          <a:stretch>
            <a:fillRect/>
          </a:stretch>
        </p:blipFill>
        <p:spPr bwMode="auto">
          <a:xfrm>
            <a:off x="4648200" y="4800600"/>
            <a:ext cx="3962400" cy="20574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Static VS Dynamic Risk</a:t>
            </a:r>
            <a:endParaRPr lang="en-US" dirty="0"/>
          </a:p>
        </p:txBody>
      </p:sp>
      <p:sp>
        <p:nvSpPr>
          <p:cNvPr id="3" name="Content Placeholder 2"/>
          <p:cNvSpPr>
            <a:spLocks noGrp="1"/>
          </p:cNvSpPr>
          <p:nvPr>
            <p:ph idx="1"/>
          </p:nvPr>
        </p:nvSpPr>
        <p:spPr/>
        <p:txBody>
          <a:bodyPr>
            <a:normAutofit lnSpcReduction="10000"/>
          </a:bodyPr>
          <a:lstStyle/>
          <a:p>
            <a:r>
              <a:rPr lang="en-US" b="1" dirty="0" smtClean="0"/>
              <a:t>Static Risk:</a:t>
            </a:r>
          </a:p>
          <a:p>
            <a:r>
              <a:rPr lang="en-US" dirty="0" smtClean="0"/>
              <a:t>Not beneficial for Society..</a:t>
            </a:r>
          </a:p>
          <a:p>
            <a:r>
              <a:rPr lang="en-US" dirty="0" smtClean="0"/>
              <a:t>Natural disaster, Theft, Catastrophic.</a:t>
            </a:r>
          </a:p>
          <a:p>
            <a:r>
              <a:rPr lang="en-US" b="1" dirty="0" smtClean="0"/>
              <a:t>Dynamic Risk:</a:t>
            </a:r>
          </a:p>
          <a:p>
            <a:r>
              <a:rPr lang="en-US" b="1" dirty="0" smtClean="0"/>
              <a:t>Occur because of change in economy.</a:t>
            </a:r>
          </a:p>
          <a:p>
            <a:r>
              <a:rPr lang="en-US" b="1" dirty="0" smtClean="0"/>
              <a:t>Internal/ External.</a:t>
            </a:r>
          </a:p>
          <a:p>
            <a:r>
              <a:rPr lang="en-US" b="1" dirty="0" smtClean="0"/>
              <a:t>Change in price level, Consumer taste, Exchange rate etc. </a:t>
            </a:r>
            <a:endParaRPr lang="en-US" b="1" dirty="0"/>
          </a:p>
        </p:txBody>
      </p:sp>
      <p:pic>
        <p:nvPicPr>
          <p:cNvPr id="128002" name="Picture 2" descr="Difference Between Static Risk and Dynamic Risk in Hindi | #24 - YouTube"/>
          <p:cNvPicPr>
            <a:picLocks noChangeAspect="1" noChangeArrowheads="1"/>
          </p:cNvPicPr>
          <p:nvPr/>
        </p:nvPicPr>
        <p:blipFill>
          <a:blip r:embed="rId2" cstate="print"/>
          <a:srcRect/>
          <a:stretch>
            <a:fillRect/>
          </a:stretch>
        </p:blipFill>
        <p:spPr bwMode="auto">
          <a:xfrm>
            <a:off x="5029200" y="5286375"/>
            <a:ext cx="4114800" cy="1571625"/>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
            </a:r>
            <a:r>
              <a:rPr lang="en-US" dirty="0" smtClean="0"/>
              <a:t>usiness risks Vs Project risks</a:t>
            </a:r>
            <a:endParaRPr lang="en-US" dirty="0"/>
          </a:p>
        </p:txBody>
      </p:sp>
      <p:sp>
        <p:nvSpPr>
          <p:cNvPr id="3" name="Content Placeholder 2"/>
          <p:cNvSpPr>
            <a:spLocks noGrp="1"/>
          </p:cNvSpPr>
          <p:nvPr>
            <p:ph idx="1"/>
          </p:nvPr>
        </p:nvSpPr>
        <p:spPr/>
        <p:txBody>
          <a:bodyPr/>
          <a:lstStyle/>
          <a:p>
            <a:pPr algn="just"/>
            <a:r>
              <a:rPr lang="en-US" dirty="0"/>
              <a:t>The important distinction that must be understood is the difference between business risks and project risks. Business risks are more general and relate to the organization, whereas project risks relate specifically to the project objectives.</a:t>
            </a:r>
          </a:p>
          <a:p>
            <a:endParaRPr lang="en-US" dirty="0"/>
          </a:p>
        </p:txBody>
      </p:sp>
      <p:pic>
        <p:nvPicPr>
          <p:cNvPr id="98306" name="Picture 2" descr="Inherent Risk vs Residual Risk Explained with Examples – Knowledge Hub for  Project Management Professionals"/>
          <p:cNvPicPr>
            <a:picLocks noChangeAspect="1" noChangeArrowheads="1"/>
          </p:cNvPicPr>
          <p:nvPr/>
        </p:nvPicPr>
        <p:blipFill>
          <a:blip r:embed="rId2"/>
          <a:srcRect/>
          <a:stretch>
            <a:fillRect/>
          </a:stretch>
        </p:blipFill>
        <p:spPr bwMode="auto">
          <a:xfrm>
            <a:off x="0" y="4667250"/>
            <a:ext cx="9144000" cy="219075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lgn="just"/>
            <a:r>
              <a:rPr lang="en-US" b="1" dirty="0"/>
              <a:t>Business risk </a:t>
            </a:r>
            <a:r>
              <a:rPr lang="en-US" dirty="0"/>
              <a:t>implies uncertainty in profits or danger of loss and the events that could pose a risk due to some unforeseen events in future, which causes business to fail. (Wikipedia)</a:t>
            </a:r>
          </a:p>
          <a:p>
            <a:pPr lvl="0" algn="just"/>
            <a:r>
              <a:rPr lang="en-US" b="1" dirty="0"/>
              <a:t>Project risk </a:t>
            </a:r>
            <a:r>
              <a:rPr lang="en-US" dirty="0"/>
              <a:t>is an uncertain event or condition that, if it occurs, has a positive or negative effect on a project’s objectives. (PMI)</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r>
              <a:rPr lang="en-US" dirty="0"/>
              <a:t>For example,</a:t>
            </a:r>
          </a:p>
          <a:p>
            <a:pPr>
              <a:buNone/>
            </a:pPr>
            <a:endParaRPr lang="en-US" dirty="0"/>
          </a:p>
          <a:p>
            <a:pPr lvl="0" algn="just"/>
            <a:r>
              <a:rPr lang="en-US" b="1" i="1" dirty="0"/>
              <a:t>Project scope</a:t>
            </a:r>
            <a:r>
              <a:rPr lang="en-US" i="1" dirty="0"/>
              <a:t>—to build the stadium to the agreed specification within an agreed timescale and budget</a:t>
            </a:r>
            <a:r>
              <a:rPr lang="en-US" i="1" dirty="0" smtClean="0"/>
              <a:t>.</a:t>
            </a:r>
          </a:p>
          <a:p>
            <a:pPr lvl="0" algn="just"/>
            <a:endParaRPr lang="en-US" dirty="0"/>
          </a:p>
          <a:p>
            <a:pPr lvl="0" algn="just"/>
            <a:r>
              <a:rPr lang="en-US" b="1" i="1" dirty="0"/>
              <a:t>Project Risk</a:t>
            </a:r>
            <a:r>
              <a:rPr lang="en-US" i="1" dirty="0"/>
              <a:t>—that the building costs may be higher than expected </a:t>
            </a:r>
            <a:r>
              <a:rPr lang="en-US" i="1" dirty="0" smtClean="0"/>
              <a:t>because </a:t>
            </a:r>
            <a:r>
              <a:rPr lang="en-US" i="1" dirty="0"/>
              <a:t>of an increase in materials or labor costs</a:t>
            </a:r>
            <a:r>
              <a:rPr lang="en-US" i="1" dirty="0" smtClean="0"/>
              <a:t>.</a:t>
            </a:r>
          </a:p>
          <a:p>
            <a:pPr lvl="0" algn="just"/>
            <a:endParaRPr lang="en-US" dirty="0"/>
          </a:p>
          <a:p>
            <a:pPr lvl="0" algn="just"/>
            <a:r>
              <a:rPr lang="en-US" b="1" i="1" dirty="0"/>
              <a:t>Business Risk</a:t>
            </a:r>
            <a:r>
              <a:rPr lang="en-US" i="1" dirty="0"/>
              <a:t>—even if the stadium is constructed on time and within budget that it will not make money for the business. This could be </a:t>
            </a:r>
            <a:r>
              <a:rPr lang="en-US" i="1" dirty="0" smtClean="0"/>
              <a:t>because </a:t>
            </a:r>
            <a:r>
              <a:rPr lang="en-US" i="1" dirty="0"/>
              <a:t>of lower than expected ticket sales or higher than expected </a:t>
            </a:r>
            <a:r>
              <a:rPr lang="en-US" i="1" dirty="0" smtClean="0"/>
              <a:t>maintenance </a:t>
            </a:r>
            <a:r>
              <a:rPr lang="en-US" i="1" dirty="0"/>
              <a:t>costs. These risks exist outside of the scope of the project.</a:t>
            </a:r>
            <a:endParaRPr lang="en-US" dirty="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Risks are caused by a requirement, assumption, constraint, or condition that creates the possibility of negative or positive outcomes.</a:t>
            </a:r>
          </a:p>
          <a:p>
            <a:endParaRPr lang="en-US" dirty="0"/>
          </a:p>
        </p:txBody>
      </p:sp>
      <p:pic>
        <p:nvPicPr>
          <p:cNvPr id="2056" name="Picture 8"/>
          <p:cNvPicPr>
            <a:picLocks noChangeAspect="1" noChangeArrowheads="1"/>
          </p:cNvPicPr>
          <p:nvPr/>
        </p:nvPicPr>
        <p:blipFill>
          <a:blip r:embed="rId2"/>
          <a:srcRect/>
          <a:stretch>
            <a:fillRect/>
          </a:stretch>
        </p:blipFill>
        <p:spPr bwMode="auto">
          <a:xfrm>
            <a:off x="2819400" y="3352800"/>
            <a:ext cx="5232400" cy="285403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Continuing the </a:t>
            </a:r>
            <a:r>
              <a:rPr lang="en-US" dirty="0" smtClean="0"/>
              <a:t>previous example:</a:t>
            </a:r>
            <a:endParaRPr lang="en-US" dirty="0"/>
          </a:p>
          <a:p>
            <a:endParaRPr lang="en-US" sz="2800" dirty="0"/>
          </a:p>
          <a:p>
            <a:pPr lvl="0"/>
            <a:r>
              <a:rPr lang="en-US" i="1" dirty="0"/>
              <a:t>Risk Cause—change in health and safety legislation during the build phase</a:t>
            </a:r>
            <a:r>
              <a:rPr lang="en-US" i="1" dirty="0" smtClean="0"/>
              <a:t>.</a:t>
            </a:r>
          </a:p>
          <a:p>
            <a:pPr lvl="0"/>
            <a:endParaRPr lang="en-US" sz="2800" dirty="0"/>
          </a:p>
          <a:p>
            <a:pPr lvl="0"/>
            <a:r>
              <a:rPr lang="en-US" i="1" dirty="0"/>
              <a:t>Risk Outcome—increased costs to modify the parts of the stadium in </a:t>
            </a:r>
            <a:r>
              <a:rPr lang="en-US" i="1" dirty="0" smtClean="0"/>
              <a:t>accordance </a:t>
            </a:r>
            <a:r>
              <a:rPr lang="en-US" i="1" dirty="0"/>
              <a:t>with the new legislation before it can be used</a:t>
            </a:r>
            <a:r>
              <a:rPr lang="en-US" i="1" dirty="0" smtClean="0"/>
              <a:t>.</a:t>
            </a:r>
          </a:p>
          <a:p>
            <a:pPr lvl="0"/>
            <a:endParaRPr lang="en-US" sz="2800" dirty="0"/>
          </a:p>
          <a:p>
            <a:pPr lvl="0"/>
            <a:r>
              <a:rPr lang="en-US" i="1" dirty="0"/>
              <a:t>Project Impact on cost, schedule and performance needs to assessed:</a:t>
            </a:r>
            <a:endParaRPr lang="en-US" sz="2800" dirty="0"/>
          </a:p>
          <a:p>
            <a:pPr lvl="1"/>
            <a:r>
              <a:rPr lang="en-US" i="1" dirty="0"/>
              <a:t>Shortage of skilled personnel due to demand by other building projects</a:t>
            </a:r>
            <a:endParaRPr lang="en-US" sz="2400" dirty="0"/>
          </a:p>
          <a:p>
            <a:pPr lvl="1"/>
            <a:r>
              <a:rPr lang="en-US" i="1" dirty="0"/>
              <a:t>Unexpected cost of inspection &amp; license</a:t>
            </a:r>
            <a:endParaRPr lang="en-US" sz="2400" dirty="0"/>
          </a:p>
          <a:p>
            <a:pPr lvl="1"/>
            <a:r>
              <a:rPr lang="en-US" i="1" dirty="0"/>
              <a:t>The build of the affected parts of the stadium can be brought forward to finish project on time.</a:t>
            </a:r>
            <a:endParaRPr lang="en-US" sz="2400" dirty="0"/>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Opportunity and Threat</a:t>
            </a:r>
            <a:endParaRPr lang="en-US" dirty="0"/>
          </a:p>
        </p:txBody>
      </p:sp>
      <p:sp>
        <p:nvSpPr>
          <p:cNvPr id="3" name="Content Placeholder 2"/>
          <p:cNvSpPr>
            <a:spLocks noGrp="1"/>
          </p:cNvSpPr>
          <p:nvPr>
            <p:ph idx="1"/>
          </p:nvPr>
        </p:nvSpPr>
        <p:spPr>
          <a:xfrm>
            <a:off x="457200" y="1143000"/>
            <a:ext cx="8229600" cy="5486400"/>
          </a:xfrm>
        </p:spPr>
        <p:txBody>
          <a:bodyPr>
            <a:normAutofit fontScale="62500" lnSpcReduction="20000"/>
          </a:bodyPr>
          <a:lstStyle/>
          <a:p>
            <a:r>
              <a:rPr lang="en-US" dirty="0" smtClean="0"/>
              <a:t>1. “Risk” is an umbrella term, with two varieties:</a:t>
            </a:r>
          </a:p>
          <a:p>
            <a:r>
              <a:rPr lang="en-US" dirty="0" smtClean="0"/>
              <a:t>• “Opportunity” which is a risk with positive effects</a:t>
            </a:r>
          </a:p>
          <a:p>
            <a:r>
              <a:rPr lang="en-US" dirty="0" smtClean="0"/>
              <a:t>• “Threat,” which is a risk with negative effects.</a:t>
            </a:r>
          </a:p>
          <a:p>
            <a:r>
              <a:rPr lang="en-US" dirty="0" smtClean="0"/>
              <a:t>2. “Uncertainty” is the overarching term, with two varieties:</a:t>
            </a:r>
          </a:p>
          <a:p>
            <a:r>
              <a:rPr lang="en-US" dirty="0" smtClean="0"/>
              <a:t>• “Risk” referring exclusively to a threat, i.e., an uncertainty with negative effects</a:t>
            </a:r>
          </a:p>
          <a:p>
            <a:r>
              <a:rPr lang="en-US" dirty="0" smtClean="0"/>
              <a:t>• “Opportunity,” which is an uncertainty with positive effects.</a:t>
            </a:r>
          </a:p>
          <a:p>
            <a:r>
              <a:rPr lang="en-US" dirty="0" smtClean="0"/>
              <a:t>There is no doubt that common lay usage of the word “risk” sees only the downside. This is reflected in the traditional definitions of the word, both in standard dictionaries and in some technical definitions However, some professional bodies and standards organizations have gradually developed their definitions of “risk” to include both upside and downside. </a:t>
            </a:r>
          </a:p>
          <a:p>
            <a:r>
              <a:rPr lang="en-US" dirty="0" smtClean="0"/>
              <a:t>The </a:t>
            </a:r>
            <a:r>
              <a:rPr lang="en-US" dirty="0"/>
              <a:t>PMBOK® Guide advises that risks include both threats and opportunities that </a:t>
            </a:r>
            <a:r>
              <a:rPr lang="en-US" dirty="0" smtClean="0"/>
              <a:t>project </a:t>
            </a:r>
            <a:r>
              <a:rPr lang="en-US" dirty="0"/>
              <a:t>managers must assess</a:t>
            </a:r>
            <a:r>
              <a:rPr lang="en-US" dirty="0" smtClean="0"/>
              <a:t>.</a:t>
            </a:r>
            <a:r>
              <a:rPr lang="en-US" dirty="0"/>
              <a:t> </a:t>
            </a:r>
          </a:p>
          <a:p>
            <a:r>
              <a:rPr lang="en-US" dirty="0"/>
              <a:t>Opportunities have uncertainty associated with them, but they should be grasped, and action taken to ensure that they are realized</a:t>
            </a:r>
            <a:r>
              <a:rPr lang="en-US" dirty="0" smtClean="0"/>
              <a:t>.</a:t>
            </a:r>
            <a:endParaRPr lang="en-US" dirty="0"/>
          </a:p>
          <a:p>
            <a:r>
              <a:rPr lang="en-US" dirty="0"/>
              <a:t>Threats have potentially negative impacts that the project management team should strive to mitigate</a:t>
            </a:r>
            <a:r>
              <a:rPr lang="en-US" dirty="0" smtClean="0"/>
              <a:t>. </a:t>
            </a:r>
            <a:r>
              <a:rPr lang="en-US" dirty="0" smtClean="0">
                <a:solidFill>
                  <a:srgbClr val="FF0000"/>
                </a:solidFill>
              </a:rPr>
              <a:t>(extreme weather conditions)</a:t>
            </a:r>
            <a:endParaRPr lang="en-US" dirty="0">
              <a:solidFill>
                <a:srgbClr val="FF0000"/>
              </a:solidFill>
            </a:endParaRP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sz="3800" b="1" dirty="0" smtClean="0"/>
              <a:t>Risk Response Planning</a:t>
            </a:r>
          </a:p>
          <a:p>
            <a:pPr algn="just"/>
            <a:r>
              <a:rPr lang="en-US" dirty="0" smtClean="0"/>
              <a:t>Risk Response Planning is the process of developing options, and determining actions to enhance opportunities and reduce threats to the project’s objectives. It follows the Qualitative Risk Analysis and Quantitative Risk Analysis processes. It includes the identification and assignment of one or more persons (the “risk response owner”) to take responsibility for each agreed-to and funded risk response. Risk Response Planning addresses the risks by their priority, inserting resources and activities into the budget, schedule, and project management plan, as needed. </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52400"/>
            <a:ext cx="8229600" cy="6477000"/>
          </a:xfrm>
        </p:spPr>
        <p:txBody>
          <a:bodyPr>
            <a:normAutofit fontScale="92500" lnSpcReduction="20000"/>
          </a:bodyPr>
          <a:lstStyle/>
          <a:p>
            <a:pPr algn="just"/>
            <a:r>
              <a:rPr lang="en-US" b="1" dirty="0" smtClean="0"/>
              <a:t>Negative Risk Response Strategies </a:t>
            </a:r>
            <a:r>
              <a:rPr lang="en-US" b="1" dirty="0" smtClean="0">
                <a:solidFill>
                  <a:srgbClr val="FF0000"/>
                </a:solidFill>
              </a:rPr>
              <a:t>(Threat)</a:t>
            </a:r>
            <a:endParaRPr lang="en-US" dirty="0" smtClean="0">
              <a:solidFill>
                <a:srgbClr val="FF0000"/>
              </a:solidFill>
            </a:endParaRPr>
          </a:p>
          <a:p>
            <a:pPr algn="just"/>
            <a:r>
              <a:rPr lang="en-US" b="1" dirty="0" smtClean="0"/>
              <a:t>Avoidance</a:t>
            </a:r>
            <a:r>
              <a:rPr lang="en-US" dirty="0" smtClean="0"/>
              <a:t> - </a:t>
            </a:r>
            <a:r>
              <a:rPr lang="en-US" dirty="0"/>
              <a:t>eliminate the threat to protect the project from the impact of the risk</a:t>
            </a:r>
            <a:r>
              <a:rPr lang="en-US" dirty="0" smtClean="0"/>
              <a:t>. </a:t>
            </a:r>
            <a:r>
              <a:rPr lang="en-US" dirty="0" err="1" smtClean="0"/>
              <a:t>Eg</a:t>
            </a:r>
            <a:r>
              <a:rPr lang="en-US" dirty="0" smtClean="0"/>
              <a:t> </a:t>
            </a:r>
            <a:r>
              <a:rPr lang="en-US" sz="1800" dirty="0" smtClean="0">
                <a:solidFill>
                  <a:srgbClr val="FF0000"/>
                </a:solidFill>
              </a:rPr>
              <a:t>(Covid-19 work from home)</a:t>
            </a:r>
          </a:p>
          <a:p>
            <a:pPr algn="just"/>
            <a:r>
              <a:rPr lang="en-US" b="1" dirty="0" smtClean="0"/>
              <a:t>Mitigation</a:t>
            </a:r>
            <a:r>
              <a:rPr lang="en-US" dirty="0" smtClean="0"/>
              <a:t> - Effort is made to reduce the probability, impact, or both of an identified risk in the project before the risk event occurs.</a:t>
            </a:r>
          </a:p>
          <a:p>
            <a:pPr algn="just"/>
            <a:r>
              <a:rPr lang="en-US" dirty="0" err="1" smtClean="0"/>
              <a:t>Eg</a:t>
            </a:r>
            <a:r>
              <a:rPr lang="en-US" dirty="0" smtClean="0"/>
              <a:t> </a:t>
            </a:r>
            <a:r>
              <a:rPr lang="en-US" sz="1900" dirty="0" smtClean="0">
                <a:solidFill>
                  <a:srgbClr val="FF0000"/>
                </a:solidFill>
              </a:rPr>
              <a:t>(</a:t>
            </a:r>
            <a:r>
              <a:rPr lang="en-US" sz="1900" dirty="0">
                <a:solidFill>
                  <a:srgbClr val="FF0000"/>
                </a:solidFill>
              </a:rPr>
              <a:t>seatbelt to reduce the potential impact of an </a:t>
            </a:r>
            <a:r>
              <a:rPr lang="en-US" sz="1900" dirty="0" smtClean="0">
                <a:solidFill>
                  <a:srgbClr val="FF0000"/>
                </a:solidFill>
              </a:rPr>
              <a:t>accident)</a:t>
            </a:r>
          </a:p>
          <a:p>
            <a:pPr algn="just"/>
            <a:r>
              <a:rPr lang="en-US" b="1" dirty="0" smtClean="0"/>
              <a:t>Transference</a:t>
            </a:r>
            <a:r>
              <a:rPr lang="en-US" dirty="0" smtClean="0"/>
              <a:t> - The risk is assigned to a third party, usually for a fee. The risk still exists, but the responsibility is deflected to the third party.</a:t>
            </a:r>
            <a:r>
              <a:rPr lang="en-US" dirty="0"/>
              <a:t> </a:t>
            </a:r>
            <a:r>
              <a:rPr lang="en-US" dirty="0" err="1" smtClean="0"/>
              <a:t>Eg</a:t>
            </a:r>
            <a:r>
              <a:rPr lang="en-US" dirty="0" smtClean="0"/>
              <a:t> </a:t>
            </a:r>
            <a:r>
              <a:rPr lang="en-US" sz="2100" dirty="0" smtClean="0">
                <a:solidFill>
                  <a:srgbClr val="FF0000"/>
                </a:solidFill>
              </a:rPr>
              <a:t>(Purchasing </a:t>
            </a:r>
            <a:r>
              <a:rPr lang="en-US" sz="2100" dirty="0">
                <a:solidFill>
                  <a:srgbClr val="FF0000"/>
                </a:solidFill>
              </a:rPr>
              <a:t>insurance for your home doesn’t reduce or eliminate damage from a storm, but it does provide a financial safety net in the event damages do occur</a:t>
            </a:r>
            <a:r>
              <a:rPr lang="en-US" sz="2100" dirty="0" smtClean="0">
                <a:solidFill>
                  <a:srgbClr val="FF0000"/>
                </a:solidFill>
              </a:rPr>
              <a:t>.)</a:t>
            </a:r>
          </a:p>
          <a:p>
            <a:pPr algn="just"/>
            <a:r>
              <a:rPr lang="en-US" sz="3500" b="1" dirty="0"/>
              <a:t>Accept</a:t>
            </a:r>
            <a:r>
              <a:rPr lang="en-US" sz="3500" dirty="0"/>
              <a:t> – acknowledge the risk, but do not take any action unless the risk occurs. </a:t>
            </a:r>
            <a:r>
              <a:rPr lang="en-US" sz="1900" dirty="0">
                <a:solidFill>
                  <a:srgbClr val="FF0000"/>
                </a:solidFill>
              </a:rPr>
              <a:t>An example of this is documenting the risk and putting aside funds in case the risk occurs.</a:t>
            </a:r>
          </a:p>
          <a:p>
            <a:pPr algn="just"/>
            <a:endParaRPr lang="en-US" sz="2100" dirty="0" smtClean="0">
              <a:solidFill>
                <a:srgbClr val="FF0000"/>
              </a:solidFill>
            </a:endParaRP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229600" cy="6629400"/>
          </a:xfrm>
        </p:spPr>
        <p:txBody>
          <a:bodyPr>
            <a:normAutofit fontScale="55000" lnSpcReduction="20000"/>
          </a:bodyPr>
          <a:lstStyle/>
          <a:p>
            <a:r>
              <a:rPr lang="en-US" b="1" dirty="0"/>
              <a:t>Positive Risk Response Strategies </a:t>
            </a:r>
            <a:r>
              <a:rPr lang="en-US" b="1" dirty="0">
                <a:solidFill>
                  <a:srgbClr val="00B050"/>
                </a:solidFill>
              </a:rPr>
              <a:t>(Opportunity)</a:t>
            </a:r>
            <a:r>
              <a:rPr lang="en-US" b="1" dirty="0"/>
              <a:t/>
            </a:r>
            <a:br>
              <a:rPr lang="en-US" b="1" dirty="0"/>
            </a:br>
            <a:r>
              <a:rPr lang="en-US" dirty="0"/>
              <a:t>Tools and Techniques for Risk Response Planning; it’s important to know how to handle both positive and negative risk</a:t>
            </a:r>
            <a:r>
              <a:rPr lang="en-US" dirty="0" smtClean="0"/>
              <a:t>.</a:t>
            </a:r>
          </a:p>
          <a:p>
            <a:endParaRPr lang="en-US" dirty="0"/>
          </a:p>
          <a:p>
            <a:pPr algn="just"/>
            <a:r>
              <a:rPr lang="en-US" sz="3800" b="1" dirty="0"/>
              <a:t>Exploit</a:t>
            </a:r>
            <a:r>
              <a:rPr lang="en-US" sz="3800" dirty="0"/>
              <a:t> - Used in conjunction with positive impacts where the host organization wants to ensure the positive risk definitely happens</a:t>
            </a:r>
            <a:r>
              <a:rPr lang="en-US" sz="3800" dirty="0" smtClean="0"/>
              <a:t>. </a:t>
            </a:r>
            <a:r>
              <a:rPr lang="en-US" dirty="0" smtClean="0"/>
              <a:t>EG </a:t>
            </a:r>
            <a:r>
              <a:rPr lang="en-US" sz="2600" dirty="0" smtClean="0">
                <a:solidFill>
                  <a:srgbClr val="FF0000"/>
                </a:solidFill>
              </a:rPr>
              <a:t>(</a:t>
            </a:r>
            <a:r>
              <a:rPr lang="en-US" sz="2600" dirty="0">
                <a:solidFill>
                  <a:srgbClr val="FF0000"/>
                </a:solidFill>
              </a:rPr>
              <a:t>You give overtime to your team members, bring in more employees, motivate the team members by announcing rewards if they help you complete the project ahead of </a:t>
            </a:r>
            <a:r>
              <a:rPr lang="en-US" sz="2600" dirty="0" smtClean="0">
                <a:solidFill>
                  <a:srgbClr val="FF0000"/>
                </a:solidFill>
              </a:rPr>
              <a:t>time)</a:t>
            </a:r>
          </a:p>
          <a:p>
            <a:pPr algn="just"/>
            <a:endParaRPr lang="en-US" sz="2600" dirty="0">
              <a:solidFill>
                <a:srgbClr val="FF0000"/>
              </a:solidFill>
            </a:endParaRPr>
          </a:p>
          <a:p>
            <a:pPr algn="just"/>
            <a:r>
              <a:rPr lang="en-US" sz="3800" b="1" dirty="0"/>
              <a:t>Share</a:t>
            </a:r>
            <a:r>
              <a:rPr lang="en-US" sz="3800" dirty="0"/>
              <a:t> - 3rd party partnerships that include forming risk-sharing partnerships, teams, special-purpose companies, or joint ventures, which can be established with the express purpose of managing opportunities</a:t>
            </a:r>
            <a:r>
              <a:rPr lang="en-US" sz="3800" dirty="0" smtClean="0"/>
              <a:t>. </a:t>
            </a:r>
          </a:p>
          <a:p>
            <a:pPr algn="just"/>
            <a:endParaRPr lang="en-US" sz="3800" dirty="0"/>
          </a:p>
          <a:p>
            <a:pPr algn="just"/>
            <a:r>
              <a:rPr lang="en-US" sz="3800" b="1" dirty="0"/>
              <a:t>Enhance</a:t>
            </a:r>
            <a:r>
              <a:rPr lang="en-US" sz="3800" dirty="0"/>
              <a:t> </a:t>
            </a:r>
            <a:r>
              <a:rPr lang="en-US" sz="3800" dirty="0" smtClean="0"/>
              <a:t>- Seeks </a:t>
            </a:r>
            <a:r>
              <a:rPr lang="en-US" sz="3800" dirty="0"/>
              <a:t>to facilitate or strengthen the cause of the opportunity, and proactively targeting and reinforcing its trigger conditions, to potentially increase probability</a:t>
            </a:r>
            <a:r>
              <a:rPr lang="en-US" sz="3800" dirty="0" smtClean="0"/>
              <a:t>.</a:t>
            </a:r>
            <a:r>
              <a:rPr lang="en-US" dirty="0" smtClean="0"/>
              <a:t> </a:t>
            </a:r>
            <a:r>
              <a:rPr lang="en-US" sz="2600" dirty="0">
                <a:solidFill>
                  <a:srgbClr val="FF0000"/>
                </a:solidFill>
              </a:rPr>
              <a:t>For example, let’s say you will complete your project in three months and the government is about to float a similar project in two months. You can bid for a new project if you complete your project in two months</a:t>
            </a:r>
            <a:r>
              <a:rPr lang="en-US" sz="2600" dirty="0" smtClean="0">
                <a:solidFill>
                  <a:srgbClr val="FF0000"/>
                </a:solidFill>
              </a:rPr>
              <a:t>.</a:t>
            </a:r>
          </a:p>
          <a:p>
            <a:pPr algn="just"/>
            <a:endParaRPr lang="en-US" sz="2600" dirty="0" smtClean="0">
              <a:solidFill>
                <a:srgbClr val="FF0000"/>
              </a:solidFill>
            </a:endParaRPr>
          </a:p>
          <a:p>
            <a:r>
              <a:rPr lang="en-US" sz="3800" b="1" dirty="0"/>
              <a:t>Accept </a:t>
            </a:r>
          </a:p>
          <a:p>
            <a:r>
              <a:rPr lang="en-US" sz="3800" dirty="0"/>
              <a:t>In the accept risk response strategy, you take no action to realize the opportunity. You leave the opportunity as is, and if it happens on its own, you will benefit from it</a:t>
            </a:r>
            <a:r>
              <a:rPr lang="en-US" sz="3800" dirty="0" smtClean="0"/>
              <a:t>. </a:t>
            </a:r>
            <a:r>
              <a:rPr lang="en-US" sz="2300" dirty="0">
                <a:solidFill>
                  <a:srgbClr val="FF0000"/>
                </a:solidFill>
              </a:rPr>
              <a:t>For example, suppose you may get skilled workers from another project at a lower rate if you convince them to join you. However, you do not pursue this matter and instead, let them decide whether or not they are interested in your project.</a:t>
            </a:r>
          </a:p>
          <a:p>
            <a:pPr algn="just"/>
            <a:endParaRPr lang="en-US" dirty="0"/>
          </a:p>
          <a:p>
            <a:endParaRPr lang="en-US" dirty="0"/>
          </a:p>
        </p:txBody>
      </p:sp>
    </p:spTree>
    <p:extLst>
      <p:ext uri="{BB962C8B-B14F-4D97-AF65-F5344CB8AC3E}">
        <p14:creationId xmlns:p14="http://schemas.microsoft.com/office/powerpoint/2010/main" val="17703260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544178" cy="731838"/>
          </a:xfrm>
        </p:spPr>
        <p:txBody>
          <a:bodyPr>
            <a:normAutofit fontScale="90000"/>
          </a:bodyPr>
          <a:lstStyle/>
          <a:p>
            <a:r>
              <a:rPr lang="en-US" dirty="0"/>
              <a:t>Partial Risk Profile for Product Development Project</a:t>
            </a:r>
          </a:p>
        </p:txBody>
      </p:sp>
      <p:pic>
        <p:nvPicPr>
          <p:cNvPr id="4" name="Picture 3"/>
          <p:cNvPicPr>
            <a:picLocks noChangeAspect="1"/>
          </p:cNvPicPr>
          <p:nvPr/>
        </p:nvPicPr>
        <p:blipFill>
          <a:blip r:embed="rId2"/>
          <a:stretch>
            <a:fillRect/>
          </a:stretch>
        </p:blipFill>
        <p:spPr>
          <a:xfrm>
            <a:off x="371221" y="1219200"/>
            <a:ext cx="8401557" cy="5451330"/>
          </a:xfrm>
          <a:prstGeom prst="rect">
            <a:avLst/>
          </a:prstGeom>
        </p:spPr>
      </p:pic>
    </p:spTree>
    <p:extLst>
      <p:ext uri="{BB962C8B-B14F-4D97-AF65-F5344CB8AC3E}">
        <p14:creationId xmlns:p14="http://schemas.microsoft.com/office/powerpoint/2010/main" val="21797304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
            </a:r>
            <a:r>
              <a:rPr lang="en-US" dirty="0" smtClean="0"/>
              <a:t>isk </a:t>
            </a:r>
            <a:r>
              <a:rPr lang="en-US" dirty="0"/>
              <a:t>T</a:t>
            </a:r>
            <a:r>
              <a:rPr lang="en-US" dirty="0" smtClean="0"/>
              <a:t>olerance</a:t>
            </a:r>
            <a:endParaRPr lang="en-US" dirty="0"/>
          </a:p>
        </p:txBody>
      </p:sp>
      <p:sp>
        <p:nvSpPr>
          <p:cNvPr id="3" name="Content Placeholder 2"/>
          <p:cNvSpPr>
            <a:spLocks noGrp="1"/>
          </p:cNvSpPr>
          <p:nvPr>
            <p:ph idx="1"/>
          </p:nvPr>
        </p:nvSpPr>
        <p:spPr/>
        <p:txBody>
          <a:bodyPr>
            <a:normAutofit fontScale="92500" lnSpcReduction="20000"/>
          </a:bodyPr>
          <a:lstStyle/>
          <a:p>
            <a:r>
              <a:rPr lang="en-US" dirty="0"/>
              <a:t>Organizations and stakeholders are willing to accept varying degrees of risk. This is called risk tolerance. Risks that are threats to the project may be accepted if they are in balance with the rewards that may be gained from taking them. For example,</a:t>
            </a:r>
          </a:p>
          <a:p>
            <a:r>
              <a:rPr lang="en-US" dirty="0"/>
              <a:t> </a:t>
            </a:r>
          </a:p>
          <a:p>
            <a:r>
              <a:rPr lang="en-US" i="1" dirty="0"/>
              <a:t>Using unproven productivity-boosting software is a risk taken in the </a:t>
            </a:r>
            <a:r>
              <a:rPr lang="en-US" i="1" dirty="0" smtClean="0"/>
              <a:t>expectation </a:t>
            </a:r>
            <a:r>
              <a:rPr lang="en-US" i="1" dirty="0"/>
              <a:t>that the work will be completed more quickly and with fewer resources</a:t>
            </a:r>
            <a:r>
              <a:rPr lang="en-US" i="1" dirty="0" smtClean="0">
                <a:solidFill>
                  <a:srgbClr val="FF0000"/>
                </a:solidFill>
              </a:rPr>
              <a:t>.(unlicensed MS Windows)</a:t>
            </a:r>
            <a:endParaRPr lang="en-US" dirty="0">
              <a:solidFill>
                <a:srgbClr val="FF0000"/>
              </a:solidFill>
            </a:endParaRP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1"/>
            <a:ext cx="8229600" cy="1981200"/>
          </a:xfrm>
        </p:spPr>
        <p:txBody>
          <a:bodyPr>
            <a:normAutofit fontScale="55000" lnSpcReduction="20000"/>
          </a:bodyPr>
          <a:lstStyle/>
          <a:p>
            <a:r>
              <a:rPr lang="en-US" dirty="0"/>
              <a:t>The risk of the software not performing as advertised would need to be considered as part of the risk assessment.</a:t>
            </a:r>
          </a:p>
          <a:p>
            <a:r>
              <a:rPr lang="en-US" dirty="0"/>
              <a:t> </a:t>
            </a:r>
          </a:p>
          <a:p>
            <a:pPr>
              <a:buFont typeface="Courier New" pitchFamily="49" charset="0"/>
              <a:buChar char="o"/>
            </a:pPr>
            <a:r>
              <a:rPr lang="en-US" dirty="0"/>
              <a:t>All organizations have a ‘risk tolerance’ that is affected by their legal status and their culture. For instance, a pension fund is likely to be more risk averse than a small start up company. In all cases, attitudes to risk are driven by perception, tolerances, and other biases, which should be made explicit wherever possible.</a:t>
            </a:r>
          </a:p>
          <a:p>
            <a:endParaRPr lang="en-US" dirty="0"/>
          </a:p>
        </p:txBody>
      </p:sp>
      <p:pic>
        <p:nvPicPr>
          <p:cNvPr id="3074" name="Picture 2"/>
          <p:cNvPicPr>
            <a:picLocks noChangeAspect="1" noChangeArrowheads="1"/>
          </p:cNvPicPr>
          <p:nvPr/>
        </p:nvPicPr>
        <p:blipFill>
          <a:blip r:embed="rId2"/>
          <a:srcRect/>
          <a:stretch>
            <a:fillRect/>
          </a:stretch>
        </p:blipFill>
        <p:spPr bwMode="auto">
          <a:xfrm>
            <a:off x="2286000" y="3505200"/>
            <a:ext cx="4467225" cy="3218202"/>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762000" y="609600"/>
            <a:ext cx="7543800" cy="60579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2050" name="Picture 2"/>
          <p:cNvPicPr>
            <a:picLocks noChangeAspect="1" noChangeArrowheads="1"/>
          </p:cNvPicPr>
          <p:nvPr/>
        </p:nvPicPr>
        <p:blipFill>
          <a:blip r:embed="rId2"/>
          <a:srcRect/>
          <a:stretch>
            <a:fillRect/>
          </a:stretch>
        </p:blipFill>
        <p:spPr bwMode="auto">
          <a:xfrm>
            <a:off x="1295400" y="685800"/>
            <a:ext cx="6324600" cy="60292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Risk appetite</a:t>
            </a:r>
            <a:r>
              <a:rPr lang="en-US" dirty="0" smtClean="0"/>
              <a:t>: A target level of loss exposure that the organization views as acceptable, given business objectives and resources.</a:t>
            </a:r>
          </a:p>
          <a:p>
            <a:r>
              <a:rPr lang="en-US" b="1" dirty="0" smtClean="0"/>
              <a:t>Risk tolerance</a:t>
            </a:r>
            <a:r>
              <a:rPr lang="en-US" dirty="0" smtClean="0"/>
              <a:t>: The degree of variance from the organization’s risk appetite that the organization is willing to tolerate.</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Risk Appetite </a:t>
            </a:r>
            <a:r>
              <a:rPr lang="en-US" b="1" dirty="0" err="1" smtClean="0"/>
              <a:t>vs</a:t>
            </a:r>
            <a:r>
              <a:rPr lang="en-US" b="1" dirty="0" smtClean="0"/>
              <a:t> Risk Tolerance</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According to the IIA (institute of internal audit), both risk appetite and risk tolerance set boundaries of how much risk an entity is prepared to accept, but there is an important difference between risk appetite </a:t>
            </a:r>
            <a:r>
              <a:rPr lang="en-US" dirty="0" err="1" smtClean="0"/>
              <a:t>vs</a:t>
            </a:r>
            <a:r>
              <a:rPr lang="en-US" dirty="0" smtClean="0"/>
              <a:t> risk tolerance.</a:t>
            </a:r>
          </a:p>
          <a:p>
            <a:r>
              <a:rPr lang="en-US" dirty="0" smtClean="0"/>
              <a:t>A risk appetite statement is a higher level statement that broadly considers the levels of risk management deems acceptable, while risk tolerances are narrower and set the acceptable level of variation around objectives.</a:t>
            </a:r>
          </a:p>
          <a:p>
            <a:r>
              <a:rPr lang="en-US" dirty="0" smtClean="0"/>
              <a:t>A risk appetite statement example would be when a company says it does not accept risks that could result in a significant loss of its revenue base.</a:t>
            </a:r>
          </a:p>
          <a:p>
            <a:r>
              <a:rPr lang="en-US" dirty="0" smtClean="0"/>
              <a:t>When the same company says it does not wish to accept risks that would cause revenue from its top 10 customers to decline by more than 10%, it is expressing a risk tolerance definition.</a:t>
            </a:r>
          </a:p>
          <a:p>
            <a:r>
              <a:rPr lang="en-US" dirty="0" smtClean="0">
                <a:solidFill>
                  <a:srgbClr val="FF0000"/>
                </a:solidFill>
              </a:rPr>
              <a:t>(example of over speeding and highway ticket) </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0" y="1676400"/>
            <a:ext cx="9211733" cy="51816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srcRect/>
          <a:stretch>
            <a:fillRect/>
          </a:stretch>
        </p:blipFill>
        <p:spPr bwMode="auto">
          <a:xfrm>
            <a:off x="166688" y="381000"/>
            <a:ext cx="8810625" cy="609600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61913" y="371475"/>
            <a:ext cx="9020175" cy="611505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6146" name="Picture 2"/>
          <p:cNvPicPr>
            <a:picLocks noChangeAspect="1" noChangeArrowheads="1"/>
          </p:cNvPicPr>
          <p:nvPr/>
        </p:nvPicPr>
        <p:blipFill>
          <a:blip r:embed="rId2"/>
          <a:srcRect/>
          <a:stretch>
            <a:fillRect/>
          </a:stretch>
        </p:blipFill>
        <p:spPr bwMode="auto">
          <a:xfrm>
            <a:off x="100013" y="319088"/>
            <a:ext cx="8943975" cy="6219825"/>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srcRect/>
          <a:stretch>
            <a:fillRect/>
          </a:stretch>
        </p:blipFill>
        <p:spPr bwMode="auto">
          <a:xfrm>
            <a:off x="114300" y="800100"/>
            <a:ext cx="8915400" cy="525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srcRect/>
          <a:stretch>
            <a:fillRect/>
          </a:stretch>
        </p:blipFill>
        <p:spPr bwMode="auto">
          <a:xfrm>
            <a:off x="157163" y="704850"/>
            <a:ext cx="8829675" cy="5448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2"/>
          <a:srcRect/>
          <a:stretch>
            <a:fillRect/>
          </a:stretch>
        </p:blipFill>
        <p:spPr bwMode="auto">
          <a:xfrm>
            <a:off x="119063" y="152400"/>
            <a:ext cx="8905875" cy="655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42" name="Picture 2"/>
          <p:cNvPicPr>
            <a:picLocks noChangeAspect="1" noChangeArrowheads="1"/>
          </p:cNvPicPr>
          <p:nvPr/>
        </p:nvPicPr>
        <p:blipFill>
          <a:blip r:embed="rId2"/>
          <a:srcRect/>
          <a:stretch>
            <a:fillRect/>
          </a:stretch>
        </p:blipFill>
        <p:spPr bwMode="auto">
          <a:xfrm>
            <a:off x="114300" y="171450"/>
            <a:ext cx="8915400" cy="65151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96962"/>
          </a:xfrm>
        </p:spPr>
        <p:txBody>
          <a:bodyPr>
            <a:normAutofit fontScale="90000"/>
          </a:bodyPr>
          <a:lstStyle/>
          <a:p>
            <a:r>
              <a:rPr lang="en-US" dirty="0"/>
              <a:t>The PMBOK® Project Risk Management Processes</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r>
              <a:rPr lang="en-US" dirty="0"/>
              <a:t>There are six PMBOK® Project Procurement Management processes in this knowledge area:</a:t>
            </a:r>
          </a:p>
          <a:p>
            <a:r>
              <a:rPr lang="en-US" dirty="0"/>
              <a:t> </a:t>
            </a:r>
            <a:endParaRPr lang="en-US" sz="4000" dirty="0"/>
          </a:p>
          <a:p>
            <a:pPr lvl="1"/>
            <a:r>
              <a:rPr lang="en-US" dirty="0"/>
              <a:t>Plan Risk Management—the process of defining how to conduct risk </a:t>
            </a:r>
            <a:r>
              <a:rPr lang="en-US" dirty="0" smtClean="0"/>
              <a:t>management </a:t>
            </a:r>
            <a:r>
              <a:rPr lang="en-US" dirty="0"/>
              <a:t>activities for a project.</a:t>
            </a:r>
            <a:endParaRPr lang="en-US" sz="2400" dirty="0"/>
          </a:p>
          <a:p>
            <a:r>
              <a:rPr lang="en-US" dirty="0"/>
              <a:t> </a:t>
            </a:r>
            <a:endParaRPr lang="en-US" sz="4000" dirty="0"/>
          </a:p>
          <a:p>
            <a:pPr lvl="1"/>
            <a:r>
              <a:rPr lang="en-US" dirty="0"/>
              <a:t>Identify Risks—the process of determining which risks may affect the project and documenting their characteristics.</a:t>
            </a:r>
            <a:endParaRPr lang="en-US" sz="2400" dirty="0"/>
          </a:p>
          <a:p>
            <a:r>
              <a:rPr lang="en-US" dirty="0"/>
              <a:t> </a:t>
            </a:r>
            <a:endParaRPr lang="en-US" sz="4000" dirty="0"/>
          </a:p>
          <a:p>
            <a:r>
              <a:rPr lang="en-US" dirty="0"/>
              <a:t>Perform Qualitative Risk Analysis—the process of prioritizing risks for further analysis or action by assessing and combining their probability of occurrence and impact</a:t>
            </a:r>
            <a:r>
              <a:rPr lang="en-US" dirty="0" smtClean="0"/>
              <a:t>.</a:t>
            </a:r>
          </a:p>
          <a:p>
            <a:r>
              <a:rPr lang="en-US" dirty="0" smtClean="0"/>
              <a:t>Cont.</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Cont.</a:t>
            </a:r>
            <a:endParaRPr lang="en-US" dirty="0"/>
          </a:p>
        </p:txBody>
      </p:sp>
      <p:sp>
        <p:nvSpPr>
          <p:cNvPr id="3" name="Content Placeholder 2"/>
          <p:cNvSpPr>
            <a:spLocks noGrp="1"/>
          </p:cNvSpPr>
          <p:nvPr>
            <p:ph idx="1"/>
          </p:nvPr>
        </p:nvSpPr>
        <p:spPr/>
        <p:txBody>
          <a:bodyPr>
            <a:normAutofit fontScale="85000" lnSpcReduction="10000"/>
          </a:bodyPr>
          <a:lstStyle/>
          <a:p>
            <a:pPr lvl="1"/>
            <a:r>
              <a:rPr lang="en-US" dirty="0"/>
              <a:t>Perform Quantitative Risk Analysis—the process of numerically </a:t>
            </a:r>
            <a:r>
              <a:rPr lang="en-US" dirty="0" smtClean="0"/>
              <a:t>analyzing</a:t>
            </a:r>
            <a:r>
              <a:rPr lang="en-US" sz="2400" dirty="0" smtClean="0"/>
              <a:t> </a:t>
            </a:r>
            <a:r>
              <a:rPr lang="en-US" sz="2400" dirty="0"/>
              <a:t>t</a:t>
            </a:r>
            <a:r>
              <a:rPr lang="en-US" dirty="0" smtClean="0"/>
              <a:t>he </a:t>
            </a:r>
            <a:r>
              <a:rPr lang="en-US" dirty="0"/>
              <a:t>effect of identified risks on overall project objectives.</a:t>
            </a:r>
          </a:p>
          <a:p>
            <a:r>
              <a:rPr lang="en-US" dirty="0"/>
              <a:t> </a:t>
            </a:r>
            <a:endParaRPr lang="en-US" sz="2800" dirty="0"/>
          </a:p>
          <a:p>
            <a:pPr lvl="1"/>
            <a:r>
              <a:rPr lang="en-US" dirty="0"/>
              <a:t>Plan Risk Responses—the process of developing options and actions to </a:t>
            </a:r>
            <a:r>
              <a:rPr lang="en-US" dirty="0" smtClean="0"/>
              <a:t>enhance </a:t>
            </a:r>
            <a:r>
              <a:rPr lang="en-US" dirty="0"/>
              <a:t>opportunities and to reduce threats to project objectives.</a:t>
            </a:r>
            <a:endParaRPr lang="en-US" sz="2400" dirty="0"/>
          </a:p>
          <a:p>
            <a:r>
              <a:rPr lang="en-US" dirty="0"/>
              <a:t> </a:t>
            </a:r>
            <a:endParaRPr lang="en-US" sz="4000" dirty="0"/>
          </a:p>
          <a:p>
            <a:pPr lvl="1"/>
            <a:r>
              <a:rPr lang="en-US" dirty="0"/>
              <a:t>Monitor and Control Risks—the process of implementing risk response plans, tracking identified risks, monitoring residual risks, identifying new risks, and </a:t>
            </a:r>
            <a:r>
              <a:rPr lang="en-US" dirty="0" smtClean="0"/>
              <a:t>evaluating </a:t>
            </a:r>
            <a:r>
              <a:rPr lang="en-US" dirty="0"/>
              <a:t>risk process effectiveness throughout the project.</a:t>
            </a:r>
            <a:endParaRPr lang="en-US" sz="2400" dirty="0"/>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824" y="990600"/>
            <a:ext cx="9144000" cy="5299880"/>
          </a:xfrm>
          <a:prstGeom prst="rect">
            <a:avLst/>
          </a:prstGeom>
        </p:spPr>
      </p:pic>
    </p:spTree>
    <p:extLst>
      <p:ext uri="{BB962C8B-B14F-4D97-AF65-F5344CB8AC3E}">
        <p14:creationId xmlns:p14="http://schemas.microsoft.com/office/powerpoint/2010/main" val="28711228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lstStyle/>
          <a:p>
            <a:pPr marL="457200" indent="-457200">
              <a:buFont typeface="Calibri Light" panose="020F0302020204030204" pitchFamily="34" charset="0"/>
              <a:buAutoNum type="arabicPeriod"/>
            </a:pPr>
            <a:r>
              <a:rPr lang="en-MY" altLang="en-US" dirty="0">
                <a:latin typeface="Cambria" panose="02040503050406030204" pitchFamily="18" charset="0"/>
              </a:rPr>
              <a:t>Define risk management and relate its purpose to the organisation.</a:t>
            </a:r>
          </a:p>
          <a:p>
            <a:pPr marL="457200" indent="-457200">
              <a:buFont typeface="Calibri Light" panose="020F0302020204030204" pitchFamily="34" charset="0"/>
              <a:buAutoNum type="arabicPeriod"/>
            </a:pPr>
            <a:r>
              <a:rPr lang="en-MY" altLang="en-US" dirty="0">
                <a:latin typeface="Cambria" panose="02040503050406030204" pitchFamily="18" charset="0"/>
              </a:rPr>
              <a:t>Differentiate between risk, peril and hazard.</a:t>
            </a:r>
          </a:p>
          <a:p>
            <a:pPr marL="457200" indent="-457200">
              <a:buFont typeface="Calibri Light" panose="020F0302020204030204" pitchFamily="34" charset="0"/>
              <a:buAutoNum type="arabicPeriod"/>
            </a:pPr>
            <a:r>
              <a:rPr lang="en-MY" altLang="en-US" dirty="0">
                <a:latin typeface="Cambria" panose="02040503050406030204" pitchFamily="18" charset="0"/>
              </a:rPr>
              <a:t>Explain how risk can affect the individual and organization. </a:t>
            </a:r>
          </a:p>
          <a:p>
            <a:pPr marL="457200" indent="-457200">
              <a:buFont typeface="Calibri Light" panose="020F0302020204030204" pitchFamily="34" charset="0"/>
              <a:buAutoNum type="arabicPeriod"/>
            </a:pPr>
            <a:endParaRPr lang="en-MY" altLang="en-US" dirty="0">
              <a:latin typeface="Cambria" panose="02040503050406030204" pitchFamily="18" charset="0"/>
            </a:endParaRPr>
          </a:p>
          <a:p>
            <a:endParaRPr lang="en-US" dirty="0"/>
          </a:p>
        </p:txBody>
      </p:sp>
    </p:spTree>
    <p:extLst>
      <p:ext uri="{BB962C8B-B14F-4D97-AF65-F5344CB8AC3E}">
        <p14:creationId xmlns:p14="http://schemas.microsoft.com/office/powerpoint/2010/main" val="194504842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6158" y="1752600"/>
            <a:ext cx="9080699" cy="5105400"/>
          </a:xfrm>
          <a:prstGeom prst="rect">
            <a:avLst/>
          </a:prstGeom>
        </p:spPr>
      </p:pic>
    </p:spTree>
    <p:extLst>
      <p:ext uri="{BB962C8B-B14F-4D97-AF65-F5344CB8AC3E}">
        <p14:creationId xmlns:p14="http://schemas.microsoft.com/office/powerpoint/2010/main" val="33166059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0" y="1600200"/>
            <a:ext cx="9139173" cy="5138276"/>
          </a:xfrm>
          <a:prstGeom prst="rect">
            <a:avLst/>
          </a:prstGeom>
        </p:spPr>
      </p:pic>
    </p:spTree>
    <p:extLst>
      <p:ext uri="{BB962C8B-B14F-4D97-AF65-F5344CB8AC3E}">
        <p14:creationId xmlns:p14="http://schemas.microsoft.com/office/powerpoint/2010/main" val="23035296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4449" y="1905000"/>
            <a:ext cx="9096375" cy="5114214"/>
          </a:xfrm>
          <a:prstGeom prst="rect">
            <a:avLst/>
          </a:prstGeom>
        </p:spPr>
      </p:pic>
    </p:spTree>
    <p:extLst>
      <p:ext uri="{BB962C8B-B14F-4D97-AF65-F5344CB8AC3E}">
        <p14:creationId xmlns:p14="http://schemas.microsoft.com/office/powerpoint/2010/main" val="29478731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Video link</a:t>
            </a:r>
            <a:endParaRPr lang="en-US" dirty="0"/>
          </a:p>
        </p:txBody>
      </p:sp>
      <p:sp>
        <p:nvSpPr>
          <p:cNvPr id="3" name="Content Placeholder 2"/>
          <p:cNvSpPr>
            <a:spLocks noGrp="1"/>
          </p:cNvSpPr>
          <p:nvPr>
            <p:ph idx="1"/>
          </p:nvPr>
        </p:nvSpPr>
        <p:spPr/>
        <p:txBody>
          <a:bodyPr/>
          <a:lstStyle/>
          <a:p>
            <a:r>
              <a:rPr lang="en-US" dirty="0" smtClean="0"/>
              <a:t>https://www.youtube.com/watch?v=rM0tjJRpK0c</a:t>
            </a:r>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dirty="0" smtClean="0"/>
              <a:t>Difference B/W Risk Peril and Hazard</a:t>
            </a:r>
            <a:endParaRPr lang="en-US" dirty="0"/>
          </a:p>
        </p:txBody>
      </p:sp>
      <p:sp>
        <p:nvSpPr>
          <p:cNvPr id="3" name="Content Placeholder 2"/>
          <p:cNvSpPr>
            <a:spLocks noGrp="1"/>
          </p:cNvSpPr>
          <p:nvPr>
            <p:ph idx="1"/>
          </p:nvPr>
        </p:nvSpPr>
        <p:spPr>
          <a:xfrm>
            <a:off x="457200" y="685800"/>
            <a:ext cx="8229600" cy="6172200"/>
          </a:xfrm>
        </p:spPr>
        <p:txBody>
          <a:bodyPr>
            <a:normAutofit fontScale="70000" lnSpcReduction="20000"/>
          </a:bodyPr>
          <a:lstStyle/>
          <a:p>
            <a:r>
              <a:rPr lang="en-US" dirty="0"/>
              <a:t>Peril, risk, and hazard are three words used frequently in my business. And according to the Oxford English Dictionary, they have very similar definitions:</a:t>
            </a:r>
          </a:p>
          <a:p>
            <a:r>
              <a:rPr lang="en-US" b="1" dirty="0"/>
              <a:t>Peril:</a:t>
            </a:r>
            <a:r>
              <a:rPr lang="en-US" dirty="0"/>
              <a:t> Serious and immediate danger. </a:t>
            </a:r>
          </a:p>
          <a:p>
            <a:r>
              <a:rPr lang="en-US" b="1" dirty="0"/>
              <a:t>Risk:</a:t>
            </a:r>
            <a:r>
              <a:rPr lang="en-US" dirty="0"/>
              <a:t> Situation involving exposure to danger. </a:t>
            </a:r>
          </a:p>
          <a:p>
            <a:r>
              <a:rPr lang="en-US" b="1" dirty="0"/>
              <a:t>Hazard:</a:t>
            </a:r>
            <a:r>
              <a:rPr lang="en-US" dirty="0"/>
              <a:t> Danger or risk.  </a:t>
            </a:r>
          </a:p>
          <a:p>
            <a:r>
              <a:rPr lang="en-US" dirty="0"/>
              <a:t>You could get away with interchanging these words in day-to-day conversation. But in insurance and financial circles, they each have a distinct meaning and it’s important to understand their differences. </a:t>
            </a:r>
          </a:p>
          <a:p>
            <a:r>
              <a:rPr lang="en-US" dirty="0"/>
              <a:t>Consider the same words as defined by the Glossary of Insurance and Risk Management Terms:</a:t>
            </a:r>
          </a:p>
          <a:p>
            <a:r>
              <a:rPr lang="en-US" b="1" dirty="0"/>
              <a:t>Peril:</a:t>
            </a:r>
            <a:r>
              <a:rPr lang="en-US" dirty="0"/>
              <a:t> Cause of loss. </a:t>
            </a:r>
          </a:p>
          <a:p>
            <a:r>
              <a:rPr lang="en-US" b="1" dirty="0"/>
              <a:t>Risk:</a:t>
            </a:r>
            <a:r>
              <a:rPr lang="en-US" dirty="0"/>
              <a:t> Uncertainty arising from the possible occurrence of given events that would result in loss with no opportunity for gain. </a:t>
            </a:r>
          </a:p>
          <a:p>
            <a:r>
              <a:rPr lang="en-US" b="1" dirty="0"/>
              <a:t>Hazard:</a:t>
            </a:r>
            <a:r>
              <a:rPr lang="en-US" dirty="0"/>
              <a:t> Condition that increases the probability of loss.</a:t>
            </a:r>
          </a:p>
          <a:p>
            <a:r>
              <a:rPr lang="en-US" dirty="0"/>
              <a:t>To summarize: </a:t>
            </a:r>
            <a:r>
              <a:rPr lang="en-US" i="1" dirty="0"/>
              <a:t>hazards</a:t>
            </a:r>
            <a:r>
              <a:rPr lang="en-US" dirty="0"/>
              <a:t> increase the </a:t>
            </a:r>
            <a:r>
              <a:rPr lang="en-US" i="1" dirty="0"/>
              <a:t>risk</a:t>
            </a:r>
            <a:r>
              <a:rPr lang="en-US" dirty="0"/>
              <a:t> of a specific </a:t>
            </a:r>
            <a:r>
              <a:rPr lang="en-US" i="1" dirty="0"/>
              <a:t>peril</a:t>
            </a:r>
            <a:r>
              <a:rPr lang="en-US" dirty="0"/>
              <a:t>.</a:t>
            </a:r>
          </a:p>
          <a:p>
            <a:endParaRPr lang="en-US" dirty="0"/>
          </a:p>
        </p:txBody>
      </p:sp>
    </p:spTree>
    <p:extLst>
      <p:ext uri="{BB962C8B-B14F-4D97-AF65-F5344CB8AC3E}">
        <p14:creationId xmlns:p14="http://schemas.microsoft.com/office/powerpoint/2010/main" val="149840483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What is a Case Study? </a:t>
            </a:r>
          </a:p>
          <a:p>
            <a:endParaRPr lang="en-US" dirty="0" smtClean="0"/>
          </a:p>
          <a:p>
            <a:pPr algn="just"/>
            <a:r>
              <a:rPr lang="en-US" dirty="0" smtClean="0"/>
              <a:t>A case study analysis requires you to investigate a business problem, examine the alternative solutions, and propose the most effective solution using supportive evidence. </a:t>
            </a:r>
          </a:p>
          <a:p>
            <a:pPr algn="just"/>
            <a:r>
              <a:rPr lang="en-US" dirty="0" smtClean="0"/>
              <a:t>A case study should include background information on the specific topic, an analysis of the case under student showing problems or effective strategies, as well as recommendations. A case study can focus on a business or entire industry, a specific project or program, or a person.</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Case—Haitian Earthquake Relief</a:t>
            </a:r>
          </a:p>
        </p:txBody>
      </p:sp>
      <p:pic>
        <p:nvPicPr>
          <p:cNvPr id="4" name="Picture 3"/>
          <p:cNvPicPr>
            <a:picLocks noChangeAspect="1"/>
          </p:cNvPicPr>
          <p:nvPr/>
        </p:nvPicPr>
        <p:blipFill>
          <a:blip r:embed="rId2"/>
          <a:stretch>
            <a:fillRect/>
          </a:stretch>
        </p:blipFill>
        <p:spPr>
          <a:xfrm>
            <a:off x="458273" y="1417638"/>
            <a:ext cx="7956550" cy="5186082"/>
          </a:xfrm>
          <a:prstGeom prst="rect">
            <a:avLst/>
          </a:prstGeom>
        </p:spPr>
      </p:pic>
    </p:spTree>
    <p:extLst>
      <p:ext uri="{BB962C8B-B14F-4D97-AF65-F5344CB8AC3E}">
        <p14:creationId xmlns:p14="http://schemas.microsoft.com/office/powerpoint/2010/main" val="18950249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smtClean="0"/>
              <a:t>Question: Do </a:t>
            </a:r>
            <a:r>
              <a:rPr lang="en-US" dirty="0"/>
              <a:t>you agree with the following statement: “With proper planning it is possible to eliminate most/all risks from a project”? Why or why not?</a:t>
            </a:r>
          </a:p>
        </p:txBody>
      </p:sp>
    </p:spTree>
    <p:extLst>
      <p:ext uri="{BB962C8B-B14F-4D97-AF65-F5344CB8AC3E}">
        <p14:creationId xmlns:p14="http://schemas.microsoft.com/office/powerpoint/2010/main" val="33977788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5" name="Picture 3"/>
          <p:cNvPicPr>
            <a:picLocks noChangeAspect="1" noChangeArrowheads="1"/>
          </p:cNvPicPr>
          <p:nvPr/>
        </p:nvPicPr>
        <p:blipFill>
          <a:blip r:embed="rId2"/>
          <a:srcRect/>
          <a:stretch>
            <a:fillRect/>
          </a:stretch>
        </p:blipFill>
        <p:spPr bwMode="auto">
          <a:xfrm>
            <a:off x="0" y="748641"/>
            <a:ext cx="9144000" cy="610935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258762"/>
          </a:xfrm>
        </p:spPr>
        <p:txBody>
          <a:bodyPr>
            <a:normAutofit fontScale="90000"/>
          </a:bodyPr>
          <a:lstStyle/>
          <a:p>
            <a:r>
              <a:rPr lang="en-US" dirty="0" smtClean="0">
                <a:hlinkClick r:id="rId2"/>
              </a:rPr>
              <a:t>https://prezi.com/flslhli_pjxf/the-it-department-at-hamelin-hospital/</a:t>
            </a:r>
            <a:endParaRPr lang="en-US" dirty="0"/>
          </a:p>
        </p:txBody>
      </p:sp>
      <p:pic>
        <p:nvPicPr>
          <p:cNvPr id="4098" name="Picture 2"/>
          <p:cNvPicPr>
            <a:picLocks noGrp="1" noChangeAspect="1" noChangeArrowheads="1"/>
          </p:cNvPicPr>
          <p:nvPr>
            <p:ph idx="1"/>
          </p:nvPr>
        </p:nvPicPr>
        <p:blipFill>
          <a:blip r:embed="rId3"/>
          <a:srcRect/>
          <a:stretch>
            <a:fillRect/>
          </a:stretch>
        </p:blipFill>
        <p:spPr bwMode="auto">
          <a:xfrm>
            <a:off x="304800" y="457200"/>
            <a:ext cx="8506047" cy="640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2057400" y="0"/>
            <a:ext cx="5317772" cy="68580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6146" name="Picture 2"/>
          <p:cNvPicPr>
            <a:picLocks noChangeAspect="1" noChangeArrowheads="1"/>
          </p:cNvPicPr>
          <p:nvPr/>
        </p:nvPicPr>
        <p:blipFill>
          <a:blip r:embed="rId2"/>
          <a:srcRect/>
          <a:stretch>
            <a:fillRect/>
          </a:stretch>
        </p:blipFill>
        <p:spPr bwMode="auto">
          <a:xfrm>
            <a:off x="1" y="1081385"/>
            <a:ext cx="9144000" cy="577661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srcRect/>
          <a:stretch>
            <a:fillRect/>
          </a:stretch>
        </p:blipFill>
        <p:spPr bwMode="auto">
          <a:xfrm>
            <a:off x="0" y="1905001"/>
            <a:ext cx="9069650"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srcRect/>
          <a:stretch>
            <a:fillRect/>
          </a:stretch>
        </p:blipFill>
        <p:spPr bwMode="auto">
          <a:xfrm>
            <a:off x="0" y="77575"/>
            <a:ext cx="9144000" cy="67804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2"/>
          <a:srcRect/>
          <a:stretch>
            <a:fillRect/>
          </a:stretch>
        </p:blipFill>
        <p:spPr bwMode="auto">
          <a:xfrm>
            <a:off x="0" y="641135"/>
            <a:ext cx="9144000" cy="621686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Risk Management Planning</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19860498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object 2"/>
          <p:cNvSpPr/>
          <p:nvPr/>
        </p:nvSpPr>
        <p:spPr>
          <a:xfrm>
            <a:off x="304800" y="256798"/>
            <a:ext cx="8537929" cy="6601202"/>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02136333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US" dirty="0"/>
          </a:p>
        </p:txBody>
      </p:sp>
      <p:sp>
        <p:nvSpPr>
          <p:cNvPr id="3" name="Content Placeholder 2"/>
          <p:cNvSpPr>
            <a:spLocks noGrp="1"/>
          </p:cNvSpPr>
          <p:nvPr>
            <p:ph idx="1"/>
          </p:nvPr>
        </p:nvSpPr>
        <p:spPr/>
        <p:txBody>
          <a:bodyPr/>
          <a:lstStyle/>
          <a:p>
            <a:r>
              <a:rPr lang="en-US" b="1" dirty="0" smtClean="0">
                <a:solidFill>
                  <a:srgbClr val="C00000"/>
                </a:solidFill>
              </a:rPr>
              <a:t>Samsung’s Galaxy Note 7—</a:t>
            </a:r>
          </a:p>
          <a:p>
            <a:r>
              <a:rPr lang="en-US" b="1" dirty="0" smtClean="0">
                <a:solidFill>
                  <a:srgbClr val="C00000"/>
                </a:solidFill>
              </a:rPr>
              <a:t>Failure to Manage a New Product for Risk</a:t>
            </a:r>
            <a:endParaRPr lang="en-US" dirty="0" smtClean="0">
              <a:solidFill>
                <a:srgbClr val="C00000"/>
              </a:solidFill>
            </a:endParaRP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Project Risk</a:t>
            </a:r>
            <a:endParaRPr lang="en-US" dirty="0"/>
          </a:p>
        </p:txBody>
      </p:sp>
      <p:sp>
        <p:nvSpPr>
          <p:cNvPr id="3" name="Content Placeholder 2"/>
          <p:cNvSpPr>
            <a:spLocks noGrp="1"/>
          </p:cNvSpPr>
          <p:nvPr>
            <p:ph idx="1"/>
          </p:nvPr>
        </p:nvSpPr>
        <p:spPr/>
        <p:txBody>
          <a:bodyPr>
            <a:normAutofit/>
          </a:bodyPr>
          <a:lstStyle/>
          <a:p>
            <a:r>
              <a:rPr lang="en-US" dirty="0" smtClean="0"/>
              <a:t>Risk exists at two levels within every project.</a:t>
            </a:r>
          </a:p>
          <a:p>
            <a:r>
              <a:rPr lang="en-US" b="1" dirty="0" smtClean="0"/>
              <a:t>Individual project risk</a:t>
            </a:r>
          </a:p>
          <a:p>
            <a:r>
              <a:rPr lang="en-US" b="1" dirty="0" smtClean="0"/>
              <a:t>Overall project risk</a:t>
            </a:r>
            <a:endParaRPr lang="en-US" dirty="0" smtClean="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Individual project</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smtClean="0"/>
              <a:t>Individual project </a:t>
            </a:r>
            <a:r>
              <a:rPr lang="en-US" dirty="0" smtClean="0"/>
              <a:t>risk is an uncertain event or condition that, if it occurs, has a positive or negative effect on one or more project objectives.</a:t>
            </a:r>
          </a:p>
          <a:p>
            <a:pPr algn="just"/>
            <a:r>
              <a:rPr lang="en-US" dirty="0" smtClean="0"/>
              <a:t>Individual project risks can have a positive or negative effect on project objectives if they occur. Project Risk Management aims to exploit or enhance positive risks (opportunities) while avoiding or mitigating negative risks (threats). Unmanaged threats may result in issues or problems such as delay, cost overruns, performance shortfall, or loss of reputation. Opportunities that are captured can lead to benefits such as reduced time and cost, improved performance, or reputation.</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Overall project risk</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smtClean="0"/>
              <a:t>Overall project risk </a:t>
            </a:r>
            <a:r>
              <a:rPr lang="en-US" dirty="0" smtClean="0"/>
              <a:t>is the effect of uncertainty on the project as a whole, arising from all sources of uncertainty including individual risks, representing the exposure of stakeholders to the implications of variations in project outcome, both positive and negative.</a:t>
            </a:r>
          </a:p>
          <a:p>
            <a:pPr algn="just"/>
            <a:r>
              <a:rPr lang="en-US" dirty="0" smtClean="0"/>
              <a:t>Overall project risk can also be positive or negative. Management of overall project risk aims to keep project risk exposure within an acceptable range by reducing drivers of negative variation, promoting drivers of positive variation, and maximizing the probability of achieving overall project objectives.</a:t>
            </a:r>
            <a:endParaRPr lang="en-US" dirty="0"/>
          </a:p>
        </p:txBody>
      </p:sp>
      <p:sp>
        <p:nvSpPr>
          <p:cNvPr id="4" name="Rectangle 3"/>
          <p:cNvSpPr/>
          <p:nvPr/>
        </p:nvSpPr>
        <p:spPr>
          <a:xfrm>
            <a:off x="2286000" y="2551837"/>
            <a:ext cx="4572000" cy="369332"/>
          </a:xfrm>
          <a:prstGeom prst="rect">
            <a:avLst/>
          </a:prstGeom>
        </p:spPr>
        <p:txBody>
          <a:bodyPr>
            <a:spAutoFit/>
          </a:bodyPr>
          <a:lstStyle/>
          <a:p>
            <a:r>
              <a:rPr lang="en-US" dirty="0" smtClean="0"/>
              <a:t>.</a:t>
            </a:r>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TRENDS AND EMERGING PRACTICES IN PROJECT RISK MANAGEMENT</a:t>
            </a:r>
            <a:endParaRPr lang="en-US" dirty="0"/>
          </a:p>
        </p:txBody>
      </p:sp>
      <p:sp>
        <p:nvSpPr>
          <p:cNvPr id="3" name="Content Placeholder 2"/>
          <p:cNvSpPr>
            <a:spLocks noGrp="1"/>
          </p:cNvSpPr>
          <p:nvPr>
            <p:ph idx="1"/>
          </p:nvPr>
        </p:nvSpPr>
        <p:spPr/>
        <p:txBody>
          <a:bodyPr/>
          <a:lstStyle/>
          <a:p>
            <a:pPr>
              <a:buNone/>
            </a:pPr>
            <a:r>
              <a:rPr lang="en-US" b="1" dirty="0" smtClean="0"/>
              <a:t>1. Non-event risks.</a:t>
            </a:r>
          </a:p>
          <a:p>
            <a:r>
              <a:rPr lang="en-US" b="1" dirty="0" smtClean="0"/>
              <a:t>Variability</a:t>
            </a:r>
          </a:p>
          <a:p>
            <a:r>
              <a:rPr lang="en-US" b="1" dirty="0" smtClean="0"/>
              <a:t>Ambiguity </a:t>
            </a:r>
          </a:p>
          <a:p>
            <a:pPr>
              <a:buNone/>
            </a:pPr>
            <a:r>
              <a:rPr lang="en-US" b="1" dirty="0" smtClean="0"/>
              <a:t>2. Project resilience.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event risks. </a:t>
            </a:r>
            <a:r>
              <a:rPr lang="en-US" dirty="0" smtClean="0"/>
              <a:t>Most projects focus only on risks that are uncertain future events that may or may not occur.</a:t>
            </a:r>
          </a:p>
          <a:p>
            <a:r>
              <a:rPr lang="en-US" dirty="0" smtClean="0"/>
              <a:t>Examples of event-based risks include: </a:t>
            </a:r>
          </a:p>
          <a:p>
            <a:r>
              <a:rPr lang="en-US" dirty="0" smtClean="0"/>
              <a:t>a key seller may go out of business during the project, the customer may change the requirement after design is complete,</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248400"/>
          </a:xfrm>
        </p:spPr>
        <p:txBody>
          <a:bodyPr>
            <a:normAutofit fontScale="77500" lnSpcReduction="20000"/>
          </a:bodyPr>
          <a:lstStyle/>
          <a:p>
            <a:r>
              <a:rPr lang="en-US" dirty="0" smtClean="0"/>
              <a:t>There is an increasing recognition that non-event risks need to be identified and managed. There are two main types of non-event risks:</a:t>
            </a:r>
          </a:p>
          <a:p>
            <a:endParaRPr lang="en-US" dirty="0" smtClean="0"/>
          </a:p>
          <a:p>
            <a:pPr algn="just"/>
            <a:r>
              <a:rPr lang="en-US" b="1" i="1" dirty="0" smtClean="0"/>
              <a:t>Variability risk. </a:t>
            </a:r>
            <a:r>
              <a:rPr lang="en-US" i="1" dirty="0" smtClean="0"/>
              <a:t>Uncertainty exists about some key characteristics of a planned event or activity or decision.</a:t>
            </a:r>
          </a:p>
          <a:p>
            <a:pPr algn="just"/>
            <a:r>
              <a:rPr lang="en-US" dirty="0" smtClean="0"/>
              <a:t>Examples of variability risks include: productivity may be above or below target, the number of errors found during testing may be higher or lower than expected, or unseasonal weather conditions may occur during the construction phase.</a:t>
            </a:r>
          </a:p>
          <a:p>
            <a:pPr algn="just"/>
            <a:r>
              <a:rPr lang="en-US" b="1" i="1" dirty="0" smtClean="0"/>
              <a:t>Ambiguity risk. </a:t>
            </a:r>
            <a:r>
              <a:rPr lang="en-US" i="1" dirty="0" smtClean="0"/>
              <a:t>Uncertainty exists about what might happen in the future. Areas of the project where </a:t>
            </a:r>
            <a:r>
              <a:rPr lang="en-US" dirty="0" smtClean="0"/>
              <a:t>imperfect knowledge might affect the project’s ability to achieve its objectives include: elements of the requirement or technical solution, future developments in regulatory frameworks, or inherent systemic complexity in the project.</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b="1" dirty="0" smtClean="0"/>
              <a:t>Project resilience. </a:t>
            </a:r>
          </a:p>
          <a:p>
            <a:r>
              <a:rPr lang="en-US" dirty="0" smtClean="0"/>
              <a:t>The existence of emergent risk is becoming clear, with a growing awareness of so-called unknowable-unknowns. These are risks that can only be recognized after they have occurred. </a:t>
            </a:r>
            <a:endParaRPr lang="en-US" dirty="0"/>
          </a:p>
        </p:txBody>
      </p:sp>
      <p:sp>
        <p:nvSpPr>
          <p:cNvPr id="4" name="Rectangle 3"/>
          <p:cNvSpPr/>
          <p:nvPr/>
        </p:nvSpPr>
        <p:spPr>
          <a:xfrm>
            <a:off x="4038600" y="6019800"/>
            <a:ext cx="4953000" cy="646331"/>
          </a:xfrm>
          <a:prstGeom prst="rect">
            <a:avLst/>
          </a:prstGeom>
        </p:spPr>
        <p:txBody>
          <a:bodyPr wrap="square">
            <a:spAutoFit/>
          </a:bodyPr>
          <a:lstStyle/>
          <a:p>
            <a:r>
              <a:rPr lang="en-US" dirty="0" smtClean="0">
                <a:solidFill>
                  <a:srgbClr val="FF0000"/>
                </a:solidFill>
              </a:rPr>
              <a:t>Resilience meaning </a:t>
            </a:r>
            <a:r>
              <a:rPr lang="en-US" dirty="0" smtClean="0"/>
              <a:t>the capacity to recover quickly from difficulties; toughness.</a:t>
            </a:r>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US" dirty="0" smtClean="0"/>
              <a:t>TAILORING CONSIDERATIONS</a:t>
            </a:r>
            <a:endParaRPr lang="en-US" dirty="0"/>
          </a:p>
        </p:txBody>
      </p:sp>
      <p:sp>
        <p:nvSpPr>
          <p:cNvPr id="3" name="Content Placeholder 2"/>
          <p:cNvSpPr>
            <a:spLocks noGrp="1"/>
          </p:cNvSpPr>
          <p:nvPr>
            <p:ph idx="1"/>
          </p:nvPr>
        </p:nvSpPr>
        <p:spPr>
          <a:xfrm>
            <a:off x="457200" y="990600"/>
            <a:ext cx="8229600" cy="5135563"/>
          </a:xfrm>
        </p:spPr>
        <p:txBody>
          <a:bodyPr>
            <a:normAutofit lnSpcReduction="10000"/>
          </a:bodyPr>
          <a:lstStyle/>
          <a:p>
            <a:r>
              <a:rPr lang="en-US" sz="2000" dirty="0"/>
              <a:t>Because each project is unique, it is necessary to tailor the way Project Risk Management processes are applied. Considerations for tailoring include but are not limited to</a:t>
            </a:r>
            <a:r>
              <a:rPr lang="en-US" sz="2000" dirty="0" smtClean="0"/>
              <a:t>:</a:t>
            </a:r>
          </a:p>
          <a:p>
            <a:pPr algn="just"/>
            <a:r>
              <a:rPr lang="en-US" sz="2800" b="1" dirty="0" smtClean="0"/>
              <a:t>Project </a:t>
            </a:r>
            <a:r>
              <a:rPr lang="en-US" sz="2800" b="1" dirty="0"/>
              <a:t>size</a:t>
            </a:r>
            <a:r>
              <a:rPr lang="en-US" sz="2800" dirty="0"/>
              <a:t>. Does the project’s size in terms of budget, duration, scope, or team size require a more detailed approach to risk management? Or is it small enough to justify a simplified risk process? </a:t>
            </a:r>
            <a:endParaRPr lang="en-US" sz="2800" dirty="0" smtClean="0"/>
          </a:p>
          <a:p>
            <a:pPr algn="just"/>
            <a:r>
              <a:rPr lang="en-US" sz="2800" b="1" dirty="0" smtClean="0"/>
              <a:t>Project </a:t>
            </a:r>
            <a:r>
              <a:rPr lang="en-US" sz="2800" b="1" dirty="0"/>
              <a:t>complexity. </a:t>
            </a:r>
            <a:r>
              <a:rPr lang="en-US" sz="2800" dirty="0"/>
              <a:t>Is a robust risk approach demanded by high levels of innovation, new technology, commercial arrangements, interfaces, or external dependencies that increase project complexity? Or is the project simple enough that a reduced risk process will suffice?</a:t>
            </a:r>
          </a:p>
        </p:txBody>
      </p:sp>
    </p:spTree>
    <p:extLst>
      <p:ext uri="{BB962C8B-B14F-4D97-AF65-F5344CB8AC3E}">
        <p14:creationId xmlns:p14="http://schemas.microsoft.com/office/powerpoint/2010/main" val="15659731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a:t>TAILORING </a:t>
            </a:r>
            <a:r>
              <a:rPr lang="en-US" dirty="0" smtClean="0"/>
              <a:t>CONSIDERATIONS (Cont.)</a:t>
            </a:r>
            <a:endParaRPr lang="en-US" dirty="0"/>
          </a:p>
        </p:txBody>
      </p:sp>
      <p:sp>
        <p:nvSpPr>
          <p:cNvPr id="3" name="Content Placeholder 2"/>
          <p:cNvSpPr>
            <a:spLocks noGrp="1"/>
          </p:cNvSpPr>
          <p:nvPr>
            <p:ph idx="1"/>
          </p:nvPr>
        </p:nvSpPr>
        <p:spPr>
          <a:xfrm>
            <a:off x="457200" y="1219200"/>
            <a:ext cx="8229600" cy="5257800"/>
          </a:xfrm>
        </p:spPr>
        <p:txBody>
          <a:bodyPr>
            <a:normAutofit fontScale="92500" lnSpcReduction="20000"/>
          </a:bodyPr>
          <a:lstStyle/>
          <a:p>
            <a:pPr algn="just"/>
            <a:r>
              <a:rPr lang="en-US" b="1" dirty="0"/>
              <a:t>Project importance. </a:t>
            </a:r>
            <a:endParaRPr lang="en-US" b="1" dirty="0" smtClean="0"/>
          </a:p>
          <a:p>
            <a:pPr algn="just"/>
            <a:r>
              <a:rPr lang="en-US" dirty="0" smtClean="0"/>
              <a:t>How </a:t>
            </a:r>
            <a:r>
              <a:rPr lang="en-US" dirty="0"/>
              <a:t>strategically important is the project? Is the level of risk increased for this project because it aims to produce breakthrough opportunities, addresses significant blocks to organizational performance, or involves major product innovation? </a:t>
            </a:r>
            <a:endParaRPr lang="en-US" dirty="0" smtClean="0"/>
          </a:p>
          <a:p>
            <a:pPr algn="just"/>
            <a:r>
              <a:rPr lang="en-US" b="1" dirty="0" smtClean="0"/>
              <a:t>Development </a:t>
            </a:r>
            <a:r>
              <a:rPr lang="en-US" b="1" dirty="0"/>
              <a:t>approach. </a:t>
            </a:r>
            <a:endParaRPr lang="en-US" b="1" dirty="0" smtClean="0"/>
          </a:p>
          <a:p>
            <a:pPr algn="just"/>
            <a:r>
              <a:rPr lang="en-US" dirty="0" smtClean="0"/>
              <a:t>Is </a:t>
            </a:r>
            <a:r>
              <a:rPr lang="en-US" dirty="0"/>
              <a:t>this a waterfall project, where risk processes can be followed sequentially and iteratively, or does the project follow an agile approach where risk is addressed at the start of each iteration as well as during its execution?</a:t>
            </a:r>
          </a:p>
        </p:txBody>
      </p:sp>
    </p:spTree>
    <p:extLst>
      <p:ext uri="{BB962C8B-B14F-4D97-AF65-F5344CB8AC3E}">
        <p14:creationId xmlns:p14="http://schemas.microsoft.com/office/powerpoint/2010/main" val="9607886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Waterfall </a:t>
            </a:r>
            <a:r>
              <a:rPr lang="en-US" dirty="0" err="1" smtClean="0"/>
              <a:t>vs</a:t>
            </a:r>
            <a:r>
              <a:rPr lang="en-US" dirty="0" smtClean="0"/>
              <a:t> Agile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228600" y="1143000"/>
            <a:ext cx="7086600" cy="265656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304800" y="3733800"/>
            <a:ext cx="5981700" cy="2761530"/>
          </a:xfrm>
          <a:prstGeom prst="rect">
            <a:avLst/>
          </a:prstGeom>
          <a:noFill/>
          <a:ln w="9525">
            <a:noFill/>
            <a:miter lim="800000"/>
            <a:headEnd/>
            <a:tailEnd/>
          </a:ln>
          <a:effectLst/>
        </p:spPr>
      </p:pic>
      <p:pic>
        <p:nvPicPr>
          <p:cNvPr id="2053" name="Picture 5"/>
          <p:cNvPicPr>
            <a:picLocks noChangeAspect="1" noChangeArrowheads="1"/>
          </p:cNvPicPr>
          <p:nvPr/>
        </p:nvPicPr>
        <p:blipFill>
          <a:blip r:embed="rId4" cstate="print"/>
          <a:srcRect/>
          <a:stretch>
            <a:fillRect/>
          </a:stretch>
        </p:blipFill>
        <p:spPr bwMode="auto">
          <a:xfrm>
            <a:off x="6248400" y="4800599"/>
            <a:ext cx="2895600" cy="1611651"/>
          </a:xfrm>
          <a:prstGeom prst="rect">
            <a:avLst/>
          </a:prstGeom>
          <a:noFill/>
          <a:ln w="9525">
            <a:noFill/>
            <a:miter lim="800000"/>
            <a:headEnd/>
            <a:tailEnd/>
          </a:ln>
          <a:effectLst/>
        </p:spPr>
      </p:pic>
      <p:sp>
        <p:nvSpPr>
          <p:cNvPr id="8" name="TextBox 7"/>
          <p:cNvSpPr txBox="1"/>
          <p:nvPr/>
        </p:nvSpPr>
        <p:spPr>
          <a:xfrm>
            <a:off x="7338121" y="2286000"/>
            <a:ext cx="1805879" cy="1200329"/>
          </a:xfrm>
          <a:prstGeom prst="rect">
            <a:avLst/>
          </a:prstGeom>
          <a:noFill/>
        </p:spPr>
        <p:txBody>
          <a:bodyPr wrap="none" rtlCol="0">
            <a:spAutoFit/>
          </a:bodyPr>
          <a:lstStyle/>
          <a:p>
            <a:r>
              <a:rPr lang="en-US" dirty="0" smtClean="0"/>
              <a:t>Fix Budget</a:t>
            </a:r>
          </a:p>
          <a:p>
            <a:r>
              <a:rPr lang="en-US" dirty="0" smtClean="0"/>
              <a:t>Fix Scope</a:t>
            </a:r>
          </a:p>
          <a:p>
            <a:r>
              <a:rPr lang="en-US" dirty="0" smtClean="0"/>
              <a:t>Fix time</a:t>
            </a:r>
          </a:p>
          <a:p>
            <a:r>
              <a:rPr lang="en-US" dirty="0" smtClean="0"/>
              <a:t>Optimum Quality</a:t>
            </a:r>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Waterfall </a:t>
            </a:r>
            <a:r>
              <a:rPr lang="en-US" dirty="0" err="1" smtClean="0"/>
              <a:t>vs</a:t>
            </a:r>
            <a:r>
              <a:rPr lang="en-US" dirty="0" smtClean="0"/>
              <a:t> Agile</a:t>
            </a:r>
            <a:endParaRPr lang="en-US" dirty="0"/>
          </a:p>
        </p:txBody>
      </p:sp>
      <p:pic>
        <p:nvPicPr>
          <p:cNvPr id="1026" name="Picture 2"/>
          <p:cNvPicPr>
            <a:picLocks noChangeAspect="1" noChangeArrowheads="1"/>
          </p:cNvPicPr>
          <p:nvPr/>
        </p:nvPicPr>
        <p:blipFill>
          <a:blip r:embed="rId2"/>
          <a:srcRect/>
          <a:stretch>
            <a:fillRect/>
          </a:stretch>
        </p:blipFill>
        <p:spPr bwMode="auto">
          <a:xfrm>
            <a:off x="0" y="1752600"/>
            <a:ext cx="8979540" cy="4267200"/>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655638"/>
          </a:xfrm>
        </p:spPr>
        <p:txBody>
          <a:bodyPr>
            <a:normAutofit fontScale="90000"/>
          </a:bodyPr>
          <a:lstStyle/>
          <a:p>
            <a:r>
              <a:rPr lang="en-US" b="1" dirty="0" smtClean="0"/>
              <a:t>DEFINITION OF RISK MANAGEMENT</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Risk management is the act or practice of dealing with risk. It includes </a:t>
            </a:r>
            <a:r>
              <a:rPr lang="en-US" i="1" dirty="0" smtClean="0"/>
              <a:t>planning for risk, assessing (identifying and analyzing) risk issues, developing risk handling strategies, and monitoring risks to determine how they have changed.</a:t>
            </a:r>
            <a:endParaRPr lang="en-US" dirty="0" smtClean="0"/>
          </a:p>
          <a:p>
            <a:r>
              <a:rPr lang="en-US" dirty="0" smtClean="0"/>
              <a:t>Risk management is not a separate project office activity assigned to a risk management department, but rather is one aspect of sound project management.</a:t>
            </a:r>
          </a:p>
          <a:p>
            <a:r>
              <a:rPr lang="en-US" dirty="0" smtClean="0"/>
              <a:t>Risk management should be closely coupled with key project processes, including but not limited to: overall project management, systems engineering, cost, scope, quality, and schedule.</a:t>
            </a:r>
            <a:endParaRPr lang="en-US" dirty="0"/>
          </a:p>
        </p:txBody>
      </p:sp>
    </p:spTree>
    <p:extLst>
      <p:ext uri="{BB962C8B-B14F-4D97-AF65-F5344CB8AC3E}">
        <p14:creationId xmlns:p14="http://schemas.microsoft.com/office/powerpoint/2010/main" val="4274641395"/>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Project Risk Assessment is Proactive or Reactive Process??</a:t>
            </a:r>
            <a:endParaRPr lang="en-US" dirty="0"/>
          </a:p>
        </p:txBody>
      </p:sp>
    </p:spTree>
    <p:extLst>
      <p:ext uri="{BB962C8B-B14F-4D97-AF65-F5344CB8AC3E}">
        <p14:creationId xmlns:p14="http://schemas.microsoft.com/office/powerpoint/2010/main" val="25959572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Proactive Vs Reactive</a:t>
            </a: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smtClean="0"/>
              <a:t>Proper risk management is proactive rather than reactive. As an example, an activity in a network requires that a new technology be developed. The schedule indicates six months for this activity, but project engineers think that nine months is closer to the truth. If the project manager is proactive, he might develop a Risk Handling Plan right </a:t>
            </a:r>
            <a:r>
              <a:rPr lang="en-US" i="1" dirty="0" smtClean="0"/>
              <a:t>now. If </a:t>
            </a:r>
            <a:r>
              <a:rPr lang="en-US" dirty="0" smtClean="0"/>
              <a:t>the project manager is reactive (e.g., a “problem-solver”), then he will do nothing until the problem actually occurs. By that time the project manager will have lost valuable time when contingencies could have been developed. Hence, proper risk management will attempt to reduce the likelihood of an event occurring and/or the magnitude of its impact.</a:t>
            </a:r>
            <a:endParaRPr lang="en-US" dirty="0"/>
          </a:p>
        </p:txBody>
      </p:sp>
      <p:sp>
        <p:nvSpPr>
          <p:cNvPr id="4" name="Rectangle 3"/>
          <p:cNvSpPr/>
          <p:nvPr/>
        </p:nvSpPr>
        <p:spPr>
          <a:xfrm>
            <a:off x="1524000" y="5791200"/>
            <a:ext cx="6019800" cy="369332"/>
          </a:xfrm>
          <a:prstGeom prst="rect">
            <a:avLst/>
          </a:prstGeom>
        </p:spPr>
        <p:txBody>
          <a:bodyPr wrap="square">
            <a:spAutoFit/>
          </a:bodyPr>
          <a:lstStyle/>
          <a:p>
            <a:r>
              <a:rPr lang="en-US" dirty="0" smtClean="0">
                <a:hlinkClick r:id="rId2"/>
              </a:rPr>
              <a:t>https://www.youtube.com/watch?v=b1EtsGKlW-s</a:t>
            </a:r>
            <a:endParaRPr lang="en-US" dirty="0"/>
          </a:p>
        </p:txBody>
      </p:sp>
    </p:spTree>
    <p:extLst>
      <p:ext uri="{BB962C8B-B14F-4D97-AF65-F5344CB8AC3E}">
        <p14:creationId xmlns:p14="http://schemas.microsoft.com/office/powerpoint/2010/main" val="224500884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362"/>
          </a:xfrm>
        </p:spPr>
        <p:txBody>
          <a:bodyPr>
            <a:normAutofit fontScale="90000"/>
          </a:bodyPr>
          <a:lstStyle/>
          <a:p>
            <a:r>
              <a:rPr lang="en-US" dirty="0" smtClean="0"/>
              <a:t> </a:t>
            </a:r>
            <a:endParaRPr lang="en-US" dirty="0"/>
          </a:p>
        </p:txBody>
      </p:sp>
      <p:sp>
        <p:nvSpPr>
          <p:cNvPr id="3" name="Content Placeholder 2"/>
          <p:cNvSpPr>
            <a:spLocks noGrp="1"/>
          </p:cNvSpPr>
          <p:nvPr>
            <p:ph idx="1"/>
          </p:nvPr>
        </p:nvSpPr>
        <p:spPr>
          <a:xfrm>
            <a:off x="457200" y="762000"/>
            <a:ext cx="8229600" cy="6096000"/>
          </a:xfrm>
        </p:spPr>
        <p:txBody>
          <a:bodyPr>
            <a:normAutofit fontScale="70000" lnSpcReduction="20000"/>
          </a:bodyPr>
          <a:lstStyle/>
          <a:p>
            <a:pPr marL="342900" lvl="1" indent="-342900">
              <a:buFont typeface="Arial" pitchFamily="34" charset="0"/>
              <a:buChar char="•"/>
            </a:pPr>
            <a:r>
              <a:rPr lang="en-US" sz="5100" b="1" dirty="0"/>
              <a:t>Plan Risk Management</a:t>
            </a:r>
          </a:p>
          <a:p>
            <a:r>
              <a:rPr lang="en-US" dirty="0"/>
              <a:t>This is the process of creating the risk management plan. This plan details how the </a:t>
            </a:r>
            <a:r>
              <a:rPr lang="en-US" dirty="0" smtClean="0"/>
              <a:t>project </a:t>
            </a:r>
            <a:r>
              <a:rPr lang="en-US" dirty="0"/>
              <a:t>management team will perform risk management for this project. It does not involve actually identifying project risk</a:t>
            </a:r>
            <a:r>
              <a:rPr lang="en-US" dirty="0" smtClean="0"/>
              <a:t>.</a:t>
            </a:r>
          </a:p>
          <a:p>
            <a:endParaRPr lang="en-US" dirty="0"/>
          </a:p>
          <a:p>
            <a:r>
              <a:rPr lang="en-US" b="1" i="1" dirty="0"/>
              <a:t>Aim of Risk Management Plan</a:t>
            </a:r>
            <a:r>
              <a:rPr lang="en-US" i="1" dirty="0"/>
              <a:t>—is to ensure that the risk management </a:t>
            </a:r>
            <a:r>
              <a:rPr lang="en-US" i="1" dirty="0" smtClean="0"/>
              <a:t>protocol </a:t>
            </a:r>
            <a:r>
              <a:rPr lang="en-US" i="1" dirty="0"/>
              <a:t>that is used on the project is commensurate with both the risks and the importance of the project to the organization.</a:t>
            </a:r>
            <a:endParaRPr lang="en-US" dirty="0"/>
          </a:p>
          <a:p>
            <a:r>
              <a:rPr lang="en-US" i="1" dirty="0"/>
              <a:t> </a:t>
            </a:r>
            <a:endParaRPr lang="en-US" dirty="0"/>
          </a:p>
          <a:p>
            <a:r>
              <a:rPr lang="en-US" dirty="0"/>
              <a:t>Establishing this protocol early on in the project ensures that all members of the project management team are using the same methods to evaluate risks and that the risk </a:t>
            </a:r>
            <a:r>
              <a:rPr lang="en-US" dirty="0" smtClean="0"/>
              <a:t>management </a:t>
            </a:r>
            <a:r>
              <a:rPr lang="en-US" dirty="0"/>
              <a:t>tasks are budgeted for in the project plans.</a:t>
            </a:r>
          </a:p>
          <a:p>
            <a:r>
              <a:rPr lang="en-US" dirty="0"/>
              <a:t> </a:t>
            </a:r>
          </a:p>
          <a:p>
            <a:r>
              <a:rPr lang="en-US" dirty="0"/>
              <a:t>The level of detail in the risk management plan will depend upon the level of risk within the project and the level of risk that the performing organization is prepared to take.</a:t>
            </a:r>
          </a:p>
          <a:p>
            <a:endParaRPr lang="en-US" dirty="0"/>
          </a:p>
        </p:txBody>
      </p:sp>
    </p:spTree>
    <p:extLst>
      <p:ext uri="{BB962C8B-B14F-4D97-AF65-F5344CB8AC3E}">
        <p14:creationId xmlns:p14="http://schemas.microsoft.com/office/powerpoint/2010/main" val="122722057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Risk Management Plan</a:t>
            </a:r>
            <a:endParaRPr lang="en-US" dirty="0"/>
          </a:p>
        </p:txBody>
      </p:sp>
      <p:sp>
        <p:nvSpPr>
          <p:cNvPr id="3" name="Content Placeholder 2"/>
          <p:cNvSpPr>
            <a:spLocks noGrp="1"/>
          </p:cNvSpPr>
          <p:nvPr>
            <p:ph idx="1"/>
          </p:nvPr>
        </p:nvSpPr>
        <p:spPr/>
        <p:txBody>
          <a:bodyPr/>
          <a:lstStyle/>
          <a:p>
            <a:r>
              <a:rPr lang="en-US" dirty="0"/>
              <a:t>The inputs, tools and techniques, and outputs of this process are summarized in the table below.</a:t>
            </a:r>
          </a:p>
          <a:p>
            <a:r>
              <a:rPr lang="en-US" dirty="0"/>
              <a:t> </a:t>
            </a:r>
          </a:p>
          <a:p>
            <a:endParaRPr lang="en-US" dirty="0"/>
          </a:p>
        </p:txBody>
      </p:sp>
      <p:pic>
        <p:nvPicPr>
          <p:cNvPr id="1026" name="Picture 2"/>
          <p:cNvPicPr>
            <a:picLocks noChangeAspect="1" noChangeArrowheads="1"/>
          </p:cNvPicPr>
          <p:nvPr/>
        </p:nvPicPr>
        <p:blipFill>
          <a:blip r:embed="rId2"/>
          <a:srcRect/>
          <a:stretch>
            <a:fillRect/>
          </a:stretch>
        </p:blipFill>
        <p:spPr bwMode="auto">
          <a:xfrm>
            <a:off x="533400" y="3352800"/>
            <a:ext cx="8393906" cy="2286000"/>
          </a:xfrm>
          <a:prstGeom prst="rect">
            <a:avLst/>
          </a:prstGeom>
          <a:noFill/>
          <a:ln w="9525">
            <a:noFill/>
            <a:miter lim="800000"/>
            <a:headEnd/>
            <a:tailEnd/>
          </a:ln>
          <a:effectLst/>
        </p:spPr>
      </p:pic>
    </p:spTree>
    <p:extLst>
      <p:ext uri="{BB962C8B-B14F-4D97-AF65-F5344CB8AC3E}">
        <p14:creationId xmlns:p14="http://schemas.microsoft.com/office/powerpoint/2010/main" val="2805398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2"/>
            <a:r>
              <a:rPr lang="en-US" b="1" dirty="0"/>
              <a:t>Plan Risk Management: Inputs</a:t>
            </a:r>
          </a:p>
          <a:p>
            <a:r>
              <a:rPr lang="en-US" dirty="0"/>
              <a:t>This process requires the following inputs:</a:t>
            </a:r>
          </a:p>
          <a:p>
            <a:endParaRPr lang="en-US" dirty="0"/>
          </a:p>
        </p:txBody>
      </p:sp>
      <p:pic>
        <p:nvPicPr>
          <p:cNvPr id="2050" name="Picture 2"/>
          <p:cNvPicPr>
            <a:picLocks noChangeAspect="1" noChangeArrowheads="1"/>
          </p:cNvPicPr>
          <p:nvPr/>
        </p:nvPicPr>
        <p:blipFill>
          <a:blip r:embed="rId2"/>
          <a:srcRect/>
          <a:stretch>
            <a:fillRect/>
          </a:stretch>
        </p:blipFill>
        <p:spPr bwMode="auto">
          <a:xfrm>
            <a:off x="2209800" y="3581400"/>
            <a:ext cx="4991100" cy="2028825"/>
          </a:xfrm>
          <a:prstGeom prst="rect">
            <a:avLst/>
          </a:prstGeom>
          <a:noFill/>
          <a:ln w="9525">
            <a:noFill/>
            <a:miter lim="800000"/>
            <a:headEnd/>
            <a:tailEnd/>
          </a:ln>
          <a:effectLst/>
        </p:spPr>
      </p:pic>
    </p:spTree>
    <p:extLst>
      <p:ext uri="{BB962C8B-B14F-4D97-AF65-F5344CB8AC3E}">
        <p14:creationId xmlns:p14="http://schemas.microsoft.com/office/powerpoint/2010/main" val="10174307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77000"/>
          </a:xfrm>
        </p:spPr>
        <p:txBody>
          <a:bodyPr>
            <a:normAutofit fontScale="85000" lnSpcReduction="20000"/>
          </a:bodyPr>
          <a:lstStyle/>
          <a:p>
            <a:pPr marL="342900" lvl="3" indent="-342900">
              <a:buFont typeface="Arial" pitchFamily="34" charset="0"/>
              <a:buChar char="•"/>
            </a:pPr>
            <a:r>
              <a:rPr lang="en-US" sz="4100" b="1" dirty="0" smtClean="0"/>
              <a:t>Project Management Plan</a:t>
            </a:r>
          </a:p>
          <a:p>
            <a:endParaRPr lang="en-US" dirty="0" smtClean="0"/>
          </a:p>
          <a:p>
            <a:r>
              <a:rPr lang="en-US" sz="2800" dirty="0" smtClean="0"/>
              <a:t>All </a:t>
            </a:r>
            <a:r>
              <a:rPr lang="en-US" sz="2800" dirty="0"/>
              <a:t>approved subsidiary management plans and baselines should be taken into </a:t>
            </a:r>
            <a:r>
              <a:rPr lang="en-US" sz="2800" dirty="0" smtClean="0"/>
              <a:t>consideration </a:t>
            </a:r>
            <a:r>
              <a:rPr lang="en-US" sz="2800" dirty="0"/>
              <a:t>in order to make the risk management plan consistent with them. For example,</a:t>
            </a:r>
          </a:p>
          <a:p>
            <a:pPr marL="342900" lvl="4" indent="-342900">
              <a:buFont typeface="Arial" pitchFamily="34" charset="0"/>
              <a:buChar char="•"/>
            </a:pPr>
            <a:endParaRPr lang="en-US" dirty="0" smtClean="0"/>
          </a:p>
          <a:p>
            <a:pPr marL="342900" lvl="4" indent="-342900">
              <a:buFont typeface="Arial" pitchFamily="34" charset="0"/>
              <a:buChar char="•"/>
            </a:pPr>
            <a:r>
              <a:rPr lang="en-US" sz="2400" b="1" i="1" dirty="0" smtClean="0"/>
              <a:t>Scope </a:t>
            </a:r>
            <a:r>
              <a:rPr lang="en-US" sz="2400" b="1" i="1" dirty="0"/>
              <a:t>Statement </a:t>
            </a:r>
            <a:r>
              <a:rPr lang="en-US" sz="2400" dirty="0"/>
              <a:t>defines the scope of the project, which will have a direct bearing on the type and amount of risk that is likely to be encountered. It provides a clear definition of such risk </a:t>
            </a:r>
            <a:r>
              <a:rPr lang="en-US" sz="2400" dirty="0" smtClean="0"/>
              <a:t>areas.</a:t>
            </a:r>
          </a:p>
          <a:p>
            <a:pPr marL="342900" lvl="4" indent="-342900">
              <a:buFont typeface="Arial" pitchFamily="34" charset="0"/>
              <a:buChar char="•"/>
            </a:pPr>
            <a:endParaRPr lang="en-US" sz="2400" dirty="0" smtClean="0"/>
          </a:p>
          <a:p>
            <a:pPr marL="342900" lvl="4" indent="-342900">
              <a:buFont typeface="Arial" pitchFamily="34" charset="0"/>
              <a:buChar char="•"/>
            </a:pPr>
            <a:r>
              <a:rPr lang="en-US" sz="2400" b="1" dirty="0" smtClean="0"/>
              <a:t>The </a:t>
            </a:r>
            <a:r>
              <a:rPr lang="en-US" sz="2400" b="1" i="1" dirty="0"/>
              <a:t>Cost Management Plan </a:t>
            </a:r>
            <a:r>
              <a:rPr lang="en-US" sz="2400" dirty="0"/>
              <a:t>defines how risk in terms of budgets, </a:t>
            </a:r>
            <a:r>
              <a:rPr lang="en-US" sz="2400" dirty="0" smtClean="0"/>
              <a:t>contingencies, and </a:t>
            </a:r>
            <a:r>
              <a:rPr lang="en-US" sz="2400" dirty="0"/>
              <a:t>management reserves will be reported and accessed</a:t>
            </a:r>
            <a:r>
              <a:rPr lang="en-US" sz="2400" dirty="0" smtClean="0"/>
              <a:t>.</a:t>
            </a:r>
          </a:p>
          <a:p>
            <a:pPr marL="342900" lvl="4" indent="-342900">
              <a:buFont typeface="Arial" pitchFamily="34" charset="0"/>
              <a:buChar char="•"/>
            </a:pPr>
            <a:endParaRPr lang="en-US" sz="2400" dirty="0" smtClean="0"/>
          </a:p>
          <a:p>
            <a:pPr marL="342900" lvl="4" indent="-342900">
              <a:buFont typeface="Arial" pitchFamily="34" charset="0"/>
              <a:buChar char="•"/>
            </a:pPr>
            <a:r>
              <a:rPr lang="en-US" sz="2400" b="1" dirty="0" smtClean="0"/>
              <a:t>The </a:t>
            </a:r>
            <a:r>
              <a:rPr lang="en-US" sz="2400" b="1" i="1" dirty="0"/>
              <a:t>Schedule Management Plan </a:t>
            </a:r>
            <a:r>
              <a:rPr lang="en-US" sz="2400" dirty="0"/>
              <a:t>includes information about activities and their timing including aspects such as internal and external constraints that will help identify risk </a:t>
            </a:r>
            <a:r>
              <a:rPr lang="en-US" sz="2400" dirty="0" smtClean="0"/>
              <a:t>areas.</a:t>
            </a:r>
          </a:p>
          <a:p>
            <a:pPr marL="342900" lvl="4" indent="-342900">
              <a:buFont typeface="Arial" pitchFamily="34" charset="0"/>
              <a:buChar char="•"/>
            </a:pPr>
            <a:endParaRPr lang="en-US" sz="2400" dirty="0" smtClean="0"/>
          </a:p>
          <a:p>
            <a:pPr marL="342900" lvl="4" indent="-342900">
              <a:buFont typeface="Arial" pitchFamily="34" charset="0"/>
              <a:buChar char="•"/>
            </a:pPr>
            <a:r>
              <a:rPr lang="en-US" sz="2400" b="1" dirty="0" smtClean="0"/>
              <a:t>The </a:t>
            </a:r>
            <a:r>
              <a:rPr lang="en-US" sz="2400" b="1" i="1" dirty="0"/>
              <a:t>Communications Management Plan </a:t>
            </a:r>
            <a:r>
              <a:rPr lang="en-US" sz="2400" dirty="0"/>
              <a:t>includes information on all key </a:t>
            </a:r>
            <a:r>
              <a:rPr lang="en-US" sz="2400" dirty="0" smtClean="0"/>
              <a:t>stakeholders </a:t>
            </a:r>
            <a:r>
              <a:rPr lang="en-US" sz="2400" dirty="0"/>
              <a:t>and in particular their concerns for specific risks, and hence, how such </a:t>
            </a:r>
            <a:r>
              <a:rPr lang="en-US" sz="2400" dirty="0" smtClean="0"/>
              <a:t>communications </a:t>
            </a:r>
            <a:r>
              <a:rPr lang="en-US" sz="2400" dirty="0"/>
              <a:t>should be handled.</a:t>
            </a:r>
          </a:p>
          <a:p>
            <a:pPr>
              <a:buNone/>
            </a:pPr>
            <a:r>
              <a:rPr lang="en-US" dirty="0"/>
              <a:t> </a:t>
            </a:r>
            <a:endParaRPr lang="en-US" sz="2400" dirty="0"/>
          </a:p>
          <a:p>
            <a:pPr marL="342900" lvl="4" indent="-342900">
              <a:buFont typeface="Arial" pitchFamily="34" charset="0"/>
              <a:buChar char="•"/>
            </a:pPr>
            <a:endParaRPr lang="en-US" dirty="0"/>
          </a:p>
          <a:p>
            <a:endParaRPr lang="en-US" sz="4000" dirty="0"/>
          </a:p>
        </p:txBody>
      </p:sp>
    </p:spTree>
    <p:extLst>
      <p:ext uri="{BB962C8B-B14F-4D97-AF65-F5344CB8AC3E}">
        <p14:creationId xmlns:p14="http://schemas.microsoft.com/office/powerpoint/2010/main" val="24830351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a:t>
            </a:r>
            <a:r>
              <a:rPr lang="en-US" smtClean="0"/>
              <a:t>Management Plan</a:t>
            </a:r>
            <a:endParaRPr lang="en-US"/>
          </a:p>
        </p:txBody>
      </p:sp>
      <p:graphicFrame>
        <p:nvGraphicFramePr>
          <p:cNvPr id="4" name="Table 3"/>
          <p:cNvGraphicFramePr>
            <a:graphicFrameLocks noGrp="1"/>
          </p:cNvGraphicFramePr>
          <p:nvPr>
            <p:extLst>
              <p:ext uri="{D42A27DB-BD31-4B8C-83A1-F6EECF244321}">
                <p14:modId xmlns:p14="http://schemas.microsoft.com/office/powerpoint/2010/main" val="3422979430"/>
              </p:ext>
            </p:extLst>
          </p:nvPr>
        </p:nvGraphicFramePr>
        <p:xfrm>
          <a:off x="1295400" y="2286000"/>
          <a:ext cx="6324600" cy="3276600"/>
        </p:xfrm>
        <a:graphic>
          <a:graphicData uri="http://schemas.openxmlformats.org/drawingml/2006/table">
            <a:tbl>
              <a:tblPr>
                <a:tableStyleId>{5C22544A-7EE6-4342-B048-85BDC9FD1C3A}</a:tableStyleId>
              </a:tblPr>
              <a:tblGrid>
                <a:gridCol w="1517172"/>
                <a:gridCol w="1352661"/>
                <a:gridCol w="1553732"/>
                <a:gridCol w="1901035"/>
              </a:tblGrid>
              <a:tr h="546100">
                <a:tc gridSpan="4">
                  <a:txBody>
                    <a:bodyPr/>
                    <a:lstStyle/>
                    <a:p>
                      <a:pPr algn="ctr" fontAlgn="ctr"/>
                      <a:r>
                        <a:rPr lang="en-US" sz="2400" u="none" strike="noStrike" dirty="0">
                          <a:effectLst/>
                        </a:rPr>
                        <a:t>Project Management Plan</a:t>
                      </a:r>
                      <a:endParaRPr lang="en-US" sz="2400" b="1"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n-US"/>
                    </a:p>
                  </a:txBody>
                  <a:tcPr/>
                </a:tc>
                <a:tc hMerge="1">
                  <a:txBody>
                    <a:bodyPr/>
                    <a:lstStyle/>
                    <a:p>
                      <a:endParaRPr lang="en-US"/>
                    </a:p>
                  </a:txBody>
                  <a:tcPr/>
                </a:tc>
                <a:tc hMerge="1">
                  <a:txBody>
                    <a:bodyPr/>
                    <a:lstStyle/>
                    <a:p>
                      <a:endParaRPr lang="en-US"/>
                    </a:p>
                  </a:txBody>
                  <a:tcPr/>
                </a:tc>
              </a:tr>
              <a:tr h="546100">
                <a:tc>
                  <a:txBody>
                    <a:bodyPr/>
                    <a:lstStyle/>
                    <a:p>
                      <a:pPr algn="l" fontAlgn="ctr"/>
                      <a:r>
                        <a:rPr lang="en-US" sz="2400" u="none" strike="noStrike">
                          <a:effectLst/>
                        </a:rPr>
                        <a:t>Veriables</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dirty="0">
                          <a:effectLst/>
                        </a:rPr>
                        <a:t>Define</a:t>
                      </a:r>
                      <a:endParaRPr lang="en-US"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dirty="0">
                          <a:effectLst/>
                        </a:rPr>
                        <a:t>Manage</a:t>
                      </a:r>
                      <a:endParaRPr lang="en-US"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a:effectLst/>
                        </a:rPr>
                        <a:t>Control</a:t>
                      </a:r>
                      <a:endParaRPr lang="en-US" sz="2400" b="1" i="0" u="none" strike="noStrike">
                        <a:solidFill>
                          <a:srgbClr val="000000"/>
                        </a:solidFill>
                        <a:effectLst/>
                        <a:latin typeface="Calibri" panose="020F0502020204030204" pitchFamily="34" charset="0"/>
                      </a:endParaRPr>
                    </a:p>
                  </a:txBody>
                  <a:tcPr marL="9525" marR="9525" marT="9525" marB="0" anchor="ctr"/>
                </a:tc>
              </a:tr>
              <a:tr h="546100">
                <a:tc>
                  <a:txBody>
                    <a:bodyPr/>
                    <a:lstStyle/>
                    <a:p>
                      <a:pPr algn="l" fontAlgn="ctr"/>
                      <a:r>
                        <a:rPr lang="en-US" sz="2400" u="none" strike="noStrike">
                          <a:effectLst/>
                        </a:rPr>
                        <a:t>Scope</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a:effectLst/>
                        </a:rPr>
                        <a:t> </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dirty="0">
                          <a:effectLst/>
                        </a:rPr>
                        <a:t> </a:t>
                      </a:r>
                      <a:endParaRPr lang="en-US"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dirty="0">
                          <a:effectLst/>
                        </a:rPr>
                        <a:t> </a:t>
                      </a:r>
                      <a:endParaRPr lang="en-US" sz="2400" b="1" i="0" u="none" strike="noStrike" dirty="0">
                        <a:solidFill>
                          <a:srgbClr val="000000"/>
                        </a:solidFill>
                        <a:effectLst/>
                        <a:latin typeface="Calibri" panose="020F0502020204030204" pitchFamily="34" charset="0"/>
                      </a:endParaRPr>
                    </a:p>
                  </a:txBody>
                  <a:tcPr marL="9525" marR="9525" marT="9525" marB="0" anchor="ctr"/>
                </a:tc>
              </a:tr>
              <a:tr h="546100">
                <a:tc>
                  <a:txBody>
                    <a:bodyPr/>
                    <a:lstStyle/>
                    <a:p>
                      <a:pPr algn="l" fontAlgn="ctr"/>
                      <a:r>
                        <a:rPr lang="en-US" sz="2400" u="none" strike="noStrike">
                          <a:effectLst/>
                        </a:rPr>
                        <a:t>Cost</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a:effectLst/>
                        </a:rPr>
                        <a:t> </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a:effectLst/>
                        </a:rPr>
                        <a:t> </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dirty="0">
                          <a:effectLst/>
                        </a:rPr>
                        <a:t> </a:t>
                      </a:r>
                      <a:endParaRPr lang="en-US" sz="2400" b="1" i="0" u="none" strike="noStrike" dirty="0">
                        <a:solidFill>
                          <a:srgbClr val="000000"/>
                        </a:solidFill>
                        <a:effectLst/>
                        <a:latin typeface="Calibri" panose="020F0502020204030204" pitchFamily="34" charset="0"/>
                      </a:endParaRPr>
                    </a:p>
                  </a:txBody>
                  <a:tcPr marL="9525" marR="9525" marT="9525" marB="0" anchor="ctr"/>
                </a:tc>
              </a:tr>
              <a:tr h="546100">
                <a:tc>
                  <a:txBody>
                    <a:bodyPr/>
                    <a:lstStyle/>
                    <a:p>
                      <a:pPr algn="l" fontAlgn="ctr"/>
                      <a:r>
                        <a:rPr lang="en-US" sz="2400" u="none" strike="noStrike">
                          <a:effectLst/>
                        </a:rPr>
                        <a:t>Schedule</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a:effectLst/>
                        </a:rPr>
                        <a:t> </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a:effectLst/>
                        </a:rPr>
                        <a:t> </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dirty="0">
                          <a:effectLst/>
                        </a:rPr>
                        <a:t> </a:t>
                      </a:r>
                      <a:endParaRPr lang="en-US" sz="2400" b="1" i="0" u="none" strike="noStrike" dirty="0">
                        <a:solidFill>
                          <a:srgbClr val="000000"/>
                        </a:solidFill>
                        <a:effectLst/>
                        <a:latin typeface="Calibri" panose="020F0502020204030204" pitchFamily="34" charset="0"/>
                      </a:endParaRPr>
                    </a:p>
                  </a:txBody>
                  <a:tcPr marL="9525" marR="9525" marT="9525" marB="0" anchor="ctr"/>
                </a:tc>
              </a:tr>
              <a:tr h="546100">
                <a:tc>
                  <a:txBody>
                    <a:bodyPr/>
                    <a:lstStyle/>
                    <a:p>
                      <a:pPr algn="l" fontAlgn="ctr"/>
                      <a:r>
                        <a:rPr lang="en-US" sz="2400" u="none" strike="noStrike" dirty="0">
                          <a:effectLst/>
                        </a:rPr>
                        <a:t>Quality</a:t>
                      </a:r>
                      <a:endParaRPr lang="en-US" sz="24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a:effectLst/>
                        </a:rPr>
                        <a:t> </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a:effectLst/>
                        </a:rPr>
                        <a:t> </a:t>
                      </a:r>
                      <a:endParaRPr lang="en-US" sz="24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2400" u="none" strike="noStrike" dirty="0">
                          <a:effectLst/>
                        </a:rPr>
                        <a:t> </a:t>
                      </a:r>
                      <a:endParaRPr lang="en-US" sz="2400" b="1" i="0" u="none" strike="noStrike" dirty="0">
                        <a:solidFill>
                          <a:srgbClr val="000000"/>
                        </a:solidFill>
                        <a:effectLst/>
                        <a:latin typeface="Calibri" panose="020F0502020204030204" pitchFamily="34" charset="0"/>
                      </a:endParaRPr>
                    </a:p>
                  </a:txBody>
                  <a:tcPr marL="9525" marR="9525" marT="9525" marB="0" anchor="ctr"/>
                </a:tc>
              </a:tr>
            </a:tbl>
          </a:graphicData>
        </a:graphic>
      </p:graphicFrame>
    </p:spTree>
    <p:extLst>
      <p:ext uri="{BB962C8B-B14F-4D97-AF65-F5344CB8AC3E}">
        <p14:creationId xmlns:p14="http://schemas.microsoft.com/office/powerpoint/2010/main" val="23747695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Why you need Project charter?</a:t>
            </a:r>
            <a:br>
              <a:rPr lang="en-US" dirty="0" smtClean="0"/>
            </a:b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4034252" y="1524000"/>
            <a:ext cx="5109748" cy="5334000"/>
          </a:xfrm>
          <a:prstGeom prst="rect">
            <a:avLst/>
          </a:prstGeom>
          <a:noFill/>
          <a:ln w="9525">
            <a:noFill/>
            <a:miter lim="800000"/>
            <a:headEnd/>
            <a:tailEnd/>
          </a:ln>
          <a:effectLst/>
        </p:spPr>
      </p:pic>
      <p:sp>
        <p:nvSpPr>
          <p:cNvPr id="5" name="TextBox 4"/>
          <p:cNvSpPr txBox="1"/>
          <p:nvPr/>
        </p:nvSpPr>
        <p:spPr>
          <a:xfrm>
            <a:off x="304800" y="4114800"/>
            <a:ext cx="5285806" cy="1077218"/>
          </a:xfrm>
          <a:prstGeom prst="rect">
            <a:avLst/>
          </a:prstGeom>
          <a:noFill/>
        </p:spPr>
        <p:txBody>
          <a:bodyPr wrap="none" rtlCol="0">
            <a:spAutoFit/>
          </a:bodyPr>
          <a:lstStyle/>
          <a:p>
            <a:r>
              <a:rPr lang="en-US" sz="3200" b="1" dirty="0" smtClean="0"/>
              <a:t>What you see in this picture?</a:t>
            </a:r>
            <a:br>
              <a:rPr lang="en-US" sz="3200" b="1" dirty="0" smtClean="0"/>
            </a:br>
            <a:r>
              <a:rPr lang="en-US" sz="3200" b="1" dirty="0" smtClean="0"/>
              <a:t>A young lady or old Women??</a:t>
            </a:r>
            <a:endParaRPr lang="en-US" sz="3200" b="1" dirty="0"/>
          </a:p>
        </p:txBody>
      </p:sp>
    </p:spTree>
    <p:extLst>
      <p:ext uri="{BB962C8B-B14F-4D97-AF65-F5344CB8AC3E}">
        <p14:creationId xmlns:p14="http://schemas.microsoft.com/office/powerpoint/2010/main" val="22253843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dirty="0" smtClean="0"/>
              <a:t>Why you need Project charter?</a:t>
            </a:r>
            <a:endParaRPr lang="en-US" dirty="0"/>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381000" y="914400"/>
            <a:ext cx="8335736" cy="5943600"/>
          </a:xfrm>
          <a:prstGeom prst="rect">
            <a:avLst/>
          </a:prstGeom>
          <a:noFill/>
          <a:ln w="9525">
            <a:noFill/>
            <a:miter lim="800000"/>
            <a:headEnd/>
            <a:tailEnd/>
          </a:ln>
          <a:effectLst/>
        </p:spPr>
      </p:pic>
    </p:spTree>
    <p:extLst>
      <p:ext uri="{BB962C8B-B14F-4D97-AF65-F5344CB8AC3E}">
        <p14:creationId xmlns:p14="http://schemas.microsoft.com/office/powerpoint/2010/main" val="26436587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Project Charter</a:t>
            </a:r>
            <a:br>
              <a:rPr lang="en-US" dirty="0" smtClean="0"/>
            </a:br>
            <a:endParaRPr lang="en-US" dirty="0"/>
          </a:p>
        </p:txBody>
      </p:sp>
      <p:sp>
        <p:nvSpPr>
          <p:cNvPr id="3" name="Content Placeholder 2"/>
          <p:cNvSpPr>
            <a:spLocks noGrp="1"/>
          </p:cNvSpPr>
          <p:nvPr>
            <p:ph idx="1"/>
          </p:nvPr>
        </p:nvSpPr>
        <p:spPr>
          <a:xfrm>
            <a:off x="152400" y="762000"/>
            <a:ext cx="8229600" cy="5211763"/>
          </a:xfrm>
        </p:spPr>
        <p:txBody>
          <a:bodyPr/>
          <a:lstStyle/>
          <a:p>
            <a:r>
              <a:rPr lang="en-US" dirty="0" smtClean="0"/>
              <a:t>Project Charter</a:t>
            </a:r>
            <a:endParaRPr lang="en-US" dirty="0"/>
          </a:p>
        </p:txBody>
      </p:sp>
      <p:pic>
        <p:nvPicPr>
          <p:cNvPr id="1026" name="Picture 2"/>
          <p:cNvPicPr>
            <a:picLocks noChangeAspect="1" noChangeArrowheads="1"/>
          </p:cNvPicPr>
          <p:nvPr/>
        </p:nvPicPr>
        <p:blipFill>
          <a:blip r:embed="rId2"/>
          <a:srcRect/>
          <a:stretch>
            <a:fillRect/>
          </a:stretch>
        </p:blipFill>
        <p:spPr bwMode="auto">
          <a:xfrm>
            <a:off x="4065320" y="1752600"/>
            <a:ext cx="4886202" cy="4762500"/>
          </a:xfrm>
          <a:prstGeom prst="rect">
            <a:avLst/>
          </a:prstGeom>
          <a:noFill/>
          <a:ln w="9525">
            <a:noFill/>
            <a:miter lim="800000"/>
            <a:headEnd/>
            <a:tailEnd/>
          </a:ln>
          <a:effectLst/>
        </p:spPr>
      </p:pic>
      <p:sp>
        <p:nvSpPr>
          <p:cNvPr id="5" name="Rectangle 4"/>
          <p:cNvSpPr/>
          <p:nvPr/>
        </p:nvSpPr>
        <p:spPr>
          <a:xfrm>
            <a:off x="381000" y="1524000"/>
            <a:ext cx="3810000" cy="4401205"/>
          </a:xfrm>
          <a:prstGeom prst="rect">
            <a:avLst/>
          </a:prstGeom>
        </p:spPr>
        <p:txBody>
          <a:bodyPr wrap="square">
            <a:spAutoFit/>
          </a:bodyPr>
          <a:lstStyle/>
          <a:p>
            <a:pPr algn="just"/>
            <a:r>
              <a:rPr lang="en-US" sz="2000" dirty="0" smtClean="0"/>
              <a:t>The Project Charter describes the project vision and objectives (the reasons for doing the work). It also summarizes at a high level the overall project strategy, scope, organization and implementation. It helps to set the direction for the project and gain buy in from key stakeholders as to how the project will be organized and implemented. It also helps control the scope of the project, by defining exactly what it is that you have to achieve. </a:t>
            </a:r>
            <a:endParaRPr lang="en-US" sz="2000" dirty="0"/>
          </a:p>
        </p:txBody>
      </p:sp>
    </p:spTree>
    <p:extLst>
      <p:ext uri="{BB962C8B-B14F-4D97-AF65-F5344CB8AC3E}">
        <p14:creationId xmlns:p14="http://schemas.microsoft.com/office/powerpoint/2010/main" val="263511871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Charter</a:t>
            </a:r>
            <a:endParaRPr lang="en-US" dirty="0"/>
          </a:p>
        </p:txBody>
      </p:sp>
      <p:sp>
        <p:nvSpPr>
          <p:cNvPr id="3" name="Content Placeholder 2"/>
          <p:cNvSpPr>
            <a:spLocks noGrp="1"/>
          </p:cNvSpPr>
          <p:nvPr>
            <p:ph idx="1"/>
          </p:nvPr>
        </p:nvSpPr>
        <p:spPr/>
        <p:txBody>
          <a:bodyPr/>
          <a:lstStyle/>
          <a:p>
            <a:r>
              <a:rPr lang="en-US" dirty="0" smtClean="0"/>
              <a:t>Class exercise. </a:t>
            </a:r>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a:bodyPr>
          <a:lstStyle/>
          <a:p>
            <a:pPr marL="342900" lvl="3" indent="-342900">
              <a:buFont typeface="Arial" pitchFamily="34" charset="0"/>
              <a:buChar char="•"/>
            </a:pPr>
            <a:r>
              <a:rPr lang="en-US" sz="3200" b="1" dirty="0" smtClean="0"/>
              <a:t>Enterprise Environmental Factors (EEF)</a:t>
            </a:r>
          </a:p>
          <a:p>
            <a:r>
              <a:rPr lang="en-US" dirty="0" smtClean="0"/>
              <a:t>Conditions, not under the immediate control of the team, that influence, constrain, or direct the project, program, or portfolio. </a:t>
            </a:r>
          </a:p>
          <a:p>
            <a:pPr>
              <a:buNone/>
            </a:pPr>
            <a:r>
              <a:rPr lang="en-US" b="1" dirty="0" smtClean="0"/>
              <a:t>Examples of environmental factors: </a:t>
            </a:r>
          </a:p>
          <a:p>
            <a:r>
              <a:rPr lang="en-US" dirty="0" smtClean="0"/>
              <a:t>Organizational culture &amp; structure </a:t>
            </a:r>
          </a:p>
          <a:p>
            <a:r>
              <a:rPr lang="en-US" dirty="0" smtClean="0"/>
              <a:t>Infrastructure </a:t>
            </a:r>
          </a:p>
          <a:p>
            <a:r>
              <a:rPr lang="en-US" dirty="0" smtClean="0"/>
              <a:t>Resources </a:t>
            </a:r>
          </a:p>
          <a:p>
            <a:r>
              <a:rPr lang="en-US" dirty="0" smtClean="0"/>
              <a:t>Database structure or tool</a:t>
            </a:r>
          </a:p>
          <a:p>
            <a:endParaRPr lang="en-US" dirty="0" smtClean="0"/>
          </a:p>
        </p:txBody>
      </p:sp>
      <p:sp>
        <p:nvSpPr>
          <p:cNvPr id="4" name="TextBox 3"/>
          <p:cNvSpPr txBox="1"/>
          <p:nvPr/>
        </p:nvSpPr>
        <p:spPr>
          <a:xfrm>
            <a:off x="6781800" y="1295400"/>
            <a:ext cx="1976054" cy="369332"/>
          </a:xfrm>
          <a:prstGeom prst="rect">
            <a:avLst/>
          </a:prstGeom>
          <a:noFill/>
        </p:spPr>
        <p:txBody>
          <a:bodyPr wrap="none" rtlCol="0">
            <a:spAutoFit/>
          </a:bodyPr>
          <a:lstStyle/>
          <a:p>
            <a:r>
              <a:rPr lang="en-US" dirty="0" smtClean="0"/>
              <a:t>Things we consider</a:t>
            </a:r>
            <a:endParaRPr lang="en-US" dirty="0"/>
          </a:p>
        </p:txBody>
      </p:sp>
      <p:sp>
        <p:nvSpPr>
          <p:cNvPr id="5" name="TextBox 4"/>
          <p:cNvSpPr txBox="1"/>
          <p:nvPr/>
        </p:nvSpPr>
        <p:spPr>
          <a:xfrm>
            <a:off x="6340732" y="5791200"/>
            <a:ext cx="2803268" cy="646331"/>
          </a:xfrm>
          <a:prstGeom prst="rect">
            <a:avLst/>
          </a:prstGeom>
          <a:noFill/>
        </p:spPr>
        <p:txBody>
          <a:bodyPr wrap="none" rtlCol="0">
            <a:spAutoFit/>
          </a:bodyPr>
          <a:lstStyle/>
          <a:p>
            <a:r>
              <a:rPr lang="en-US" dirty="0" smtClean="0"/>
              <a:t>Working in container </a:t>
            </a:r>
          </a:p>
          <a:p>
            <a:r>
              <a:rPr lang="en-US" dirty="0" smtClean="0"/>
              <a:t>Data base using for process.</a:t>
            </a:r>
            <a:endParaRPr lang="en-US" dirty="0"/>
          </a:p>
        </p:txBody>
      </p:sp>
    </p:spTree>
    <p:extLst>
      <p:ext uri="{BB962C8B-B14F-4D97-AF65-F5344CB8AC3E}">
        <p14:creationId xmlns:p14="http://schemas.microsoft.com/office/powerpoint/2010/main" val="6054723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smtClean="0"/>
              <a:t>According to the PMBOK® Guide, 6th edition, the following are part of Enterprise Environmental Factors: </a:t>
            </a:r>
          </a:p>
          <a:p>
            <a:pPr>
              <a:buNone/>
            </a:pPr>
            <a:r>
              <a:rPr lang="en-US" dirty="0" smtClean="0"/>
              <a:t>Internal: </a:t>
            </a:r>
          </a:p>
          <a:p>
            <a:r>
              <a:rPr lang="en-US" dirty="0" smtClean="0"/>
              <a:t>• Organizational structure </a:t>
            </a:r>
          </a:p>
          <a:p>
            <a:r>
              <a:rPr lang="en-US" dirty="0" smtClean="0"/>
              <a:t>• Infrastructure </a:t>
            </a:r>
          </a:p>
          <a:p>
            <a:r>
              <a:rPr lang="en-US" dirty="0" smtClean="0"/>
              <a:t>• The skills, disciplines and knowledge of human resources </a:t>
            </a:r>
          </a:p>
          <a:p>
            <a:r>
              <a:rPr lang="en-US" dirty="0" smtClean="0"/>
              <a:t>• Personnel administration </a:t>
            </a:r>
          </a:p>
          <a:p>
            <a:r>
              <a:rPr lang="en-US" dirty="0" smtClean="0"/>
              <a:t>• Stakeholder risk tolerances </a:t>
            </a:r>
          </a:p>
          <a:p>
            <a:pPr>
              <a:buNone/>
            </a:pPr>
            <a:r>
              <a:rPr lang="en-US" dirty="0" smtClean="0"/>
              <a:t>External: </a:t>
            </a:r>
          </a:p>
          <a:p>
            <a:r>
              <a:rPr lang="en-US" dirty="0" smtClean="0"/>
              <a:t>• Governmental or industry standards </a:t>
            </a:r>
          </a:p>
          <a:p>
            <a:r>
              <a:rPr lang="en-US" dirty="0" smtClean="0"/>
              <a:t>• Commercial databases </a:t>
            </a:r>
          </a:p>
          <a:p>
            <a:r>
              <a:rPr lang="en-US" dirty="0" smtClean="0"/>
              <a:t>• Marketplace conditions</a:t>
            </a:r>
          </a:p>
          <a:p>
            <a:r>
              <a:rPr lang="en-US" dirty="0" smtClean="0">
                <a:solidFill>
                  <a:srgbClr val="FF0000"/>
                </a:solidFill>
              </a:rPr>
              <a:t>(</a:t>
            </a:r>
            <a:r>
              <a:rPr lang="en-US" dirty="0" err="1" smtClean="0">
                <a:solidFill>
                  <a:srgbClr val="FF0000"/>
                </a:solidFill>
              </a:rPr>
              <a:t>eg</a:t>
            </a:r>
            <a:r>
              <a:rPr lang="en-US" dirty="0" smtClean="0">
                <a:solidFill>
                  <a:srgbClr val="FF0000"/>
                </a:solidFill>
              </a:rPr>
              <a:t> Shall petroleum increased dollar prices)</a:t>
            </a:r>
          </a:p>
          <a:p>
            <a:endParaRPr lang="en-US" dirty="0"/>
          </a:p>
        </p:txBody>
      </p:sp>
    </p:spTree>
    <p:extLst>
      <p:ext uri="{BB962C8B-B14F-4D97-AF65-F5344CB8AC3E}">
        <p14:creationId xmlns:p14="http://schemas.microsoft.com/office/powerpoint/2010/main" val="197412937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229600" cy="4525963"/>
          </a:xfrm>
        </p:spPr>
        <p:txBody>
          <a:bodyPr>
            <a:normAutofit fontScale="92500" lnSpcReduction="20000"/>
          </a:bodyPr>
          <a:lstStyle/>
          <a:p>
            <a:r>
              <a:rPr lang="en-US" b="1" dirty="0" smtClean="0"/>
              <a:t>Organizational Process Assets (OPA)</a:t>
            </a:r>
          </a:p>
          <a:p>
            <a:pPr>
              <a:buNone/>
            </a:pPr>
            <a:r>
              <a:rPr lang="en-US" dirty="0" smtClean="0"/>
              <a:t>Definition: Plans, processes, policies, procedures, and knowledge bases that are specific to and used by the performing organization </a:t>
            </a:r>
            <a:r>
              <a:rPr lang="en-US" dirty="0" smtClean="0">
                <a:solidFill>
                  <a:srgbClr val="FF0000"/>
                </a:solidFill>
              </a:rPr>
              <a:t>(Project Relevant information)</a:t>
            </a:r>
          </a:p>
          <a:p>
            <a:r>
              <a:rPr lang="en-US" dirty="0" smtClean="0"/>
              <a:t>Examples of process related assets:  </a:t>
            </a:r>
          </a:p>
          <a:p>
            <a:r>
              <a:rPr lang="en-US" dirty="0" smtClean="0"/>
              <a:t>Policies and procedures </a:t>
            </a:r>
          </a:p>
          <a:p>
            <a:r>
              <a:rPr lang="en-US" dirty="0" smtClean="0"/>
              <a:t>Formal and informal plans </a:t>
            </a:r>
          </a:p>
          <a:p>
            <a:r>
              <a:rPr lang="en-US" dirty="0" smtClean="0"/>
              <a:t>Lessons learned  </a:t>
            </a:r>
          </a:p>
          <a:p>
            <a:r>
              <a:rPr lang="en-US" dirty="0" smtClean="0"/>
              <a:t>Historical information</a:t>
            </a:r>
            <a:endParaRPr lang="en-US" dirty="0"/>
          </a:p>
        </p:txBody>
      </p:sp>
      <p:sp>
        <p:nvSpPr>
          <p:cNvPr id="4" name="TextBox 3"/>
          <p:cNvSpPr txBox="1"/>
          <p:nvPr/>
        </p:nvSpPr>
        <p:spPr>
          <a:xfrm>
            <a:off x="381000" y="4953000"/>
            <a:ext cx="7943072" cy="1107996"/>
          </a:xfrm>
          <a:prstGeom prst="rect">
            <a:avLst/>
          </a:prstGeom>
          <a:noFill/>
        </p:spPr>
        <p:txBody>
          <a:bodyPr wrap="none" rtlCol="0">
            <a:spAutoFit/>
          </a:bodyPr>
          <a:lstStyle/>
          <a:p>
            <a:r>
              <a:rPr lang="en-US" sz="2400" dirty="0" smtClean="0">
                <a:solidFill>
                  <a:srgbClr val="0070C0"/>
                </a:solidFill>
              </a:rPr>
              <a:t>Further categorized in project </a:t>
            </a:r>
            <a:r>
              <a:rPr lang="en-US" sz="2400" b="1" dirty="0">
                <a:solidFill>
                  <a:srgbClr val="0070C0"/>
                </a:solidFill>
              </a:rPr>
              <a:t>Corporate Knowledge </a:t>
            </a:r>
            <a:r>
              <a:rPr lang="en-US" sz="2400" b="1" dirty="0" smtClean="0">
                <a:solidFill>
                  <a:srgbClr val="0070C0"/>
                </a:solidFill>
              </a:rPr>
              <a:t>Base and</a:t>
            </a:r>
          </a:p>
          <a:p>
            <a:r>
              <a:rPr lang="en-US" sz="2400" b="1" dirty="0">
                <a:solidFill>
                  <a:srgbClr val="0070C0"/>
                </a:solidFill>
              </a:rPr>
              <a:t>Work Processes and Procedures:</a:t>
            </a:r>
          </a:p>
          <a:p>
            <a:endParaRPr lang="en-US" dirty="0"/>
          </a:p>
        </p:txBody>
      </p:sp>
      <p:sp>
        <p:nvSpPr>
          <p:cNvPr id="5" name="TextBox 4"/>
          <p:cNvSpPr txBox="1"/>
          <p:nvPr/>
        </p:nvSpPr>
        <p:spPr>
          <a:xfrm>
            <a:off x="6781800" y="228600"/>
            <a:ext cx="1503489" cy="369332"/>
          </a:xfrm>
          <a:prstGeom prst="rect">
            <a:avLst/>
          </a:prstGeom>
          <a:noFill/>
        </p:spPr>
        <p:txBody>
          <a:bodyPr wrap="none" rtlCol="0">
            <a:spAutoFit/>
          </a:bodyPr>
          <a:lstStyle/>
          <a:p>
            <a:r>
              <a:rPr lang="en-US" dirty="0" smtClean="0"/>
              <a:t>Things we use</a:t>
            </a:r>
            <a:endParaRPr lang="en-US" dirty="0"/>
          </a:p>
        </p:txBody>
      </p:sp>
    </p:spTree>
    <p:extLst>
      <p:ext uri="{BB962C8B-B14F-4D97-AF65-F5344CB8AC3E}">
        <p14:creationId xmlns:p14="http://schemas.microsoft.com/office/powerpoint/2010/main" val="36183303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5181600"/>
          </a:xfrm>
        </p:spPr>
        <p:txBody>
          <a:bodyPr>
            <a:normAutofit/>
          </a:bodyPr>
          <a:lstStyle/>
          <a:p>
            <a:r>
              <a:rPr lang="en-US" b="1" dirty="0" smtClean="0"/>
              <a:t>Corporate Knowledge Base:</a:t>
            </a:r>
          </a:p>
          <a:p>
            <a:r>
              <a:rPr lang="en-US" dirty="0" smtClean="0"/>
              <a:t>• Project files </a:t>
            </a:r>
          </a:p>
          <a:p>
            <a:r>
              <a:rPr lang="en-US" dirty="0" smtClean="0"/>
              <a:t>• Historical information </a:t>
            </a:r>
          </a:p>
          <a:p>
            <a:r>
              <a:rPr lang="en-US" dirty="0" smtClean="0"/>
              <a:t>• Lessons Learned Knowledge Base </a:t>
            </a:r>
          </a:p>
          <a:p>
            <a:r>
              <a:rPr lang="en-US" dirty="0" smtClean="0"/>
              <a:t>• Issue and defect management database (contains status) </a:t>
            </a:r>
          </a:p>
          <a:p>
            <a:r>
              <a:rPr lang="en-US" dirty="0" smtClean="0"/>
              <a:t>Risk register</a:t>
            </a:r>
          </a:p>
          <a:p>
            <a:r>
              <a:rPr lang="en-US" dirty="0" smtClean="0"/>
              <a:t>Stakeholder Register</a:t>
            </a:r>
          </a:p>
        </p:txBody>
      </p:sp>
    </p:spTree>
    <p:extLst>
      <p:ext uri="{BB962C8B-B14F-4D97-AF65-F5344CB8AC3E}">
        <p14:creationId xmlns:p14="http://schemas.microsoft.com/office/powerpoint/2010/main" val="3593152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257800"/>
          </a:xfrm>
        </p:spPr>
        <p:txBody>
          <a:bodyPr>
            <a:normAutofit/>
          </a:bodyPr>
          <a:lstStyle/>
          <a:p>
            <a:r>
              <a:rPr lang="en-US" sz="4000" b="1" dirty="0" smtClean="0"/>
              <a:t>Work Processes and Procedures:</a:t>
            </a:r>
          </a:p>
          <a:p>
            <a:endParaRPr lang="en-US" b="1" dirty="0" smtClean="0"/>
          </a:p>
          <a:p>
            <a:r>
              <a:rPr lang="en-US" b="1" dirty="0" smtClean="0"/>
              <a:t>Policies</a:t>
            </a:r>
          </a:p>
          <a:p>
            <a:r>
              <a:rPr lang="en-US" b="1" dirty="0" smtClean="0"/>
              <a:t>Procedures</a:t>
            </a:r>
          </a:p>
          <a:p>
            <a:r>
              <a:rPr lang="en-US" b="1" dirty="0" smtClean="0"/>
              <a:t>General Guideline</a:t>
            </a:r>
          </a:p>
          <a:p>
            <a:r>
              <a:rPr lang="en-US" b="1" dirty="0" smtClean="0"/>
              <a:t>STANDARD Template</a:t>
            </a:r>
          </a:p>
        </p:txBody>
      </p:sp>
    </p:spTree>
    <p:extLst>
      <p:ext uri="{BB962C8B-B14F-4D97-AF65-F5344CB8AC3E}">
        <p14:creationId xmlns:p14="http://schemas.microsoft.com/office/powerpoint/2010/main" val="49194590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2" algn="ctr" rtl="0">
              <a:spcBef>
                <a:spcPct val="0"/>
              </a:spcBef>
            </a:pPr>
            <a:r>
              <a:rPr lang="en-US" sz="3200" b="1" dirty="0" smtClean="0"/>
              <a:t>Plan Risk Management: Tools and Techniques</a:t>
            </a:r>
            <a:br>
              <a:rPr lang="en-US" sz="3200" b="1" dirty="0" smtClean="0"/>
            </a:br>
            <a:endParaRPr lang="en-US" sz="3200" dirty="0"/>
          </a:p>
        </p:txBody>
      </p:sp>
      <p:sp>
        <p:nvSpPr>
          <p:cNvPr id="3" name="Content Placeholder 2"/>
          <p:cNvSpPr>
            <a:spLocks noGrp="1"/>
          </p:cNvSpPr>
          <p:nvPr>
            <p:ph idx="1"/>
          </p:nvPr>
        </p:nvSpPr>
        <p:spPr/>
        <p:txBody>
          <a:bodyPr/>
          <a:lstStyle/>
          <a:p>
            <a:r>
              <a:rPr lang="en-US" dirty="0" smtClean="0"/>
              <a:t>There </a:t>
            </a:r>
            <a:r>
              <a:rPr lang="en-US" dirty="0"/>
              <a:t>are three tools and techniques that can be used.</a:t>
            </a:r>
          </a:p>
          <a:p>
            <a:r>
              <a:rPr lang="en-US" dirty="0"/>
              <a:t> </a:t>
            </a:r>
            <a:endParaRPr lang="en-US" sz="4400" dirty="0"/>
          </a:p>
          <a:p>
            <a:endParaRPr lang="en-US" dirty="0"/>
          </a:p>
        </p:txBody>
      </p:sp>
      <p:pic>
        <p:nvPicPr>
          <p:cNvPr id="3074" name="Picture 2"/>
          <p:cNvPicPr>
            <a:picLocks noChangeAspect="1" noChangeArrowheads="1"/>
          </p:cNvPicPr>
          <p:nvPr/>
        </p:nvPicPr>
        <p:blipFill>
          <a:blip r:embed="rId2"/>
          <a:srcRect/>
          <a:stretch>
            <a:fillRect/>
          </a:stretch>
        </p:blipFill>
        <p:spPr bwMode="auto">
          <a:xfrm>
            <a:off x="2231443" y="2304627"/>
            <a:ext cx="4626557" cy="4343823"/>
          </a:xfrm>
          <a:prstGeom prst="rect">
            <a:avLst/>
          </a:prstGeom>
          <a:noFill/>
          <a:ln w="9525">
            <a:noFill/>
            <a:miter lim="800000"/>
            <a:headEnd/>
            <a:tailEnd/>
          </a:ln>
          <a:effectLst/>
        </p:spPr>
      </p:pic>
    </p:spTree>
    <p:extLst>
      <p:ext uri="{BB962C8B-B14F-4D97-AF65-F5344CB8AC3E}">
        <p14:creationId xmlns:p14="http://schemas.microsoft.com/office/powerpoint/2010/main" val="19717898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marL="342900" lvl="3" indent="-342900">
              <a:buFont typeface="Arial" pitchFamily="34" charset="0"/>
              <a:buChar char="•"/>
            </a:pPr>
            <a:r>
              <a:rPr lang="en-US" sz="4100" b="1" dirty="0" smtClean="0"/>
              <a:t>Analytical Techniques</a:t>
            </a:r>
            <a:endParaRPr lang="en-US" dirty="0" smtClean="0"/>
          </a:p>
          <a:p>
            <a:r>
              <a:rPr lang="en-US" dirty="0" smtClean="0"/>
              <a:t>These </a:t>
            </a:r>
            <a:r>
              <a:rPr lang="en-US" dirty="0"/>
              <a:t>are used to understand and define the overall risk management context of the project, which is based on a </a:t>
            </a:r>
            <a:r>
              <a:rPr lang="en-US" dirty="0" smtClean="0"/>
              <a:t>combination of </a:t>
            </a:r>
            <a:r>
              <a:rPr lang="en-US" b="1" dirty="0" smtClean="0"/>
              <a:t>stakeholder risk attitudes </a:t>
            </a:r>
            <a:r>
              <a:rPr lang="en-US" dirty="0" smtClean="0"/>
              <a:t>and </a:t>
            </a:r>
            <a:r>
              <a:rPr lang="en-US" dirty="0"/>
              <a:t>the </a:t>
            </a:r>
            <a:r>
              <a:rPr lang="en-US" b="1" dirty="0"/>
              <a:t>strategic risk exposure </a:t>
            </a:r>
            <a:r>
              <a:rPr lang="en-US" dirty="0"/>
              <a:t>of the </a:t>
            </a:r>
            <a:r>
              <a:rPr lang="en-US" dirty="0" smtClean="0"/>
              <a:t>current </a:t>
            </a:r>
            <a:r>
              <a:rPr lang="en-US" dirty="0"/>
              <a:t>project</a:t>
            </a:r>
            <a:r>
              <a:rPr lang="en-US" dirty="0" smtClean="0"/>
              <a:t>.</a:t>
            </a:r>
          </a:p>
          <a:p>
            <a:endParaRPr lang="en-US" dirty="0"/>
          </a:p>
          <a:p>
            <a:pPr marL="342900" lvl="3" indent="-342900">
              <a:buFont typeface="Arial" pitchFamily="34" charset="0"/>
              <a:buChar char="•"/>
            </a:pPr>
            <a:r>
              <a:rPr lang="en-US" sz="3800" dirty="0"/>
              <a:t> </a:t>
            </a:r>
            <a:r>
              <a:rPr lang="en-US" sz="3800" b="1" dirty="0" smtClean="0"/>
              <a:t>Expert Judgment</a:t>
            </a:r>
            <a:endParaRPr lang="en-US" sz="3800" dirty="0"/>
          </a:p>
          <a:p>
            <a:r>
              <a:rPr lang="en-US" dirty="0" smtClean="0"/>
              <a:t>This </a:t>
            </a:r>
            <a:r>
              <a:rPr lang="en-US" dirty="0"/>
              <a:t>usually takes the form of expertise collated from:</a:t>
            </a:r>
          </a:p>
          <a:p>
            <a:r>
              <a:rPr lang="en-US" dirty="0"/>
              <a:t> </a:t>
            </a:r>
            <a:endParaRPr lang="en-US" sz="2800" dirty="0"/>
          </a:p>
          <a:p>
            <a:pPr lvl="4"/>
            <a:r>
              <a:rPr lang="en-US" dirty="0"/>
              <a:t>Subject matter experts</a:t>
            </a:r>
            <a:endParaRPr lang="en-US" sz="1800" dirty="0"/>
          </a:p>
          <a:p>
            <a:pPr lvl="4"/>
            <a:r>
              <a:rPr lang="en-US" dirty="0"/>
              <a:t>Project stakeholders</a:t>
            </a:r>
            <a:endParaRPr lang="en-US" sz="1800" dirty="0"/>
          </a:p>
          <a:p>
            <a:pPr lvl="4"/>
            <a:r>
              <a:rPr lang="en-US" dirty="0"/>
              <a:t>Senior </a:t>
            </a:r>
            <a:r>
              <a:rPr lang="en-US" dirty="0" smtClean="0"/>
              <a:t>management</a:t>
            </a:r>
            <a:endParaRPr lang="en-US" sz="1800" dirty="0" smtClean="0"/>
          </a:p>
          <a:p>
            <a:pPr lvl="4"/>
            <a:r>
              <a:rPr lang="en-US" dirty="0" smtClean="0"/>
              <a:t>Lessons </a:t>
            </a:r>
            <a:r>
              <a:rPr lang="en-US" dirty="0"/>
              <a:t>learned from previous projects.</a:t>
            </a:r>
          </a:p>
        </p:txBody>
      </p:sp>
    </p:spTree>
    <p:extLst>
      <p:ext uri="{BB962C8B-B14F-4D97-AF65-F5344CB8AC3E}">
        <p14:creationId xmlns:p14="http://schemas.microsoft.com/office/powerpoint/2010/main" val="32152657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1000" y="1600200"/>
            <a:ext cx="8229600" cy="4525963"/>
          </a:xfrm>
        </p:spPr>
        <p:txBody>
          <a:bodyPr>
            <a:normAutofit fontScale="70000" lnSpcReduction="20000"/>
          </a:bodyPr>
          <a:lstStyle/>
          <a:p>
            <a:pPr marL="342900" lvl="3" indent="-342900">
              <a:buFont typeface="Arial" pitchFamily="34" charset="0"/>
              <a:buChar char="•"/>
            </a:pPr>
            <a:r>
              <a:rPr lang="en-US" sz="4000" b="1" dirty="0" smtClean="0"/>
              <a:t>Meetings</a:t>
            </a:r>
            <a:endParaRPr lang="en-US" dirty="0" smtClean="0"/>
          </a:p>
          <a:p>
            <a:r>
              <a:rPr lang="en-US" dirty="0" smtClean="0"/>
              <a:t>These </a:t>
            </a:r>
            <a:r>
              <a:rPr lang="en-US" dirty="0"/>
              <a:t>involve people who are responsible for risk management including the project </a:t>
            </a:r>
            <a:r>
              <a:rPr lang="en-US" dirty="0" smtClean="0"/>
              <a:t>manager</a:t>
            </a:r>
            <a:r>
              <a:rPr lang="en-US" dirty="0"/>
              <a:t>, the project sponsor, selected project team members, selected stakeholders, anyone with responsibility for any of the risk management processes, and others as needed</a:t>
            </a:r>
            <a:r>
              <a:rPr lang="en-US" dirty="0" smtClean="0"/>
              <a:t>.</a:t>
            </a:r>
            <a:r>
              <a:rPr lang="en-US" dirty="0"/>
              <a:t> </a:t>
            </a:r>
            <a:endParaRPr lang="en-US" dirty="0" smtClean="0"/>
          </a:p>
          <a:p>
            <a:r>
              <a:rPr lang="en-US" dirty="0" smtClean="0"/>
              <a:t>Collective </a:t>
            </a:r>
            <a:r>
              <a:rPr lang="en-US" dirty="0"/>
              <a:t>decision-making is very important area of project </a:t>
            </a:r>
            <a:r>
              <a:rPr lang="en-US" dirty="0" smtClean="0"/>
              <a:t>management. </a:t>
            </a:r>
          </a:p>
          <a:p>
            <a:r>
              <a:rPr lang="en-US" dirty="0" smtClean="0"/>
              <a:t>Almost </a:t>
            </a:r>
            <a:r>
              <a:rPr lang="en-US" dirty="0"/>
              <a:t>all of the processes that form part of project risk management will </a:t>
            </a:r>
            <a:r>
              <a:rPr lang="en-US" dirty="0" smtClean="0"/>
              <a:t>involve </a:t>
            </a:r>
            <a:r>
              <a:rPr lang="en-US" dirty="0"/>
              <a:t>meetings between the project manager, the team and other stakeholders in order to make decisions about the activity definitions and associated estimates</a:t>
            </a:r>
            <a:r>
              <a:rPr lang="en-US" dirty="0" smtClean="0"/>
              <a:t>.</a:t>
            </a:r>
            <a:endParaRPr lang="en-US" dirty="0"/>
          </a:p>
          <a:p>
            <a:r>
              <a:rPr lang="en-US" dirty="0"/>
              <a:t>How well these meetings are conducted will have a major impact on how smoothly the project runs. </a:t>
            </a:r>
          </a:p>
          <a:p>
            <a:endParaRPr lang="en-US" dirty="0"/>
          </a:p>
        </p:txBody>
      </p:sp>
    </p:spTree>
    <p:extLst>
      <p:ext uri="{BB962C8B-B14F-4D97-AF65-F5344CB8AC3E}">
        <p14:creationId xmlns:p14="http://schemas.microsoft.com/office/powerpoint/2010/main" val="417633843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867400"/>
          </a:xfrm>
        </p:spPr>
        <p:txBody>
          <a:bodyPr>
            <a:normAutofit fontScale="70000" lnSpcReduction="20000"/>
          </a:bodyPr>
          <a:lstStyle/>
          <a:p>
            <a:pPr marL="342900" lvl="2" indent="-342900"/>
            <a:r>
              <a:rPr lang="en-US" sz="4000" b="1" dirty="0" smtClean="0"/>
              <a:t>Plan Risk Management: Outputs</a:t>
            </a:r>
            <a:endParaRPr lang="en-US" sz="4000" dirty="0" smtClean="0"/>
          </a:p>
          <a:p>
            <a:r>
              <a:rPr lang="en-US" dirty="0" smtClean="0"/>
              <a:t>This </a:t>
            </a:r>
            <a:r>
              <a:rPr lang="en-US" dirty="0"/>
              <a:t>process will create only one output, the risk management plan.</a:t>
            </a:r>
          </a:p>
          <a:p>
            <a:r>
              <a:rPr lang="en-US" dirty="0"/>
              <a:t> </a:t>
            </a:r>
            <a:endParaRPr lang="en-US" sz="2800" dirty="0"/>
          </a:p>
          <a:p>
            <a:r>
              <a:rPr lang="en-US" b="1" dirty="0" smtClean="0"/>
              <a:t>Risk </a:t>
            </a:r>
            <a:r>
              <a:rPr lang="en-US" b="1" dirty="0"/>
              <a:t>Management Plan</a:t>
            </a:r>
          </a:p>
          <a:p>
            <a:r>
              <a:rPr lang="en-US" dirty="0"/>
              <a:t>This plan forms part of the project management plan and describes how risk </a:t>
            </a:r>
            <a:r>
              <a:rPr lang="en-US" dirty="0" smtClean="0"/>
              <a:t>management </a:t>
            </a:r>
            <a:r>
              <a:rPr lang="en-US" dirty="0"/>
              <a:t>will be structured and performed on the project. It contains the following elements:</a:t>
            </a:r>
          </a:p>
          <a:p>
            <a:r>
              <a:rPr lang="en-US" dirty="0"/>
              <a:t> </a:t>
            </a:r>
            <a:endParaRPr lang="en-US" sz="4000" dirty="0"/>
          </a:p>
          <a:p>
            <a:pPr lvl="4"/>
            <a:r>
              <a:rPr lang="en-US" sz="2900" dirty="0">
                <a:latin typeface="Arial Black" pitchFamily="34" charset="0"/>
              </a:rPr>
              <a:t>Methodology</a:t>
            </a:r>
          </a:p>
          <a:p>
            <a:pPr lvl="4"/>
            <a:r>
              <a:rPr lang="en-US" sz="2900" dirty="0">
                <a:latin typeface="Arial Black" pitchFamily="34" charset="0"/>
              </a:rPr>
              <a:t>Roles &amp; Responsibility</a:t>
            </a:r>
          </a:p>
          <a:p>
            <a:pPr lvl="4"/>
            <a:r>
              <a:rPr lang="en-US" sz="2900" dirty="0">
                <a:latin typeface="Arial Black" pitchFamily="34" charset="0"/>
              </a:rPr>
              <a:t>Budgeting</a:t>
            </a:r>
          </a:p>
          <a:p>
            <a:pPr lvl="4"/>
            <a:r>
              <a:rPr lang="en-US" sz="2900" dirty="0">
                <a:latin typeface="Arial Black" pitchFamily="34" charset="0"/>
              </a:rPr>
              <a:t>Timing</a:t>
            </a:r>
          </a:p>
          <a:p>
            <a:pPr lvl="4"/>
            <a:r>
              <a:rPr lang="en-US" sz="2900" dirty="0">
                <a:latin typeface="Arial Black" pitchFamily="34" charset="0"/>
              </a:rPr>
              <a:t>Risk categories</a:t>
            </a:r>
          </a:p>
          <a:p>
            <a:pPr lvl="4"/>
            <a:r>
              <a:rPr lang="en-US" sz="2900" dirty="0">
                <a:latin typeface="Arial Black" pitchFamily="34" charset="0"/>
              </a:rPr>
              <a:t>Definitions of Risk Probability &amp; Impact</a:t>
            </a:r>
          </a:p>
          <a:p>
            <a:pPr lvl="4"/>
            <a:r>
              <a:rPr lang="en-US" sz="2900" dirty="0">
                <a:latin typeface="Arial Black" pitchFamily="34" charset="0"/>
              </a:rPr>
              <a:t>Probability &amp; Impact Matrix</a:t>
            </a:r>
          </a:p>
          <a:p>
            <a:pPr lvl="4"/>
            <a:r>
              <a:rPr lang="en-US" sz="2900" dirty="0">
                <a:latin typeface="Arial Black" pitchFamily="34" charset="0"/>
              </a:rPr>
              <a:t>Revised Stakeholder Risk Tolerances</a:t>
            </a:r>
          </a:p>
          <a:p>
            <a:pPr lvl="4"/>
            <a:r>
              <a:rPr lang="en-US" sz="2900" dirty="0">
                <a:latin typeface="Arial Black" pitchFamily="34" charset="0"/>
              </a:rPr>
              <a:t>Reporting Formats</a:t>
            </a:r>
          </a:p>
          <a:p>
            <a:pPr lvl="4"/>
            <a:r>
              <a:rPr lang="en-US" sz="2900" dirty="0">
                <a:latin typeface="Arial Black" pitchFamily="34" charset="0"/>
              </a:rPr>
              <a:t>Tracking</a:t>
            </a:r>
          </a:p>
          <a:p>
            <a:endParaRPr lang="en-US" dirty="0"/>
          </a:p>
        </p:txBody>
      </p:sp>
    </p:spTree>
    <p:extLst>
      <p:ext uri="{BB962C8B-B14F-4D97-AF65-F5344CB8AC3E}">
        <p14:creationId xmlns:p14="http://schemas.microsoft.com/office/powerpoint/2010/main" val="19395658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943600"/>
          </a:xfrm>
        </p:spPr>
        <p:txBody>
          <a:bodyPr>
            <a:normAutofit fontScale="70000" lnSpcReduction="20000"/>
          </a:bodyPr>
          <a:lstStyle/>
          <a:p>
            <a:r>
              <a:rPr lang="en-US" b="1" i="1" dirty="0"/>
              <a:t>Methodology</a:t>
            </a:r>
            <a:endParaRPr lang="en-US" b="1" dirty="0"/>
          </a:p>
          <a:p>
            <a:r>
              <a:rPr lang="en-US" dirty="0"/>
              <a:t>Defines the approaches, tools, and data sources that may be used to perform risk </a:t>
            </a:r>
            <a:r>
              <a:rPr lang="en-US" dirty="0" smtClean="0"/>
              <a:t>management </a:t>
            </a:r>
            <a:r>
              <a:rPr lang="en-US" dirty="0"/>
              <a:t>on the project.</a:t>
            </a:r>
          </a:p>
          <a:p>
            <a:endParaRPr lang="en-US" i="1" dirty="0" smtClean="0"/>
          </a:p>
          <a:p>
            <a:r>
              <a:rPr lang="en-US" b="1" i="1" dirty="0" smtClean="0"/>
              <a:t>Roles </a:t>
            </a:r>
            <a:r>
              <a:rPr lang="en-US" b="1" i="1" dirty="0"/>
              <a:t>and Responsibilities</a:t>
            </a:r>
            <a:endParaRPr lang="en-US" b="1" dirty="0"/>
          </a:p>
          <a:p>
            <a:r>
              <a:rPr lang="en-US" dirty="0"/>
              <a:t>This part of the plan needs to make clear who is responsible for each type of activity </a:t>
            </a:r>
            <a:r>
              <a:rPr lang="en-US" dirty="0" smtClean="0"/>
              <a:t>in the </a:t>
            </a:r>
            <a:r>
              <a:rPr lang="en-US" dirty="0"/>
              <a:t>risk management plan, and clarifies their responsibilities.</a:t>
            </a:r>
          </a:p>
          <a:p>
            <a:r>
              <a:rPr lang="en-US" dirty="0"/>
              <a:t> </a:t>
            </a:r>
          </a:p>
          <a:p>
            <a:r>
              <a:rPr lang="en-US" b="1" i="1" dirty="0"/>
              <a:t>Budgeting</a:t>
            </a:r>
            <a:endParaRPr lang="en-US" b="1" dirty="0"/>
          </a:p>
          <a:p>
            <a:r>
              <a:rPr lang="en-US" dirty="0"/>
              <a:t>This part of the plan assigns resources, estimates funds needed for risk management for inclusion in the cost performance baseline, and establishes how any extra funding required (if risks are realized) will be raised.</a:t>
            </a:r>
          </a:p>
          <a:p>
            <a:r>
              <a:rPr lang="en-US" dirty="0"/>
              <a:t> </a:t>
            </a:r>
          </a:p>
          <a:p>
            <a:r>
              <a:rPr lang="en-US" b="1" i="1" dirty="0"/>
              <a:t>Timing</a:t>
            </a:r>
            <a:endParaRPr lang="en-US" b="1" dirty="0"/>
          </a:p>
          <a:p>
            <a:r>
              <a:rPr lang="en-US" dirty="0"/>
              <a:t>This part of the plan defines when and how often the risk management process will </a:t>
            </a:r>
            <a:r>
              <a:rPr lang="en-US" dirty="0" smtClean="0"/>
              <a:t>be performed </a:t>
            </a:r>
            <a:r>
              <a:rPr lang="en-US" dirty="0"/>
              <a:t>throughout the project life cycle.</a:t>
            </a:r>
          </a:p>
          <a:p>
            <a:endParaRPr lang="en-US" dirty="0"/>
          </a:p>
        </p:txBody>
      </p:sp>
    </p:spTree>
    <p:extLst>
      <p:ext uri="{BB962C8B-B14F-4D97-AF65-F5344CB8AC3E}">
        <p14:creationId xmlns:p14="http://schemas.microsoft.com/office/powerpoint/2010/main" val="304744817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a:t>Risk categories</a:t>
            </a:r>
            <a:r>
              <a:rPr lang="en-US" dirty="0"/>
              <a:t/>
            </a:r>
            <a:br>
              <a:rPr lang="en-US" dirty="0"/>
            </a:b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2202621" y="1600200"/>
            <a:ext cx="4738757" cy="4525963"/>
          </a:xfrm>
          <a:prstGeom prst="rect">
            <a:avLst/>
          </a:prstGeom>
          <a:noFill/>
          <a:ln w="9525">
            <a:noFill/>
            <a:miter lim="800000"/>
            <a:headEnd/>
            <a:tailEnd/>
          </a:ln>
          <a:effectLst/>
        </p:spPr>
      </p:pic>
      <p:sp>
        <p:nvSpPr>
          <p:cNvPr id="4" name="TextBox 3"/>
          <p:cNvSpPr txBox="1"/>
          <p:nvPr/>
        </p:nvSpPr>
        <p:spPr>
          <a:xfrm>
            <a:off x="1143000" y="1066800"/>
            <a:ext cx="6746783" cy="646331"/>
          </a:xfrm>
          <a:prstGeom prst="rect">
            <a:avLst/>
          </a:prstGeom>
          <a:noFill/>
        </p:spPr>
        <p:txBody>
          <a:bodyPr wrap="none" rtlCol="0">
            <a:spAutoFit/>
          </a:bodyPr>
          <a:lstStyle/>
          <a:p>
            <a:r>
              <a:rPr lang="en-US" sz="3600" dirty="0" smtClean="0">
                <a:latin typeface="Arial Black" pitchFamily="34" charset="0"/>
              </a:rPr>
              <a:t>Risk breakdown structure</a:t>
            </a:r>
            <a:endParaRPr lang="en-US" sz="3600" dirty="0">
              <a:latin typeface="Arial Black" pitchFamily="34" charset="0"/>
            </a:endParaRPr>
          </a:p>
        </p:txBody>
      </p:sp>
    </p:spTree>
    <p:extLst>
      <p:ext uri="{BB962C8B-B14F-4D97-AF65-F5344CB8AC3E}">
        <p14:creationId xmlns:p14="http://schemas.microsoft.com/office/powerpoint/2010/main" val="197366359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525963"/>
          </a:xfrm>
        </p:spPr>
        <p:txBody>
          <a:bodyPr>
            <a:normAutofit fontScale="85000" lnSpcReduction="20000"/>
          </a:bodyPr>
          <a:lstStyle/>
          <a:p>
            <a:r>
              <a:rPr lang="en-US" dirty="0"/>
              <a:t>This provides a structure that ensures a comprehensive process of systematically </a:t>
            </a:r>
            <a:r>
              <a:rPr lang="en-US" dirty="0" smtClean="0"/>
              <a:t>identifying </a:t>
            </a:r>
            <a:r>
              <a:rPr lang="en-US" dirty="0"/>
              <a:t>risks to a consistent level of detail. An organization can use a previously prepared categorization framework, which might take the form of a simple list of categories or might be structured into a Risk Breakdown Structure (RBS) as shown in the diagram above.</a:t>
            </a:r>
          </a:p>
          <a:p>
            <a:r>
              <a:rPr lang="en-US" dirty="0"/>
              <a:t> </a:t>
            </a:r>
          </a:p>
          <a:p>
            <a:r>
              <a:rPr lang="en-US" dirty="0"/>
              <a:t>This is a hierarchically organized depiction of the identified project risks arranged by risk category and subcategory that identifies the various areas and causes of potential risks.</a:t>
            </a:r>
          </a:p>
          <a:p>
            <a:endParaRPr lang="en-US" dirty="0"/>
          </a:p>
        </p:txBody>
      </p:sp>
    </p:spTree>
    <p:extLst>
      <p:ext uri="{BB962C8B-B14F-4D97-AF65-F5344CB8AC3E}">
        <p14:creationId xmlns:p14="http://schemas.microsoft.com/office/powerpoint/2010/main" val="384901121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b="1" i="1" dirty="0"/>
              <a:t>Definitions of Risk Probability and Impact</a:t>
            </a:r>
            <a:endParaRPr lang="en-US" b="1" dirty="0"/>
          </a:p>
          <a:p>
            <a:r>
              <a:rPr lang="en-US" dirty="0"/>
              <a:t>This ensures that all stakeholders have a common understanding of these definitions.</a:t>
            </a:r>
          </a:p>
          <a:p>
            <a:r>
              <a:rPr lang="en-US" dirty="0"/>
              <a:t>For example</a:t>
            </a:r>
            <a:r>
              <a:rPr lang="en-US" dirty="0" smtClean="0"/>
              <a:t>,</a:t>
            </a:r>
            <a:endParaRPr lang="en-US" dirty="0"/>
          </a:p>
          <a:p>
            <a:r>
              <a:rPr lang="en-US" i="1" dirty="0"/>
              <a:t>If the probability of a risk can be described as low, medium or high, what do these categories actually mean</a:t>
            </a:r>
            <a:r>
              <a:rPr lang="en-US" i="1" dirty="0" smtClean="0"/>
              <a:t>?</a:t>
            </a:r>
            <a:endParaRPr lang="en-US" dirty="0"/>
          </a:p>
          <a:p>
            <a:r>
              <a:rPr lang="en-US" dirty="0"/>
              <a:t>Similarly, what effect would a high impact event have on the project in practical terms? How much would it add to the costs? Could anything be done to mitigate it?</a:t>
            </a:r>
          </a:p>
          <a:p>
            <a:endParaRPr lang="en-US" i="1" dirty="0" smtClean="0"/>
          </a:p>
          <a:p>
            <a:r>
              <a:rPr lang="en-US" b="1" i="1" dirty="0" smtClean="0"/>
              <a:t>Probability </a:t>
            </a:r>
            <a:r>
              <a:rPr lang="en-US" b="1" i="1" dirty="0"/>
              <a:t>and Impact </a:t>
            </a:r>
            <a:r>
              <a:rPr lang="en-US" b="1" i="1" dirty="0" smtClean="0"/>
              <a:t>Matrix</a:t>
            </a:r>
          </a:p>
          <a:p>
            <a:endParaRPr lang="en-US" dirty="0"/>
          </a:p>
          <a:p>
            <a:r>
              <a:rPr lang="en-US" dirty="0"/>
              <a:t>Risks are prioritized according to their potential implications for having an effect on the project’s objectives by using a matrix </a:t>
            </a:r>
            <a:r>
              <a:rPr lang="en-US" dirty="0" smtClean="0"/>
              <a:t>like structure.</a:t>
            </a:r>
            <a:endParaRPr lang="en-US" dirty="0"/>
          </a:p>
        </p:txBody>
      </p:sp>
    </p:spTree>
    <p:extLst>
      <p:ext uri="{BB962C8B-B14F-4D97-AF65-F5344CB8AC3E}">
        <p14:creationId xmlns:p14="http://schemas.microsoft.com/office/powerpoint/2010/main" val="11927278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b="1" i="1" dirty="0"/>
              <a:t>Revised Stakeholder Risk Tolerances</a:t>
            </a:r>
            <a:endParaRPr lang="en-US" b="1" dirty="0"/>
          </a:p>
          <a:p>
            <a:r>
              <a:rPr lang="en-US" dirty="0"/>
              <a:t>If there is a need to revise stakeholder risk tolerances then these should be documented here.</a:t>
            </a:r>
          </a:p>
          <a:p>
            <a:r>
              <a:rPr lang="en-US" dirty="0"/>
              <a:t> </a:t>
            </a:r>
          </a:p>
          <a:p>
            <a:r>
              <a:rPr lang="en-US" b="1" i="1" dirty="0"/>
              <a:t>Reporting Formats</a:t>
            </a:r>
            <a:endParaRPr lang="en-US" b="1" dirty="0"/>
          </a:p>
          <a:p>
            <a:r>
              <a:rPr lang="en-US" dirty="0"/>
              <a:t>This part of the plan describes how the outcomes of the risk management processes will be documented, analyzed, and communicated. It describes the content and format of the risk register as well as any other risk reports required.</a:t>
            </a:r>
          </a:p>
          <a:p>
            <a:r>
              <a:rPr lang="en-US" dirty="0"/>
              <a:t> </a:t>
            </a:r>
          </a:p>
          <a:p>
            <a:r>
              <a:rPr lang="en-US" b="1" i="1" dirty="0"/>
              <a:t>Tracking</a:t>
            </a:r>
            <a:endParaRPr lang="en-US" b="1" dirty="0"/>
          </a:p>
          <a:p>
            <a:r>
              <a:rPr lang="en-US" dirty="0"/>
              <a:t>This part of the plan describes how risk activities will be recorded for the benefit of the current project, as well as for future needs and lessons learned, as well as whether and how risk management processes will be audited.</a:t>
            </a:r>
          </a:p>
          <a:p>
            <a:endParaRPr lang="en-US" dirty="0"/>
          </a:p>
        </p:txBody>
      </p:sp>
    </p:spTree>
    <p:extLst>
      <p:ext uri="{BB962C8B-B14F-4D97-AF65-F5344CB8AC3E}">
        <p14:creationId xmlns:p14="http://schemas.microsoft.com/office/powerpoint/2010/main" val="4662525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solidFill>
                  <a:srgbClr val="FF0000"/>
                </a:solidFill>
              </a:rPr>
              <a:t>Class Exercise</a:t>
            </a:r>
            <a:endParaRPr lang="en-US" b="1" dirty="0">
              <a:solidFill>
                <a:srgbClr val="FF0000"/>
              </a:solidFill>
            </a:endParaRPr>
          </a:p>
        </p:txBody>
      </p:sp>
      <p:sp>
        <p:nvSpPr>
          <p:cNvPr id="3" name="Content Placeholder 2"/>
          <p:cNvSpPr>
            <a:spLocks noGrp="1"/>
          </p:cNvSpPr>
          <p:nvPr>
            <p:ph idx="1"/>
          </p:nvPr>
        </p:nvSpPr>
        <p:spPr>
          <a:xfrm>
            <a:off x="457200" y="1143000"/>
            <a:ext cx="8229600" cy="5334000"/>
          </a:xfrm>
        </p:spPr>
        <p:txBody>
          <a:bodyPr>
            <a:normAutofit fontScale="85000" lnSpcReduction="20000"/>
          </a:bodyPr>
          <a:lstStyle/>
          <a:p>
            <a:pPr algn="just"/>
            <a:r>
              <a:rPr lang="en-US" b="1" dirty="0" smtClean="0"/>
              <a:t>Question 1:</a:t>
            </a:r>
            <a:r>
              <a:rPr lang="en-US" dirty="0" smtClean="0"/>
              <a:t> Do you agree with the following statement: “With proper planning, it is possible to eliminate most/all risks from a project”? Why or why not?</a:t>
            </a:r>
          </a:p>
          <a:p>
            <a:pPr algn="just"/>
            <a:r>
              <a:rPr lang="en-US" b="1" dirty="0" smtClean="0"/>
              <a:t>Question 2:</a:t>
            </a:r>
            <a:r>
              <a:rPr lang="en-US" dirty="0" smtClean="0"/>
              <a:t> </a:t>
            </a:r>
            <a:r>
              <a:rPr lang="en-US" b="1" i="1" u="sng" dirty="0" smtClean="0"/>
              <a:t>Assessing Risk and Benefits</a:t>
            </a:r>
            <a:r>
              <a:rPr lang="en-US" dirty="0" smtClean="0"/>
              <a:t>. Suppose you are a member of a project team that is evaluating the bids of potential contractors for developing some subassemblies for your project. Your boss makes it clear that any successful bid must demonstrate a balance between risk and price. Explain how this is so; specifically, why are price and risk seen as equally important but opposite issues in determining the winner of the contract? Is a low-price/high-risk bid acceptable? Is a high-price/low-risk bid acceptable? Why or why not?</a:t>
            </a:r>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Research </a:t>
            </a:r>
            <a:r>
              <a:rPr lang="en-US" smtClean="0"/>
              <a:t>Paper (Abstract</a:t>
            </a:r>
            <a:r>
              <a:rPr lang="en-US" dirty="0" smtClean="0"/>
              <a:t>)</a:t>
            </a:r>
            <a:endParaRPr lang="en-US" dirty="0"/>
          </a:p>
        </p:txBody>
      </p:sp>
    </p:spTree>
    <p:extLst>
      <p:ext uri="{BB962C8B-B14F-4D97-AF65-F5344CB8AC3E}">
        <p14:creationId xmlns:p14="http://schemas.microsoft.com/office/powerpoint/2010/main" val="63106539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Objective:</a:t>
            </a:r>
          </a:p>
          <a:p>
            <a:r>
              <a:rPr lang="en-US" dirty="0" smtClean="0"/>
              <a:t>Demographics:</a:t>
            </a:r>
          </a:p>
          <a:p>
            <a:r>
              <a:rPr lang="en-US" dirty="0" smtClean="0"/>
              <a:t>Problem:</a:t>
            </a:r>
          </a:p>
          <a:p>
            <a:r>
              <a:rPr lang="en-US" dirty="0" smtClean="0"/>
              <a:t>Methodology:</a:t>
            </a:r>
          </a:p>
          <a:p>
            <a:r>
              <a:rPr lang="en-US" dirty="0" smtClean="0"/>
              <a:t>Conclusion:</a:t>
            </a:r>
          </a:p>
          <a:p>
            <a:r>
              <a:rPr lang="en-US" dirty="0" smtClean="0"/>
              <a:t>Validity:</a:t>
            </a:r>
            <a:endParaRPr lang="en-US" dirty="0"/>
          </a:p>
        </p:txBody>
      </p:sp>
    </p:spTree>
    <p:extLst>
      <p:ext uri="{BB962C8B-B14F-4D97-AF65-F5344CB8AC3E}">
        <p14:creationId xmlns:p14="http://schemas.microsoft.com/office/powerpoint/2010/main" val="754338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GENERAL PROJECT RISK CHARACTERIZATION</a:t>
            </a:r>
            <a:r>
              <a:rPr lang="en-US" dirty="0" smtClean="0"/>
              <a:t/>
            </a:r>
            <a:br>
              <a:rPr lang="en-US" dirty="0" smtClean="0"/>
            </a:br>
            <a:endParaRPr lang="en-US" dirty="0"/>
          </a:p>
        </p:txBody>
      </p:sp>
      <p:sp>
        <p:nvSpPr>
          <p:cNvPr id="3" name="Content Placeholder 2"/>
          <p:cNvSpPr>
            <a:spLocks noGrp="1"/>
          </p:cNvSpPr>
          <p:nvPr>
            <p:ph idx="1"/>
          </p:nvPr>
        </p:nvSpPr>
        <p:spPr>
          <a:xfrm>
            <a:off x="304800" y="1295400"/>
            <a:ext cx="8610600" cy="5334000"/>
          </a:xfrm>
        </p:spPr>
        <p:txBody>
          <a:bodyPr>
            <a:normAutofit fontScale="85000" lnSpcReduction="10000"/>
          </a:bodyPr>
          <a:lstStyle/>
          <a:p>
            <a:pPr>
              <a:buNone/>
            </a:pPr>
            <a:r>
              <a:rPr lang="en-US" b="1" i="1" dirty="0" smtClean="0"/>
              <a:t>1.Performance, scope, quality, or technological risks.</a:t>
            </a:r>
            <a:r>
              <a:rPr lang="en-US" dirty="0" smtClean="0"/>
              <a:t> </a:t>
            </a:r>
          </a:p>
          <a:p>
            <a:r>
              <a:rPr lang="en-US" dirty="0" smtClean="0"/>
              <a:t>These include the risks that the project when complete fails to perform as intended or fails to meet the mission or business requirements that generated the justification for the project. Performance risks can also lead to schedule and cost risks if technological problems increase the duration and cost of the project.</a:t>
            </a:r>
          </a:p>
          <a:p>
            <a:pPr>
              <a:buNone/>
            </a:pPr>
            <a:r>
              <a:rPr lang="en-US" b="1" i="1" dirty="0" smtClean="0"/>
              <a:t>2.Environment, safety, and health risks.</a:t>
            </a:r>
            <a:r>
              <a:rPr lang="en-US" dirty="0" smtClean="0"/>
              <a:t> </a:t>
            </a:r>
          </a:p>
          <a:p>
            <a:r>
              <a:rPr lang="en-US" dirty="0" smtClean="0"/>
              <a:t>These include the risks that the project may have a detrimental effect on the environment or that hidden hazards may be uncovered during project execution. Serious incidents can have a severe impact on schedule and costs.</a:t>
            </a:r>
          </a:p>
          <a:p>
            <a:endParaRPr lang="en-US" dirty="0"/>
          </a:p>
        </p:txBody>
      </p:sp>
    </p:spTree>
    <p:extLst>
      <p:ext uri="{BB962C8B-B14F-4D97-AF65-F5344CB8AC3E}">
        <p14:creationId xmlns:p14="http://schemas.microsoft.com/office/powerpoint/2010/main" val="68243465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638800"/>
          </a:xfrm>
        </p:spPr>
        <p:txBody>
          <a:bodyPr>
            <a:normAutofit fontScale="85000" lnSpcReduction="10000"/>
          </a:bodyPr>
          <a:lstStyle/>
          <a:p>
            <a:pPr>
              <a:buNone/>
            </a:pPr>
            <a:r>
              <a:rPr lang="en-US" b="1" i="1" dirty="0" smtClean="0"/>
              <a:t>3.Schedule risk</a:t>
            </a:r>
            <a:r>
              <a:rPr lang="en-US" i="1" dirty="0" smtClean="0"/>
              <a:t>.</a:t>
            </a:r>
            <a:r>
              <a:rPr lang="en-US" dirty="0" smtClean="0"/>
              <a:t> This is the risk that the project takes longer than scheduled. Schedule risk may also lead to cost risks, as longer projects always cost more, and to performance risk, if the project is completed too late to perform its intended mission fully. Even if cost increases are not severe, delays in project completion reduce the value of the project to the owner.</a:t>
            </a:r>
          </a:p>
          <a:p>
            <a:pPr>
              <a:buNone/>
            </a:pPr>
            <a:r>
              <a:rPr lang="en-US" b="1" i="1" dirty="0" smtClean="0"/>
              <a:t>4.Cost risk.</a:t>
            </a:r>
            <a:r>
              <a:rPr lang="en-US" dirty="0" smtClean="0"/>
              <a:t> This is the risk that the project costs more than budgeted. Cost risk may lead to performance risk if cost overruns lead to reductions in scope or quality to try to stay within the baseline budget. Cost risk may also lead to schedule risk if the schedule is extended because not enough funds are available to accomplish the project on time.</a:t>
            </a:r>
          </a:p>
          <a:p>
            <a:endParaRPr lang="en-US" dirty="0"/>
          </a:p>
        </p:txBody>
      </p:sp>
    </p:spTree>
    <p:extLst>
      <p:ext uri="{BB962C8B-B14F-4D97-AF65-F5344CB8AC3E}">
        <p14:creationId xmlns:p14="http://schemas.microsoft.com/office/powerpoint/2010/main" val="337224510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b="1" i="1" dirty="0" smtClean="0"/>
              <a:t>5.Loss of support</a:t>
            </a:r>
            <a:r>
              <a:rPr lang="en-US" i="1" dirty="0" smtClean="0"/>
              <a:t>.</a:t>
            </a:r>
            <a:r>
              <a:rPr lang="en-US" dirty="0" smtClean="0"/>
              <a:t> Loss of public or stakeholder support for the project’s goals and objectives may ultimately lead to a reduction of scope and to funding cuts, and thus contribute to poor project performance.</a:t>
            </a:r>
          </a:p>
          <a:p>
            <a:endParaRPr lang="en-US" sz="1800" i="1" dirty="0" smtClean="0"/>
          </a:p>
          <a:p>
            <a:endParaRPr lang="en-US" sz="1800" i="1" dirty="0" smtClean="0"/>
          </a:p>
          <a:p>
            <a:endParaRPr lang="en-US" sz="1800" i="1" dirty="0" smtClean="0"/>
          </a:p>
          <a:p>
            <a:r>
              <a:rPr lang="en-US" sz="1800" i="1" dirty="0" smtClean="0">
                <a:solidFill>
                  <a:srgbClr val="C00000"/>
                </a:solidFill>
              </a:rPr>
              <a:t>Source: The Owner’s Role in Project Risk Management, “THE NATIONAL ACADEMIES PRESS Washington” , D.C.</a:t>
            </a:r>
          </a:p>
        </p:txBody>
      </p:sp>
    </p:spTree>
    <p:extLst>
      <p:ext uri="{BB962C8B-B14F-4D97-AF65-F5344CB8AC3E}">
        <p14:creationId xmlns:p14="http://schemas.microsoft.com/office/powerpoint/2010/main" val="37963447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11162"/>
          </a:xfrm>
        </p:spPr>
        <p:txBody>
          <a:bodyPr>
            <a:normAutofit fontScale="90000"/>
          </a:bodyPr>
          <a:lstStyle/>
          <a:p>
            <a:r>
              <a:rPr lang="en-US" dirty="0" smtClean="0"/>
              <a:t>GRM Risk Categories</a:t>
            </a:r>
            <a:endParaRPr lang="en-US" dirty="0"/>
          </a:p>
        </p:txBody>
      </p:sp>
      <p:sp>
        <p:nvSpPr>
          <p:cNvPr id="3" name="Content Placeholder 2"/>
          <p:cNvSpPr>
            <a:spLocks noGrp="1"/>
          </p:cNvSpPr>
          <p:nvPr>
            <p:ph idx="1"/>
          </p:nvPr>
        </p:nvSpPr>
        <p:spPr>
          <a:xfrm>
            <a:off x="152400" y="838200"/>
            <a:ext cx="8991600" cy="6019800"/>
          </a:xfrm>
        </p:spPr>
        <p:txBody>
          <a:bodyPr>
            <a:normAutofit fontScale="70000" lnSpcReduction="20000"/>
          </a:bodyPr>
          <a:lstStyle/>
          <a:p>
            <a:r>
              <a:rPr lang="en-US" dirty="0" smtClean="0"/>
              <a:t>GRM Risk Categories From an extensive review of the literature, including the papers listed in Table 1, nine categories were identified. Respective risks determined for each category. The categories and associated risks are as follows. </a:t>
            </a:r>
          </a:p>
          <a:p>
            <a:pPr algn="just"/>
            <a:r>
              <a:rPr lang="en-US" b="1" dirty="0" smtClean="0"/>
              <a:t>(1) Technological and Operational Risk </a:t>
            </a:r>
            <a:r>
              <a:rPr lang="en-US" dirty="0" smtClean="0"/>
              <a:t>is sub-divided into operational, engineering, and performance risk. Operational risk includes lack of communication and coordination in the project, labor productivity and improper project planning. Engineering risk includes inadequate engineering designs, incomplete project scope, inadequate specifications, and differences between actual values and engineering assumptions. Performance risk includes technology limits and quality. </a:t>
            </a:r>
          </a:p>
          <a:p>
            <a:endParaRPr lang="en-US" dirty="0" smtClean="0"/>
          </a:p>
          <a:p>
            <a:pPr algn="just"/>
            <a:r>
              <a:rPr lang="en-US" b="1" dirty="0" smtClean="0"/>
              <a:t>(2) Financial and Economic Risk </a:t>
            </a:r>
            <a:r>
              <a:rPr lang="en-US" dirty="0" smtClean="0"/>
              <a:t>is sub-divided into credit default, budget constraint/ scope creep, foreign exchange, inflation and interest rate, insurance, and funding risk. It includes credit fraud, changes in inflation or interest rates, and changes in the price of raw materials. For international projects, changes in exchange rates can cause budget pressures leading to cost overruns and/or decreases in the project performance or scope.</a:t>
            </a:r>
            <a:endParaRPr lang="en-US" dirty="0"/>
          </a:p>
        </p:txBody>
      </p:sp>
    </p:spTree>
    <p:extLst>
      <p:ext uri="{BB962C8B-B14F-4D97-AF65-F5344CB8AC3E}">
        <p14:creationId xmlns:p14="http://schemas.microsoft.com/office/powerpoint/2010/main" val="3137599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
          </a:xfrm>
        </p:spPr>
        <p:txBody>
          <a:bodyPr>
            <a:normAutofit fontScale="90000"/>
          </a:bodyPr>
          <a:lstStyle/>
          <a:p>
            <a:endParaRPr lang="en-US" dirty="0"/>
          </a:p>
        </p:txBody>
      </p:sp>
      <p:sp>
        <p:nvSpPr>
          <p:cNvPr id="3" name="Content Placeholder 2"/>
          <p:cNvSpPr>
            <a:spLocks noGrp="1"/>
          </p:cNvSpPr>
          <p:nvPr>
            <p:ph idx="1"/>
          </p:nvPr>
        </p:nvSpPr>
        <p:spPr>
          <a:xfrm>
            <a:off x="304800" y="609600"/>
            <a:ext cx="8610600" cy="6019800"/>
          </a:xfrm>
        </p:spPr>
        <p:txBody>
          <a:bodyPr>
            <a:normAutofit fontScale="85000" lnSpcReduction="10000"/>
          </a:bodyPr>
          <a:lstStyle/>
          <a:p>
            <a:r>
              <a:rPr lang="en-US" dirty="0" smtClean="0"/>
              <a:t>(3) </a:t>
            </a:r>
            <a:r>
              <a:rPr lang="en-US" b="1" dirty="0" smtClean="0"/>
              <a:t>Procurement and Contractual Risk </a:t>
            </a:r>
            <a:r>
              <a:rPr lang="en-US" dirty="0" smtClean="0"/>
              <a:t>is sub-divided into raw material procurement and subcontractor procurement risk. Raw material procurement risk is the delay due to market competition. Contractual risk involves issues or concerns associated with procurement through contractor. </a:t>
            </a:r>
          </a:p>
          <a:p>
            <a:r>
              <a:rPr lang="en-US" b="1" dirty="0" smtClean="0"/>
              <a:t>(4) Political Risk </a:t>
            </a:r>
            <a:r>
              <a:rPr lang="en-US" dirty="0" smtClean="0"/>
              <a:t>is sub-divided into political instability and customer requirement risk. Political risk can be due to revisions in policies and rules, slow approvals, instable governments, or other bureaucratic hurdles. The political environment can impact projects during the implementation phase. Customer requirement risks can be caused by changes to customer technical or aesthetic requirements, which often lead to scope creep.</a:t>
            </a:r>
            <a:endParaRPr lang="en-US" dirty="0"/>
          </a:p>
        </p:txBody>
      </p:sp>
    </p:spTree>
    <p:extLst>
      <p:ext uri="{BB962C8B-B14F-4D97-AF65-F5344CB8AC3E}">
        <p14:creationId xmlns:p14="http://schemas.microsoft.com/office/powerpoint/2010/main" val="302694596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96000"/>
          </a:xfrm>
        </p:spPr>
        <p:txBody>
          <a:bodyPr>
            <a:normAutofit fontScale="77500" lnSpcReduction="20000"/>
          </a:bodyPr>
          <a:lstStyle/>
          <a:p>
            <a:pPr algn="just"/>
            <a:r>
              <a:rPr lang="en-US" b="1" dirty="0" smtClean="0"/>
              <a:t>(5) Environmental Risk </a:t>
            </a:r>
            <a:r>
              <a:rPr lang="en-US" dirty="0" smtClean="0"/>
              <a:t>is sub-divided into weather and pollution risk. Risks to the project due to weather conditions such as rain, snow, or reduced sunlight are considered weather risks. Pollution risk is considered when the project affects the environment by generating pollution and vice versa. Generating pollution can result in delays and fines. Working in a polluted environment may affect the project’s performance or cause additional effort to successful complete the project. </a:t>
            </a:r>
          </a:p>
          <a:p>
            <a:endParaRPr lang="en-US" dirty="0" smtClean="0"/>
          </a:p>
          <a:p>
            <a:pPr algn="just"/>
            <a:r>
              <a:rPr lang="en-US" b="1" dirty="0" smtClean="0"/>
              <a:t>(6) Social Risk </a:t>
            </a:r>
            <a:r>
              <a:rPr lang="en-US" dirty="0" smtClean="0"/>
              <a:t>is sub-divided into cultural relationship and society impact risk. Society impact risk occurs when a project has an effect on society. An example of social risk is the construction of a dam that could disturb the ecological balance of the region. Cultural relationship risk is often associated with global projects. In these situations misunderstanding the needs and sensitivities of the customer can impact the scope and operation of the projects.</a:t>
            </a:r>
            <a:endParaRPr lang="en-US" dirty="0"/>
          </a:p>
        </p:txBody>
      </p:sp>
    </p:spTree>
    <p:extLst>
      <p:ext uri="{BB962C8B-B14F-4D97-AF65-F5344CB8AC3E}">
        <p14:creationId xmlns:p14="http://schemas.microsoft.com/office/powerpoint/2010/main" val="80898902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77500" lnSpcReduction="20000"/>
          </a:bodyPr>
          <a:lstStyle/>
          <a:p>
            <a:pPr algn="just"/>
            <a:r>
              <a:rPr lang="en-US" b="1" dirty="0" smtClean="0"/>
              <a:t>(7) Regulatory and Legal Risk is risk </a:t>
            </a:r>
            <a:r>
              <a:rPr lang="en-US" dirty="0" smtClean="0"/>
              <a:t>sub-divided into litigation and non-compliance with codes and laws. Rules and regulations vary by country and industry sector. Changing regulations can impact a projects’ budget and/or schedule. The risk of litigation is great if rules are not properly followed. </a:t>
            </a:r>
          </a:p>
          <a:p>
            <a:pPr algn="just"/>
            <a:r>
              <a:rPr lang="en-US" b="1" dirty="0" smtClean="0"/>
              <a:t>(8) Safety Risk</a:t>
            </a:r>
            <a:r>
              <a:rPr lang="en-US" dirty="0" smtClean="0"/>
              <a:t> includes security risk. Security risk can be caused by many factors, such as acts of God, fire, theft, terrorism, and war. For example, floods or fire can drastically impact construction projects but they can influence any type of project if deliveries are impacted. </a:t>
            </a:r>
          </a:p>
          <a:p>
            <a:pPr algn="just"/>
            <a:r>
              <a:rPr lang="en-US" b="1" dirty="0" smtClean="0"/>
              <a:t>(9) Delay Risk</a:t>
            </a:r>
            <a:r>
              <a:rPr lang="en-US" dirty="0" smtClean="0"/>
              <a:t> is sub-divided into project delay and third party delay risk. Project delay risk can be caused by plan approval delays or other constraints. Third party delay risk is caused by delays by sub-contractors, suppliers, or vendors. </a:t>
            </a:r>
            <a:endParaRPr lang="en-US" dirty="0"/>
          </a:p>
        </p:txBody>
      </p:sp>
      <p:sp>
        <p:nvSpPr>
          <p:cNvPr id="4" name="Rectangle 3"/>
          <p:cNvSpPr/>
          <p:nvPr/>
        </p:nvSpPr>
        <p:spPr>
          <a:xfrm>
            <a:off x="152400" y="6019800"/>
            <a:ext cx="8686800" cy="646331"/>
          </a:xfrm>
          <a:prstGeom prst="rect">
            <a:avLst/>
          </a:prstGeom>
        </p:spPr>
        <p:txBody>
          <a:bodyPr wrap="square">
            <a:spAutoFit/>
          </a:bodyPr>
          <a:lstStyle/>
          <a:p>
            <a:r>
              <a:rPr lang="en-US" dirty="0" smtClean="0">
                <a:solidFill>
                  <a:srgbClr val="C00000"/>
                </a:solidFill>
              </a:rPr>
              <a:t>Reference: Murray, S. L., Grantham, K., &amp; </a:t>
            </a:r>
            <a:r>
              <a:rPr lang="en-US" dirty="0" err="1" smtClean="0">
                <a:solidFill>
                  <a:srgbClr val="C00000"/>
                </a:solidFill>
              </a:rPr>
              <a:t>Damle</a:t>
            </a:r>
            <a:r>
              <a:rPr lang="en-US" dirty="0" smtClean="0">
                <a:solidFill>
                  <a:srgbClr val="C00000"/>
                </a:solidFill>
              </a:rPr>
              <a:t>, S. B. (2011). Development of a generic risk matrix to manage project risks. </a:t>
            </a:r>
            <a:r>
              <a:rPr lang="en-US" i="1" dirty="0" smtClean="0">
                <a:solidFill>
                  <a:srgbClr val="C00000"/>
                </a:solidFill>
              </a:rPr>
              <a:t>Journal of Industrial and Systems Engineering</a:t>
            </a:r>
            <a:r>
              <a:rPr lang="en-US" dirty="0" smtClean="0">
                <a:solidFill>
                  <a:srgbClr val="C00000"/>
                </a:solidFill>
              </a:rPr>
              <a:t>, </a:t>
            </a:r>
            <a:r>
              <a:rPr lang="en-US" i="1" dirty="0" smtClean="0">
                <a:solidFill>
                  <a:srgbClr val="C00000"/>
                </a:solidFill>
              </a:rPr>
              <a:t>5</a:t>
            </a:r>
            <a:r>
              <a:rPr lang="en-US" dirty="0" smtClean="0">
                <a:solidFill>
                  <a:srgbClr val="C00000"/>
                </a:solidFill>
              </a:rPr>
              <a:t>(1), 35-51.</a:t>
            </a:r>
            <a:endParaRPr lang="en-US" dirty="0">
              <a:solidFill>
                <a:srgbClr val="C00000"/>
              </a:solidFill>
            </a:endParaRPr>
          </a:p>
        </p:txBody>
      </p:sp>
    </p:spTree>
    <p:extLst>
      <p:ext uri="{BB962C8B-B14F-4D97-AF65-F5344CB8AC3E}">
        <p14:creationId xmlns:p14="http://schemas.microsoft.com/office/powerpoint/2010/main" val="269707673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Framework to Identify Sources of Overall Project Risks</a:t>
            </a:r>
            <a:endParaRPr lang="en-US" dirty="0"/>
          </a:p>
        </p:txBody>
      </p:sp>
      <p:sp>
        <p:nvSpPr>
          <p:cNvPr id="3" name="Content Placeholder 2"/>
          <p:cNvSpPr>
            <a:spLocks noGrp="1"/>
          </p:cNvSpPr>
          <p:nvPr>
            <p:ph idx="1"/>
          </p:nvPr>
        </p:nvSpPr>
        <p:spPr/>
        <p:txBody>
          <a:bodyPr/>
          <a:lstStyle/>
          <a:p>
            <a:r>
              <a:rPr lang="en-US" dirty="0" smtClean="0"/>
              <a:t>• PESTLE (political, economic, social, technological, legal, environment) </a:t>
            </a:r>
          </a:p>
          <a:p>
            <a:r>
              <a:rPr lang="en-US" dirty="0" smtClean="0"/>
              <a:t>• TECOP (technical, environmental, commercial, operational, political) </a:t>
            </a:r>
          </a:p>
          <a:p>
            <a:r>
              <a:rPr lang="en-US" dirty="0" smtClean="0"/>
              <a:t>• VUCA (volatility, uncertainty, complexity, ambiguity)</a:t>
            </a:r>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smtClean="0"/>
              <a:t>The End.</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2916</TotalTime>
  <Words>4538</Words>
  <Application>Microsoft Office PowerPoint</Application>
  <PresentationFormat>On-screen Show (4:3)</PresentationFormat>
  <Paragraphs>448</Paragraphs>
  <Slides>111</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111</vt:i4>
      </vt:variant>
    </vt:vector>
  </HeadingPairs>
  <TitlesOfParts>
    <vt:vector size="120" baseType="lpstr">
      <vt:lpstr>MS PGothic</vt:lpstr>
      <vt:lpstr>Arial</vt:lpstr>
      <vt:lpstr>Arial Black</vt:lpstr>
      <vt:lpstr>Calibri</vt:lpstr>
      <vt:lpstr>Calibri Light</vt:lpstr>
      <vt:lpstr>Cambria</vt:lpstr>
      <vt:lpstr>Courier New</vt:lpstr>
      <vt:lpstr>Lucida Grande</vt:lpstr>
      <vt:lpstr>Office Theme</vt:lpstr>
      <vt:lpstr>Project Risk Management</vt:lpstr>
      <vt:lpstr>Outline</vt:lpstr>
      <vt:lpstr>Project Characteristics</vt:lpstr>
      <vt:lpstr>Examples of Projects</vt:lpstr>
      <vt:lpstr>Project Life Cycle.</vt:lpstr>
      <vt:lpstr>PowerPoint Presentation</vt:lpstr>
      <vt:lpstr>PowerPoint Presentation</vt:lpstr>
      <vt:lpstr>PowerPoint Presentation</vt:lpstr>
      <vt:lpstr>PowerPoint Presentation</vt:lpstr>
      <vt:lpstr>Probability</vt:lpstr>
      <vt:lpstr>Example no 1.</vt:lpstr>
      <vt:lpstr>Example 2</vt:lpstr>
      <vt:lpstr>Example 3</vt:lpstr>
      <vt:lpstr>Pure Risk VS Speculative Risk (2-1)</vt:lpstr>
      <vt:lpstr>Pure Risk VS Speculative Risk (2-2)</vt:lpstr>
      <vt:lpstr>Static VS Dynamic Risk</vt:lpstr>
      <vt:lpstr>Business risks Vs Project risks</vt:lpstr>
      <vt:lpstr>PowerPoint Presentation</vt:lpstr>
      <vt:lpstr>PowerPoint Presentation</vt:lpstr>
      <vt:lpstr>PowerPoint Presentation</vt:lpstr>
      <vt:lpstr>PowerPoint Presentation</vt:lpstr>
      <vt:lpstr>Opportunity and Threat</vt:lpstr>
      <vt:lpstr>PowerPoint Presentation</vt:lpstr>
      <vt:lpstr>PowerPoint Presentation</vt:lpstr>
      <vt:lpstr>PowerPoint Presentation</vt:lpstr>
      <vt:lpstr>Partial Risk Profile for Product Development Project</vt:lpstr>
      <vt:lpstr>Risk Tolerance</vt:lpstr>
      <vt:lpstr>PowerPoint Presentation</vt:lpstr>
      <vt:lpstr>PowerPoint Presentation</vt:lpstr>
      <vt:lpstr>PowerPoint Presentation</vt:lpstr>
      <vt:lpstr>PowerPoint Presentation</vt:lpstr>
      <vt:lpstr>Risk Appetite vs Risk Tolerance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PMBOK® Project Risk Management Processes </vt:lpstr>
      <vt:lpstr>Cont.</vt:lpstr>
      <vt:lpstr>PowerPoint Presentation</vt:lpstr>
      <vt:lpstr>Exercise</vt:lpstr>
      <vt:lpstr>PowerPoint Presentation</vt:lpstr>
      <vt:lpstr>PowerPoint Presentation</vt:lpstr>
      <vt:lpstr>PowerPoint Presentation</vt:lpstr>
      <vt:lpstr>Video link</vt:lpstr>
      <vt:lpstr>Difference B/W Risk Peril and Hazard</vt:lpstr>
      <vt:lpstr>PowerPoint Presentation</vt:lpstr>
      <vt:lpstr>Case—Haitian Earthquake Relief</vt:lpstr>
      <vt:lpstr>PowerPoint Presentation</vt:lpstr>
      <vt:lpstr>PowerPoint Presentation</vt:lpstr>
      <vt:lpstr>https://prezi.com/flslhli_pjxf/the-it-department-at-hamelin-hospital/</vt:lpstr>
      <vt:lpstr>PowerPoint Presentation</vt:lpstr>
      <vt:lpstr>PowerPoint Presentation</vt:lpstr>
      <vt:lpstr>PowerPoint Presentation</vt:lpstr>
      <vt:lpstr>PowerPoint Presentation</vt:lpstr>
      <vt:lpstr>PowerPoint Presentation</vt:lpstr>
      <vt:lpstr>Risk Management Planning</vt:lpstr>
      <vt:lpstr>PowerPoint Presentation</vt:lpstr>
      <vt:lpstr>Case study</vt:lpstr>
      <vt:lpstr>Types of Project Risk</vt:lpstr>
      <vt:lpstr>Individual project</vt:lpstr>
      <vt:lpstr>Overall project risk</vt:lpstr>
      <vt:lpstr>TRENDS AND EMERGING PRACTICES IN PROJECT RISK MANAGEMENT</vt:lpstr>
      <vt:lpstr>PowerPoint Presentation</vt:lpstr>
      <vt:lpstr>PowerPoint Presentation</vt:lpstr>
      <vt:lpstr>PowerPoint Presentation</vt:lpstr>
      <vt:lpstr>TAILORING CONSIDERATIONS</vt:lpstr>
      <vt:lpstr>TAILORING CONSIDERATIONS (Cont.)</vt:lpstr>
      <vt:lpstr>Waterfall vs Agile</vt:lpstr>
      <vt:lpstr>Waterfall vs Agile</vt:lpstr>
      <vt:lpstr>DEFINITION OF RISK MANAGEMENT </vt:lpstr>
      <vt:lpstr>PowerPoint Presentation</vt:lpstr>
      <vt:lpstr>Proactive Vs Reactive</vt:lpstr>
      <vt:lpstr> </vt:lpstr>
      <vt:lpstr>Risk Management Plan</vt:lpstr>
      <vt:lpstr>PowerPoint Presentation</vt:lpstr>
      <vt:lpstr>PowerPoint Presentation</vt:lpstr>
      <vt:lpstr>Project Management Plan</vt:lpstr>
      <vt:lpstr> Why you need Project charter? </vt:lpstr>
      <vt:lpstr>Why you need Project charter?</vt:lpstr>
      <vt:lpstr>Project Charter </vt:lpstr>
      <vt:lpstr>Project Charter</vt:lpstr>
      <vt:lpstr>PowerPoint Presentation</vt:lpstr>
      <vt:lpstr>PowerPoint Presentation</vt:lpstr>
      <vt:lpstr>PowerPoint Presentation</vt:lpstr>
      <vt:lpstr>PowerPoint Presentation</vt:lpstr>
      <vt:lpstr>PowerPoint Presentation</vt:lpstr>
      <vt:lpstr>Plan Risk Management: Tools and Techniques </vt:lpstr>
      <vt:lpstr>PowerPoint Presentation</vt:lpstr>
      <vt:lpstr>PowerPoint Presentation</vt:lpstr>
      <vt:lpstr>PowerPoint Presentation</vt:lpstr>
      <vt:lpstr>PowerPoint Presentation</vt:lpstr>
      <vt:lpstr>Risk categories </vt:lpstr>
      <vt:lpstr>PowerPoint Presentation</vt:lpstr>
      <vt:lpstr>PowerPoint Presentation</vt:lpstr>
      <vt:lpstr>PowerPoint Presentation</vt:lpstr>
      <vt:lpstr>Class Exercise</vt:lpstr>
      <vt:lpstr>PowerPoint Presentation</vt:lpstr>
      <vt:lpstr>PowerPoint Presentation</vt:lpstr>
      <vt:lpstr>GENERAL PROJECT RISK CHARACTERIZATION </vt:lpstr>
      <vt:lpstr>PowerPoint Presentation</vt:lpstr>
      <vt:lpstr>PowerPoint Presentation</vt:lpstr>
      <vt:lpstr>GRM Risk Categories</vt:lpstr>
      <vt:lpstr>PowerPoint Presentation</vt:lpstr>
      <vt:lpstr>PowerPoint Presentation</vt:lpstr>
      <vt:lpstr>PowerPoint Presentation</vt:lpstr>
      <vt:lpstr>Framework to Identify Sources of Overall Project Risks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Mutasim</dc:creator>
  <cp:lastModifiedBy>BUKC</cp:lastModifiedBy>
  <cp:revision>64</cp:revision>
  <cp:lastPrinted>2020-01-27T07:30:13Z</cp:lastPrinted>
  <dcterms:created xsi:type="dcterms:W3CDTF">2019-09-03T11:07:01Z</dcterms:created>
  <dcterms:modified xsi:type="dcterms:W3CDTF">2022-03-05T14:54:45Z</dcterms:modified>
</cp:coreProperties>
</file>