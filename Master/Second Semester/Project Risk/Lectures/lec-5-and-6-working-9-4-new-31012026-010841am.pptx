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96"/>
  </p:notesMasterIdLst>
  <p:sldIdLst>
    <p:sldId id="256" r:id="rId2"/>
    <p:sldId id="304" r:id="rId3"/>
    <p:sldId id="257" r:id="rId4"/>
    <p:sldId id="258" r:id="rId5"/>
    <p:sldId id="259" r:id="rId6"/>
    <p:sldId id="260" r:id="rId7"/>
    <p:sldId id="261" r:id="rId8"/>
    <p:sldId id="262" r:id="rId9"/>
    <p:sldId id="284" r:id="rId10"/>
    <p:sldId id="283" r:id="rId11"/>
    <p:sldId id="263" r:id="rId12"/>
    <p:sldId id="285" r:id="rId13"/>
    <p:sldId id="264" r:id="rId14"/>
    <p:sldId id="298" r:id="rId15"/>
    <p:sldId id="300" r:id="rId16"/>
    <p:sldId id="302" r:id="rId17"/>
    <p:sldId id="301" r:id="rId18"/>
    <p:sldId id="265" r:id="rId19"/>
    <p:sldId id="266" r:id="rId20"/>
    <p:sldId id="267" r:id="rId21"/>
    <p:sldId id="268" r:id="rId22"/>
    <p:sldId id="269" r:id="rId23"/>
    <p:sldId id="359" r:id="rId24"/>
    <p:sldId id="365" r:id="rId25"/>
    <p:sldId id="366" r:id="rId26"/>
    <p:sldId id="360" r:id="rId27"/>
    <p:sldId id="361" r:id="rId28"/>
    <p:sldId id="371" r:id="rId29"/>
    <p:sldId id="270" r:id="rId30"/>
    <p:sldId id="271" r:id="rId31"/>
    <p:sldId id="373" r:id="rId32"/>
    <p:sldId id="374" r:id="rId33"/>
    <p:sldId id="375" r:id="rId34"/>
    <p:sldId id="376" r:id="rId35"/>
    <p:sldId id="377" r:id="rId36"/>
    <p:sldId id="286" r:id="rId37"/>
    <p:sldId id="287" r:id="rId38"/>
    <p:sldId id="288" r:id="rId39"/>
    <p:sldId id="369" r:id="rId40"/>
    <p:sldId id="367" r:id="rId41"/>
    <p:sldId id="368" r:id="rId42"/>
    <p:sldId id="379" r:id="rId43"/>
    <p:sldId id="308" r:id="rId44"/>
    <p:sldId id="313" r:id="rId45"/>
    <p:sldId id="370" r:id="rId46"/>
    <p:sldId id="362" r:id="rId47"/>
    <p:sldId id="363" r:id="rId48"/>
    <p:sldId id="364" r:id="rId49"/>
    <p:sldId id="272" r:id="rId50"/>
    <p:sldId id="273" r:id="rId51"/>
    <p:sldId id="274" r:id="rId52"/>
    <p:sldId id="314" r:id="rId53"/>
    <p:sldId id="315" r:id="rId54"/>
    <p:sldId id="316" r:id="rId55"/>
    <p:sldId id="317" r:id="rId56"/>
    <p:sldId id="318" r:id="rId57"/>
    <p:sldId id="319" r:id="rId58"/>
    <p:sldId id="320" r:id="rId59"/>
    <p:sldId id="321" r:id="rId60"/>
    <p:sldId id="322" r:id="rId61"/>
    <p:sldId id="378" r:id="rId62"/>
    <p:sldId id="323" r:id="rId63"/>
    <p:sldId id="324" r:id="rId64"/>
    <p:sldId id="325" r:id="rId65"/>
    <p:sldId id="327" r:id="rId66"/>
    <p:sldId id="328" r:id="rId67"/>
    <p:sldId id="329" r:id="rId68"/>
    <p:sldId id="330" r:id="rId69"/>
    <p:sldId id="331" r:id="rId70"/>
    <p:sldId id="332" r:id="rId71"/>
    <p:sldId id="333" r:id="rId72"/>
    <p:sldId id="334" r:id="rId73"/>
    <p:sldId id="335" r:id="rId74"/>
    <p:sldId id="336" r:id="rId75"/>
    <p:sldId id="337" r:id="rId76"/>
    <p:sldId id="338" r:id="rId77"/>
    <p:sldId id="339" r:id="rId78"/>
    <p:sldId id="340" r:id="rId79"/>
    <p:sldId id="341" r:id="rId80"/>
    <p:sldId id="342" r:id="rId81"/>
    <p:sldId id="343" r:id="rId82"/>
    <p:sldId id="344" r:id="rId83"/>
    <p:sldId id="345" r:id="rId84"/>
    <p:sldId id="346" r:id="rId85"/>
    <p:sldId id="347" r:id="rId86"/>
    <p:sldId id="348" r:id="rId87"/>
    <p:sldId id="349" r:id="rId88"/>
    <p:sldId id="350" r:id="rId89"/>
    <p:sldId id="351" r:id="rId90"/>
    <p:sldId id="352" r:id="rId91"/>
    <p:sldId id="353" r:id="rId92"/>
    <p:sldId id="354" r:id="rId93"/>
    <p:sldId id="355" r:id="rId94"/>
    <p:sldId id="356" r:id="rId9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0" d="100"/>
          <a:sy n="70" d="100"/>
        </p:scale>
        <p:origin x="1386" y="7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slide" Target="slides/slide75.xml"/><Relationship Id="rId84" Type="http://schemas.openxmlformats.org/officeDocument/2006/relationships/slide" Target="slides/slide83.xml"/><Relationship Id="rId89" Type="http://schemas.openxmlformats.org/officeDocument/2006/relationships/slide" Target="slides/slide88.xml"/><Relationship Id="rId97"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slide" Target="slides/slide86.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slide" Target="slides/slide89.xml"/><Relationship Id="rId95" Type="http://schemas.openxmlformats.org/officeDocument/2006/relationships/slide" Target="slides/slide9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100"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slide" Target="slides/slide92.xml"/><Relationship Id="rId98"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215D4E1-DD31-4683-92EB-047203EA0E31}" type="datetimeFigureOut">
              <a:rPr lang="en-US" smtClean="0"/>
              <a:pPr/>
              <a:t>4/1/2022</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563C053-B295-42EC-8951-EBAFBDB09C81}" type="slidenum">
              <a:rPr lang="en-US" smtClean="0"/>
              <a:pPr/>
              <a:t>‹#›</a:t>
            </a:fld>
            <a:endParaRPr lang="en-US"/>
          </a:p>
        </p:txBody>
      </p:sp>
    </p:spTree>
    <p:extLst>
      <p:ext uri="{BB962C8B-B14F-4D97-AF65-F5344CB8AC3E}">
        <p14:creationId xmlns:p14="http://schemas.microsoft.com/office/powerpoint/2010/main" val="36904537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7" name="Rectangle 7"/>
          <p:cNvSpPr>
            <a:spLocks noGrp="1" noChangeArrowheads="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4981521D-CBC4-40C7-B5F5-2B442A8A1CDE}" type="slidenum">
              <a:rPr lang="en-AU">
                <a:latin typeface="Arial" pitchFamily="34" charset="0"/>
                <a:ea typeface="MS PGothic" pitchFamily="34" charset="-128"/>
                <a:cs typeface="Arial" pitchFamily="34" charset="0"/>
              </a:rPr>
              <a:pPr fontAlgn="base">
                <a:spcBef>
                  <a:spcPct val="0"/>
                </a:spcBef>
                <a:spcAft>
                  <a:spcPct val="0"/>
                </a:spcAft>
              </a:pPr>
              <a:t>15</a:t>
            </a:fld>
            <a:endParaRPr lang="en-AU">
              <a:latin typeface="Arial" pitchFamily="34" charset="0"/>
              <a:ea typeface="MS PGothic" pitchFamily="34" charset="-128"/>
              <a:cs typeface="Arial" pitchFamily="34" charset="0"/>
            </a:endParaRPr>
          </a:p>
        </p:txBody>
      </p:sp>
      <p:sp>
        <p:nvSpPr>
          <p:cNvPr id="80898"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80899"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a:spcBef>
                <a:spcPct val="0"/>
              </a:spcBef>
            </a:pPr>
            <a:endParaRPr lang="en-US" smtClean="0">
              <a:ea typeface="MS PGothic" pitchFamily="34" charset="-128"/>
            </a:endParaRPr>
          </a:p>
        </p:txBody>
      </p:sp>
    </p:spTree>
    <p:extLst>
      <p:ext uri="{BB962C8B-B14F-4D97-AF65-F5344CB8AC3E}">
        <p14:creationId xmlns:p14="http://schemas.microsoft.com/office/powerpoint/2010/main" val="306678909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49" name="Rectangle 7"/>
          <p:cNvSpPr>
            <a:spLocks noGrp="1" noChangeArrowheads="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D36A9DE1-E6CD-47D5-8AE0-BA3CFC6486F6}" type="slidenum">
              <a:rPr lang="en-AU">
                <a:latin typeface="Arial" pitchFamily="34" charset="0"/>
                <a:ea typeface="MS PGothic" pitchFamily="34" charset="-128"/>
                <a:cs typeface="Arial" pitchFamily="34" charset="0"/>
              </a:rPr>
              <a:pPr fontAlgn="base">
                <a:spcBef>
                  <a:spcPct val="0"/>
                </a:spcBef>
                <a:spcAft>
                  <a:spcPct val="0"/>
                </a:spcAft>
              </a:pPr>
              <a:t>17</a:t>
            </a:fld>
            <a:endParaRPr lang="en-AU">
              <a:latin typeface="Arial" pitchFamily="34" charset="0"/>
              <a:ea typeface="MS PGothic" pitchFamily="34" charset="-128"/>
              <a:cs typeface="Arial" pitchFamily="34" charset="0"/>
            </a:endParaRPr>
          </a:p>
        </p:txBody>
      </p:sp>
      <p:sp>
        <p:nvSpPr>
          <p:cNvPr id="104450"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104451"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a:spcBef>
                <a:spcPct val="0"/>
              </a:spcBef>
            </a:pPr>
            <a:endParaRPr lang="en-US" smtClean="0">
              <a:ea typeface="MS PGothic" pitchFamily="34" charset="-128"/>
            </a:endParaRPr>
          </a:p>
        </p:txBody>
      </p:sp>
    </p:spTree>
    <p:extLst>
      <p:ext uri="{BB962C8B-B14F-4D97-AF65-F5344CB8AC3E}">
        <p14:creationId xmlns:p14="http://schemas.microsoft.com/office/powerpoint/2010/main" val="427730239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DCFC9BCE-B776-4D7E-86EE-48C54FF7D325}" type="datetimeFigureOut">
              <a:rPr lang="en-US" smtClean="0"/>
              <a:pPr/>
              <a:t>4/1/2022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AEBB7D3-2261-4398-94EB-74D5F2558208}"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DCFC9BCE-B776-4D7E-86EE-48C54FF7D325}" type="datetimeFigureOut">
              <a:rPr lang="en-US" smtClean="0"/>
              <a:pPr/>
              <a:t>4/1/2022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AEBB7D3-2261-4398-94EB-74D5F2558208}"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DCFC9BCE-B776-4D7E-86EE-48C54FF7D325}" type="datetimeFigureOut">
              <a:rPr lang="en-US" smtClean="0"/>
              <a:pPr/>
              <a:t>4/1/2022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AEBB7D3-2261-4398-94EB-74D5F2558208}"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DCFC9BCE-B776-4D7E-86EE-48C54FF7D325}" type="datetimeFigureOut">
              <a:rPr lang="en-US" smtClean="0"/>
              <a:pPr/>
              <a:t>4/1/2022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AEBB7D3-2261-4398-94EB-74D5F2558208}"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DCFC9BCE-B776-4D7E-86EE-48C54FF7D325}" type="datetimeFigureOut">
              <a:rPr lang="en-US" smtClean="0"/>
              <a:pPr/>
              <a:t>4/1/2022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AEBB7D3-2261-4398-94EB-74D5F2558208}"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DCFC9BCE-B776-4D7E-86EE-48C54FF7D325}" type="datetimeFigureOut">
              <a:rPr lang="en-US" smtClean="0"/>
              <a:pPr/>
              <a:t>4/1/2022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AEBB7D3-2261-4398-94EB-74D5F2558208}"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CFC9BCE-B776-4D7E-86EE-48C54FF7D325}" type="datetimeFigureOut">
              <a:rPr lang="en-US" smtClean="0"/>
              <a:pPr/>
              <a:t>4/1/2022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AEBB7D3-2261-4398-94EB-74D5F2558208}"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DCFC9BCE-B776-4D7E-86EE-48C54FF7D325}" type="datetimeFigureOut">
              <a:rPr lang="en-US" smtClean="0"/>
              <a:pPr/>
              <a:t>4/1/2022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AEBB7D3-2261-4398-94EB-74D5F2558208}"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DCFC9BCE-B776-4D7E-86EE-48C54FF7D325}" type="datetimeFigureOut">
              <a:rPr lang="en-US" smtClean="0"/>
              <a:pPr/>
              <a:t>4/1/2022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AEBB7D3-2261-4398-94EB-74D5F2558208}"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DCFC9BCE-B776-4D7E-86EE-48C54FF7D325}" type="datetimeFigureOut">
              <a:rPr lang="en-US" smtClean="0"/>
              <a:pPr/>
              <a:t>4/1/2022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AEBB7D3-2261-4398-94EB-74D5F2558208}"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DCFC9BCE-B776-4D7E-86EE-48C54FF7D325}" type="datetimeFigureOut">
              <a:rPr lang="en-US" smtClean="0"/>
              <a:pPr/>
              <a:t>4/1/2022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AEBB7D3-2261-4398-94EB-74D5F2558208}"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showMasterPhAnim="0" type="tbl">
  <p:cSld name="Title and Table">
    <p:spTree>
      <p:nvGrpSpPr>
        <p:cNvPr id="1" name=""/>
        <p:cNvGrpSpPr/>
        <p:nvPr/>
      </p:nvGrpSpPr>
      <p:grpSpPr>
        <a:xfrm>
          <a:off x="0" y="0"/>
          <a:ext cx="0" cy="0"/>
          <a:chOff x="0" y="0"/>
          <a:chExt cx="0" cy="0"/>
        </a:xfrm>
      </p:grpSpPr>
      <p:sp>
        <p:nvSpPr>
          <p:cNvPr id="4" name="TextBox 3"/>
          <p:cNvSpPr txBox="1"/>
          <p:nvPr userDrawn="1"/>
        </p:nvSpPr>
        <p:spPr>
          <a:xfrm>
            <a:off x="7975600" y="6384925"/>
            <a:ext cx="595313" cy="276225"/>
          </a:xfrm>
          <a:prstGeom prst="rect">
            <a:avLst/>
          </a:prstGeom>
          <a:noFill/>
        </p:spPr>
        <p:txBody>
          <a:bodyPr wrap="none">
            <a:spAutoFit/>
          </a:bodyPr>
          <a:lstStyle/>
          <a:p>
            <a:pPr fontAlgn="auto">
              <a:spcBef>
                <a:spcPts val="0"/>
              </a:spcBef>
              <a:spcAft>
                <a:spcPts val="0"/>
              </a:spcAft>
              <a:defRPr/>
            </a:pPr>
            <a:r>
              <a:rPr lang="en-US" sz="1200" dirty="0">
                <a:solidFill>
                  <a:srgbClr val="A6A6A6"/>
                </a:solidFill>
                <a:latin typeface="Arial"/>
                <a:cs typeface="Arial"/>
              </a:rPr>
              <a:t>3 - </a:t>
            </a:r>
            <a:fld id="{494A6257-8658-4AAD-A232-8CB010BAF12E}" type="slidenum">
              <a:rPr lang="en-US" sz="1200">
                <a:solidFill>
                  <a:srgbClr val="A6A6A6"/>
                </a:solidFill>
                <a:latin typeface="Arial"/>
                <a:cs typeface="Arial"/>
              </a:rPr>
              <a:pPr fontAlgn="auto">
                <a:spcBef>
                  <a:spcPts val="0"/>
                </a:spcBef>
                <a:spcAft>
                  <a:spcPts val="0"/>
                </a:spcAft>
                <a:defRPr/>
              </a:pPr>
              <a:t>‹#›</a:t>
            </a:fld>
            <a:endParaRPr lang="en-US" sz="1200" dirty="0">
              <a:solidFill>
                <a:srgbClr val="A6A6A6"/>
              </a:solidFill>
              <a:latin typeface="Arial"/>
              <a:cs typeface="Arial"/>
            </a:endParaRPr>
          </a:p>
        </p:txBody>
      </p:sp>
      <p:sp>
        <p:nvSpPr>
          <p:cNvPr id="5" name="TextBox 4"/>
          <p:cNvSpPr txBox="1"/>
          <p:nvPr userDrawn="1"/>
        </p:nvSpPr>
        <p:spPr>
          <a:xfrm>
            <a:off x="457200" y="6384925"/>
            <a:ext cx="2333625" cy="274638"/>
          </a:xfrm>
          <a:prstGeom prst="rect">
            <a:avLst/>
          </a:prstGeom>
          <a:noFill/>
        </p:spPr>
        <p:txBody>
          <a:bodyPr wrap="none">
            <a:spAutoFit/>
          </a:bodyPr>
          <a:lstStyle/>
          <a:p>
            <a:r>
              <a:rPr lang="en-AU" sz="1200">
                <a:solidFill>
                  <a:srgbClr val="A6A6A6"/>
                </a:solidFill>
              </a:rPr>
              <a:t>© 2014 Pearson Education, Inc.</a:t>
            </a:r>
            <a:endParaRPr lang="en-US" sz="1200">
              <a:solidFill>
                <a:srgbClr val="A6A6A6"/>
              </a:solidFill>
            </a:endParaRPr>
          </a:p>
        </p:txBody>
      </p:sp>
      <p:sp>
        <p:nvSpPr>
          <p:cNvPr id="2" name="Title 1"/>
          <p:cNvSpPr>
            <a:spLocks noGrp="1"/>
          </p:cNvSpPr>
          <p:nvPr>
            <p:ph type="title"/>
          </p:nvPr>
        </p:nvSpPr>
        <p:spPr>
          <a:xfrm>
            <a:off x="685800" y="434975"/>
            <a:ext cx="7772400" cy="1143000"/>
          </a:xfrm>
        </p:spPr>
        <p:txBody>
          <a:bodyPr/>
          <a:lstStyle/>
          <a:p>
            <a:r>
              <a:rPr lang="en-AU" smtClean="0"/>
              <a:t>Click to edit Master title style</a:t>
            </a:r>
            <a:endParaRPr lang="en-US"/>
          </a:p>
        </p:txBody>
      </p:sp>
      <p:sp>
        <p:nvSpPr>
          <p:cNvPr id="3" name="Table Placeholder 2"/>
          <p:cNvSpPr>
            <a:spLocks noGrp="1"/>
          </p:cNvSpPr>
          <p:nvPr>
            <p:ph type="tbl" idx="1"/>
          </p:nvPr>
        </p:nvSpPr>
        <p:spPr>
          <a:xfrm>
            <a:off x="685800" y="1917700"/>
            <a:ext cx="7772400" cy="4114800"/>
          </a:xfrm>
        </p:spPr>
        <p:txBody>
          <a:bodyPr rtlCol="0">
            <a:normAutofit/>
          </a:bodyPr>
          <a:lstStyle/>
          <a:p>
            <a:pPr lvl="0"/>
            <a:endParaRPr lang="en-US" noProof="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6" fill="hold" grpId="0" nodeType="afterEffect" nodePh="1">
                                  <p:stCondLst>
                                    <p:cond delay="1000"/>
                                  </p:stCondLst>
                                  <p:endCondLst>
                                    <p:cond evt="begin" delay="0">
                                      <p:tn val="5"/>
                                    </p:cond>
                                  </p:endCondLst>
                                  <p:childTnLst>
                                    <p:set>
                                      <p:cBhvr>
                                        <p:cTn id="6" dur="1" fill="hold">
                                          <p:stCondLst>
                                            <p:cond delay="0"/>
                                          </p:stCondLst>
                                        </p:cTn>
                                        <p:tgtEl>
                                          <p:spTgt spid="3"/>
                                        </p:tgtEl>
                                        <p:attrNameLst>
                                          <p:attrName>style.visibility</p:attrName>
                                        </p:attrNameLst>
                                      </p:cBhvr>
                                      <p:to>
                                        <p:strVal val="visible"/>
                                      </p:to>
                                    </p:set>
                                    <p:animEffect transition="in" filter="strips(downRight)">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utoUpdateAnimBg="0"/>
    </p:bld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CFC9BCE-B776-4D7E-86EE-48C54FF7D325}" type="datetimeFigureOut">
              <a:rPr lang="en-US" smtClean="0"/>
              <a:pPr/>
              <a:t>4/1/2022</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AEBB7D3-2261-4398-94EB-74D5F2558208}"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hyperlink" Target="https://www.youtube.com/watch?v=SrlYkx41wEE" TargetMode="External"/><Relationship Id="rId2" Type="http://schemas.openxmlformats.org/officeDocument/2006/relationships/hyperlink" Target="https://www.youtube.com/watch?v=zAs40EbTPnw" TargetMode="Externa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6.jpeg"/><Relationship Id="rId1" Type="http://schemas.openxmlformats.org/officeDocument/2006/relationships/slideLayout" Target="../slideLayouts/slideLayout2.xml"/><Relationship Id="rId4" Type="http://schemas.openxmlformats.org/officeDocument/2006/relationships/image" Target="../media/image18.jpeg"/></Relationships>
</file>

<file path=ppt/slides/_rels/slide3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hyperlink" Target="http://apppm.man.dtu.dk/index.php/File:5Ms.png" TargetMode="Externa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hyperlink" Target="http://apppm.man.dtu.dk/index.php/Fishbone_diagram" TargetMode="Externa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hyperlink" Target="https://www.youtube.com/watch?v=rLOLdTjdnsY" TargetMode="Externa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hyperlink" Target="https://www.youtube.com/watch?v=_YhEpBvlO2M" TargetMode="External"/><Relationship Id="rId2" Type="http://schemas.openxmlformats.org/officeDocument/2006/relationships/image" Target="../media/image25.jpe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26.gif"/><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34.jpe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hyperlink" Target="https://www.youtube.com/watch?v=-E-jfcoR2W0" TargetMode="Externa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3" Type="http://schemas.openxmlformats.org/officeDocument/2006/relationships/hyperlink" Target="http://en.wikipedia.org/wiki/Karaoke" TargetMode="External"/><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Risk Identification Process</a:t>
            </a:r>
            <a:endParaRPr lang="en-US" dirty="0"/>
          </a:p>
        </p:txBody>
      </p:sp>
      <p:sp>
        <p:nvSpPr>
          <p:cNvPr id="3" name="Subtitle 2"/>
          <p:cNvSpPr>
            <a:spLocks noGrp="1"/>
          </p:cNvSpPr>
          <p:nvPr>
            <p:ph type="subTitle" idx="1"/>
          </p:nvPr>
        </p:nvSpPr>
        <p:spPr/>
        <p:txBody>
          <a:bodyPr/>
          <a:lstStyle/>
          <a:p>
            <a:r>
              <a:rPr lang="en-US" dirty="0" smtClean="0"/>
              <a:t>Prepared by </a:t>
            </a:r>
            <a:r>
              <a:rPr lang="en-US" dirty="0" err="1" smtClean="0"/>
              <a:t>Dr.M.MutasimBillah</a:t>
            </a: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fontAlgn="base"/>
            <a:r>
              <a:rPr lang="en-US" dirty="0" smtClean="0"/>
              <a:t>Gary David Cohn once said, </a:t>
            </a:r>
            <a:r>
              <a:rPr lang="en-US" sz="1400" dirty="0" smtClean="0">
                <a:solidFill>
                  <a:srgbClr val="FF0000"/>
                </a:solidFill>
              </a:rPr>
              <a:t>chief economic advisor to the US president</a:t>
            </a:r>
          </a:p>
          <a:p>
            <a:pPr fontAlgn="base"/>
            <a:endParaRPr lang="en-US" dirty="0" smtClean="0"/>
          </a:p>
          <a:p>
            <a:pPr fontAlgn="base"/>
            <a:r>
              <a:rPr lang="en-US" sz="3600" b="1" i="1" dirty="0" smtClean="0"/>
              <a:t>“If you don’t invest in risk management, it doesn’t matter what business you’re in, it’s a risky business.”</a:t>
            </a:r>
          </a:p>
          <a:p>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1" algn="ctr" rtl="0">
              <a:spcBef>
                <a:spcPct val="0"/>
              </a:spcBef>
            </a:pPr>
            <a:r>
              <a:rPr lang="en-US" sz="3200" b="1" dirty="0"/>
              <a:t>identify Risks</a:t>
            </a:r>
            <a:r>
              <a:rPr lang="en-US" b="1" dirty="0"/>
              <a:t/>
            </a:r>
            <a:br>
              <a:rPr lang="en-US" b="1" dirty="0"/>
            </a:br>
            <a:endParaRPr lang="en-US" dirty="0"/>
          </a:p>
        </p:txBody>
      </p:sp>
      <p:sp>
        <p:nvSpPr>
          <p:cNvPr id="3" name="Content Placeholder 2"/>
          <p:cNvSpPr>
            <a:spLocks noGrp="1"/>
          </p:cNvSpPr>
          <p:nvPr>
            <p:ph idx="1"/>
          </p:nvPr>
        </p:nvSpPr>
        <p:spPr>
          <a:xfrm>
            <a:off x="457200" y="1066800"/>
            <a:ext cx="8229600" cy="4525963"/>
          </a:xfrm>
        </p:spPr>
        <p:txBody>
          <a:bodyPr>
            <a:normAutofit fontScale="77500" lnSpcReduction="20000"/>
          </a:bodyPr>
          <a:lstStyle/>
          <a:p>
            <a:r>
              <a:rPr lang="en-US" dirty="0"/>
              <a:t>This is the process of determining risks that may affect the project and assessing the impact of the risk should it occur. This information is documented in the risk register, a list of all of the identified risks, their root causes, categories and responses. Because the assessment of risk is an ongoing activity, the risk register will be updated continuously throughout the life of the project</a:t>
            </a:r>
            <a:r>
              <a:rPr lang="en-US" dirty="0" smtClean="0"/>
              <a:t>.</a:t>
            </a:r>
          </a:p>
          <a:p>
            <a:endParaRPr lang="en-US" dirty="0" smtClean="0"/>
          </a:p>
          <a:p>
            <a:r>
              <a:rPr lang="en-US" dirty="0"/>
              <a:t>All project team members should be encouraged to identify risks and this is an iterative process because new risks may become known as the project progresses. The process should involve the project team so they can develop and maintain a sense of ownership and responsibility for the risks and associated risk response actions.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3562"/>
          </a:xfrm>
        </p:spPr>
        <p:txBody>
          <a:bodyPr>
            <a:normAutofit fontScale="90000"/>
          </a:bodyPr>
          <a:lstStyle/>
          <a:p>
            <a:r>
              <a:rPr lang="en-US" dirty="0" smtClean="0"/>
              <a:t>Risk Identification Process</a:t>
            </a:r>
            <a:endParaRPr lang="en-US" dirty="0"/>
          </a:p>
        </p:txBody>
      </p:sp>
      <p:sp>
        <p:nvSpPr>
          <p:cNvPr id="3" name="Content Placeholder 2"/>
          <p:cNvSpPr>
            <a:spLocks noGrp="1"/>
          </p:cNvSpPr>
          <p:nvPr>
            <p:ph idx="1"/>
          </p:nvPr>
        </p:nvSpPr>
        <p:spPr>
          <a:xfrm>
            <a:off x="457200" y="1066800"/>
            <a:ext cx="8229600" cy="4525963"/>
          </a:xfrm>
        </p:spPr>
        <p:txBody>
          <a:bodyPr/>
          <a:lstStyle/>
          <a:p>
            <a:r>
              <a:rPr lang="en-US" dirty="0"/>
              <a:t>The inputs, tools and techniques, and outputs of this process are summarized in the table below.</a:t>
            </a:r>
          </a:p>
          <a:p>
            <a:endParaRPr lang="en-US" dirty="0"/>
          </a:p>
        </p:txBody>
      </p:sp>
      <p:pic>
        <p:nvPicPr>
          <p:cNvPr id="1026" name="Picture 2"/>
          <p:cNvPicPr>
            <a:picLocks noChangeAspect="1" noChangeArrowheads="1"/>
          </p:cNvPicPr>
          <p:nvPr/>
        </p:nvPicPr>
        <p:blipFill>
          <a:blip r:embed="rId2"/>
          <a:srcRect/>
          <a:stretch>
            <a:fillRect/>
          </a:stretch>
        </p:blipFill>
        <p:spPr bwMode="auto">
          <a:xfrm>
            <a:off x="1447800" y="2590800"/>
            <a:ext cx="6715125" cy="4105275"/>
          </a:xfrm>
          <a:prstGeom prst="rect">
            <a:avLst/>
          </a:prstGeom>
          <a:noFill/>
          <a:ln w="9525">
            <a:noFill/>
            <a:miter lim="800000"/>
            <a:headEnd/>
            <a:tailEnd/>
          </a:ln>
          <a:effec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11162"/>
          </a:xfrm>
        </p:spPr>
        <p:txBody>
          <a:bodyPr>
            <a:normAutofit fontScale="90000"/>
          </a:bodyPr>
          <a:lstStyle/>
          <a:p>
            <a:endParaRPr lang="en-US" dirty="0"/>
          </a:p>
        </p:txBody>
      </p:sp>
      <p:sp>
        <p:nvSpPr>
          <p:cNvPr id="3" name="Content Placeholder 2"/>
          <p:cNvSpPr>
            <a:spLocks noGrp="1"/>
          </p:cNvSpPr>
          <p:nvPr>
            <p:ph idx="1"/>
          </p:nvPr>
        </p:nvSpPr>
        <p:spPr>
          <a:xfrm>
            <a:off x="457200" y="762000"/>
            <a:ext cx="8229600" cy="4525963"/>
          </a:xfrm>
        </p:spPr>
        <p:txBody>
          <a:bodyPr/>
          <a:lstStyle/>
          <a:p>
            <a:pPr marL="342900" lvl="2" indent="-342900"/>
            <a:r>
              <a:rPr lang="en-US" b="1" dirty="0" smtClean="0"/>
              <a:t>Identify Risks: Inputs</a:t>
            </a:r>
          </a:p>
          <a:p>
            <a:pPr>
              <a:buNone/>
            </a:pPr>
            <a:r>
              <a:rPr lang="en-US" dirty="0" smtClean="0"/>
              <a:t>This process </a:t>
            </a:r>
            <a:r>
              <a:rPr lang="en-US" dirty="0"/>
              <a:t>requires the following inputs:</a:t>
            </a:r>
          </a:p>
          <a:p>
            <a:endParaRPr lang="en-US" dirty="0"/>
          </a:p>
        </p:txBody>
      </p:sp>
      <p:pic>
        <p:nvPicPr>
          <p:cNvPr id="2050" name="Picture 2"/>
          <p:cNvPicPr>
            <a:picLocks noChangeAspect="1" noChangeArrowheads="1"/>
          </p:cNvPicPr>
          <p:nvPr/>
        </p:nvPicPr>
        <p:blipFill>
          <a:blip r:embed="rId2"/>
          <a:srcRect/>
          <a:stretch>
            <a:fillRect/>
          </a:stretch>
        </p:blipFill>
        <p:spPr bwMode="auto">
          <a:xfrm>
            <a:off x="2667000" y="1752600"/>
            <a:ext cx="4257675" cy="4800600"/>
          </a:xfrm>
          <a:prstGeom prst="rect">
            <a:avLst/>
          </a:prstGeom>
          <a:noFill/>
          <a:ln w="9525">
            <a:noFill/>
            <a:miter lim="800000"/>
            <a:headEnd/>
            <a:tailEnd/>
          </a:ln>
          <a:effec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3" algn="ctr" rtl="0">
              <a:spcBef>
                <a:spcPct val="0"/>
              </a:spcBef>
            </a:pPr>
            <a:r>
              <a:rPr lang="en-US" sz="3200" b="1" dirty="0" smtClean="0"/>
              <a:t>Risk Management Plan</a:t>
            </a:r>
            <a:r>
              <a:rPr lang="en-US" dirty="0" smtClean="0"/>
              <a:t/>
            </a:r>
            <a:br>
              <a:rPr lang="en-US" dirty="0" smtClean="0"/>
            </a:br>
            <a:endParaRPr lang="en-US" dirty="0"/>
          </a:p>
        </p:txBody>
      </p:sp>
      <p:sp>
        <p:nvSpPr>
          <p:cNvPr id="3" name="Content Placeholder 2"/>
          <p:cNvSpPr>
            <a:spLocks noGrp="1"/>
          </p:cNvSpPr>
          <p:nvPr>
            <p:ph idx="1"/>
          </p:nvPr>
        </p:nvSpPr>
        <p:spPr/>
        <p:txBody>
          <a:bodyPr/>
          <a:lstStyle/>
          <a:p>
            <a:pPr algn="just"/>
            <a:r>
              <a:rPr lang="en-US" dirty="0" smtClean="0"/>
              <a:t>This </a:t>
            </a:r>
            <a:r>
              <a:rPr lang="en-US" dirty="0"/>
              <a:t>is the sole output from the previous process. It defines the </a:t>
            </a:r>
            <a:r>
              <a:rPr lang="en-US" dirty="0">
                <a:solidFill>
                  <a:srgbClr val="FF0000"/>
                </a:solidFill>
              </a:rPr>
              <a:t>level of risk that is </a:t>
            </a:r>
            <a:r>
              <a:rPr lang="en-US" dirty="0" smtClean="0">
                <a:solidFill>
                  <a:srgbClr val="FF0000"/>
                </a:solidFill>
              </a:rPr>
              <a:t>considered </a:t>
            </a:r>
            <a:r>
              <a:rPr lang="en-US" dirty="0">
                <a:solidFill>
                  <a:srgbClr val="FF0000"/>
                </a:solidFill>
              </a:rPr>
              <a:t>tolerable</a:t>
            </a:r>
            <a:r>
              <a:rPr lang="en-US" dirty="0"/>
              <a:t> for the project, how all this </a:t>
            </a:r>
            <a:r>
              <a:rPr lang="en-US" dirty="0">
                <a:solidFill>
                  <a:srgbClr val="FF0000"/>
                </a:solidFill>
              </a:rPr>
              <a:t>will be managed</a:t>
            </a:r>
            <a:r>
              <a:rPr lang="en-US" dirty="0"/>
              <a:t>, who will </a:t>
            </a:r>
            <a:r>
              <a:rPr lang="en-US" dirty="0">
                <a:solidFill>
                  <a:srgbClr val="FF0000"/>
                </a:solidFill>
              </a:rPr>
              <a:t>be responsible </a:t>
            </a:r>
            <a:r>
              <a:rPr lang="en-US" dirty="0"/>
              <a:t>for them, what </a:t>
            </a:r>
            <a:r>
              <a:rPr lang="en-US" dirty="0">
                <a:solidFill>
                  <a:srgbClr val="FF0000"/>
                </a:solidFill>
              </a:rPr>
              <a:t>time and cost is needed </a:t>
            </a:r>
            <a:r>
              <a:rPr lang="en-US" dirty="0"/>
              <a:t>for each, and how </a:t>
            </a:r>
            <a:r>
              <a:rPr lang="en-US" dirty="0">
                <a:solidFill>
                  <a:srgbClr val="FF0000"/>
                </a:solidFill>
              </a:rPr>
              <a:t>risk will be communicated</a:t>
            </a:r>
            <a:r>
              <a:rPr lang="en-US" dirty="0"/>
              <a:t>.</a:t>
            </a:r>
          </a:p>
          <a:p>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33400"/>
            <a:ext cx="8229600" cy="1143000"/>
          </a:xfrm>
        </p:spPr>
        <p:txBody>
          <a:bodyPr>
            <a:normAutofit fontScale="90000"/>
          </a:bodyPr>
          <a:lstStyle/>
          <a:p>
            <a:r>
              <a:rPr lang="en-US" b="1" dirty="0" smtClean="0"/>
              <a:t>Cost, Schedule and Quality Management Plans</a:t>
            </a:r>
            <a:br>
              <a:rPr lang="en-US" b="1" dirty="0" smtClean="0"/>
            </a:br>
            <a:endParaRPr lang="en-US" dirty="0"/>
          </a:p>
        </p:txBody>
      </p:sp>
      <p:sp>
        <p:nvSpPr>
          <p:cNvPr id="3" name="Content Placeholder 2"/>
          <p:cNvSpPr>
            <a:spLocks noGrp="1"/>
          </p:cNvSpPr>
          <p:nvPr>
            <p:ph idx="1"/>
          </p:nvPr>
        </p:nvSpPr>
        <p:spPr>
          <a:xfrm>
            <a:off x="457200" y="1600201"/>
            <a:ext cx="8229600" cy="2209800"/>
          </a:xfrm>
        </p:spPr>
        <p:txBody>
          <a:bodyPr/>
          <a:lstStyle/>
          <a:p>
            <a:r>
              <a:rPr lang="en-US" dirty="0" smtClean="0"/>
              <a:t>These </a:t>
            </a:r>
            <a:r>
              <a:rPr lang="en-US" dirty="0"/>
              <a:t>plans describe how cost, schedule and quality are to be managed and implemented, and as such, the information contained within them will have a bearing on project risk.</a:t>
            </a:r>
          </a:p>
          <a:p>
            <a:endParaRPr lang="en-US" dirty="0"/>
          </a:p>
        </p:txBody>
      </p:sp>
      <p:sp>
        <p:nvSpPr>
          <p:cNvPr id="4" name="TextBox 3"/>
          <p:cNvSpPr txBox="1"/>
          <p:nvPr/>
        </p:nvSpPr>
        <p:spPr>
          <a:xfrm>
            <a:off x="685800" y="3810000"/>
            <a:ext cx="2635273" cy="369332"/>
          </a:xfrm>
          <a:prstGeom prst="rect">
            <a:avLst/>
          </a:prstGeom>
          <a:noFill/>
        </p:spPr>
        <p:txBody>
          <a:bodyPr wrap="none" rtlCol="0">
            <a:spAutoFit/>
          </a:bodyPr>
          <a:lstStyle/>
          <a:p>
            <a:r>
              <a:rPr lang="en-US" dirty="0" smtClean="0"/>
              <a:t>Also Know as Iron Triangle</a:t>
            </a:r>
            <a:endParaRPr lang="en-US" dirty="0"/>
          </a:p>
        </p:txBody>
      </p:sp>
      <p:pic>
        <p:nvPicPr>
          <p:cNvPr id="22532" name="Picture 4" descr="Image result for iron triangle in project management.pdf"/>
          <p:cNvPicPr>
            <a:picLocks noChangeAspect="1" noChangeArrowheads="1"/>
          </p:cNvPicPr>
          <p:nvPr/>
        </p:nvPicPr>
        <p:blipFill>
          <a:blip r:embed="rId2"/>
          <a:srcRect/>
          <a:stretch>
            <a:fillRect/>
          </a:stretch>
        </p:blipFill>
        <p:spPr bwMode="auto">
          <a:xfrm>
            <a:off x="5334000" y="3962400"/>
            <a:ext cx="3200400" cy="2671638"/>
          </a:xfrm>
          <a:prstGeom prst="rect">
            <a:avLst/>
          </a:prstGeom>
          <a:noFill/>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3" algn="ctr" rtl="0">
              <a:spcBef>
                <a:spcPct val="0"/>
              </a:spcBef>
            </a:pPr>
            <a:r>
              <a:rPr lang="en-US" sz="2800" b="1" dirty="0" smtClean="0"/>
              <a:t>Human Resource (HR) Management Plan</a:t>
            </a:r>
            <a:r>
              <a:rPr lang="en-US" dirty="0" smtClean="0"/>
              <a:t/>
            </a:r>
            <a:br>
              <a:rPr lang="en-US" dirty="0" smtClean="0"/>
            </a:br>
            <a:endParaRPr lang="en-US" dirty="0"/>
          </a:p>
        </p:txBody>
      </p:sp>
      <p:sp>
        <p:nvSpPr>
          <p:cNvPr id="3" name="Content Placeholder 2"/>
          <p:cNvSpPr>
            <a:spLocks noGrp="1"/>
          </p:cNvSpPr>
          <p:nvPr>
            <p:ph idx="1"/>
          </p:nvPr>
        </p:nvSpPr>
        <p:spPr>
          <a:xfrm>
            <a:off x="457200" y="1600201"/>
            <a:ext cx="8229600" cy="3733800"/>
          </a:xfrm>
        </p:spPr>
        <p:txBody>
          <a:bodyPr>
            <a:normAutofit/>
          </a:bodyPr>
          <a:lstStyle/>
          <a:p>
            <a:pPr algn="just"/>
            <a:r>
              <a:rPr lang="en-US" dirty="0" smtClean="0"/>
              <a:t>This </a:t>
            </a:r>
            <a:r>
              <a:rPr lang="en-US" dirty="0"/>
              <a:t>plan provides guidance on how project human resources should be defined, </a:t>
            </a:r>
            <a:r>
              <a:rPr lang="en-US" dirty="0" smtClean="0"/>
              <a:t>staffed, managed</a:t>
            </a:r>
            <a:r>
              <a:rPr lang="en-US" dirty="0"/>
              <a:t>, and eventually released. It can also contain roles and responsibilities, </a:t>
            </a:r>
            <a:r>
              <a:rPr lang="en-US" dirty="0" smtClean="0"/>
              <a:t>project </a:t>
            </a:r>
            <a:r>
              <a:rPr lang="en-US" dirty="0"/>
              <a:t>organization charts, and the staffing management plan, which form a key input to </a:t>
            </a:r>
            <a:r>
              <a:rPr lang="en-US" dirty="0" smtClean="0"/>
              <a:t>identify </a:t>
            </a:r>
            <a:r>
              <a:rPr lang="en-US" dirty="0"/>
              <a:t>risk process</a:t>
            </a:r>
            <a:r>
              <a:rPr lang="en-US" dirty="0" smtClean="0"/>
              <a:t>.</a:t>
            </a:r>
          </a:p>
          <a:p>
            <a:endParaRPr lang="en-US" dirty="0"/>
          </a:p>
          <a:p>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40962" name="Picture 2"/>
          <p:cNvPicPr>
            <a:picLocks noChangeAspect="1" noChangeArrowheads="1"/>
          </p:cNvPicPr>
          <p:nvPr/>
        </p:nvPicPr>
        <p:blipFill>
          <a:blip r:embed="rId2"/>
          <a:srcRect/>
          <a:stretch>
            <a:fillRect/>
          </a:stretch>
        </p:blipFill>
        <p:spPr bwMode="auto">
          <a:xfrm>
            <a:off x="6772" y="457200"/>
            <a:ext cx="9130451" cy="6095999"/>
          </a:xfrm>
          <a:prstGeom prst="rect">
            <a:avLst/>
          </a:prstGeom>
          <a:noFill/>
          <a:ln w="9525">
            <a:noFill/>
            <a:miter lim="800000"/>
            <a:headEnd/>
            <a:tailEnd/>
          </a:ln>
          <a:effec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57200"/>
            <a:ext cx="8229600" cy="5867400"/>
          </a:xfrm>
        </p:spPr>
        <p:txBody>
          <a:bodyPr>
            <a:normAutofit/>
          </a:bodyPr>
          <a:lstStyle/>
          <a:p>
            <a:r>
              <a:rPr lang="en-US" b="1" dirty="0" smtClean="0"/>
              <a:t>Organizational Planning</a:t>
            </a:r>
            <a:r>
              <a:rPr lang="en-US" dirty="0" smtClean="0"/>
              <a:t>—identifying, documenting, and assigning project roles, responsibilities, and reporting relationships.</a:t>
            </a:r>
          </a:p>
          <a:p>
            <a:r>
              <a:rPr lang="en-US" b="1" dirty="0" smtClean="0"/>
              <a:t>Staff Acquisition</a:t>
            </a:r>
            <a:r>
              <a:rPr lang="en-US" dirty="0" smtClean="0"/>
              <a:t>—getting the human resources needed assigned to and working on the project. </a:t>
            </a:r>
            <a:r>
              <a:rPr lang="en-US" sz="1200" dirty="0" smtClean="0">
                <a:solidFill>
                  <a:srgbClr val="FF0000"/>
                </a:solidFill>
              </a:rPr>
              <a:t>(new induction)</a:t>
            </a:r>
          </a:p>
          <a:p>
            <a:r>
              <a:rPr lang="en-US" b="1" dirty="0" smtClean="0"/>
              <a:t>Team Development</a:t>
            </a:r>
            <a:r>
              <a:rPr lang="en-US" dirty="0" smtClean="0"/>
              <a:t>—developing individual and group skills to enhance project performance. </a:t>
            </a:r>
            <a:r>
              <a:rPr lang="en-US" sz="1200" dirty="0" smtClean="0">
                <a:solidFill>
                  <a:srgbClr val="FF0000"/>
                </a:solidFill>
              </a:rPr>
              <a:t>(training)</a:t>
            </a:r>
          </a:p>
          <a:p>
            <a:endParaRPr lang="en-US" dirty="0" smtClean="0"/>
          </a:p>
          <a:p>
            <a:r>
              <a:rPr lang="en-US" dirty="0" smtClean="0"/>
              <a:t>Details are written in chap 9 of </a:t>
            </a:r>
            <a:r>
              <a:rPr lang="en-US" dirty="0" err="1" smtClean="0"/>
              <a:t>Pmbok</a:t>
            </a:r>
            <a:r>
              <a:rPr lang="en-US" dirty="0" smtClean="0"/>
              <a:t>.</a:t>
            </a:r>
          </a:p>
        </p:txBody>
      </p:sp>
      <p:sp>
        <p:nvSpPr>
          <p:cNvPr id="4" name="TextBox 3"/>
          <p:cNvSpPr txBox="1"/>
          <p:nvPr/>
        </p:nvSpPr>
        <p:spPr>
          <a:xfrm>
            <a:off x="5202280" y="6488668"/>
            <a:ext cx="3941720" cy="369332"/>
          </a:xfrm>
          <a:prstGeom prst="rect">
            <a:avLst/>
          </a:prstGeom>
          <a:noFill/>
        </p:spPr>
        <p:txBody>
          <a:bodyPr wrap="none" rtlCol="0">
            <a:spAutoFit/>
          </a:bodyPr>
          <a:lstStyle/>
          <a:p>
            <a:r>
              <a:rPr lang="en-US" dirty="0" smtClean="0"/>
              <a:t>Ref: (from PMBOK® Guide, Fifth Edition)</a:t>
            </a:r>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152400"/>
            <a:ext cx="8229600" cy="2438400"/>
          </a:xfrm>
        </p:spPr>
        <p:txBody>
          <a:bodyPr>
            <a:normAutofit fontScale="77500" lnSpcReduction="20000"/>
          </a:bodyPr>
          <a:lstStyle/>
          <a:p>
            <a:pPr marL="342900" lvl="3" indent="-342900">
              <a:buFont typeface="Arial" pitchFamily="34" charset="0"/>
              <a:buChar char="•"/>
            </a:pPr>
            <a:r>
              <a:rPr lang="en-US" sz="3300" b="1" dirty="0"/>
              <a:t>Scope </a:t>
            </a:r>
            <a:r>
              <a:rPr lang="en-US" sz="3300" b="1" dirty="0" smtClean="0"/>
              <a:t>Baseline</a:t>
            </a:r>
            <a:endParaRPr lang="en-US" sz="3300" dirty="0" smtClean="0"/>
          </a:p>
          <a:p>
            <a:pPr algn="just"/>
            <a:r>
              <a:rPr lang="en-US" dirty="0" smtClean="0"/>
              <a:t>The scope baseline is the approved version of a scope statement, WBS, and its associated WBS dictionary, which can be changed only through formal change control procedures and is used as a basis for comparison. It is a component of the project management plan.</a:t>
            </a:r>
            <a:endParaRPr lang="en-US" b="1" dirty="0" smtClean="0"/>
          </a:p>
          <a:p>
            <a:endParaRPr lang="en-US" b="1" dirty="0" smtClean="0"/>
          </a:p>
        </p:txBody>
      </p:sp>
      <p:pic>
        <p:nvPicPr>
          <p:cNvPr id="20483" name="Picture 3"/>
          <p:cNvPicPr>
            <a:picLocks noChangeAspect="1" noChangeArrowheads="1"/>
          </p:cNvPicPr>
          <p:nvPr/>
        </p:nvPicPr>
        <p:blipFill>
          <a:blip r:embed="rId2"/>
          <a:srcRect/>
          <a:stretch>
            <a:fillRect/>
          </a:stretch>
        </p:blipFill>
        <p:spPr bwMode="auto">
          <a:xfrm>
            <a:off x="304800" y="2286000"/>
            <a:ext cx="8552902" cy="4071214"/>
          </a:xfrm>
          <a:prstGeom prst="rect">
            <a:avLst/>
          </a:prstGeom>
          <a:noFill/>
          <a:ln w="9525">
            <a:noFill/>
            <a:miter lim="800000"/>
            <a:headEnd/>
            <a:tailEnd/>
          </a:ln>
          <a:effec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457200" y="1600200"/>
            <a:ext cx="8382000" cy="4525963"/>
          </a:xfrm>
        </p:spPr>
        <p:txBody>
          <a:bodyPr>
            <a:normAutofit/>
          </a:bodyPr>
          <a:lstStyle/>
          <a:p>
            <a:r>
              <a:rPr lang="en-US" b="1" dirty="0" smtClean="0"/>
              <a:t>Activity Cost Estimates</a:t>
            </a:r>
          </a:p>
          <a:p>
            <a:r>
              <a:rPr lang="en-US" dirty="0" smtClean="0"/>
              <a:t>These are useful in identifying risk as they provide a quantitative assessment of the likely cost to complete scheduled activities. Reviewing these may indicate that the estimate is insufficient to complete the activity and hence poses a risk to the project.</a:t>
            </a:r>
          </a:p>
          <a:p>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33400"/>
            <a:ext cx="8229600" cy="5592763"/>
          </a:xfrm>
        </p:spPr>
        <p:txBody>
          <a:bodyPr>
            <a:normAutofit fontScale="77500" lnSpcReduction="20000"/>
          </a:bodyPr>
          <a:lstStyle/>
          <a:p>
            <a:pPr marL="342900" lvl="3" indent="-342900">
              <a:buFont typeface="Arial" pitchFamily="34" charset="0"/>
              <a:buChar char="•"/>
            </a:pPr>
            <a:r>
              <a:rPr lang="en-US" sz="2800" b="1" dirty="0" smtClean="0"/>
              <a:t>Activity Duration Estimates</a:t>
            </a:r>
            <a:endParaRPr lang="en-US" sz="2800" dirty="0" smtClean="0"/>
          </a:p>
          <a:p>
            <a:r>
              <a:rPr lang="en-US" dirty="0" smtClean="0"/>
              <a:t>These </a:t>
            </a:r>
            <a:r>
              <a:rPr lang="en-US" dirty="0"/>
              <a:t>provide a quantitative assessment of the likely time to complete scheduled </a:t>
            </a:r>
            <a:r>
              <a:rPr lang="en-US" dirty="0" smtClean="0"/>
              <a:t>activities</a:t>
            </a:r>
            <a:r>
              <a:rPr lang="en-US" dirty="0"/>
              <a:t>. Reviewing these may indicate that the estimate is insufficient to complete the </a:t>
            </a:r>
            <a:r>
              <a:rPr lang="en-US" dirty="0" smtClean="0"/>
              <a:t>activity </a:t>
            </a:r>
            <a:r>
              <a:rPr lang="en-US" dirty="0"/>
              <a:t>and hence poses a risk to the project</a:t>
            </a:r>
            <a:r>
              <a:rPr lang="en-US" dirty="0" smtClean="0"/>
              <a:t>. </a:t>
            </a:r>
          </a:p>
          <a:p>
            <a:r>
              <a:rPr lang="en-US" dirty="0" smtClean="0"/>
              <a:t>Example </a:t>
            </a:r>
          </a:p>
          <a:p>
            <a:r>
              <a:rPr lang="en-US" dirty="0" smtClean="0"/>
              <a:t>Gantt Chart</a:t>
            </a:r>
          </a:p>
          <a:p>
            <a:r>
              <a:rPr lang="en-US" dirty="0" smtClean="0"/>
              <a:t>CPM</a:t>
            </a:r>
          </a:p>
          <a:p>
            <a:r>
              <a:rPr lang="en-US" dirty="0" smtClean="0"/>
              <a:t>Pert</a:t>
            </a:r>
          </a:p>
          <a:p>
            <a:r>
              <a:rPr lang="en-US" dirty="0" smtClean="0"/>
              <a:t>Crashing time.</a:t>
            </a:r>
            <a:endParaRPr lang="en-US" dirty="0"/>
          </a:p>
          <a:p>
            <a:pPr marL="342900" lvl="3" indent="-342900">
              <a:buFont typeface="Arial" pitchFamily="34" charset="0"/>
              <a:buChar char="•"/>
            </a:pPr>
            <a:endParaRPr lang="en-US" dirty="0" smtClean="0"/>
          </a:p>
          <a:p>
            <a:pPr marL="342900" lvl="3" indent="-342900">
              <a:buFont typeface="Arial" pitchFamily="34" charset="0"/>
              <a:buChar char="•"/>
            </a:pPr>
            <a:r>
              <a:rPr lang="en-US" dirty="0"/>
              <a:t> </a:t>
            </a:r>
            <a:r>
              <a:rPr lang="en-US" sz="2800" b="1" dirty="0" smtClean="0"/>
              <a:t>Stakeholder Register</a:t>
            </a:r>
            <a:endParaRPr lang="en-US" sz="2800" dirty="0"/>
          </a:p>
          <a:p>
            <a:r>
              <a:rPr lang="en-US" dirty="0" smtClean="0"/>
              <a:t>This </a:t>
            </a:r>
            <a:r>
              <a:rPr lang="en-US" dirty="0"/>
              <a:t>lists all of the project stakeholders as well as describing and classifying them. This information will be useful in soliciting inputs for identifying risk, as it will ensure that key stakeholders participate in the </a:t>
            </a:r>
            <a:r>
              <a:rPr lang="en-US" dirty="0" smtClean="0"/>
              <a:t>process.</a:t>
            </a:r>
            <a:endParaRPr lang="en-US" dirty="0"/>
          </a:p>
          <a:p>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1143000"/>
          </a:xfrm>
        </p:spPr>
        <p:txBody>
          <a:bodyPr>
            <a:normAutofit fontScale="90000"/>
          </a:bodyPr>
          <a:lstStyle/>
          <a:p>
            <a:r>
              <a:rPr lang="en-US" dirty="0" smtClean="0"/>
              <a:t>Delta’s Ground Crew Orchestrates a Smooth Takeoff (case Study)</a:t>
            </a:r>
            <a:endParaRPr lang="en-US" dirty="0"/>
          </a:p>
        </p:txBody>
      </p:sp>
      <p:sp>
        <p:nvSpPr>
          <p:cNvPr id="3" name="Content Placeholder 2"/>
          <p:cNvSpPr>
            <a:spLocks noGrp="1"/>
          </p:cNvSpPr>
          <p:nvPr>
            <p:ph idx="1"/>
          </p:nvPr>
        </p:nvSpPr>
        <p:spPr/>
        <p:txBody>
          <a:bodyPr/>
          <a:lstStyle/>
          <a:p>
            <a:endParaRPr lang="en-US"/>
          </a:p>
        </p:txBody>
      </p:sp>
      <p:pic>
        <p:nvPicPr>
          <p:cNvPr id="3074" name="Picture 2"/>
          <p:cNvPicPr>
            <a:picLocks noChangeAspect="1" noChangeArrowheads="1"/>
          </p:cNvPicPr>
          <p:nvPr/>
        </p:nvPicPr>
        <p:blipFill>
          <a:blip r:embed="rId2"/>
          <a:srcRect/>
          <a:stretch>
            <a:fillRect/>
          </a:stretch>
        </p:blipFill>
        <p:spPr bwMode="auto">
          <a:xfrm>
            <a:off x="0" y="1676400"/>
            <a:ext cx="9078143" cy="4972050"/>
          </a:xfrm>
          <a:prstGeom prst="rect">
            <a:avLst/>
          </a:prstGeom>
          <a:noFill/>
          <a:ln w="9525">
            <a:noFill/>
            <a:miter lim="800000"/>
            <a:headEnd/>
            <a:tailEnd/>
          </a:ln>
          <a:effec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3" name="Rectangle 37"/>
          <p:cNvSpPr>
            <a:spLocks noGrp="1" noChangeArrowheads="1"/>
          </p:cNvSpPr>
          <p:nvPr>
            <p:ph type="title"/>
          </p:nvPr>
        </p:nvSpPr>
        <p:spPr>
          <a:xfrm>
            <a:off x="419100" y="468313"/>
            <a:ext cx="8305800" cy="850900"/>
          </a:xfrm>
        </p:spPr>
        <p:txBody>
          <a:bodyPr/>
          <a:lstStyle/>
          <a:p>
            <a:pPr>
              <a:lnSpc>
                <a:spcPct val="80000"/>
              </a:lnSpc>
            </a:pPr>
            <a:r>
              <a:rPr lang="en-US" smtClean="0">
                <a:latin typeface="Arial" pitchFamily="34" charset="0"/>
                <a:cs typeface="Arial" pitchFamily="34" charset="0"/>
              </a:rPr>
              <a:t>Service For a Delta Jet</a:t>
            </a:r>
            <a:endParaRPr lang="en-US" sz="3200" smtClean="0">
              <a:solidFill>
                <a:srgbClr val="33CC33"/>
              </a:solidFill>
              <a:latin typeface="Arial" pitchFamily="34" charset="0"/>
              <a:cs typeface="Arial" pitchFamily="34" charset="0"/>
            </a:endParaRPr>
          </a:p>
        </p:txBody>
      </p:sp>
      <p:sp>
        <p:nvSpPr>
          <p:cNvPr id="81977" name="Text Box 57"/>
          <p:cNvSpPr txBox="1">
            <a:spLocks noChangeArrowheads="1"/>
          </p:cNvSpPr>
          <p:nvPr/>
        </p:nvSpPr>
        <p:spPr bwMode="auto">
          <a:xfrm>
            <a:off x="623888" y="6113463"/>
            <a:ext cx="1144587" cy="336550"/>
          </a:xfrm>
          <a:prstGeom prst="rect">
            <a:avLst/>
          </a:prstGeom>
          <a:noFill/>
          <a:ln w="9525">
            <a:noFill/>
            <a:miter lim="800000"/>
            <a:headEnd/>
            <a:tailEnd/>
          </a:ln>
        </p:spPr>
        <p:txBody>
          <a:bodyPr wrap="none">
            <a:spAutoFit/>
          </a:bodyPr>
          <a:lstStyle/>
          <a:p>
            <a:r>
              <a:rPr lang="en-AU" sz="1600" b="1">
                <a:ea typeface="MS PGothic" pitchFamily="34" charset="-128"/>
              </a:rPr>
              <a:t>Figure </a:t>
            </a:r>
            <a:r>
              <a:rPr lang="en-AU" sz="1600" b="1">
                <a:solidFill>
                  <a:srgbClr val="255898"/>
                </a:solidFill>
                <a:ea typeface="MS PGothic" pitchFamily="34" charset="-128"/>
              </a:rPr>
              <a:t>3.4</a:t>
            </a:r>
          </a:p>
        </p:txBody>
      </p:sp>
      <p:grpSp>
        <p:nvGrpSpPr>
          <p:cNvPr id="2" name="Group 1"/>
          <p:cNvGrpSpPr>
            <a:grpSpLocks/>
          </p:cNvGrpSpPr>
          <p:nvPr/>
        </p:nvGrpSpPr>
        <p:grpSpPr bwMode="auto">
          <a:xfrm>
            <a:off x="469900" y="1409700"/>
            <a:ext cx="8397875" cy="4854575"/>
            <a:chOff x="469900" y="1409700"/>
            <a:chExt cx="8397876" cy="4854575"/>
          </a:xfrm>
        </p:grpSpPr>
        <p:sp>
          <p:nvSpPr>
            <p:cNvPr id="79876" name="Rectangle 4"/>
            <p:cNvSpPr>
              <a:spLocks noChangeArrowheads="1"/>
            </p:cNvSpPr>
            <p:nvPr/>
          </p:nvSpPr>
          <p:spPr bwMode="auto">
            <a:xfrm>
              <a:off x="482600" y="1435100"/>
              <a:ext cx="8191500" cy="4267200"/>
            </a:xfrm>
            <a:prstGeom prst="rect">
              <a:avLst/>
            </a:prstGeom>
            <a:solidFill>
              <a:srgbClr val="C1DBBD"/>
            </a:solidFill>
            <a:ln w="28575">
              <a:solidFill>
                <a:schemeClr val="tx1"/>
              </a:solidFill>
              <a:miter lim="800000"/>
              <a:headEnd/>
              <a:tailEnd/>
            </a:ln>
          </p:spPr>
          <p:txBody>
            <a:bodyPr wrap="none" anchor="ctr"/>
            <a:lstStyle/>
            <a:p>
              <a:endParaRPr lang="en-NZ"/>
            </a:p>
          </p:txBody>
        </p:sp>
        <p:sp>
          <p:nvSpPr>
            <p:cNvPr id="79877" name="Rectangle 5"/>
            <p:cNvSpPr>
              <a:spLocks noChangeArrowheads="1"/>
            </p:cNvSpPr>
            <p:nvPr/>
          </p:nvSpPr>
          <p:spPr bwMode="auto">
            <a:xfrm>
              <a:off x="482600" y="1435100"/>
              <a:ext cx="4013200" cy="4267200"/>
            </a:xfrm>
            <a:prstGeom prst="rect">
              <a:avLst/>
            </a:prstGeom>
            <a:solidFill>
              <a:srgbClr val="FDE8D9"/>
            </a:solidFill>
            <a:ln w="28575">
              <a:solidFill>
                <a:schemeClr val="tx1"/>
              </a:solidFill>
              <a:miter lim="800000"/>
              <a:headEnd/>
              <a:tailEnd/>
            </a:ln>
          </p:spPr>
          <p:txBody>
            <a:bodyPr wrap="none" anchor="ctr"/>
            <a:lstStyle/>
            <a:p>
              <a:endParaRPr lang="en-NZ"/>
            </a:p>
          </p:txBody>
        </p:sp>
        <p:sp>
          <p:nvSpPr>
            <p:cNvPr id="36872" name="Rectangle 6"/>
            <p:cNvSpPr>
              <a:spLocks noChangeArrowheads="1"/>
            </p:cNvSpPr>
            <p:nvPr/>
          </p:nvSpPr>
          <p:spPr bwMode="auto">
            <a:xfrm>
              <a:off x="495300" y="1930400"/>
              <a:ext cx="3987800" cy="247650"/>
            </a:xfrm>
            <a:prstGeom prst="rect">
              <a:avLst/>
            </a:prstGeom>
            <a:solidFill>
              <a:schemeClr val="accent3">
                <a:lumMod val="75000"/>
              </a:schemeClr>
            </a:solidFill>
            <a:ln>
              <a:noFill/>
            </a:ln>
            <a:effectLst/>
            <a:extLst/>
          </p:spPr>
          <p:txBody>
            <a:bodyPr wrap="none" anchor="ctr"/>
            <a:lstStyle/>
            <a:p>
              <a:pPr fontAlgn="auto">
                <a:spcBef>
                  <a:spcPts val="0"/>
                </a:spcBef>
                <a:spcAft>
                  <a:spcPts val="0"/>
                </a:spcAft>
                <a:defRPr/>
              </a:pPr>
              <a:endParaRPr lang="en-NZ">
                <a:latin typeface="Arial"/>
                <a:cs typeface="Arial"/>
              </a:endParaRPr>
            </a:p>
          </p:txBody>
        </p:sp>
        <p:sp>
          <p:nvSpPr>
            <p:cNvPr id="36873" name="Rectangle 7"/>
            <p:cNvSpPr>
              <a:spLocks noChangeArrowheads="1"/>
            </p:cNvSpPr>
            <p:nvPr/>
          </p:nvSpPr>
          <p:spPr bwMode="auto">
            <a:xfrm>
              <a:off x="495300" y="2635250"/>
              <a:ext cx="3987800" cy="234950"/>
            </a:xfrm>
            <a:prstGeom prst="rect">
              <a:avLst/>
            </a:prstGeom>
            <a:solidFill>
              <a:schemeClr val="accent3">
                <a:lumMod val="75000"/>
              </a:schemeClr>
            </a:solidFill>
            <a:ln>
              <a:noFill/>
            </a:ln>
            <a:effectLst/>
            <a:extLst/>
          </p:spPr>
          <p:txBody>
            <a:bodyPr wrap="none" anchor="ctr"/>
            <a:lstStyle/>
            <a:p>
              <a:pPr fontAlgn="auto">
                <a:spcBef>
                  <a:spcPts val="0"/>
                </a:spcBef>
                <a:spcAft>
                  <a:spcPts val="0"/>
                </a:spcAft>
                <a:defRPr/>
              </a:pPr>
              <a:endParaRPr lang="en-NZ">
                <a:latin typeface="Arial"/>
                <a:cs typeface="Arial"/>
              </a:endParaRPr>
            </a:p>
          </p:txBody>
        </p:sp>
        <p:sp>
          <p:nvSpPr>
            <p:cNvPr id="36874" name="Rectangle 8"/>
            <p:cNvSpPr>
              <a:spLocks noChangeArrowheads="1"/>
            </p:cNvSpPr>
            <p:nvPr/>
          </p:nvSpPr>
          <p:spPr bwMode="auto">
            <a:xfrm>
              <a:off x="495300" y="3340100"/>
              <a:ext cx="3987800" cy="209550"/>
            </a:xfrm>
            <a:prstGeom prst="rect">
              <a:avLst/>
            </a:prstGeom>
            <a:solidFill>
              <a:schemeClr val="accent3">
                <a:lumMod val="75000"/>
              </a:schemeClr>
            </a:solidFill>
            <a:ln>
              <a:noFill/>
            </a:ln>
            <a:effectLst/>
            <a:extLst/>
          </p:spPr>
          <p:txBody>
            <a:bodyPr wrap="none" anchor="ctr"/>
            <a:lstStyle/>
            <a:p>
              <a:pPr fontAlgn="auto">
                <a:spcBef>
                  <a:spcPts val="0"/>
                </a:spcBef>
                <a:spcAft>
                  <a:spcPts val="0"/>
                </a:spcAft>
                <a:defRPr/>
              </a:pPr>
              <a:endParaRPr lang="en-NZ">
                <a:latin typeface="Arial"/>
                <a:cs typeface="Arial"/>
              </a:endParaRPr>
            </a:p>
          </p:txBody>
        </p:sp>
        <p:sp>
          <p:nvSpPr>
            <p:cNvPr id="36875" name="Rectangle 9"/>
            <p:cNvSpPr>
              <a:spLocks noChangeArrowheads="1"/>
            </p:cNvSpPr>
            <p:nvPr/>
          </p:nvSpPr>
          <p:spPr bwMode="auto">
            <a:xfrm>
              <a:off x="495300" y="3810000"/>
              <a:ext cx="3987800" cy="431800"/>
            </a:xfrm>
            <a:prstGeom prst="rect">
              <a:avLst/>
            </a:prstGeom>
            <a:solidFill>
              <a:schemeClr val="accent3">
                <a:lumMod val="75000"/>
              </a:schemeClr>
            </a:solidFill>
            <a:ln>
              <a:noFill/>
            </a:ln>
            <a:effectLst/>
            <a:extLst/>
          </p:spPr>
          <p:txBody>
            <a:bodyPr wrap="none" anchor="ctr"/>
            <a:lstStyle/>
            <a:p>
              <a:pPr fontAlgn="auto">
                <a:spcBef>
                  <a:spcPts val="0"/>
                </a:spcBef>
                <a:spcAft>
                  <a:spcPts val="0"/>
                </a:spcAft>
                <a:defRPr/>
              </a:pPr>
              <a:endParaRPr lang="en-NZ">
                <a:latin typeface="Arial"/>
                <a:cs typeface="Arial"/>
              </a:endParaRPr>
            </a:p>
          </p:txBody>
        </p:sp>
        <p:sp>
          <p:nvSpPr>
            <p:cNvPr id="36876" name="Rectangle 10"/>
            <p:cNvSpPr>
              <a:spLocks noChangeArrowheads="1"/>
            </p:cNvSpPr>
            <p:nvPr/>
          </p:nvSpPr>
          <p:spPr bwMode="auto">
            <a:xfrm>
              <a:off x="495300" y="4514850"/>
              <a:ext cx="3987800" cy="431800"/>
            </a:xfrm>
            <a:prstGeom prst="rect">
              <a:avLst/>
            </a:prstGeom>
            <a:solidFill>
              <a:schemeClr val="accent3">
                <a:lumMod val="75000"/>
              </a:schemeClr>
            </a:solidFill>
            <a:ln>
              <a:noFill/>
            </a:ln>
            <a:effectLst/>
            <a:extLst/>
          </p:spPr>
          <p:txBody>
            <a:bodyPr wrap="none" anchor="ctr"/>
            <a:lstStyle/>
            <a:p>
              <a:pPr fontAlgn="auto">
                <a:spcBef>
                  <a:spcPts val="0"/>
                </a:spcBef>
                <a:spcAft>
                  <a:spcPts val="0"/>
                </a:spcAft>
                <a:defRPr/>
              </a:pPr>
              <a:endParaRPr lang="en-NZ">
                <a:latin typeface="Arial"/>
                <a:cs typeface="Arial"/>
              </a:endParaRPr>
            </a:p>
          </p:txBody>
        </p:sp>
        <p:sp>
          <p:nvSpPr>
            <p:cNvPr id="36877" name="Rectangle 11"/>
            <p:cNvSpPr>
              <a:spLocks noChangeArrowheads="1"/>
            </p:cNvSpPr>
            <p:nvPr/>
          </p:nvSpPr>
          <p:spPr bwMode="auto">
            <a:xfrm>
              <a:off x="495300" y="5207000"/>
              <a:ext cx="3987800" cy="222250"/>
            </a:xfrm>
            <a:prstGeom prst="rect">
              <a:avLst/>
            </a:prstGeom>
            <a:solidFill>
              <a:schemeClr val="accent3">
                <a:lumMod val="75000"/>
              </a:schemeClr>
            </a:solidFill>
            <a:ln>
              <a:noFill/>
            </a:ln>
            <a:effectLst/>
            <a:extLst/>
          </p:spPr>
          <p:txBody>
            <a:bodyPr wrap="none" anchor="ctr"/>
            <a:lstStyle/>
            <a:p>
              <a:pPr fontAlgn="auto">
                <a:spcBef>
                  <a:spcPts val="0"/>
                </a:spcBef>
                <a:spcAft>
                  <a:spcPts val="0"/>
                </a:spcAft>
                <a:defRPr/>
              </a:pPr>
              <a:endParaRPr lang="en-NZ">
                <a:latin typeface="Arial"/>
                <a:cs typeface="Arial"/>
              </a:endParaRPr>
            </a:p>
          </p:txBody>
        </p:sp>
        <p:sp>
          <p:nvSpPr>
            <p:cNvPr id="79884" name="Text Box 12"/>
            <p:cNvSpPr txBox="1">
              <a:spLocks noChangeArrowheads="1"/>
            </p:cNvSpPr>
            <p:nvPr/>
          </p:nvSpPr>
          <p:spPr bwMode="auto">
            <a:xfrm>
              <a:off x="542925" y="1431925"/>
              <a:ext cx="1771650" cy="4319588"/>
            </a:xfrm>
            <a:prstGeom prst="rect">
              <a:avLst/>
            </a:prstGeom>
            <a:noFill/>
            <a:ln w="9525">
              <a:noFill/>
              <a:miter lim="800000"/>
              <a:headEnd/>
              <a:tailEnd/>
            </a:ln>
          </p:spPr>
          <p:txBody>
            <a:bodyPr wrap="none">
              <a:spAutoFit/>
            </a:bodyPr>
            <a:lstStyle/>
            <a:p>
              <a:pPr>
                <a:lnSpc>
                  <a:spcPct val="167000"/>
                </a:lnSpc>
              </a:pPr>
              <a:r>
                <a:rPr lang="en-AU" sz="1400" b="1">
                  <a:ea typeface="MS PGothic" pitchFamily="34" charset="-128"/>
                </a:rPr>
                <a:t>Passengers</a:t>
              </a:r>
            </a:p>
            <a:p>
              <a:pPr>
                <a:lnSpc>
                  <a:spcPct val="167000"/>
                </a:lnSpc>
              </a:pPr>
              <a:r>
                <a:rPr lang="en-AU" sz="1400" b="1">
                  <a:ea typeface="MS PGothic" pitchFamily="34" charset="-128"/>
                </a:rPr>
                <a:t>Baggage</a:t>
              </a:r>
            </a:p>
            <a:p>
              <a:pPr>
                <a:lnSpc>
                  <a:spcPct val="165000"/>
                </a:lnSpc>
              </a:pPr>
              <a:r>
                <a:rPr lang="en-AU" sz="1400" b="1">
                  <a:ea typeface="MS PGothic" pitchFamily="34" charset="-128"/>
                </a:rPr>
                <a:t>Fueling</a:t>
              </a:r>
            </a:p>
            <a:p>
              <a:pPr>
                <a:lnSpc>
                  <a:spcPct val="165000"/>
                </a:lnSpc>
              </a:pPr>
              <a:r>
                <a:rPr lang="en-AU" sz="1400" b="1">
                  <a:ea typeface="MS PGothic" pitchFamily="34" charset="-128"/>
                </a:rPr>
                <a:t>Cargo and mail</a:t>
              </a:r>
            </a:p>
            <a:p>
              <a:pPr>
                <a:lnSpc>
                  <a:spcPct val="165000"/>
                </a:lnSpc>
              </a:pPr>
              <a:r>
                <a:rPr lang="en-AU" sz="1400" b="1">
                  <a:ea typeface="MS PGothic" pitchFamily="34" charset="-128"/>
                </a:rPr>
                <a:t>Galley servicing</a:t>
              </a:r>
            </a:p>
            <a:p>
              <a:pPr>
                <a:lnSpc>
                  <a:spcPct val="165000"/>
                </a:lnSpc>
              </a:pPr>
              <a:r>
                <a:rPr lang="en-AU" sz="1400" b="1">
                  <a:ea typeface="MS PGothic" pitchFamily="34" charset="-128"/>
                </a:rPr>
                <a:t>Lavatory servicing</a:t>
              </a:r>
            </a:p>
            <a:p>
              <a:r>
                <a:rPr lang="en-AU" sz="1400" b="1">
                  <a:ea typeface="MS PGothic" pitchFamily="34" charset="-128"/>
                </a:rPr>
                <a:t>Drinking water</a:t>
              </a:r>
            </a:p>
            <a:p>
              <a:pPr>
                <a:lnSpc>
                  <a:spcPct val="165000"/>
                </a:lnSpc>
              </a:pPr>
              <a:r>
                <a:rPr lang="en-AU" sz="1400" b="1">
                  <a:ea typeface="MS PGothic" pitchFamily="34" charset="-128"/>
                </a:rPr>
                <a:t>Cabin cleaning</a:t>
              </a:r>
            </a:p>
            <a:p>
              <a:pPr>
                <a:lnSpc>
                  <a:spcPct val="165000"/>
                </a:lnSpc>
              </a:pPr>
              <a:r>
                <a:rPr lang="en-AU" sz="1400" b="1">
                  <a:ea typeface="MS PGothic" pitchFamily="34" charset="-128"/>
                </a:rPr>
                <a:t>Cargo and mail</a:t>
              </a:r>
            </a:p>
            <a:p>
              <a:pPr>
                <a:lnSpc>
                  <a:spcPct val="165000"/>
                </a:lnSpc>
              </a:pPr>
              <a:r>
                <a:rPr lang="en-AU" sz="1400" b="1">
                  <a:ea typeface="MS PGothic" pitchFamily="34" charset="-128"/>
                </a:rPr>
                <a:t>Flight services</a:t>
              </a:r>
            </a:p>
            <a:p>
              <a:pPr>
                <a:lnSpc>
                  <a:spcPct val="155000"/>
                </a:lnSpc>
              </a:pPr>
              <a:r>
                <a:rPr lang="en-AU" sz="1400" b="1">
                  <a:ea typeface="MS PGothic" pitchFamily="34" charset="-128"/>
                </a:rPr>
                <a:t>Operating crew</a:t>
              </a:r>
            </a:p>
            <a:p>
              <a:pPr>
                <a:lnSpc>
                  <a:spcPct val="110000"/>
                </a:lnSpc>
              </a:pPr>
              <a:r>
                <a:rPr lang="en-AU" sz="1400" b="1">
                  <a:ea typeface="MS PGothic" pitchFamily="34" charset="-128"/>
                </a:rPr>
                <a:t>Baggage</a:t>
              </a:r>
            </a:p>
            <a:p>
              <a:pPr>
                <a:lnSpc>
                  <a:spcPct val="110000"/>
                </a:lnSpc>
              </a:pPr>
              <a:r>
                <a:rPr lang="en-AU" sz="1400" b="1">
                  <a:ea typeface="MS PGothic" pitchFamily="34" charset="-128"/>
                </a:rPr>
                <a:t>Passengers</a:t>
              </a:r>
            </a:p>
          </p:txBody>
        </p:sp>
        <p:sp>
          <p:nvSpPr>
            <p:cNvPr id="79885" name="Text Box 13"/>
            <p:cNvSpPr txBox="1">
              <a:spLocks noChangeArrowheads="1"/>
            </p:cNvSpPr>
            <p:nvPr/>
          </p:nvSpPr>
          <p:spPr bwMode="auto">
            <a:xfrm>
              <a:off x="2346325" y="1409700"/>
              <a:ext cx="2130425" cy="4354513"/>
            </a:xfrm>
            <a:prstGeom prst="rect">
              <a:avLst/>
            </a:prstGeom>
            <a:noFill/>
            <a:ln w="9525">
              <a:noFill/>
              <a:miter lim="800000"/>
              <a:headEnd/>
              <a:tailEnd/>
            </a:ln>
          </p:spPr>
          <p:txBody>
            <a:bodyPr wrap="none">
              <a:spAutoFit/>
            </a:bodyPr>
            <a:lstStyle/>
            <a:p>
              <a:pPr>
                <a:lnSpc>
                  <a:spcPct val="110000"/>
                </a:lnSpc>
              </a:pPr>
              <a:r>
                <a:rPr lang="en-AU" sz="1400" b="1">
                  <a:ea typeface="MS PGothic" pitchFamily="34" charset="-128"/>
                </a:rPr>
                <a:t>Deplaning</a:t>
              </a:r>
            </a:p>
            <a:p>
              <a:pPr>
                <a:lnSpc>
                  <a:spcPct val="110000"/>
                </a:lnSpc>
              </a:pPr>
              <a:r>
                <a:rPr lang="en-AU" sz="1400" b="1">
                  <a:ea typeface="MS PGothic" pitchFamily="34" charset="-128"/>
                </a:rPr>
                <a:t>Baggage claim</a:t>
              </a:r>
            </a:p>
            <a:p>
              <a:pPr>
                <a:lnSpc>
                  <a:spcPct val="110000"/>
                </a:lnSpc>
              </a:pPr>
              <a:r>
                <a:rPr lang="en-AU" sz="1400" b="1">
                  <a:ea typeface="MS PGothic" pitchFamily="34" charset="-128"/>
                </a:rPr>
                <a:t>Container offload</a:t>
              </a:r>
            </a:p>
            <a:p>
              <a:pPr>
                <a:lnSpc>
                  <a:spcPct val="110000"/>
                </a:lnSpc>
              </a:pPr>
              <a:r>
                <a:rPr lang="en-AU" sz="1400" b="1">
                  <a:ea typeface="MS PGothic" pitchFamily="34" charset="-128"/>
                </a:rPr>
                <a:t>Pumping</a:t>
              </a:r>
            </a:p>
            <a:p>
              <a:pPr>
                <a:lnSpc>
                  <a:spcPct val="110000"/>
                </a:lnSpc>
              </a:pPr>
              <a:r>
                <a:rPr lang="en-AU" sz="1400" b="1">
                  <a:ea typeface="MS PGothic" pitchFamily="34" charset="-128"/>
                </a:rPr>
                <a:t>Engine injection water</a:t>
              </a:r>
            </a:p>
            <a:p>
              <a:pPr>
                <a:lnSpc>
                  <a:spcPct val="110000"/>
                </a:lnSpc>
              </a:pPr>
              <a:r>
                <a:rPr lang="en-AU" sz="1400" b="1">
                  <a:ea typeface="MS PGothic" pitchFamily="34" charset="-128"/>
                </a:rPr>
                <a:t>Container offload</a:t>
              </a:r>
            </a:p>
            <a:p>
              <a:pPr>
                <a:lnSpc>
                  <a:spcPct val="110000"/>
                </a:lnSpc>
              </a:pPr>
              <a:r>
                <a:rPr lang="en-AU" sz="1400" b="1">
                  <a:ea typeface="MS PGothic" pitchFamily="34" charset="-128"/>
                </a:rPr>
                <a:t>Main cabin door</a:t>
              </a:r>
            </a:p>
            <a:p>
              <a:pPr>
                <a:lnSpc>
                  <a:spcPct val="110000"/>
                </a:lnSpc>
              </a:pPr>
              <a:r>
                <a:rPr lang="en-AU" sz="1400" b="1">
                  <a:ea typeface="MS PGothic" pitchFamily="34" charset="-128"/>
                </a:rPr>
                <a:t>Aft cabin door</a:t>
              </a:r>
            </a:p>
            <a:p>
              <a:pPr>
                <a:lnSpc>
                  <a:spcPct val="110000"/>
                </a:lnSpc>
              </a:pPr>
              <a:r>
                <a:rPr lang="en-AU" sz="1400" b="1">
                  <a:ea typeface="MS PGothic" pitchFamily="34" charset="-128"/>
                </a:rPr>
                <a:t>Aft, center, forward</a:t>
              </a:r>
            </a:p>
            <a:p>
              <a:pPr>
                <a:lnSpc>
                  <a:spcPct val="110000"/>
                </a:lnSpc>
              </a:pPr>
              <a:r>
                <a:rPr lang="en-AU" sz="1400" b="1">
                  <a:ea typeface="MS PGothic" pitchFamily="34" charset="-128"/>
                </a:rPr>
                <a:t>Loading</a:t>
              </a:r>
            </a:p>
            <a:p>
              <a:pPr>
                <a:lnSpc>
                  <a:spcPct val="110000"/>
                </a:lnSpc>
              </a:pPr>
              <a:r>
                <a:rPr lang="en-AU" sz="1400" b="1">
                  <a:ea typeface="MS PGothic" pitchFamily="34" charset="-128"/>
                </a:rPr>
                <a:t>First-class section</a:t>
              </a:r>
            </a:p>
            <a:p>
              <a:pPr>
                <a:lnSpc>
                  <a:spcPct val="110000"/>
                </a:lnSpc>
              </a:pPr>
              <a:r>
                <a:rPr lang="en-AU" sz="1400" b="1">
                  <a:ea typeface="MS PGothic" pitchFamily="34" charset="-128"/>
                </a:rPr>
                <a:t>Economy section</a:t>
              </a:r>
            </a:p>
            <a:p>
              <a:pPr>
                <a:lnSpc>
                  <a:spcPct val="110000"/>
                </a:lnSpc>
              </a:pPr>
              <a:r>
                <a:rPr lang="en-AU" sz="1400" b="1">
                  <a:ea typeface="MS PGothic" pitchFamily="34" charset="-128"/>
                </a:rPr>
                <a:t>Container/bulk loading</a:t>
              </a:r>
            </a:p>
            <a:p>
              <a:pPr>
                <a:lnSpc>
                  <a:spcPct val="110000"/>
                </a:lnSpc>
              </a:pPr>
              <a:r>
                <a:rPr lang="en-AU" sz="1400" b="1">
                  <a:ea typeface="MS PGothic" pitchFamily="34" charset="-128"/>
                </a:rPr>
                <a:t>Galley/cabin check</a:t>
              </a:r>
            </a:p>
            <a:p>
              <a:pPr>
                <a:lnSpc>
                  <a:spcPct val="110000"/>
                </a:lnSpc>
              </a:pPr>
              <a:r>
                <a:rPr lang="en-AU" sz="1400" b="1">
                  <a:ea typeface="MS PGothic" pitchFamily="34" charset="-128"/>
                </a:rPr>
                <a:t>Receive passengers</a:t>
              </a:r>
            </a:p>
            <a:p>
              <a:pPr>
                <a:lnSpc>
                  <a:spcPct val="110000"/>
                </a:lnSpc>
              </a:pPr>
              <a:r>
                <a:rPr lang="en-AU" sz="1400" b="1">
                  <a:ea typeface="MS PGothic" pitchFamily="34" charset="-128"/>
                </a:rPr>
                <a:t>Aircraft check</a:t>
              </a:r>
            </a:p>
            <a:p>
              <a:pPr>
                <a:lnSpc>
                  <a:spcPct val="110000"/>
                </a:lnSpc>
              </a:pPr>
              <a:r>
                <a:rPr lang="en-AU" sz="1400" b="1">
                  <a:ea typeface="MS PGothic" pitchFamily="34" charset="-128"/>
                </a:rPr>
                <a:t>Loading</a:t>
              </a:r>
            </a:p>
            <a:p>
              <a:pPr>
                <a:lnSpc>
                  <a:spcPct val="110000"/>
                </a:lnSpc>
              </a:pPr>
              <a:r>
                <a:rPr lang="en-AU" sz="1400" b="1">
                  <a:ea typeface="MS PGothic" pitchFamily="34" charset="-128"/>
                </a:rPr>
                <a:t>Boarding</a:t>
              </a:r>
            </a:p>
          </p:txBody>
        </p:sp>
        <p:sp>
          <p:nvSpPr>
            <p:cNvPr id="79886" name="Line 14"/>
            <p:cNvSpPr>
              <a:spLocks noChangeShapeType="1"/>
            </p:cNvSpPr>
            <p:nvPr/>
          </p:nvSpPr>
          <p:spPr bwMode="auto">
            <a:xfrm>
              <a:off x="4508500" y="1435100"/>
              <a:ext cx="0" cy="4279900"/>
            </a:xfrm>
            <a:prstGeom prst="line">
              <a:avLst/>
            </a:prstGeom>
            <a:noFill/>
            <a:ln w="28575">
              <a:solidFill>
                <a:schemeClr val="tx1"/>
              </a:solidFill>
              <a:round/>
              <a:headEnd/>
              <a:tailEnd/>
            </a:ln>
          </p:spPr>
          <p:txBody>
            <a:bodyPr/>
            <a:lstStyle/>
            <a:p>
              <a:endParaRPr lang="en-US"/>
            </a:p>
          </p:txBody>
        </p:sp>
        <p:sp>
          <p:nvSpPr>
            <p:cNvPr id="79887" name="Line 18"/>
            <p:cNvSpPr>
              <a:spLocks noChangeShapeType="1"/>
            </p:cNvSpPr>
            <p:nvPr/>
          </p:nvSpPr>
          <p:spPr bwMode="auto">
            <a:xfrm>
              <a:off x="2349500" y="1435100"/>
              <a:ext cx="0" cy="4279900"/>
            </a:xfrm>
            <a:prstGeom prst="line">
              <a:avLst/>
            </a:prstGeom>
            <a:noFill/>
            <a:ln w="28575">
              <a:solidFill>
                <a:schemeClr val="tx1"/>
              </a:solidFill>
              <a:round/>
              <a:headEnd/>
              <a:tailEnd/>
            </a:ln>
          </p:spPr>
          <p:txBody>
            <a:bodyPr/>
            <a:lstStyle/>
            <a:p>
              <a:endParaRPr lang="en-US"/>
            </a:p>
          </p:txBody>
        </p:sp>
        <p:sp>
          <p:nvSpPr>
            <p:cNvPr id="79888" name="Line 19"/>
            <p:cNvSpPr>
              <a:spLocks noChangeShapeType="1"/>
            </p:cNvSpPr>
            <p:nvPr/>
          </p:nvSpPr>
          <p:spPr bwMode="auto">
            <a:xfrm>
              <a:off x="2336800" y="1709738"/>
              <a:ext cx="6324600" cy="0"/>
            </a:xfrm>
            <a:prstGeom prst="line">
              <a:avLst/>
            </a:prstGeom>
            <a:noFill/>
            <a:ln w="28575">
              <a:solidFill>
                <a:schemeClr val="tx1"/>
              </a:solidFill>
              <a:round/>
              <a:headEnd/>
              <a:tailEnd/>
            </a:ln>
          </p:spPr>
          <p:txBody>
            <a:bodyPr/>
            <a:lstStyle/>
            <a:p>
              <a:endParaRPr lang="en-US"/>
            </a:p>
          </p:txBody>
        </p:sp>
        <p:sp>
          <p:nvSpPr>
            <p:cNvPr id="79889" name="Line 20"/>
            <p:cNvSpPr>
              <a:spLocks noChangeShapeType="1"/>
            </p:cNvSpPr>
            <p:nvPr/>
          </p:nvSpPr>
          <p:spPr bwMode="auto">
            <a:xfrm>
              <a:off x="482600" y="1944688"/>
              <a:ext cx="8178800" cy="0"/>
            </a:xfrm>
            <a:prstGeom prst="line">
              <a:avLst/>
            </a:prstGeom>
            <a:noFill/>
            <a:ln w="28575">
              <a:solidFill>
                <a:schemeClr val="tx1"/>
              </a:solidFill>
              <a:round/>
              <a:headEnd/>
              <a:tailEnd/>
            </a:ln>
          </p:spPr>
          <p:txBody>
            <a:bodyPr/>
            <a:lstStyle/>
            <a:p>
              <a:endParaRPr lang="en-US"/>
            </a:p>
          </p:txBody>
        </p:sp>
        <p:sp>
          <p:nvSpPr>
            <p:cNvPr id="79890" name="Line 21"/>
            <p:cNvSpPr>
              <a:spLocks noChangeShapeType="1"/>
            </p:cNvSpPr>
            <p:nvPr/>
          </p:nvSpPr>
          <p:spPr bwMode="auto">
            <a:xfrm>
              <a:off x="488950" y="2192338"/>
              <a:ext cx="8172450" cy="0"/>
            </a:xfrm>
            <a:prstGeom prst="line">
              <a:avLst/>
            </a:prstGeom>
            <a:noFill/>
            <a:ln w="28575">
              <a:solidFill>
                <a:schemeClr val="tx1"/>
              </a:solidFill>
              <a:round/>
              <a:headEnd/>
              <a:tailEnd/>
            </a:ln>
          </p:spPr>
          <p:txBody>
            <a:bodyPr/>
            <a:lstStyle/>
            <a:p>
              <a:endParaRPr lang="en-US"/>
            </a:p>
          </p:txBody>
        </p:sp>
        <p:sp>
          <p:nvSpPr>
            <p:cNvPr id="79891" name="Line 22"/>
            <p:cNvSpPr>
              <a:spLocks noChangeShapeType="1"/>
            </p:cNvSpPr>
            <p:nvPr/>
          </p:nvSpPr>
          <p:spPr bwMode="auto">
            <a:xfrm>
              <a:off x="2336800" y="2427288"/>
              <a:ext cx="6324600" cy="0"/>
            </a:xfrm>
            <a:prstGeom prst="line">
              <a:avLst/>
            </a:prstGeom>
            <a:noFill/>
            <a:ln w="28575">
              <a:solidFill>
                <a:schemeClr val="tx1"/>
              </a:solidFill>
              <a:round/>
              <a:headEnd/>
              <a:tailEnd/>
            </a:ln>
          </p:spPr>
          <p:txBody>
            <a:bodyPr/>
            <a:lstStyle/>
            <a:p>
              <a:endParaRPr lang="en-US"/>
            </a:p>
          </p:txBody>
        </p:sp>
        <p:sp>
          <p:nvSpPr>
            <p:cNvPr id="79892" name="Line 23"/>
            <p:cNvSpPr>
              <a:spLocks noChangeShapeType="1"/>
            </p:cNvSpPr>
            <p:nvPr/>
          </p:nvSpPr>
          <p:spPr bwMode="auto">
            <a:xfrm>
              <a:off x="488950" y="2635250"/>
              <a:ext cx="8172450" cy="0"/>
            </a:xfrm>
            <a:prstGeom prst="line">
              <a:avLst/>
            </a:prstGeom>
            <a:noFill/>
            <a:ln w="28575">
              <a:solidFill>
                <a:schemeClr val="tx1"/>
              </a:solidFill>
              <a:round/>
              <a:headEnd/>
              <a:tailEnd/>
            </a:ln>
          </p:spPr>
          <p:txBody>
            <a:bodyPr/>
            <a:lstStyle/>
            <a:p>
              <a:endParaRPr lang="en-US"/>
            </a:p>
          </p:txBody>
        </p:sp>
        <p:sp>
          <p:nvSpPr>
            <p:cNvPr id="79893" name="Line 24"/>
            <p:cNvSpPr>
              <a:spLocks noChangeShapeType="1"/>
            </p:cNvSpPr>
            <p:nvPr/>
          </p:nvSpPr>
          <p:spPr bwMode="auto">
            <a:xfrm>
              <a:off x="476250" y="2882900"/>
              <a:ext cx="8185150" cy="0"/>
            </a:xfrm>
            <a:prstGeom prst="line">
              <a:avLst/>
            </a:prstGeom>
            <a:noFill/>
            <a:ln w="28575">
              <a:solidFill>
                <a:schemeClr val="tx1"/>
              </a:solidFill>
              <a:round/>
              <a:headEnd/>
              <a:tailEnd/>
            </a:ln>
          </p:spPr>
          <p:txBody>
            <a:bodyPr/>
            <a:lstStyle/>
            <a:p>
              <a:endParaRPr lang="en-US"/>
            </a:p>
          </p:txBody>
        </p:sp>
        <p:sp>
          <p:nvSpPr>
            <p:cNvPr id="79894" name="Line 25"/>
            <p:cNvSpPr>
              <a:spLocks noChangeShapeType="1"/>
            </p:cNvSpPr>
            <p:nvPr/>
          </p:nvSpPr>
          <p:spPr bwMode="auto">
            <a:xfrm>
              <a:off x="2336800" y="3105150"/>
              <a:ext cx="6324600" cy="0"/>
            </a:xfrm>
            <a:prstGeom prst="line">
              <a:avLst/>
            </a:prstGeom>
            <a:noFill/>
            <a:ln w="28575">
              <a:solidFill>
                <a:schemeClr val="tx1"/>
              </a:solidFill>
              <a:round/>
              <a:headEnd/>
              <a:tailEnd/>
            </a:ln>
          </p:spPr>
          <p:txBody>
            <a:bodyPr/>
            <a:lstStyle/>
            <a:p>
              <a:endParaRPr lang="en-US"/>
            </a:p>
          </p:txBody>
        </p:sp>
        <p:sp>
          <p:nvSpPr>
            <p:cNvPr id="79895" name="Line 26"/>
            <p:cNvSpPr>
              <a:spLocks noChangeShapeType="1"/>
            </p:cNvSpPr>
            <p:nvPr/>
          </p:nvSpPr>
          <p:spPr bwMode="auto">
            <a:xfrm>
              <a:off x="482600" y="3327400"/>
              <a:ext cx="8178800" cy="0"/>
            </a:xfrm>
            <a:prstGeom prst="line">
              <a:avLst/>
            </a:prstGeom>
            <a:noFill/>
            <a:ln w="28575">
              <a:solidFill>
                <a:schemeClr val="tx1"/>
              </a:solidFill>
              <a:round/>
              <a:headEnd/>
              <a:tailEnd/>
            </a:ln>
          </p:spPr>
          <p:txBody>
            <a:bodyPr/>
            <a:lstStyle/>
            <a:p>
              <a:endParaRPr lang="en-US"/>
            </a:p>
          </p:txBody>
        </p:sp>
        <p:sp>
          <p:nvSpPr>
            <p:cNvPr id="79896" name="Line 27"/>
            <p:cNvSpPr>
              <a:spLocks noChangeShapeType="1"/>
            </p:cNvSpPr>
            <p:nvPr/>
          </p:nvSpPr>
          <p:spPr bwMode="auto">
            <a:xfrm>
              <a:off x="469900" y="3562350"/>
              <a:ext cx="8191500" cy="0"/>
            </a:xfrm>
            <a:prstGeom prst="line">
              <a:avLst/>
            </a:prstGeom>
            <a:noFill/>
            <a:ln w="28575">
              <a:solidFill>
                <a:schemeClr val="tx1"/>
              </a:solidFill>
              <a:round/>
              <a:headEnd/>
              <a:tailEnd/>
            </a:ln>
          </p:spPr>
          <p:txBody>
            <a:bodyPr/>
            <a:lstStyle/>
            <a:p>
              <a:endParaRPr lang="en-US"/>
            </a:p>
          </p:txBody>
        </p:sp>
        <p:sp>
          <p:nvSpPr>
            <p:cNvPr id="79897" name="Line 28"/>
            <p:cNvSpPr>
              <a:spLocks noChangeShapeType="1"/>
            </p:cNvSpPr>
            <p:nvPr/>
          </p:nvSpPr>
          <p:spPr bwMode="auto">
            <a:xfrm>
              <a:off x="476250" y="3798888"/>
              <a:ext cx="8185150" cy="0"/>
            </a:xfrm>
            <a:prstGeom prst="line">
              <a:avLst/>
            </a:prstGeom>
            <a:noFill/>
            <a:ln w="28575">
              <a:solidFill>
                <a:schemeClr val="tx1"/>
              </a:solidFill>
              <a:round/>
              <a:headEnd/>
              <a:tailEnd/>
            </a:ln>
          </p:spPr>
          <p:txBody>
            <a:bodyPr/>
            <a:lstStyle/>
            <a:p>
              <a:endParaRPr lang="en-US"/>
            </a:p>
          </p:txBody>
        </p:sp>
        <p:sp>
          <p:nvSpPr>
            <p:cNvPr id="79898" name="Line 29"/>
            <p:cNvSpPr>
              <a:spLocks noChangeShapeType="1"/>
            </p:cNvSpPr>
            <p:nvPr/>
          </p:nvSpPr>
          <p:spPr bwMode="auto">
            <a:xfrm>
              <a:off x="2336800" y="4033838"/>
              <a:ext cx="6324600" cy="0"/>
            </a:xfrm>
            <a:prstGeom prst="line">
              <a:avLst/>
            </a:prstGeom>
            <a:noFill/>
            <a:ln w="28575">
              <a:solidFill>
                <a:schemeClr val="tx1"/>
              </a:solidFill>
              <a:round/>
              <a:headEnd/>
              <a:tailEnd/>
            </a:ln>
          </p:spPr>
          <p:txBody>
            <a:bodyPr/>
            <a:lstStyle/>
            <a:p>
              <a:endParaRPr lang="en-US"/>
            </a:p>
          </p:txBody>
        </p:sp>
        <p:sp>
          <p:nvSpPr>
            <p:cNvPr id="79899" name="Line 30"/>
            <p:cNvSpPr>
              <a:spLocks noChangeShapeType="1"/>
            </p:cNvSpPr>
            <p:nvPr/>
          </p:nvSpPr>
          <p:spPr bwMode="auto">
            <a:xfrm>
              <a:off x="482600" y="4502150"/>
              <a:ext cx="8178800" cy="0"/>
            </a:xfrm>
            <a:prstGeom prst="line">
              <a:avLst/>
            </a:prstGeom>
            <a:noFill/>
            <a:ln w="28575">
              <a:solidFill>
                <a:schemeClr val="tx1"/>
              </a:solidFill>
              <a:round/>
              <a:headEnd/>
              <a:tailEnd/>
            </a:ln>
          </p:spPr>
          <p:txBody>
            <a:bodyPr/>
            <a:lstStyle/>
            <a:p>
              <a:endParaRPr lang="en-US"/>
            </a:p>
          </p:txBody>
        </p:sp>
        <p:sp>
          <p:nvSpPr>
            <p:cNvPr id="79900" name="Line 31"/>
            <p:cNvSpPr>
              <a:spLocks noChangeShapeType="1"/>
            </p:cNvSpPr>
            <p:nvPr/>
          </p:nvSpPr>
          <p:spPr bwMode="auto">
            <a:xfrm>
              <a:off x="2336800" y="4724400"/>
              <a:ext cx="6324600" cy="0"/>
            </a:xfrm>
            <a:prstGeom prst="line">
              <a:avLst/>
            </a:prstGeom>
            <a:noFill/>
            <a:ln w="28575">
              <a:solidFill>
                <a:schemeClr val="tx1"/>
              </a:solidFill>
              <a:round/>
              <a:headEnd/>
              <a:tailEnd/>
            </a:ln>
          </p:spPr>
          <p:txBody>
            <a:bodyPr/>
            <a:lstStyle/>
            <a:p>
              <a:endParaRPr lang="en-US"/>
            </a:p>
          </p:txBody>
        </p:sp>
        <p:sp>
          <p:nvSpPr>
            <p:cNvPr id="79901" name="Line 32"/>
            <p:cNvSpPr>
              <a:spLocks noChangeShapeType="1"/>
            </p:cNvSpPr>
            <p:nvPr/>
          </p:nvSpPr>
          <p:spPr bwMode="auto">
            <a:xfrm>
              <a:off x="488950" y="4959350"/>
              <a:ext cx="8172450" cy="0"/>
            </a:xfrm>
            <a:prstGeom prst="line">
              <a:avLst/>
            </a:prstGeom>
            <a:noFill/>
            <a:ln w="28575">
              <a:solidFill>
                <a:schemeClr val="tx1"/>
              </a:solidFill>
              <a:round/>
              <a:headEnd/>
              <a:tailEnd/>
            </a:ln>
          </p:spPr>
          <p:txBody>
            <a:bodyPr/>
            <a:lstStyle/>
            <a:p>
              <a:endParaRPr lang="en-US"/>
            </a:p>
          </p:txBody>
        </p:sp>
        <p:sp>
          <p:nvSpPr>
            <p:cNvPr id="79902" name="Line 33"/>
            <p:cNvSpPr>
              <a:spLocks noChangeShapeType="1"/>
            </p:cNvSpPr>
            <p:nvPr/>
          </p:nvSpPr>
          <p:spPr bwMode="auto">
            <a:xfrm>
              <a:off x="482600" y="5194300"/>
              <a:ext cx="8178800" cy="0"/>
            </a:xfrm>
            <a:prstGeom prst="line">
              <a:avLst/>
            </a:prstGeom>
            <a:noFill/>
            <a:ln w="28575">
              <a:solidFill>
                <a:schemeClr val="tx1"/>
              </a:solidFill>
              <a:round/>
              <a:headEnd/>
              <a:tailEnd/>
            </a:ln>
          </p:spPr>
          <p:txBody>
            <a:bodyPr/>
            <a:lstStyle/>
            <a:p>
              <a:endParaRPr lang="en-US"/>
            </a:p>
          </p:txBody>
        </p:sp>
        <p:sp>
          <p:nvSpPr>
            <p:cNvPr id="79903" name="Line 34"/>
            <p:cNvSpPr>
              <a:spLocks noChangeShapeType="1"/>
            </p:cNvSpPr>
            <p:nvPr/>
          </p:nvSpPr>
          <p:spPr bwMode="auto">
            <a:xfrm>
              <a:off x="469900" y="5441950"/>
              <a:ext cx="8191500" cy="0"/>
            </a:xfrm>
            <a:prstGeom prst="line">
              <a:avLst/>
            </a:prstGeom>
            <a:noFill/>
            <a:ln w="28575">
              <a:solidFill>
                <a:schemeClr val="tx1"/>
              </a:solidFill>
              <a:round/>
              <a:headEnd/>
              <a:tailEnd/>
            </a:ln>
          </p:spPr>
          <p:txBody>
            <a:bodyPr/>
            <a:lstStyle/>
            <a:p>
              <a:endParaRPr lang="en-US"/>
            </a:p>
          </p:txBody>
        </p:sp>
        <p:sp>
          <p:nvSpPr>
            <p:cNvPr id="79904" name="Line 35"/>
            <p:cNvSpPr>
              <a:spLocks noChangeShapeType="1"/>
            </p:cNvSpPr>
            <p:nvPr/>
          </p:nvSpPr>
          <p:spPr bwMode="auto">
            <a:xfrm>
              <a:off x="476250" y="4256088"/>
              <a:ext cx="8185150" cy="0"/>
            </a:xfrm>
            <a:prstGeom prst="line">
              <a:avLst/>
            </a:prstGeom>
            <a:noFill/>
            <a:ln w="28575">
              <a:solidFill>
                <a:schemeClr val="tx1"/>
              </a:solidFill>
              <a:round/>
              <a:headEnd/>
              <a:tailEnd/>
            </a:ln>
          </p:spPr>
          <p:txBody>
            <a:bodyPr/>
            <a:lstStyle/>
            <a:p>
              <a:endParaRPr lang="en-US"/>
            </a:p>
          </p:txBody>
        </p:sp>
        <p:sp>
          <p:nvSpPr>
            <p:cNvPr id="79905" name="Text Box 36"/>
            <p:cNvSpPr txBox="1">
              <a:spLocks noChangeArrowheads="1"/>
            </p:cNvSpPr>
            <p:nvPr/>
          </p:nvSpPr>
          <p:spPr bwMode="auto">
            <a:xfrm>
              <a:off x="4360863" y="5683250"/>
              <a:ext cx="4506913" cy="581025"/>
            </a:xfrm>
            <a:prstGeom prst="rect">
              <a:avLst/>
            </a:prstGeom>
            <a:noFill/>
            <a:ln w="9525">
              <a:noFill/>
              <a:miter lim="800000"/>
              <a:headEnd/>
              <a:tailEnd/>
            </a:ln>
          </p:spPr>
          <p:txBody>
            <a:bodyPr wrap="none">
              <a:spAutoFit/>
            </a:bodyPr>
            <a:lstStyle/>
            <a:p>
              <a:pPr algn="ctr">
                <a:tabLst>
                  <a:tab pos="1074738" algn="ctr"/>
                  <a:tab pos="2147888" algn="ctr"/>
                  <a:tab pos="3135313" algn="ctr"/>
                  <a:tab pos="4208463" algn="ctr"/>
                </a:tabLst>
              </a:pPr>
              <a:r>
                <a:rPr lang="en-AU" sz="1600" b="1">
                  <a:ea typeface="MS PGothic" pitchFamily="34" charset="-128"/>
                </a:rPr>
                <a:t>0	10	20	30	40</a:t>
              </a:r>
            </a:p>
            <a:p>
              <a:pPr algn="ctr">
                <a:tabLst>
                  <a:tab pos="1074738" algn="ctr"/>
                  <a:tab pos="2147888" algn="ctr"/>
                  <a:tab pos="3135313" algn="ctr"/>
                  <a:tab pos="4208463" algn="ctr"/>
                </a:tabLst>
              </a:pPr>
              <a:r>
                <a:rPr lang="en-AU" sz="1600" b="1">
                  <a:ea typeface="MS PGothic" pitchFamily="34" charset="-128"/>
                </a:rPr>
                <a:t>Time, Minutes</a:t>
              </a:r>
            </a:p>
          </p:txBody>
        </p:sp>
        <p:sp>
          <p:nvSpPr>
            <p:cNvPr id="36904" name="Rectangle 39"/>
            <p:cNvSpPr>
              <a:spLocks noChangeArrowheads="1"/>
            </p:cNvSpPr>
            <p:nvPr/>
          </p:nvSpPr>
          <p:spPr bwMode="auto">
            <a:xfrm>
              <a:off x="4886326" y="1511300"/>
              <a:ext cx="790575" cy="139700"/>
            </a:xfrm>
            <a:prstGeom prst="rect">
              <a:avLst/>
            </a:prstGeom>
            <a:solidFill>
              <a:schemeClr val="accent4">
                <a:lumMod val="50000"/>
              </a:schemeClr>
            </a:solidFill>
            <a:ln w="9525">
              <a:solidFill>
                <a:schemeClr val="tx1"/>
              </a:solidFill>
              <a:miter lim="800000"/>
              <a:headEnd/>
              <a:tailEnd/>
            </a:ln>
            <a:effectLst/>
            <a:extLst/>
          </p:spPr>
          <p:txBody>
            <a:bodyPr wrap="none" anchor="ctr"/>
            <a:lstStyle/>
            <a:p>
              <a:pPr fontAlgn="auto">
                <a:spcBef>
                  <a:spcPts val="0"/>
                </a:spcBef>
                <a:spcAft>
                  <a:spcPts val="0"/>
                </a:spcAft>
                <a:defRPr/>
              </a:pPr>
              <a:endParaRPr lang="en-NZ">
                <a:latin typeface="Arial"/>
                <a:cs typeface="Arial"/>
              </a:endParaRPr>
            </a:p>
          </p:txBody>
        </p:sp>
        <p:sp>
          <p:nvSpPr>
            <p:cNvPr id="36905" name="Rectangle 40"/>
            <p:cNvSpPr>
              <a:spLocks noChangeArrowheads="1"/>
            </p:cNvSpPr>
            <p:nvPr/>
          </p:nvSpPr>
          <p:spPr bwMode="auto">
            <a:xfrm>
              <a:off x="5287964" y="1755775"/>
              <a:ext cx="647700" cy="139700"/>
            </a:xfrm>
            <a:prstGeom prst="rect">
              <a:avLst/>
            </a:prstGeom>
            <a:solidFill>
              <a:schemeClr val="accent4">
                <a:lumMod val="50000"/>
              </a:schemeClr>
            </a:solidFill>
            <a:ln w="9525">
              <a:solidFill>
                <a:schemeClr val="tx1"/>
              </a:solidFill>
              <a:miter lim="800000"/>
              <a:headEnd/>
              <a:tailEnd/>
            </a:ln>
            <a:effectLst/>
            <a:extLst/>
          </p:spPr>
          <p:txBody>
            <a:bodyPr wrap="none" anchor="ctr"/>
            <a:lstStyle/>
            <a:p>
              <a:pPr fontAlgn="auto">
                <a:spcBef>
                  <a:spcPts val="0"/>
                </a:spcBef>
                <a:spcAft>
                  <a:spcPts val="0"/>
                </a:spcAft>
                <a:defRPr/>
              </a:pPr>
              <a:endParaRPr lang="en-NZ">
                <a:latin typeface="Arial"/>
                <a:cs typeface="Arial"/>
              </a:endParaRPr>
            </a:p>
          </p:txBody>
        </p:sp>
        <p:sp>
          <p:nvSpPr>
            <p:cNvPr id="36906" name="Rectangle 41"/>
            <p:cNvSpPr>
              <a:spLocks noChangeArrowheads="1"/>
            </p:cNvSpPr>
            <p:nvPr/>
          </p:nvSpPr>
          <p:spPr bwMode="auto">
            <a:xfrm>
              <a:off x="4905376" y="2001838"/>
              <a:ext cx="542925" cy="139700"/>
            </a:xfrm>
            <a:prstGeom prst="rect">
              <a:avLst/>
            </a:prstGeom>
            <a:solidFill>
              <a:schemeClr val="accent4">
                <a:lumMod val="50000"/>
              </a:schemeClr>
            </a:solidFill>
            <a:ln w="9525">
              <a:solidFill>
                <a:schemeClr val="tx1"/>
              </a:solidFill>
              <a:miter lim="800000"/>
              <a:headEnd/>
              <a:tailEnd/>
            </a:ln>
            <a:effectLst/>
            <a:extLst/>
          </p:spPr>
          <p:txBody>
            <a:bodyPr wrap="none" anchor="ctr"/>
            <a:lstStyle/>
            <a:p>
              <a:pPr fontAlgn="auto">
                <a:spcBef>
                  <a:spcPts val="0"/>
                </a:spcBef>
                <a:spcAft>
                  <a:spcPts val="0"/>
                </a:spcAft>
                <a:defRPr/>
              </a:pPr>
              <a:endParaRPr lang="en-NZ">
                <a:latin typeface="Arial"/>
                <a:cs typeface="Arial"/>
              </a:endParaRPr>
            </a:p>
          </p:txBody>
        </p:sp>
        <p:sp>
          <p:nvSpPr>
            <p:cNvPr id="36907" name="Rectangle 42"/>
            <p:cNvSpPr>
              <a:spLocks noChangeArrowheads="1"/>
            </p:cNvSpPr>
            <p:nvPr/>
          </p:nvSpPr>
          <p:spPr bwMode="auto">
            <a:xfrm>
              <a:off x="4919664" y="2235200"/>
              <a:ext cx="2581275" cy="139700"/>
            </a:xfrm>
            <a:prstGeom prst="rect">
              <a:avLst/>
            </a:prstGeom>
            <a:solidFill>
              <a:schemeClr val="accent4">
                <a:lumMod val="50000"/>
              </a:schemeClr>
            </a:solidFill>
            <a:ln w="9525">
              <a:solidFill>
                <a:schemeClr val="tx1"/>
              </a:solidFill>
              <a:miter lim="800000"/>
              <a:headEnd/>
              <a:tailEnd/>
            </a:ln>
            <a:effectLst/>
            <a:extLst/>
          </p:spPr>
          <p:txBody>
            <a:bodyPr wrap="none" anchor="ctr"/>
            <a:lstStyle/>
            <a:p>
              <a:pPr fontAlgn="auto">
                <a:spcBef>
                  <a:spcPts val="0"/>
                </a:spcBef>
                <a:spcAft>
                  <a:spcPts val="0"/>
                </a:spcAft>
                <a:defRPr/>
              </a:pPr>
              <a:endParaRPr lang="en-NZ">
                <a:latin typeface="Arial"/>
                <a:cs typeface="Arial"/>
              </a:endParaRPr>
            </a:p>
          </p:txBody>
        </p:sp>
        <p:sp>
          <p:nvSpPr>
            <p:cNvPr id="36908" name="Rectangle 43"/>
            <p:cNvSpPr>
              <a:spLocks noChangeArrowheads="1"/>
            </p:cNvSpPr>
            <p:nvPr/>
          </p:nvSpPr>
          <p:spPr bwMode="auto">
            <a:xfrm>
              <a:off x="7500939" y="2468563"/>
              <a:ext cx="895350" cy="139700"/>
            </a:xfrm>
            <a:prstGeom prst="rect">
              <a:avLst/>
            </a:prstGeom>
            <a:solidFill>
              <a:schemeClr val="accent4">
                <a:lumMod val="50000"/>
              </a:schemeClr>
            </a:solidFill>
            <a:ln w="9525">
              <a:solidFill>
                <a:schemeClr val="tx1"/>
              </a:solidFill>
              <a:miter lim="800000"/>
              <a:headEnd/>
              <a:tailEnd/>
            </a:ln>
            <a:effectLst/>
            <a:extLst/>
          </p:spPr>
          <p:txBody>
            <a:bodyPr wrap="none" anchor="ctr"/>
            <a:lstStyle/>
            <a:p>
              <a:pPr fontAlgn="auto">
                <a:spcBef>
                  <a:spcPts val="0"/>
                </a:spcBef>
                <a:spcAft>
                  <a:spcPts val="0"/>
                </a:spcAft>
                <a:defRPr/>
              </a:pPr>
              <a:endParaRPr lang="en-NZ">
                <a:latin typeface="Arial"/>
                <a:cs typeface="Arial"/>
              </a:endParaRPr>
            </a:p>
          </p:txBody>
        </p:sp>
        <p:sp>
          <p:nvSpPr>
            <p:cNvPr id="36909" name="Rectangle 44"/>
            <p:cNvSpPr>
              <a:spLocks noChangeArrowheads="1"/>
            </p:cNvSpPr>
            <p:nvPr/>
          </p:nvSpPr>
          <p:spPr bwMode="auto">
            <a:xfrm>
              <a:off x="4591050" y="2701925"/>
              <a:ext cx="1271588" cy="139700"/>
            </a:xfrm>
            <a:prstGeom prst="rect">
              <a:avLst/>
            </a:prstGeom>
            <a:solidFill>
              <a:schemeClr val="accent4">
                <a:lumMod val="50000"/>
              </a:schemeClr>
            </a:solidFill>
            <a:ln w="9525">
              <a:solidFill>
                <a:schemeClr val="tx1"/>
              </a:solidFill>
              <a:miter lim="800000"/>
              <a:headEnd/>
              <a:tailEnd/>
            </a:ln>
            <a:effectLst/>
            <a:extLst/>
          </p:spPr>
          <p:txBody>
            <a:bodyPr wrap="none" anchor="ctr"/>
            <a:lstStyle/>
            <a:p>
              <a:pPr fontAlgn="auto">
                <a:spcBef>
                  <a:spcPts val="0"/>
                </a:spcBef>
                <a:spcAft>
                  <a:spcPts val="0"/>
                </a:spcAft>
                <a:defRPr/>
              </a:pPr>
              <a:endParaRPr lang="en-NZ">
                <a:latin typeface="Arial"/>
                <a:cs typeface="Arial"/>
              </a:endParaRPr>
            </a:p>
          </p:txBody>
        </p:sp>
        <p:sp>
          <p:nvSpPr>
            <p:cNvPr id="36910" name="Rectangle 45"/>
            <p:cNvSpPr>
              <a:spLocks noChangeArrowheads="1"/>
            </p:cNvSpPr>
            <p:nvPr/>
          </p:nvSpPr>
          <p:spPr bwMode="auto">
            <a:xfrm>
              <a:off x="4600575" y="2921000"/>
              <a:ext cx="3100388" cy="139700"/>
            </a:xfrm>
            <a:prstGeom prst="rect">
              <a:avLst/>
            </a:prstGeom>
            <a:solidFill>
              <a:schemeClr val="accent4">
                <a:lumMod val="50000"/>
              </a:schemeClr>
            </a:solidFill>
            <a:ln w="9525">
              <a:solidFill>
                <a:schemeClr val="tx1"/>
              </a:solidFill>
              <a:miter lim="800000"/>
              <a:headEnd/>
              <a:tailEnd/>
            </a:ln>
            <a:effectLst/>
            <a:extLst/>
          </p:spPr>
          <p:txBody>
            <a:bodyPr wrap="none" anchor="ctr"/>
            <a:lstStyle/>
            <a:p>
              <a:pPr fontAlgn="auto">
                <a:spcBef>
                  <a:spcPts val="0"/>
                </a:spcBef>
                <a:spcAft>
                  <a:spcPts val="0"/>
                </a:spcAft>
                <a:defRPr/>
              </a:pPr>
              <a:endParaRPr lang="en-NZ">
                <a:latin typeface="Arial"/>
                <a:cs typeface="Arial"/>
              </a:endParaRPr>
            </a:p>
          </p:txBody>
        </p:sp>
        <p:sp>
          <p:nvSpPr>
            <p:cNvPr id="36911" name="Rectangle 46"/>
            <p:cNvSpPr>
              <a:spLocks noChangeArrowheads="1"/>
            </p:cNvSpPr>
            <p:nvPr/>
          </p:nvSpPr>
          <p:spPr bwMode="auto">
            <a:xfrm>
              <a:off x="6157914" y="3141663"/>
              <a:ext cx="1962150" cy="139700"/>
            </a:xfrm>
            <a:prstGeom prst="rect">
              <a:avLst/>
            </a:prstGeom>
            <a:solidFill>
              <a:schemeClr val="accent4">
                <a:lumMod val="50000"/>
              </a:schemeClr>
            </a:solidFill>
            <a:ln w="9525">
              <a:solidFill>
                <a:schemeClr val="tx1"/>
              </a:solidFill>
              <a:miter lim="800000"/>
              <a:headEnd/>
              <a:tailEnd/>
            </a:ln>
            <a:effectLst/>
            <a:extLst/>
          </p:spPr>
          <p:txBody>
            <a:bodyPr wrap="none" anchor="ctr"/>
            <a:lstStyle/>
            <a:p>
              <a:pPr fontAlgn="auto">
                <a:spcBef>
                  <a:spcPts val="0"/>
                </a:spcBef>
                <a:spcAft>
                  <a:spcPts val="0"/>
                </a:spcAft>
                <a:defRPr/>
              </a:pPr>
              <a:endParaRPr lang="en-NZ">
                <a:latin typeface="Arial"/>
                <a:cs typeface="Arial"/>
              </a:endParaRPr>
            </a:p>
          </p:txBody>
        </p:sp>
        <p:sp>
          <p:nvSpPr>
            <p:cNvPr id="36912" name="Rectangle 47"/>
            <p:cNvSpPr>
              <a:spLocks noChangeArrowheads="1"/>
            </p:cNvSpPr>
            <p:nvPr/>
          </p:nvSpPr>
          <p:spPr bwMode="auto">
            <a:xfrm>
              <a:off x="4710114" y="3375025"/>
              <a:ext cx="3505200" cy="139700"/>
            </a:xfrm>
            <a:prstGeom prst="rect">
              <a:avLst/>
            </a:prstGeom>
            <a:solidFill>
              <a:schemeClr val="accent4">
                <a:lumMod val="50000"/>
              </a:schemeClr>
            </a:solidFill>
            <a:ln w="9525">
              <a:solidFill>
                <a:schemeClr val="tx1"/>
              </a:solidFill>
              <a:miter lim="800000"/>
              <a:headEnd/>
              <a:tailEnd/>
            </a:ln>
            <a:effectLst/>
            <a:extLst/>
          </p:spPr>
          <p:txBody>
            <a:bodyPr wrap="none" anchor="ctr"/>
            <a:lstStyle/>
            <a:p>
              <a:pPr fontAlgn="auto">
                <a:spcBef>
                  <a:spcPts val="0"/>
                </a:spcBef>
                <a:spcAft>
                  <a:spcPts val="0"/>
                </a:spcAft>
                <a:defRPr/>
              </a:pPr>
              <a:endParaRPr lang="en-NZ">
                <a:latin typeface="Arial"/>
                <a:cs typeface="Arial"/>
              </a:endParaRPr>
            </a:p>
          </p:txBody>
        </p:sp>
        <p:sp>
          <p:nvSpPr>
            <p:cNvPr id="36913" name="Rectangle 48"/>
            <p:cNvSpPr>
              <a:spLocks noChangeArrowheads="1"/>
            </p:cNvSpPr>
            <p:nvPr/>
          </p:nvSpPr>
          <p:spPr bwMode="auto">
            <a:xfrm>
              <a:off x="4886326" y="3608388"/>
              <a:ext cx="795338" cy="139700"/>
            </a:xfrm>
            <a:prstGeom prst="rect">
              <a:avLst/>
            </a:prstGeom>
            <a:solidFill>
              <a:schemeClr val="accent4">
                <a:lumMod val="50000"/>
              </a:schemeClr>
            </a:solidFill>
            <a:ln w="9525">
              <a:solidFill>
                <a:schemeClr val="tx1"/>
              </a:solidFill>
              <a:miter lim="800000"/>
              <a:headEnd/>
              <a:tailEnd/>
            </a:ln>
            <a:effectLst/>
            <a:extLst/>
          </p:spPr>
          <p:txBody>
            <a:bodyPr wrap="none" anchor="ctr"/>
            <a:lstStyle/>
            <a:p>
              <a:pPr fontAlgn="auto">
                <a:spcBef>
                  <a:spcPts val="0"/>
                </a:spcBef>
                <a:spcAft>
                  <a:spcPts val="0"/>
                </a:spcAft>
                <a:defRPr/>
              </a:pPr>
              <a:endParaRPr lang="en-NZ">
                <a:latin typeface="Arial"/>
                <a:cs typeface="Arial"/>
              </a:endParaRPr>
            </a:p>
          </p:txBody>
        </p:sp>
        <p:sp>
          <p:nvSpPr>
            <p:cNvPr id="36914" name="Rectangle 49"/>
            <p:cNvSpPr>
              <a:spLocks noChangeArrowheads="1"/>
            </p:cNvSpPr>
            <p:nvPr/>
          </p:nvSpPr>
          <p:spPr bwMode="auto">
            <a:xfrm>
              <a:off x="5148264" y="3841750"/>
              <a:ext cx="2109787" cy="139700"/>
            </a:xfrm>
            <a:prstGeom prst="rect">
              <a:avLst/>
            </a:prstGeom>
            <a:solidFill>
              <a:schemeClr val="accent4">
                <a:lumMod val="50000"/>
              </a:schemeClr>
            </a:solidFill>
            <a:ln w="9525">
              <a:solidFill>
                <a:schemeClr val="tx1"/>
              </a:solidFill>
              <a:miter lim="800000"/>
              <a:headEnd/>
              <a:tailEnd/>
            </a:ln>
            <a:effectLst/>
            <a:extLst/>
          </p:spPr>
          <p:txBody>
            <a:bodyPr wrap="none" anchor="ctr"/>
            <a:lstStyle/>
            <a:p>
              <a:pPr fontAlgn="auto">
                <a:spcBef>
                  <a:spcPts val="0"/>
                </a:spcBef>
                <a:spcAft>
                  <a:spcPts val="0"/>
                </a:spcAft>
                <a:defRPr/>
              </a:pPr>
              <a:endParaRPr lang="en-NZ">
                <a:latin typeface="Arial"/>
                <a:cs typeface="Arial"/>
              </a:endParaRPr>
            </a:p>
          </p:txBody>
        </p:sp>
        <p:sp>
          <p:nvSpPr>
            <p:cNvPr id="36915" name="Rectangle 50"/>
            <p:cNvSpPr>
              <a:spLocks noChangeArrowheads="1"/>
            </p:cNvSpPr>
            <p:nvPr/>
          </p:nvSpPr>
          <p:spPr bwMode="auto">
            <a:xfrm>
              <a:off x="5329239" y="4075113"/>
              <a:ext cx="2533650" cy="139700"/>
            </a:xfrm>
            <a:prstGeom prst="rect">
              <a:avLst/>
            </a:prstGeom>
            <a:solidFill>
              <a:schemeClr val="accent4">
                <a:lumMod val="50000"/>
              </a:schemeClr>
            </a:solidFill>
            <a:ln w="9525">
              <a:solidFill>
                <a:schemeClr val="tx1"/>
              </a:solidFill>
              <a:miter lim="800000"/>
              <a:headEnd/>
              <a:tailEnd/>
            </a:ln>
            <a:effectLst/>
            <a:extLst/>
          </p:spPr>
          <p:txBody>
            <a:bodyPr wrap="none" anchor="ctr"/>
            <a:lstStyle/>
            <a:p>
              <a:pPr fontAlgn="auto">
                <a:spcBef>
                  <a:spcPts val="0"/>
                </a:spcBef>
                <a:spcAft>
                  <a:spcPts val="0"/>
                </a:spcAft>
                <a:defRPr/>
              </a:pPr>
              <a:endParaRPr lang="en-NZ">
                <a:latin typeface="Arial"/>
                <a:cs typeface="Arial"/>
              </a:endParaRPr>
            </a:p>
          </p:txBody>
        </p:sp>
        <p:sp>
          <p:nvSpPr>
            <p:cNvPr id="36916" name="Rectangle 51"/>
            <p:cNvSpPr>
              <a:spLocks noChangeArrowheads="1"/>
            </p:cNvSpPr>
            <p:nvPr/>
          </p:nvSpPr>
          <p:spPr bwMode="auto">
            <a:xfrm>
              <a:off x="6600826" y="4306888"/>
              <a:ext cx="1628775" cy="139700"/>
            </a:xfrm>
            <a:prstGeom prst="rect">
              <a:avLst/>
            </a:prstGeom>
            <a:solidFill>
              <a:schemeClr val="accent4">
                <a:lumMod val="50000"/>
              </a:schemeClr>
            </a:solidFill>
            <a:ln w="9525">
              <a:solidFill>
                <a:schemeClr val="tx1"/>
              </a:solidFill>
              <a:miter lim="800000"/>
              <a:headEnd/>
              <a:tailEnd/>
            </a:ln>
            <a:effectLst/>
            <a:extLst/>
          </p:spPr>
          <p:txBody>
            <a:bodyPr wrap="none" anchor="ctr"/>
            <a:lstStyle/>
            <a:p>
              <a:pPr fontAlgn="auto">
                <a:spcBef>
                  <a:spcPts val="0"/>
                </a:spcBef>
                <a:spcAft>
                  <a:spcPts val="0"/>
                </a:spcAft>
                <a:defRPr/>
              </a:pPr>
              <a:endParaRPr lang="en-NZ">
                <a:latin typeface="Arial"/>
                <a:cs typeface="Arial"/>
              </a:endParaRPr>
            </a:p>
          </p:txBody>
        </p:sp>
        <p:sp>
          <p:nvSpPr>
            <p:cNvPr id="36917" name="Rectangle 52"/>
            <p:cNvSpPr>
              <a:spLocks noChangeArrowheads="1"/>
            </p:cNvSpPr>
            <p:nvPr/>
          </p:nvSpPr>
          <p:spPr bwMode="auto">
            <a:xfrm>
              <a:off x="7191376" y="4540250"/>
              <a:ext cx="752475" cy="139700"/>
            </a:xfrm>
            <a:prstGeom prst="rect">
              <a:avLst/>
            </a:prstGeom>
            <a:solidFill>
              <a:schemeClr val="accent4">
                <a:lumMod val="50000"/>
              </a:schemeClr>
            </a:solidFill>
            <a:ln w="9525">
              <a:solidFill>
                <a:schemeClr val="tx1"/>
              </a:solidFill>
              <a:miter lim="800000"/>
              <a:headEnd/>
              <a:tailEnd/>
            </a:ln>
            <a:effectLst/>
            <a:extLst/>
          </p:spPr>
          <p:txBody>
            <a:bodyPr wrap="none" anchor="ctr"/>
            <a:lstStyle/>
            <a:p>
              <a:pPr fontAlgn="auto">
                <a:spcBef>
                  <a:spcPts val="0"/>
                </a:spcBef>
                <a:spcAft>
                  <a:spcPts val="0"/>
                </a:spcAft>
                <a:defRPr/>
              </a:pPr>
              <a:endParaRPr lang="en-NZ">
                <a:latin typeface="Arial"/>
                <a:cs typeface="Arial"/>
              </a:endParaRPr>
            </a:p>
          </p:txBody>
        </p:sp>
        <p:sp>
          <p:nvSpPr>
            <p:cNvPr id="36918" name="Rectangle 53"/>
            <p:cNvSpPr>
              <a:spLocks noChangeArrowheads="1"/>
            </p:cNvSpPr>
            <p:nvPr/>
          </p:nvSpPr>
          <p:spPr bwMode="auto">
            <a:xfrm>
              <a:off x="7905751" y="4773613"/>
              <a:ext cx="452438" cy="139700"/>
            </a:xfrm>
            <a:prstGeom prst="rect">
              <a:avLst/>
            </a:prstGeom>
            <a:solidFill>
              <a:schemeClr val="accent4">
                <a:lumMod val="50000"/>
              </a:schemeClr>
            </a:solidFill>
            <a:ln w="9525">
              <a:solidFill>
                <a:schemeClr val="tx1"/>
              </a:solidFill>
              <a:miter lim="800000"/>
              <a:headEnd/>
              <a:tailEnd/>
            </a:ln>
            <a:effectLst/>
            <a:extLst/>
          </p:spPr>
          <p:txBody>
            <a:bodyPr wrap="none" anchor="ctr"/>
            <a:lstStyle/>
            <a:p>
              <a:pPr fontAlgn="auto">
                <a:spcBef>
                  <a:spcPts val="0"/>
                </a:spcBef>
                <a:spcAft>
                  <a:spcPts val="0"/>
                </a:spcAft>
                <a:defRPr/>
              </a:pPr>
              <a:endParaRPr lang="en-NZ">
                <a:latin typeface="Arial"/>
                <a:cs typeface="Arial"/>
              </a:endParaRPr>
            </a:p>
          </p:txBody>
        </p:sp>
        <p:sp>
          <p:nvSpPr>
            <p:cNvPr id="36919" name="Rectangle 54"/>
            <p:cNvSpPr>
              <a:spLocks noChangeArrowheads="1"/>
            </p:cNvSpPr>
            <p:nvPr/>
          </p:nvSpPr>
          <p:spPr bwMode="auto">
            <a:xfrm>
              <a:off x="6638926" y="5006975"/>
              <a:ext cx="1033463" cy="139700"/>
            </a:xfrm>
            <a:prstGeom prst="rect">
              <a:avLst/>
            </a:prstGeom>
            <a:solidFill>
              <a:schemeClr val="accent4">
                <a:lumMod val="50000"/>
              </a:schemeClr>
            </a:solidFill>
            <a:ln w="9525">
              <a:solidFill>
                <a:schemeClr val="tx1"/>
              </a:solidFill>
              <a:miter lim="800000"/>
              <a:headEnd/>
              <a:tailEnd/>
            </a:ln>
            <a:effectLst/>
            <a:extLst/>
          </p:spPr>
          <p:txBody>
            <a:bodyPr wrap="none" anchor="ctr"/>
            <a:lstStyle/>
            <a:p>
              <a:pPr fontAlgn="auto">
                <a:spcBef>
                  <a:spcPts val="0"/>
                </a:spcBef>
                <a:spcAft>
                  <a:spcPts val="0"/>
                </a:spcAft>
                <a:defRPr/>
              </a:pPr>
              <a:endParaRPr lang="en-NZ">
                <a:latin typeface="Arial"/>
                <a:cs typeface="Arial"/>
              </a:endParaRPr>
            </a:p>
          </p:txBody>
        </p:sp>
        <p:sp>
          <p:nvSpPr>
            <p:cNvPr id="36920" name="Rectangle 55"/>
            <p:cNvSpPr>
              <a:spLocks noChangeArrowheads="1"/>
            </p:cNvSpPr>
            <p:nvPr/>
          </p:nvSpPr>
          <p:spPr bwMode="auto">
            <a:xfrm>
              <a:off x="7105651" y="5240338"/>
              <a:ext cx="1090613" cy="139700"/>
            </a:xfrm>
            <a:prstGeom prst="rect">
              <a:avLst/>
            </a:prstGeom>
            <a:solidFill>
              <a:schemeClr val="accent4">
                <a:lumMod val="50000"/>
              </a:schemeClr>
            </a:solidFill>
            <a:ln w="9525">
              <a:solidFill>
                <a:schemeClr val="tx1"/>
              </a:solidFill>
              <a:miter lim="800000"/>
              <a:headEnd/>
              <a:tailEnd/>
            </a:ln>
            <a:effectLst/>
            <a:extLst/>
          </p:spPr>
          <p:txBody>
            <a:bodyPr wrap="none" anchor="ctr"/>
            <a:lstStyle/>
            <a:p>
              <a:pPr fontAlgn="auto">
                <a:spcBef>
                  <a:spcPts val="0"/>
                </a:spcBef>
                <a:spcAft>
                  <a:spcPts val="0"/>
                </a:spcAft>
                <a:defRPr/>
              </a:pPr>
              <a:endParaRPr lang="en-NZ">
                <a:latin typeface="Arial"/>
                <a:cs typeface="Arial"/>
              </a:endParaRPr>
            </a:p>
          </p:txBody>
        </p:sp>
        <p:sp>
          <p:nvSpPr>
            <p:cNvPr id="36921" name="Rectangle 56"/>
            <p:cNvSpPr>
              <a:spLocks noChangeArrowheads="1"/>
            </p:cNvSpPr>
            <p:nvPr/>
          </p:nvSpPr>
          <p:spPr bwMode="auto">
            <a:xfrm>
              <a:off x="7639051" y="5499100"/>
              <a:ext cx="747713" cy="139700"/>
            </a:xfrm>
            <a:prstGeom prst="rect">
              <a:avLst/>
            </a:prstGeom>
            <a:solidFill>
              <a:schemeClr val="accent4">
                <a:lumMod val="50000"/>
              </a:schemeClr>
            </a:solidFill>
            <a:ln w="9525">
              <a:solidFill>
                <a:schemeClr val="tx1"/>
              </a:solidFill>
              <a:miter lim="800000"/>
              <a:headEnd/>
              <a:tailEnd/>
            </a:ln>
            <a:effectLst/>
            <a:extLst/>
          </p:spPr>
          <p:txBody>
            <a:bodyPr wrap="none" anchor="ctr"/>
            <a:lstStyle/>
            <a:p>
              <a:pPr fontAlgn="auto">
                <a:spcBef>
                  <a:spcPts val="0"/>
                </a:spcBef>
                <a:spcAft>
                  <a:spcPts val="0"/>
                </a:spcAft>
                <a:defRPr/>
              </a:pPr>
              <a:endParaRPr lang="en-NZ">
                <a:latin typeface="Arial"/>
                <a:cs typeface="Arial"/>
              </a:endParaRPr>
            </a:p>
          </p:txBody>
        </p:sp>
        <p:sp>
          <p:nvSpPr>
            <p:cNvPr id="79924" name="Line 15"/>
            <p:cNvSpPr>
              <a:spLocks noChangeShapeType="1"/>
            </p:cNvSpPr>
            <p:nvPr/>
          </p:nvSpPr>
          <p:spPr bwMode="auto">
            <a:xfrm>
              <a:off x="6594475" y="1435100"/>
              <a:ext cx="0" cy="4279900"/>
            </a:xfrm>
            <a:prstGeom prst="line">
              <a:avLst/>
            </a:prstGeom>
            <a:noFill/>
            <a:ln w="28575">
              <a:solidFill>
                <a:schemeClr val="tx1"/>
              </a:solidFill>
              <a:round/>
              <a:headEnd/>
              <a:tailEnd/>
            </a:ln>
          </p:spPr>
          <p:txBody>
            <a:bodyPr/>
            <a:lstStyle/>
            <a:p>
              <a:endParaRPr lang="en-US"/>
            </a:p>
          </p:txBody>
        </p:sp>
        <p:sp>
          <p:nvSpPr>
            <p:cNvPr id="79925" name="Line 16"/>
            <p:cNvSpPr>
              <a:spLocks noChangeShapeType="1"/>
            </p:cNvSpPr>
            <p:nvPr/>
          </p:nvSpPr>
          <p:spPr bwMode="auto">
            <a:xfrm>
              <a:off x="5551488" y="1435100"/>
              <a:ext cx="0" cy="4279900"/>
            </a:xfrm>
            <a:prstGeom prst="line">
              <a:avLst/>
            </a:prstGeom>
            <a:noFill/>
            <a:ln w="28575">
              <a:solidFill>
                <a:schemeClr val="tx1"/>
              </a:solidFill>
              <a:round/>
              <a:headEnd/>
              <a:tailEnd/>
            </a:ln>
          </p:spPr>
          <p:txBody>
            <a:bodyPr/>
            <a:lstStyle/>
            <a:p>
              <a:endParaRPr lang="en-US"/>
            </a:p>
          </p:txBody>
        </p:sp>
        <p:sp>
          <p:nvSpPr>
            <p:cNvPr id="79926" name="Line 17"/>
            <p:cNvSpPr>
              <a:spLocks noChangeShapeType="1"/>
            </p:cNvSpPr>
            <p:nvPr/>
          </p:nvSpPr>
          <p:spPr bwMode="auto">
            <a:xfrm>
              <a:off x="7637463" y="1435100"/>
              <a:ext cx="0" cy="4279900"/>
            </a:xfrm>
            <a:prstGeom prst="line">
              <a:avLst/>
            </a:prstGeom>
            <a:noFill/>
            <a:ln w="28575">
              <a:solidFill>
                <a:schemeClr val="tx1"/>
              </a:solidFill>
              <a:round/>
              <a:headEnd/>
              <a:tailEnd/>
            </a:ln>
          </p:spPr>
          <p:txBody>
            <a:bodyPr/>
            <a:lstStyle/>
            <a:p>
              <a:endParaRPr lang="en-US"/>
            </a:p>
          </p:txBody>
        </p:sp>
      </p:grpSp>
    </p:spTree>
  </p:cSld>
  <p:clrMapOvr>
    <a:masterClrMapping/>
  </p:clrMapOvr>
  <p:transition>
    <p:pull dir="l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18" presetClass="entr" presetSubtype="6" fill="hold" nodeType="afterEffect">
                                  <p:stCondLst>
                                    <p:cond delay="1000"/>
                                  </p:stCondLst>
                                  <p:childTnLst>
                                    <p:set>
                                      <p:cBhvr>
                                        <p:cTn id="6" dur="1" fill="hold">
                                          <p:stCondLst>
                                            <p:cond delay="0"/>
                                          </p:stCondLst>
                                        </p:cTn>
                                        <p:tgtEl>
                                          <p:spTgt spid="2"/>
                                        </p:tgtEl>
                                        <p:attrNameLst>
                                          <p:attrName>style.visibility</p:attrName>
                                        </p:attrNameLst>
                                      </p:cBhvr>
                                      <p:to>
                                        <p:strVal val="visible"/>
                                      </p:to>
                                    </p:set>
                                    <p:animEffect transition="in" filter="strips(downRight)">
                                      <p:cBhvr>
                                        <p:cTn id="7" dur="1000"/>
                                        <p:tgtEl>
                                          <p:spTgt spid="2"/>
                                        </p:tgtEl>
                                      </p:cBhvr>
                                    </p:animEffect>
                                  </p:childTnLst>
                                </p:cTn>
                              </p:par>
                            </p:childTnLst>
                          </p:cTn>
                        </p:par>
                        <p:par>
                          <p:cTn id="8" fill="hold">
                            <p:stCondLst>
                              <p:cond delay="2000"/>
                            </p:stCondLst>
                            <p:childTnLst>
                              <p:par>
                                <p:cTn id="9" presetID="22" presetClass="entr" presetSubtype="8" fill="hold" grpId="0" nodeType="afterEffect">
                                  <p:stCondLst>
                                    <p:cond delay="0"/>
                                  </p:stCondLst>
                                  <p:childTnLst>
                                    <p:set>
                                      <p:cBhvr>
                                        <p:cTn id="10" dur="1" fill="hold">
                                          <p:stCondLst>
                                            <p:cond delay="0"/>
                                          </p:stCondLst>
                                        </p:cTn>
                                        <p:tgtEl>
                                          <p:spTgt spid="81977"/>
                                        </p:tgtEl>
                                        <p:attrNameLst>
                                          <p:attrName>style.visibility</p:attrName>
                                        </p:attrNameLst>
                                      </p:cBhvr>
                                      <p:to>
                                        <p:strVal val="visible"/>
                                      </p:to>
                                    </p:set>
                                    <p:animEffect transition="in" filter="wipe(left)">
                                      <p:cBhvr>
                                        <p:cTn id="11" dur="1000"/>
                                        <p:tgtEl>
                                          <p:spTgt spid="8197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77"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533400"/>
          </a:xfrm>
        </p:spPr>
        <p:txBody>
          <a:bodyPr>
            <a:normAutofit fontScale="90000"/>
          </a:bodyPr>
          <a:lstStyle/>
          <a:p>
            <a:r>
              <a:rPr lang="en-US" dirty="0" smtClean="0"/>
              <a:t>CPM Example.</a:t>
            </a:r>
            <a:endParaRPr lang="en-US" dirty="0"/>
          </a:p>
        </p:txBody>
      </p:sp>
      <p:sp>
        <p:nvSpPr>
          <p:cNvPr id="3" name="Rectangle 2"/>
          <p:cNvSpPr/>
          <p:nvPr/>
        </p:nvSpPr>
        <p:spPr>
          <a:xfrm>
            <a:off x="304800" y="762000"/>
            <a:ext cx="8686800" cy="5665112"/>
          </a:xfrm>
          <a:prstGeom prst="rect">
            <a:avLst/>
          </a:prstGeom>
        </p:spPr>
        <p:txBody>
          <a:bodyPr wrap="square">
            <a:spAutoFit/>
          </a:bodyPr>
          <a:lstStyle/>
          <a:p>
            <a:r>
              <a:rPr lang="en-US" sz="2800" dirty="0" smtClean="0"/>
              <a:t>Milwaukee Paper Manufacturing had long delayed the expense of installing advanced computerized air pollution control equipment in its facility. But when the board of directors adopted a new proactive policy on sustainability, it did not just </a:t>
            </a:r>
            <a:r>
              <a:rPr lang="en-US" sz="2800" i="1" dirty="0" smtClean="0"/>
              <a:t>authorize the budget for the state-of-the-art equipment. It directed </a:t>
            </a:r>
            <a:r>
              <a:rPr lang="en-US" sz="2800" dirty="0" smtClean="0"/>
              <a:t>the plant manager, Julie Ann Williams, to complete the installation in time for a major announcement of the policy, on Earth Day, exactly 16 weeks away! Under strict deadline from her bosses, Williams needs to be sure that installation of the filtering system progresses smoothly and on time. Given the following information, develop a table showing activity precedence relationships.</a:t>
            </a:r>
            <a:endParaRPr lang="en-US" sz="2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5" name="Rectangle 2"/>
          <p:cNvSpPr>
            <a:spLocks noGrp="1" noChangeArrowheads="1"/>
          </p:cNvSpPr>
          <p:nvPr>
            <p:ph type="title"/>
          </p:nvPr>
        </p:nvSpPr>
        <p:spPr>
          <a:xfrm>
            <a:off x="596900" y="320675"/>
            <a:ext cx="7912100" cy="863600"/>
          </a:xfrm>
        </p:spPr>
        <p:txBody>
          <a:bodyPr/>
          <a:lstStyle/>
          <a:p>
            <a:r>
              <a:rPr lang="en-US" sz="4000" smtClean="0">
                <a:latin typeface="Arial" pitchFamily="34" charset="0"/>
                <a:cs typeface="Arial" pitchFamily="34" charset="0"/>
              </a:rPr>
              <a:t>AON Example </a:t>
            </a:r>
            <a:endParaRPr lang="en-US" sz="4000" smtClean="0">
              <a:solidFill>
                <a:srgbClr val="33CC33"/>
              </a:solidFill>
              <a:latin typeface="Arial" pitchFamily="34" charset="0"/>
              <a:cs typeface="Arial" pitchFamily="34" charset="0"/>
            </a:endParaRPr>
          </a:p>
        </p:txBody>
      </p:sp>
      <p:graphicFrame>
        <p:nvGraphicFramePr>
          <p:cNvPr id="2" name="Table 1"/>
          <p:cNvGraphicFramePr>
            <a:graphicFrameLocks noGrp="1"/>
          </p:cNvGraphicFramePr>
          <p:nvPr/>
        </p:nvGraphicFramePr>
        <p:xfrm>
          <a:off x="304800" y="1295400"/>
          <a:ext cx="6667500" cy="5029200"/>
        </p:xfrm>
        <a:graphic>
          <a:graphicData uri="http://schemas.openxmlformats.org/drawingml/2006/table">
            <a:tbl>
              <a:tblPr firstRow="1" bandRow="1">
                <a:tableStyleId>{2D5ABB26-0587-4C30-8999-92F81FD0307C}</a:tableStyleId>
              </a:tblPr>
              <a:tblGrid>
                <a:gridCol w="1049915"/>
                <a:gridCol w="248949"/>
                <a:gridCol w="3117273"/>
                <a:gridCol w="2251363"/>
              </a:tblGrid>
              <a:tr h="607915">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AU" sz="1800" b="0" dirty="0" smtClean="0">
                          <a:solidFill>
                            <a:srgbClr val="FFFFFF"/>
                          </a:solidFill>
                          <a:latin typeface="Arial"/>
                          <a:cs typeface="Arial"/>
                        </a:rPr>
                        <a:t>Table 3.1</a:t>
                      </a:r>
                    </a:p>
                  </a:txBody>
                  <a:tcPr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1"/>
                    </a:solidFill>
                  </a:tcPr>
                </a:tc>
                <a:tc gridSpan="3">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800" b="0" dirty="0" smtClean="0">
                          <a:solidFill>
                            <a:schemeClr val="tx1"/>
                          </a:solidFill>
                          <a:latin typeface="Arial"/>
                          <a:ea typeface="ＭＳ Ｐゴシック" charset="-128"/>
                          <a:cs typeface="Arial"/>
                        </a:rPr>
                        <a:t>Milwaukee Paper Manufacturing’s Activities and Predecessors</a:t>
                      </a:r>
                      <a:endParaRPr lang="en-AU" sz="1800" b="0" dirty="0" smtClean="0">
                        <a:solidFill>
                          <a:schemeClr val="tx1"/>
                        </a:solidFill>
                        <a:latin typeface="Arial"/>
                        <a:ea typeface="ＭＳ Ｐゴシック" charset="-128"/>
                        <a:cs typeface="Arial"/>
                      </a:endParaRPr>
                    </a:p>
                  </a:txBody>
                  <a:tcPr anchor="b">
                    <a:lnL w="12700" cap="flat" cmpd="sng" algn="ctr">
                      <a:solidFill>
                        <a:srgbClr val="000000"/>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n-US" b="0" dirty="0">
                        <a:solidFill>
                          <a:schemeClr val="tx1"/>
                        </a:solidFill>
                      </a:endParaRPr>
                    </a:p>
                  </a:txBody>
                  <a:tcP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tc hMerge="1">
                  <a:txBody>
                    <a:bodyPr/>
                    <a:lstStyle/>
                    <a:p>
                      <a:endParaRPr lang="en-US" b="0" dirty="0">
                        <a:solidFill>
                          <a:schemeClr val="tx1"/>
                        </a:solidFill>
                      </a:endParaRPr>
                    </a:p>
                  </a:txBody>
                  <a:tcP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tr>
              <a:tr h="607915">
                <a:tc gridSpan="2">
                  <a:txBody>
                    <a:bodyPr/>
                    <a:lstStyle/>
                    <a:p>
                      <a:pPr algn="ctr"/>
                      <a:r>
                        <a:rPr lang="en-US" sz="1800" b="1" dirty="0" smtClean="0">
                          <a:solidFill>
                            <a:schemeClr val="bg1"/>
                          </a:solidFill>
                          <a:latin typeface="Arial"/>
                          <a:cs typeface="Arial"/>
                        </a:rPr>
                        <a:t>ACTIVITY</a:t>
                      </a:r>
                      <a:endParaRPr lang="en-US" sz="1800" b="1" dirty="0">
                        <a:solidFill>
                          <a:schemeClr val="bg1"/>
                        </a:solidFill>
                        <a:latin typeface="Arial"/>
                        <a:cs typeface="Arial"/>
                      </a:endParaRPr>
                    </a:p>
                  </a:txBody>
                  <a:tcPr anchor="b">
                    <a:lnL w="12700" cap="flat" cmpd="sng" algn="ctr">
                      <a:solidFill>
                        <a:srgbClr val="000000"/>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solidFill>
                      <a:schemeClr val="accent1"/>
                    </a:solidFill>
                  </a:tcPr>
                </a:tc>
                <a:tc hMerge="1">
                  <a:txBody>
                    <a:bodyPr/>
                    <a:lstStyle/>
                    <a:p>
                      <a:endParaRPr lang="en-US" b="0" dirty="0">
                        <a:solidFill>
                          <a:schemeClr val="tx1"/>
                        </a:solidFill>
                      </a:endParaRPr>
                    </a:p>
                  </a:txBody>
                  <a:tcP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tc>
                  <a:txBody>
                    <a:bodyPr/>
                    <a:lstStyle/>
                    <a:p>
                      <a:r>
                        <a:rPr lang="en-US" sz="1800" b="1" dirty="0" smtClean="0">
                          <a:solidFill>
                            <a:schemeClr val="bg1"/>
                          </a:solidFill>
                          <a:latin typeface="Arial"/>
                          <a:cs typeface="Arial"/>
                        </a:rPr>
                        <a:t>DESCRIPTION</a:t>
                      </a:r>
                      <a:endParaRPr lang="en-US" sz="1800" b="1" dirty="0">
                        <a:solidFill>
                          <a:schemeClr val="bg1"/>
                        </a:solidFill>
                        <a:latin typeface="Arial"/>
                        <a:cs typeface="Arial"/>
                      </a:endParaRPr>
                    </a:p>
                  </a:txBody>
                  <a:tcPr anchor="b">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solidFill>
                      <a:schemeClr val="accent1"/>
                    </a:solidFill>
                  </a:tcPr>
                </a:tc>
                <a:tc>
                  <a:txBody>
                    <a:bodyPr/>
                    <a:lstStyle/>
                    <a:p>
                      <a:pPr algn="ctr"/>
                      <a:r>
                        <a:rPr lang="en-US" sz="1800" b="1" dirty="0" smtClean="0">
                          <a:solidFill>
                            <a:schemeClr val="bg1"/>
                          </a:solidFill>
                          <a:latin typeface="Arial"/>
                          <a:cs typeface="Arial"/>
                        </a:rPr>
                        <a:t>IMMEDIATE PREDECESSORS</a:t>
                      </a:r>
                      <a:endParaRPr lang="en-US" sz="1800" b="1" dirty="0">
                        <a:solidFill>
                          <a:schemeClr val="bg1"/>
                        </a:solidFill>
                        <a:latin typeface="Arial"/>
                        <a:cs typeface="Arial"/>
                      </a:endParaRPr>
                    </a:p>
                  </a:txBody>
                  <a:tcPr anchor="b">
                    <a:lnL w="12700" cap="flat" cmpd="sng" algn="ctr">
                      <a:solidFill>
                        <a:srgbClr val="FFFFFF">
                          <a:lumMod val="75000"/>
                        </a:srgbClr>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solidFill>
                      <a:schemeClr val="accent1"/>
                    </a:solidFill>
                  </a:tcPr>
                </a:tc>
              </a:tr>
              <a:tr h="352205">
                <a:tc gridSpan="2">
                  <a:txBody>
                    <a:bodyPr/>
                    <a:lstStyle/>
                    <a:p>
                      <a:pPr algn="ctr"/>
                      <a:r>
                        <a:rPr lang="en-US" sz="1800" b="0" dirty="0" smtClean="0">
                          <a:solidFill>
                            <a:schemeClr val="tx1"/>
                          </a:solidFill>
                          <a:latin typeface="Arial"/>
                          <a:cs typeface="Arial"/>
                        </a:rPr>
                        <a:t>A</a:t>
                      </a:r>
                      <a:endParaRPr lang="en-US" sz="1800" b="0" dirty="0">
                        <a:solidFill>
                          <a:schemeClr val="tx1"/>
                        </a:solidFill>
                        <a:latin typeface="Arial"/>
                        <a:cs typeface="Arial"/>
                      </a:endParaRPr>
                    </a:p>
                  </a:txBody>
                  <a:tcPr>
                    <a:lnL w="12700" cap="flat" cmpd="sng" algn="ctr">
                      <a:solidFill>
                        <a:srgbClr val="000000"/>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tc hMerge="1">
                  <a:txBody>
                    <a:bodyPr/>
                    <a:lstStyle/>
                    <a:p>
                      <a:endParaRPr lang="en-US" b="0" dirty="0">
                        <a:solidFill>
                          <a:schemeClr val="tx1"/>
                        </a:solidFill>
                      </a:endParaRPr>
                    </a:p>
                  </a:txBody>
                  <a:tcP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tc>
                  <a:txBody>
                    <a:bodyPr/>
                    <a:lstStyle/>
                    <a:p>
                      <a:r>
                        <a:rPr lang="en-US" sz="1800" b="0" dirty="0" smtClean="0">
                          <a:solidFill>
                            <a:schemeClr val="tx1"/>
                          </a:solidFill>
                          <a:latin typeface="Arial"/>
                          <a:cs typeface="Arial"/>
                        </a:rPr>
                        <a:t>Build internal components</a:t>
                      </a:r>
                      <a:endParaRPr lang="en-US" sz="1800" b="0" dirty="0">
                        <a:solidFill>
                          <a:schemeClr val="tx1"/>
                        </a:solidFill>
                        <a:latin typeface="Arial"/>
                        <a:cs typeface="Arial"/>
                      </a:endParaRPr>
                    </a:p>
                  </a:txBody>
                  <a:tcP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tc>
                  <a:txBody>
                    <a:bodyPr/>
                    <a:lstStyle/>
                    <a:p>
                      <a:pPr algn="ctr"/>
                      <a:r>
                        <a:rPr lang="en-US" sz="1800" b="0" dirty="0" smtClean="0">
                          <a:solidFill>
                            <a:schemeClr val="tx1"/>
                          </a:solidFill>
                          <a:latin typeface="Arial"/>
                          <a:cs typeface="Arial"/>
                        </a:rPr>
                        <a:t>—</a:t>
                      </a:r>
                      <a:endParaRPr lang="en-US" sz="1800" b="0" dirty="0">
                        <a:solidFill>
                          <a:schemeClr val="tx1"/>
                        </a:solidFill>
                        <a:latin typeface="Arial"/>
                        <a:cs typeface="Arial"/>
                      </a:endParaRPr>
                    </a:p>
                  </a:txBody>
                  <a:tcPr>
                    <a:lnL w="12700" cap="flat" cmpd="sng" algn="ctr">
                      <a:solidFill>
                        <a:srgbClr val="FFFFFF">
                          <a:lumMod val="75000"/>
                        </a:srgbClr>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tr>
              <a:tr h="352205">
                <a:tc gridSpan="2">
                  <a:txBody>
                    <a:bodyPr/>
                    <a:lstStyle/>
                    <a:p>
                      <a:pPr algn="ctr"/>
                      <a:r>
                        <a:rPr lang="en-US" sz="1800" b="0" dirty="0" smtClean="0">
                          <a:solidFill>
                            <a:schemeClr val="tx1"/>
                          </a:solidFill>
                          <a:latin typeface="Arial"/>
                          <a:cs typeface="Arial"/>
                        </a:rPr>
                        <a:t>B</a:t>
                      </a:r>
                      <a:endParaRPr lang="en-US" sz="1800" b="0" dirty="0">
                        <a:solidFill>
                          <a:schemeClr val="tx1"/>
                        </a:solidFill>
                        <a:latin typeface="Arial"/>
                        <a:cs typeface="Arial"/>
                      </a:endParaRPr>
                    </a:p>
                  </a:txBody>
                  <a:tcPr>
                    <a:lnL w="12700" cap="flat" cmpd="sng" algn="ctr">
                      <a:solidFill>
                        <a:srgbClr val="000000"/>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tc hMerge="1">
                  <a:txBody>
                    <a:bodyPr/>
                    <a:lstStyle/>
                    <a:p>
                      <a:endParaRPr lang="en-US" b="0" dirty="0">
                        <a:solidFill>
                          <a:schemeClr val="tx1"/>
                        </a:solidFill>
                      </a:endParaRPr>
                    </a:p>
                  </a:txBody>
                  <a:tcP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cap="none" normalizeH="0" baseline="0" dirty="0" smtClean="0">
                          <a:ln>
                            <a:noFill/>
                          </a:ln>
                          <a:solidFill>
                            <a:schemeClr val="tx1"/>
                          </a:solidFill>
                          <a:effectLst/>
                          <a:latin typeface="Arial"/>
                          <a:ea typeface="ＭＳ Ｐゴシック" charset="0"/>
                          <a:cs typeface="Arial"/>
                        </a:rPr>
                        <a:t>Modify roof and floor</a:t>
                      </a:r>
                    </a:p>
                  </a:txBody>
                  <a:tcP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tc>
                  <a:txBody>
                    <a:bodyPr/>
                    <a:lstStyle/>
                    <a:p>
                      <a:pPr algn="ctr"/>
                      <a:r>
                        <a:rPr lang="en-US" sz="1800" b="0" dirty="0" smtClean="0">
                          <a:solidFill>
                            <a:schemeClr val="tx1"/>
                          </a:solidFill>
                          <a:latin typeface="Arial"/>
                          <a:cs typeface="Arial"/>
                        </a:rPr>
                        <a:t>—</a:t>
                      </a:r>
                      <a:endParaRPr lang="en-US" sz="1800" b="0" dirty="0">
                        <a:solidFill>
                          <a:schemeClr val="tx1"/>
                        </a:solidFill>
                        <a:latin typeface="Arial"/>
                        <a:cs typeface="Arial"/>
                      </a:endParaRPr>
                    </a:p>
                  </a:txBody>
                  <a:tcPr>
                    <a:lnL w="12700" cap="flat" cmpd="sng" algn="ctr">
                      <a:solidFill>
                        <a:srgbClr val="FFFFFF">
                          <a:lumMod val="75000"/>
                        </a:srgbClr>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tr>
              <a:tr h="352205">
                <a:tc gridSpan="2">
                  <a:txBody>
                    <a:bodyPr/>
                    <a:lstStyle/>
                    <a:p>
                      <a:pPr algn="ctr"/>
                      <a:r>
                        <a:rPr lang="en-US" sz="1800" b="0" dirty="0" smtClean="0">
                          <a:solidFill>
                            <a:schemeClr val="tx1"/>
                          </a:solidFill>
                          <a:latin typeface="Arial"/>
                          <a:cs typeface="Arial"/>
                        </a:rPr>
                        <a:t>C</a:t>
                      </a:r>
                      <a:endParaRPr lang="en-US" sz="1800" b="0" dirty="0">
                        <a:solidFill>
                          <a:schemeClr val="tx1"/>
                        </a:solidFill>
                        <a:latin typeface="Arial"/>
                        <a:cs typeface="Arial"/>
                      </a:endParaRPr>
                    </a:p>
                  </a:txBody>
                  <a:tcPr>
                    <a:lnL w="12700" cap="flat" cmpd="sng" algn="ctr">
                      <a:solidFill>
                        <a:srgbClr val="000000"/>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tc hMerge="1">
                  <a:txBody>
                    <a:bodyPr/>
                    <a:lstStyle/>
                    <a:p>
                      <a:endParaRPr lang="en-US" b="0" dirty="0">
                        <a:solidFill>
                          <a:schemeClr val="tx1"/>
                        </a:solidFill>
                      </a:endParaRPr>
                    </a:p>
                  </a:txBody>
                  <a:tcP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cap="none" normalizeH="0" baseline="0" dirty="0" smtClean="0">
                          <a:ln>
                            <a:noFill/>
                          </a:ln>
                          <a:solidFill>
                            <a:schemeClr val="tx1"/>
                          </a:solidFill>
                          <a:effectLst/>
                          <a:latin typeface="Arial"/>
                          <a:ea typeface="ＭＳ Ｐゴシック" charset="0"/>
                          <a:cs typeface="Arial"/>
                        </a:rPr>
                        <a:t>Construct collection stack</a:t>
                      </a:r>
                    </a:p>
                  </a:txBody>
                  <a:tcP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tc>
                  <a:txBody>
                    <a:bodyPr/>
                    <a:lstStyle/>
                    <a:p>
                      <a:pPr algn="ctr"/>
                      <a:r>
                        <a:rPr lang="en-US" sz="1800" b="0" dirty="0" smtClean="0">
                          <a:solidFill>
                            <a:schemeClr val="tx1"/>
                          </a:solidFill>
                          <a:latin typeface="Arial"/>
                          <a:cs typeface="Arial"/>
                        </a:rPr>
                        <a:t>A</a:t>
                      </a:r>
                      <a:endParaRPr lang="en-US" sz="1800" b="0" dirty="0">
                        <a:solidFill>
                          <a:schemeClr val="tx1"/>
                        </a:solidFill>
                        <a:latin typeface="Arial"/>
                        <a:cs typeface="Arial"/>
                      </a:endParaRPr>
                    </a:p>
                  </a:txBody>
                  <a:tcPr>
                    <a:lnL w="12700" cap="flat" cmpd="sng" algn="ctr">
                      <a:solidFill>
                        <a:srgbClr val="FFFFFF">
                          <a:lumMod val="75000"/>
                        </a:srgbClr>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tr>
              <a:tr h="607915">
                <a:tc gridSpan="2">
                  <a:txBody>
                    <a:bodyPr/>
                    <a:lstStyle/>
                    <a:p>
                      <a:pPr algn="ctr"/>
                      <a:r>
                        <a:rPr lang="en-US" sz="1800" b="0" dirty="0" smtClean="0">
                          <a:solidFill>
                            <a:schemeClr val="tx1"/>
                          </a:solidFill>
                          <a:latin typeface="Arial"/>
                          <a:cs typeface="Arial"/>
                        </a:rPr>
                        <a:t>D</a:t>
                      </a:r>
                      <a:endParaRPr lang="en-US" sz="1800" b="0" dirty="0">
                        <a:solidFill>
                          <a:schemeClr val="tx1"/>
                        </a:solidFill>
                        <a:latin typeface="Arial"/>
                        <a:cs typeface="Arial"/>
                      </a:endParaRPr>
                    </a:p>
                  </a:txBody>
                  <a:tcPr>
                    <a:lnL w="12700" cap="flat" cmpd="sng" algn="ctr">
                      <a:solidFill>
                        <a:srgbClr val="000000"/>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tc hMerge="1">
                  <a:txBody>
                    <a:bodyPr/>
                    <a:lstStyle/>
                    <a:p>
                      <a:endParaRPr lang="en-US" b="0" dirty="0">
                        <a:solidFill>
                          <a:schemeClr val="tx1"/>
                        </a:solidFill>
                      </a:endParaRPr>
                    </a:p>
                  </a:txBody>
                  <a:tcP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cap="none" normalizeH="0" baseline="0" dirty="0" smtClean="0">
                          <a:ln>
                            <a:noFill/>
                          </a:ln>
                          <a:solidFill>
                            <a:schemeClr val="tx1"/>
                          </a:solidFill>
                          <a:effectLst/>
                          <a:latin typeface="Arial"/>
                          <a:ea typeface="ＭＳ Ｐゴシック" charset="0"/>
                          <a:cs typeface="Arial"/>
                        </a:rPr>
                        <a:t>Pour concrete and install frame</a:t>
                      </a:r>
                    </a:p>
                  </a:txBody>
                  <a:tcP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tc>
                  <a:txBody>
                    <a:bodyPr/>
                    <a:lstStyle/>
                    <a:p>
                      <a:pPr algn="ctr"/>
                      <a:r>
                        <a:rPr lang="en-US" sz="1800" b="0" dirty="0" smtClean="0">
                          <a:solidFill>
                            <a:schemeClr val="tx1"/>
                          </a:solidFill>
                          <a:latin typeface="Arial"/>
                          <a:cs typeface="Arial"/>
                        </a:rPr>
                        <a:t>A, B</a:t>
                      </a:r>
                      <a:endParaRPr lang="en-US" sz="1800" b="0" dirty="0">
                        <a:solidFill>
                          <a:schemeClr val="tx1"/>
                        </a:solidFill>
                        <a:latin typeface="Arial"/>
                        <a:cs typeface="Arial"/>
                      </a:endParaRPr>
                    </a:p>
                  </a:txBody>
                  <a:tcPr>
                    <a:lnL w="12700" cap="flat" cmpd="sng" algn="ctr">
                      <a:solidFill>
                        <a:srgbClr val="FFFFFF">
                          <a:lumMod val="75000"/>
                        </a:srgbClr>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tr>
              <a:tr h="607915">
                <a:tc gridSpan="2">
                  <a:txBody>
                    <a:bodyPr/>
                    <a:lstStyle/>
                    <a:p>
                      <a:pPr algn="ctr"/>
                      <a:r>
                        <a:rPr lang="en-US" sz="1800" b="0" dirty="0" smtClean="0">
                          <a:solidFill>
                            <a:schemeClr val="tx1"/>
                          </a:solidFill>
                          <a:latin typeface="Arial"/>
                          <a:cs typeface="Arial"/>
                        </a:rPr>
                        <a:t>E</a:t>
                      </a:r>
                      <a:endParaRPr lang="en-US" sz="1800" b="0" dirty="0">
                        <a:solidFill>
                          <a:schemeClr val="tx1"/>
                        </a:solidFill>
                        <a:latin typeface="Arial"/>
                        <a:cs typeface="Arial"/>
                      </a:endParaRPr>
                    </a:p>
                  </a:txBody>
                  <a:tcPr>
                    <a:lnL w="12700" cap="flat" cmpd="sng" algn="ctr">
                      <a:solidFill>
                        <a:srgbClr val="000000"/>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tc hMerge="1">
                  <a:txBody>
                    <a:bodyPr/>
                    <a:lstStyle/>
                    <a:p>
                      <a:endParaRPr lang="en-US" b="0" dirty="0">
                        <a:solidFill>
                          <a:schemeClr val="tx1"/>
                        </a:solidFill>
                      </a:endParaRPr>
                    </a:p>
                  </a:txBody>
                  <a:tcP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cap="none" normalizeH="0" baseline="0" dirty="0" smtClean="0">
                          <a:ln>
                            <a:noFill/>
                          </a:ln>
                          <a:solidFill>
                            <a:schemeClr val="tx1"/>
                          </a:solidFill>
                          <a:effectLst/>
                          <a:latin typeface="Arial"/>
                          <a:ea typeface="ＭＳ Ｐゴシック" charset="0"/>
                          <a:cs typeface="Arial"/>
                        </a:rPr>
                        <a:t>Build high-temperature burner</a:t>
                      </a:r>
                    </a:p>
                  </a:txBody>
                  <a:tcP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tc>
                  <a:txBody>
                    <a:bodyPr/>
                    <a:lstStyle/>
                    <a:p>
                      <a:pPr algn="ctr"/>
                      <a:r>
                        <a:rPr lang="en-US" sz="1800" b="0" dirty="0" smtClean="0">
                          <a:solidFill>
                            <a:schemeClr val="tx1"/>
                          </a:solidFill>
                          <a:latin typeface="Arial"/>
                          <a:cs typeface="Arial"/>
                        </a:rPr>
                        <a:t>C</a:t>
                      </a:r>
                      <a:endParaRPr lang="en-US" sz="1800" b="0" dirty="0">
                        <a:solidFill>
                          <a:schemeClr val="tx1"/>
                        </a:solidFill>
                        <a:latin typeface="Arial"/>
                        <a:cs typeface="Arial"/>
                      </a:endParaRPr>
                    </a:p>
                  </a:txBody>
                  <a:tcPr>
                    <a:lnL w="12700" cap="flat" cmpd="sng" algn="ctr">
                      <a:solidFill>
                        <a:srgbClr val="FFFFFF">
                          <a:lumMod val="75000"/>
                        </a:srgbClr>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tr>
              <a:tr h="607915">
                <a:tc gridSpan="2">
                  <a:txBody>
                    <a:bodyPr/>
                    <a:lstStyle/>
                    <a:p>
                      <a:pPr algn="ctr"/>
                      <a:r>
                        <a:rPr lang="en-US" sz="1800" b="0" dirty="0" smtClean="0">
                          <a:solidFill>
                            <a:schemeClr val="tx1"/>
                          </a:solidFill>
                          <a:latin typeface="Arial"/>
                          <a:cs typeface="Arial"/>
                        </a:rPr>
                        <a:t>F</a:t>
                      </a:r>
                      <a:endParaRPr lang="en-US" sz="1800" b="0" dirty="0">
                        <a:solidFill>
                          <a:schemeClr val="tx1"/>
                        </a:solidFill>
                        <a:latin typeface="Arial"/>
                        <a:cs typeface="Arial"/>
                      </a:endParaRPr>
                    </a:p>
                  </a:txBody>
                  <a:tcPr>
                    <a:lnL w="12700" cap="flat" cmpd="sng" algn="ctr">
                      <a:solidFill>
                        <a:srgbClr val="000000"/>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tc hMerge="1">
                  <a:txBody>
                    <a:bodyPr/>
                    <a:lstStyle/>
                    <a:p>
                      <a:endParaRPr lang="en-US" b="0" dirty="0">
                        <a:solidFill>
                          <a:schemeClr val="tx1"/>
                        </a:solidFill>
                      </a:endParaRPr>
                    </a:p>
                  </a:txBody>
                  <a:tcP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cap="none" normalizeH="0" baseline="0" dirty="0" smtClean="0">
                          <a:ln>
                            <a:noFill/>
                          </a:ln>
                          <a:solidFill>
                            <a:schemeClr val="tx1"/>
                          </a:solidFill>
                          <a:effectLst/>
                          <a:latin typeface="Arial"/>
                          <a:ea typeface="ＭＳ Ｐゴシック" charset="0"/>
                          <a:cs typeface="Arial"/>
                        </a:rPr>
                        <a:t>Install pollution control system</a:t>
                      </a:r>
                    </a:p>
                  </a:txBody>
                  <a:tcP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tc>
                  <a:txBody>
                    <a:bodyPr/>
                    <a:lstStyle/>
                    <a:p>
                      <a:pPr algn="ctr"/>
                      <a:r>
                        <a:rPr lang="en-US" sz="1800" b="0" dirty="0" smtClean="0">
                          <a:solidFill>
                            <a:schemeClr val="tx1"/>
                          </a:solidFill>
                          <a:latin typeface="Arial"/>
                          <a:cs typeface="Arial"/>
                        </a:rPr>
                        <a:t>C</a:t>
                      </a:r>
                      <a:endParaRPr lang="en-US" sz="1800" b="0" dirty="0">
                        <a:solidFill>
                          <a:schemeClr val="tx1"/>
                        </a:solidFill>
                        <a:latin typeface="Arial"/>
                        <a:cs typeface="Arial"/>
                      </a:endParaRPr>
                    </a:p>
                  </a:txBody>
                  <a:tcPr>
                    <a:lnL w="12700" cap="flat" cmpd="sng" algn="ctr">
                      <a:solidFill>
                        <a:srgbClr val="FFFFFF">
                          <a:lumMod val="75000"/>
                        </a:srgbClr>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tr>
              <a:tr h="352205">
                <a:tc gridSpan="2">
                  <a:txBody>
                    <a:bodyPr/>
                    <a:lstStyle/>
                    <a:p>
                      <a:pPr algn="ctr"/>
                      <a:r>
                        <a:rPr lang="en-US" sz="1800" b="0" dirty="0" smtClean="0">
                          <a:solidFill>
                            <a:schemeClr val="tx1"/>
                          </a:solidFill>
                          <a:latin typeface="Arial"/>
                          <a:cs typeface="Arial"/>
                        </a:rPr>
                        <a:t>G</a:t>
                      </a:r>
                      <a:endParaRPr lang="en-US" sz="1800" b="0" dirty="0">
                        <a:solidFill>
                          <a:schemeClr val="tx1"/>
                        </a:solidFill>
                        <a:latin typeface="Arial"/>
                        <a:cs typeface="Arial"/>
                      </a:endParaRPr>
                    </a:p>
                  </a:txBody>
                  <a:tcPr>
                    <a:lnL w="12700" cap="flat" cmpd="sng" algn="ctr">
                      <a:solidFill>
                        <a:srgbClr val="000000"/>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tc hMerge="1">
                  <a:txBody>
                    <a:bodyPr/>
                    <a:lstStyle/>
                    <a:p>
                      <a:endParaRPr lang="en-US" b="0" dirty="0">
                        <a:solidFill>
                          <a:schemeClr val="tx1"/>
                        </a:solidFill>
                      </a:endParaRPr>
                    </a:p>
                  </a:txBody>
                  <a:tcP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cap="none" normalizeH="0" baseline="0" dirty="0" smtClean="0">
                          <a:ln>
                            <a:noFill/>
                          </a:ln>
                          <a:solidFill>
                            <a:schemeClr val="tx1"/>
                          </a:solidFill>
                          <a:effectLst/>
                          <a:latin typeface="Arial"/>
                          <a:ea typeface="ＭＳ Ｐゴシック" charset="0"/>
                          <a:cs typeface="Arial"/>
                        </a:rPr>
                        <a:t>Install air pollution device</a:t>
                      </a:r>
                    </a:p>
                  </a:txBody>
                  <a:tcP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tc>
                  <a:txBody>
                    <a:bodyPr/>
                    <a:lstStyle/>
                    <a:p>
                      <a:pPr algn="ctr"/>
                      <a:r>
                        <a:rPr lang="en-US" sz="1800" b="0" dirty="0" smtClean="0">
                          <a:solidFill>
                            <a:schemeClr val="tx1"/>
                          </a:solidFill>
                          <a:latin typeface="Arial"/>
                          <a:cs typeface="Arial"/>
                        </a:rPr>
                        <a:t>D, E</a:t>
                      </a:r>
                      <a:endParaRPr lang="en-US" sz="1800" b="0" dirty="0">
                        <a:solidFill>
                          <a:schemeClr val="tx1"/>
                        </a:solidFill>
                        <a:latin typeface="Arial"/>
                        <a:cs typeface="Arial"/>
                      </a:endParaRPr>
                    </a:p>
                  </a:txBody>
                  <a:tcPr>
                    <a:lnL w="12700" cap="flat" cmpd="sng" algn="ctr">
                      <a:solidFill>
                        <a:srgbClr val="FFFFFF">
                          <a:lumMod val="75000"/>
                        </a:srgbClr>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tr>
              <a:tr h="352205">
                <a:tc gridSpan="2">
                  <a:txBody>
                    <a:bodyPr/>
                    <a:lstStyle/>
                    <a:p>
                      <a:pPr algn="ctr"/>
                      <a:r>
                        <a:rPr lang="en-US" sz="1800" b="0" dirty="0" smtClean="0">
                          <a:solidFill>
                            <a:schemeClr val="tx1"/>
                          </a:solidFill>
                          <a:latin typeface="Arial"/>
                          <a:cs typeface="Arial"/>
                        </a:rPr>
                        <a:t>H</a:t>
                      </a:r>
                      <a:endParaRPr lang="en-US" sz="1800" b="0" dirty="0">
                        <a:solidFill>
                          <a:schemeClr val="tx1"/>
                        </a:solidFill>
                        <a:latin typeface="Arial"/>
                        <a:cs typeface="Arial"/>
                      </a:endParaRPr>
                    </a:p>
                  </a:txBody>
                  <a:tcPr>
                    <a:lnL w="12700" cap="flat" cmpd="sng" algn="ctr">
                      <a:solidFill>
                        <a:srgbClr val="000000"/>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n-US" b="0" dirty="0">
                        <a:solidFill>
                          <a:schemeClr val="tx1"/>
                        </a:solidFill>
                      </a:endParaRPr>
                    </a:p>
                  </a:txBody>
                  <a:tcP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tc>
                  <a:txBody>
                    <a:bodyPr/>
                    <a:lstStyle/>
                    <a:p>
                      <a:r>
                        <a:rPr kumimoji="0" lang="en-US" sz="1800" b="0" i="0" u="none" strike="noStrike" cap="none" normalizeH="0" baseline="0" dirty="0" smtClean="0">
                          <a:ln>
                            <a:noFill/>
                          </a:ln>
                          <a:solidFill>
                            <a:schemeClr val="tx1"/>
                          </a:solidFill>
                          <a:effectLst/>
                          <a:latin typeface="Arial"/>
                          <a:ea typeface="ＭＳ Ｐゴシック" charset="0"/>
                          <a:cs typeface="Arial"/>
                        </a:rPr>
                        <a:t>Inspect and test</a:t>
                      </a:r>
                      <a:endParaRPr lang="en-US" sz="1800" b="0" dirty="0">
                        <a:solidFill>
                          <a:schemeClr val="tx1"/>
                        </a:solidFill>
                        <a:latin typeface="Arial"/>
                        <a:cs typeface="Arial"/>
                      </a:endParaRPr>
                    </a:p>
                  </a:txBody>
                  <a:tcP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en-US" sz="1800" b="0" dirty="0" smtClean="0">
                          <a:solidFill>
                            <a:schemeClr val="tx1"/>
                          </a:solidFill>
                          <a:latin typeface="Arial"/>
                          <a:cs typeface="Arial"/>
                        </a:rPr>
                        <a:t>F, G</a:t>
                      </a:r>
                      <a:endParaRPr lang="en-US" sz="1800" b="0" dirty="0">
                        <a:solidFill>
                          <a:schemeClr val="tx1"/>
                        </a:solidFill>
                        <a:latin typeface="Arial"/>
                        <a:cs typeface="Arial"/>
                      </a:endParaRPr>
                    </a:p>
                  </a:txBody>
                  <a:tcPr>
                    <a:lnL w="12700" cap="flat" cmpd="sng" algn="ctr">
                      <a:solidFill>
                        <a:srgbClr val="FFFFFF">
                          <a:lumMod val="75000"/>
                        </a:srgbClr>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graphicFrame>
        <p:nvGraphicFramePr>
          <p:cNvPr id="4" name="Table 3"/>
          <p:cNvGraphicFramePr>
            <a:graphicFrameLocks noGrp="1"/>
          </p:cNvGraphicFramePr>
          <p:nvPr/>
        </p:nvGraphicFramePr>
        <p:xfrm>
          <a:off x="7010400" y="1905000"/>
          <a:ext cx="2057400" cy="4953000"/>
        </p:xfrm>
        <a:graphic>
          <a:graphicData uri="http://schemas.openxmlformats.org/drawingml/2006/table">
            <a:tbl>
              <a:tblPr firstRow="1" bandRow="1">
                <a:tableStyleId>{2D5ABB26-0587-4C30-8999-92F81FD0307C}</a:tableStyleId>
              </a:tblPr>
              <a:tblGrid>
                <a:gridCol w="2057400"/>
              </a:tblGrid>
              <a:tr h="485896">
                <a:tc>
                  <a:txBody>
                    <a:bodyPr/>
                    <a:lstStyle/>
                    <a:p>
                      <a:pPr algn="ctr"/>
                      <a:r>
                        <a:rPr lang="en-US" sz="1800" b="1" dirty="0" smtClean="0">
                          <a:solidFill>
                            <a:schemeClr val="bg1"/>
                          </a:solidFill>
                          <a:latin typeface="Arial"/>
                          <a:cs typeface="Arial"/>
                        </a:rPr>
                        <a:t>TIME (WEEKS)</a:t>
                      </a:r>
                      <a:endParaRPr lang="en-US" sz="1800" b="1" dirty="0">
                        <a:solidFill>
                          <a:schemeClr val="bg1"/>
                        </a:solidFill>
                        <a:latin typeface="Arial"/>
                        <a:cs typeface="Arial"/>
                      </a:endParaRPr>
                    </a:p>
                  </a:txBody>
                  <a:tcPr anchor="b">
                    <a:lnL w="12700" cap="flat" cmpd="sng" algn="ctr">
                      <a:solidFill>
                        <a:srgbClr val="FFFFFF">
                          <a:lumMod val="75000"/>
                        </a:srgbClr>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solidFill>
                      <a:schemeClr val="accent1"/>
                    </a:solidFill>
                  </a:tcPr>
                </a:tc>
              </a:tr>
              <a:tr h="485896">
                <a:tc>
                  <a:txBody>
                    <a:bodyPr/>
                    <a:lstStyle/>
                    <a:p>
                      <a:pPr algn="ctr"/>
                      <a:r>
                        <a:rPr lang="en-US" sz="1800" b="0" dirty="0" smtClean="0">
                          <a:solidFill>
                            <a:schemeClr val="tx1"/>
                          </a:solidFill>
                          <a:latin typeface="Arial"/>
                          <a:cs typeface="Arial"/>
                        </a:rPr>
                        <a:t>2</a:t>
                      </a:r>
                      <a:endParaRPr lang="en-US" sz="1800" b="0" dirty="0">
                        <a:solidFill>
                          <a:schemeClr val="tx1"/>
                        </a:solidFill>
                        <a:latin typeface="Arial"/>
                        <a:cs typeface="Arial"/>
                      </a:endParaRPr>
                    </a:p>
                  </a:txBody>
                  <a:tcPr>
                    <a:lnL w="12700" cap="flat" cmpd="sng" algn="ctr">
                      <a:solidFill>
                        <a:srgbClr val="FFFFFF">
                          <a:lumMod val="75000"/>
                        </a:srgbClr>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tr>
              <a:tr h="376177">
                <a:tc>
                  <a:txBody>
                    <a:bodyPr/>
                    <a:lstStyle/>
                    <a:p>
                      <a:pPr algn="ctr"/>
                      <a:r>
                        <a:rPr lang="en-US" sz="1800" b="0" dirty="0" smtClean="0">
                          <a:solidFill>
                            <a:schemeClr val="tx1"/>
                          </a:solidFill>
                          <a:latin typeface="Arial"/>
                          <a:cs typeface="Arial"/>
                        </a:rPr>
                        <a:t>3</a:t>
                      </a:r>
                      <a:endParaRPr lang="en-US" sz="1800" b="0" dirty="0">
                        <a:solidFill>
                          <a:schemeClr val="tx1"/>
                        </a:solidFill>
                        <a:latin typeface="Arial"/>
                        <a:cs typeface="Arial"/>
                      </a:endParaRPr>
                    </a:p>
                  </a:txBody>
                  <a:tcPr>
                    <a:lnL w="12700" cap="flat" cmpd="sng" algn="ctr">
                      <a:solidFill>
                        <a:srgbClr val="FFFFFF">
                          <a:lumMod val="75000"/>
                        </a:srgbClr>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tr>
              <a:tr h="376177">
                <a:tc>
                  <a:txBody>
                    <a:bodyPr/>
                    <a:lstStyle/>
                    <a:p>
                      <a:pPr algn="ctr"/>
                      <a:r>
                        <a:rPr lang="en-US" sz="1800" b="0" dirty="0" smtClean="0">
                          <a:solidFill>
                            <a:schemeClr val="tx1"/>
                          </a:solidFill>
                          <a:latin typeface="Arial"/>
                          <a:cs typeface="Arial"/>
                        </a:rPr>
                        <a:t>2</a:t>
                      </a:r>
                      <a:endParaRPr lang="en-US" sz="1800" b="0" dirty="0">
                        <a:solidFill>
                          <a:schemeClr val="tx1"/>
                        </a:solidFill>
                        <a:latin typeface="Arial"/>
                        <a:cs typeface="Arial"/>
                      </a:endParaRPr>
                    </a:p>
                  </a:txBody>
                  <a:tcPr>
                    <a:lnL w="12700" cap="flat" cmpd="sng" algn="ctr">
                      <a:solidFill>
                        <a:srgbClr val="FFFFFF">
                          <a:lumMod val="75000"/>
                        </a:srgbClr>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tr>
              <a:tr h="626962">
                <a:tc>
                  <a:txBody>
                    <a:bodyPr/>
                    <a:lstStyle/>
                    <a:p>
                      <a:pPr algn="ctr"/>
                      <a:r>
                        <a:rPr lang="en-US" sz="1800" b="0" dirty="0" smtClean="0">
                          <a:solidFill>
                            <a:schemeClr val="tx1"/>
                          </a:solidFill>
                          <a:latin typeface="Arial"/>
                          <a:cs typeface="Arial"/>
                        </a:rPr>
                        <a:t>4</a:t>
                      </a:r>
                      <a:endParaRPr lang="en-US" sz="1800" b="0" dirty="0">
                        <a:solidFill>
                          <a:schemeClr val="tx1"/>
                        </a:solidFill>
                        <a:latin typeface="Arial"/>
                        <a:cs typeface="Arial"/>
                      </a:endParaRPr>
                    </a:p>
                  </a:txBody>
                  <a:tcPr>
                    <a:lnL w="12700" cap="flat" cmpd="sng" algn="ctr">
                      <a:solidFill>
                        <a:srgbClr val="FFFFFF">
                          <a:lumMod val="75000"/>
                        </a:srgbClr>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tr>
              <a:tr h="626962">
                <a:tc>
                  <a:txBody>
                    <a:bodyPr/>
                    <a:lstStyle/>
                    <a:p>
                      <a:pPr algn="ctr"/>
                      <a:r>
                        <a:rPr lang="en-US" sz="1800" b="0" dirty="0" smtClean="0">
                          <a:solidFill>
                            <a:schemeClr val="tx1"/>
                          </a:solidFill>
                          <a:latin typeface="Arial"/>
                          <a:cs typeface="Arial"/>
                        </a:rPr>
                        <a:t>4</a:t>
                      </a:r>
                      <a:endParaRPr lang="en-US" sz="1800" b="0" dirty="0">
                        <a:solidFill>
                          <a:schemeClr val="tx1"/>
                        </a:solidFill>
                        <a:latin typeface="Arial"/>
                        <a:cs typeface="Arial"/>
                      </a:endParaRPr>
                    </a:p>
                  </a:txBody>
                  <a:tcPr>
                    <a:lnL w="12700" cap="flat" cmpd="sng" algn="ctr">
                      <a:solidFill>
                        <a:srgbClr val="FFFFFF">
                          <a:lumMod val="75000"/>
                        </a:srgbClr>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tr>
              <a:tr h="705332">
                <a:tc>
                  <a:txBody>
                    <a:bodyPr/>
                    <a:lstStyle/>
                    <a:p>
                      <a:pPr algn="ctr"/>
                      <a:r>
                        <a:rPr lang="en-US" sz="1800" b="0" dirty="0" smtClean="0">
                          <a:solidFill>
                            <a:schemeClr val="tx1"/>
                          </a:solidFill>
                          <a:latin typeface="Arial"/>
                          <a:cs typeface="Arial"/>
                        </a:rPr>
                        <a:t>3</a:t>
                      </a:r>
                      <a:endParaRPr lang="en-US" sz="1800" b="0" dirty="0">
                        <a:solidFill>
                          <a:schemeClr val="tx1"/>
                        </a:solidFill>
                        <a:latin typeface="Arial"/>
                        <a:cs typeface="Arial"/>
                      </a:endParaRPr>
                    </a:p>
                  </a:txBody>
                  <a:tcPr>
                    <a:lnL w="12700" cap="flat" cmpd="sng" algn="ctr">
                      <a:solidFill>
                        <a:srgbClr val="FFFFFF">
                          <a:lumMod val="75000"/>
                        </a:srgbClr>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tr>
              <a:tr h="391851">
                <a:tc>
                  <a:txBody>
                    <a:bodyPr/>
                    <a:lstStyle/>
                    <a:p>
                      <a:pPr algn="ctr"/>
                      <a:r>
                        <a:rPr lang="en-US" sz="1800" b="0" dirty="0" smtClean="0">
                          <a:solidFill>
                            <a:schemeClr val="tx1"/>
                          </a:solidFill>
                          <a:latin typeface="Arial"/>
                          <a:cs typeface="Arial"/>
                        </a:rPr>
                        <a:t>5</a:t>
                      </a:r>
                      <a:endParaRPr lang="en-US" sz="1800" b="0" dirty="0">
                        <a:solidFill>
                          <a:schemeClr val="tx1"/>
                        </a:solidFill>
                        <a:latin typeface="Arial"/>
                        <a:cs typeface="Arial"/>
                      </a:endParaRPr>
                    </a:p>
                  </a:txBody>
                  <a:tcPr>
                    <a:lnL w="12700" cap="flat" cmpd="sng" algn="ctr">
                      <a:solidFill>
                        <a:srgbClr val="FFFFFF">
                          <a:lumMod val="75000"/>
                        </a:srgbClr>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tr>
              <a:tr h="391851">
                <a:tc>
                  <a:txBody>
                    <a:bodyPr/>
                    <a:lstStyle/>
                    <a:p>
                      <a:pPr algn="ctr"/>
                      <a:r>
                        <a:rPr lang="en-US" sz="1800" b="0" dirty="0" smtClean="0">
                          <a:solidFill>
                            <a:schemeClr val="tx1"/>
                          </a:solidFill>
                          <a:latin typeface="Arial"/>
                          <a:cs typeface="Arial"/>
                        </a:rPr>
                        <a:t>2</a:t>
                      </a:r>
                      <a:endParaRPr lang="en-US" sz="1800" b="0" dirty="0">
                        <a:solidFill>
                          <a:schemeClr val="tx1"/>
                        </a:solidFill>
                        <a:latin typeface="Arial"/>
                        <a:cs typeface="Arial"/>
                      </a:endParaRPr>
                    </a:p>
                  </a:txBody>
                  <a:tcPr>
                    <a:lnL w="12700" cap="flat" cmpd="sng" algn="ctr">
                      <a:solidFill>
                        <a:srgbClr val="FFFFFF">
                          <a:lumMod val="75000"/>
                        </a:srgbClr>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85896">
                <a:tc>
                  <a:txBody>
                    <a:bodyPr/>
                    <a:lstStyle/>
                    <a:p>
                      <a:pPr algn="ctr"/>
                      <a:r>
                        <a:rPr lang="en-US" sz="1800" b="0" dirty="0" smtClean="0">
                          <a:solidFill>
                            <a:schemeClr val="tx1"/>
                          </a:solidFill>
                          <a:latin typeface="Arial"/>
                          <a:cs typeface="Arial"/>
                        </a:rPr>
                        <a:t>25</a:t>
                      </a:r>
                      <a:endParaRPr lang="en-US" sz="1800" b="0" dirty="0">
                        <a:solidFill>
                          <a:schemeClr val="tx1"/>
                        </a:solidFill>
                        <a:latin typeface="Arial"/>
                        <a:cs typeface="Arial"/>
                      </a:endParaRPr>
                    </a:p>
                  </a:txBody>
                  <a:tcPr>
                    <a:lnL w="12700" cap="flat" cmpd="sng" algn="ctr">
                      <a:solidFill>
                        <a:srgbClr val="FFFFFF">
                          <a:lumMod val="75000"/>
                        </a:srgbClr>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Tree>
  </p:cSld>
  <p:clrMapOvr>
    <a:masterClrMapping/>
  </p:clrMapOvr>
  <p:transition>
    <p:pull dir="l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272" fill="hold" nodeType="afterEffect">
                                  <p:stCondLst>
                                    <p:cond delay="1000"/>
                                  </p:stCondLst>
                                  <p:childTnLst>
                                    <p:set>
                                      <p:cBhvr>
                                        <p:cTn id="6" dur="1" fill="hold">
                                          <p:stCondLst>
                                            <p:cond delay="0"/>
                                          </p:stCondLst>
                                        </p:cTn>
                                        <p:tgtEl>
                                          <p:spTgt spid="2"/>
                                        </p:tgtEl>
                                        <p:attrNameLst>
                                          <p:attrName>style.visibility</p:attrName>
                                        </p:attrNameLst>
                                      </p:cBhvr>
                                      <p:to>
                                        <p:strVal val="visible"/>
                                      </p:to>
                                    </p:set>
                                    <p:anim calcmode="lin" valueType="num">
                                      <p:cBhvr>
                                        <p:cTn id="7" dur="1000" fill="hold"/>
                                        <p:tgtEl>
                                          <p:spTgt spid="2"/>
                                        </p:tgtEl>
                                        <p:attrNameLst>
                                          <p:attrName>ppt_w</p:attrName>
                                        </p:attrNameLst>
                                      </p:cBhvr>
                                      <p:tavLst>
                                        <p:tav tm="0">
                                          <p:val>
                                            <p:strVal val="2/3*#ppt_w"/>
                                          </p:val>
                                        </p:tav>
                                        <p:tav tm="100000">
                                          <p:val>
                                            <p:strVal val="#ppt_w"/>
                                          </p:val>
                                        </p:tav>
                                      </p:tavLst>
                                    </p:anim>
                                    <p:anim calcmode="lin" valueType="num">
                                      <p:cBhvr>
                                        <p:cTn id="8" dur="1000" fill="hold"/>
                                        <p:tgtEl>
                                          <p:spTgt spid="2"/>
                                        </p:tgtEl>
                                        <p:attrNameLst>
                                          <p:attrName>ppt_h</p:attrName>
                                        </p:attrNameLst>
                                      </p:cBhvr>
                                      <p:tavLst>
                                        <p:tav tm="0">
                                          <p:val>
                                            <p:strVal val="2/3*#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11162"/>
          </a:xfrm>
        </p:spPr>
        <p:txBody>
          <a:bodyPr>
            <a:normAutofit fontScale="90000"/>
          </a:bodyPr>
          <a:lstStyle/>
          <a:p>
            <a:endParaRPr lang="en-US" dirty="0"/>
          </a:p>
        </p:txBody>
      </p:sp>
      <p:sp>
        <p:nvSpPr>
          <p:cNvPr id="3" name="Content Placeholder 2"/>
          <p:cNvSpPr>
            <a:spLocks noGrp="1"/>
          </p:cNvSpPr>
          <p:nvPr>
            <p:ph idx="1"/>
          </p:nvPr>
        </p:nvSpPr>
        <p:spPr>
          <a:xfrm>
            <a:off x="457200" y="838200"/>
            <a:ext cx="8229600" cy="4525963"/>
          </a:xfrm>
        </p:spPr>
        <p:txBody>
          <a:bodyPr/>
          <a:lstStyle/>
          <a:p>
            <a:pPr marL="342900" lvl="3" indent="-342900">
              <a:buFont typeface="Arial" pitchFamily="34" charset="0"/>
              <a:buChar char="•"/>
            </a:pPr>
            <a:r>
              <a:rPr lang="en-US" sz="2400" b="1" dirty="0" smtClean="0"/>
              <a:t>Project Documents</a:t>
            </a:r>
            <a:endParaRPr lang="en-US" sz="2400" dirty="0" smtClean="0"/>
          </a:p>
          <a:p>
            <a:r>
              <a:rPr lang="en-US" sz="2400" dirty="0" smtClean="0"/>
              <a:t>These </a:t>
            </a:r>
            <a:r>
              <a:rPr lang="en-US" sz="2400" dirty="0"/>
              <a:t>include, assumptions log, work performance reports, earned value reports, </a:t>
            </a:r>
            <a:r>
              <a:rPr lang="en-US" sz="2400" dirty="0" smtClean="0"/>
              <a:t>network </a:t>
            </a:r>
            <a:r>
              <a:rPr lang="en-US" sz="2400" dirty="0"/>
              <a:t>diagrams, baselines, and other project information proven to be valuable in </a:t>
            </a:r>
            <a:r>
              <a:rPr lang="en-US" sz="2400" dirty="0" smtClean="0"/>
              <a:t>identifying </a:t>
            </a:r>
            <a:r>
              <a:rPr lang="en-US" sz="2400" dirty="0"/>
              <a:t>risks.</a:t>
            </a:r>
          </a:p>
          <a:p>
            <a:endParaRPr lang="en-US" dirty="0"/>
          </a:p>
        </p:txBody>
      </p:sp>
      <p:pic>
        <p:nvPicPr>
          <p:cNvPr id="3074" name="Picture 2"/>
          <p:cNvPicPr>
            <a:picLocks noChangeAspect="1" noChangeArrowheads="1"/>
          </p:cNvPicPr>
          <p:nvPr/>
        </p:nvPicPr>
        <p:blipFill>
          <a:blip r:embed="rId2"/>
          <a:srcRect/>
          <a:stretch>
            <a:fillRect/>
          </a:stretch>
        </p:blipFill>
        <p:spPr bwMode="auto">
          <a:xfrm>
            <a:off x="2590800" y="2895600"/>
            <a:ext cx="4400550" cy="3219450"/>
          </a:xfrm>
          <a:prstGeom prst="rect">
            <a:avLst/>
          </a:prstGeom>
          <a:noFill/>
          <a:ln w="9525">
            <a:noFill/>
            <a:miter lim="800000"/>
            <a:headEnd/>
            <a:tailEnd/>
          </a:ln>
          <a:effec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11162"/>
          </a:xfrm>
        </p:spPr>
        <p:txBody>
          <a:bodyPr>
            <a:normAutofit fontScale="90000"/>
          </a:bodyPr>
          <a:lstStyle/>
          <a:p>
            <a:endParaRPr lang="en-US" dirty="0"/>
          </a:p>
        </p:txBody>
      </p:sp>
      <p:sp>
        <p:nvSpPr>
          <p:cNvPr id="3" name="Content Placeholder 2"/>
          <p:cNvSpPr>
            <a:spLocks noGrp="1"/>
          </p:cNvSpPr>
          <p:nvPr>
            <p:ph idx="1"/>
          </p:nvPr>
        </p:nvSpPr>
        <p:spPr>
          <a:xfrm>
            <a:off x="457200" y="838200"/>
            <a:ext cx="8229600" cy="5715000"/>
          </a:xfrm>
        </p:spPr>
        <p:txBody>
          <a:bodyPr>
            <a:normAutofit fontScale="62500" lnSpcReduction="20000"/>
          </a:bodyPr>
          <a:lstStyle/>
          <a:p>
            <a:pPr marL="342900" lvl="3" indent="-342900">
              <a:buFont typeface="Arial" pitchFamily="34" charset="0"/>
              <a:buChar char="•"/>
            </a:pPr>
            <a:r>
              <a:rPr lang="en-US" sz="3800" b="1" dirty="0" smtClean="0"/>
              <a:t>Procurement Documents</a:t>
            </a:r>
            <a:endParaRPr lang="en-US" dirty="0" smtClean="0"/>
          </a:p>
          <a:p>
            <a:r>
              <a:rPr lang="en-US" dirty="0" smtClean="0"/>
              <a:t>If </a:t>
            </a:r>
            <a:r>
              <a:rPr lang="en-US" dirty="0"/>
              <a:t>the project requires external procurement of resources, procurement documents become a key input to this process. The complexity and the level of detail of the </a:t>
            </a:r>
            <a:r>
              <a:rPr lang="en-US" dirty="0" smtClean="0"/>
              <a:t>procurement </a:t>
            </a:r>
            <a:r>
              <a:rPr lang="en-US" dirty="0"/>
              <a:t>documents should be consistent with the value of, and risks associated with, planned procurement</a:t>
            </a:r>
            <a:r>
              <a:rPr lang="en-US" dirty="0" smtClean="0"/>
              <a:t>. </a:t>
            </a:r>
            <a:r>
              <a:rPr lang="en-US" dirty="0" smtClean="0">
                <a:solidFill>
                  <a:srgbClr val="FF0000"/>
                </a:solidFill>
              </a:rPr>
              <a:t>(</a:t>
            </a:r>
            <a:r>
              <a:rPr lang="en-US" dirty="0" err="1" smtClean="0">
                <a:solidFill>
                  <a:srgbClr val="FF0000"/>
                </a:solidFill>
              </a:rPr>
              <a:t>eg</a:t>
            </a:r>
            <a:r>
              <a:rPr lang="en-US" dirty="0" smtClean="0">
                <a:solidFill>
                  <a:srgbClr val="FF0000"/>
                </a:solidFill>
              </a:rPr>
              <a:t> supply chain risk, availability of resources on time)</a:t>
            </a:r>
            <a:endParaRPr lang="en-US" dirty="0">
              <a:solidFill>
                <a:srgbClr val="FF0000"/>
              </a:solidFill>
            </a:endParaRPr>
          </a:p>
          <a:p>
            <a:pPr marL="342900" lvl="3" indent="-342900">
              <a:buFont typeface="Arial" pitchFamily="34" charset="0"/>
              <a:buChar char="•"/>
            </a:pPr>
            <a:endParaRPr lang="en-US" sz="3800" dirty="0" smtClean="0"/>
          </a:p>
          <a:p>
            <a:pPr marL="342900" lvl="3" indent="-342900">
              <a:buFont typeface="Arial" pitchFamily="34" charset="0"/>
              <a:buChar char="•"/>
            </a:pPr>
            <a:r>
              <a:rPr lang="en-US" sz="3800" dirty="0"/>
              <a:t> </a:t>
            </a:r>
            <a:r>
              <a:rPr lang="en-US" sz="3800" b="1" dirty="0" smtClean="0"/>
              <a:t>Enterprise Environmental Factors</a:t>
            </a:r>
            <a:endParaRPr lang="en-US" sz="4000" dirty="0"/>
          </a:p>
          <a:p>
            <a:r>
              <a:rPr lang="en-US" dirty="0" smtClean="0"/>
              <a:t>These </a:t>
            </a:r>
            <a:r>
              <a:rPr lang="en-US" dirty="0"/>
              <a:t>will have a major bearing on risks and will include laws and regulations governing the creation or use of the projects products. Also important is the operational </a:t>
            </a:r>
            <a:r>
              <a:rPr lang="en-US" dirty="0" smtClean="0"/>
              <a:t>environment </a:t>
            </a:r>
            <a:r>
              <a:rPr lang="en-US" dirty="0"/>
              <a:t>within which the project is taking place. The views of the project stakeholders and their willingness to accept risk must also be taken into consideration.</a:t>
            </a:r>
          </a:p>
          <a:p>
            <a:pPr marL="342900" lvl="3" indent="-342900">
              <a:buFont typeface="Arial" pitchFamily="34" charset="0"/>
              <a:buChar char="•"/>
            </a:pPr>
            <a:endParaRPr lang="en-US" b="1" dirty="0" smtClean="0"/>
          </a:p>
          <a:p>
            <a:pPr marL="342900" lvl="3" indent="-342900">
              <a:buFont typeface="Arial" pitchFamily="34" charset="0"/>
              <a:buChar char="•"/>
            </a:pPr>
            <a:r>
              <a:rPr lang="en-US" sz="3800" b="1" dirty="0" smtClean="0"/>
              <a:t>Organizational  Process Assets</a:t>
            </a:r>
            <a:endParaRPr lang="en-US" dirty="0" smtClean="0"/>
          </a:p>
          <a:p>
            <a:r>
              <a:rPr lang="en-US" dirty="0" smtClean="0"/>
              <a:t>These </a:t>
            </a:r>
            <a:r>
              <a:rPr lang="en-US" dirty="0"/>
              <a:t>include project files, including actual data, organizational and project process </a:t>
            </a:r>
            <a:r>
              <a:rPr lang="en-US" dirty="0" smtClean="0"/>
              <a:t>controls</a:t>
            </a:r>
            <a:r>
              <a:rPr lang="en-US" dirty="0"/>
              <a:t>, risk statement templates, and lessons learned.</a:t>
            </a:r>
          </a:p>
          <a:p>
            <a:endParaRPr 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87362"/>
          </a:xfrm>
        </p:spPr>
        <p:txBody>
          <a:bodyPr>
            <a:normAutofit fontScale="90000"/>
          </a:bodyPr>
          <a:lstStyle/>
          <a:p>
            <a:endParaRPr lang="en-US" dirty="0"/>
          </a:p>
        </p:txBody>
      </p:sp>
      <p:sp>
        <p:nvSpPr>
          <p:cNvPr id="3" name="Content Placeholder 2"/>
          <p:cNvSpPr>
            <a:spLocks noGrp="1"/>
          </p:cNvSpPr>
          <p:nvPr>
            <p:ph idx="1"/>
          </p:nvPr>
        </p:nvSpPr>
        <p:spPr>
          <a:xfrm>
            <a:off x="457200" y="990600"/>
            <a:ext cx="8229600" cy="5135563"/>
          </a:xfrm>
        </p:spPr>
        <p:txBody>
          <a:bodyPr/>
          <a:lstStyle/>
          <a:p>
            <a:pPr lvl="2"/>
            <a:r>
              <a:rPr lang="en-US" b="1" dirty="0"/>
              <a:t>Identify Risks: Tools and Techniques</a:t>
            </a:r>
          </a:p>
          <a:p>
            <a:r>
              <a:rPr lang="en-US" dirty="0"/>
              <a:t>There are seven tools and techniques that can be used.</a:t>
            </a:r>
          </a:p>
          <a:p>
            <a:endParaRPr lang="en-US" dirty="0"/>
          </a:p>
        </p:txBody>
      </p:sp>
      <p:pic>
        <p:nvPicPr>
          <p:cNvPr id="4098" name="Picture 2"/>
          <p:cNvPicPr>
            <a:picLocks noChangeAspect="1" noChangeArrowheads="1"/>
          </p:cNvPicPr>
          <p:nvPr/>
        </p:nvPicPr>
        <p:blipFill>
          <a:blip r:embed="rId2"/>
          <a:srcRect/>
          <a:stretch>
            <a:fillRect/>
          </a:stretch>
        </p:blipFill>
        <p:spPr bwMode="auto">
          <a:xfrm>
            <a:off x="2209800" y="2895600"/>
            <a:ext cx="4929939" cy="3352800"/>
          </a:xfrm>
          <a:prstGeom prst="rect">
            <a:avLst/>
          </a:prstGeom>
          <a:noFill/>
          <a:ln w="9525">
            <a:noFill/>
            <a:miter lim="800000"/>
            <a:headEnd/>
            <a:tailEnd/>
          </a:ln>
          <a:effec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3" algn="ctr" rtl="0">
              <a:spcBef>
                <a:spcPct val="0"/>
              </a:spcBef>
            </a:pPr>
            <a:r>
              <a:rPr lang="en-US" sz="3200" b="1" dirty="0" smtClean="0"/>
              <a:t>Documentation Reviews</a:t>
            </a:r>
            <a:r>
              <a:rPr lang="en-US" b="1" dirty="0" smtClean="0"/>
              <a:t/>
            </a:r>
            <a:br>
              <a:rPr lang="en-US" b="1" dirty="0" smtClean="0"/>
            </a:br>
            <a:endParaRPr lang="en-US" dirty="0"/>
          </a:p>
        </p:txBody>
      </p:sp>
      <p:sp>
        <p:nvSpPr>
          <p:cNvPr id="3" name="Content Placeholder 2"/>
          <p:cNvSpPr>
            <a:spLocks noGrp="1"/>
          </p:cNvSpPr>
          <p:nvPr>
            <p:ph idx="1"/>
          </p:nvPr>
        </p:nvSpPr>
        <p:spPr/>
        <p:txBody>
          <a:bodyPr>
            <a:normAutofit fontScale="85000" lnSpcReduction="10000"/>
          </a:bodyPr>
          <a:lstStyle/>
          <a:p>
            <a:r>
              <a:rPr lang="en-US" dirty="0" smtClean="0"/>
              <a:t>These </a:t>
            </a:r>
            <a:r>
              <a:rPr lang="en-US" dirty="0"/>
              <a:t>are structured reviews of all project documentation up to this point in time </a:t>
            </a:r>
            <a:r>
              <a:rPr lang="en-US" dirty="0" smtClean="0"/>
              <a:t>including </a:t>
            </a:r>
            <a:r>
              <a:rPr lang="en-US" dirty="0"/>
              <a:t>plans, assumptions, previous project files, contracts, and other information.</a:t>
            </a:r>
          </a:p>
          <a:p>
            <a:pPr>
              <a:buNone/>
            </a:pPr>
            <a:r>
              <a:rPr lang="en-US" dirty="0"/>
              <a:t> </a:t>
            </a:r>
            <a:endParaRPr lang="en-US" sz="2800" dirty="0"/>
          </a:p>
          <a:p>
            <a:r>
              <a:rPr lang="en-US" dirty="0"/>
              <a:t>The quality of the plans, as well as consistency between those plans and the project requirements and assumptions, can be indicators of risk in the project. Missing, </a:t>
            </a:r>
            <a:r>
              <a:rPr lang="en-US" dirty="0" smtClean="0"/>
              <a:t>inaccurate </a:t>
            </a:r>
            <a:r>
              <a:rPr lang="en-US" dirty="0"/>
              <a:t>or incomplete information may hinder the identification of risks and may itself be a source of risk.</a:t>
            </a:r>
          </a:p>
          <a:p>
            <a:endParaRPr 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3" algn="ctr" rtl="0">
              <a:spcBef>
                <a:spcPct val="0"/>
              </a:spcBef>
            </a:pPr>
            <a:r>
              <a:rPr lang="en-US" sz="3200" b="1" dirty="0" smtClean="0"/>
              <a:t>Information Gathering Techniques</a:t>
            </a:r>
            <a:r>
              <a:rPr lang="en-US" b="1" dirty="0" smtClean="0"/>
              <a:t/>
            </a:r>
            <a:br>
              <a:rPr lang="en-US" b="1" dirty="0" smtClean="0"/>
            </a:br>
            <a:endParaRPr lang="en-US" dirty="0"/>
          </a:p>
        </p:txBody>
      </p:sp>
      <p:sp>
        <p:nvSpPr>
          <p:cNvPr id="3" name="Content Placeholder 2"/>
          <p:cNvSpPr>
            <a:spLocks noGrp="1"/>
          </p:cNvSpPr>
          <p:nvPr>
            <p:ph idx="1"/>
          </p:nvPr>
        </p:nvSpPr>
        <p:spPr/>
        <p:txBody>
          <a:bodyPr>
            <a:normAutofit lnSpcReduction="10000"/>
          </a:bodyPr>
          <a:lstStyle/>
          <a:p>
            <a:r>
              <a:rPr lang="en-US" dirty="0" smtClean="0"/>
              <a:t>There </a:t>
            </a:r>
            <a:r>
              <a:rPr lang="en-US" dirty="0"/>
              <a:t>are many ways in which information on the project risk situation can be gathered, and these include:</a:t>
            </a:r>
          </a:p>
          <a:p>
            <a:r>
              <a:rPr lang="en-US" dirty="0"/>
              <a:t> </a:t>
            </a:r>
            <a:endParaRPr lang="en-US" sz="4000" dirty="0"/>
          </a:p>
          <a:p>
            <a:pPr lvl="4"/>
            <a:r>
              <a:rPr lang="en-US" sz="3200" dirty="0"/>
              <a:t>Expert </a:t>
            </a:r>
            <a:r>
              <a:rPr lang="en-US" sz="3200" dirty="0" smtClean="0"/>
              <a:t>Interviews </a:t>
            </a:r>
            <a:r>
              <a:rPr lang="en-US" sz="1200" dirty="0" smtClean="0">
                <a:solidFill>
                  <a:srgbClr val="FF0000"/>
                </a:solidFill>
              </a:rPr>
              <a:t>(project phases) </a:t>
            </a:r>
            <a:endParaRPr lang="en-US" sz="1200" dirty="0">
              <a:solidFill>
                <a:srgbClr val="FF0000"/>
              </a:solidFill>
            </a:endParaRPr>
          </a:p>
          <a:p>
            <a:pPr lvl="4"/>
            <a:r>
              <a:rPr lang="en-US" sz="3200" dirty="0"/>
              <a:t>Root cause </a:t>
            </a:r>
            <a:r>
              <a:rPr lang="en-US" sz="3200" dirty="0" smtClean="0"/>
              <a:t>identification </a:t>
            </a:r>
            <a:r>
              <a:rPr lang="en-US" sz="3200" dirty="0" smtClean="0">
                <a:solidFill>
                  <a:srgbClr val="FF0000"/>
                </a:solidFill>
              </a:rPr>
              <a:t>(5 Why) </a:t>
            </a:r>
            <a:r>
              <a:rPr lang="en-US" sz="1300" dirty="0" err="1" smtClean="0">
                <a:solidFill>
                  <a:srgbClr val="FF0000"/>
                </a:solidFill>
              </a:rPr>
              <a:t>eg</a:t>
            </a:r>
            <a:r>
              <a:rPr lang="en-US" sz="1300" dirty="0" smtClean="0">
                <a:solidFill>
                  <a:srgbClr val="FF0000"/>
                </a:solidFill>
              </a:rPr>
              <a:t> oil is dropping from the car Apply 5 Why</a:t>
            </a:r>
            <a:endParaRPr lang="en-US" sz="1300" dirty="0">
              <a:solidFill>
                <a:srgbClr val="FF0000"/>
              </a:solidFill>
            </a:endParaRPr>
          </a:p>
          <a:p>
            <a:pPr lvl="4"/>
            <a:r>
              <a:rPr lang="en-US" sz="3200" dirty="0"/>
              <a:t>Brainstorming workshops</a:t>
            </a:r>
          </a:p>
          <a:p>
            <a:pPr lvl="4"/>
            <a:r>
              <a:rPr lang="en-US" sz="3200" dirty="0"/>
              <a:t>The Delphi technique.</a:t>
            </a:r>
          </a:p>
          <a:p>
            <a:endParaRPr lang="en-US" dirty="0"/>
          </a:p>
        </p:txBody>
      </p:sp>
      <p:sp>
        <p:nvSpPr>
          <p:cNvPr id="4" name="TextBox 3"/>
          <p:cNvSpPr txBox="1"/>
          <p:nvPr/>
        </p:nvSpPr>
        <p:spPr>
          <a:xfrm>
            <a:off x="0" y="6488668"/>
            <a:ext cx="4959819" cy="369332"/>
          </a:xfrm>
          <a:prstGeom prst="rect">
            <a:avLst/>
          </a:prstGeom>
          <a:noFill/>
        </p:spPr>
        <p:txBody>
          <a:bodyPr wrap="none" rtlCol="0">
            <a:spAutoFit/>
          </a:bodyPr>
          <a:lstStyle/>
          <a:p>
            <a:r>
              <a:rPr lang="en-US" dirty="0" smtClean="0">
                <a:hlinkClick r:id="rId2"/>
              </a:rPr>
              <a:t>https://www.youtube.com/watch?v=zAs40EbTPnw</a:t>
            </a:r>
            <a:endParaRPr lang="en-US" dirty="0"/>
          </a:p>
        </p:txBody>
      </p:sp>
      <p:sp>
        <p:nvSpPr>
          <p:cNvPr id="5" name="Rectangle 4"/>
          <p:cNvSpPr/>
          <p:nvPr/>
        </p:nvSpPr>
        <p:spPr>
          <a:xfrm>
            <a:off x="4114800" y="6096000"/>
            <a:ext cx="5410200" cy="369332"/>
          </a:xfrm>
          <a:prstGeom prst="rect">
            <a:avLst/>
          </a:prstGeom>
        </p:spPr>
        <p:txBody>
          <a:bodyPr wrap="square">
            <a:spAutoFit/>
          </a:bodyPr>
          <a:lstStyle/>
          <a:p>
            <a:r>
              <a:rPr lang="en-US" dirty="0" smtClean="0">
                <a:hlinkClick r:id="rId3"/>
              </a:rPr>
              <a:t>https://www.youtube.com/watch?v=SrlYkx41wEE</a:t>
            </a:r>
            <a:endParaRPr 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Class Activity</a:t>
            </a:r>
            <a:endParaRPr lang="en-US" dirty="0"/>
          </a:p>
        </p:txBody>
      </p:sp>
      <p:sp>
        <p:nvSpPr>
          <p:cNvPr id="3" name="Content Placeholder 2"/>
          <p:cNvSpPr>
            <a:spLocks noGrp="1"/>
          </p:cNvSpPr>
          <p:nvPr>
            <p:ph idx="1"/>
          </p:nvPr>
        </p:nvSpPr>
        <p:spPr/>
        <p:txBody>
          <a:bodyPr/>
          <a:lstStyle/>
          <a:p>
            <a:r>
              <a:rPr lang="en-US" dirty="0" smtClean="0"/>
              <a:t>5 whys Titanic Exercise.</a:t>
            </a:r>
            <a:endParaRPr 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1026" name="Picture 2"/>
          <p:cNvPicPr>
            <a:picLocks noChangeAspect="1" noChangeArrowheads="1"/>
          </p:cNvPicPr>
          <p:nvPr/>
        </p:nvPicPr>
        <p:blipFill>
          <a:blip r:embed="rId2"/>
          <a:srcRect/>
          <a:stretch>
            <a:fillRect/>
          </a:stretch>
        </p:blipFill>
        <p:spPr bwMode="auto">
          <a:xfrm>
            <a:off x="304800" y="326900"/>
            <a:ext cx="8677274" cy="6531100"/>
          </a:xfrm>
          <a:prstGeom prst="rect">
            <a:avLst/>
          </a:prstGeom>
          <a:noFill/>
          <a:ln w="9525">
            <a:noFill/>
            <a:miter lim="800000"/>
            <a:headEnd/>
            <a:tailEnd/>
          </a:ln>
          <a:effectLst/>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Brain Storming </a:t>
            </a:r>
            <a:r>
              <a:rPr lang="en-US" i="1" dirty="0" smtClean="0"/>
              <a:t>(example)</a:t>
            </a:r>
            <a:endParaRPr lang="en-US" i="1" dirty="0"/>
          </a:p>
        </p:txBody>
      </p:sp>
      <p:sp>
        <p:nvSpPr>
          <p:cNvPr id="3" name="Content Placeholder 2"/>
          <p:cNvSpPr>
            <a:spLocks noGrp="1"/>
          </p:cNvSpPr>
          <p:nvPr>
            <p:ph idx="1"/>
          </p:nvPr>
        </p:nvSpPr>
        <p:spPr/>
        <p:txBody>
          <a:bodyPr/>
          <a:lstStyle/>
          <a:p>
            <a:pPr algn="just"/>
            <a:r>
              <a:rPr lang="en-US" dirty="0" smtClean="0"/>
              <a:t>Our oceans are full of plastic waste, A lot of it is eaten by fish with uncertain effect to our health. According to the Economist by the year 2050 our ocean could contain more plastic than fish, measure in weight. So, how can we reduce waste from our Oceans?</a:t>
            </a:r>
            <a:endParaRPr lang="en-US"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563562"/>
          </a:xfrm>
        </p:spPr>
        <p:txBody>
          <a:bodyPr>
            <a:normAutofit fontScale="90000"/>
          </a:bodyPr>
          <a:lstStyle/>
          <a:p>
            <a:r>
              <a:rPr lang="en-US" dirty="0" smtClean="0"/>
              <a:t>Assumptions</a:t>
            </a:r>
            <a:endParaRPr lang="en-US" dirty="0"/>
          </a:p>
        </p:txBody>
      </p:sp>
      <p:sp>
        <p:nvSpPr>
          <p:cNvPr id="3" name="Content Placeholder 2"/>
          <p:cNvSpPr>
            <a:spLocks noGrp="1"/>
          </p:cNvSpPr>
          <p:nvPr>
            <p:ph idx="1"/>
          </p:nvPr>
        </p:nvSpPr>
        <p:spPr>
          <a:xfrm>
            <a:off x="457200" y="762000"/>
            <a:ext cx="8229600" cy="3733800"/>
          </a:xfrm>
        </p:spPr>
        <p:txBody>
          <a:bodyPr>
            <a:normAutofit fontScale="77500" lnSpcReduction="20000"/>
          </a:bodyPr>
          <a:lstStyle/>
          <a:p>
            <a:pPr algn="just" fontAlgn="base"/>
            <a:r>
              <a:rPr lang="en-US" dirty="0" smtClean="0"/>
              <a:t>Assumptions are an important part of any project. Assumptions usually require some type of follow-up or validation in order to determine whether or not they will impact the project.</a:t>
            </a:r>
          </a:p>
          <a:p>
            <a:pPr algn="just" fontAlgn="base"/>
            <a:r>
              <a:rPr lang="en-US" dirty="0" smtClean="0"/>
              <a:t>No-one can predict future with perfect certainty, this is the reason we keep guessing while making decisions in our projects, businesses and life in general. These guesses are actually  "Assumption " which become sources of Risk.</a:t>
            </a:r>
          </a:p>
          <a:p>
            <a:pPr algn="just" fontAlgn="base"/>
            <a:r>
              <a:rPr lang="en-US" b="1" dirty="0" smtClean="0">
                <a:solidFill>
                  <a:srgbClr val="C00000"/>
                </a:solidFill>
              </a:rPr>
              <a:t>As per PMBOK </a:t>
            </a:r>
            <a:r>
              <a:rPr lang="en-US" b="1" dirty="0" smtClean="0"/>
              <a:t>, Assumption </a:t>
            </a:r>
            <a:r>
              <a:rPr lang="en-US" dirty="0" smtClean="0"/>
              <a:t>is defined as</a:t>
            </a:r>
            <a:r>
              <a:rPr lang="en-US" b="1" dirty="0" smtClean="0"/>
              <a:t> </a:t>
            </a:r>
            <a:r>
              <a:rPr lang="en-US" b="1" dirty="0" smtClean="0">
                <a:solidFill>
                  <a:srgbClr val="0070C0"/>
                </a:solidFill>
              </a:rPr>
              <a:t>“ A factor in the planning process that is considered to be true, real, or certain, without proof or demonstration</a:t>
            </a:r>
            <a:r>
              <a:rPr lang="en-US" dirty="0" smtClean="0">
                <a:solidFill>
                  <a:srgbClr val="0070C0"/>
                </a:solidFill>
              </a:rPr>
              <a:t> “.</a:t>
            </a:r>
          </a:p>
          <a:p>
            <a:endParaRPr lang="en-US" dirty="0"/>
          </a:p>
        </p:txBody>
      </p:sp>
      <p:pic>
        <p:nvPicPr>
          <p:cNvPr id="4" name="Picture 2"/>
          <p:cNvPicPr>
            <a:picLocks noChangeAspect="1" noChangeArrowheads="1"/>
          </p:cNvPicPr>
          <p:nvPr/>
        </p:nvPicPr>
        <p:blipFill>
          <a:blip r:embed="rId2"/>
          <a:srcRect/>
          <a:stretch>
            <a:fillRect/>
          </a:stretch>
        </p:blipFill>
        <p:spPr bwMode="auto">
          <a:xfrm>
            <a:off x="6629400" y="4038599"/>
            <a:ext cx="2514600" cy="2812513"/>
          </a:xfrm>
          <a:prstGeom prst="rect">
            <a:avLst/>
          </a:prstGeom>
          <a:noFill/>
          <a:ln w="9525">
            <a:noFill/>
            <a:miter lim="800000"/>
            <a:headEnd/>
            <a:tailEnd/>
          </a:ln>
          <a:effectLst/>
        </p:spPr>
      </p:pic>
      <p:sp>
        <p:nvSpPr>
          <p:cNvPr id="5" name="Rectangle 4"/>
          <p:cNvSpPr/>
          <p:nvPr/>
        </p:nvSpPr>
        <p:spPr>
          <a:xfrm>
            <a:off x="838200" y="4419600"/>
            <a:ext cx="5867400" cy="2308324"/>
          </a:xfrm>
          <a:prstGeom prst="rect">
            <a:avLst/>
          </a:prstGeom>
        </p:spPr>
        <p:txBody>
          <a:bodyPr wrap="square">
            <a:spAutoFit/>
          </a:bodyPr>
          <a:lstStyle/>
          <a:p>
            <a:pPr algn="just" fontAlgn="base"/>
            <a:r>
              <a:rPr lang="en-US" sz="2400" dirty="0" smtClean="0"/>
              <a:t>Assumptions are documented in Project Charter during Project Initiation by Sponsor and in Project Scope Statement during Project Planning by Project Manager. The Project Plan would list down all the assumptions that are relevant to the current project.</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152400"/>
            <a:ext cx="8229600" cy="411162"/>
          </a:xfrm>
        </p:spPr>
        <p:txBody>
          <a:bodyPr>
            <a:normAutofit fontScale="90000"/>
          </a:bodyPr>
          <a:lstStyle/>
          <a:p>
            <a:r>
              <a:rPr lang="en-US" b="1" dirty="0" smtClean="0"/>
              <a:t>Assumption Log</a:t>
            </a:r>
            <a:endParaRPr lang="en-US" dirty="0"/>
          </a:p>
        </p:txBody>
      </p:sp>
      <p:sp>
        <p:nvSpPr>
          <p:cNvPr id="3" name="Content Placeholder 2"/>
          <p:cNvSpPr>
            <a:spLocks noGrp="1"/>
          </p:cNvSpPr>
          <p:nvPr>
            <p:ph idx="1"/>
          </p:nvPr>
        </p:nvSpPr>
        <p:spPr>
          <a:xfrm>
            <a:off x="457200" y="762000"/>
            <a:ext cx="8229600" cy="3809999"/>
          </a:xfrm>
        </p:spPr>
        <p:txBody>
          <a:bodyPr>
            <a:normAutofit fontScale="70000" lnSpcReduction="20000"/>
          </a:bodyPr>
          <a:lstStyle/>
          <a:p>
            <a:pPr algn="just" fontAlgn="base"/>
            <a:r>
              <a:rPr lang="en-US" dirty="0" smtClean="0"/>
              <a:t>The </a:t>
            </a:r>
            <a:r>
              <a:rPr lang="en-US" b="1" dirty="0" smtClean="0"/>
              <a:t>Assumption Log</a:t>
            </a:r>
            <a:r>
              <a:rPr lang="en-US" dirty="0" smtClean="0"/>
              <a:t> is a document which the project manager and team use to capture, document, and track assumptions throughout a project’s lifecycle.</a:t>
            </a:r>
          </a:p>
          <a:p>
            <a:pPr algn="just" fontAlgn="base"/>
            <a:r>
              <a:rPr lang="en-US" dirty="0" smtClean="0"/>
              <a:t>Each assumption should have an owner or team member responsible for </a:t>
            </a:r>
            <a:r>
              <a:rPr lang="en-US" dirty="0" smtClean="0">
                <a:solidFill>
                  <a:srgbClr val="FF0000"/>
                </a:solidFill>
              </a:rPr>
              <a:t>following up and validating </a:t>
            </a:r>
            <a:r>
              <a:rPr lang="en-US" dirty="0" smtClean="0"/>
              <a:t>the assumption. The Assumption Log assigns each assumption an ID or reference number, a name and description of each assumption, responsible person, due date, status, closure date, and any actions which might be required as part of the follow-up or validation. </a:t>
            </a:r>
          </a:p>
          <a:p>
            <a:pPr algn="just" fontAlgn="base"/>
            <a:r>
              <a:rPr lang="en-US" dirty="0" smtClean="0"/>
              <a:t>The Assumption Log should be updated as items are closed or more information is obtained. The project team should also </a:t>
            </a:r>
            <a:r>
              <a:rPr lang="en-US" dirty="0" smtClean="0">
                <a:solidFill>
                  <a:srgbClr val="FF0000"/>
                </a:solidFill>
              </a:rPr>
              <a:t>review the Assumption Log regularly </a:t>
            </a:r>
            <a:r>
              <a:rPr lang="en-US" dirty="0" smtClean="0"/>
              <a:t>to ensure all project team members are informed and any additional actions or information is captured.</a:t>
            </a:r>
          </a:p>
          <a:p>
            <a:endParaRPr lang="en-US" dirty="0"/>
          </a:p>
        </p:txBody>
      </p:sp>
      <p:pic>
        <p:nvPicPr>
          <p:cNvPr id="1026" name="Picture 2"/>
          <p:cNvPicPr>
            <a:picLocks noChangeAspect="1" noChangeArrowheads="1"/>
          </p:cNvPicPr>
          <p:nvPr/>
        </p:nvPicPr>
        <p:blipFill>
          <a:blip r:embed="rId2"/>
          <a:srcRect/>
          <a:stretch>
            <a:fillRect/>
          </a:stretch>
        </p:blipFill>
        <p:spPr bwMode="auto">
          <a:xfrm>
            <a:off x="838200" y="4419600"/>
            <a:ext cx="7239000" cy="2324100"/>
          </a:xfrm>
          <a:prstGeom prst="rect">
            <a:avLst/>
          </a:prstGeom>
          <a:noFill/>
          <a:ln w="9525">
            <a:noFill/>
            <a:miter lim="800000"/>
            <a:headEnd/>
            <a:tailEnd/>
          </a:ln>
          <a:effectLst/>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Assumption log Example</a:t>
            </a:r>
            <a:endParaRPr lang="en-US" dirty="0"/>
          </a:p>
        </p:txBody>
      </p:sp>
      <p:sp>
        <p:nvSpPr>
          <p:cNvPr id="3" name="Content Placeholder 2"/>
          <p:cNvSpPr>
            <a:spLocks noGrp="1"/>
          </p:cNvSpPr>
          <p:nvPr>
            <p:ph idx="1"/>
          </p:nvPr>
        </p:nvSpPr>
        <p:spPr/>
        <p:txBody>
          <a:bodyPr/>
          <a:lstStyle/>
          <a:p>
            <a:endParaRPr lang="en-US"/>
          </a:p>
        </p:txBody>
      </p:sp>
      <p:pic>
        <p:nvPicPr>
          <p:cNvPr id="1026" name="Picture 2"/>
          <p:cNvPicPr>
            <a:picLocks noChangeAspect="1" noChangeArrowheads="1"/>
          </p:cNvPicPr>
          <p:nvPr/>
        </p:nvPicPr>
        <p:blipFill>
          <a:blip r:embed="rId2"/>
          <a:srcRect/>
          <a:stretch>
            <a:fillRect/>
          </a:stretch>
        </p:blipFill>
        <p:spPr bwMode="auto">
          <a:xfrm>
            <a:off x="381000" y="1320876"/>
            <a:ext cx="8382000" cy="5298999"/>
          </a:xfrm>
          <a:prstGeom prst="rect">
            <a:avLst/>
          </a:prstGeom>
          <a:noFill/>
          <a:ln w="9525">
            <a:noFill/>
            <a:miter lim="800000"/>
            <a:headEnd/>
            <a:tailEnd/>
          </a:ln>
          <a:effectLst/>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487362"/>
          </a:xfrm>
        </p:spPr>
        <p:txBody>
          <a:bodyPr>
            <a:normAutofit fontScale="90000"/>
          </a:bodyPr>
          <a:lstStyle/>
          <a:p>
            <a:pPr lvl="3" algn="ctr" rtl="0">
              <a:spcBef>
                <a:spcPct val="0"/>
              </a:spcBef>
            </a:pPr>
            <a:r>
              <a:rPr lang="en-US" sz="3600" b="1" dirty="0" smtClean="0"/>
              <a:t>Assumptions Analysis</a:t>
            </a:r>
            <a:br>
              <a:rPr lang="en-US" sz="3600" b="1" dirty="0" smtClean="0"/>
            </a:br>
            <a:endParaRPr lang="en-US" dirty="0"/>
          </a:p>
        </p:txBody>
      </p:sp>
      <p:sp>
        <p:nvSpPr>
          <p:cNvPr id="3" name="Content Placeholder 2"/>
          <p:cNvSpPr>
            <a:spLocks noGrp="1"/>
          </p:cNvSpPr>
          <p:nvPr>
            <p:ph idx="1"/>
          </p:nvPr>
        </p:nvSpPr>
        <p:spPr>
          <a:xfrm>
            <a:off x="457200" y="685800"/>
            <a:ext cx="8229600" cy="6019800"/>
          </a:xfrm>
        </p:spPr>
        <p:txBody>
          <a:bodyPr>
            <a:normAutofit fontScale="85000" lnSpcReduction="10000"/>
          </a:bodyPr>
          <a:lstStyle/>
          <a:p>
            <a:pPr algn="just">
              <a:buNone/>
            </a:pPr>
            <a:r>
              <a:rPr lang="en-US" b="1" dirty="0" smtClean="0">
                <a:solidFill>
                  <a:srgbClr val="C00000"/>
                </a:solidFill>
              </a:rPr>
              <a:t>As per PMBOK </a:t>
            </a:r>
            <a:r>
              <a:rPr lang="en-US" b="1" dirty="0" smtClean="0"/>
              <a:t>, Assumptions Analysis</a:t>
            </a:r>
            <a:r>
              <a:rPr lang="en-US" dirty="0" smtClean="0"/>
              <a:t> is defined as </a:t>
            </a:r>
            <a:r>
              <a:rPr lang="en-US" dirty="0" smtClean="0">
                <a:solidFill>
                  <a:srgbClr val="0070C0"/>
                </a:solidFill>
              </a:rPr>
              <a:t>“</a:t>
            </a:r>
            <a:r>
              <a:rPr lang="en-US" b="1" dirty="0" smtClean="0">
                <a:solidFill>
                  <a:srgbClr val="0070C0"/>
                </a:solidFill>
              </a:rPr>
              <a:t>A technique that explores the accuracy of assumptions and identifies risks to the project from inaccuracy, inconsistency, or incompleteness of assumptions</a:t>
            </a:r>
            <a:r>
              <a:rPr lang="en-US" dirty="0" smtClean="0">
                <a:solidFill>
                  <a:srgbClr val="0070C0"/>
                </a:solidFill>
              </a:rPr>
              <a:t>.”</a:t>
            </a:r>
          </a:p>
          <a:p>
            <a:r>
              <a:rPr lang="en-US" dirty="0" smtClean="0"/>
              <a:t> </a:t>
            </a:r>
            <a:endParaRPr lang="en-US" sz="4000" dirty="0" smtClean="0"/>
          </a:p>
          <a:p>
            <a:pPr algn="just">
              <a:buNone/>
            </a:pPr>
            <a:r>
              <a:rPr lang="en-US" dirty="0" smtClean="0"/>
              <a:t>So, it is important for the project management team to review the justification or strength or support of the assumptions made. The risks are directly proportional to the consequences or the impacts to the project objectives if the assumption turns out to be wrong.</a:t>
            </a:r>
          </a:p>
          <a:p>
            <a:pPr algn="just" fontAlgn="base"/>
            <a:endParaRPr lang="en-US" dirty="0" smtClean="0"/>
          </a:p>
          <a:p>
            <a:pPr algn="just" fontAlgn="base"/>
            <a:r>
              <a:rPr lang="en-US" dirty="0" smtClean="0"/>
              <a:t>A simple IF-THEN statement can be written for each assumption, in the form :  “IF this assumption proved to be false, THEN the effect on the project would be …”</a:t>
            </a:r>
          </a:p>
          <a:p>
            <a:endParaRPr lang="en-US"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81000"/>
            <a:ext cx="8229600" cy="487362"/>
          </a:xfrm>
        </p:spPr>
        <p:txBody>
          <a:bodyPr>
            <a:noAutofit/>
          </a:bodyPr>
          <a:lstStyle/>
          <a:p>
            <a:pPr lvl="3" algn="ctr" rtl="0">
              <a:spcBef>
                <a:spcPct val="0"/>
              </a:spcBef>
            </a:pPr>
            <a:r>
              <a:rPr lang="en-US" sz="3600" b="1" dirty="0" smtClean="0"/>
              <a:t>Diagramming Techniques</a:t>
            </a:r>
            <a:br>
              <a:rPr lang="en-US" sz="3600" b="1" dirty="0" smtClean="0"/>
            </a:br>
            <a:endParaRPr lang="en-US" sz="3600" dirty="0"/>
          </a:p>
        </p:txBody>
      </p:sp>
      <p:sp>
        <p:nvSpPr>
          <p:cNvPr id="3" name="Content Placeholder 2"/>
          <p:cNvSpPr>
            <a:spLocks noGrp="1"/>
          </p:cNvSpPr>
          <p:nvPr>
            <p:ph idx="1"/>
          </p:nvPr>
        </p:nvSpPr>
        <p:spPr>
          <a:xfrm>
            <a:off x="381000" y="914400"/>
            <a:ext cx="8229600" cy="4525963"/>
          </a:xfrm>
        </p:spPr>
        <p:txBody>
          <a:bodyPr>
            <a:normAutofit/>
          </a:bodyPr>
          <a:lstStyle/>
          <a:p>
            <a:r>
              <a:rPr lang="en-US" sz="2200" dirty="0" smtClean="0"/>
              <a:t>Risk </a:t>
            </a:r>
            <a:r>
              <a:rPr lang="en-US" sz="2200" dirty="0"/>
              <a:t>diagramming techniques may include cause and effect diagrams. These are </a:t>
            </a:r>
            <a:r>
              <a:rPr lang="en-US" sz="2200" dirty="0" smtClean="0"/>
              <a:t>also known </a:t>
            </a:r>
            <a:r>
              <a:rPr lang="en-US" sz="2200" dirty="0"/>
              <a:t>as Ishikawa or fishbone diagrams, and are useful for identifying causes of risks</a:t>
            </a:r>
            <a:r>
              <a:rPr lang="en-US" sz="2200" dirty="0" smtClean="0"/>
              <a:t>.</a:t>
            </a:r>
          </a:p>
          <a:p>
            <a:r>
              <a:rPr lang="en-US" sz="2200" dirty="0"/>
              <a:t>Flow charts can also be used to show how various elements of a system interrelate, and the mechanism of causation, as can influence diagrams, which show causal influences, time ordering of events, and other relationships among variables and outcomes.</a:t>
            </a:r>
          </a:p>
          <a:p>
            <a:endParaRPr lang="en-US" dirty="0"/>
          </a:p>
          <a:p>
            <a:endParaRPr lang="en-US" dirty="0"/>
          </a:p>
        </p:txBody>
      </p:sp>
      <p:pic>
        <p:nvPicPr>
          <p:cNvPr id="5122" name="Picture 2"/>
          <p:cNvPicPr>
            <a:picLocks noChangeAspect="1" noChangeArrowheads="1"/>
          </p:cNvPicPr>
          <p:nvPr/>
        </p:nvPicPr>
        <p:blipFill>
          <a:blip r:embed="rId2"/>
          <a:srcRect/>
          <a:stretch>
            <a:fillRect/>
          </a:stretch>
        </p:blipFill>
        <p:spPr bwMode="auto">
          <a:xfrm>
            <a:off x="1524000" y="3962400"/>
            <a:ext cx="6083355" cy="2514600"/>
          </a:xfrm>
          <a:prstGeom prst="rect">
            <a:avLst/>
          </a:prstGeom>
          <a:noFill/>
          <a:ln w="9525">
            <a:noFill/>
            <a:miter lim="800000"/>
            <a:headEnd/>
            <a:tailEnd/>
          </a:ln>
          <a:effectLst/>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44"/>
          <p:cNvSpPr>
            <a:spLocks noChangeArrowheads="1"/>
          </p:cNvSpPr>
          <p:nvPr/>
        </p:nvSpPr>
        <p:spPr bwMode="auto">
          <a:xfrm>
            <a:off x="152400" y="1524000"/>
            <a:ext cx="8839200" cy="5181600"/>
          </a:xfrm>
          <a:prstGeom prst="rect">
            <a:avLst/>
          </a:prstGeom>
          <a:solidFill>
            <a:schemeClr val="accent1"/>
          </a:solidFill>
          <a:ln w="9525">
            <a:noFill/>
            <a:miter lim="800000"/>
            <a:headEnd/>
            <a:tailEnd/>
          </a:ln>
        </p:spPr>
        <p:txBody>
          <a:bodyPr wrap="none" anchor="ctr"/>
          <a:lstStyle/>
          <a:p>
            <a:endParaRPr lang="en-US"/>
          </a:p>
        </p:txBody>
      </p:sp>
      <p:sp>
        <p:nvSpPr>
          <p:cNvPr id="92162" name="Rectangle 2"/>
          <p:cNvSpPr>
            <a:spLocks noGrp="1" noChangeArrowheads="1"/>
          </p:cNvSpPr>
          <p:nvPr>
            <p:ph type="title"/>
          </p:nvPr>
        </p:nvSpPr>
        <p:spPr>
          <a:xfrm>
            <a:off x="457200" y="304801"/>
            <a:ext cx="4800600" cy="914399"/>
          </a:xfrm>
          <a:solidFill>
            <a:srgbClr val="FFFF00"/>
          </a:solidFill>
        </p:spPr>
        <p:txBody>
          <a:bodyPr>
            <a:noAutofit/>
          </a:bodyPr>
          <a:lstStyle/>
          <a:p>
            <a:pPr eaLnBrk="1" hangingPunct="1">
              <a:defRPr/>
            </a:pPr>
            <a:r>
              <a:rPr lang="en-US" sz="3600" b="1" dirty="0" smtClean="0">
                <a:latin typeface="Arial Black" pitchFamily="34" charset="0"/>
              </a:rPr>
              <a:t>Cause &amp; Effect Diagram</a:t>
            </a:r>
          </a:p>
        </p:txBody>
      </p:sp>
      <p:sp>
        <p:nvSpPr>
          <p:cNvPr id="18436" name="Line 5"/>
          <p:cNvSpPr>
            <a:spLocks noChangeShapeType="1"/>
          </p:cNvSpPr>
          <p:nvPr/>
        </p:nvSpPr>
        <p:spPr bwMode="auto">
          <a:xfrm>
            <a:off x="685800" y="4038600"/>
            <a:ext cx="7315200" cy="0"/>
          </a:xfrm>
          <a:prstGeom prst="line">
            <a:avLst/>
          </a:prstGeom>
          <a:noFill/>
          <a:ln w="57150">
            <a:solidFill>
              <a:schemeClr val="bg2"/>
            </a:solidFill>
            <a:round/>
            <a:headEnd/>
            <a:tailEnd/>
          </a:ln>
        </p:spPr>
        <p:txBody>
          <a:bodyPr/>
          <a:lstStyle/>
          <a:p>
            <a:endParaRPr lang="en-US"/>
          </a:p>
        </p:txBody>
      </p:sp>
      <p:sp>
        <p:nvSpPr>
          <p:cNvPr id="18437" name="Line 6"/>
          <p:cNvSpPr>
            <a:spLocks noChangeShapeType="1"/>
          </p:cNvSpPr>
          <p:nvPr/>
        </p:nvSpPr>
        <p:spPr bwMode="auto">
          <a:xfrm>
            <a:off x="1295400" y="2819400"/>
            <a:ext cx="1295400" cy="1219200"/>
          </a:xfrm>
          <a:prstGeom prst="line">
            <a:avLst/>
          </a:prstGeom>
          <a:noFill/>
          <a:ln w="38100">
            <a:solidFill>
              <a:schemeClr val="bg2"/>
            </a:solidFill>
            <a:round/>
            <a:headEnd/>
            <a:tailEnd type="triangle" w="med" len="med"/>
          </a:ln>
        </p:spPr>
        <p:txBody>
          <a:bodyPr/>
          <a:lstStyle/>
          <a:p>
            <a:endParaRPr lang="en-US"/>
          </a:p>
        </p:txBody>
      </p:sp>
      <p:sp>
        <p:nvSpPr>
          <p:cNvPr id="18438" name="Line 7"/>
          <p:cNvSpPr>
            <a:spLocks noChangeShapeType="1"/>
          </p:cNvSpPr>
          <p:nvPr/>
        </p:nvSpPr>
        <p:spPr bwMode="auto">
          <a:xfrm>
            <a:off x="5029200" y="2819400"/>
            <a:ext cx="1295400" cy="1219200"/>
          </a:xfrm>
          <a:prstGeom prst="line">
            <a:avLst/>
          </a:prstGeom>
          <a:noFill/>
          <a:ln w="38100">
            <a:solidFill>
              <a:schemeClr val="bg2"/>
            </a:solidFill>
            <a:round/>
            <a:headEnd/>
            <a:tailEnd type="triangle" w="med" len="med"/>
          </a:ln>
        </p:spPr>
        <p:txBody>
          <a:bodyPr/>
          <a:lstStyle/>
          <a:p>
            <a:endParaRPr lang="en-US"/>
          </a:p>
        </p:txBody>
      </p:sp>
      <p:sp>
        <p:nvSpPr>
          <p:cNvPr id="18439" name="Line 8"/>
          <p:cNvSpPr>
            <a:spLocks noChangeShapeType="1"/>
          </p:cNvSpPr>
          <p:nvPr/>
        </p:nvSpPr>
        <p:spPr bwMode="auto">
          <a:xfrm flipV="1">
            <a:off x="6019800" y="4019550"/>
            <a:ext cx="1295400" cy="1219200"/>
          </a:xfrm>
          <a:prstGeom prst="line">
            <a:avLst/>
          </a:prstGeom>
          <a:noFill/>
          <a:ln w="38100">
            <a:solidFill>
              <a:schemeClr val="bg2"/>
            </a:solidFill>
            <a:round/>
            <a:headEnd/>
            <a:tailEnd type="triangle" w="med" len="med"/>
          </a:ln>
        </p:spPr>
        <p:txBody>
          <a:bodyPr/>
          <a:lstStyle/>
          <a:p>
            <a:endParaRPr lang="en-US"/>
          </a:p>
        </p:txBody>
      </p:sp>
      <p:sp>
        <p:nvSpPr>
          <p:cNvPr id="18440" name="Line 9"/>
          <p:cNvSpPr>
            <a:spLocks noChangeShapeType="1"/>
          </p:cNvSpPr>
          <p:nvPr/>
        </p:nvSpPr>
        <p:spPr bwMode="auto">
          <a:xfrm flipV="1">
            <a:off x="2971800" y="4038600"/>
            <a:ext cx="1295400" cy="1219200"/>
          </a:xfrm>
          <a:prstGeom prst="line">
            <a:avLst/>
          </a:prstGeom>
          <a:noFill/>
          <a:ln w="38100">
            <a:solidFill>
              <a:schemeClr val="bg2"/>
            </a:solidFill>
            <a:round/>
            <a:headEnd/>
            <a:tailEnd type="triangle" w="med" len="med"/>
          </a:ln>
        </p:spPr>
        <p:txBody>
          <a:bodyPr/>
          <a:lstStyle/>
          <a:p>
            <a:endParaRPr lang="en-US"/>
          </a:p>
        </p:txBody>
      </p:sp>
      <p:sp>
        <p:nvSpPr>
          <p:cNvPr id="18441" name="Line 14"/>
          <p:cNvSpPr>
            <a:spLocks noChangeShapeType="1"/>
          </p:cNvSpPr>
          <p:nvPr/>
        </p:nvSpPr>
        <p:spPr bwMode="auto">
          <a:xfrm flipH="1">
            <a:off x="1752600" y="3200400"/>
            <a:ext cx="914400" cy="0"/>
          </a:xfrm>
          <a:prstGeom prst="line">
            <a:avLst/>
          </a:prstGeom>
          <a:noFill/>
          <a:ln w="9525">
            <a:solidFill>
              <a:schemeClr val="bg2"/>
            </a:solidFill>
            <a:round/>
            <a:headEnd/>
            <a:tailEnd type="triangle" w="med" len="med"/>
          </a:ln>
        </p:spPr>
        <p:txBody>
          <a:bodyPr/>
          <a:lstStyle/>
          <a:p>
            <a:endParaRPr lang="en-US"/>
          </a:p>
        </p:txBody>
      </p:sp>
      <p:sp>
        <p:nvSpPr>
          <p:cNvPr id="18442" name="Line 15"/>
          <p:cNvSpPr>
            <a:spLocks noChangeShapeType="1"/>
          </p:cNvSpPr>
          <p:nvPr/>
        </p:nvSpPr>
        <p:spPr bwMode="auto">
          <a:xfrm flipH="1">
            <a:off x="5410200" y="3124200"/>
            <a:ext cx="914400" cy="0"/>
          </a:xfrm>
          <a:prstGeom prst="line">
            <a:avLst/>
          </a:prstGeom>
          <a:noFill/>
          <a:ln w="9525">
            <a:solidFill>
              <a:schemeClr val="bg2"/>
            </a:solidFill>
            <a:round/>
            <a:headEnd/>
            <a:tailEnd type="triangle" w="med" len="med"/>
          </a:ln>
        </p:spPr>
        <p:txBody>
          <a:bodyPr/>
          <a:lstStyle/>
          <a:p>
            <a:endParaRPr lang="en-US"/>
          </a:p>
        </p:txBody>
      </p:sp>
      <p:sp>
        <p:nvSpPr>
          <p:cNvPr id="18443" name="Line 16"/>
          <p:cNvSpPr>
            <a:spLocks noChangeShapeType="1"/>
          </p:cNvSpPr>
          <p:nvPr/>
        </p:nvSpPr>
        <p:spPr bwMode="auto">
          <a:xfrm flipH="1">
            <a:off x="6400800" y="4953000"/>
            <a:ext cx="914400" cy="0"/>
          </a:xfrm>
          <a:prstGeom prst="line">
            <a:avLst/>
          </a:prstGeom>
          <a:noFill/>
          <a:ln w="9525">
            <a:solidFill>
              <a:schemeClr val="bg2"/>
            </a:solidFill>
            <a:round/>
            <a:headEnd/>
            <a:tailEnd type="triangle" w="med" len="med"/>
          </a:ln>
        </p:spPr>
        <p:txBody>
          <a:bodyPr/>
          <a:lstStyle/>
          <a:p>
            <a:endParaRPr lang="en-US"/>
          </a:p>
        </p:txBody>
      </p:sp>
      <p:sp>
        <p:nvSpPr>
          <p:cNvPr id="18444" name="Line 17"/>
          <p:cNvSpPr>
            <a:spLocks noChangeShapeType="1"/>
          </p:cNvSpPr>
          <p:nvPr/>
        </p:nvSpPr>
        <p:spPr bwMode="auto">
          <a:xfrm flipH="1">
            <a:off x="3352800" y="4953000"/>
            <a:ext cx="914400" cy="0"/>
          </a:xfrm>
          <a:prstGeom prst="line">
            <a:avLst/>
          </a:prstGeom>
          <a:noFill/>
          <a:ln w="9525">
            <a:solidFill>
              <a:schemeClr val="bg2"/>
            </a:solidFill>
            <a:round/>
            <a:headEnd/>
            <a:tailEnd type="triangle" w="med" len="med"/>
          </a:ln>
        </p:spPr>
        <p:txBody>
          <a:bodyPr/>
          <a:lstStyle/>
          <a:p>
            <a:endParaRPr lang="en-US"/>
          </a:p>
        </p:txBody>
      </p:sp>
      <p:sp>
        <p:nvSpPr>
          <p:cNvPr id="18445" name="Line 19"/>
          <p:cNvSpPr>
            <a:spLocks noChangeShapeType="1"/>
          </p:cNvSpPr>
          <p:nvPr/>
        </p:nvSpPr>
        <p:spPr bwMode="auto">
          <a:xfrm flipV="1">
            <a:off x="3581400" y="4953000"/>
            <a:ext cx="381000" cy="381000"/>
          </a:xfrm>
          <a:prstGeom prst="line">
            <a:avLst/>
          </a:prstGeom>
          <a:noFill/>
          <a:ln w="9525">
            <a:solidFill>
              <a:schemeClr val="bg2"/>
            </a:solidFill>
            <a:round/>
            <a:headEnd/>
            <a:tailEnd type="triangle" w="med" len="med"/>
          </a:ln>
        </p:spPr>
        <p:txBody>
          <a:bodyPr/>
          <a:lstStyle/>
          <a:p>
            <a:endParaRPr lang="en-US"/>
          </a:p>
        </p:txBody>
      </p:sp>
      <p:sp>
        <p:nvSpPr>
          <p:cNvPr id="18446" name="Line 20"/>
          <p:cNvSpPr>
            <a:spLocks noChangeShapeType="1"/>
          </p:cNvSpPr>
          <p:nvPr/>
        </p:nvSpPr>
        <p:spPr bwMode="auto">
          <a:xfrm flipV="1">
            <a:off x="6629400" y="4953000"/>
            <a:ext cx="381000" cy="381000"/>
          </a:xfrm>
          <a:prstGeom prst="line">
            <a:avLst/>
          </a:prstGeom>
          <a:noFill/>
          <a:ln w="9525">
            <a:solidFill>
              <a:schemeClr val="bg2"/>
            </a:solidFill>
            <a:round/>
            <a:headEnd/>
            <a:tailEnd type="triangle" w="med" len="med"/>
          </a:ln>
        </p:spPr>
        <p:txBody>
          <a:bodyPr/>
          <a:lstStyle/>
          <a:p>
            <a:endParaRPr lang="en-US"/>
          </a:p>
        </p:txBody>
      </p:sp>
      <p:sp>
        <p:nvSpPr>
          <p:cNvPr id="18447" name="Line 22"/>
          <p:cNvSpPr>
            <a:spLocks noChangeShapeType="1"/>
          </p:cNvSpPr>
          <p:nvPr/>
        </p:nvSpPr>
        <p:spPr bwMode="auto">
          <a:xfrm flipH="1" flipV="1">
            <a:off x="2133600" y="3257550"/>
            <a:ext cx="381000" cy="381000"/>
          </a:xfrm>
          <a:prstGeom prst="line">
            <a:avLst/>
          </a:prstGeom>
          <a:noFill/>
          <a:ln w="9525">
            <a:solidFill>
              <a:schemeClr val="bg2"/>
            </a:solidFill>
            <a:round/>
            <a:headEnd/>
            <a:tailEnd type="triangle" w="med" len="med"/>
          </a:ln>
        </p:spPr>
        <p:txBody>
          <a:bodyPr/>
          <a:lstStyle/>
          <a:p>
            <a:endParaRPr lang="en-US"/>
          </a:p>
        </p:txBody>
      </p:sp>
      <p:sp>
        <p:nvSpPr>
          <p:cNvPr id="18448" name="Line 23"/>
          <p:cNvSpPr>
            <a:spLocks noChangeShapeType="1"/>
          </p:cNvSpPr>
          <p:nvPr/>
        </p:nvSpPr>
        <p:spPr bwMode="auto">
          <a:xfrm flipH="1" flipV="1">
            <a:off x="5791200" y="3143250"/>
            <a:ext cx="381000" cy="381000"/>
          </a:xfrm>
          <a:prstGeom prst="line">
            <a:avLst/>
          </a:prstGeom>
          <a:noFill/>
          <a:ln w="9525">
            <a:solidFill>
              <a:schemeClr val="bg2"/>
            </a:solidFill>
            <a:round/>
            <a:headEnd/>
            <a:tailEnd type="triangle" w="med" len="med"/>
          </a:ln>
        </p:spPr>
        <p:txBody>
          <a:bodyPr/>
          <a:lstStyle/>
          <a:p>
            <a:endParaRPr lang="en-US"/>
          </a:p>
        </p:txBody>
      </p:sp>
      <p:sp>
        <p:nvSpPr>
          <p:cNvPr id="18449" name="Line 24"/>
          <p:cNvSpPr>
            <a:spLocks noChangeShapeType="1"/>
          </p:cNvSpPr>
          <p:nvPr/>
        </p:nvSpPr>
        <p:spPr bwMode="auto">
          <a:xfrm flipH="1">
            <a:off x="2362200" y="2743200"/>
            <a:ext cx="228600" cy="457200"/>
          </a:xfrm>
          <a:prstGeom prst="line">
            <a:avLst/>
          </a:prstGeom>
          <a:noFill/>
          <a:ln w="9525">
            <a:solidFill>
              <a:schemeClr val="bg2"/>
            </a:solidFill>
            <a:round/>
            <a:headEnd/>
            <a:tailEnd type="triangle" w="med" len="med"/>
          </a:ln>
        </p:spPr>
        <p:txBody>
          <a:bodyPr/>
          <a:lstStyle/>
          <a:p>
            <a:endParaRPr lang="en-US"/>
          </a:p>
        </p:txBody>
      </p:sp>
      <p:sp>
        <p:nvSpPr>
          <p:cNvPr id="18450" name="Line 25"/>
          <p:cNvSpPr>
            <a:spLocks noChangeShapeType="1"/>
          </p:cNvSpPr>
          <p:nvPr/>
        </p:nvSpPr>
        <p:spPr bwMode="auto">
          <a:xfrm flipH="1">
            <a:off x="6019800" y="2628900"/>
            <a:ext cx="228600" cy="457200"/>
          </a:xfrm>
          <a:prstGeom prst="line">
            <a:avLst/>
          </a:prstGeom>
          <a:noFill/>
          <a:ln w="9525">
            <a:solidFill>
              <a:schemeClr val="bg2"/>
            </a:solidFill>
            <a:round/>
            <a:headEnd/>
            <a:tailEnd type="triangle" w="med" len="med"/>
          </a:ln>
        </p:spPr>
        <p:txBody>
          <a:bodyPr/>
          <a:lstStyle/>
          <a:p>
            <a:endParaRPr lang="en-US"/>
          </a:p>
        </p:txBody>
      </p:sp>
      <p:sp>
        <p:nvSpPr>
          <p:cNvPr id="18451" name="Line 27"/>
          <p:cNvSpPr>
            <a:spLocks noChangeShapeType="1"/>
          </p:cNvSpPr>
          <p:nvPr/>
        </p:nvSpPr>
        <p:spPr bwMode="auto">
          <a:xfrm>
            <a:off x="4114800" y="4495800"/>
            <a:ext cx="0" cy="457200"/>
          </a:xfrm>
          <a:prstGeom prst="line">
            <a:avLst/>
          </a:prstGeom>
          <a:noFill/>
          <a:ln w="9525">
            <a:solidFill>
              <a:schemeClr val="bg2"/>
            </a:solidFill>
            <a:round/>
            <a:headEnd/>
            <a:tailEnd type="triangle" w="med" len="med"/>
          </a:ln>
        </p:spPr>
        <p:txBody>
          <a:bodyPr/>
          <a:lstStyle/>
          <a:p>
            <a:endParaRPr lang="en-US"/>
          </a:p>
        </p:txBody>
      </p:sp>
      <p:sp>
        <p:nvSpPr>
          <p:cNvPr id="18452" name="Line 28"/>
          <p:cNvSpPr>
            <a:spLocks noChangeShapeType="1"/>
          </p:cNvSpPr>
          <p:nvPr/>
        </p:nvSpPr>
        <p:spPr bwMode="auto">
          <a:xfrm>
            <a:off x="7162800" y="4495800"/>
            <a:ext cx="0" cy="457200"/>
          </a:xfrm>
          <a:prstGeom prst="line">
            <a:avLst/>
          </a:prstGeom>
          <a:noFill/>
          <a:ln w="9525">
            <a:solidFill>
              <a:schemeClr val="bg2"/>
            </a:solidFill>
            <a:round/>
            <a:headEnd/>
            <a:tailEnd type="triangle" w="med" len="med"/>
          </a:ln>
        </p:spPr>
        <p:txBody>
          <a:bodyPr/>
          <a:lstStyle/>
          <a:p>
            <a:endParaRPr lang="en-US"/>
          </a:p>
        </p:txBody>
      </p:sp>
      <p:sp>
        <p:nvSpPr>
          <p:cNvPr id="18453" name="Text Box 29"/>
          <p:cNvSpPr txBox="1">
            <a:spLocks noChangeArrowheads="1"/>
          </p:cNvSpPr>
          <p:nvPr/>
        </p:nvSpPr>
        <p:spPr bwMode="auto">
          <a:xfrm>
            <a:off x="2857500" y="5414965"/>
            <a:ext cx="838200" cy="376237"/>
          </a:xfrm>
          <a:prstGeom prst="rect">
            <a:avLst/>
          </a:prstGeom>
          <a:noFill/>
          <a:ln w="9525">
            <a:solidFill>
              <a:srgbClr val="FF3300"/>
            </a:solidFill>
            <a:miter lim="800000"/>
            <a:headEnd/>
            <a:tailEnd/>
          </a:ln>
        </p:spPr>
        <p:txBody>
          <a:bodyPr>
            <a:spAutoFit/>
          </a:bodyPr>
          <a:lstStyle/>
          <a:p>
            <a:pPr>
              <a:spcBef>
                <a:spcPct val="50000"/>
              </a:spcBef>
            </a:pPr>
            <a:r>
              <a:rPr lang="en-US" sz="1800" b="1">
                <a:solidFill>
                  <a:schemeClr val="bg1"/>
                </a:solidFill>
              </a:rPr>
              <a:t>Man</a:t>
            </a:r>
          </a:p>
        </p:txBody>
      </p:sp>
      <p:sp>
        <p:nvSpPr>
          <p:cNvPr id="18454" name="Text Box 30"/>
          <p:cNvSpPr txBox="1">
            <a:spLocks noChangeArrowheads="1"/>
          </p:cNvSpPr>
          <p:nvPr/>
        </p:nvSpPr>
        <p:spPr bwMode="auto">
          <a:xfrm>
            <a:off x="5848350" y="5414965"/>
            <a:ext cx="1543050" cy="376237"/>
          </a:xfrm>
          <a:prstGeom prst="rect">
            <a:avLst/>
          </a:prstGeom>
          <a:noFill/>
          <a:ln w="9525">
            <a:solidFill>
              <a:srgbClr val="FF3300"/>
            </a:solidFill>
            <a:miter lim="800000"/>
            <a:headEnd/>
            <a:tailEnd/>
          </a:ln>
        </p:spPr>
        <p:txBody>
          <a:bodyPr>
            <a:spAutoFit/>
          </a:bodyPr>
          <a:lstStyle/>
          <a:p>
            <a:pPr>
              <a:spcBef>
                <a:spcPct val="50000"/>
              </a:spcBef>
            </a:pPr>
            <a:r>
              <a:rPr lang="en-US" sz="1800" b="1">
                <a:solidFill>
                  <a:schemeClr val="bg1"/>
                </a:solidFill>
              </a:rPr>
              <a:t>Material</a:t>
            </a:r>
          </a:p>
        </p:txBody>
      </p:sp>
      <p:sp>
        <p:nvSpPr>
          <p:cNvPr id="18455" name="Text Box 31"/>
          <p:cNvSpPr txBox="1">
            <a:spLocks noChangeArrowheads="1"/>
          </p:cNvSpPr>
          <p:nvPr/>
        </p:nvSpPr>
        <p:spPr bwMode="auto">
          <a:xfrm>
            <a:off x="4991100" y="2376490"/>
            <a:ext cx="1409700" cy="376237"/>
          </a:xfrm>
          <a:prstGeom prst="rect">
            <a:avLst/>
          </a:prstGeom>
          <a:noFill/>
          <a:ln w="9525">
            <a:solidFill>
              <a:srgbClr val="FF3300"/>
            </a:solidFill>
            <a:miter lim="800000"/>
            <a:headEnd/>
            <a:tailEnd/>
          </a:ln>
        </p:spPr>
        <p:txBody>
          <a:bodyPr>
            <a:spAutoFit/>
          </a:bodyPr>
          <a:lstStyle/>
          <a:p>
            <a:pPr>
              <a:spcBef>
                <a:spcPct val="50000"/>
              </a:spcBef>
            </a:pPr>
            <a:r>
              <a:rPr lang="en-US" sz="1800" b="1">
                <a:solidFill>
                  <a:schemeClr val="bg1"/>
                </a:solidFill>
              </a:rPr>
              <a:t>Machine</a:t>
            </a:r>
          </a:p>
        </p:txBody>
      </p:sp>
      <p:sp>
        <p:nvSpPr>
          <p:cNvPr id="18456" name="Text Box 32"/>
          <p:cNvSpPr txBox="1">
            <a:spLocks noChangeArrowheads="1"/>
          </p:cNvSpPr>
          <p:nvPr/>
        </p:nvSpPr>
        <p:spPr bwMode="auto">
          <a:xfrm>
            <a:off x="1333500" y="2419350"/>
            <a:ext cx="1143000" cy="376238"/>
          </a:xfrm>
          <a:prstGeom prst="rect">
            <a:avLst/>
          </a:prstGeom>
          <a:noFill/>
          <a:ln w="9525">
            <a:solidFill>
              <a:srgbClr val="FF3300"/>
            </a:solidFill>
            <a:miter lim="800000"/>
            <a:headEnd/>
            <a:tailEnd/>
          </a:ln>
        </p:spPr>
        <p:txBody>
          <a:bodyPr>
            <a:spAutoFit/>
          </a:bodyPr>
          <a:lstStyle/>
          <a:p>
            <a:pPr>
              <a:spcBef>
                <a:spcPct val="50000"/>
              </a:spcBef>
            </a:pPr>
            <a:r>
              <a:rPr lang="en-US" sz="1800" b="1">
                <a:solidFill>
                  <a:schemeClr val="bg1"/>
                </a:solidFill>
              </a:rPr>
              <a:t>Method</a:t>
            </a:r>
          </a:p>
        </p:txBody>
      </p:sp>
      <p:sp>
        <p:nvSpPr>
          <p:cNvPr id="18457" name="Arc 35"/>
          <p:cNvSpPr>
            <a:spLocks/>
          </p:cNvSpPr>
          <p:nvPr/>
        </p:nvSpPr>
        <p:spPr bwMode="auto">
          <a:xfrm>
            <a:off x="609600" y="1752600"/>
            <a:ext cx="8229600" cy="1600200"/>
          </a:xfrm>
          <a:custGeom>
            <a:avLst/>
            <a:gdLst>
              <a:gd name="T0" fmla="*/ 0 w 21600"/>
              <a:gd name="T1" fmla="*/ 0 h 21600"/>
              <a:gd name="T2" fmla="*/ 8229600 w 21600"/>
              <a:gd name="T3" fmla="*/ 1600200 h 21600"/>
              <a:gd name="T4" fmla="*/ 0 w 21600"/>
              <a:gd name="T5" fmla="*/ 160020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9525">
            <a:solidFill>
              <a:schemeClr val="tx1"/>
            </a:solidFill>
            <a:round/>
            <a:headEnd/>
            <a:tailEnd/>
          </a:ln>
        </p:spPr>
        <p:txBody>
          <a:bodyPr wrap="none" anchor="ctr"/>
          <a:lstStyle/>
          <a:p>
            <a:endParaRPr lang="en-US"/>
          </a:p>
        </p:txBody>
      </p:sp>
      <p:sp>
        <p:nvSpPr>
          <p:cNvPr id="18458" name="Arc 36"/>
          <p:cNvSpPr>
            <a:spLocks/>
          </p:cNvSpPr>
          <p:nvPr/>
        </p:nvSpPr>
        <p:spPr bwMode="auto">
          <a:xfrm flipV="1">
            <a:off x="609600" y="4953000"/>
            <a:ext cx="8229600" cy="1600200"/>
          </a:xfrm>
          <a:custGeom>
            <a:avLst/>
            <a:gdLst>
              <a:gd name="T0" fmla="*/ 0 w 21600"/>
              <a:gd name="T1" fmla="*/ 0 h 21600"/>
              <a:gd name="T2" fmla="*/ 8229600 w 21600"/>
              <a:gd name="T3" fmla="*/ 1600200 h 21600"/>
              <a:gd name="T4" fmla="*/ 0 w 21600"/>
              <a:gd name="T5" fmla="*/ 160020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9525">
            <a:solidFill>
              <a:schemeClr val="tx1"/>
            </a:solidFill>
            <a:round/>
            <a:headEnd/>
            <a:tailEnd/>
          </a:ln>
        </p:spPr>
        <p:txBody>
          <a:bodyPr wrap="none" anchor="ctr"/>
          <a:lstStyle/>
          <a:p>
            <a:endParaRPr lang="en-US"/>
          </a:p>
        </p:txBody>
      </p:sp>
      <p:sp>
        <p:nvSpPr>
          <p:cNvPr id="18459" name="Text Box 37"/>
          <p:cNvSpPr txBox="1">
            <a:spLocks noChangeArrowheads="1"/>
          </p:cNvSpPr>
          <p:nvPr/>
        </p:nvSpPr>
        <p:spPr bwMode="auto">
          <a:xfrm>
            <a:off x="3657600" y="3505201"/>
            <a:ext cx="1371600" cy="366713"/>
          </a:xfrm>
          <a:prstGeom prst="rect">
            <a:avLst/>
          </a:prstGeom>
          <a:noFill/>
          <a:ln w="9525">
            <a:noFill/>
            <a:miter lim="800000"/>
            <a:headEnd/>
            <a:tailEnd/>
          </a:ln>
        </p:spPr>
        <p:txBody>
          <a:bodyPr>
            <a:spAutoFit/>
          </a:bodyPr>
          <a:lstStyle/>
          <a:p>
            <a:pPr>
              <a:spcBef>
                <a:spcPct val="50000"/>
              </a:spcBef>
            </a:pPr>
            <a:r>
              <a:rPr lang="en-US" sz="1800" b="1">
                <a:solidFill>
                  <a:srgbClr val="000000"/>
                </a:solidFill>
              </a:rPr>
              <a:t>Backbone</a:t>
            </a:r>
          </a:p>
        </p:txBody>
      </p:sp>
      <p:sp>
        <p:nvSpPr>
          <p:cNvPr id="18460" name="Text Box 38"/>
          <p:cNvSpPr txBox="1">
            <a:spLocks noChangeArrowheads="1"/>
          </p:cNvSpPr>
          <p:nvPr/>
        </p:nvSpPr>
        <p:spPr bwMode="auto">
          <a:xfrm rot="2639424">
            <a:off x="4724400" y="3367088"/>
            <a:ext cx="1371600" cy="366712"/>
          </a:xfrm>
          <a:prstGeom prst="rect">
            <a:avLst/>
          </a:prstGeom>
          <a:noFill/>
          <a:ln w="9525">
            <a:noFill/>
            <a:miter lim="800000"/>
            <a:headEnd/>
            <a:tailEnd/>
          </a:ln>
        </p:spPr>
        <p:txBody>
          <a:bodyPr>
            <a:spAutoFit/>
          </a:bodyPr>
          <a:lstStyle/>
          <a:p>
            <a:pPr>
              <a:spcBef>
                <a:spcPct val="50000"/>
              </a:spcBef>
            </a:pPr>
            <a:r>
              <a:rPr lang="en-US" sz="1800">
                <a:solidFill>
                  <a:srgbClr val="000000"/>
                </a:solidFill>
              </a:rPr>
              <a:t>Big Bone</a:t>
            </a:r>
          </a:p>
        </p:txBody>
      </p:sp>
      <p:sp>
        <p:nvSpPr>
          <p:cNvPr id="18461" name="Text Box 40"/>
          <p:cNvSpPr txBox="1">
            <a:spLocks noChangeArrowheads="1"/>
          </p:cNvSpPr>
          <p:nvPr/>
        </p:nvSpPr>
        <p:spPr bwMode="auto">
          <a:xfrm>
            <a:off x="6343650" y="2921000"/>
            <a:ext cx="1752600" cy="336550"/>
          </a:xfrm>
          <a:prstGeom prst="rect">
            <a:avLst/>
          </a:prstGeom>
          <a:noFill/>
          <a:ln w="9525">
            <a:noFill/>
            <a:miter lim="800000"/>
            <a:headEnd/>
            <a:tailEnd/>
          </a:ln>
        </p:spPr>
        <p:txBody>
          <a:bodyPr>
            <a:spAutoFit/>
          </a:bodyPr>
          <a:lstStyle/>
          <a:p>
            <a:pPr>
              <a:spcBef>
                <a:spcPct val="50000"/>
              </a:spcBef>
            </a:pPr>
            <a:r>
              <a:rPr lang="en-US" sz="1600" b="1">
                <a:solidFill>
                  <a:srgbClr val="000000"/>
                </a:solidFill>
              </a:rPr>
              <a:t>Medium Bone</a:t>
            </a:r>
          </a:p>
        </p:txBody>
      </p:sp>
      <p:sp>
        <p:nvSpPr>
          <p:cNvPr id="18462" name="Text Box 41"/>
          <p:cNvSpPr txBox="1">
            <a:spLocks noChangeArrowheads="1"/>
          </p:cNvSpPr>
          <p:nvPr/>
        </p:nvSpPr>
        <p:spPr bwMode="auto">
          <a:xfrm rot="-5400000">
            <a:off x="6647657" y="4128702"/>
            <a:ext cx="1371600" cy="276999"/>
          </a:xfrm>
          <a:prstGeom prst="rect">
            <a:avLst/>
          </a:prstGeom>
          <a:noFill/>
          <a:ln w="9525">
            <a:noFill/>
            <a:miter lim="800000"/>
            <a:headEnd/>
            <a:tailEnd/>
          </a:ln>
        </p:spPr>
        <p:txBody>
          <a:bodyPr>
            <a:spAutoFit/>
          </a:bodyPr>
          <a:lstStyle/>
          <a:p>
            <a:pPr>
              <a:spcBef>
                <a:spcPct val="50000"/>
              </a:spcBef>
            </a:pPr>
            <a:r>
              <a:rPr lang="en-US" sz="1200" b="1">
                <a:solidFill>
                  <a:srgbClr val="000000"/>
                </a:solidFill>
              </a:rPr>
              <a:t>Small Bone</a:t>
            </a:r>
          </a:p>
        </p:txBody>
      </p:sp>
      <p:sp>
        <p:nvSpPr>
          <p:cNvPr id="18463" name="AutoShape 43"/>
          <p:cNvSpPr>
            <a:spLocks/>
          </p:cNvSpPr>
          <p:nvPr/>
        </p:nvSpPr>
        <p:spPr bwMode="auto">
          <a:xfrm>
            <a:off x="3733800" y="5257800"/>
            <a:ext cx="1409700" cy="381000"/>
          </a:xfrm>
          <a:prstGeom prst="callout1">
            <a:avLst>
              <a:gd name="adj1" fmla="val -20000"/>
              <a:gd name="adj2" fmla="val 91894"/>
              <a:gd name="adj3" fmla="val -20000"/>
              <a:gd name="adj4" fmla="val 2704"/>
            </a:avLst>
          </a:prstGeom>
          <a:noFill/>
          <a:ln w="9525">
            <a:solidFill>
              <a:schemeClr val="bg2"/>
            </a:solidFill>
            <a:miter lim="800000"/>
            <a:headEnd type="triangle" w="med" len="med"/>
            <a:tailEnd/>
          </a:ln>
        </p:spPr>
        <p:txBody>
          <a:bodyPr/>
          <a:lstStyle/>
          <a:p>
            <a:pPr algn="ctr"/>
            <a:r>
              <a:rPr lang="en-US" sz="1200" b="1">
                <a:solidFill>
                  <a:srgbClr val="000000"/>
                </a:solidFill>
              </a:rPr>
              <a:t>Fine Bone</a:t>
            </a:r>
          </a:p>
        </p:txBody>
      </p:sp>
      <p:sp>
        <p:nvSpPr>
          <p:cNvPr id="18464" name="Text Box 45"/>
          <p:cNvSpPr txBox="1">
            <a:spLocks noChangeArrowheads="1"/>
          </p:cNvSpPr>
          <p:nvPr/>
        </p:nvSpPr>
        <p:spPr bwMode="auto">
          <a:xfrm>
            <a:off x="6705600" y="838202"/>
            <a:ext cx="2286000" cy="646331"/>
          </a:xfrm>
          <a:prstGeom prst="rect">
            <a:avLst/>
          </a:prstGeom>
          <a:noFill/>
          <a:ln w="9525">
            <a:noFill/>
            <a:miter lim="800000"/>
            <a:headEnd/>
            <a:tailEnd/>
          </a:ln>
        </p:spPr>
        <p:txBody>
          <a:bodyPr>
            <a:spAutoFit/>
          </a:bodyPr>
          <a:lstStyle/>
          <a:p>
            <a:pPr>
              <a:spcBef>
                <a:spcPct val="50000"/>
              </a:spcBef>
            </a:pPr>
            <a:r>
              <a:rPr lang="en-US" b="1"/>
              <a:t>Money is not part of this diagram</a:t>
            </a:r>
          </a:p>
        </p:txBody>
      </p:sp>
      <p:sp>
        <p:nvSpPr>
          <p:cNvPr id="18465" name="Text Box 47"/>
          <p:cNvSpPr txBox="1">
            <a:spLocks noChangeArrowheads="1"/>
          </p:cNvSpPr>
          <p:nvPr/>
        </p:nvSpPr>
        <p:spPr bwMode="auto">
          <a:xfrm>
            <a:off x="7508115" y="3560762"/>
            <a:ext cx="1371600" cy="706438"/>
          </a:xfrm>
          <a:prstGeom prst="rect">
            <a:avLst/>
          </a:prstGeom>
          <a:noFill/>
          <a:ln w="9525">
            <a:solidFill>
              <a:srgbClr val="FF3300"/>
            </a:solidFill>
            <a:miter lim="800000"/>
            <a:headEnd/>
            <a:tailEnd/>
          </a:ln>
        </p:spPr>
        <p:txBody>
          <a:bodyPr>
            <a:spAutoFit/>
          </a:bodyPr>
          <a:lstStyle/>
          <a:p>
            <a:pPr algn="ctr">
              <a:lnSpc>
                <a:spcPct val="40000"/>
              </a:lnSpc>
              <a:spcBef>
                <a:spcPct val="50000"/>
              </a:spcBef>
            </a:pPr>
            <a:r>
              <a:rPr lang="en-US" sz="1800" b="1" dirty="0">
                <a:solidFill>
                  <a:srgbClr val="000000"/>
                </a:solidFill>
              </a:rPr>
              <a:t>Poor</a:t>
            </a:r>
          </a:p>
          <a:p>
            <a:pPr algn="ctr">
              <a:lnSpc>
                <a:spcPct val="40000"/>
              </a:lnSpc>
              <a:spcBef>
                <a:spcPct val="50000"/>
              </a:spcBef>
            </a:pPr>
            <a:r>
              <a:rPr lang="en-US" sz="1800" b="1" dirty="0">
                <a:solidFill>
                  <a:srgbClr val="000000"/>
                </a:solidFill>
              </a:rPr>
              <a:t>barbecue</a:t>
            </a:r>
          </a:p>
          <a:p>
            <a:pPr algn="ctr">
              <a:lnSpc>
                <a:spcPct val="40000"/>
              </a:lnSpc>
              <a:spcBef>
                <a:spcPct val="50000"/>
              </a:spcBef>
            </a:pPr>
            <a:r>
              <a:rPr lang="en-US" sz="1800" b="1" dirty="0">
                <a:solidFill>
                  <a:srgbClr val="000000"/>
                </a:solidFill>
              </a:rPr>
              <a:t>Quality</a:t>
            </a:r>
          </a:p>
        </p:txBody>
      </p:sp>
    </p:spTree>
    <p:extLst>
      <p:ext uri="{BB962C8B-B14F-4D97-AF65-F5344CB8AC3E}">
        <p14:creationId xmlns:p14="http://schemas.microsoft.com/office/powerpoint/2010/main" val="545821482"/>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ChangeArrowheads="1"/>
          </p:cNvSpPr>
          <p:nvPr/>
        </p:nvSpPr>
        <p:spPr bwMode="auto">
          <a:xfrm>
            <a:off x="19050" y="838199"/>
            <a:ext cx="9144000" cy="5943600"/>
          </a:xfrm>
          <a:prstGeom prst="rect">
            <a:avLst/>
          </a:prstGeom>
          <a:solidFill>
            <a:schemeClr val="accent1"/>
          </a:solidFill>
          <a:ln w="57150">
            <a:noFill/>
            <a:miter lim="800000"/>
            <a:headEnd/>
            <a:tailEnd/>
          </a:ln>
        </p:spPr>
        <p:txBody>
          <a:bodyPr wrap="none" anchor="ctr"/>
          <a:lstStyle/>
          <a:p>
            <a:endParaRPr lang="en-US"/>
          </a:p>
        </p:txBody>
      </p:sp>
      <p:sp>
        <p:nvSpPr>
          <p:cNvPr id="19459" name="Line 3"/>
          <p:cNvSpPr>
            <a:spLocks noChangeShapeType="1"/>
          </p:cNvSpPr>
          <p:nvPr/>
        </p:nvSpPr>
        <p:spPr bwMode="auto">
          <a:xfrm>
            <a:off x="1143000" y="3810000"/>
            <a:ext cx="7010400" cy="0"/>
          </a:xfrm>
          <a:prstGeom prst="line">
            <a:avLst/>
          </a:prstGeom>
          <a:noFill/>
          <a:ln w="76200">
            <a:solidFill>
              <a:schemeClr val="bg1"/>
            </a:solidFill>
            <a:round/>
            <a:headEnd/>
            <a:tailEnd type="triangle" w="med" len="med"/>
          </a:ln>
        </p:spPr>
        <p:txBody>
          <a:bodyPr/>
          <a:lstStyle/>
          <a:p>
            <a:endParaRPr lang="en-US"/>
          </a:p>
        </p:txBody>
      </p:sp>
      <p:sp>
        <p:nvSpPr>
          <p:cNvPr id="19460" name="Line 4"/>
          <p:cNvSpPr>
            <a:spLocks noChangeShapeType="1"/>
          </p:cNvSpPr>
          <p:nvPr/>
        </p:nvSpPr>
        <p:spPr bwMode="auto">
          <a:xfrm>
            <a:off x="1524000" y="1447800"/>
            <a:ext cx="2057400" cy="2362200"/>
          </a:xfrm>
          <a:prstGeom prst="line">
            <a:avLst/>
          </a:prstGeom>
          <a:noFill/>
          <a:ln w="57150">
            <a:solidFill>
              <a:srgbClr val="FF3300"/>
            </a:solidFill>
            <a:round/>
            <a:headEnd/>
            <a:tailEnd type="triangle" w="med" len="med"/>
          </a:ln>
        </p:spPr>
        <p:txBody>
          <a:bodyPr/>
          <a:lstStyle/>
          <a:p>
            <a:endParaRPr lang="en-US"/>
          </a:p>
        </p:txBody>
      </p:sp>
      <p:sp>
        <p:nvSpPr>
          <p:cNvPr id="19461" name="Line 5"/>
          <p:cNvSpPr>
            <a:spLocks noChangeShapeType="1"/>
          </p:cNvSpPr>
          <p:nvPr/>
        </p:nvSpPr>
        <p:spPr bwMode="auto">
          <a:xfrm>
            <a:off x="4724400" y="1447800"/>
            <a:ext cx="2057400" cy="2362200"/>
          </a:xfrm>
          <a:prstGeom prst="line">
            <a:avLst/>
          </a:prstGeom>
          <a:noFill/>
          <a:ln w="57150">
            <a:solidFill>
              <a:srgbClr val="FF3300"/>
            </a:solidFill>
            <a:round/>
            <a:headEnd/>
            <a:tailEnd type="triangle" w="med" len="med"/>
          </a:ln>
        </p:spPr>
        <p:txBody>
          <a:bodyPr/>
          <a:lstStyle/>
          <a:p>
            <a:endParaRPr lang="en-US"/>
          </a:p>
        </p:txBody>
      </p:sp>
      <p:sp>
        <p:nvSpPr>
          <p:cNvPr id="19462" name="Line 6"/>
          <p:cNvSpPr>
            <a:spLocks noChangeShapeType="1"/>
          </p:cNvSpPr>
          <p:nvPr/>
        </p:nvSpPr>
        <p:spPr bwMode="auto">
          <a:xfrm flipV="1">
            <a:off x="1371600" y="3810000"/>
            <a:ext cx="2057400" cy="2362200"/>
          </a:xfrm>
          <a:prstGeom prst="line">
            <a:avLst/>
          </a:prstGeom>
          <a:noFill/>
          <a:ln w="57150">
            <a:solidFill>
              <a:srgbClr val="FF3300"/>
            </a:solidFill>
            <a:round/>
            <a:headEnd/>
            <a:tailEnd type="triangle" w="med" len="med"/>
          </a:ln>
        </p:spPr>
        <p:txBody>
          <a:bodyPr/>
          <a:lstStyle/>
          <a:p>
            <a:endParaRPr lang="en-US"/>
          </a:p>
        </p:txBody>
      </p:sp>
      <p:sp>
        <p:nvSpPr>
          <p:cNvPr id="19463" name="Line 7"/>
          <p:cNvSpPr>
            <a:spLocks noChangeShapeType="1"/>
          </p:cNvSpPr>
          <p:nvPr/>
        </p:nvSpPr>
        <p:spPr bwMode="auto">
          <a:xfrm flipV="1">
            <a:off x="3276600" y="3810000"/>
            <a:ext cx="2057400" cy="2362200"/>
          </a:xfrm>
          <a:prstGeom prst="line">
            <a:avLst/>
          </a:prstGeom>
          <a:noFill/>
          <a:ln w="57150">
            <a:solidFill>
              <a:srgbClr val="FF3300"/>
            </a:solidFill>
            <a:round/>
            <a:headEnd/>
            <a:tailEnd type="triangle" w="med" len="med"/>
          </a:ln>
        </p:spPr>
        <p:txBody>
          <a:bodyPr/>
          <a:lstStyle/>
          <a:p>
            <a:endParaRPr lang="en-US"/>
          </a:p>
        </p:txBody>
      </p:sp>
      <p:sp>
        <p:nvSpPr>
          <p:cNvPr id="19464" name="Line 8"/>
          <p:cNvSpPr>
            <a:spLocks noChangeShapeType="1"/>
          </p:cNvSpPr>
          <p:nvPr/>
        </p:nvSpPr>
        <p:spPr bwMode="auto">
          <a:xfrm flipV="1">
            <a:off x="5715000" y="3810000"/>
            <a:ext cx="2057400" cy="2362200"/>
          </a:xfrm>
          <a:prstGeom prst="line">
            <a:avLst/>
          </a:prstGeom>
          <a:noFill/>
          <a:ln w="57150">
            <a:solidFill>
              <a:srgbClr val="FF3300"/>
            </a:solidFill>
            <a:round/>
            <a:headEnd/>
            <a:tailEnd type="triangle" w="med" len="med"/>
          </a:ln>
        </p:spPr>
        <p:txBody>
          <a:bodyPr/>
          <a:lstStyle/>
          <a:p>
            <a:endParaRPr lang="en-US"/>
          </a:p>
        </p:txBody>
      </p:sp>
      <p:sp>
        <p:nvSpPr>
          <p:cNvPr id="19465" name="Line 9"/>
          <p:cNvSpPr>
            <a:spLocks noChangeShapeType="1"/>
          </p:cNvSpPr>
          <p:nvPr/>
        </p:nvSpPr>
        <p:spPr bwMode="auto">
          <a:xfrm flipH="1">
            <a:off x="6248400" y="5562600"/>
            <a:ext cx="2133600" cy="0"/>
          </a:xfrm>
          <a:prstGeom prst="line">
            <a:avLst/>
          </a:prstGeom>
          <a:noFill/>
          <a:ln w="28575">
            <a:solidFill>
              <a:srgbClr val="000000"/>
            </a:solidFill>
            <a:round/>
            <a:headEnd/>
            <a:tailEnd type="triangle" w="med" len="med"/>
          </a:ln>
        </p:spPr>
        <p:txBody>
          <a:bodyPr/>
          <a:lstStyle/>
          <a:p>
            <a:endParaRPr lang="en-US"/>
          </a:p>
        </p:txBody>
      </p:sp>
      <p:sp>
        <p:nvSpPr>
          <p:cNvPr id="19466" name="Line 10"/>
          <p:cNvSpPr>
            <a:spLocks noChangeShapeType="1"/>
          </p:cNvSpPr>
          <p:nvPr/>
        </p:nvSpPr>
        <p:spPr bwMode="auto">
          <a:xfrm flipH="1">
            <a:off x="6972300" y="4953000"/>
            <a:ext cx="533400" cy="609600"/>
          </a:xfrm>
          <a:prstGeom prst="line">
            <a:avLst/>
          </a:prstGeom>
          <a:noFill/>
          <a:ln w="9525">
            <a:solidFill>
              <a:schemeClr val="bg1"/>
            </a:solidFill>
            <a:round/>
            <a:headEnd/>
            <a:tailEnd type="triangle" w="med" len="med"/>
          </a:ln>
        </p:spPr>
        <p:txBody>
          <a:bodyPr/>
          <a:lstStyle/>
          <a:p>
            <a:endParaRPr lang="en-US"/>
          </a:p>
        </p:txBody>
      </p:sp>
      <p:sp>
        <p:nvSpPr>
          <p:cNvPr id="19467" name="Line 11"/>
          <p:cNvSpPr>
            <a:spLocks noChangeShapeType="1"/>
          </p:cNvSpPr>
          <p:nvPr/>
        </p:nvSpPr>
        <p:spPr bwMode="auto">
          <a:xfrm flipH="1" flipV="1">
            <a:off x="7277100" y="5619750"/>
            <a:ext cx="457200" cy="762000"/>
          </a:xfrm>
          <a:prstGeom prst="line">
            <a:avLst/>
          </a:prstGeom>
          <a:noFill/>
          <a:ln w="9525">
            <a:solidFill>
              <a:schemeClr val="bg1"/>
            </a:solidFill>
            <a:round/>
            <a:headEnd/>
            <a:tailEnd type="triangle" w="med" len="med"/>
          </a:ln>
        </p:spPr>
        <p:txBody>
          <a:bodyPr/>
          <a:lstStyle/>
          <a:p>
            <a:endParaRPr lang="en-US"/>
          </a:p>
        </p:txBody>
      </p:sp>
      <p:sp>
        <p:nvSpPr>
          <p:cNvPr id="19468" name="Line 12"/>
          <p:cNvSpPr>
            <a:spLocks noChangeShapeType="1"/>
          </p:cNvSpPr>
          <p:nvPr/>
        </p:nvSpPr>
        <p:spPr bwMode="auto">
          <a:xfrm flipH="1" flipV="1">
            <a:off x="7810500" y="5562600"/>
            <a:ext cx="304800" cy="457200"/>
          </a:xfrm>
          <a:prstGeom prst="line">
            <a:avLst/>
          </a:prstGeom>
          <a:noFill/>
          <a:ln w="9525">
            <a:solidFill>
              <a:schemeClr val="bg1"/>
            </a:solidFill>
            <a:round/>
            <a:headEnd/>
            <a:tailEnd type="triangle" w="med" len="med"/>
          </a:ln>
        </p:spPr>
        <p:txBody>
          <a:bodyPr/>
          <a:lstStyle/>
          <a:p>
            <a:endParaRPr lang="en-US"/>
          </a:p>
        </p:txBody>
      </p:sp>
      <p:sp>
        <p:nvSpPr>
          <p:cNvPr id="19469" name="Line 13"/>
          <p:cNvSpPr>
            <a:spLocks noChangeShapeType="1"/>
          </p:cNvSpPr>
          <p:nvPr/>
        </p:nvSpPr>
        <p:spPr bwMode="auto">
          <a:xfrm flipH="1" flipV="1">
            <a:off x="6743700" y="5619750"/>
            <a:ext cx="304800" cy="457200"/>
          </a:xfrm>
          <a:prstGeom prst="line">
            <a:avLst/>
          </a:prstGeom>
          <a:noFill/>
          <a:ln w="9525">
            <a:solidFill>
              <a:schemeClr val="bg1"/>
            </a:solidFill>
            <a:round/>
            <a:headEnd/>
            <a:tailEnd type="triangle" w="med" len="med"/>
          </a:ln>
        </p:spPr>
        <p:txBody>
          <a:bodyPr/>
          <a:lstStyle/>
          <a:p>
            <a:endParaRPr lang="en-US"/>
          </a:p>
        </p:txBody>
      </p:sp>
      <p:sp>
        <p:nvSpPr>
          <p:cNvPr id="19470" name="Line 14"/>
          <p:cNvSpPr>
            <a:spLocks noChangeShapeType="1"/>
          </p:cNvSpPr>
          <p:nvPr/>
        </p:nvSpPr>
        <p:spPr bwMode="auto">
          <a:xfrm>
            <a:off x="5486400" y="4800600"/>
            <a:ext cx="1371600" cy="0"/>
          </a:xfrm>
          <a:prstGeom prst="line">
            <a:avLst/>
          </a:prstGeom>
          <a:noFill/>
          <a:ln w="28575">
            <a:solidFill>
              <a:srgbClr val="000000"/>
            </a:solidFill>
            <a:round/>
            <a:headEnd/>
            <a:tailEnd type="triangle" w="med" len="med"/>
          </a:ln>
        </p:spPr>
        <p:txBody>
          <a:bodyPr/>
          <a:lstStyle/>
          <a:p>
            <a:endParaRPr lang="en-US"/>
          </a:p>
        </p:txBody>
      </p:sp>
      <p:sp>
        <p:nvSpPr>
          <p:cNvPr id="19471" name="Line 15"/>
          <p:cNvSpPr>
            <a:spLocks noChangeShapeType="1"/>
          </p:cNvSpPr>
          <p:nvPr/>
        </p:nvSpPr>
        <p:spPr bwMode="auto">
          <a:xfrm>
            <a:off x="6019800" y="4267200"/>
            <a:ext cx="533400" cy="533400"/>
          </a:xfrm>
          <a:prstGeom prst="line">
            <a:avLst/>
          </a:prstGeom>
          <a:noFill/>
          <a:ln w="9525">
            <a:solidFill>
              <a:schemeClr val="bg1"/>
            </a:solidFill>
            <a:round/>
            <a:headEnd/>
            <a:tailEnd type="triangle" w="med" len="med"/>
          </a:ln>
        </p:spPr>
        <p:txBody>
          <a:bodyPr/>
          <a:lstStyle/>
          <a:p>
            <a:endParaRPr lang="en-US"/>
          </a:p>
        </p:txBody>
      </p:sp>
      <p:sp>
        <p:nvSpPr>
          <p:cNvPr id="19472" name="Line 16"/>
          <p:cNvSpPr>
            <a:spLocks noChangeShapeType="1"/>
          </p:cNvSpPr>
          <p:nvPr/>
        </p:nvSpPr>
        <p:spPr bwMode="auto">
          <a:xfrm>
            <a:off x="5715000" y="4514850"/>
            <a:ext cx="304800" cy="304800"/>
          </a:xfrm>
          <a:prstGeom prst="line">
            <a:avLst/>
          </a:prstGeom>
          <a:noFill/>
          <a:ln w="9525">
            <a:solidFill>
              <a:schemeClr val="bg1"/>
            </a:solidFill>
            <a:round/>
            <a:headEnd/>
            <a:tailEnd type="triangle" w="med" len="med"/>
          </a:ln>
        </p:spPr>
        <p:txBody>
          <a:bodyPr/>
          <a:lstStyle/>
          <a:p>
            <a:endParaRPr lang="en-US"/>
          </a:p>
        </p:txBody>
      </p:sp>
      <p:sp>
        <p:nvSpPr>
          <p:cNvPr id="19473" name="Line 17"/>
          <p:cNvSpPr>
            <a:spLocks noChangeShapeType="1"/>
          </p:cNvSpPr>
          <p:nvPr/>
        </p:nvSpPr>
        <p:spPr bwMode="auto">
          <a:xfrm flipV="1">
            <a:off x="5791200" y="4800600"/>
            <a:ext cx="457200" cy="533400"/>
          </a:xfrm>
          <a:prstGeom prst="line">
            <a:avLst/>
          </a:prstGeom>
          <a:noFill/>
          <a:ln w="9525">
            <a:solidFill>
              <a:schemeClr val="bg1"/>
            </a:solidFill>
            <a:round/>
            <a:headEnd/>
            <a:tailEnd type="triangle" w="med" len="med"/>
          </a:ln>
        </p:spPr>
        <p:txBody>
          <a:bodyPr/>
          <a:lstStyle/>
          <a:p>
            <a:endParaRPr lang="en-US"/>
          </a:p>
        </p:txBody>
      </p:sp>
      <p:sp>
        <p:nvSpPr>
          <p:cNvPr id="19474" name="Line 18"/>
          <p:cNvSpPr>
            <a:spLocks noChangeShapeType="1"/>
          </p:cNvSpPr>
          <p:nvPr/>
        </p:nvSpPr>
        <p:spPr bwMode="auto">
          <a:xfrm>
            <a:off x="3810000" y="4343400"/>
            <a:ext cx="990600" cy="0"/>
          </a:xfrm>
          <a:prstGeom prst="line">
            <a:avLst/>
          </a:prstGeom>
          <a:noFill/>
          <a:ln w="28575">
            <a:solidFill>
              <a:srgbClr val="000000"/>
            </a:solidFill>
            <a:round/>
            <a:headEnd/>
            <a:tailEnd type="triangle" w="med" len="med"/>
          </a:ln>
        </p:spPr>
        <p:txBody>
          <a:bodyPr/>
          <a:lstStyle/>
          <a:p>
            <a:endParaRPr lang="en-US"/>
          </a:p>
        </p:txBody>
      </p:sp>
      <p:sp>
        <p:nvSpPr>
          <p:cNvPr id="19475" name="Line 19"/>
          <p:cNvSpPr>
            <a:spLocks noChangeShapeType="1"/>
          </p:cNvSpPr>
          <p:nvPr/>
        </p:nvSpPr>
        <p:spPr bwMode="auto">
          <a:xfrm>
            <a:off x="3810000" y="4648200"/>
            <a:ext cx="762000" cy="0"/>
          </a:xfrm>
          <a:prstGeom prst="line">
            <a:avLst/>
          </a:prstGeom>
          <a:noFill/>
          <a:ln w="28575">
            <a:solidFill>
              <a:srgbClr val="000000"/>
            </a:solidFill>
            <a:round/>
            <a:headEnd/>
            <a:tailEnd type="triangle" w="med" len="med"/>
          </a:ln>
        </p:spPr>
        <p:txBody>
          <a:bodyPr/>
          <a:lstStyle/>
          <a:p>
            <a:endParaRPr lang="en-US"/>
          </a:p>
        </p:txBody>
      </p:sp>
      <p:sp>
        <p:nvSpPr>
          <p:cNvPr id="19476" name="Line 20"/>
          <p:cNvSpPr>
            <a:spLocks noChangeShapeType="1"/>
          </p:cNvSpPr>
          <p:nvPr/>
        </p:nvSpPr>
        <p:spPr bwMode="auto">
          <a:xfrm>
            <a:off x="3867150" y="5010150"/>
            <a:ext cx="381000" cy="0"/>
          </a:xfrm>
          <a:prstGeom prst="line">
            <a:avLst/>
          </a:prstGeom>
          <a:noFill/>
          <a:ln w="28575">
            <a:solidFill>
              <a:srgbClr val="000000"/>
            </a:solidFill>
            <a:round/>
            <a:headEnd/>
            <a:tailEnd type="triangle" w="med" len="med"/>
          </a:ln>
        </p:spPr>
        <p:txBody>
          <a:bodyPr/>
          <a:lstStyle/>
          <a:p>
            <a:endParaRPr lang="en-US"/>
          </a:p>
        </p:txBody>
      </p:sp>
      <p:sp>
        <p:nvSpPr>
          <p:cNvPr id="19477" name="Line 21"/>
          <p:cNvSpPr>
            <a:spLocks noChangeShapeType="1"/>
          </p:cNvSpPr>
          <p:nvPr/>
        </p:nvSpPr>
        <p:spPr bwMode="auto">
          <a:xfrm>
            <a:off x="838200" y="4572000"/>
            <a:ext cx="1905000" cy="0"/>
          </a:xfrm>
          <a:prstGeom prst="line">
            <a:avLst/>
          </a:prstGeom>
          <a:noFill/>
          <a:ln w="28575">
            <a:solidFill>
              <a:srgbClr val="000000"/>
            </a:solidFill>
            <a:round/>
            <a:headEnd/>
            <a:tailEnd type="triangle" w="med" len="med"/>
          </a:ln>
        </p:spPr>
        <p:txBody>
          <a:bodyPr/>
          <a:lstStyle/>
          <a:p>
            <a:endParaRPr lang="en-US"/>
          </a:p>
        </p:txBody>
      </p:sp>
      <p:sp>
        <p:nvSpPr>
          <p:cNvPr id="19478" name="Line 22"/>
          <p:cNvSpPr>
            <a:spLocks noChangeShapeType="1"/>
          </p:cNvSpPr>
          <p:nvPr/>
        </p:nvSpPr>
        <p:spPr bwMode="auto">
          <a:xfrm>
            <a:off x="1066800" y="4976813"/>
            <a:ext cx="1295400" cy="0"/>
          </a:xfrm>
          <a:prstGeom prst="line">
            <a:avLst/>
          </a:prstGeom>
          <a:noFill/>
          <a:ln w="28575">
            <a:solidFill>
              <a:srgbClr val="000000"/>
            </a:solidFill>
            <a:round/>
            <a:headEnd/>
            <a:tailEnd type="triangle" w="med" len="med"/>
          </a:ln>
        </p:spPr>
        <p:txBody>
          <a:bodyPr/>
          <a:lstStyle/>
          <a:p>
            <a:endParaRPr lang="en-US"/>
          </a:p>
        </p:txBody>
      </p:sp>
      <p:sp>
        <p:nvSpPr>
          <p:cNvPr id="19479" name="Line 23"/>
          <p:cNvSpPr>
            <a:spLocks noChangeShapeType="1"/>
          </p:cNvSpPr>
          <p:nvPr/>
        </p:nvSpPr>
        <p:spPr bwMode="auto">
          <a:xfrm flipV="1">
            <a:off x="1371600" y="5048250"/>
            <a:ext cx="342900" cy="419100"/>
          </a:xfrm>
          <a:prstGeom prst="line">
            <a:avLst/>
          </a:prstGeom>
          <a:noFill/>
          <a:ln w="9525">
            <a:solidFill>
              <a:schemeClr val="bg1"/>
            </a:solidFill>
            <a:round/>
            <a:headEnd/>
            <a:tailEnd type="triangle" w="med" len="med"/>
          </a:ln>
        </p:spPr>
        <p:txBody>
          <a:bodyPr/>
          <a:lstStyle/>
          <a:p>
            <a:endParaRPr lang="en-US"/>
          </a:p>
        </p:txBody>
      </p:sp>
      <p:sp>
        <p:nvSpPr>
          <p:cNvPr id="19480" name="Line 24"/>
          <p:cNvSpPr>
            <a:spLocks noChangeShapeType="1"/>
          </p:cNvSpPr>
          <p:nvPr/>
        </p:nvSpPr>
        <p:spPr bwMode="auto">
          <a:xfrm flipV="1">
            <a:off x="819150" y="5029200"/>
            <a:ext cx="381000" cy="457200"/>
          </a:xfrm>
          <a:prstGeom prst="line">
            <a:avLst/>
          </a:prstGeom>
          <a:noFill/>
          <a:ln w="9525">
            <a:solidFill>
              <a:schemeClr val="bg1"/>
            </a:solidFill>
            <a:round/>
            <a:headEnd/>
            <a:tailEnd type="triangle" w="med" len="med"/>
          </a:ln>
        </p:spPr>
        <p:txBody>
          <a:bodyPr/>
          <a:lstStyle/>
          <a:p>
            <a:endParaRPr lang="en-US"/>
          </a:p>
        </p:txBody>
      </p:sp>
      <p:sp>
        <p:nvSpPr>
          <p:cNvPr id="19481" name="Line 25"/>
          <p:cNvSpPr>
            <a:spLocks noChangeShapeType="1"/>
          </p:cNvSpPr>
          <p:nvPr/>
        </p:nvSpPr>
        <p:spPr bwMode="auto">
          <a:xfrm>
            <a:off x="1771650" y="4095750"/>
            <a:ext cx="457200" cy="457200"/>
          </a:xfrm>
          <a:prstGeom prst="line">
            <a:avLst/>
          </a:prstGeom>
          <a:noFill/>
          <a:ln w="9525">
            <a:solidFill>
              <a:schemeClr val="bg1"/>
            </a:solidFill>
            <a:round/>
            <a:headEnd/>
            <a:tailEnd type="triangle" w="med" len="med"/>
          </a:ln>
        </p:spPr>
        <p:txBody>
          <a:bodyPr/>
          <a:lstStyle/>
          <a:p>
            <a:endParaRPr lang="en-US"/>
          </a:p>
        </p:txBody>
      </p:sp>
      <p:sp>
        <p:nvSpPr>
          <p:cNvPr id="19482" name="Line 26"/>
          <p:cNvSpPr>
            <a:spLocks noChangeShapeType="1"/>
          </p:cNvSpPr>
          <p:nvPr/>
        </p:nvSpPr>
        <p:spPr bwMode="auto">
          <a:xfrm>
            <a:off x="990600" y="4114800"/>
            <a:ext cx="457200" cy="457200"/>
          </a:xfrm>
          <a:prstGeom prst="line">
            <a:avLst/>
          </a:prstGeom>
          <a:noFill/>
          <a:ln w="9525">
            <a:solidFill>
              <a:schemeClr val="bg1"/>
            </a:solidFill>
            <a:round/>
            <a:headEnd/>
            <a:tailEnd type="triangle" w="med" len="med"/>
          </a:ln>
        </p:spPr>
        <p:txBody>
          <a:bodyPr/>
          <a:lstStyle/>
          <a:p>
            <a:endParaRPr lang="en-US"/>
          </a:p>
        </p:txBody>
      </p:sp>
      <p:sp>
        <p:nvSpPr>
          <p:cNvPr id="19483" name="Line 27"/>
          <p:cNvSpPr>
            <a:spLocks noChangeShapeType="1"/>
          </p:cNvSpPr>
          <p:nvPr/>
        </p:nvSpPr>
        <p:spPr bwMode="auto">
          <a:xfrm flipH="1">
            <a:off x="1752600" y="5791200"/>
            <a:ext cx="838200" cy="0"/>
          </a:xfrm>
          <a:prstGeom prst="line">
            <a:avLst/>
          </a:prstGeom>
          <a:noFill/>
          <a:ln w="28575">
            <a:solidFill>
              <a:srgbClr val="000000"/>
            </a:solidFill>
            <a:round/>
            <a:headEnd/>
            <a:tailEnd type="triangle" w="med" len="med"/>
          </a:ln>
        </p:spPr>
        <p:txBody>
          <a:bodyPr/>
          <a:lstStyle/>
          <a:p>
            <a:endParaRPr lang="en-US"/>
          </a:p>
        </p:txBody>
      </p:sp>
      <p:sp>
        <p:nvSpPr>
          <p:cNvPr id="19484" name="Line 28"/>
          <p:cNvSpPr>
            <a:spLocks noChangeShapeType="1"/>
          </p:cNvSpPr>
          <p:nvPr/>
        </p:nvSpPr>
        <p:spPr bwMode="auto">
          <a:xfrm>
            <a:off x="838200" y="2895600"/>
            <a:ext cx="1905000" cy="0"/>
          </a:xfrm>
          <a:prstGeom prst="line">
            <a:avLst/>
          </a:prstGeom>
          <a:noFill/>
          <a:ln w="28575">
            <a:solidFill>
              <a:srgbClr val="000000"/>
            </a:solidFill>
            <a:round/>
            <a:headEnd/>
            <a:tailEnd type="triangle" w="med" len="med"/>
          </a:ln>
        </p:spPr>
        <p:txBody>
          <a:bodyPr/>
          <a:lstStyle/>
          <a:p>
            <a:endParaRPr lang="en-US"/>
          </a:p>
        </p:txBody>
      </p:sp>
      <p:sp>
        <p:nvSpPr>
          <p:cNvPr id="19485" name="Line 29"/>
          <p:cNvSpPr>
            <a:spLocks noChangeShapeType="1"/>
          </p:cNvSpPr>
          <p:nvPr/>
        </p:nvSpPr>
        <p:spPr bwMode="auto">
          <a:xfrm>
            <a:off x="914400" y="2362200"/>
            <a:ext cx="1295400" cy="0"/>
          </a:xfrm>
          <a:prstGeom prst="line">
            <a:avLst/>
          </a:prstGeom>
          <a:noFill/>
          <a:ln w="28575">
            <a:solidFill>
              <a:srgbClr val="000000"/>
            </a:solidFill>
            <a:round/>
            <a:headEnd/>
            <a:tailEnd type="triangle" w="med" len="med"/>
          </a:ln>
        </p:spPr>
        <p:txBody>
          <a:bodyPr/>
          <a:lstStyle/>
          <a:p>
            <a:endParaRPr lang="en-US"/>
          </a:p>
        </p:txBody>
      </p:sp>
      <p:sp>
        <p:nvSpPr>
          <p:cNvPr id="19486" name="Line 30"/>
          <p:cNvSpPr>
            <a:spLocks noChangeShapeType="1"/>
          </p:cNvSpPr>
          <p:nvPr/>
        </p:nvSpPr>
        <p:spPr bwMode="auto">
          <a:xfrm flipV="1">
            <a:off x="666750" y="2933700"/>
            <a:ext cx="381000" cy="457200"/>
          </a:xfrm>
          <a:prstGeom prst="line">
            <a:avLst/>
          </a:prstGeom>
          <a:noFill/>
          <a:ln w="9525">
            <a:solidFill>
              <a:schemeClr val="bg1"/>
            </a:solidFill>
            <a:round/>
            <a:headEnd/>
            <a:tailEnd type="triangle" w="med" len="med"/>
          </a:ln>
        </p:spPr>
        <p:txBody>
          <a:bodyPr/>
          <a:lstStyle/>
          <a:p>
            <a:endParaRPr lang="en-US"/>
          </a:p>
        </p:txBody>
      </p:sp>
      <p:sp>
        <p:nvSpPr>
          <p:cNvPr id="19487" name="Line 31"/>
          <p:cNvSpPr>
            <a:spLocks noChangeShapeType="1"/>
          </p:cNvSpPr>
          <p:nvPr/>
        </p:nvSpPr>
        <p:spPr bwMode="auto">
          <a:xfrm>
            <a:off x="1371600" y="1905000"/>
            <a:ext cx="457200" cy="457200"/>
          </a:xfrm>
          <a:prstGeom prst="line">
            <a:avLst/>
          </a:prstGeom>
          <a:noFill/>
          <a:ln w="9525">
            <a:solidFill>
              <a:schemeClr val="bg1"/>
            </a:solidFill>
            <a:round/>
            <a:headEnd/>
            <a:tailEnd type="triangle" w="med" len="med"/>
          </a:ln>
        </p:spPr>
        <p:txBody>
          <a:bodyPr/>
          <a:lstStyle/>
          <a:p>
            <a:endParaRPr lang="en-US"/>
          </a:p>
        </p:txBody>
      </p:sp>
      <p:sp>
        <p:nvSpPr>
          <p:cNvPr id="19488" name="Line 32"/>
          <p:cNvSpPr>
            <a:spLocks noChangeShapeType="1"/>
          </p:cNvSpPr>
          <p:nvPr/>
        </p:nvSpPr>
        <p:spPr bwMode="auto">
          <a:xfrm>
            <a:off x="838200" y="1905000"/>
            <a:ext cx="457200" cy="457200"/>
          </a:xfrm>
          <a:prstGeom prst="line">
            <a:avLst/>
          </a:prstGeom>
          <a:noFill/>
          <a:ln w="9525">
            <a:solidFill>
              <a:schemeClr val="bg1"/>
            </a:solidFill>
            <a:round/>
            <a:headEnd/>
            <a:tailEnd type="triangle" w="med" len="med"/>
          </a:ln>
        </p:spPr>
        <p:txBody>
          <a:bodyPr/>
          <a:lstStyle/>
          <a:p>
            <a:endParaRPr lang="en-US"/>
          </a:p>
        </p:txBody>
      </p:sp>
      <p:sp>
        <p:nvSpPr>
          <p:cNvPr id="19489" name="Line 33"/>
          <p:cNvSpPr>
            <a:spLocks noChangeShapeType="1"/>
          </p:cNvSpPr>
          <p:nvPr/>
        </p:nvSpPr>
        <p:spPr bwMode="auto">
          <a:xfrm flipV="1">
            <a:off x="2133600" y="2933700"/>
            <a:ext cx="381000" cy="457200"/>
          </a:xfrm>
          <a:prstGeom prst="line">
            <a:avLst/>
          </a:prstGeom>
          <a:noFill/>
          <a:ln w="9525">
            <a:solidFill>
              <a:schemeClr val="bg1"/>
            </a:solidFill>
            <a:round/>
            <a:headEnd/>
            <a:tailEnd type="triangle" w="med" len="med"/>
          </a:ln>
        </p:spPr>
        <p:txBody>
          <a:bodyPr/>
          <a:lstStyle/>
          <a:p>
            <a:endParaRPr lang="en-US"/>
          </a:p>
        </p:txBody>
      </p:sp>
      <p:sp>
        <p:nvSpPr>
          <p:cNvPr id="19490" name="Line 34"/>
          <p:cNvSpPr>
            <a:spLocks noChangeShapeType="1"/>
          </p:cNvSpPr>
          <p:nvPr/>
        </p:nvSpPr>
        <p:spPr bwMode="auto">
          <a:xfrm flipV="1">
            <a:off x="1409700" y="2933700"/>
            <a:ext cx="457200" cy="609600"/>
          </a:xfrm>
          <a:prstGeom prst="line">
            <a:avLst/>
          </a:prstGeom>
          <a:noFill/>
          <a:ln w="9525">
            <a:solidFill>
              <a:schemeClr val="bg1"/>
            </a:solidFill>
            <a:round/>
            <a:headEnd/>
            <a:tailEnd type="triangle" w="med" len="med"/>
          </a:ln>
        </p:spPr>
        <p:txBody>
          <a:bodyPr/>
          <a:lstStyle/>
          <a:p>
            <a:endParaRPr lang="en-US"/>
          </a:p>
        </p:txBody>
      </p:sp>
      <p:sp>
        <p:nvSpPr>
          <p:cNvPr id="19491" name="Line 35"/>
          <p:cNvSpPr>
            <a:spLocks noChangeShapeType="1"/>
          </p:cNvSpPr>
          <p:nvPr/>
        </p:nvSpPr>
        <p:spPr bwMode="auto">
          <a:xfrm>
            <a:off x="3733800" y="2743200"/>
            <a:ext cx="2057400" cy="0"/>
          </a:xfrm>
          <a:prstGeom prst="line">
            <a:avLst/>
          </a:prstGeom>
          <a:noFill/>
          <a:ln w="28575">
            <a:solidFill>
              <a:srgbClr val="000000"/>
            </a:solidFill>
            <a:round/>
            <a:headEnd/>
            <a:tailEnd type="triangle" w="med" len="med"/>
          </a:ln>
        </p:spPr>
        <p:txBody>
          <a:bodyPr/>
          <a:lstStyle/>
          <a:p>
            <a:endParaRPr lang="en-US"/>
          </a:p>
        </p:txBody>
      </p:sp>
      <p:sp>
        <p:nvSpPr>
          <p:cNvPr id="19492" name="Line 36"/>
          <p:cNvSpPr>
            <a:spLocks noChangeShapeType="1"/>
          </p:cNvSpPr>
          <p:nvPr/>
        </p:nvSpPr>
        <p:spPr bwMode="auto">
          <a:xfrm>
            <a:off x="5334000" y="3124200"/>
            <a:ext cx="762000" cy="0"/>
          </a:xfrm>
          <a:prstGeom prst="line">
            <a:avLst/>
          </a:prstGeom>
          <a:noFill/>
          <a:ln w="28575">
            <a:solidFill>
              <a:srgbClr val="000000"/>
            </a:solidFill>
            <a:round/>
            <a:headEnd/>
            <a:tailEnd type="triangle" w="med" len="med"/>
          </a:ln>
        </p:spPr>
        <p:txBody>
          <a:bodyPr/>
          <a:lstStyle/>
          <a:p>
            <a:endParaRPr lang="en-US"/>
          </a:p>
        </p:txBody>
      </p:sp>
      <p:sp>
        <p:nvSpPr>
          <p:cNvPr id="19493" name="Line 37"/>
          <p:cNvSpPr>
            <a:spLocks noChangeShapeType="1"/>
          </p:cNvSpPr>
          <p:nvPr/>
        </p:nvSpPr>
        <p:spPr bwMode="auto">
          <a:xfrm>
            <a:off x="5562600" y="3429000"/>
            <a:ext cx="762000" cy="0"/>
          </a:xfrm>
          <a:prstGeom prst="line">
            <a:avLst/>
          </a:prstGeom>
          <a:noFill/>
          <a:ln w="28575">
            <a:solidFill>
              <a:srgbClr val="000000"/>
            </a:solidFill>
            <a:round/>
            <a:headEnd/>
            <a:tailEnd type="triangle" w="med" len="med"/>
          </a:ln>
        </p:spPr>
        <p:txBody>
          <a:bodyPr/>
          <a:lstStyle/>
          <a:p>
            <a:endParaRPr lang="en-US"/>
          </a:p>
        </p:txBody>
      </p:sp>
      <p:sp>
        <p:nvSpPr>
          <p:cNvPr id="19494" name="Line 38"/>
          <p:cNvSpPr>
            <a:spLocks noChangeShapeType="1"/>
          </p:cNvSpPr>
          <p:nvPr/>
        </p:nvSpPr>
        <p:spPr bwMode="auto">
          <a:xfrm flipH="1">
            <a:off x="5391150" y="2152650"/>
            <a:ext cx="1905000" cy="0"/>
          </a:xfrm>
          <a:prstGeom prst="line">
            <a:avLst/>
          </a:prstGeom>
          <a:noFill/>
          <a:ln w="28575">
            <a:solidFill>
              <a:srgbClr val="000000"/>
            </a:solidFill>
            <a:round/>
            <a:headEnd/>
            <a:tailEnd type="triangle" w="med" len="med"/>
          </a:ln>
        </p:spPr>
        <p:txBody>
          <a:bodyPr/>
          <a:lstStyle/>
          <a:p>
            <a:endParaRPr lang="en-US"/>
          </a:p>
        </p:txBody>
      </p:sp>
      <p:sp>
        <p:nvSpPr>
          <p:cNvPr id="19495" name="Line 39"/>
          <p:cNvSpPr>
            <a:spLocks noChangeShapeType="1"/>
          </p:cNvSpPr>
          <p:nvPr/>
        </p:nvSpPr>
        <p:spPr bwMode="auto">
          <a:xfrm flipH="1">
            <a:off x="5715000" y="1752600"/>
            <a:ext cx="228600" cy="381000"/>
          </a:xfrm>
          <a:prstGeom prst="line">
            <a:avLst/>
          </a:prstGeom>
          <a:noFill/>
          <a:ln w="9525">
            <a:solidFill>
              <a:schemeClr val="bg1"/>
            </a:solidFill>
            <a:round/>
            <a:headEnd/>
            <a:tailEnd type="triangle" w="med" len="med"/>
          </a:ln>
        </p:spPr>
        <p:txBody>
          <a:bodyPr/>
          <a:lstStyle/>
          <a:p>
            <a:endParaRPr lang="en-US"/>
          </a:p>
        </p:txBody>
      </p:sp>
      <p:sp>
        <p:nvSpPr>
          <p:cNvPr id="19496" name="Line 40"/>
          <p:cNvSpPr>
            <a:spLocks noChangeShapeType="1"/>
          </p:cNvSpPr>
          <p:nvPr/>
        </p:nvSpPr>
        <p:spPr bwMode="auto">
          <a:xfrm flipH="1">
            <a:off x="6858000" y="1752600"/>
            <a:ext cx="228600" cy="381000"/>
          </a:xfrm>
          <a:prstGeom prst="line">
            <a:avLst/>
          </a:prstGeom>
          <a:noFill/>
          <a:ln w="9525">
            <a:solidFill>
              <a:schemeClr val="bg1"/>
            </a:solidFill>
            <a:round/>
            <a:headEnd/>
            <a:tailEnd type="triangle" w="med" len="med"/>
          </a:ln>
        </p:spPr>
        <p:txBody>
          <a:bodyPr/>
          <a:lstStyle/>
          <a:p>
            <a:endParaRPr lang="en-US"/>
          </a:p>
        </p:txBody>
      </p:sp>
      <p:sp>
        <p:nvSpPr>
          <p:cNvPr id="19497" name="Line 41"/>
          <p:cNvSpPr>
            <a:spLocks noChangeShapeType="1"/>
          </p:cNvSpPr>
          <p:nvPr/>
        </p:nvSpPr>
        <p:spPr bwMode="auto">
          <a:xfrm flipH="1" flipV="1">
            <a:off x="6858000" y="2133600"/>
            <a:ext cx="228600" cy="381000"/>
          </a:xfrm>
          <a:prstGeom prst="line">
            <a:avLst/>
          </a:prstGeom>
          <a:noFill/>
          <a:ln w="9525">
            <a:solidFill>
              <a:schemeClr val="bg1"/>
            </a:solidFill>
            <a:round/>
            <a:headEnd/>
            <a:tailEnd type="triangle" w="med" len="med"/>
          </a:ln>
        </p:spPr>
        <p:txBody>
          <a:bodyPr/>
          <a:lstStyle/>
          <a:p>
            <a:endParaRPr lang="en-US"/>
          </a:p>
        </p:txBody>
      </p:sp>
      <p:sp>
        <p:nvSpPr>
          <p:cNvPr id="19498" name="Line 42"/>
          <p:cNvSpPr>
            <a:spLocks noChangeShapeType="1"/>
          </p:cNvSpPr>
          <p:nvPr/>
        </p:nvSpPr>
        <p:spPr bwMode="auto">
          <a:xfrm flipH="1">
            <a:off x="5943600" y="2819400"/>
            <a:ext cx="1447800" cy="0"/>
          </a:xfrm>
          <a:prstGeom prst="line">
            <a:avLst/>
          </a:prstGeom>
          <a:noFill/>
          <a:ln w="28575">
            <a:solidFill>
              <a:srgbClr val="000000"/>
            </a:solidFill>
            <a:round/>
            <a:headEnd/>
            <a:tailEnd type="triangle" w="med" len="med"/>
          </a:ln>
        </p:spPr>
        <p:txBody>
          <a:bodyPr/>
          <a:lstStyle/>
          <a:p>
            <a:endParaRPr lang="en-US"/>
          </a:p>
        </p:txBody>
      </p:sp>
      <p:sp>
        <p:nvSpPr>
          <p:cNvPr id="19499" name="Line 43"/>
          <p:cNvSpPr>
            <a:spLocks noChangeShapeType="1"/>
          </p:cNvSpPr>
          <p:nvPr/>
        </p:nvSpPr>
        <p:spPr bwMode="auto">
          <a:xfrm flipH="1" flipV="1">
            <a:off x="6781800" y="2838450"/>
            <a:ext cx="381000" cy="381000"/>
          </a:xfrm>
          <a:prstGeom prst="line">
            <a:avLst/>
          </a:prstGeom>
          <a:noFill/>
          <a:ln w="9525">
            <a:solidFill>
              <a:schemeClr val="bg1"/>
            </a:solidFill>
            <a:round/>
            <a:headEnd/>
            <a:tailEnd type="triangle" w="med" len="med"/>
          </a:ln>
        </p:spPr>
        <p:txBody>
          <a:bodyPr/>
          <a:lstStyle/>
          <a:p>
            <a:endParaRPr lang="en-US"/>
          </a:p>
        </p:txBody>
      </p:sp>
      <p:sp>
        <p:nvSpPr>
          <p:cNvPr id="19500" name="Text Box 44"/>
          <p:cNvSpPr txBox="1">
            <a:spLocks noChangeArrowheads="1"/>
          </p:cNvSpPr>
          <p:nvPr/>
        </p:nvSpPr>
        <p:spPr bwMode="auto">
          <a:xfrm>
            <a:off x="762000" y="6324600"/>
            <a:ext cx="1371600" cy="376238"/>
          </a:xfrm>
          <a:prstGeom prst="rect">
            <a:avLst/>
          </a:prstGeom>
          <a:noFill/>
          <a:ln w="9525">
            <a:solidFill>
              <a:srgbClr val="FF3300"/>
            </a:solidFill>
            <a:miter lim="800000"/>
            <a:headEnd/>
            <a:tailEnd/>
          </a:ln>
        </p:spPr>
        <p:txBody>
          <a:bodyPr>
            <a:spAutoFit/>
          </a:bodyPr>
          <a:lstStyle/>
          <a:p>
            <a:pPr algn="ctr">
              <a:spcBef>
                <a:spcPct val="50000"/>
              </a:spcBef>
            </a:pPr>
            <a:r>
              <a:rPr lang="en-US" sz="1800" b="1">
                <a:solidFill>
                  <a:srgbClr val="000000"/>
                </a:solidFill>
              </a:rPr>
              <a:t>Operator</a:t>
            </a:r>
          </a:p>
        </p:txBody>
      </p:sp>
      <p:sp>
        <p:nvSpPr>
          <p:cNvPr id="19501" name="Text Box 45"/>
          <p:cNvSpPr txBox="1">
            <a:spLocks noChangeArrowheads="1"/>
          </p:cNvSpPr>
          <p:nvPr/>
        </p:nvSpPr>
        <p:spPr bwMode="auto">
          <a:xfrm>
            <a:off x="2667000" y="6324600"/>
            <a:ext cx="1447800" cy="376238"/>
          </a:xfrm>
          <a:prstGeom prst="rect">
            <a:avLst/>
          </a:prstGeom>
          <a:noFill/>
          <a:ln w="9525">
            <a:solidFill>
              <a:srgbClr val="FF3300"/>
            </a:solidFill>
            <a:miter lim="800000"/>
            <a:headEnd/>
            <a:tailEnd/>
          </a:ln>
        </p:spPr>
        <p:txBody>
          <a:bodyPr>
            <a:spAutoFit/>
          </a:bodyPr>
          <a:lstStyle/>
          <a:p>
            <a:pPr algn="ctr">
              <a:spcBef>
                <a:spcPct val="50000"/>
              </a:spcBef>
            </a:pPr>
            <a:r>
              <a:rPr lang="en-US" sz="1800" b="1">
                <a:solidFill>
                  <a:srgbClr val="000000"/>
                </a:solidFill>
              </a:rPr>
              <a:t>Weather</a:t>
            </a:r>
          </a:p>
        </p:txBody>
      </p:sp>
      <p:sp>
        <p:nvSpPr>
          <p:cNvPr id="19502" name="Text Box 46"/>
          <p:cNvSpPr txBox="1">
            <a:spLocks noChangeArrowheads="1"/>
          </p:cNvSpPr>
          <p:nvPr/>
        </p:nvSpPr>
        <p:spPr bwMode="auto">
          <a:xfrm>
            <a:off x="5334000" y="6324600"/>
            <a:ext cx="838200" cy="376238"/>
          </a:xfrm>
          <a:prstGeom prst="rect">
            <a:avLst/>
          </a:prstGeom>
          <a:noFill/>
          <a:ln w="9525">
            <a:solidFill>
              <a:srgbClr val="FF3300"/>
            </a:solidFill>
            <a:miter lim="800000"/>
            <a:headEnd/>
            <a:tailEnd/>
          </a:ln>
        </p:spPr>
        <p:txBody>
          <a:bodyPr>
            <a:spAutoFit/>
          </a:bodyPr>
          <a:lstStyle/>
          <a:p>
            <a:pPr algn="ctr">
              <a:spcBef>
                <a:spcPct val="50000"/>
              </a:spcBef>
            </a:pPr>
            <a:r>
              <a:rPr lang="en-US" sz="1800" b="1">
                <a:solidFill>
                  <a:srgbClr val="000000"/>
                </a:solidFill>
              </a:rPr>
              <a:t>Grill</a:t>
            </a:r>
          </a:p>
        </p:txBody>
      </p:sp>
      <p:sp>
        <p:nvSpPr>
          <p:cNvPr id="19503" name="Text Box 47"/>
          <p:cNvSpPr txBox="1">
            <a:spLocks noChangeArrowheads="1"/>
          </p:cNvSpPr>
          <p:nvPr/>
        </p:nvSpPr>
        <p:spPr bwMode="auto">
          <a:xfrm>
            <a:off x="781050" y="957264"/>
            <a:ext cx="1371600" cy="369332"/>
          </a:xfrm>
          <a:prstGeom prst="rect">
            <a:avLst/>
          </a:prstGeom>
          <a:noFill/>
          <a:ln w="9525">
            <a:solidFill>
              <a:srgbClr val="FF3300"/>
            </a:solidFill>
            <a:miter lim="800000"/>
            <a:headEnd/>
            <a:tailEnd/>
          </a:ln>
        </p:spPr>
        <p:txBody>
          <a:bodyPr>
            <a:spAutoFit/>
          </a:bodyPr>
          <a:lstStyle/>
          <a:p>
            <a:pPr algn="ctr">
              <a:spcBef>
                <a:spcPct val="50000"/>
              </a:spcBef>
            </a:pPr>
            <a:r>
              <a:rPr lang="en-US" sz="1800" b="1" dirty="0">
                <a:solidFill>
                  <a:srgbClr val="000000"/>
                </a:solidFill>
              </a:rPr>
              <a:t>Condiment</a:t>
            </a:r>
          </a:p>
        </p:txBody>
      </p:sp>
      <p:sp>
        <p:nvSpPr>
          <p:cNvPr id="19504" name="Text Box 48"/>
          <p:cNvSpPr txBox="1">
            <a:spLocks noChangeArrowheads="1"/>
          </p:cNvSpPr>
          <p:nvPr/>
        </p:nvSpPr>
        <p:spPr bwMode="auto">
          <a:xfrm>
            <a:off x="4152900" y="1009650"/>
            <a:ext cx="1143000" cy="376238"/>
          </a:xfrm>
          <a:prstGeom prst="rect">
            <a:avLst/>
          </a:prstGeom>
          <a:noFill/>
          <a:ln w="9525">
            <a:solidFill>
              <a:srgbClr val="FF3300"/>
            </a:solidFill>
            <a:miter lim="800000"/>
            <a:headEnd/>
            <a:tailEnd/>
          </a:ln>
        </p:spPr>
        <p:txBody>
          <a:bodyPr>
            <a:spAutoFit/>
          </a:bodyPr>
          <a:lstStyle/>
          <a:p>
            <a:pPr algn="ctr">
              <a:spcBef>
                <a:spcPct val="50000"/>
              </a:spcBef>
            </a:pPr>
            <a:r>
              <a:rPr lang="en-US" sz="1800" b="1">
                <a:solidFill>
                  <a:srgbClr val="000000"/>
                </a:solidFill>
              </a:rPr>
              <a:t>Meat</a:t>
            </a:r>
          </a:p>
        </p:txBody>
      </p:sp>
      <p:sp>
        <p:nvSpPr>
          <p:cNvPr id="19505" name="Text Box 49"/>
          <p:cNvSpPr txBox="1">
            <a:spLocks noChangeArrowheads="1"/>
          </p:cNvSpPr>
          <p:nvPr/>
        </p:nvSpPr>
        <p:spPr bwMode="auto">
          <a:xfrm>
            <a:off x="7772400" y="3505200"/>
            <a:ext cx="1676400" cy="706438"/>
          </a:xfrm>
          <a:prstGeom prst="rect">
            <a:avLst/>
          </a:prstGeom>
          <a:noFill/>
          <a:ln w="9525">
            <a:solidFill>
              <a:srgbClr val="FF3300"/>
            </a:solidFill>
            <a:miter lim="800000"/>
            <a:headEnd/>
            <a:tailEnd/>
          </a:ln>
        </p:spPr>
        <p:txBody>
          <a:bodyPr>
            <a:spAutoFit/>
          </a:bodyPr>
          <a:lstStyle/>
          <a:p>
            <a:pPr algn="ctr">
              <a:lnSpc>
                <a:spcPct val="40000"/>
              </a:lnSpc>
              <a:spcBef>
                <a:spcPct val="50000"/>
              </a:spcBef>
            </a:pPr>
            <a:r>
              <a:rPr lang="en-US" sz="1800" b="1">
                <a:solidFill>
                  <a:srgbClr val="000000"/>
                </a:solidFill>
              </a:rPr>
              <a:t>Poor</a:t>
            </a:r>
          </a:p>
          <a:p>
            <a:pPr algn="ctr">
              <a:lnSpc>
                <a:spcPct val="40000"/>
              </a:lnSpc>
              <a:spcBef>
                <a:spcPct val="50000"/>
              </a:spcBef>
            </a:pPr>
            <a:r>
              <a:rPr lang="en-US" sz="1800" b="1">
                <a:solidFill>
                  <a:srgbClr val="000000"/>
                </a:solidFill>
              </a:rPr>
              <a:t>barbecue</a:t>
            </a:r>
          </a:p>
          <a:p>
            <a:pPr algn="ctr">
              <a:lnSpc>
                <a:spcPct val="40000"/>
              </a:lnSpc>
              <a:spcBef>
                <a:spcPct val="50000"/>
              </a:spcBef>
            </a:pPr>
            <a:r>
              <a:rPr lang="en-US" sz="1800" b="1">
                <a:solidFill>
                  <a:srgbClr val="000000"/>
                </a:solidFill>
              </a:rPr>
              <a:t>quality</a:t>
            </a:r>
          </a:p>
        </p:txBody>
      </p:sp>
      <p:sp>
        <p:nvSpPr>
          <p:cNvPr id="19506" name="Line 50"/>
          <p:cNvSpPr>
            <a:spLocks noChangeShapeType="1"/>
          </p:cNvSpPr>
          <p:nvPr/>
        </p:nvSpPr>
        <p:spPr bwMode="auto">
          <a:xfrm flipH="1">
            <a:off x="1943100" y="1885950"/>
            <a:ext cx="609600" cy="0"/>
          </a:xfrm>
          <a:prstGeom prst="line">
            <a:avLst/>
          </a:prstGeom>
          <a:noFill/>
          <a:ln w="28575">
            <a:solidFill>
              <a:srgbClr val="000000"/>
            </a:solidFill>
            <a:round/>
            <a:headEnd/>
            <a:tailEnd type="triangle" w="med" len="med"/>
          </a:ln>
        </p:spPr>
        <p:txBody>
          <a:bodyPr/>
          <a:lstStyle/>
          <a:p>
            <a:endParaRPr lang="en-US"/>
          </a:p>
        </p:txBody>
      </p:sp>
      <p:sp>
        <p:nvSpPr>
          <p:cNvPr id="19507" name="Text Box 51"/>
          <p:cNvSpPr txBox="1">
            <a:spLocks noChangeArrowheads="1"/>
          </p:cNvSpPr>
          <p:nvPr/>
        </p:nvSpPr>
        <p:spPr bwMode="auto">
          <a:xfrm>
            <a:off x="2552700" y="1709738"/>
            <a:ext cx="914400" cy="366712"/>
          </a:xfrm>
          <a:prstGeom prst="rect">
            <a:avLst/>
          </a:prstGeom>
          <a:noFill/>
          <a:ln w="9525">
            <a:noFill/>
            <a:miter lim="800000"/>
            <a:headEnd/>
            <a:tailEnd/>
          </a:ln>
        </p:spPr>
        <p:txBody>
          <a:bodyPr>
            <a:spAutoFit/>
          </a:bodyPr>
          <a:lstStyle/>
          <a:p>
            <a:pPr>
              <a:spcBef>
                <a:spcPct val="50000"/>
              </a:spcBef>
            </a:pPr>
            <a:r>
              <a:rPr lang="en-US" sz="1800">
                <a:solidFill>
                  <a:srgbClr val="000000"/>
                </a:solidFill>
              </a:rPr>
              <a:t>Salt</a:t>
            </a:r>
          </a:p>
        </p:txBody>
      </p:sp>
      <p:sp>
        <p:nvSpPr>
          <p:cNvPr id="19508" name="Text Box 52"/>
          <p:cNvSpPr txBox="1">
            <a:spLocks noChangeArrowheads="1"/>
          </p:cNvSpPr>
          <p:nvPr/>
        </p:nvSpPr>
        <p:spPr bwMode="auto">
          <a:xfrm>
            <a:off x="76200" y="1600202"/>
            <a:ext cx="1257300" cy="366713"/>
          </a:xfrm>
          <a:prstGeom prst="rect">
            <a:avLst/>
          </a:prstGeom>
          <a:noFill/>
          <a:ln w="9525">
            <a:noFill/>
            <a:miter lim="800000"/>
            <a:headEnd/>
            <a:tailEnd/>
          </a:ln>
        </p:spPr>
        <p:txBody>
          <a:bodyPr>
            <a:spAutoFit/>
          </a:bodyPr>
          <a:lstStyle/>
          <a:p>
            <a:pPr>
              <a:spcBef>
                <a:spcPct val="50000"/>
              </a:spcBef>
            </a:pPr>
            <a:r>
              <a:rPr lang="en-US" sz="1800">
                <a:solidFill>
                  <a:srgbClr val="000000"/>
                </a:solidFill>
              </a:rPr>
              <a:t>Amount</a:t>
            </a:r>
          </a:p>
        </p:txBody>
      </p:sp>
      <p:sp>
        <p:nvSpPr>
          <p:cNvPr id="19509" name="Text Box 53"/>
          <p:cNvSpPr txBox="1">
            <a:spLocks noChangeArrowheads="1"/>
          </p:cNvSpPr>
          <p:nvPr/>
        </p:nvSpPr>
        <p:spPr bwMode="auto">
          <a:xfrm>
            <a:off x="1028700" y="1524002"/>
            <a:ext cx="1257300" cy="366713"/>
          </a:xfrm>
          <a:prstGeom prst="rect">
            <a:avLst/>
          </a:prstGeom>
          <a:noFill/>
          <a:ln w="9525">
            <a:noFill/>
            <a:miter lim="800000"/>
            <a:headEnd/>
            <a:tailEnd/>
          </a:ln>
        </p:spPr>
        <p:txBody>
          <a:bodyPr>
            <a:spAutoFit/>
          </a:bodyPr>
          <a:lstStyle/>
          <a:p>
            <a:pPr>
              <a:spcBef>
                <a:spcPct val="50000"/>
              </a:spcBef>
            </a:pPr>
            <a:r>
              <a:rPr lang="en-US" sz="1800">
                <a:solidFill>
                  <a:srgbClr val="000000"/>
                </a:solidFill>
              </a:rPr>
              <a:t>Type</a:t>
            </a:r>
          </a:p>
        </p:txBody>
      </p:sp>
      <p:sp>
        <p:nvSpPr>
          <p:cNvPr id="19510" name="Text Box 54"/>
          <p:cNvSpPr txBox="1">
            <a:spLocks noChangeArrowheads="1"/>
          </p:cNvSpPr>
          <p:nvPr/>
        </p:nvSpPr>
        <p:spPr bwMode="auto">
          <a:xfrm>
            <a:off x="95250" y="2152652"/>
            <a:ext cx="1257300" cy="366713"/>
          </a:xfrm>
          <a:prstGeom prst="rect">
            <a:avLst/>
          </a:prstGeom>
          <a:noFill/>
          <a:ln w="9525">
            <a:noFill/>
            <a:miter lim="800000"/>
            <a:headEnd/>
            <a:tailEnd/>
          </a:ln>
        </p:spPr>
        <p:txBody>
          <a:bodyPr>
            <a:spAutoFit/>
          </a:bodyPr>
          <a:lstStyle/>
          <a:p>
            <a:pPr>
              <a:spcBef>
                <a:spcPct val="50000"/>
              </a:spcBef>
            </a:pPr>
            <a:r>
              <a:rPr lang="en-US" sz="1800">
                <a:solidFill>
                  <a:srgbClr val="000000"/>
                </a:solidFill>
              </a:rPr>
              <a:t>Spices</a:t>
            </a:r>
          </a:p>
        </p:txBody>
      </p:sp>
      <p:sp>
        <p:nvSpPr>
          <p:cNvPr id="19511" name="Text Box 55"/>
          <p:cNvSpPr txBox="1">
            <a:spLocks noChangeArrowheads="1"/>
          </p:cNvSpPr>
          <p:nvPr/>
        </p:nvSpPr>
        <p:spPr bwMode="auto">
          <a:xfrm>
            <a:off x="-38100" y="2590802"/>
            <a:ext cx="1257300" cy="366713"/>
          </a:xfrm>
          <a:prstGeom prst="rect">
            <a:avLst/>
          </a:prstGeom>
          <a:noFill/>
          <a:ln w="9525">
            <a:noFill/>
            <a:miter lim="800000"/>
            <a:headEnd/>
            <a:tailEnd/>
          </a:ln>
        </p:spPr>
        <p:txBody>
          <a:bodyPr>
            <a:spAutoFit/>
          </a:bodyPr>
          <a:lstStyle/>
          <a:p>
            <a:pPr>
              <a:spcBef>
                <a:spcPct val="50000"/>
              </a:spcBef>
            </a:pPr>
            <a:r>
              <a:rPr lang="en-US" sz="1800">
                <a:solidFill>
                  <a:srgbClr val="000000"/>
                </a:solidFill>
              </a:rPr>
              <a:t>Marinade</a:t>
            </a:r>
          </a:p>
        </p:txBody>
      </p:sp>
      <p:sp>
        <p:nvSpPr>
          <p:cNvPr id="19512" name="Text Box 56"/>
          <p:cNvSpPr txBox="1">
            <a:spLocks noChangeArrowheads="1"/>
          </p:cNvSpPr>
          <p:nvPr/>
        </p:nvSpPr>
        <p:spPr bwMode="auto">
          <a:xfrm>
            <a:off x="-38100" y="3333750"/>
            <a:ext cx="1257300" cy="366713"/>
          </a:xfrm>
          <a:prstGeom prst="rect">
            <a:avLst/>
          </a:prstGeom>
          <a:noFill/>
          <a:ln w="9525">
            <a:noFill/>
            <a:miter lim="800000"/>
            <a:headEnd/>
            <a:tailEnd/>
          </a:ln>
        </p:spPr>
        <p:txBody>
          <a:bodyPr>
            <a:spAutoFit/>
          </a:bodyPr>
          <a:lstStyle/>
          <a:p>
            <a:pPr>
              <a:spcBef>
                <a:spcPct val="50000"/>
              </a:spcBef>
            </a:pPr>
            <a:r>
              <a:rPr lang="en-US" sz="1800">
                <a:solidFill>
                  <a:srgbClr val="000000"/>
                </a:solidFill>
              </a:rPr>
              <a:t>Amount</a:t>
            </a:r>
          </a:p>
        </p:txBody>
      </p:sp>
      <p:sp>
        <p:nvSpPr>
          <p:cNvPr id="19513" name="Text Box 57"/>
          <p:cNvSpPr txBox="1">
            <a:spLocks noChangeArrowheads="1"/>
          </p:cNvSpPr>
          <p:nvPr/>
        </p:nvSpPr>
        <p:spPr bwMode="auto">
          <a:xfrm>
            <a:off x="838200" y="3467102"/>
            <a:ext cx="1257300" cy="366713"/>
          </a:xfrm>
          <a:prstGeom prst="rect">
            <a:avLst/>
          </a:prstGeom>
          <a:noFill/>
          <a:ln w="9525">
            <a:noFill/>
            <a:miter lim="800000"/>
            <a:headEnd/>
            <a:tailEnd/>
          </a:ln>
        </p:spPr>
        <p:txBody>
          <a:bodyPr>
            <a:spAutoFit/>
          </a:bodyPr>
          <a:lstStyle/>
          <a:p>
            <a:pPr>
              <a:spcBef>
                <a:spcPct val="50000"/>
              </a:spcBef>
            </a:pPr>
            <a:r>
              <a:rPr lang="en-US" sz="1800">
                <a:solidFill>
                  <a:srgbClr val="000000"/>
                </a:solidFill>
              </a:rPr>
              <a:t>Ingredient</a:t>
            </a:r>
          </a:p>
        </p:txBody>
      </p:sp>
      <p:sp>
        <p:nvSpPr>
          <p:cNvPr id="19514" name="Text Box 58"/>
          <p:cNvSpPr txBox="1">
            <a:spLocks noChangeArrowheads="1"/>
          </p:cNvSpPr>
          <p:nvPr/>
        </p:nvSpPr>
        <p:spPr bwMode="auto">
          <a:xfrm>
            <a:off x="1790700" y="3290888"/>
            <a:ext cx="1257300" cy="366712"/>
          </a:xfrm>
          <a:prstGeom prst="rect">
            <a:avLst/>
          </a:prstGeom>
          <a:noFill/>
          <a:ln w="9525">
            <a:noFill/>
            <a:miter lim="800000"/>
            <a:headEnd/>
            <a:tailEnd/>
          </a:ln>
        </p:spPr>
        <p:txBody>
          <a:bodyPr>
            <a:spAutoFit/>
          </a:bodyPr>
          <a:lstStyle/>
          <a:p>
            <a:pPr>
              <a:spcBef>
                <a:spcPct val="50000"/>
              </a:spcBef>
            </a:pPr>
            <a:r>
              <a:rPr lang="en-US" sz="1800">
                <a:solidFill>
                  <a:srgbClr val="000000"/>
                </a:solidFill>
              </a:rPr>
              <a:t>Time</a:t>
            </a:r>
          </a:p>
        </p:txBody>
      </p:sp>
      <p:sp>
        <p:nvSpPr>
          <p:cNvPr id="19515" name="Text Box 59"/>
          <p:cNvSpPr txBox="1">
            <a:spLocks noChangeArrowheads="1"/>
          </p:cNvSpPr>
          <p:nvPr/>
        </p:nvSpPr>
        <p:spPr bwMode="auto">
          <a:xfrm>
            <a:off x="457200" y="3810002"/>
            <a:ext cx="1257300" cy="366713"/>
          </a:xfrm>
          <a:prstGeom prst="rect">
            <a:avLst/>
          </a:prstGeom>
          <a:noFill/>
          <a:ln w="9525">
            <a:noFill/>
            <a:miter lim="800000"/>
            <a:headEnd/>
            <a:tailEnd/>
          </a:ln>
        </p:spPr>
        <p:txBody>
          <a:bodyPr>
            <a:spAutoFit/>
          </a:bodyPr>
          <a:lstStyle/>
          <a:p>
            <a:pPr>
              <a:spcBef>
                <a:spcPct val="50000"/>
              </a:spcBef>
            </a:pPr>
            <a:r>
              <a:rPr lang="en-US" sz="1800">
                <a:solidFill>
                  <a:srgbClr val="000000"/>
                </a:solidFill>
              </a:rPr>
              <a:t>In a hurry</a:t>
            </a:r>
          </a:p>
        </p:txBody>
      </p:sp>
      <p:sp>
        <p:nvSpPr>
          <p:cNvPr id="19516" name="Text Box 60"/>
          <p:cNvSpPr txBox="1">
            <a:spLocks noChangeArrowheads="1"/>
          </p:cNvSpPr>
          <p:nvPr/>
        </p:nvSpPr>
        <p:spPr bwMode="auto">
          <a:xfrm>
            <a:off x="1638300" y="3786188"/>
            <a:ext cx="1257300" cy="366712"/>
          </a:xfrm>
          <a:prstGeom prst="rect">
            <a:avLst/>
          </a:prstGeom>
          <a:noFill/>
          <a:ln w="9525">
            <a:noFill/>
            <a:miter lim="800000"/>
            <a:headEnd/>
            <a:tailEnd/>
          </a:ln>
        </p:spPr>
        <p:txBody>
          <a:bodyPr>
            <a:spAutoFit/>
          </a:bodyPr>
          <a:lstStyle/>
          <a:p>
            <a:pPr>
              <a:spcBef>
                <a:spcPct val="50000"/>
              </a:spcBef>
            </a:pPr>
            <a:r>
              <a:rPr lang="en-US" sz="1800">
                <a:solidFill>
                  <a:srgbClr val="000000"/>
                </a:solidFill>
              </a:rPr>
              <a:t>On edge</a:t>
            </a:r>
          </a:p>
        </p:txBody>
      </p:sp>
      <p:sp>
        <p:nvSpPr>
          <p:cNvPr id="19517" name="Text Box 61"/>
          <p:cNvSpPr txBox="1">
            <a:spLocks noChangeArrowheads="1"/>
          </p:cNvSpPr>
          <p:nvPr/>
        </p:nvSpPr>
        <p:spPr bwMode="auto">
          <a:xfrm>
            <a:off x="247650" y="4262438"/>
            <a:ext cx="1257300" cy="366712"/>
          </a:xfrm>
          <a:prstGeom prst="rect">
            <a:avLst/>
          </a:prstGeom>
          <a:noFill/>
          <a:ln w="9525">
            <a:noFill/>
            <a:miter lim="800000"/>
            <a:headEnd/>
            <a:tailEnd/>
          </a:ln>
        </p:spPr>
        <p:txBody>
          <a:bodyPr>
            <a:spAutoFit/>
          </a:bodyPr>
          <a:lstStyle/>
          <a:p>
            <a:pPr>
              <a:spcBef>
                <a:spcPct val="50000"/>
              </a:spcBef>
            </a:pPr>
            <a:r>
              <a:rPr lang="en-US" sz="1800">
                <a:solidFill>
                  <a:srgbClr val="000000"/>
                </a:solidFill>
              </a:rPr>
              <a:t>Mood</a:t>
            </a:r>
          </a:p>
        </p:txBody>
      </p:sp>
      <p:sp>
        <p:nvSpPr>
          <p:cNvPr id="19518" name="Text Box 62"/>
          <p:cNvSpPr txBox="1">
            <a:spLocks noChangeArrowheads="1"/>
          </p:cNvSpPr>
          <p:nvPr/>
        </p:nvSpPr>
        <p:spPr bwMode="auto">
          <a:xfrm>
            <a:off x="381000" y="4648202"/>
            <a:ext cx="1257300" cy="366713"/>
          </a:xfrm>
          <a:prstGeom prst="rect">
            <a:avLst/>
          </a:prstGeom>
          <a:noFill/>
          <a:ln w="9525">
            <a:noFill/>
            <a:miter lim="800000"/>
            <a:headEnd/>
            <a:tailEnd/>
          </a:ln>
        </p:spPr>
        <p:txBody>
          <a:bodyPr>
            <a:spAutoFit/>
          </a:bodyPr>
          <a:lstStyle/>
          <a:p>
            <a:pPr>
              <a:spcBef>
                <a:spcPct val="50000"/>
              </a:spcBef>
            </a:pPr>
            <a:r>
              <a:rPr lang="en-US" sz="1800">
                <a:solidFill>
                  <a:srgbClr val="000000"/>
                </a:solidFill>
              </a:rPr>
              <a:t>Attention</a:t>
            </a:r>
          </a:p>
        </p:txBody>
      </p:sp>
      <p:sp>
        <p:nvSpPr>
          <p:cNvPr id="19519" name="Text Box 63"/>
          <p:cNvSpPr txBox="1">
            <a:spLocks noChangeArrowheads="1"/>
          </p:cNvSpPr>
          <p:nvPr/>
        </p:nvSpPr>
        <p:spPr bwMode="auto">
          <a:xfrm>
            <a:off x="0" y="5257800"/>
            <a:ext cx="838200" cy="915988"/>
          </a:xfrm>
          <a:prstGeom prst="rect">
            <a:avLst/>
          </a:prstGeom>
          <a:noFill/>
          <a:ln w="9525">
            <a:noFill/>
            <a:miter lim="800000"/>
            <a:headEnd/>
            <a:tailEnd/>
          </a:ln>
        </p:spPr>
        <p:txBody>
          <a:bodyPr>
            <a:spAutoFit/>
          </a:bodyPr>
          <a:lstStyle/>
          <a:p>
            <a:pPr>
              <a:spcBef>
                <a:spcPct val="50000"/>
              </a:spcBef>
            </a:pPr>
            <a:r>
              <a:rPr lang="en-US" sz="1800">
                <a:solidFill>
                  <a:srgbClr val="000000"/>
                </a:solidFill>
              </a:rPr>
              <a:t>Watch game on TV</a:t>
            </a:r>
          </a:p>
        </p:txBody>
      </p:sp>
      <p:sp>
        <p:nvSpPr>
          <p:cNvPr id="19520" name="Text Box 64"/>
          <p:cNvSpPr txBox="1">
            <a:spLocks noChangeArrowheads="1"/>
          </p:cNvSpPr>
          <p:nvPr/>
        </p:nvSpPr>
        <p:spPr bwMode="auto">
          <a:xfrm>
            <a:off x="723900" y="5426076"/>
            <a:ext cx="1257300" cy="584775"/>
          </a:xfrm>
          <a:prstGeom prst="rect">
            <a:avLst/>
          </a:prstGeom>
          <a:noFill/>
          <a:ln w="9525">
            <a:noFill/>
            <a:miter lim="800000"/>
            <a:headEnd/>
            <a:tailEnd/>
          </a:ln>
        </p:spPr>
        <p:txBody>
          <a:bodyPr>
            <a:spAutoFit/>
          </a:bodyPr>
          <a:lstStyle/>
          <a:p>
            <a:pPr>
              <a:spcBef>
                <a:spcPct val="50000"/>
              </a:spcBef>
            </a:pPr>
            <a:r>
              <a:rPr lang="en-US" sz="1600">
                <a:solidFill>
                  <a:srgbClr val="000000"/>
                </a:solidFill>
              </a:rPr>
              <a:t>Talk to neighbor</a:t>
            </a:r>
          </a:p>
        </p:txBody>
      </p:sp>
      <p:sp>
        <p:nvSpPr>
          <p:cNvPr id="19521" name="Text Box 65"/>
          <p:cNvSpPr txBox="1">
            <a:spLocks noChangeArrowheads="1"/>
          </p:cNvSpPr>
          <p:nvPr/>
        </p:nvSpPr>
        <p:spPr bwMode="auto">
          <a:xfrm>
            <a:off x="2929004" y="4849019"/>
            <a:ext cx="1485900" cy="350838"/>
          </a:xfrm>
          <a:prstGeom prst="rect">
            <a:avLst/>
          </a:prstGeom>
          <a:noFill/>
          <a:ln w="9525">
            <a:noFill/>
            <a:miter lim="800000"/>
            <a:headEnd/>
            <a:tailEnd/>
          </a:ln>
        </p:spPr>
        <p:txBody>
          <a:bodyPr>
            <a:spAutoFit/>
          </a:bodyPr>
          <a:lstStyle/>
          <a:p>
            <a:pPr>
              <a:spcBef>
                <a:spcPct val="50000"/>
              </a:spcBef>
            </a:pPr>
            <a:r>
              <a:rPr lang="en-US" sz="1700" dirty="0">
                <a:solidFill>
                  <a:srgbClr val="000000"/>
                </a:solidFill>
              </a:rPr>
              <a:t>Temperature</a:t>
            </a:r>
          </a:p>
        </p:txBody>
      </p:sp>
      <p:sp>
        <p:nvSpPr>
          <p:cNvPr id="19522" name="Text Box 66"/>
          <p:cNvSpPr txBox="1">
            <a:spLocks noChangeArrowheads="1"/>
          </p:cNvSpPr>
          <p:nvPr/>
        </p:nvSpPr>
        <p:spPr bwMode="auto">
          <a:xfrm>
            <a:off x="3143250" y="4152902"/>
            <a:ext cx="1257300" cy="366713"/>
          </a:xfrm>
          <a:prstGeom prst="rect">
            <a:avLst/>
          </a:prstGeom>
          <a:noFill/>
          <a:ln w="9525">
            <a:noFill/>
            <a:miter lim="800000"/>
            <a:headEnd/>
            <a:tailEnd/>
          </a:ln>
        </p:spPr>
        <p:txBody>
          <a:bodyPr>
            <a:spAutoFit/>
          </a:bodyPr>
          <a:lstStyle/>
          <a:p>
            <a:pPr>
              <a:spcBef>
                <a:spcPct val="50000"/>
              </a:spcBef>
            </a:pPr>
            <a:r>
              <a:rPr lang="en-US" sz="1800">
                <a:solidFill>
                  <a:srgbClr val="000000"/>
                </a:solidFill>
              </a:rPr>
              <a:t>Wind</a:t>
            </a:r>
          </a:p>
        </p:txBody>
      </p:sp>
      <p:sp>
        <p:nvSpPr>
          <p:cNvPr id="19523" name="Text Box 67"/>
          <p:cNvSpPr txBox="1">
            <a:spLocks noChangeArrowheads="1"/>
          </p:cNvSpPr>
          <p:nvPr/>
        </p:nvSpPr>
        <p:spPr bwMode="auto">
          <a:xfrm>
            <a:off x="3162300" y="4452938"/>
            <a:ext cx="1257300" cy="366712"/>
          </a:xfrm>
          <a:prstGeom prst="rect">
            <a:avLst/>
          </a:prstGeom>
          <a:noFill/>
          <a:ln w="9525">
            <a:noFill/>
            <a:miter lim="800000"/>
            <a:headEnd/>
            <a:tailEnd/>
          </a:ln>
        </p:spPr>
        <p:txBody>
          <a:bodyPr>
            <a:spAutoFit/>
          </a:bodyPr>
          <a:lstStyle/>
          <a:p>
            <a:pPr>
              <a:spcBef>
                <a:spcPct val="50000"/>
              </a:spcBef>
            </a:pPr>
            <a:r>
              <a:rPr lang="en-US" sz="1800">
                <a:solidFill>
                  <a:srgbClr val="000000"/>
                </a:solidFill>
              </a:rPr>
              <a:t>Rain</a:t>
            </a:r>
          </a:p>
        </p:txBody>
      </p:sp>
      <p:sp>
        <p:nvSpPr>
          <p:cNvPr id="19524" name="Text Box 68"/>
          <p:cNvSpPr txBox="1">
            <a:spLocks noChangeArrowheads="1"/>
          </p:cNvSpPr>
          <p:nvPr/>
        </p:nvSpPr>
        <p:spPr bwMode="auto">
          <a:xfrm>
            <a:off x="5105400" y="4205288"/>
            <a:ext cx="1257300" cy="366712"/>
          </a:xfrm>
          <a:prstGeom prst="rect">
            <a:avLst/>
          </a:prstGeom>
          <a:noFill/>
          <a:ln w="9525">
            <a:noFill/>
            <a:miter lim="800000"/>
            <a:headEnd/>
            <a:tailEnd/>
          </a:ln>
        </p:spPr>
        <p:txBody>
          <a:bodyPr>
            <a:spAutoFit/>
          </a:bodyPr>
          <a:lstStyle/>
          <a:p>
            <a:pPr>
              <a:spcBef>
                <a:spcPct val="50000"/>
              </a:spcBef>
            </a:pPr>
            <a:r>
              <a:rPr lang="en-US" sz="1800">
                <a:solidFill>
                  <a:srgbClr val="000000"/>
                </a:solidFill>
              </a:rPr>
              <a:t>Oiled</a:t>
            </a:r>
          </a:p>
        </p:txBody>
      </p:sp>
      <p:sp>
        <p:nvSpPr>
          <p:cNvPr id="19525" name="Text Box 69"/>
          <p:cNvSpPr txBox="1">
            <a:spLocks noChangeArrowheads="1"/>
          </p:cNvSpPr>
          <p:nvPr/>
        </p:nvSpPr>
        <p:spPr bwMode="auto">
          <a:xfrm>
            <a:off x="5619750" y="3962400"/>
            <a:ext cx="1257300" cy="366713"/>
          </a:xfrm>
          <a:prstGeom prst="rect">
            <a:avLst/>
          </a:prstGeom>
          <a:noFill/>
          <a:ln w="9525">
            <a:noFill/>
            <a:miter lim="800000"/>
            <a:headEnd/>
            <a:tailEnd/>
          </a:ln>
        </p:spPr>
        <p:txBody>
          <a:bodyPr>
            <a:spAutoFit/>
          </a:bodyPr>
          <a:lstStyle/>
          <a:p>
            <a:pPr>
              <a:spcBef>
                <a:spcPct val="50000"/>
              </a:spcBef>
            </a:pPr>
            <a:r>
              <a:rPr lang="en-US" sz="1800">
                <a:solidFill>
                  <a:srgbClr val="000000"/>
                </a:solidFill>
              </a:rPr>
              <a:t>Clean</a:t>
            </a:r>
          </a:p>
        </p:txBody>
      </p:sp>
      <p:sp>
        <p:nvSpPr>
          <p:cNvPr id="19526" name="Text Box 70"/>
          <p:cNvSpPr txBox="1">
            <a:spLocks noChangeArrowheads="1"/>
          </p:cNvSpPr>
          <p:nvPr/>
        </p:nvSpPr>
        <p:spPr bwMode="auto">
          <a:xfrm>
            <a:off x="4914900" y="4586288"/>
            <a:ext cx="1257300" cy="366712"/>
          </a:xfrm>
          <a:prstGeom prst="rect">
            <a:avLst/>
          </a:prstGeom>
          <a:noFill/>
          <a:ln w="9525">
            <a:noFill/>
            <a:miter lim="800000"/>
            <a:headEnd/>
            <a:tailEnd/>
          </a:ln>
        </p:spPr>
        <p:txBody>
          <a:bodyPr>
            <a:spAutoFit/>
          </a:bodyPr>
          <a:lstStyle/>
          <a:p>
            <a:pPr>
              <a:spcBef>
                <a:spcPct val="50000"/>
              </a:spcBef>
            </a:pPr>
            <a:r>
              <a:rPr lang="en-US" sz="1800">
                <a:solidFill>
                  <a:srgbClr val="000000"/>
                </a:solidFill>
              </a:rPr>
              <a:t>Rack</a:t>
            </a:r>
          </a:p>
        </p:txBody>
      </p:sp>
      <p:sp>
        <p:nvSpPr>
          <p:cNvPr id="19527" name="Text Box 71"/>
          <p:cNvSpPr txBox="1">
            <a:spLocks noChangeArrowheads="1"/>
          </p:cNvSpPr>
          <p:nvPr/>
        </p:nvSpPr>
        <p:spPr bwMode="auto">
          <a:xfrm>
            <a:off x="5181600" y="5272088"/>
            <a:ext cx="1257300" cy="366712"/>
          </a:xfrm>
          <a:prstGeom prst="rect">
            <a:avLst/>
          </a:prstGeom>
          <a:noFill/>
          <a:ln w="9525">
            <a:noFill/>
            <a:miter lim="800000"/>
            <a:headEnd/>
            <a:tailEnd/>
          </a:ln>
        </p:spPr>
        <p:txBody>
          <a:bodyPr>
            <a:spAutoFit/>
          </a:bodyPr>
          <a:lstStyle/>
          <a:p>
            <a:pPr>
              <a:spcBef>
                <a:spcPct val="50000"/>
              </a:spcBef>
            </a:pPr>
            <a:r>
              <a:rPr lang="en-US" sz="1800">
                <a:solidFill>
                  <a:srgbClr val="000000"/>
                </a:solidFill>
              </a:rPr>
              <a:t>Position</a:t>
            </a:r>
          </a:p>
        </p:txBody>
      </p:sp>
      <p:sp>
        <p:nvSpPr>
          <p:cNvPr id="19528" name="Text Box 72"/>
          <p:cNvSpPr txBox="1">
            <a:spLocks noChangeArrowheads="1"/>
          </p:cNvSpPr>
          <p:nvPr/>
        </p:nvSpPr>
        <p:spPr bwMode="auto">
          <a:xfrm>
            <a:off x="7162800" y="4662488"/>
            <a:ext cx="1257300" cy="366712"/>
          </a:xfrm>
          <a:prstGeom prst="rect">
            <a:avLst/>
          </a:prstGeom>
          <a:noFill/>
          <a:ln w="9525">
            <a:noFill/>
            <a:miter lim="800000"/>
            <a:headEnd/>
            <a:tailEnd/>
          </a:ln>
        </p:spPr>
        <p:txBody>
          <a:bodyPr>
            <a:spAutoFit/>
          </a:bodyPr>
          <a:lstStyle/>
          <a:p>
            <a:pPr>
              <a:spcBef>
                <a:spcPct val="50000"/>
              </a:spcBef>
            </a:pPr>
            <a:r>
              <a:rPr lang="en-US" sz="1800">
                <a:solidFill>
                  <a:srgbClr val="000000"/>
                </a:solidFill>
              </a:rPr>
              <a:t>Starter</a:t>
            </a:r>
          </a:p>
        </p:txBody>
      </p:sp>
      <p:sp>
        <p:nvSpPr>
          <p:cNvPr id="19529" name="Text Box 73"/>
          <p:cNvSpPr txBox="1">
            <a:spLocks noChangeArrowheads="1"/>
          </p:cNvSpPr>
          <p:nvPr/>
        </p:nvSpPr>
        <p:spPr bwMode="auto">
          <a:xfrm>
            <a:off x="8115300" y="5257802"/>
            <a:ext cx="1257300" cy="366713"/>
          </a:xfrm>
          <a:prstGeom prst="rect">
            <a:avLst/>
          </a:prstGeom>
          <a:noFill/>
          <a:ln w="9525">
            <a:noFill/>
            <a:miter lim="800000"/>
            <a:headEnd/>
            <a:tailEnd/>
          </a:ln>
        </p:spPr>
        <p:txBody>
          <a:bodyPr>
            <a:spAutoFit/>
          </a:bodyPr>
          <a:lstStyle/>
          <a:p>
            <a:pPr>
              <a:spcBef>
                <a:spcPct val="50000"/>
              </a:spcBef>
            </a:pPr>
            <a:r>
              <a:rPr lang="en-US" sz="1800">
                <a:solidFill>
                  <a:srgbClr val="000000"/>
                </a:solidFill>
              </a:rPr>
              <a:t>Charcoal</a:t>
            </a:r>
          </a:p>
        </p:txBody>
      </p:sp>
      <p:sp>
        <p:nvSpPr>
          <p:cNvPr id="19530" name="Text Box 74"/>
          <p:cNvSpPr txBox="1">
            <a:spLocks noChangeArrowheads="1"/>
          </p:cNvSpPr>
          <p:nvPr/>
        </p:nvSpPr>
        <p:spPr bwMode="auto">
          <a:xfrm>
            <a:off x="7886700" y="6019802"/>
            <a:ext cx="1257300" cy="366713"/>
          </a:xfrm>
          <a:prstGeom prst="rect">
            <a:avLst/>
          </a:prstGeom>
          <a:noFill/>
          <a:ln w="9525">
            <a:noFill/>
            <a:miter lim="800000"/>
            <a:headEnd/>
            <a:tailEnd/>
          </a:ln>
        </p:spPr>
        <p:txBody>
          <a:bodyPr>
            <a:spAutoFit/>
          </a:bodyPr>
          <a:lstStyle/>
          <a:p>
            <a:pPr>
              <a:spcBef>
                <a:spcPct val="50000"/>
              </a:spcBef>
            </a:pPr>
            <a:r>
              <a:rPr lang="en-US" sz="1800">
                <a:solidFill>
                  <a:srgbClr val="000000"/>
                </a:solidFill>
              </a:rPr>
              <a:t>Type</a:t>
            </a:r>
          </a:p>
        </p:txBody>
      </p:sp>
      <p:sp>
        <p:nvSpPr>
          <p:cNvPr id="19531" name="Text Box 75"/>
          <p:cNvSpPr txBox="1">
            <a:spLocks noChangeArrowheads="1"/>
          </p:cNvSpPr>
          <p:nvPr/>
        </p:nvSpPr>
        <p:spPr bwMode="auto">
          <a:xfrm>
            <a:off x="7315200" y="6338888"/>
            <a:ext cx="1257300" cy="366712"/>
          </a:xfrm>
          <a:prstGeom prst="rect">
            <a:avLst/>
          </a:prstGeom>
          <a:noFill/>
          <a:ln w="9525">
            <a:noFill/>
            <a:miter lim="800000"/>
            <a:headEnd/>
            <a:tailEnd/>
          </a:ln>
        </p:spPr>
        <p:txBody>
          <a:bodyPr>
            <a:spAutoFit/>
          </a:bodyPr>
          <a:lstStyle/>
          <a:p>
            <a:pPr>
              <a:spcBef>
                <a:spcPct val="50000"/>
              </a:spcBef>
            </a:pPr>
            <a:r>
              <a:rPr lang="en-US" sz="1800">
                <a:solidFill>
                  <a:srgbClr val="000000"/>
                </a:solidFill>
              </a:rPr>
              <a:t>Amount</a:t>
            </a:r>
          </a:p>
        </p:txBody>
      </p:sp>
      <p:sp>
        <p:nvSpPr>
          <p:cNvPr id="19532" name="Text Box 76"/>
          <p:cNvSpPr txBox="1">
            <a:spLocks noChangeArrowheads="1"/>
          </p:cNvSpPr>
          <p:nvPr/>
        </p:nvSpPr>
        <p:spPr bwMode="auto">
          <a:xfrm>
            <a:off x="6553200" y="6034088"/>
            <a:ext cx="1257300" cy="366712"/>
          </a:xfrm>
          <a:prstGeom prst="rect">
            <a:avLst/>
          </a:prstGeom>
          <a:noFill/>
          <a:ln w="9525">
            <a:noFill/>
            <a:miter lim="800000"/>
            <a:headEnd/>
            <a:tailEnd/>
          </a:ln>
        </p:spPr>
        <p:txBody>
          <a:bodyPr>
            <a:spAutoFit/>
          </a:bodyPr>
          <a:lstStyle/>
          <a:p>
            <a:pPr>
              <a:spcBef>
                <a:spcPct val="50000"/>
              </a:spcBef>
            </a:pPr>
            <a:r>
              <a:rPr lang="en-US" sz="1800">
                <a:solidFill>
                  <a:srgbClr val="000000"/>
                </a:solidFill>
              </a:rPr>
              <a:t>Position</a:t>
            </a:r>
          </a:p>
        </p:txBody>
      </p:sp>
      <p:sp>
        <p:nvSpPr>
          <p:cNvPr id="19533" name="Line 77"/>
          <p:cNvSpPr>
            <a:spLocks noChangeShapeType="1"/>
          </p:cNvSpPr>
          <p:nvPr/>
        </p:nvSpPr>
        <p:spPr bwMode="auto">
          <a:xfrm>
            <a:off x="4591050" y="2190750"/>
            <a:ext cx="533400" cy="533400"/>
          </a:xfrm>
          <a:prstGeom prst="line">
            <a:avLst/>
          </a:prstGeom>
          <a:noFill/>
          <a:ln w="9525">
            <a:solidFill>
              <a:schemeClr val="bg1"/>
            </a:solidFill>
            <a:round/>
            <a:headEnd/>
            <a:tailEnd type="triangle" w="med" len="med"/>
          </a:ln>
        </p:spPr>
        <p:txBody>
          <a:bodyPr/>
          <a:lstStyle/>
          <a:p>
            <a:endParaRPr lang="en-US"/>
          </a:p>
        </p:txBody>
      </p:sp>
      <p:sp>
        <p:nvSpPr>
          <p:cNvPr id="19534" name="Line 78"/>
          <p:cNvSpPr>
            <a:spLocks noChangeShapeType="1"/>
          </p:cNvSpPr>
          <p:nvPr/>
        </p:nvSpPr>
        <p:spPr bwMode="auto">
          <a:xfrm>
            <a:off x="4057650" y="2286000"/>
            <a:ext cx="457200" cy="457200"/>
          </a:xfrm>
          <a:prstGeom prst="line">
            <a:avLst/>
          </a:prstGeom>
          <a:noFill/>
          <a:ln w="9525">
            <a:solidFill>
              <a:schemeClr val="bg1"/>
            </a:solidFill>
            <a:round/>
            <a:headEnd/>
            <a:tailEnd type="triangle" w="med" len="med"/>
          </a:ln>
        </p:spPr>
        <p:txBody>
          <a:bodyPr/>
          <a:lstStyle/>
          <a:p>
            <a:endParaRPr lang="en-US"/>
          </a:p>
        </p:txBody>
      </p:sp>
      <p:sp>
        <p:nvSpPr>
          <p:cNvPr id="19535" name="Text Box 79"/>
          <p:cNvSpPr txBox="1">
            <a:spLocks noChangeArrowheads="1"/>
          </p:cNvSpPr>
          <p:nvPr/>
        </p:nvSpPr>
        <p:spPr bwMode="auto">
          <a:xfrm>
            <a:off x="4114800" y="1641476"/>
            <a:ext cx="1257300" cy="590931"/>
          </a:xfrm>
          <a:prstGeom prst="rect">
            <a:avLst/>
          </a:prstGeom>
          <a:noFill/>
          <a:ln w="9525">
            <a:noFill/>
            <a:miter lim="800000"/>
            <a:headEnd/>
            <a:tailEnd/>
          </a:ln>
        </p:spPr>
        <p:txBody>
          <a:bodyPr>
            <a:spAutoFit/>
          </a:bodyPr>
          <a:lstStyle/>
          <a:p>
            <a:pPr>
              <a:lnSpc>
                <a:spcPct val="90000"/>
              </a:lnSpc>
              <a:spcBef>
                <a:spcPct val="50000"/>
              </a:spcBef>
            </a:pPr>
            <a:r>
              <a:rPr lang="en-US" sz="1800">
                <a:solidFill>
                  <a:srgbClr val="000000"/>
                </a:solidFill>
              </a:rPr>
              <a:t>Poor marbling</a:t>
            </a:r>
          </a:p>
        </p:txBody>
      </p:sp>
      <p:sp>
        <p:nvSpPr>
          <p:cNvPr id="19536" name="Text Box 80"/>
          <p:cNvSpPr txBox="1">
            <a:spLocks noChangeArrowheads="1"/>
          </p:cNvSpPr>
          <p:nvPr/>
        </p:nvSpPr>
        <p:spPr bwMode="auto">
          <a:xfrm>
            <a:off x="3238500" y="1943102"/>
            <a:ext cx="1257300" cy="366713"/>
          </a:xfrm>
          <a:prstGeom prst="rect">
            <a:avLst/>
          </a:prstGeom>
          <a:noFill/>
          <a:ln w="9525">
            <a:noFill/>
            <a:miter lim="800000"/>
            <a:headEnd/>
            <a:tailEnd/>
          </a:ln>
        </p:spPr>
        <p:txBody>
          <a:bodyPr>
            <a:spAutoFit/>
          </a:bodyPr>
          <a:lstStyle/>
          <a:p>
            <a:pPr>
              <a:spcBef>
                <a:spcPct val="50000"/>
              </a:spcBef>
            </a:pPr>
            <a:r>
              <a:rPr lang="en-US" sz="1800">
                <a:solidFill>
                  <a:srgbClr val="000000"/>
                </a:solidFill>
              </a:rPr>
              <a:t>Content</a:t>
            </a:r>
          </a:p>
        </p:txBody>
      </p:sp>
      <p:sp>
        <p:nvSpPr>
          <p:cNvPr id="19537" name="Text Box 81"/>
          <p:cNvSpPr txBox="1">
            <a:spLocks noChangeArrowheads="1"/>
          </p:cNvSpPr>
          <p:nvPr/>
        </p:nvSpPr>
        <p:spPr bwMode="auto">
          <a:xfrm>
            <a:off x="3238500" y="2552702"/>
            <a:ext cx="1257300" cy="366713"/>
          </a:xfrm>
          <a:prstGeom prst="rect">
            <a:avLst/>
          </a:prstGeom>
          <a:noFill/>
          <a:ln w="9525">
            <a:noFill/>
            <a:miter lim="800000"/>
            <a:headEnd/>
            <a:tailEnd/>
          </a:ln>
        </p:spPr>
        <p:txBody>
          <a:bodyPr>
            <a:spAutoFit/>
          </a:bodyPr>
          <a:lstStyle/>
          <a:p>
            <a:pPr>
              <a:spcBef>
                <a:spcPct val="50000"/>
              </a:spcBef>
            </a:pPr>
            <a:r>
              <a:rPr lang="en-US" sz="1800">
                <a:solidFill>
                  <a:srgbClr val="000000"/>
                </a:solidFill>
              </a:rPr>
              <a:t>Fat</a:t>
            </a:r>
          </a:p>
        </p:txBody>
      </p:sp>
      <p:sp>
        <p:nvSpPr>
          <p:cNvPr id="19538" name="Text Box 82"/>
          <p:cNvSpPr txBox="1">
            <a:spLocks noChangeArrowheads="1"/>
          </p:cNvSpPr>
          <p:nvPr/>
        </p:nvSpPr>
        <p:spPr bwMode="auto">
          <a:xfrm>
            <a:off x="4743450" y="2914652"/>
            <a:ext cx="1257300" cy="366713"/>
          </a:xfrm>
          <a:prstGeom prst="rect">
            <a:avLst/>
          </a:prstGeom>
          <a:noFill/>
          <a:ln w="9525">
            <a:noFill/>
            <a:miter lim="800000"/>
            <a:headEnd/>
            <a:tailEnd/>
          </a:ln>
        </p:spPr>
        <p:txBody>
          <a:bodyPr>
            <a:spAutoFit/>
          </a:bodyPr>
          <a:lstStyle/>
          <a:p>
            <a:pPr>
              <a:spcBef>
                <a:spcPct val="50000"/>
              </a:spcBef>
            </a:pPr>
            <a:r>
              <a:rPr lang="en-US" sz="1800">
                <a:solidFill>
                  <a:srgbClr val="000000"/>
                </a:solidFill>
              </a:rPr>
              <a:t>Age</a:t>
            </a:r>
          </a:p>
        </p:txBody>
      </p:sp>
      <p:sp>
        <p:nvSpPr>
          <p:cNvPr id="19539" name="Text Box 83"/>
          <p:cNvSpPr txBox="1">
            <a:spLocks noChangeArrowheads="1"/>
          </p:cNvSpPr>
          <p:nvPr/>
        </p:nvSpPr>
        <p:spPr bwMode="auto">
          <a:xfrm>
            <a:off x="4324350" y="3219451"/>
            <a:ext cx="1257300" cy="341632"/>
          </a:xfrm>
          <a:prstGeom prst="rect">
            <a:avLst/>
          </a:prstGeom>
          <a:noFill/>
          <a:ln w="9525">
            <a:noFill/>
            <a:miter lim="800000"/>
            <a:headEnd/>
            <a:tailEnd/>
          </a:ln>
        </p:spPr>
        <p:txBody>
          <a:bodyPr>
            <a:spAutoFit/>
          </a:bodyPr>
          <a:lstStyle/>
          <a:p>
            <a:pPr algn="r">
              <a:lnSpc>
                <a:spcPct val="90000"/>
              </a:lnSpc>
              <a:spcBef>
                <a:spcPct val="50000"/>
              </a:spcBef>
            </a:pPr>
            <a:r>
              <a:rPr lang="en-US" sz="1800">
                <a:solidFill>
                  <a:srgbClr val="000000"/>
                </a:solidFill>
              </a:rPr>
              <a:t>Type of cut</a:t>
            </a:r>
          </a:p>
        </p:txBody>
      </p:sp>
      <p:sp>
        <p:nvSpPr>
          <p:cNvPr id="19540" name="Text Box 84"/>
          <p:cNvSpPr txBox="1">
            <a:spLocks noChangeArrowheads="1"/>
          </p:cNvSpPr>
          <p:nvPr/>
        </p:nvSpPr>
        <p:spPr bwMode="auto">
          <a:xfrm>
            <a:off x="6572250" y="3200402"/>
            <a:ext cx="2095500" cy="366713"/>
          </a:xfrm>
          <a:prstGeom prst="rect">
            <a:avLst/>
          </a:prstGeom>
          <a:noFill/>
          <a:ln w="9525">
            <a:noFill/>
            <a:miter lim="800000"/>
            <a:headEnd/>
            <a:tailEnd/>
          </a:ln>
        </p:spPr>
        <p:txBody>
          <a:bodyPr>
            <a:spAutoFit/>
          </a:bodyPr>
          <a:lstStyle/>
          <a:p>
            <a:pPr>
              <a:spcBef>
                <a:spcPct val="50000"/>
              </a:spcBef>
            </a:pPr>
            <a:r>
              <a:rPr lang="en-US" sz="1800">
                <a:solidFill>
                  <a:srgbClr val="000000"/>
                </a:solidFill>
              </a:rPr>
              <a:t>Grade of meat</a:t>
            </a:r>
          </a:p>
        </p:txBody>
      </p:sp>
      <p:sp>
        <p:nvSpPr>
          <p:cNvPr id="19541" name="Text Box 85"/>
          <p:cNvSpPr txBox="1">
            <a:spLocks noChangeArrowheads="1"/>
          </p:cNvSpPr>
          <p:nvPr/>
        </p:nvSpPr>
        <p:spPr bwMode="auto">
          <a:xfrm>
            <a:off x="7372350" y="2647952"/>
            <a:ext cx="1524000" cy="366713"/>
          </a:xfrm>
          <a:prstGeom prst="rect">
            <a:avLst/>
          </a:prstGeom>
          <a:noFill/>
          <a:ln w="9525">
            <a:noFill/>
            <a:miter lim="800000"/>
            <a:headEnd/>
            <a:tailEnd/>
          </a:ln>
        </p:spPr>
        <p:txBody>
          <a:bodyPr>
            <a:spAutoFit/>
          </a:bodyPr>
          <a:lstStyle/>
          <a:p>
            <a:pPr>
              <a:spcBef>
                <a:spcPct val="50000"/>
              </a:spcBef>
            </a:pPr>
            <a:r>
              <a:rPr lang="en-US" sz="1800">
                <a:solidFill>
                  <a:srgbClr val="000000"/>
                </a:solidFill>
              </a:rPr>
              <a:t>Not tender</a:t>
            </a:r>
          </a:p>
        </p:txBody>
      </p:sp>
      <p:sp>
        <p:nvSpPr>
          <p:cNvPr id="19542" name="Text Box 86"/>
          <p:cNvSpPr txBox="1">
            <a:spLocks noChangeArrowheads="1"/>
          </p:cNvSpPr>
          <p:nvPr/>
        </p:nvSpPr>
        <p:spPr bwMode="auto">
          <a:xfrm>
            <a:off x="6324600" y="2452688"/>
            <a:ext cx="1981200" cy="366712"/>
          </a:xfrm>
          <a:prstGeom prst="rect">
            <a:avLst/>
          </a:prstGeom>
          <a:noFill/>
          <a:ln w="9525">
            <a:noFill/>
            <a:miter lim="800000"/>
            <a:headEnd/>
            <a:tailEnd/>
          </a:ln>
        </p:spPr>
        <p:txBody>
          <a:bodyPr>
            <a:spAutoFit/>
          </a:bodyPr>
          <a:lstStyle/>
          <a:p>
            <a:pPr>
              <a:spcBef>
                <a:spcPct val="50000"/>
              </a:spcBef>
            </a:pPr>
            <a:r>
              <a:rPr lang="en-US" sz="1800">
                <a:solidFill>
                  <a:srgbClr val="000000"/>
                </a:solidFill>
              </a:rPr>
              <a:t>Frozen too long</a:t>
            </a:r>
          </a:p>
        </p:txBody>
      </p:sp>
      <p:sp>
        <p:nvSpPr>
          <p:cNvPr id="19543" name="Text Box 87"/>
          <p:cNvSpPr txBox="1">
            <a:spLocks noChangeArrowheads="1"/>
          </p:cNvSpPr>
          <p:nvPr/>
        </p:nvSpPr>
        <p:spPr bwMode="auto">
          <a:xfrm>
            <a:off x="6496050" y="1390652"/>
            <a:ext cx="1524000" cy="366713"/>
          </a:xfrm>
          <a:prstGeom prst="rect">
            <a:avLst/>
          </a:prstGeom>
          <a:noFill/>
          <a:ln w="9525">
            <a:noFill/>
            <a:miter lim="800000"/>
            <a:headEnd/>
            <a:tailEnd/>
          </a:ln>
        </p:spPr>
        <p:txBody>
          <a:bodyPr>
            <a:spAutoFit/>
          </a:bodyPr>
          <a:lstStyle/>
          <a:p>
            <a:pPr>
              <a:spcBef>
                <a:spcPct val="50000"/>
              </a:spcBef>
            </a:pPr>
            <a:r>
              <a:rPr lang="en-US" sz="1800">
                <a:solidFill>
                  <a:srgbClr val="000000"/>
                </a:solidFill>
              </a:rPr>
              <a:t>Consistency</a:t>
            </a:r>
          </a:p>
        </p:txBody>
      </p:sp>
      <p:sp>
        <p:nvSpPr>
          <p:cNvPr id="19544" name="Text Box 88"/>
          <p:cNvSpPr txBox="1">
            <a:spLocks noChangeArrowheads="1"/>
          </p:cNvSpPr>
          <p:nvPr/>
        </p:nvSpPr>
        <p:spPr bwMode="auto">
          <a:xfrm>
            <a:off x="5467350" y="1168400"/>
            <a:ext cx="1524000" cy="646331"/>
          </a:xfrm>
          <a:prstGeom prst="rect">
            <a:avLst/>
          </a:prstGeom>
          <a:noFill/>
          <a:ln w="9525">
            <a:noFill/>
            <a:miter lim="800000"/>
            <a:headEnd/>
            <a:tailEnd/>
          </a:ln>
        </p:spPr>
        <p:txBody>
          <a:bodyPr>
            <a:spAutoFit/>
          </a:bodyPr>
          <a:lstStyle/>
          <a:p>
            <a:pPr>
              <a:spcBef>
                <a:spcPct val="50000"/>
              </a:spcBef>
            </a:pPr>
            <a:r>
              <a:rPr lang="en-US" sz="1800" dirty="0">
                <a:solidFill>
                  <a:srgbClr val="000000"/>
                </a:solidFill>
              </a:rPr>
              <a:t>Not well thawed</a:t>
            </a:r>
          </a:p>
        </p:txBody>
      </p:sp>
      <p:sp>
        <p:nvSpPr>
          <p:cNvPr id="19545" name="Rectangle 89"/>
          <p:cNvSpPr>
            <a:spLocks noChangeArrowheads="1"/>
          </p:cNvSpPr>
          <p:nvPr/>
        </p:nvSpPr>
        <p:spPr bwMode="auto">
          <a:xfrm>
            <a:off x="0" y="128789"/>
            <a:ext cx="8572500" cy="709411"/>
          </a:xfrm>
          <a:prstGeom prst="rect">
            <a:avLst/>
          </a:prstGeom>
          <a:solidFill>
            <a:srgbClr val="FFFF00"/>
          </a:solidFill>
          <a:ln w="9525">
            <a:solidFill>
              <a:schemeClr val="tx1"/>
            </a:solidFill>
            <a:miter lim="800000"/>
            <a:headEnd/>
            <a:tailEnd/>
          </a:ln>
        </p:spPr>
        <p:txBody>
          <a:bodyPr wrap="none" anchor="ctr"/>
          <a:lstStyle/>
          <a:p>
            <a:pPr algn="ctr"/>
            <a:r>
              <a:rPr lang="en-US" sz="2400" b="1" dirty="0">
                <a:latin typeface="Arial Black" pitchFamily="34" charset="0"/>
              </a:rPr>
              <a:t>Cause-and-effect diagram for poor barbecue quality</a:t>
            </a:r>
          </a:p>
        </p:txBody>
      </p:sp>
      <p:sp>
        <p:nvSpPr>
          <p:cNvPr id="19546" name="Text Box 90"/>
          <p:cNvSpPr txBox="1">
            <a:spLocks noChangeArrowheads="1"/>
          </p:cNvSpPr>
          <p:nvPr/>
        </p:nvSpPr>
        <p:spPr bwMode="auto">
          <a:xfrm>
            <a:off x="2552700" y="5595938"/>
            <a:ext cx="1524000" cy="366712"/>
          </a:xfrm>
          <a:prstGeom prst="rect">
            <a:avLst/>
          </a:prstGeom>
          <a:noFill/>
          <a:ln w="9525">
            <a:noFill/>
            <a:miter lim="800000"/>
            <a:headEnd/>
            <a:tailEnd/>
          </a:ln>
        </p:spPr>
        <p:txBody>
          <a:bodyPr>
            <a:spAutoFit/>
          </a:bodyPr>
          <a:lstStyle/>
          <a:p>
            <a:pPr>
              <a:spcBef>
                <a:spcPct val="50000"/>
              </a:spcBef>
            </a:pPr>
            <a:r>
              <a:rPr lang="en-US" sz="1800">
                <a:solidFill>
                  <a:srgbClr val="000000"/>
                </a:solidFill>
              </a:rPr>
              <a:t>Skill</a:t>
            </a:r>
          </a:p>
        </p:txBody>
      </p:sp>
    </p:spTree>
    <p:extLst>
      <p:ext uri="{BB962C8B-B14F-4D97-AF65-F5344CB8AC3E}">
        <p14:creationId xmlns:p14="http://schemas.microsoft.com/office/powerpoint/2010/main" val="1286886361"/>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66"/>
          <p:cNvSpPr>
            <a:spLocks noChangeArrowheads="1"/>
          </p:cNvSpPr>
          <p:nvPr/>
        </p:nvSpPr>
        <p:spPr bwMode="auto">
          <a:xfrm>
            <a:off x="0" y="800100"/>
            <a:ext cx="9144000" cy="6019800"/>
          </a:xfrm>
          <a:prstGeom prst="rect">
            <a:avLst/>
          </a:prstGeom>
          <a:solidFill>
            <a:schemeClr val="accent1"/>
          </a:solidFill>
          <a:ln w="9525">
            <a:solidFill>
              <a:schemeClr val="bg1"/>
            </a:solidFill>
            <a:miter lim="800000"/>
            <a:headEnd/>
            <a:tailEnd/>
          </a:ln>
        </p:spPr>
        <p:txBody>
          <a:bodyPr wrap="none" anchor="ctr"/>
          <a:lstStyle/>
          <a:p>
            <a:endParaRPr lang="en-US"/>
          </a:p>
        </p:txBody>
      </p:sp>
      <p:sp>
        <p:nvSpPr>
          <p:cNvPr id="20483" name="Line 4"/>
          <p:cNvSpPr>
            <a:spLocks noChangeShapeType="1"/>
          </p:cNvSpPr>
          <p:nvPr/>
        </p:nvSpPr>
        <p:spPr bwMode="auto">
          <a:xfrm>
            <a:off x="304800" y="3810000"/>
            <a:ext cx="7086600" cy="0"/>
          </a:xfrm>
          <a:prstGeom prst="line">
            <a:avLst/>
          </a:prstGeom>
          <a:noFill/>
          <a:ln w="76200">
            <a:solidFill>
              <a:schemeClr val="bg1"/>
            </a:solidFill>
            <a:round/>
            <a:headEnd/>
            <a:tailEnd type="triangle" w="med" len="med"/>
          </a:ln>
        </p:spPr>
        <p:txBody>
          <a:bodyPr/>
          <a:lstStyle/>
          <a:p>
            <a:endParaRPr lang="en-US"/>
          </a:p>
        </p:txBody>
      </p:sp>
      <p:sp>
        <p:nvSpPr>
          <p:cNvPr id="20484" name="Line 6"/>
          <p:cNvSpPr>
            <a:spLocks noChangeShapeType="1"/>
          </p:cNvSpPr>
          <p:nvPr/>
        </p:nvSpPr>
        <p:spPr bwMode="auto">
          <a:xfrm flipV="1">
            <a:off x="971550" y="3867150"/>
            <a:ext cx="2057400" cy="2362200"/>
          </a:xfrm>
          <a:prstGeom prst="line">
            <a:avLst/>
          </a:prstGeom>
          <a:noFill/>
          <a:ln w="38100">
            <a:solidFill>
              <a:srgbClr val="FF3300"/>
            </a:solidFill>
            <a:round/>
            <a:headEnd/>
            <a:tailEnd type="triangle" w="med" len="med"/>
          </a:ln>
        </p:spPr>
        <p:txBody>
          <a:bodyPr/>
          <a:lstStyle/>
          <a:p>
            <a:endParaRPr lang="en-US"/>
          </a:p>
        </p:txBody>
      </p:sp>
      <p:sp>
        <p:nvSpPr>
          <p:cNvPr id="20485" name="Line 7"/>
          <p:cNvSpPr>
            <a:spLocks noChangeShapeType="1"/>
          </p:cNvSpPr>
          <p:nvPr/>
        </p:nvSpPr>
        <p:spPr bwMode="auto">
          <a:xfrm flipV="1">
            <a:off x="4191000" y="3886200"/>
            <a:ext cx="2057400" cy="2362200"/>
          </a:xfrm>
          <a:prstGeom prst="line">
            <a:avLst/>
          </a:prstGeom>
          <a:noFill/>
          <a:ln w="38100">
            <a:solidFill>
              <a:srgbClr val="FF3300"/>
            </a:solidFill>
            <a:round/>
            <a:headEnd/>
            <a:tailEnd type="triangle" w="med" len="med"/>
          </a:ln>
        </p:spPr>
        <p:txBody>
          <a:bodyPr/>
          <a:lstStyle/>
          <a:p>
            <a:endParaRPr lang="en-US"/>
          </a:p>
        </p:txBody>
      </p:sp>
      <p:sp>
        <p:nvSpPr>
          <p:cNvPr id="20486" name="Line 8"/>
          <p:cNvSpPr>
            <a:spLocks noChangeShapeType="1"/>
          </p:cNvSpPr>
          <p:nvPr/>
        </p:nvSpPr>
        <p:spPr bwMode="auto">
          <a:xfrm>
            <a:off x="762000" y="1390650"/>
            <a:ext cx="2057400" cy="2362200"/>
          </a:xfrm>
          <a:prstGeom prst="line">
            <a:avLst/>
          </a:prstGeom>
          <a:noFill/>
          <a:ln w="38100">
            <a:solidFill>
              <a:srgbClr val="FF3300"/>
            </a:solidFill>
            <a:round/>
            <a:headEnd/>
            <a:tailEnd type="triangle" w="med" len="med"/>
          </a:ln>
        </p:spPr>
        <p:txBody>
          <a:bodyPr/>
          <a:lstStyle/>
          <a:p>
            <a:endParaRPr lang="en-US"/>
          </a:p>
        </p:txBody>
      </p:sp>
      <p:sp>
        <p:nvSpPr>
          <p:cNvPr id="20487" name="Line 9"/>
          <p:cNvSpPr>
            <a:spLocks noChangeShapeType="1"/>
          </p:cNvSpPr>
          <p:nvPr/>
        </p:nvSpPr>
        <p:spPr bwMode="auto">
          <a:xfrm>
            <a:off x="4210050" y="1390650"/>
            <a:ext cx="2057400" cy="2362200"/>
          </a:xfrm>
          <a:prstGeom prst="line">
            <a:avLst/>
          </a:prstGeom>
          <a:noFill/>
          <a:ln w="38100">
            <a:solidFill>
              <a:srgbClr val="FF3300"/>
            </a:solidFill>
            <a:round/>
            <a:headEnd/>
            <a:tailEnd type="triangle" w="med" len="med"/>
          </a:ln>
        </p:spPr>
        <p:txBody>
          <a:bodyPr/>
          <a:lstStyle/>
          <a:p>
            <a:endParaRPr lang="en-US"/>
          </a:p>
        </p:txBody>
      </p:sp>
      <p:sp>
        <p:nvSpPr>
          <p:cNvPr id="20488" name="Text Box 10"/>
          <p:cNvSpPr txBox="1">
            <a:spLocks noChangeArrowheads="1"/>
          </p:cNvSpPr>
          <p:nvPr/>
        </p:nvSpPr>
        <p:spPr bwMode="auto">
          <a:xfrm>
            <a:off x="400050" y="6229350"/>
            <a:ext cx="1143000" cy="376238"/>
          </a:xfrm>
          <a:prstGeom prst="rect">
            <a:avLst/>
          </a:prstGeom>
          <a:noFill/>
          <a:ln w="9525">
            <a:solidFill>
              <a:srgbClr val="FF3300"/>
            </a:solidFill>
            <a:miter lim="800000"/>
            <a:headEnd/>
            <a:tailEnd/>
          </a:ln>
        </p:spPr>
        <p:txBody>
          <a:bodyPr>
            <a:spAutoFit/>
          </a:bodyPr>
          <a:lstStyle/>
          <a:p>
            <a:pPr algn="ctr">
              <a:spcBef>
                <a:spcPct val="50000"/>
              </a:spcBef>
            </a:pPr>
            <a:r>
              <a:rPr lang="en-US" sz="1800" b="1">
                <a:solidFill>
                  <a:srgbClr val="000000"/>
                </a:solidFill>
              </a:rPr>
              <a:t>People</a:t>
            </a:r>
          </a:p>
        </p:txBody>
      </p:sp>
      <p:sp>
        <p:nvSpPr>
          <p:cNvPr id="20489" name="Text Box 11"/>
          <p:cNvSpPr txBox="1">
            <a:spLocks noChangeArrowheads="1"/>
          </p:cNvSpPr>
          <p:nvPr/>
        </p:nvSpPr>
        <p:spPr bwMode="auto">
          <a:xfrm>
            <a:off x="228600" y="990600"/>
            <a:ext cx="1143000" cy="376238"/>
          </a:xfrm>
          <a:prstGeom prst="rect">
            <a:avLst/>
          </a:prstGeom>
          <a:noFill/>
          <a:ln w="9525">
            <a:solidFill>
              <a:srgbClr val="FF3300"/>
            </a:solidFill>
            <a:miter lim="800000"/>
            <a:headEnd/>
            <a:tailEnd/>
          </a:ln>
        </p:spPr>
        <p:txBody>
          <a:bodyPr>
            <a:spAutoFit/>
          </a:bodyPr>
          <a:lstStyle/>
          <a:p>
            <a:pPr algn="ctr">
              <a:spcBef>
                <a:spcPct val="50000"/>
              </a:spcBef>
            </a:pPr>
            <a:r>
              <a:rPr lang="en-US" sz="1800" b="1">
                <a:solidFill>
                  <a:srgbClr val="000000"/>
                </a:solidFill>
              </a:rPr>
              <a:t>Policy</a:t>
            </a:r>
          </a:p>
        </p:txBody>
      </p:sp>
      <p:sp>
        <p:nvSpPr>
          <p:cNvPr id="20490" name="Text Box 12"/>
          <p:cNvSpPr txBox="1">
            <a:spLocks noChangeArrowheads="1"/>
          </p:cNvSpPr>
          <p:nvPr/>
        </p:nvSpPr>
        <p:spPr bwMode="auto">
          <a:xfrm>
            <a:off x="3505200" y="1009650"/>
            <a:ext cx="1828800" cy="376238"/>
          </a:xfrm>
          <a:prstGeom prst="rect">
            <a:avLst/>
          </a:prstGeom>
          <a:noFill/>
          <a:ln w="9525">
            <a:solidFill>
              <a:srgbClr val="FF3300"/>
            </a:solidFill>
            <a:miter lim="800000"/>
            <a:headEnd/>
            <a:tailEnd/>
          </a:ln>
        </p:spPr>
        <p:txBody>
          <a:bodyPr>
            <a:spAutoFit/>
          </a:bodyPr>
          <a:lstStyle/>
          <a:p>
            <a:pPr algn="ctr">
              <a:spcBef>
                <a:spcPct val="50000"/>
              </a:spcBef>
            </a:pPr>
            <a:r>
              <a:rPr lang="en-US" sz="1800" b="1">
                <a:solidFill>
                  <a:srgbClr val="000000"/>
                </a:solidFill>
              </a:rPr>
              <a:t>Procedures</a:t>
            </a:r>
          </a:p>
        </p:txBody>
      </p:sp>
      <p:sp>
        <p:nvSpPr>
          <p:cNvPr id="20491" name="Text Box 13"/>
          <p:cNvSpPr txBox="1">
            <a:spLocks noChangeArrowheads="1"/>
          </p:cNvSpPr>
          <p:nvPr/>
        </p:nvSpPr>
        <p:spPr bwMode="auto">
          <a:xfrm>
            <a:off x="2990850" y="6253165"/>
            <a:ext cx="3105150" cy="376237"/>
          </a:xfrm>
          <a:prstGeom prst="rect">
            <a:avLst/>
          </a:prstGeom>
          <a:noFill/>
          <a:ln w="9525">
            <a:solidFill>
              <a:srgbClr val="FF3300"/>
            </a:solidFill>
            <a:miter lim="800000"/>
            <a:headEnd/>
            <a:tailEnd/>
          </a:ln>
        </p:spPr>
        <p:txBody>
          <a:bodyPr>
            <a:spAutoFit/>
          </a:bodyPr>
          <a:lstStyle/>
          <a:p>
            <a:pPr algn="ctr">
              <a:spcBef>
                <a:spcPct val="50000"/>
              </a:spcBef>
            </a:pPr>
            <a:r>
              <a:rPr lang="en-US" sz="1800" b="1">
                <a:solidFill>
                  <a:srgbClr val="000000"/>
                </a:solidFill>
              </a:rPr>
              <a:t>Physical Environment</a:t>
            </a:r>
          </a:p>
        </p:txBody>
      </p:sp>
      <p:sp>
        <p:nvSpPr>
          <p:cNvPr id="20492" name="Rectangle 15"/>
          <p:cNvSpPr>
            <a:spLocks noChangeArrowheads="1"/>
          </p:cNvSpPr>
          <p:nvPr/>
        </p:nvSpPr>
        <p:spPr bwMode="auto">
          <a:xfrm>
            <a:off x="7410450" y="3390900"/>
            <a:ext cx="1676400" cy="838200"/>
          </a:xfrm>
          <a:prstGeom prst="rect">
            <a:avLst/>
          </a:prstGeom>
          <a:noFill/>
          <a:ln w="9525">
            <a:solidFill>
              <a:schemeClr val="bg1"/>
            </a:solidFill>
            <a:miter lim="800000"/>
            <a:headEnd/>
            <a:tailEnd/>
          </a:ln>
        </p:spPr>
        <p:txBody>
          <a:bodyPr wrap="none" anchor="ctr"/>
          <a:lstStyle/>
          <a:p>
            <a:pPr algn="ctr"/>
            <a:r>
              <a:rPr lang="en-US" sz="1800" b="1">
                <a:solidFill>
                  <a:srgbClr val="000000"/>
                </a:solidFill>
              </a:rPr>
              <a:t>Empty tables</a:t>
            </a:r>
          </a:p>
          <a:p>
            <a:pPr algn="ctr"/>
            <a:r>
              <a:rPr lang="en-US" sz="1800" b="1">
                <a:solidFill>
                  <a:srgbClr val="000000"/>
                </a:solidFill>
              </a:rPr>
              <a:t>are not cleared</a:t>
            </a:r>
          </a:p>
          <a:p>
            <a:pPr algn="ctr"/>
            <a:r>
              <a:rPr lang="en-US" sz="1800" b="1">
                <a:solidFill>
                  <a:srgbClr val="000000"/>
                </a:solidFill>
              </a:rPr>
              <a:t>quickly</a:t>
            </a:r>
          </a:p>
        </p:txBody>
      </p:sp>
      <p:sp>
        <p:nvSpPr>
          <p:cNvPr id="20493" name="Text Box 17"/>
          <p:cNvSpPr txBox="1">
            <a:spLocks noChangeArrowheads="1"/>
          </p:cNvSpPr>
          <p:nvPr/>
        </p:nvSpPr>
        <p:spPr bwMode="auto">
          <a:xfrm>
            <a:off x="1371600" y="1703388"/>
            <a:ext cx="2286000" cy="506412"/>
          </a:xfrm>
          <a:prstGeom prst="rect">
            <a:avLst/>
          </a:prstGeom>
          <a:noFill/>
          <a:ln w="9525">
            <a:noFill/>
            <a:miter lim="800000"/>
            <a:headEnd/>
            <a:tailEnd/>
          </a:ln>
        </p:spPr>
        <p:txBody>
          <a:bodyPr>
            <a:spAutoFit/>
          </a:bodyPr>
          <a:lstStyle/>
          <a:p>
            <a:pPr>
              <a:lnSpc>
                <a:spcPct val="50000"/>
              </a:lnSpc>
              <a:spcBef>
                <a:spcPct val="50000"/>
              </a:spcBef>
            </a:pPr>
            <a:r>
              <a:rPr lang="en-US" sz="1800">
                <a:solidFill>
                  <a:srgbClr val="000000"/>
                </a:solidFill>
              </a:rPr>
              <a:t>Can’t start clearing</a:t>
            </a:r>
          </a:p>
          <a:p>
            <a:pPr>
              <a:lnSpc>
                <a:spcPct val="50000"/>
              </a:lnSpc>
              <a:spcBef>
                <a:spcPct val="50000"/>
              </a:spcBef>
            </a:pPr>
            <a:r>
              <a:rPr lang="en-US" sz="1800">
                <a:solidFill>
                  <a:srgbClr val="000000"/>
                </a:solidFill>
              </a:rPr>
              <a:t>soon enough</a:t>
            </a:r>
          </a:p>
        </p:txBody>
      </p:sp>
      <p:sp>
        <p:nvSpPr>
          <p:cNvPr id="20494" name="Line 18"/>
          <p:cNvSpPr>
            <a:spLocks noChangeShapeType="1"/>
          </p:cNvSpPr>
          <p:nvPr/>
        </p:nvSpPr>
        <p:spPr bwMode="auto">
          <a:xfrm flipH="1">
            <a:off x="1295400" y="1943100"/>
            <a:ext cx="1981200" cy="0"/>
          </a:xfrm>
          <a:prstGeom prst="line">
            <a:avLst/>
          </a:prstGeom>
          <a:noFill/>
          <a:ln w="9525">
            <a:solidFill>
              <a:schemeClr val="bg1"/>
            </a:solidFill>
            <a:round/>
            <a:headEnd/>
            <a:tailEnd/>
          </a:ln>
        </p:spPr>
        <p:txBody>
          <a:bodyPr/>
          <a:lstStyle/>
          <a:p>
            <a:endParaRPr lang="en-US"/>
          </a:p>
        </p:txBody>
      </p:sp>
      <p:sp>
        <p:nvSpPr>
          <p:cNvPr id="20495" name="Line 19"/>
          <p:cNvSpPr>
            <a:spLocks noChangeShapeType="1"/>
          </p:cNvSpPr>
          <p:nvPr/>
        </p:nvSpPr>
        <p:spPr bwMode="auto">
          <a:xfrm flipH="1">
            <a:off x="1524000" y="2209800"/>
            <a:ext cx="1219200" cy="0"/>
          </a:xfrm>
          <a:prstGeom prst="line">
            <a:avLst/>
          </a:prstGeom>
          <a:noFill/>
          <a:ln w="9525">
            <a:solidFill>
              <a:schemeClr val="bg1"/>
            </a:solidFill>
            <a:round/>
            <a:headEnd/>
            <a:tailEnd/>
          </a:ln>
        </p:spPr>
        <p:txBody>
          <a:bodyPr/>
          <a:lstStyle/>
          <a:p>
            <a:endParaRPr lang="en-US"/>
          </a:p>
        </p:txBody>
      </p:sp>
      <p:sp>
        <p:nvSpPr>
          <p:cNvPr id="20496" name="Text Box 21"/>
          <p:cNvSpPr txBox="1">
            <a:spLocks noChangeArrowheads="1"/>
          </p:cNvSpPr>
          <p:nvPr/>
        </p:nvSpPr>
        <p:spPr bwMode="auto">
          <a:xfrm>
            <a:off x="2438400" y="2384426"/>
            <a:ext cx="2286000" cy="437043"/>
          </a:xfrm>
          <a:prstGeom prst="rect">
            <a:avLst/>
          </a:prstGeom>
          <a:noFill/>
          <a:ln w="9525">
            <a:noFill/>
            <a:miter lim="800000"/>
            <a:headEnd/>
            <a:tailEnd/>
          </a:ln>
        </p:spPr>
        <p:txBody>
          <a:bodyPr>
            <a:spAutoFit/>
          </a:bodyPr>
          <a:lstStyle/>
          <a:p>
            <a:pPr>
              <a:lnSpc>
                <a:spcPct val="80000"/>
              </a:lnSpc>
              <a:spcBef>
                <a:spcPct val="50000"/>
              </a:spcBef>
            </a:pPr>
            <a:r>
              <a:rPr lang="en-US" sz="1400" u="sng">
                <a:solidFill>
                  <a:srgbClr val="000000"/>
                </a:solidFill>
              </a:rPr>
              <a:t>Not allowed to clear until entire party has left</a:t>
            </a:r>
          </a:p>
        </p:txBody>
      </p:sp>
      <p:sp>
        <p:nvSpPr>
          <p:cNvPr id="20497" name="Line 22"/>
          <p:cNvSpPr>
            <a:spLocks noChangeShapeType="1"/>
          </p:cNvSpPr>
          <p:nvPr/>
        </p:nvSpPr>
        <p:spPr bwMode="auto">
          <a:xfrm flipH="1">
            <a:off x="2362200" y="2590800"/>
            <a:ext cx="152400" cy="0"/>
          </a:xfrm>
          <a:prstGeom prst="line">
            <a:avLst/>
          </a:prstGeom>
          <a:noFill/>
          <a:ln w="9525">
            <a:solidFill>
              <a:schemeClr val="bg1"/>
            </a:solidFill>
            <a:round/>
            <a:headEnd/>
            <a:tailEnd/>
          </a:ln>
        </p:spPr>
        <p:txBody>
          <a:bodyPr/>
          <a:lstStyle/>
          <a:p>
            <a:endParaRPr lang="en-US"/>
          </a:p>
        </p:txBody>
      </p:sp>
      <p:sp>
        <p:nvSpPr>
          <p:cNvPr id="20498" name="Line 23"/>
          <p:cNvSpPr>
            <a:spLocks noChangeShapeType="1"/>
          </p:cNvSpPr>
          <p:nvPr/>
        </p:nvSpPr>
        <p:spPr bwMode="auto">
          <a:xfrm flipH="1" flipV="1">
            <a:off x="1981200" y="2209800"/>
            <a:ext cx="381000" cy="381000"/>
          </a:xfrm>
          <a:prstGeom prst="line">
            <a:avLst/>
          </a:prstGeom>
          <a:noFill/>
          <a:ln w="9525">
            <a:solidFill>
              <a:schemeClr val="bg1"/>
            </a:solidFill>
            <a:round/>
            <a:headEnd/>
            <a:tailEnd/>
          </a:ln>
        </p:spPr>
        <p:txBody>
          <a:bodyPr/>
          <a:lstStyle/>
          <a:p>
            <a:endParaRPr lang="en-US"/>
          </a:p>
        </p:txBody>
      </p:sp>
      <p:sp>
        <p:nvSpPr>
          <p:cNvPr id="20499" name="Text Box 24"/>
          <p:cNvSpPr txBox="1">
            <a:spLocks noChangeArrowheads="1"/>
          </p:cNvSpPr>
          <p:nvPr/>
        </p:nvSpPr>
        <p:spPr bwMode="auto">
          <a:xfrm>
            <a:off x="2667000" y="2971800"/>
            <a:ext cx="2819400" cy="198438"/>
          </a:xfrm>
          <a:prstGeom prst="rect">
            <a:avLst/>
          </a:prstGeom>
          <a:noFill/>
          <a:ln w="9525">
            <a:noFill/>
            <a:miter lim="800000"/>
            <a:headEnd/>
            <a:tailEnd/>
          </a:ln>
        </p:spPr>
        <p:txBody>
          <a:bodyPr>
            <a:spAutoFit/>
          </a:bodyPr>
          <a:lstStyle/>
          <a:p>
            <a:pPr>
              <a:lnSpc>
                <a:spcPct val="50000"/>
              </a:lnSpc>
              <a:spcBef>
                <a:spcPct val="50000"/>
              </a:spcBef>
            </a:pPr>
            <a:r>
              <a:rPr lang="en-US" sz="1400" u="sng">
                <a:solidFill>
                  <a:srgbClr val="000000"/>
                </a:solidFill>
              </a:rPr>
              <a:t>Takes too long to pay check</a:t>
            </a:r>
          </a:p>
        </p:txBody>
      </p:sp>
      <p:sp>
        <p:nvSpPr>
          <p:cNvPr id="20500" name="Line 25"/>
          <p:cNvSpPr>
            <a:spLocks noChangeShapeType="1"/>
          </p:cNvSpPr>
          <p:nvPr/>
        </p:nvSpPr>
        <p:spPr bwMode="auto">
          <a:xfrm flipH="1">
            <a:off x="2438400" y="3124200"/>
            <a:ext cx="304800" cy="0"/>
          </a:xfrm>
          <a:prstGeom prst="line">
            <a:avLst/>
          </a:prstGeom>
          <a:noFill/>
          <a:ln w="9525">
            <a:solidFill>
              <a:schemeClr val="bg1"/>
            </a:solidFill>
            <a:round/>
            <a:headEnd/>
            <a:tailEnd/>
          </a:ln>
        </p:spPr>
        <p:txBody>
          <a:bodyPr/>
          <a:lstStyle/>
          <a:p>
            <a:endParaRPr lang="en-US"/>
          </a:p>
        </p:txBody>
      </p:sp>
      <p:sp>
        <p:nvSpPr>
          <p:cNvPr id="20501" name="Line 26"/>
          <p:cNvSpPr>
            <a:spLocks noChangeShapeType="1"/>
          </p:cNvSpPr>
          <p:nvPr/>
        </p:nvSpPr>
        <p:spPr bwMode="auto">
          <a:xfrm flipH="1" flipV="1">
            <a:off x="1600200" y="2209800"/>
            <a:ext cx="838200" cy="914400"/>
          </a:xfrm>
          <a:prstGeom prst="line">
            <a:avLst/>
          </a:prstGeom>
          <a:noFill/>
          <a:ln w="9525">
            <a:solidFill>
              <a:schemeClr val="bg1"/>
            </a:solidFill>
            <a:round/>
            <a:headEnd/>
            <a:tailEnd/>
          </a:ln>
        </p:spPr>
        <p:txBody>
          <a:bodyPr/>
          <a:lstStyle/>
          <a:p>
            <a:endParaRPr lang="en-US"/>
          </a:p>
        </p:txBody>
      </p:sp>
      <p:sp>
        <p:nvSpPr>
          <p:cNvPr id="20502" name="Text Box 27"/>
          <p:cNvSpPr txBox="1">
            <a:spLocks noChangeArrowheads="1"/>
          </p:cNvSpPr>
          <p:nvPr/>
        </p:nvSpPr>
        <p:spPr bwMode="auto">
          <a:xfrm>
            <a:off x="3448050" y="3263900"/>
            <a:ext cx="2286000" cy="241300"/>
          </a:xfrm>
          <a:prstGeom prst="rect">
            <a:avLst/>
          </a:prstGeom>
          <a:noFill/>
          <a:ln w="9525">
            <a:noFill/>
            <a:miter lim="800000"/>
            <a:headEnd/>
            <a:tailEnd/>
          </a:ln>
        </p:spPr>
        <p:txBody>
          <a:bodyPr>
            <a:spAutoFit/>
          </a:bodyPr>
          <a:lstStyle/>
          <a:p>
            <a:pPr>
              <a:lnSpc>
                <a:spcPct val="70000"/>
              </a:lnSpc>
              <a:spcBef>
                <a:spcPct val="50000"/>
              </a:spcBef>
            </a:pPr>
            <a:r>
              <a:rPr lang="en-US" sz="1400" u="sng">
                <a:solidFill>
                  <a:srgbClr val="000000"/>
                </a:solidFill>
              </a:rPr>
              <a:t>Credit card machine jams</a:t>
            </a:r>
          </a:p>
        </p:txBody>
      </p:sp>
      <p:sp>
        <p:nvSpPr>
          <p:cNvPr id="20503" name="Line 28"/>
          <p:cNvSpPr>
            <a:spLocks noChangeShapeType="1"/>
          </p:cNvSpPr>
          <p:nvPr/>
        </p:nvSpPr>
        <p:spPr bwMode="auto">
          <a:xfrm flipH="1">
            <a:off x="3257550" y="3467100"/>
            <a:ext cx="304800" cy="0"/>
          </a:xfrm>
          <a:prstGeom prst="line">
            <a:avLst/>
          </a:prstGeom>
          <a:noFill/>
          <a:ln w="9525">
            <a:solidFill>
              <a:schemeClr val="bg1"/>
            </a:solidFill>
            <a:round/>
            <a:headEnd/>
            <a:tailEnd/>
          </a:ln>
        </p:spPr>
        <p:txBody>
          <a:bodyPr/>
          <a:lstStyle/>
          <a:p>
            <a:endParaRPr lang="en-US"/>
          </a:p>
        </p:txBody>
      </p:sp>
      <p:sp>
        <p:nvSpPr>
          <p:cNvPr id="20504" name="Line 29"/>
          <p:cNvSpPr>
            <a:spLocks noChangeShapeType="1"/>
          </p:cNvSpPr>
          <p:nvPr/>
        </p:nvSpPr>
        <p:spPr bwMode="auto">
          <a:xfrm flipH="1" flipV="1">
            <a:off x="2952750" y="3162300"/>
            <a:ext cx="304800" cy="304800"/>
          </a:xfrm>
          <a:prstGeom prst="line">
            <a:avLst/>
          </a:prstGeom>
          <a:noFill/>
          <a:ln w="9525">
            <a:solidFill>
              <a:schemeClr val="bg1"/>
            </a:solidFill>
            <a:round/>
            <a:headEnd/>
            <a:tailEnd/>
          </a:ln>
        </p:spPr>
        <p:txBody>
          <a:bodyPr/>
          <a:lstStyle/>
          <a:p>
            <a:endParaRPr lang="en-US"/>
          </a:p>
        </p:txBody>
      </p:sp>
      <p:sp>
        <p:nvSpPr>
          <p:cNvPr id="20505" name="Text Box 30"/>
          <p:cNvSpPr txBox="1">
            <a:spLocks noChangeArrowheads="1"/>
          </p:cNvSpPr>
          <p:nvPr/>
        </p:nvSpPr>
        <p:spPr bwMode="auto">
          <a:xfrm>
            <a:off x="76200" y="2603501"/>
            <a:ext cx="1981200" cy="535531"/>
          </a:xfrm>
          <a:prstGeom prst="rect">
            <a:avLst/>
          </a:prstGeom>
          <a:noFill/>
          <a:ln w="9525">
            <a:noFill/>
            <a:miter lim="800000"/>
            <a:headEnd/>
            <a:tailEnd/>
          </a:ln>
        </p:spPr>
        <p:txBody>
          <a:bodyPr>
            <a:spAutoFit/>
          </a:bodyPr>
          <a:lstStyle/>
          <a:p>
            <a:pPr>
              <a:lnSpc>
                <a:spcPct val="80000"/>
              </a:lnSpc>
              <a:spcBef>
                <a:spcPct val="50000"/>
              </a:spcBef>
            </a:pPr>
            <a:r>
              <a:rPr lang="en-US" sz="1800" u="sng">
                <a:solidFill>
                  <a:srgbClr val="000000"/>
                </a:solidFill>
              </a:rPr>
              <a:t>Waitress must bring check to desk</a:t>
            </a:r>
          </a:p>
        </p:txBody>
      </p:sp>
      <p:sp>
        <p:nvSpPr>
          <p:cNvPr id="20506" name="Line 31"/>
          <p:cNvSpPr>
            <a:spLocks noChangeShapeType="1"/>
          </p:cNvSpPr>
          <p:nvPr/>
        </p:nvSpPr>
        <p:spPr bwMode="auto">
          <a:xfrm>
            <a:off x="1600200" y="2857500"/>
            <a:ext cx="457200" cy="0"/>
          </a:xfrm>
          <a:prstGeom prst="line">
            <a:avLst/>
          </a:prstGeom>
          <a:noFill/>
          <a:ln w="9525">
            <a:solidFill>
              <a:schemeClr val="bg1"/>
            </a:solidFill>
            <a:round/>
            <a:headEnd/>
            <a:tailEnd/>
          </a:ln>
        </p:spPr>
        <p:txBody>
          <a:bodyPr/>
          <a:lstStyle/>
          <a:p>
            <a:endParaRPr lang="en-US"/>
          </a:p>
        </p:txBody>
      </p:sp>
      <p:sp>
        <p:nvSpPr>
          <p:cNvPr id="20507" name="Text Box 32"/>
          <p:cNvSpPr txBox="1">
            <a:spLocks noChangeArrowheads="1"/>
          </p:cNvSpPr>
          <p:nvPr/>
        </p:nvSpPr>
        <p:spPr bwMode="auto">
          <a:xfrm>
            <a:off x="304800" y="4117976"/>
            <a:ext cx="2286000" cy="535531"/>
          </a:xfrm>
          <a:prstGeom prst="rect">
            <a:avLst/>
          </a:prstGeom>
          <a:noFill/>
          <a:ln w="9525">
            <a:noFill/>
            <a:miter lim="800000"/>
            <a:headEnd/>
            <a:tailEnd/>
          </a:ln>
        </p:spPr>
        <p:txBody>
          <a:bodyPr>
            <a:spAutoFit/>
          </a:bodyPr>
          <a:lstStyle/>
          <a:p>
            <a:pPr>
              <a:lnSpc>
                <a:spcPct val="80000"/>
              </a:lnSpc>
              <a:spcBef>
                <a:spcPct val="50000"/>
              </a:spcBef>
            </a:pPr>
            <a:r>
              <a:rPr lang="en-US" sz="1800" u="sng">
                <a:solidFill>
                  <a:srgbClr val="000000"/>
                </a:solidFill>
              </a:rPr>
              <a:t>Not enough staff at busy times</a:t>
            </a:r>
          </a:p>
        </p:txBody>
      </p:sp>
      <p:sp>
        <p:nvSpPr>
          <p:cNvPr id="20508" name="Line 33"/>
          <p:cNvSpPr>
            <a:spLocks noChangeShapeType="1"/>
          </p:cNvSpPr>
          <p:nvPr/>
        </p:nvSpPr>
        <p:spPr bwMode="auto">
          <a:xfrm>
            <a:off x="2286000" y="4362450"/>
            <a:ext cx="304800" cy="0"/>
          </a:xfrm>
          <a:prstGeom prst="line">
            <a:avLst/>
          </a:prstGeom>
          <a:noFill/>
          <a:ln w="9525">
            <a:solidFill>
              <a:schemeClr val="bg1"/>
            </a:solidFill>
            <a:round/>
            <a:headEnd/>
            <a:tailEnd/>
          </a:ln>
        </p:spPr>
        <p:txBody>
          <a:bodyPr/>
          <a:lstStyle/>
          <a:p>
            <a:endParaRPr lang="en-US"/>
          </a:p>
        </p:txBody>
      </p:sp>
      <p:sp>
        <p:nvSpPr>
          <p:cNvPr id="20509" name="Text Box 34"/>
          <p:cNvSpPr txBox="1">
            <a:spLocks noChangeArrowheads="1"/>
          </p:cNvSpPr>
          <p:nvPr/>
        </p:nvSpPr>
        <p:spPr bwMode="auto">
          <a:xfrm>
            <a:off x="647700" y="4838700"/>
            <a:ext cx="1219200" cy="264688"/>
          </a:xfrm>
          <a:prstGeom prst="rect">
            <a:avLst/>
          </a:prstGeom>
          <a:noFill/>
          <a:ln w="9525">
            <a:noFill/>
            <a:miter lim="800000"/>
            <a:headEnd/>
            <a:tailEnd/>
          </a:ln>
        </p:spPr>
        <p:txBody>
          <a:bodyPr>
            <a:spAutoFit/>
          </a:bodyPr>
          <a:lstStyle/>
          <a:p>
            <a:pPr>
              <a:lnSpc>
                <a:spcPct val="80000"/>
              </a:lnSpc>
              <a:spcBef>
                <a:spcPct val="50000"/>
              </a:spcBef>
            </a:pPr>
            <a:r>
              <a:rPr lang="en-US" sz="1400" u="sng">
                <a:solidFill>
                  <a:srgbClr val="000000"/>
                </a:solidFill>
              </a:rPr>
              <a:t>High turnover</a:t>
            </a:r>
          </a:p>
        </p:txBody>
      </p:sp>
      <p:sp>
        <p:nvSpPr>
          <p:cNvPr id="20510" name="Line 35"/>
          <p:cNvSpPr>
            <a:spLocks noChangeShapeType="1"/>
          </p:cNvSpPr>
          <p:nvPr/>
        </p:nvSpPr>
        <p:spPr bwMode="auto">
          <a:xfrm flipV="1">
            <a:off x="1409700" y="4362450"/>
            <a:ext cx="685800" cy="838200"/>
          </a:xfrm>
          <a:prstGeom prst="line">
            <a:avLst/>
          </a:prstGeom>
          <a:noFill/>
          <a:ln w="9525">
            <a:solidFill>
              <a:schemeClr val="bg1"/>
            </a:solidFill>
            <a:round/>
            <a:headEnd/>
            <a:tailEnd/>
          </a:ln>
        </p:spPr>
        <p:txBody>
          <a:bodyPr/>
          <a:lstStyle/>
          <a:p>
            <a:endParaRPr lang="en-US"/>
          </a:p>
        </p:txBody>
      </p:sp>
      <p:sp>
        <p:nvSpPr>
          <p:cNvPr id="20511" name="Text Box 36"/>
          <p:cNvSpPr txBox="1">
            <a:spLocks noChangeArrowheads="1"/>
          </p:cNvSpPr>
          <p:nvPr/>
        </p:nvSpPr>
        <p:spPr bwMode="auto">
          <a:xfrm>
            <a:off x="2762250" y="4019550"/>
            <a:ext cx="2514600" cy="311150"/>
          </a:xfrm>
          <a:prstGeom prst="rect">
            <a:avLst/>
          </a:prstGeom>
          <a:noFill/>
          <a:ln w="9525">
            <a:noFill/>
            <a:miter lim="800000"/>
            <a:headEnd/>
            <a:tailEnd/>
          </a:ln>
        </p:spPr>
        <p:txBody>
          <a:bodyPr>
            <a:spAutoFit/>
          </a:bodyPr>
          <a:lstStyle/>
          <a:p>
            <a:pPr>
              <a:lnSpc>
                <a:spcPct val="80000"/>
              </a:lnSpc>
              <a:spcBef>
                <a:spcPct val="50000"/>
              </a:spcBef>
            </a:pPr>
            <a:r>
              <a:rPr lang="en-US" sz="1800" u="sng">
                <a:solidFill>
                  <a:srgbClr val="000000"/>
                </a:solidFill>
              </a:rPr>
              <a:t>Can’t Clear promptly</a:t>
            </a:r>
          </a:p>
        </p:txBody>
      </p:sp>
      <p:sp>
        <p:nvSpPr>
          <p:cNvPr id="20512" name="Line 37"/>
          <p:cNvSpPr>
            <a:spLocks noChangeShapeType="1"/>
          </p:cNvSpPr>
          <p:nvPr/>
        </p:nvSpPr>
        <p:spPr bwMode="auto">
          <a:xfrm flipH="1">
            <a:off x="2647950" y="4286250"/>
            <a:ext cx="228600" cy="0"/>
          </a:xfrm>
          <a:prstGeom prst="line">
            <a:avLst/>
          </a:prstGeom>
          <a:noFill/>
          <a:ln w="9525">
            <a:solidFill>
              <a:schemeClr val="bg1"/>
            </a:solidFill>
            <a:round/>
            <a:headEnd/>
            <a:tailEnd/>
          </a:ln>
        </p:spPr>
        <p:txBody>
          <a:bodyPr/>
          <a:lstStyle/>
          <a:p>
            <a:endParaRPr lang="en-US"/>
          </a:p>
        </p:txBody>
      </p:sp>
      <p:sp>
        <p:nvSpPr>
          <p:cNvPr id="20513" name="Text Box 38"/>
          <p:cNvSpPr txBox="1">
            <a:spLocks noChangeArrowheads="1"/>
          </p:cNvSpPr>
          <p:nvPr/>
        </p:nvSpPr>
        <p:spPr bwMode="auto">
          <a:xfrm>
            <a:off x="3276600" y="4572000"/>
            <a:ext cx="2209800" cy="437043"/>
          </a:xfrm>
          <a:prstGeom prst="rect">
            <a:avLst/>
          </a:prstGeom>
          <a:noFill/>
          <a:ln w="9525">
            <a:noFill/>
            <a:miter lim="800000"/>
            <a:headEnd/>
            <a:tailEnd/>
          </a:ln>
        </p:spPr>
        <p:txBody>
          <a:bodyPr>
            <a:spAutoFit/>
          </a:bodyPr>
          <a:lstStyle/>
          <a:p>
            <a:pPr>
              <a:lnSpc>
                <a:spcPct val="80000"/>
              </a:lnSpc>
              <a:spcBef>
                <a:spcPct val="50000"/>
              </a:spcBef>
            </a:pPr>
            <a:r>
              <a:rPr lang="en-US" sz="1400" u="sng">
                <a:solidFill>
                  <a:srgbClr val="000000"/>
                </a:solidFill>
              </a:rPr>
              <a:t>Customers drink coffee endlessly</a:t>
            </a:r>
          </a:p>
        </p:txBody>
      </p:sp>
      <p:sp>
        <p:nvSpPr>
          <p:cNvPr id="20514" name="Line 39"/>
          <p:cNvSpPr>
            <a:spLocks noChangeShapeType="1"/>
          </p:cNvSpPr>
          <p:nvPr/>
        </p:nvSpPr>
        <p:spPr bwMode="auto">
          <a:xfrm>
            <a:off x="2857500" y="4286250"/>
            <a:ext cx="228600" cy="457200"/>
          </a:xfrm>
          <a:prstGeom prst="line">
            <a:avLst/>
          </a:prstGeom>
          <a:noFill/>
          <a:ln w="9525">
            <a:solidFill>
              <a:schemeClr val="bg1"/>
            </a:solidFill>
            <a:round/>
            <a:headEnd/>
            <a:tailEnd/>
          </a:ln>
        </p:spPr>
        <p:txBody>
          <a:bodyPr/>
          <a:lstStyle/>
          <a:p>
            <a:endParaRPr lang="en-US"/>
          </a:p>
        </p:txBody>
      </p:sp>
      <p:sp>
        <p:nvSpPr>
          <p:cNvPr id="20515" name="Line 40"/>
          <p:cNvSpPr>
            <a:spLocks noChangeShapeType="1"/>
          </p:cNvSpPr>
          <p:nvPr/>
        </p:nvSpPr>
        <p:spPr bwMode="auto">
          <a:xfrm>
            <a:off x="3105150" y="4762500"/>
            <a:ext cx="304800" cy="0"/>
          </a:xfrm>
          <a:prstGeom prst="line">
            <a:avLst/>
          </a:prstGeom>
          <a:noFill/>
          <a:ln w="9525">
            <a:solidFill>
              <a:schemeClr val="bg1"/>
            </a:solidFill>
            <a:round/>
            <a:headEnd/>
            <a:tailEnd/>
          </a:ln>
        </p:spPr>
        <p:txBody>
          <a:bodyPr/>
          <a:lstStyle/>
          <a:p>
            <a:endParaRPr lang="en-US"/>
          </a:p>
        </p:txBody>
      </p:sp>
      <p:sp>
        <p:nvSpPr>
          <p:cNvPr id="20516" name="Text Box 41"/>
          <p:cNvSpPr txBox="1">
            <a:spLocks noChangeArrowheads="1"/>
          </p:cNvSpPr>
          <p:nvPr/>
        </p:nvSpPr>
        <p:spPr bwMode="auto">
          <a:xfrm>
            <a:off x="1981200" y="5105400"/>
            <a:ext cx="2514600" cy="311150"/>
          </a:xfrm>
          <a:prstGeom prst="rect">
            <a:avLst/>
          </a:prstGeom>
          <a:noFill/>
          <a:ln w="9525">
            <a:noFill/>
            <a:miter lim="800000"/>
            <a:headEnd/>
            <a:tailEnd/>
          </a:ln>
        </p:spPr>
        <p:txBody>
          <a:bodyPr>
            <a:spAutoFit/>
          </a:bodyPr>
          <a:lstStyle/>
          <a:p>
            <a:pPr>
              <a:lnSpc>
                <a:spcPct val="80000"/>
              </a:lnSpc>
              <a:spcBef>
                <a:spcPct val="50000"/>
              </a:spcBef>
            </a:pPr>
            <a:r>
              <a:rPr lang="en-US" sz="1800" u="sng">
                <a:solidFill>
                  <a:srgbClr val="000000"/>
                </a:solidFill>
              </a:rPr>
              <a:t>Waitresses don’t care</a:t>
            </a:r>
          </a:p>
        </p:txBody>
      </p:sp>
      <p:sp>
        <p:nvSpPr>
          <p:cNvPr id="20517" name="Line 42"/>
          <p:cNvSpPr>
            <a:spLocks noChangeShapeType="1"/>
          </p:cNvSpPr>
          <p:nvPr/>
        </p:nvSpPr>
        <p:spPr bwMode="auto">
          <a:xfrm flipH="1">
            <a:off x="1752600" y="5353050"/>
            <a:ext cx="304800" cy="0"/>
          </a:xfrm>
          <a:prstGeom prst="line">
            <a:avLst/>
          </a:prstGeom>
          <a:noFill/>
          <a:ln w="9525">
            <a:solidFill>
              <a:schemeClr val="bg1"/>
            </a:solidFill>
            <a:round/>
            <a:headEnd/>
            <a:tailEnd/>
          </a:ln>
        </p:spPr>
        <p:txBody>
          <a:bodyPr/>
          <a:lstStyle/>
          <a:p>
            <a:endParaRPr lang="en-US"/>
          </a:p>
        </p:txBody>
      </p:sp>
      <p:sp>
        <p:nvSpPr>
          <p:cNvPr id="20518" name="Text Box 43"/>
          <p:cNvSpPr txBox="1">
            <a:spLocks noChangeArrowheads="1"/>
          </p:cNvSpPr>
          <p:nvPr/>
        </p:nvSpPr>
        <p:spPr bwMode="auto">
          <a:xfrm>
            <a:off x="2057400" y="5562600"/>
            <a:ext cx="1219200" cy="264688"/>
          </a:xfrm>
          <a:prstGeom prst="rect">
            <a:avLst/>
          </a:prstGeom>
          <a:noFill/>
          <a:ln w="9525">
            <a:noFill/>
            <a:miter lim="800000"/>
            <a:headEnd/>
            <a:tailEnd/>
          </a:ln>
        </p:spPr>
        <p:txBody>
          <a:bodyPr>
            <a:spAutoFit/>
          </a:bodyPr>
          <a:lstStyle/>
          <a:p>
            <a:pPr>
              <a:lnSpc>
                <a:spcPct val="80000"/>
              </a:lnSpc>
              <a:spcBef>
                <a:spcPct val="50000"/>
              </a:spcBef>
            </a:pPr>
            <a:r>
              <a:rPr lang="en-US" sz="1400" u="sng">
                <a:solidFill>
                  <a:srgbClr val="000000"/>
                </a:solidFill>
              </a:rPr>
              <a:t>Poor morale</a:t>
            </a:r>
          </a:p>
        </p:txBody>
      </p:sp>
      <p:sp>
        <p:nvSpPr>
          <p:cNvPr id="20519" name="Line 44"/>
          <p:cNvSpPr>
            <a:spLocks noChangeShapeType="1"/>
          </p:cNvSpPr>
          <p:nvPr/>
        </p:nvSpPr>
        <p:spPr bwMode="auto">
          <a:xfrm flipH="1">
            <a:off x="1771650" y="5753100"/>
            <a:ext cx="381000" cy="0"/>
          </a:xfrm>
          <a:prstGeom prst="line">
            <a:avLst/>
          </a:prstGeom>
          <a:noFill/>
          <a:ln w="9525">
            <a:solidFill>
              <a:schemeClr val="bg1"/>
            </a:solidFill>
            <a:round/>
            <a:headEnd/>
            <a:tailEnd/>
          </a:ln>
        </p:spPr>
        <p:txBody>
          <a:bodyPr/>
          <a:lstStyle/>
          <a:p>
            <a:endParaRPr lang="en-US"/>
          </a:p>
        </p:txBody>
      </p:sp>
      <p:sp>
        <p:nvSpPr>
          <p:cNvPr id="20520" name="Line 45"/>
          <p:cNvSpPr>
            <a:spLocks noChangeShapeType="1"/>
          </p:cNvSpPr>
          <p:nvPr/>
        </p:nvSpPr>
        <p:spPr bwMode="auto">
          <a:xfrm flipV="1">
            <a:off x="1771650" y="5353050"/>
            <a:ext cx="304800" cy="381000"/>
          </a:xfrm>
          <a:prstGeom prst="line">
            <a:avLst/>
          </a:prstGeom>
          <a:noFill/>
          <a:ln w="9525">
            <a:solidFill>
              <a:schemeClr val="bg1"/>
            </a:solidFill>
            <a:round/>
            <a:headEnd/>
            <a:tailEnd/>
          </a:ln>
        </p:spPr>
        <p:txBody>
          <a:bodyPr/>
          <a:lstStyle/>
          <a:p>
            <a:endParaRPr lang="en-US"/>
          </a:p>
        </p:txBody>
      </p:sp>
      <p:sp>
        <p:nvSpPr>
          <p:cNvPr id="20521" name="Text Box 47"/>
          <p:cNvSpPr txBox="1">
            <a:spLocks noChangeArrowheads="1"/>
          </p:cNvSpPr>
          <p:nvPr/>
        </p:nvSpPr>
        <p:spPr bwMode="auto">
          <a:xfrm>
            <a:off x="2057400" y="5943600"/>
            <a:ext cx="1219200" cy="264688"/>
          </a:xfrm>
          <a:prstGeom prst="rect">
            <a:avLst/>
          </a:prstGeom>
          <a:noFill/>
          <a:ln w="9525">
            <a:noFill/>
            <a:miter lim="800000"/>
            <a:headEnd/>
            <a:tailEnd/>
          </a:ln>
        </p:spPr>
        <p:txBody>
          <a:bodyPr>
            <a:spAutoFit/>
          </a:bodyPr>
          <a:lstStyle/>
          <a:p>
            <a:pPr>
              <a:lnSpc>
                <a:spcPct val="80000"/>
              </a:lnSpc>
              <a:spcBef>
                <a:spcPct val="50000"/>
              </a:spcBef>
            </a:pPr>
            <a:r>
              <a:rPr lang="en-US" sz="1400" u="sng">
                <a:solidFill>
                  <a:srgbClr val="000000"/>
                </a:solidFill>
              </a:rPr>
              <a:t>Poor pay</a:t>
            </a:r>
          </a:p>
        </p:txBody>
      </p:sp>
      <p:sp>
        <p:nvSpPr>
          <p:cNvPr id="20522" name="Line 48"/>
          <p:cNvSpPr>
            <a:spLocks noChangeShapeType="1"/>
          </p:cNvSpPr>
          <p:nvPr/>
        </p:nvSpPr>
        <p:spPr bwMode="auto">
          <a:xfrm flipH="1">
            <a:off x="1847850" y="6153150"/>
            <a:ext cx="304800" cy="0"/>
          </a:xfrm>
          <a:prstGeom prst="line">
            <a:avLst/>
          </a:prstGeom>
          <a:noFill/>
          <a:ln w="9525">
            <a:solidFill>
              <a:schemeClr val="bg1"/>
            </a:solidFill>
            <a:round/>
            <a:headEnd/>
            <a:tailEnd/>
          </a:ln>
        </p:spPr>
        <p:txBody>
          <a:bodyPr/>
          <a:lstStyle/>
          <a:p>
            <a:endParaRPr lang="en-US"/>
          </a:p>
        </p:txBody>
      </p:sp>
      <p:sp>
        <p:nvSpPr>
          <p:cNvPr id="20523" name="Line 49"/>
          <p:cNvSpPr>
            <a:spLocks noChangeShapeType="1"/>
          </p:cNvSpPr>
          <p:nvPr/>
        </p:nvSpPr>
        <p:spPr bwMode="auto">
          <a:xfrm flipV="1">
            <a:off x="1847850" y="5772150"/>
            <a:ext cx="304800" cy="381000"/>
          </a:xfrm>
          <a:prstGeom prst="line">
            <a:avLst/>
          </a:prstGeom>
          <a:noFill/>
          <a:ln w="9525">
            <a:solidFill>
              <a:schemeClr val="bg1"/>
            </a:solidFill>
            <a:round/>
            <a:headEnd/>
            <a:tailEnd/>
          </a:ln>
        </p:spPr>
        <p:txBody>
          <a:bodyPr/>
          <a:lstStyle/>
          <a:p>
            <a:endParaRPr lang="en-US"/>
          </a:p>
        </p:txBody>
      </p:sp>
      <p:sp>
        <p:nvSpPr>
          <p:cNvPr id="20524" name="Text Box 50"/>
          <p:cNvSpPr txBox="1">
            <a:spLocks noChangeArrowheads="1"/>
          </p:cNvSpPr>
          <p:nvPr/>
        </p:nvSpPr>
        <p:spPr bwMode="auto">
          <a:xfrm>
            <a:off x="4762500" y="1544638"/>
            <a:ext cx="2971800" cy="284162"/>
          </a:xfrm>
          <a:prstGeom prst="rect">
            <a:avLst/>
          </a:prstGeom>
          <a:noFill/>
          <a:ln w="9525">
            <a:noFill/>
            <a:miter lim="800000"/>
            <a:headEnd/>
            <a:tailEnd/>
          </a:ln>
        </p:spPr>
        <p:txBody>
          <a:bodyPr>
            <a:spAutoFit/>
          </a:bodyPr>
          <a:lstStyle/>
          <a:p>
            <a:pPr>
              <a:lnSpc>
                <a:spcPct val="70000"/>
              </a:lnSpc>
              <a:spcBef>
                <a:spcPct val="50000"/>
              </a:spcBef>
            </a:pPr>
            <a:r>
              <a:rPr lang="en-US" sz="1800" u="sng">
                <a:solidFill>
                  <a:srgbClr val="000000"/>
                </a:solidFill>
              </a:rPr>
              <a:t>Waitress not available</a:t>
            </a:r>
          </a:p>
        </p:txBody>
      </p:sp>
      <p:sp>
        <p:nvSpPr>
          <p:cNvPr id="20525" name="Line 51"/>
          <p:cNvSpPr>
            <a:spLocks noChangeShapeType="1"/>
          </p:cNvSpPr>
          <p:nvPr/>
        </p:nvSpPr>
        <p:spPr bwMode="auto">
          <a:xfrm flipH="1">
            <a:off x="4533900" y="1771650"/>
            <a:ext cx="304800" cy="0"/>
          </a:xfrm>
          <a:prstGeom prst="line">
            <a:avLst/>
          </a:prstGeom>
          <a:noFill/>
          <a:ln w="9525">
            <a:solidFill>
              <a:schemeClr val="bg1"/>
            </a:solidFill>
            <a:round/>
            <a:headEnd/>
            <a:tailEnd/>
          </a:ln>
        </p:spPr>
        <p:txBody>
          <a:bodyPr/>
          <a:lstStyle/>
          <a:p>
            <a:endParaRPr lang="en-US"/>
          </a:p>
        </p:txBody>
      </p:sp>
      <p:sp>
        <p:nvSpPr>
          <p:cNvPr id="20526" name="Text Box 52"/>
          <p:cNvSpPr txBox="1">
            <a:spLocks noChangeArrowheads="1"/>
          </p:cNvSpPr>
          <p:nvPr/>
        </p:nvSpPr>
        <p:spPr bwMode="auto">
          <a:xfrm>
            <a:off x="5619750" y="1974852"/>
            <a:ext cx="2590800" cy="609398"/>
          </a:xfrm>
          <a:prstGeom prst="rect">
            <a:avLst/>
          </a:prstGeom>
          <a:noFill/>
          <a:ln w="9525">
            <a:noFill/>
            <a:miter lim="800000"/>
            <a:headEnd/>
            <a:tailEnd/>
          </a:ln>
        </p:spPr>
        <p:txBody>
          <a:bodyPr>
            <a:spAutoFit/>
          </a:bodyPr>
          <a:lstStyle/>
          <a:p>
            <a:pPr>
              <a:lnSpc>
                <a:spcPct val="80000"/>
              </a:lnSpc>
              <a:spcBef>
                <a:spcPct val="50000"/>
              </a:spcBef>
            </a:pPr>
            <a:r>
              <a:rPr lang="en-US" sz="1400" u="sng">
                <a:solidFill>
                  <a:srgbClr val="000000"/>
                </a:solidFill>
              </a:rPr>
              <a:t>Waitress spend too much time sorting dishes in kitchen – less time to clear</a:t>
            </a:r>
          </a:p>
        </p:txBody>
      </p:sp>
      <p:sp>
        <p:nvSpPr>
          <p:cNvPr id="20527" name="Line 53"/>
          <p:cNvSpPr>
            <a:spLocks noChangeShapeType="1"/>
          </p:cNvSpPr>
          <p:nvPr/>
        </p:nvSpPr>
        <p:spPr bwMode="auto">
          <a:xfrm flipH="1">
            <a:off x="5410200" y="2171700"/>
            <a:ext cx="304800" cy="0"/>
          </a:xfrm>
          <a:prstGeom prst="line">
            <a:avLst/>
          </a:prstGeom>
          <a:noFill/>
          <a:ln w="9525">
            <a:solidFill>
              <a:schemeClr val="bg1"/>
            </a:solidFill>
            <a:round/>
            <a:headEnd/>
            <a:tailEnd/>
          </a:ln>
        </p:spPr>
        <p:txBody>
          <a:bodyPr/>
          <a:lstStyle/>
          <a:p>
            <a:endParaRPr lang="en-US"/>
          </a:p>
        </p:txBody>
      </p:sp>
      <p:sp>
        <p:nvSpPr>
          <p:cNvPr id="20528" name="Line 55"/>
          <p:cNvSpPr>
            <a:spLocks noChangeShapeType="1"/>
          </p:cNvSpPr>
          <p:nvPr/>
        </p:nvSpPr>
        <p:spPr bwMode="auto">
          <a:xfrm flipH="1" flipV="1">
            <a:off x="5010150" y="1771650"/>
            <a:ext cx="381000" cy="381000"/>
          </a:xfrm>
          <a:prstGeom prst="line">
            <a:avLst/>
          </a:prstGeom>
          <a:noFill/>
          <a:ln w="9525">
            <a:solidFill>
              <a:schemeClr val="bg1"/>
            </a:solidFill>
            <a:round/>
            <a:headEnd/>
            <a:tailEnd/>
          </a:ln>
        </p:spPr>
        <p:txBody>
          <a:bodyPr/>
          <a:lstStyle/>
          <a:p>
            <a:endParaRPr lang="en-US"/>
          </a:p>
        </p:txBody>
      </p:sp>
      <p:sp>
        <p:nvSpPr>
          <p:cNvPr id="20529" name="Text Box 56"/>
          <p:cNvSpPr txBox="1">
            <a:spLocks noChangeArrowheads="1"/>
          </p:cNvSpPr>
          <p:nvPr/>
        </p:nvSpPr>
        <p:spPr bwMode="auto">
          <a:xfrm>
            <a:off x="6286500" y="2686050"/>
            <a:ext cx="2590800" cy="264688"/>
          </a:xfrm>
          <a:prstGeom prst="rect">
            <a:avLst/>
          </a:prstGeom>
          <a:noFill/>
          <a:ln w="9525">
            <a:noFill/>
            <a:miter lim="800000"/>
            <a:headEnd/>
            <a:tailEnd/>
          </a:ln>
        </p:spPr>
        <p:txBody>
          <a:bodyPr>
            <a:spAutoFit/>
          </a:bodyPr>
          <a:lstStyle/>
          <a:p>
            <a:pPr>
              <a:lnSpc>
                <a:spcPct val="80000"/>
              </a:lnSpc>
              <a:spcBef>
                <a:spcPct val="50000"/>
              </a:spcBef>
            </a:pPr>
            <a:r>
              <a:rPr lang="en-US" sz="1400" u="sng">
                <a:solidFill>
                  <a:srgbClr val="000000"/>
                </a:solidFill>
              </a:rPr>
              <a:t>Bottlenecks in kitchen</a:t>
            </a:r>
          </a:p>
        </p:txBody>
      </p:sp>
      <p:sp>
        <p:nvSpPr>
          <p:cNvPr id="20530" name="Line 57"/>
          <p:cNvSpPr>
            <a:spLocks noChangeShapeType="1"/>
          </p:cNvSpPr>
          <p:nvPr/>
        </p:nvSpPr>
        <p:spPr bwMode="auto">
          <a:xfrm flipH="1">
            <a:off x="6229350" y="2895600"/>
            <a:ext cx="152400" cy="0"/>
          </a:xfrm>
          <a:prstGeom prst="line">
            <a:avLst/>
          </a:prstGeom>
          <a:noFill/>
          <a:ln w="9525">
            <a:solidFill>
              <a:schemeClr val="bg1"/>
            </a:solidFill>
            <a:round/>
            <a:headEnd/>
            <a:tailEnd/>
          </a:ln>
        </p:spPr>
        <p:txBody>
          <a:bodyPr/>
          <a:lstStyle/>
          <a:p>
            <a:endParaRPr lang="en-US"/>
          </a:p>
        </p:txBody>
      </p:sp>
      <p:sp>
        <p:nvSpPr>
          <p:cNvPr id="20531" name="Line 58"/>
          <p:cNvSpPr>
            <a:spLocks noChangeShapeType="1"/>
          </p:cNvSpPr>
          <p:nvPr/>
        </p:nvSpPr>
        <p:spPr bwMode="auto">
          <a:xfrm flipH="1" flipV="1">
            <a:off x="5905500" y="2514600"/>
            <a:ext cx="304800" cy="381000"/>
          </a:xfrm>
          <a:prstGeom prst="line">
            <a:avLst/>
          </a:prstGeom>
          <a:noFill/>
          <a:ln w="9525">
            <a:solidFill>
              <a:schemeClr val="bg1"/>
            </a:solidFill>
            <a:round/>
            <a:headEnd/>
            <a:tailEnd/>
          </a:ln>
        </p:spPr>
        <p:txBody>
          <a:bodyPr/>
          <a:lstStyle/>
          <a:p>
            <a:endParaRPr lang="en-US"/>
          </a:p>
        </p:txBody>
      </p:sp>
      <p:sp>
        <p:nvSpPr>
          <p:cNvPr id="20532" name="Text Box 60"/>
          <p:cNvSpPr txBox="1">
            <a:spLocks noChangeArrowheads="1"/>
          </p:cNvSpPr>
          <p:nvPr/>
        </p:nvSpPr>
        <p:spPr bwMode="auto">
          <a:xfrm>
            <a:off x="5791200" y="3068638"/>
            <a:ext cx="2971800" cy="284162"/>
          </a:xfrm>
          <a:prstGeom prst="rect">
            <a:avLst/>
          </a:prstGeom>
          <a:noFill/>
          <a:ln w="9525">
            <a:noFill/>
            <a:miter lim="800000"/>
            <a:headEnd/>
            <a:tailEnd/>
          </a:ln>
        </p:spPr>
        <p:txBody>
          <a:bodyPr>
            <a:spAutoFit/>
          </a:bodyPr>
          <a:lstStyle/>
          <a:p>
            <a:pPr>
              <a:lnSpc>
                <a:spcPct val="70000"/>
              </a:lnSpc>
              <a:spcBef>
                <a:spcPct val="50000"/>
              </a:spcBef>
            </a:pPr>
            <a:r>
              <a:rPr lang="en-US" sz="1800" u="sng">
                <a:solidFill>
                  <a:srgbClr val="000000"/>
                </a:solidFill>
              </a:rPr>
              <a:t>No standard training</a:t>
            </a:r>
          </a:p>
        </p:txBody>
      </p:sp>
      <p:sp>
        <p:nvSpPr>
          <p:cNvPr id="20533" name="Text Box 61"/>
          <p:cNvSpPr txBox="1">
            <a:spLocks noChangeArrowheads="1"/>
          </p:cNvSpPr>
          <p:nvPr/>
        </p:nvSpPr>
        <p:spPr bwMode="auto">
          <a:xfrm>
            <a:off x="5715000" y="4648201"/>
            <a:ext cx="2971800" cy="590931"/>
          </a:xfrm>
          <a:prstGeom prst="rect">
            <a:avLst/>
          </a:prstGeom>
          <a:noFill/>
          <a:ln w="9525">
            <a:noFill/>
            <a:miter lim="800000"/>
            <a:headEnd/>
            <a:tailEnd/>
          </a:ln>
        </p:spPr>
        <p:txBody>
          <a:bodyPr>
            <a:spAutoFit/>
          </a:bodyPr>
          <a:lstStyle/>
          <a:p>
            <a:pPr>
              <a:lnSpc>
                <a:spcPct val="90000"/>
              </a:lnSpc>
              <a:spcBef>
                <a:spcPct val="50000"/>
              </a:spcBef>
            </a:pPr>
            <a:r>
              <a:rPr lang="en-US" sz="1800" u="sng">
                <a:solidFill>
                  <a:srgbClr val="000000"/>
                </a:solidFill>
              </a:rPr>
              <a:t>Takes long time to get to kitchen</a:t>
            </a:r>
          </a:p>
        </p:txBody>
      </p:sp>
      <p:sp>
        <p:nvSpPr>
          <p:cNvPr id="20534" name="Line 62"/>
          <p:cNvSpPr>
            <a:spLocks noChangeShapeType="1"/>
          </p:cNvSpPr>
          <p:nvPr/>
        </p:nvSpPr>
        <p:spPr bwMode="auto">
          <a:xfrm flipH="1">
            <a:off x="5353050" y="4933950"/>
            <a:ext cx="457200" cy="0"/>
          </a:xfrm>
          <a:prstGeom prst="line">
            <a:avLst/>
          </a:prstGeom>
          <a:noFill/>
          <a:ln w="9525">
            <a:solidFill>
              <a:schemeClr val="bg1"/>
            </a:solidFill>
            <a:round/>
            <a:headEnd/>
            <a:tailEnd/>
          </a:ln>
        </p:spPr>
        <p:txBody>
          <a:bodyPr/>
          <a:lstStyle/>
          <a:p>
            <a:endParaRPr lang="en-US"/>
          </a:p>
        </p:txBody>
      </p:sp>
      <p:sp>
        <p:nvSpPr>
          <p:cNvPr id="20535" name="Text Box 63"/>
          <p:cNvSpPr txBox="1">
            <a:spLocks noChangeArrowheads="1"/>
          </p:cNvSpPr>
          <p:nvPr/>
        </p:nvSpPr>
        <p:spPr bwMode="auto">
          <a:xfrm>
            <a:off x="6019800" y="5300664"/>
            <a:ext cx="2590800" cy="264688"/>
          </a:xfrm>
          <a:prstGeom prst="rect">
            <a:avLst/>
          </a:prstGeom>
          <a:noFill/>
          <a:ln w="9525">
            <a:noFill/>
            <a:miter lim="800000"/>
            <a:headEnd/>
            <a:tailEnd/>
          </a:ln>
        </p:spPr>
        <p:txBody>
          <a:bodyPr>
            <a:spAutoFit/>
          </a:bodyPr>
          <a:lstStyle/>
          <a:p>
            <a:pPr>
              <a:lnSpc>
                <a:spcPct val="80000"/>
              </a:lnSpc>
              <a:spcBef>
                <a:spcPct val="50000"/>
              </a:spcBef>
            </a:pPr>
            <a:r>
              <a:rPr lang="en-US" sz="1400" u="sng">
                <a:solidFill>
                  <a:srgbClr val="000000"/>
                </a:solidFill>
              </a:rPr>
              <a:t>Kitchen is far from tables</a:t>
            </a:r>
          </a:p>
        </p:txBody>
      </p:sp>
      <p:sp>
        <p:nvSpPr>
          <p:cNvPr id="20536" name="Line 64"/>
          <p:cNvSpPr>
            <a:spLocks noChangeShapeType="1"/>
          </p:cNvSpPr>
          <p:nvPr/>
        </p:nvSpPr>
        <p:spPr bwMode="auto">
          <a:xfrm flipH="1">
            <a:off x="5695950" y="5505450"/>
            <a:ext cx="457200" cy="0"/>
          </a:xfrm>
          <a:prstGeom prst="line">
            <a:avLst/>
          </a:prstGeom>
          <a:noFill/>
          <a:ln w="9525">
            <a:solidFill>
              <a:schemeClr val="bg1"/>
            </a:solidFill>
            <a:round/>
            <a:headEnd/>
            <a:tailEnd/>
          </a:ln>
        </p:spPr>
        <p:txBody>
          <a:bodyPr/>
          <a:lstStyle/>
          <a:p>
            <a:endParaRPr lang="en-US"/>
          </a:p>
        </p:txBody>
      </p:sp>
      <p:sp>
        <p:nvSpPr>
          <p:cNvPr id="20537" name="Line 65"/>
          <p:cNvSpPr>
            <a:spLocks noChangeShapeType="1"/>
          </p:cNvSpPr>
          <p:nvPr/>
        </p:nvSpPr>
        <p:spPr bwMode="auto">
          <a:xfrm flipV="1">
            <a:off x="5715000" y="5181600"/>
            <a:ext cx="304800" cy="304800"/>
          </a:xfrm>
          <a:prstGeom prst="line">
            <a:avLst/>
          </a:prstGeom>
          <a:noFill/>
          <a:ln w="9525">
            <a:solidFill>
              <a:schemeClr val="bg1"/>
            </a:solidFill>
            <a:round/>
            <a:headEnd/>
            <a:tailEnd/>
          </a:ln>
        </p:spPr>
        <p:txBody>
          <a:bodyPr/>
          <a:lstStyle/>
          <a:p>
            <a:endParaRPr lang="en-US"/>
          </a:p>
        </p:txBody>
      </p:sp>
      <p:sp>
        <p:nvSpPr>
          <p:cNvPr id="20538" name="Rectangle 67"/>
          <p:cNvSpPr>
            <a:spLocks noChangeArrowheads="1"/>
          </p:cNvSpPr>
          <p:nvPr/>
        </p:nvSpPr>
        <p:spPr bwMode="auto">
          <a:xfrm>
            <a:off x="0" y="152400"/>
            <a:ext cx="8915400" cy="533400"/>
          </a:xfrm>
          <a:prstGeom prst="rect">
            <a:avLst/>
          </a:prstGeom>
          <a:solidFill>
            <a:srgbClr val="FFFF00"/>
          </a:solidFill>
          <a:ln w="9525">
            <a:solidFill>
              <a:schemeClr val="tx1"/>
            </a:solidFill>
            <a:miter lim="800000"/>
            <a:headEnd/>
            <a:tailEnd/>
          </a:ln>
        </p:spPr>
        <p:txBody>
          <a:bodyPr wrap="none" anchor="ctr"/>
          <a:lstStyle/>
          <a:p>
            <a:pPr algn="ctr"/>
            <a:r>
              <a:rPr lang="en-US" sz="1600" b="1" dirty="0">
                <a:latin typeface="Arial Black" pitchFamily="34" charset="0"/>
              </a:rPr>
              <a:t>Cause-and-effect diagram for “why tables are not cleared quickly”</a:t>
            </a:r>
          </a:p>
        </p:txBody>
      </p:sp>
    </p:spTree>
    <p:extLst>
      <p:ext uri="{BB962C8B-B14F-4D97-AF65-F5344CB8AC3E}">
        <p14:creationId xmlns:p14="http://schemas.microsoft.com/office/powerpoint/2010/main" val="1815931872"/>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Class Practice</a:t>
            </a:r>
            <a:endParaRPr lang="en-US" dirty="0"/>
          </a:p>
        </p:txBody>
      </p:sp>
      <p:sp>
        <p:nvSpPr>
          <p:cNvPr id="3" name="Content Placeholder 2"/>
          <p:cNvSpPr>
            <a:spLocks noGrp="1"/>
          </p:cNvSpPr>
          <p:nvPr>
            <p:ph idx="1"/>
          </p:nvPr>
        </p:nvSpPr>
        <p:spPr/>
        <p:txBody>
          <a:bodyPr/>
          <a:lstStyle/>
          <a:p>
            <a:r>
              <a:rPr lang="en-US" dirty="0" smtClean="0"/>
              <a:t>Consider the everyday task of getting to work on time or arriving at your first class on time in the morning. Draw a fish-bone chart showing reasons why you might arrive late in the morning. Use 4M approach.(Man, Material, method, machinery)</a:t>
            </a:r>
            <a:endParaRPr lang="en-US" dirty="0"/>
          </a:p>
        </p:txBody>
      </p:sp>
    </p:spTree>
    <p:extLst>
      <p:ext uri="{BB962C8B-B14F-4D97-AF65-F5344CB8AC3E}">
        <p14:creationId xmlns:p14="http://schemas.microsoft.com/office/powerpoint/2010/main" val="205884207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1026" name="Picture 2"/>
          <p:cNvPicPr>
            <a:picLocks noChangeAspect="1" noChangeArrowheads="1"/>
          </p:cNvPicPr>
          <p:nvPr/>
        </p:nvPicPr>
        <p:blipFill>
          <a:blip r:embed="rId2"/>
          <a:srcRect/>
          <a:stretch>
            <a:fillRect/>
          </a:stretch>
        </p:blipFill>
        <p:spPr bwMode="auto">
          <a:xfrm>
            <a:off x="580293" y="894839"/>
            <a:ext cx="8419514" cy="5759490"/>
          </a:xfrm>
          <a:prstGeom prst="rect">
            <a:avLst/>
          </a:prstGeom>
          <a:noFill/>
          <a:ln w="9525">
            <a:noFill/>
            <a:miter lim="800000"/>
            <a:headEnd/>
            <a:tailEnd/>
          </a:ln>
          <a:effectLst/>
        </p:spPr>
      </p:pic>
    </p:spTree>
    <p:extLst>
      <p:ext uri="{BB962C8B-B14F-4D97-AF65-F5344CB8AC3E}">
        <p14:creationId xmlns:p14="http://schemas.microsoft.com/office/powerpoint/2010/main" val="227978841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Analysis of Inadequate Production of Headers </a:t>
            </a:r>
            <a:r>
              <a:rPr lang="en-US" b="1" dirty="0" smtClean="0">
                <a:solidFill>
                  <a:srgbClr val="FF0000"/>
                </a:solidFill>
              </a:rPr>
              <a:t>class exercise</a:t>
            </a:r>
            <a:endParaRPr lang="en-US" dirty="0">
              <a:solidFill>
                <a:srgbClr val="FF0000"/>
              </a:solidFill>
            </a:endParaRPr>
          </a:p>
        </p:txBody>
      </p:sp>
      <p:sp>
        <p:nvSpPr>
          <p:cNvPr id="3" name="Content Placeholder 2"/>
          <p:cNvSpPr>
            <a:spLocks noGrp="1"/>
          </p:cNvSpPr>
          <p:nvPr>
            <p:ph idx="1"/>
          </p:nvPr>
        </p:nvSpPr>
        <p:spPr/>
        <p:txBody>
          <a:bodyPr>
            <a:normAutofit fontScale="85000" lnSpcReduction="20000"/>
          </a:bodyPr>
          <a:lstStyle/>
          <a:p>
            <a:pPr algn="just"/>
            <a:r>
              <a:rPr lang="en-US" dirty="0" smtClean="0"/>
              <a:t>A process improvement team is working to improve the production output at the Johnson Manufacturing plant’s Header Cell that manufactures a key component, headers, used in commercial air conditioners. A header is part of the circulatory system of a commercial air conditioner that moves coolant between various components such as the evaporator coil and the condenser coil. Currently, the header production cell is scheduled separately from the main work in the plant. Often, individual headers are not sequenced to match the product they go into on the final assembly line in a timely fashion, and so the product can sit in queue waiting for a header.</a:t>
            </a:r>
            <a:endParaRPr lang="en-US" dirty="0"/>
          </a:p>
        </p:txBody>
      </p:sp>
      <p:pic>
        <p:nvPicPr>
          <p:cNvPr id="61442" name="Picture 2" descr="Commercial AC Copper Header at Best Price - Commercial AC Copper Header by  Sri Lakshmi Narasimha Electronics in Kadapa - Justdial"/>
          <p:cNvPicPr>
            <a:picLocks noChangeAspect="1" noChangeArrowheads="1"/>
          </p:cNvPicPr>
          <p:nvPr/>
        </p:nvPicPr>
        <p:blipFill>
          <a:blip r:embed="rId2"/>
          <a:srcRect/>
          <a:stretch>
            <a:fillRect/>
          </a:stretch>
        </p:blipFill>
        <p:spPr bwMode="auto">
          <a:xfrm>
            <a:off x="5638800" y="5943600"/>
            <a:ext cx="2819400" cy="914400"/>
          </a:xfrm>
          <a:prstGeom prst="rect">
            <a:avLst/>
          </a:prstGeom>
          <a:noFill/>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52400" y="381000"/>
            <a:ext cx="8915400" cy="6247864"/>
          </a:xfrm>
          <a:prstGeom prst="rect">
            <a:avLst/>
          </a:prstGeom>
        </p:spPr>
        <p:txBody>
          <a:bodyPr wrap="square">
            <a:spAutoFit/>
          </a:bodyPr>
          <a:lstStyle/>
          <a:p>
            <a:r>
              <a:rPr lang="en-US" sz="2000" b="1" dirty="0" smtClean="0"/>
              <a:t>SOLUTION</a:t>
            </a:r>
          </a:p>
          <a:p>
            <a:r>
              <a:rPr lang="en-US" sz="2000" dirty="0" smtClean="0"/>
              <a:t>As a first step, the team conducted extensive on-site observations across the six processing steps within the cell, followed by the transport of the finished header to the air conditioner assembly area for installation into an air conditioner unit. The six processing steps included:</a:t>
            </a:r>
          </a:p>
          <a:p>
            <a:endParaRPr lang="en-US" sz="2000" dirty="0" smtClean="0"/>
          </a:p>
          <a:p>
            <a:r>
              <a:rPr lang="en-US" sz="2000" b="1" dirty="0" smtClean="0"/>
              <a:t>1. Cut copper pipes to the appropriate length.</a:t>
            </a:r>
          </a:p>
          <a:p>
            <a:r>
              <a:rPr lang="en-US" sz="2000" b="1" dirty="0" smtClean="0"/>
              <a:t>2. Punch vent and stub holes into the copper log.</a:t>
            </a:r>
          </a:p>
          <a:p>
            <a:r>
              <a:rPr lang="en-US" sz="2000" b="1" dirty="0" smtClean="0"/>
              <a:t>3. Weld a steel supply valve onto the top of the copper log.</a:t>
            </a:r>
          </a:p>
          <a:p>
            <a:r>
              <a:rPr lang="en-US" sz="2000" b="1" dirty="0" smtClean="0"/>
              <a:t>4. Braze end caps and vent plugs to the copper log.</a:t>
            </a:r>
          </a:p>
          <a:p>
            <a:r>
              <a:rPr lang="en-US" sz="2000" b="1" dirty="0" smtClean="0"/>
              <a:t>5. Braze stub tubes into each stub hole in the copper log.</a:t>
            </a:r>
          </a:p>
          <a:p>
            <a:r>
              <a:rPr lang="en-US" sz="2000" b="1" dirty="0" smtClean="0"/>
              <a:t>6. Add plastic end caps to protect the newly created header.</a:t>
            </a:r>
          </a:p>
          <a:p>
            <a:endParaRPr lang="en-US" sz="2000" b="1" dirty="0" smtClean="0"/>
          </a:p>
          <a:p>
            <a:r>
              <a:rPr lang="en-US" sz="2000" dirty="0" smtClean="0"/>
              <a:t>To analyze all the possible causes of the problem, the team constructed a cause-and-effect diagram, shown in Figure 2.13. The main problem, inadequate header production, is the head of the diagram. The team brainstormed all possible causes, and together they identified several major categories</a:t>
            </a:r>
            <a:r>
              <a:rPr lang="en-US" sz="2000" b="1" dirty="0" smtClean="0"/>
              <a:t>: management, manpower, method, measurement, machine, and materials, or the 6 M’s. </a:t>
            </a:r>
            <a:r>
              <a:rPr lang="en-US" sz="2000" dirty="0" smtClean="0"/>
              <a:t>Several suspected causes were identified for each major category.</a:t>
            </a:r>
          </a:p>
          <a:p>
            <a:r>
              <a:rPr lang="en-US" sz="2000" dirty="0" smtClean="0"/>
              <a:t>Inadequate</a:t>
            </a:r>
            <a:endParaRPr lang="en-US" sz="2000" dirty="0"/>
          </a:p>
        </p:txBody>
      </p:sp>
      <p:pic>
        <p:nvPicPr>
          <p:cNvPr id="60418" name="Picture 2" descr="Flute copper tube collar holes punching machine for air conditioner header  pipe - YouTube"/>
          <p:cNvPicPr>
            <a:picLocks noChangeAspect="1" noChangeArrowheads="1"/>
          </p:cNvPicPr>
          <p:nvPr/>
        </p:nvPicPr>
        <p:blipFill>
          <a:blip r:embed="rId2"/>
          <a:srcRect/>
          <a:stretch>
            <a:fillRect/>
          </a:stretch>
        </p:blipFill>
        <p:spPr bwMode="auto">
          <a:xfrm>
            <a:off x="7391400" y="1676400"/>
            <a:ext cx="1400175" cy="1048780"/>
          </a:xfrm>
          <a:prstGeom prst="rect">
            <a:avLst/>
          </a:prstGeom>
          <a:noFill/>
        </p:spPr>
      </p:pic>
      <p:pic>
        <p:nvPicPr>
          <p:cNvPr id="60420" name="Picture 4" descr="Products &amp; Services | Manufacturer from Bhiwadi"/>
          <p:cNvPicPr>
            <a:picLocks noChangeAspect="1" noChangeArrowheads="1"/>
          </p:cNvPicPr>
          <p:nvPr/>
        </p:nvPicPr>
        <p:blipFill>
          <a:blip r:embed="rId3" cstate="print"/>
          <a:srcRect/>
          <a:stretch>
            <a:fillRect/>
          </a:stretch>
        </p:blipFill>
        <p:spPr bwMode="auto">
          <a:xfrm>
            <a:off x="7315200" y="2743200"/>
            <a:ext cx="1531406" cy="866776"/>
          </a:xfrm>
          <a:prstGeom prst="rect">
            <a:avLst/>
          </a:prstGeom>
          <a:noFill/>
        </p:spPr>
      </p:pic>
      <p:sp>
        <p:nvSpPr>
          <p:cNvPr id="60422" name="AutoShape 6" descr="How to Solder Copper Pipe in a Wall (Complete Guide) | GOT2LEARN - YouTube"/>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60424" name="AutoShape 8" descr="How to Solder Copper Pipe in a Wall (Complete Guide) | GOT2LEARN - YouTube"/>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60426" name="AutoShape 10" descr="How to Solder Copper Pipe in a Wall (Complete Guide) | GOT2LEARN - YouTube"/>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60428" name="Picture 12" descr="How to Solder Copper Pipe in a Wall (Complete Guide) | GOT2LEARN - YouTube"/>
          <p:cNvPicPr>
            <a:picLocks noChangeAspect="1" noChangeArrowheads="1"/>
          </p:cNvPicPr>
          <p:nvPr/>
        </p:nvPicPr>
        <p:blipFill>
          <a:blip r:embed="rId4" cstate="print"/>
          <a:srcRect/>
          <a:stretch>
            <a:fillRect/>
          </a:stretch>
        </p:blipFill>
        <p:spPr bwMode="auto">
          <a:xfrm>
            <a:off x="7391400" y="3581399"/>
            <a:ext cx="1464733" cy="823913"/>
          </a:xfrm>
          <a:prstGeom prst="rect">
            <a:avLst/>
          </a:prstGeom>
          <a:noFill/>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1026" name="Picture 2"/>
          <p:cNvPicPr>
            <a:picLocks noChangeAspect="1" noChangeArrowheads="1"/>
          </p:cNvPicPr>
          <p:nvPr/>
        </p:nvPicPr>
        <p:blipFill>
          <a:blip r:embed="rId2"/>
          <a:srcRect/>
          <a:stretch>
            <a:fillRect/>
          </a:stretch>
        </p:blipFill>
        <p:spPr bwMode="auto">
          <a:xfrm>
            <a:off x="0" y="517057"/>
            <a:ext cx="9083844" cy="6340943"/>
          </a:xfrm>
          <a:prstGeom prst="rect">
            <a:avLst/>
          </a:prstGeom>
          <a:noFill/>
          <a:ln w="9525">
            <a:noFill/>
            <a:miter lim="800000"/>
            <a:headEnd/>
            <a:tailEnd/>
          </a:ln>
          <a:effectLst/>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3562"/>
          </a:xfrm>
        </p:spPr>
        <p:txBody>
          <a:bodyPr>
            <a:normAutofit fontScale="90000"/>
          </a:bodyPr>
          <a:lstStyle/>
          <a:p>
            <a:r>
              <a:rPr lang="en-US" b="1" dirty="0" smtClean="0"/>
              <a:t>DECISION POINT</a:t>
            </a:r>
            <a:br>
              <a:rPr lang="en-US" b="1" dirty="0" smtClean="0"/>
            </a:br>
            <a:endParaRPr lang="en-US" dirty="0"/>
          </a:p>
        </p:txBody>
      </p:sp>
      <p:sp>
        <p:nvSpPr>
          <p:cNvPr id="3" name="Content Placeholder 2"/>
          <p:cNvSpPr>
            <a:spLocks noGrp="1"/>
          </p:cNvSpPr>
          <p:nvPr>
            <p:ph idx="1"/>
          </p:nvPr>
        </p:nvSpPr>
        <p:spPr>
          <a:xfrm>
            <a:off x="457200" y="838200"/>
            <a:ext cx="8229600" cy="5287963"/>
          </a:xfrm>
        </p:spPr>
        <p:txBody>
          <a:bodyPr>
            <a:normAutofit fontScale="85000" lnSpcReduction="20000"/>
          </a:bodyPr>
          <a:lstStyle/>
          <a:p>
            <a:pPr algn="just"/>
            <a:r>
              <a:rPr lang="en-US" dirty="0" smtClean="0"/>
              <a:t>The improvement team noted several immediate issues that were slowing down production of headers. These issues included operators batching individual jobs (method branch) into groups to save walking time, which was further exasperated by the availability of raw materials stocked on the shop floor (materials branch) and the lack of specific job requirement (management branch). Further, there were many instances of individual tasks not being done correctly, and thus having to be redone; such as the 90 percent rework rate at weld (method branch). The next step in this process improvement was to eliminate the raw material on the floor, improve quality at the weld machine, and move each header individually using a header-specific cart.</a:t>
            </a:r>
            <a:endParaRPr lang="en-US"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lang="en-US" sz="2700" dirty="0" smtClean="0">
                <a:solidFill>
                  <a:srgbClr val="000000"/>
                </a:solidFill>
                <a:latin typeface="Arial" charset="0"/>
                <a:cs typeface="Arial" charset="0"/>
              </a:rPr>
              <a:t>The first originates from lean manufacturing and the </a:t>
            </a:r>
            <a:r>
              <a:rPr lang="en-US" sz="2700" i="1" dirty="0" smtClean="0">
                <a:solidFill>
                  <a:srgbClr val="000000"/>
                </a:solidFill>
                <a:latin typeface="Arial" charset="0"/>
                <a:cs typeface="Arial" charset="0"/>
              </a:rPr>
              <a:t>Toyota Production System</a:t>
            </a:r>
            <a:r>
              <a:rPr lang="en-US" sz="2700" dirty="0" smtClean="0">
                <a:solidFill>
                  <a:srgbClr val="000000"/>
                </a:solidFill>
                <a:latin typeface="Arial" charset="0"/>
                <a:cs typeface="Arial" charset="0"/>
              </a:rPr>
              <a:t>, it is </a:t>
            </a:r>
            <a:r>
              <a:rPr lang="en-US" sz="2700" i="1" dirty="0" smtClean="0">
                <a:solidFill>
                  <a:srgbClr val="000000"/>
                </a:solidFill>
                <a:latin typeface="Arial" charset="0"/>
                <a:cs typeface="Arial" charset="0"/>
              </a:rPr>
              <a:t>The 5 Ms</a:t>
            </a:r>
            <a:endParaRPr lang="en-US" dirty="0"/>
          </a:p>
        </p:txBody>
      </p:sp>
      <p:sp>
        <p:nvSpPr>
          <p:cNvPr id="3" name="Content Placeholder 2"/>
          <p:cNvSpPr>
            <a:spLocks noGrp="1"/>
          </p:cNvSpPr>
          <p:nvPr>
            <p:ph idx="1"/>
          </p:nvPr>
        </p:nvSpPr>
        <p:spPr>
          <a:xfrm>
            <a:off x="457200" y="1600200"/>
            <a:ext cx="4419600" cy="4525963"/>
          </a:xfrm>
        </p:spPr>
        <p:txBody>
          <a:bodyPr>
            <a:normAutofit/>
          </a:bodyPr>
          <a:lstStyle/>
          <a:p>
            <a:pPr marL="0" lvl="0" indent="0" eaLnBrk="0" fontAlgn="base" hangingPunct="0">
              <a:spcBef>
                <a:spcPct val="0"/>
              </a:spcBef>
              <a:spcAft>
                <a:spcPct val="0"/>
              </a:spcAft>
              <a:buNone/>
            </a:pPr>
            <a:r>
              <a:rPr lang="en-US" sz="2200" b="1" dirty="0" smtClean="0">
                <a:solidFill>
                  <a:srgbClr val="000000"/>
                </a:solidFill>
                <a:latin typeface="Arial" charset="0"/>
                <a:cs typeface="Arial" charset="0"/>
              </a:rPr>
              <a:t>Machine</a:t>
            </a:r>
            <a:r>
              <a:rPr lang="en-US" sz="2200" dirty="0" smtClean="0">
                <a:solidFill>
                  <a:srgbClr val="000000"/>
                </a:solidFill>
                <a:latin typeface="Arial" charset="0"/>
                <a:cs typeface="Arial" charset="0"/>
              </a:rPr>
              <a:t> (which covers the equipment and technology)</a:t>
            </a:r>
          </a:p>
          <a:p>
            <a:pPr marL="0" lvl="0" indent="0" eaLnBrk="0" fontAlgn="base" hangingPunct="0">
              <a:spcBef>
                <a:spcPct val="0"/>
              </a:spcBef>
              <a:spcAft>
                <a:spcPct val="0"/>
              </a:spcAft>
              <a:buFontTx/>
              <a:buChar char="•"/>
            </a:pPr>
            <a:r>
              <a:rPr lang="en-US" sz="2200" b="1" dirty="0" smtClean="0">
                <a:solidFill>
                  <a:srgbClr val="000000"/>
                </a:solidFill>
                <a:latin typeface="Arial" charset="0"/>
                <a:cs typeface="Arial" charset="0"/>
              </a:rPr>
              <a:t>Method</a:t>
            </a:r>
          </a:p>
          <a:p>
            <a:pPr marL="0" lvl="0" indent="0" eaLnBrk="0" fontAlgn="base" hangingPunct="0">
              <a:spcBef>
                <a:spcPct val="0"/>
              </a:spcBef>
              <a:spcAft>
                <a:spcPct val="0"/>
              </a:spcAft>
              <a:buFontTx/>
              <a:buChar char="•"/>
            </a:pPr>
            <a:r>
              <a:rPr lang="en-US" sz="2200" b="1" dirty="0" smtClean="0">
                <a:solidFill>
                  <a:srgbClr val="000000"/>
                </a:solidFill>
                <a:latin typeface="Arial" charset="0"/>
                <a:cs typeface="Arial" charset="0"/>
              </a:rPr>
              <a:t>Material</a:t>
            </a:r>
            <a:r>
              <a:rPr lang="en-US" sz="2200" dirty="0" smtClean="0">
                <a:solidFill>
                  <a:srgbClr val="000000"/>
                </a:solidFill>
                <a:latin typeface="Arial" charset="0"/>
                <a:cs typeface="Arial" charset="0"/>
              </a:rPr>
              <a:t> (which covers both raw material, consumables, and knowledge)</a:t>
            </a:r>
          </a:p>
          <a:p>
            <a:pPr marL="0" lvl="0" indent="0" eaLnBrk="0" fontAlgn="base" hangingPunct="0">
              <a:spcBef>
                <a:spcPct val="0"/>
              </a:spcBef>
              <a:spcAft>
                <a:spcPct val="0"/>
              </a:spcAft>
              <a:buFontTx/>
              <a:buChar char="•"/>
            </a:pPr>
            <a:r>
              <a:rPr lang="en-US" sz="2200" b="1" dirty="0" smtClean="0">
                <a:solidFill>
                  <a:srgbClr val="000000"/>
                </a:solidFill>
                <a:latin typeface="Arial" charset="0"/>
                <a:cs typeface="Arial" charset="0"/>
              </a:rPr>
              <a:t>Man</a:t>
            </a:r>
            <a:r>
              <a:rPr lang="en-US" sz="2200" dirty="0" smtClean="0">
                <a:solidFill>
                  <a:srgbClr val="000000"/>
                </a:solidFill>
                <a:latin typeface="Arial" charset="0"/>
                <a:cs typeface="Arial" charset="0"/>
              </a:rPr>
              <a:t> (which covers both physical and knowledge work)</a:t>
            </a:r>
          </a:p>
          <a:p>
            <a:pPr marL="0" lvl="0" indent="0" eaLnBrk="0" fontAlgn="base" hangingPunct="0">
              <a:spcBef>
                <a:spcPct val="0"/>
              </a:spcBef>
              <a:spcAft>
                <a:spcPct val="0"/>
              </a:spcAft>
              <a:buFontTx/>
              <a:buChar char="•"/>
            </a:pPr>
            <a:r>
              <a:rPr lang="en-US" sz="2200" b="1" dirty="0" smtClean="0">
                <a:solidFill>
                  <a:srgbClr val="000000"/>
                </a:solidFill>
                <a:latin typeface="Arial" charset="0"/>
                <a:cs typeface="Arial" charset="0"/>
              </a:rPr>
              <a:t>Measurement</a:t>
            </a:r>
            <a:r>
              <a:rPr lang="en-US" sz="2200" dirty="0" smtClean="0">
                <a:solidFill>
                  <a:srgbClr val="000000"/>
                </a:solidFill>
                <a:latin typeface="Arial" charset="0"/>
                <a:cs typeface="Arial" charset="0"/>
              </a:rPr>
              <a:t> (which covers inspection and e</a:t>
            </a:r>
            <a:r>
              <a:rPr lang="en-US" sz="2200" dirty="0" smtClean="0">
                <a:solidFill>
                  <a:srgbClr val="000000"/>
                </a:solidFill>
                <a:latin typeface="Arial" charset="0"/>
                <a:cs typeface="Arial" charset="0"/>
                <a:hlinkClick r:id="rId2"/>
              </a:rPr>
              <a:t>nvironment)</a:t>
            </a:r>
          </a:p>
          <a:p>
            <a:endParaRPr lang="en-US" dirty="0"/>
          </a:p>
        </p:txBody>
      </p:sp>
      <p:pic>
        <p:nvPicPr>
          <p:cNvPr id="1029" name="Picture 5" descr="5Ms.png">
            <a:hlinkClick r:id="rId2"/>
          </p:cNvPr>
          <p:cNvPicPr>
            <a:picLocks noChangeAspect="1" noChangeArrowheads="1"/>
          </p:cNvPicPr>
          <p:nvPr/>
        </p:nvPicPr>
        <p:blipFill>
          <a:blip r:embed="rId3"/>
          <a:srcRect/>
          <a:stretch>
            <a:fillRect/>
          </a:stretch>
        </p:blipFill>
        <p:spPr bwMode="auto">
          <a:xfrm>
            <a:off x="5334000" y="4495800"/>
            <a:ext cx="3810000" cy="2057400"/>
          </a:xfrm>
          <a:prstGeom prst="rect">
            <a:avLst/>
          </a:prstGeom>
          <a:noFill/>
        </p:spPr>
      </p:pic>
      <p:sp>
        <p:nvSpPr>
          <p:cNvPr id="8" name="Rectangle 7"/>
          <p:cNvSpPr/>
          <p:nvPr/>
        </p:nvSpPr>
        <p:spPr>
          <a:xfrm>
            <a:off x="5943600" y="1600200"/>
            <a:ext cx="2514600" cy="1754326"/>
          </a:xfrm>
          <a:prstGeom prst="rect">
            <a:avLst/>
          </a:prstGeom>
        </p:spPr>
        <p:txBody>
          <a:bodyPr wrap="square">
            <a:spAutoFit/>
          </a:bodyPr>
          <a:lstStyle/>
          <a:p>
            <a:r>
              <a:rPr lang="en-US" dirty="0" smtClean="0"/>
              <a:t>People</a:t>
            </a:r>
          </a:p>
          <a:p>
            <a:r>
              <a:rPr lang="en-US" dirty="0" smtClean="0"/>
              <a:t>Material</a:t>
            </a:r>
          </a:p>
          <a:p>
            <a:r>
              <a:rPr lang="en-US" dirty="0" smtClean="0"/>
              <a:t>Equipment/Machinery</a:t>
            </a:r>
          </a:p>
          <a:p>
            <a:r>
              <a:rPr lang="en-US" dirty="0" smtClean="0"/>
              <a:t>Methods</a:t>
            </a:r>
          </a:p>
          <a:p>
            <a:r>
              <a:rPr lang="en-US" dirty="0" smtClean="0"/>
              <a:t>Environment</a:t>
            </a:r>
          </a:p>
          <a:p>
            <a:r>
              <a:rPr lang="en-US" dirty="0" smtClean="0"/>
              <a:t>Measurement</a:t>
            </a:r>
            <a:endParaRPr lang="en-US"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4" name="Rectangle 3"/>
          <p:cNvSpPr/>
          <p:nvPr/>
        </p:nvSpPr>
        <p:spPr>
          <a:xfrm>
            <a:off x="457200" y="1447800"/>
            <a:ext cx="3505200" cy="2585323"/>
          </a:xfrm>
          <a:prstGeom prst="rect">
            <a:avLst/>
          </a:prstGeom>
        </p:spPr>
        <p:txBody>
          <a:bodyPr wrap="square">
            <a:spAutoFit/>
          </a:bodyPr>
          <a:lstStyle/>
          <a:p>
            <a:r>
              <a:rPr lang="en-US" dirty="0" smtClean="0"/>
              <a:t>For </a:t>
            </a:r>
            <a:r>
              <a:rPr lang="en-US" b="1" dirty="0" smtClean="0"/>
              <a:t>Services</a:t>
            </a:r>
            <a:r>
              <a:rPr lang="en-US" dirty="0" smtClean="0"/>
              <a:t> another two standards exist:</a:t>
            </a:r>
          </a:p>
          <a:p>
            <a:r>
              <a:rPr lang="en-US" dirty="0" smtClean="0"/>
              <a:t>The first considers these causes:</a:t>
            </a:r>
          </a:p>
          <a:p>
            <a:pPr lvl="1"/>
            <a:r>
              <a:rPr lang="en-US" dirty="0" smtClean="0"/>
              <a:t>People</a:t>
            </a:r>
          </a:p>
          <a:p>
            <a:pPr lvl="1"/>
            <a:r>
              <a:rPr lang="en-US" dirty="0" smtClean="0"/>
              <a:t>Policies</a:t>
            </a:r>
          </a:p>
          <a:p>
            <a:pPr lvl="1"/>
            <a:r>
              <a:rPr lang="en-US" dirty="0" smtClean="0"/>
              <a:t>Procedures</a:t>
            </a:r>
          </a:p>
          <a:p>
            <a:pPr lvl="1"/>
            <a:r>
              <a:rPr lang="en-US" dirty="0" smtClean="0"/>
              <a:t>Location (this usually includes equipment and machinery)</a:t>
            </a:r>
          </a:p>
          <a:p>
            <a:pPr lvl="1"/>
            <a:r>
              <a:rPr lang="en-US" dirty="0" smtClean="0"/>
              <a:t>Measurement</a:t>
            </a:r>
            <a:endParaRPr lang="en-US" dirty="0"/>
          </a:p>
        </p:txBody>
      </p:sp>
      <p:sp>
        <p:nvSpPr>
          <p:cNvPr id="5" name="Rectangle 4"/>
          <p:cNvSpPr/>
          <p:nvPr/>
        </p:nvSpPr>
        <p:spPr>
          <a:xfrm>
            <a:off x="838200" y="4343400"/>
            <a:ext cx="4572000" cy="1754326"/>
          </a:xfrm>
          <a:prstGeom prst="rect">
            <a:avLst/>
          </a:prstGeom>
        </p:spPr>
        <p:txBody>
          <a:bodyPr>
            <a:spAutoFit/>
          </a:bodyPr>
          <a:lstStyle/>
          <a:p>
            <a:r>
              <a:rPr lang="en-US" dirty="0" smtClean="0"/>
              <a:t>The second one is called </a:t>
            </a:r>
            <a:r>
              <a:rPr lang="en-US" i="1" dirty="0" smtClean="0"/>
              <a:t>The 4 Ss</a:t>
            </a:r>
            <a:r>
              <a:rPr lang="en-US" baseline="30000" dirty="0" smtClean="0">
                <a:hlinkClick r:id="rId2"/>
              </a:rPr>
              <a:t>[7]</a:t>
            </a:r>
            <a:r>
              <a:rPr lang="en-US" dirty="0" smtClean="0"/>
              <a:t> and considers these causes </a:t>
            </a:r>
          </a:p>
          <a:p>
            <a:r>
              <a:rPr lang="en-US" dirty="0" smtClean="0"/>
              <a:t>Surroundings</a:t>
            </a:r>
          </a:p>
          <a:p>
            <a:r>
              <a:rPr lang="en-US" dirty="0" smtClean="0"/>
              <a:t>Suppliers</a:t>
            </a:r>
          </a:p>
          <a:p>
            <a:r>
              <a:rPr lang="en-US" dirty="0" smtClean="0"/>
              <a:t>Systems</a:t>
            </a:r>
          </a:p>
          <a:p>
            <a:r>
              <a:rPr lang="en-US" dirty="0" smtClean="0"/>
              <a:t>Skills</a:t>
            </a:r>
            <a:endParaRPr lang="en-US" dirty="0"/>
          </a:p>
        </p:txBody>
      </p:sp>
      <p:sp>
        <p:nvSpPr>
          <p:cNvPr id="6" name="Rectangle 5"/>
          <p:cNvSpPr/>
          <p:nvPr/>
        </p:nvSpPr>
        <p:spPr>
          <a:xfrm>
            <a:off x="4953000" y="1600200"/>
            <a:ext cx="3962400" cy="3416320"/>
          </a:xfrm>
          <a:prstGeom prst="rect">
            <a:avLst/>
          </a:prstGeom>
        </p:spPr>
        <p:txBody>
          <a:bodyPr wrap="square">
            <a:spAutoFit/>
          </a:bodyPr>
          <a:lstStyle/>
          <a:p>
            <a:r>
              <a:rPr lang="en-US" dirty="0" smtClean="0"/>
              <a:t>For </a:t>
            </a:r>
            <a:r>
              <a:rPr lang="en-US" b="1" dirty="0" smtClean="0"/>
              <a:t>Product Marketing</a:t>
            </a:r>
            <a:r>
              <a:rPr lang="en-US" dirty="0" smtClean="0"/>
              <a:t> this standard exists</a:t>
            </a:r>
          </a:p>
          <a:p>
            <a:r>
              <a:rPr lang="en-US" i="1" dirty="0" smtClean="0"/>
              <a:t>The 8 Ps</a:t>
            </a:r>
            <a:r>
              <a:rPr lang="en-US" baseline="30000" dirty="0" smtClean="0">
                <a:hlinkClick r:id="rId2"/>
              </a:rPr>
              <a:t>[7]</a:t>
            </a:r>
            <a:endParaRPr lang="en-US" dirty="0" smtClean="0"/>
          </a:p>
          <a:p>
            <a:pPr lvl="1"/>
            <a:r>
              <a:rPr lang="en-US" dirty="0" smtClean="0"/>
              <a:t>Product (would be service for </a:t>
            </a:r>
            <a:r>
              <a:rPr lang="en-US" b="1" dirty="0" smtClean="0"/>
              <a:t>Service Marketing</a:t>
            </a:r>
            <a:r>
              <a:rPr lang="en-US" dirty="0" smtClean="0"/>
              <a:t>)</a:t>
            </a:r>
          </a:p>
          <a:p>
            <a:pPr lvl="1"/>
            <a:r>
              <a:rPr lang="en-US" dirty="0" smtClean="0"/>
              <a:t>People</a:t>
            </a:r>
          </a:p>
          <a:p>
            <a:pPr lvl="1"/>
            <a:r>
              <a:rPr lang="en-US" dirty="0" smtClean="0"/>
              <a:t>Price</a:t>
            </a:r>
          </a:p>
          <a:p>
            <a:pPr lvl="1"/>
            <a:r>
              <a:rPr lang="en-US" dirty="0" smtClean="0"/>
              <a:t>Promotion</a:t>
            </a:r>
          </a:p>
          <a:p>
            <a:pPr lvl="1"/>
            <a:r>
              <a:rPr lang="en-US" dirty="0" smtClean="0"/>
              <a:t>Process</a:t>
            </a:r>
          </a:p>
          <a:p>
            <a:pPr lvl="1"/>
            <a:r>
              <a:rPr lang="en-US" dirty="0" smtClean="0"/>
              <a:t>Physical evidence</a:t>
            </a:r>
          </a:p>
          <a:p>
            <a:pPr lvl="1"/>
            <a:r>
              <a:rPr lang="en-US" dirty="0" smtClean="0"/>
              <a:t>Performance</a:t>
            </a:r>
          </a:p>
          <a:p>
            <a:pPr lvl="1"/>
            <a:r>
              <a:rPr lang="en-US" dirty="0" smtClean="0"/>
              <a:t>Place</a:t>
            </a:r>
            <a:endParaRPr lang="en-US"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2051" name="Picture 3"/>
          <p:cNvPicPr>
            <a:picLocks noChangeAspect="1" noChangeArrowheads="1"/>
          </p:cNvPicPr>
          <p:nvPr/>
        </p:nvPicPr>
        <p:blipFill>
          <a:blip r:embed="rId2"/>
          <a:srcRect/>
          <a:stretch>
            <a:fillRect/>
          </a:stretch>
        </p:blipFill>
        <p:spPr bwMode="auto">
          <a:xfrm>
            <a:off x="0" y="533400"/>
            <a:ext cx="9040586" cy="5867400"/>
          </a:xfrm>
          <a:prstGeom prst="rect">
            <a:avLst/>
          </a:prstGeom>
          <a:noFill/>
          <a:ln w="9525">
            <a:noFill/>
            <a:miter lim="800000"/>
            <a:headEnd/>
            <a:tailEnd/>
          </a:ln>
          <a:effectLst/>
        </p:spPr>
      </p:pic>
      <p:sp>
        <p:nvSpPr>
          <p:cNvPr id="6" name="Rectangle 5"/>
          <p:cNvSpPr/>
          <p:nvPr/>
        </p:nvSpPr>
        <p:spPr>
          <a:xfrm>
            <a:off x="152400" y="0"/>
            <a:ext cx="3797450" cy="584775"/>
          </a:xfrm>
          <a:prstGeom prst="rect">
            <a:avLst/>
          </a:prstGeom>
        </p:spPr>
        <p:txBody>
          <a:bodyPr wrap="none">
            <a:spAutoFit/>
          </a:bodyPr>
          <a:lstStyle/>
          <a:p>
            <a:r>
              <a:rPr lang="en-US" sz="3200" b="1" dirty="0" smtClean="0"/>
              <a:t>Swim Lane Flowchart</a:t>
            </a:r>
            <a:endParaRPr lang="en-US" sz="3200" dirty="0"/>
          </a:p>
        </p:txBody>
      </p:sp>
    </p:spTree>
    <p:extLst>
      <p:ext uri="{BB962C8B-B14F-4D97-AF65-F5344CB8AC3E}">
        <p14:creationId xmlns:p14="http://schemas.microsoft.com/office/powerpoint/2010/main" val="69438909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SWOT</a:t>
            </a:r>
            <a:endParaRPr lang="en-US" dirty="0"/>
          </a:p>
        </p:txBody>
      </p:sp>
      <p:sp>
        <p:nvSpPr>
          <p:cNvPr id="3" name="Content Placeholder 2"/>
          <p:cNvSpPr>
            <a:spLocks noGrp="1"/>
          </p:cNvSpPr>
          <p:nvPr>
            <p:ph idx="1"/>
          </p:nvPr>
        </p:nvSpPr>
        <p:spPr>
          <a:xfrm>
            <a:off x="457200" y="1295400"/>
            <a:ext cx="8229600" cy="5257800"/>
          </a:xfrm>
        </p:spPr>
        <p:txBody>
          <a:bodyPr>
            <a:normAutofit fontScale="77500" lnSpcReduction="20000"/>
          </a:bodyPr>
          <a:lstStyle/>
          <a:p>
            <a:pPr fontAlgn="base"/>
            <a:r>
              <a:rPr lang="en-US" dirty="0" smtClean="0"/>
              <a:t>SWOT analysis, also known as the SWOT matrix, is one of the techniques project managers and organizations have implemented in their risk management practices. SWOT stands for Strengths Weaknesses, Opportunities, and Threats.</a:t>
            </a:r>
          </a:p>
          <a:p>
            <a:pPr fontAlgn="base"/>
            <a:r>
              <a:rPr lang="en-US" dirty="0" smtClean="0"/>
              <a:t> </a:t>
            </a:r>
          </a:p>
          <a:p>
            <a:pPr fontAlgn="base"/>
            <a:r>
              <a:rPr lang="en-US" dirty="0" smtClean="0"/>
              <a:t>It is a framework through which organizations and teams assess the pending internal and external influences that can affect a project, product or institution positively or negatively.</a:t>
            </a:r>
          </a:p>
          <a:p>
            <a:pPr fontAlgn="base"/>
            <a:r>
              <a:rPr lang="en-US" dirty="0" smtClean="0"/>
              <a:t> </a:t>
            </a:r>
          </a:p>
          <a:p>
            <a:pPr fontAlgn="base"/>
            <a:r>
              <a:rPr lang="en-US" dirty="0" smtClean="0"/>
              <a:t>Let’s take a deeper look at how you can employ the SWOT technique to forecast, identify, resolve and guard against pending seen and unforeseen risks for a better project completion and success rate.</a:t>
            </a:r>
          </a:p>
          <a:p>
            <a:endParaRPr lang="en-US"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dirty="0"/>
          </a:p>
        </p:txBody>
      </p:sp>
      <p:pic>
        <p:nvPicPr>
          <p:cNvPr id="1026" name="Picture 2" descr="https://miro.medium.com/max/521/0*598ZpM6ZD0eph9fX"/>
          <p:cNvPicPr>
            <a:picLocks noChangeAspect="1" noChangeArrowheads="1"/>
          </p:cNvPicPr>
          <p:nvPr/>
        </p:nvPicPr>
        <p:blipFill>
          <a:blip r:embed="rId2"/>
          <a:srcRect/>
          <a:stretch>
            <a:fillRect/>
          </a:stretch>
        </p:blipFill>
        <p:spPr bwMode="auto">
          <a:xfrm>
            <a:off x="457199" y="1447800"/>
            <a:ext cx="8329949" cy="5105400"/>
          </a:xfrm>
          <a:prstGeom prst="rect">
            <a:avLst/>
          </a:prstGeom>
          <a:noFill/>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Class Discussion</a:t>
            </a:r>
            <a:endParaRPr lang="en-US" dirty="0"/>
          </a:p>
        </p:txBody>
      </p:sp>
      <p:sp>
        <p:nvSpPr>
          <p:cNvPr id="3" name="Content Placeholder 2"/>
          <p:cNvSpPr>
            <a:spLocks noGrp="1"/>
          </p:cNvSpPr>
          <p:nvPr>
            <p:ph idx="1"/>
          </p:nvPr>
        </p:nvSpPr>
        <p:spPr/>
        <p:txBody>
          <a:bodyPr/>
          <a:lstStyle/>
          <a:p>
            <a:r>
              <a:rPr lang="en-US" dirty="0" err="1" smtClean="0"/>
              <a:t>Strabucks</a:t>
            </a:r>
            <a:r>
              <a:rPr lang="en-US" dirty="0" smtClean="0"/>
              <a:t> SWOT Analysis</a:t>
            </a:r>
            <a:endParaRPr lang="en-US"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1524000"/>
            <a:ext cx="8229600" cy="1143000"/>
          </a:xfrm>
        </p:spPr>
        <p:txBody>
          <a:bodyPr>
            <a:normAutofit fontScale="90000"/>
          </a:bodyPr>
          <a:lstStyle/>
          <a:p>
            <a:r>
              <a:rPr lang="en-US" b="1" dirty="0" smtClean="0"/>
              <a:t>Strengths, Weaknesses, Opportunities and Threats (SWOT).</a:t>
            </a:r>
            <a:br>
              <a:rPr lang="en-US" b="1" dirty="0" smtClean="0"/>
            </a:br>
            <a:endParaRPr lang="en-US" dirty="0"/>
          </a:p>
        </p:txBody>
      </p:sp>
      <p:sp>
        <p:nvSpPr>
          <p:cNvPr id="3" name="Content Placeholder 2"/>
          <p:cNvSpPr>
            <a:spLocks noGrp="1"/>
          </p:cNvSpPr>
          <p:nvPr>
            <p:ph idx="1"/>
          </p:nvPr>
        </p:nvSpPr>
        <p:spPr>
          <a:xfrm>
            <a:off x="381000" y="2667001"/>
            <a:ext cx="8229600" cy="3657600"/>
          </a:xfrm>
        </p:spPr>
        <p:txBody>
          <a:bodyPr/>
          <a:lstStyle/>
          <a:p>
            <a:r>
              <a:rPr lang="en-US" dirty="0" smtClean="0"/>
              <a:t>Highly Brill Leisure Center has hired you to help them with their marketing decision making.</a:t>
            </a:r>
          </a:p>
          <a:p>
            <a:r>
              <a:rPr lang="en-US" dirty="0" smtClean="0"/>
              <a:t>Perform a SWOT analysis on Highly Brill Leisure Center, based upon the following issues:</a:t>
            </a:r>
            <a:endParaRPr lang="en-US" dirty="0"/>
          </a:p>
        </p:txBody>
      </p:sp>
      <p:sp>
        <p:nvSpPr>
          <p:cNvPr id="4" name="TextBox 3"/>
          <p:cNvSpPr txBox="1"/>
          <p:nvPr/>
        </p:nvSpPr>
        <p:spPr>
          <a:xfrm>
            <a:off x="2667000" y="228600"/>
            <a:ext cx="3580211" cy="830997"/>
          </a:xfrm>
          <a:prstGeom prst="rect">
            <a:avLst/>
          </a:prstGeom>
          <a:noFill/>
        </p:spPr>
        <p:txBody>
          <a:bodyPr wrap="none" rtlCol="0">
            <a:spAutoFit/>
          </a:bodyPr>
          <a:lstStyle/>
          <a:p>
            <a:r>
              <a:rPr lang="en-US" sz="4800" dirty="0" smtClean="0">
                <a:solidFill>
                  <a:srgbClr val="C00000"/>
                </a:solidFill>
              </a:rPr>
              <a:t>Class Exercise</a:t>
            </a:r>
            <a:endParaRPr lang="en-US" sz="4800" dirty="0">
              <a:solidFill>
                <a:srgbClr val="C00000"/>
              </a:solidFill>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152400"/>
            <a:ext cx="8534400" cy="6553200"/>
          </a:xfrm>
        </p:spPr>
        <p:txBody>
          <a:bodyPr>
            <a:normAutofit fontScale="55000" lnSpcReduction="20000"/>
          </a:bodyPr>
          <a:lstStyle/>
          <a:p>
            <a:pPr marL="514350" indent="-514350" algn="just" fontAlgn="base">
              <a:buFont typeface="+mj-lt"/>
              <a:buAutoNum type="arabicPeriod"/>
            </a:pPr>
            <a:r>
              <a:rPr lang="en-US" b="1" dirty="0" smtClean="0"/>
              <a:t>The Center is located within a two-minute walk of the main bus station, and is a fifteen-minute ride away from the local railway station.</a:t>
            </a:r>
          </a:p>
          <a:p>
            <a:pPr marL="514350" indent="-514350" algn="just" fontAlgn="base">
              <a:buFont typeface="+mj-lt"/>
              <a:buAutoNum type="arabicPeriod"/>
            </a:pPr>
            <a:r>
              <a:rPr lang="en-US" b="1" dirty="0" smtClean="0"/>
              <a:t>There is a competition standard swimming pool; although it has no wave machines or whirlpool equipment as do competing local facilities.</a:t>
            </a:r>
          </a:p>
          <a:p>
            <a:pPr marL="514350" indent="-514350" algn="just" fontAlgn="base">
              <a:buFont typeface="+mj-lt"/>
              <a:buAutoNum type="arabicPeriod"/>
            </a:pPr>
            <a:r>
              <a:rPr lang="en-US" b="1" dirty="0" smtClean="0"/>
              <a:t>It is located next to one of the largest shopping centers in Britain.</a:t>
            </a:r>
          </a:p>
          <a:p>
            <a:pPr marL="514350" indent="-514350" algn="just" fontAlgn="base">
              <a:buFont typeface="+mj-lt"/>
              <a:buAutoNum type="arabicPeriod"/>
            </a:pPr>
            <a:r>
              <a:rPr lang="en-US" b="1" dirty="0" smtClean="0"/>
              <a:t>It is one of the oldest centers in the area and needs some cosmetic attention.</a:t>
            </a:r>
          </a:p>
          <a:p>
            <a:pPr marL="514350" indent="-514350" algn="just" fontAlgn="base">
              <a:buFont typeface="+mj-lt"/>
              <a:buAutoNum type="arabicPeriod"/>
            </a:pPr>
            <a:r>
              <a:rPr lang="en-US" b="1" dirty="0" smtClean="0"/>
              <a:t>Due to an increase in disposable income over the last six years, local residents have more money to spend on leisure activities.</a:t>
            </a:r>
          </a:p>
          <a:p>
            <a:pPr marL="514350" indent="-514350" algn="just" fontAlgn="base">
              <a:buFont typeface="+mj-lt"/>
              <a:buAutoNum type="arabicPeriod"/>
            </a:pPr>
            <a:r>
              <a:rPr lang="en-US" b="1" dirty="0" smtClean="0"/>
              <a:t>There has been a substantial decrease in the birth rate over the last ten years.</a:t>
            </a:r>
          </a:p>
          <a:p>
            <a:pPr marL="514350" indent="-514350" algn="just" fontAlgn="base">
              <a:buFont typeface="+mj-lt"/>
              <a:buAutoNum type="arabicPeriod"/>
            </a:pPr>
            <a:r>
              <a:rPr lang="en-US" b="1" dirty="0" smtClean="0"/>
              <a:t>In general people are living longer and there are more local residents aged over fifty-five now than ever before.</a:t>
            </a:r>
          </a:p>
          <a:p>
            <a:pPr marL="514350" indent="-514350" algn="just" fontAlgn="base">
              <a:buFont typeface="+mj-lt"/>
              <a:buAutoNum type="arabicPeriod"/>
            </a:pPr>
            <a:r>
              <a:rPr lang="en-US" b="1" dirty="0" smtClean="0"/>
              <a:t>After a heated argument with the manager of a competing leisure center, the leader of a respected local scuba club is looking for a new venue.</a:t>
            </a:r>
          </a:p>
          <a:p>
            <a:pPr marL="514350" indent="-514350" algn="just" fontAlgn="base">
              <a:buFont typeface="+mj-lt"/>
              <a:buAutoNum type="arabicPeriod"/>
            </a:pPr>
            <a:r>
              <a:rPr lang="en-US" b="1" dirty="0" smtClean="0"/>
              <a:t>The local authority is considering privatizing all local leisure centers by the year 2000.</a:t>
            </a:r>
          </a:p>
          <a:p>
            <a:pPr marL="514350" indent="-514350" algn="just" fontAlgn="base">
              <a:buFont typeface="+mj-lt"/>
              <a:buAutoNum type="arabicPeriod"/>
            </a:pPr>
            <a:r>
              <a:rPr lang="en-US" b="1" dirty="0" smtClean="0"/>
              <a:t>Press releases have just been issued to confirm that Highly Brill Leisure Center is the first center in the area to be awarded quality assurance standard BS EN ISO 9002.</a:t>
            </a:r>
          </a:p>
          <a:p>
            <a:pPr marL="514350" indent="-514350" algn="just" fontAlgn="base">
              <a:buFont typeface="+mj-lt"/>
              <a:buAutoNum type="arabicPeriod"/>
            </a:pPr>
            <a:r>
              <a:rPr lang="en-US" b="1" dirty="0" smtClean="0"/>
              <a:t>A private joke between staff states that if you want a day-off from work that you should order a curry from the Center’s canteen, which has never made a profit.</a:t>
            </a:r>
          </a:p>
          <a:p>
            <a:pPr marL="514350" indent="-514350" algn="just" fontAlgn="base">
              <a:buFont typeface="+mj-lt"/>
              <a:buAutoNum type="arabicPeriod"/>
            </a:pPr>
            <a:r>
              <a:rPr lang="en-US" b="1" dirty="0" smtClean="0"/>
              <a:t>The Center has been offered the latest sporting craze.</a:t>
            </a:r>
          </a:p>
          <a:p>
            <a:pPr marL="514350" indent="-514350" algn="just" fontAlgn="base">
              <a:buFont typeface="+mj-lt"/>
              <a:buAutoNum type="arabicPeriod"/>
            </a:pPr>
            <a:r>
              <a:rPr lang="en-US" b="1" dirty="0" smtClean="0"/>
              <a:t>Highly Brill Leisure Center has received a grant to fit special ramps and changing rooms to accommodate the local disabled.</a:t>
            </a:r>
          </a:p>
          <a:p>
            <a:pPr marL="514350" indent="-514350" algn="just" fontAlgn="base">
              <a:buFont typeface="+mj-lt"/>
              <a:buAutoNum type="arabicPeriod"/>
            </a:pPr>
            <a:r>
              <a:rPr lang="en-US" b="1" dirty="0" smtClean="0"/>
              <a:t>It is widely acknowledged that Highly Brill has the best-trained and most respected staff of all of the </a:t>
            </a:r>
            <a:r>
              <a:rPr lang="en-US" b="1" dirty="0" err="1" smtClean="0"/>
              <a:t>centres</a:t>
            </a:r>
            <a:r>
              <a:rPr lang="en-US" b="1" dirty="0" smtClean="0"/>
              <a:t> in the locality.</a:t>
            </a:r>
          </a:p>
          <a:p>
            <a:pPr algn="just"/>
            <a:endParaRPr lang="en-US" b="1"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2050" name="Picture 2"/>
          <p:cNvPicPr>
            <a:picLocks noChangeAspect="1" noChangeArrowheads="1"/>
          </p:cNvPicPr>
          <p:nvPr/>
        </p:nvPicPr>
        <p:blipFill>
          <a:blip r:embed="rId2"/>
          <a:srcRect/>
          <a:stretch>
            <a:fillRect/>
          </a:stretch>
        </p:blipFill>
        <p:spPr bwMode="auto">
          <a:xfrm>
            <a:off x="533400" y="685800"/>
            <a:ext cx="8229600" cy="5803337"/>
          </a:xfrm>
          <a:prstGeom prst="rect">
            <a:avLst/>
          </a:prstGeom>
          <a:noFill/>
          <a:ln w="9525">
            <a:noFill/>
            <a:miter lim="800000"/>
            <a:headEnd/>
            <a:tailEnd/>
          </a:ln>
          <a:effectLst/>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lnSpcReduction="10000"/>
          </a:bodyPr>
          <a:lstStyle/>
          <a:p>
            <a:pPr marL="342900" lvl="3" indent="-342900">
              <a:buFont typeface="Arial" pitchFamily="34" charset="0"/>
              <a:buChar char="•"/>
            </a:pPr>
            <a:endParaRPr lang="en-US" sz="3600" b="1" dirty="0" smtClean="0"/>
          </a:p>
          <a:p>
            <a:pPr marL="342900" lvl="3" indent="-342900">
              <a:buFont typeface="Arial" pitchFamily="34" charset="0"/>
              <a:buChar char="•"/>
            </a:pPr>
            <a:r>
              <a:rPr lang="en-US" sz="3600" b="1" dirty="0" smtClean="0"/>
              <a:t>Expert Judgment</a:t>
            </a:r>
            <a:endParaRPr lang="en-US" dirty="0" smtClean="0"/>
          </a:p>
          <a:p>
            <a:r>
              <a:rPr lang="en-US" dirty="0" smtClean="0"/>
              <a:t>Risks </a:t>
            </a:r>
            <a:r>
              <a:rPr lang="en-US" dirty="0"/>
              <a:t>can be identified directly by experts with relevant experience of similar projects or business areas. Such experts should be identified by the project manager and invited to consider all aspects of the project and suggest possible risks based on their previous experience and areas of expertise.</a:t>
            </a:r>
          </a:p>
          <a:p>
            <a:endParaRPr lang="en-US"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lvl="2"/>
            <a:r>
              <a:rPr lang="en-US" b="1" dirty="0"/>
              <a:t>Identify Risks: Outputs</a:t>
            </a:r>
          </a:p>
          <a:p>
            <a:r>
              <a:rPr lang="en-US" dirty="0"/>
              <a:t>This process will create the following output:</a:t>
            </a:r>
          </a:p>
          <a:p>
            <a:endParaRPr lang="en-US" dirty="0"/>
          </a:p>
        </p:txBody>
      </p:sp>
      <p:pic>
        <p:nvPicPr>
          <p:cNvPr id="6146" name="Picture 2"/>
          <p:cNvPicPr>
            <a:picLocks noChangeAspect="1" noChangeArrowheads="1"/>
          </p:cNvPicPr>
          <p:nvPr/>
        </p:nvPicPr>
        <p:blipFill>
          <a:blip r:embed="rId2"/>
          <a:srcRect/>
          <a:stretch>
            <a:fillRect/>
          </a:stretch>
        </p:blipFill>
        <p:spPr bwMode="auto">
          <a:xfrm>
            <a:off x="990600" y="2590800"/>
            <a:ext cx="6845891" cy="3315559"/>
          </a:xfrm>
          <a:prstGeom prst="rect">
            <a:avLst/>
          </a:prstGeom>
          <a:noFill/>
          <a:ln w="9525">
            <a:noFill/>
            <a:miter lim="800000"/>
            <a:headEnd/>
            <a:tailEnd/>
          </a:ln>
          <a:effectLst/>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3" algn="ctr" rtl="0">
              <a:spcBef>
                <a:spcPct val="0"/>
              </a:spcBef>
            </a:pPr>
            <a:r>
              <a:rPr lang="en-US" sz="3200" b="1" dirty="0" smtClean="0"/>
              <a:t>Risk Register</a:t>
            </a:r>
            <a:r>
              <a:rPr lang="en-US" b="1" dirty="0" smtClean="0"/>
              <a:t/>
            </a:r>
            <a:br>
              <a:rPr lang="en-US" b="1" dirty="0" smtClean="0"/>
            </a:br>
            <a:endParaRPr lang="en-US" dirty="0"/>
          </a:p>
        </p:txBody>
      </p:sp>
      <p:sp>
        <p:nvSpPr>
          <p:cNvPr id="3" name="Content Placeholder 2"/>
          <p:cNvSpPr>
            <a:spLocks noGrp="1"/>
          </p:cNvSpPr>
          <p:nvPr>
            <p:ph idx="1"/>
          </p:nvPr>
        </p:nvSpPr>
        <p:spPr/>
        <p:txBody>
          <a:bodyPr>
            <a:normAutofit fontScale="85000" lnSpcReduction="20000"/>
          </a:bodyPr>
          <a:lstStyle/>
          <a:p>
            <a:r>
              <a:rPr lang="en-US" dirty="0" smtClean="0"/>
              <a:t>This </a:t>
            </a:r>
            <a:r>
              <a:rPr lang="en-US" dirty="0"/>
              <a:t>is the only output from this process and consists of the list of all the identified risks, their root causes, categories and responses. The information contained within the risk register may be used to update the risk breakdown structure.</a:t>
            </a:r>
          </a:p>
          <a:p>
            <a:r>
              <a:rPr lang="en-US" dirty="0"/>
              <a:t>Because of risk is an ongoing activity, the risk register will be updated continuously throughout the life of the project and it is a key tool to aid in the management of risks within a project. The risk register ultimately contains the outcomes of the other risk man- </a:t>
            </a:r>
            <a:r>
              <a:rPr lang="en-US" dirty="0" err="1"/>
              <a:t>agement</a:t>
            </a:r>
            <a:r>
              <a:rPr lang="en-US" dirty="0"/>
              <a:t> processes as they are conducted, resulting in an increase in the level and type of information contained in the risk register over time.</a:t>
            </a:r>
          </a:p>
          <a:p>
            <a:endParaRPr lang="en-US"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Risk Register</a:t>
            </a:r>
            <a:endParaRPr lang="en-US" dirty="0"/>
          </a:p>
        </p:txBody>
      </p:sp>
      <p:sp>
        <p:nvSpPr>
          <p:cNvPr id="3" name="Subtitle 2"/>
          <p:cNvSpPr>
            <a:spLocks noGrp="1"/>
          </p:cNvSpPr>
          <p:nvPr>
            <p:ph type="subTitle" idx="1"/>
          </p:nvPr>
        </p:nvSpPr>
        <p:spPr/>
        <p:txBody>
          <a:bodyPr/>
          <a:lstStyle/>
          <a:p>
            <a:r>
              <a:rPr lang="en-US" dirty="0" err="1" smtClean="0"/>
              <a:t>Dr.M.Mutasim</a:t>
            </a:r>
            <a:r>
              <a:rPr lang="en-US" dirty="0" smtClean="0"/>
              <a:t> </a:t>
            </a:r>
            <a:r>
              <a:rPr lang="en-US" dirty="0" err="1" smtClean="0"/>
              <a:t>Billah</a:t>
            </a:r>
            <a:endParaRPr lang="en-US" dirty="0"/>
          </a:p>
        </p:txBody>
      </p:sp>
    </p:spTree>
    <p:extLst>
      <p:ext uri="{BB962C8B-B14F-4D97-AF65-F5344CB8AC3E}">
        <p14:creationId xmlns:p14="http://schemas.microsoft.com/office/powerpoint/2010/main" val="239612467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GENERAL PROJECT RISK CHARACTERIZATION</a:t>
            </a:r>
            <a:r>
              <a:rPr lang="en-US" dirty="0" smtClean="0"/>
              <a:t/>
            </a:r>
            <a:br>
              <a:rPr lang="en-US" dirty="0" smtClean="0"/>
            </a:br>
            <a:endParaRPr lang="en-US" dirty="0"/>
          </a:p>
        </p:txBody>
      </p:sp>
      <p:sp>
        <p:nvSpPr>
          <p:cNvPr id="3" name="Content Placeholder 2"/>
          <p:cNvSpPr>
            <a:spLocks noGrp="1"/>
          </p:cNvSpPr>
          <p:nvPr>
            <p:ph idx="1"/>
          </p:nvPr>
        </p:nvSpPr>
        <p:spPr>
          <a:xfrm>
            <a:off x="304800" y="1295400"/>
            <a:ext cx="8610600" cy="5334000"/>
          </a:xfrm>
        </p:spPr>
        <p:txBody>
          <a:bodyPr>
            <a:normAutofit fontScale="85000" lnSpcReduction="20000"/>
          </a:bodyPr>
          <a:lstStyle/>
          <a:p>
            <a:pPr>
              <a:buNone/>
            </a:pPr>
            <a:r>
              <a:rPr lang="en-US" b="1" i="1" dirty="0" smtClean="0"/>
              <a:t>1.Performance, scope, quality, or technological risks.</a:t>
            </a:r>
            <a:r>
              <a:rPr lang="en-US" dirty="0" smtClean="0"/>
              <a:t> </a:t>
            </a:r>
          </a:p>
          <a:p>
            <a:r>
              <a:rPr lang="en-US" dirty="0" smtClean="0"/>
              <a:t>These include the risks that the project when complete fails to perform as intended or fails to meet the mission or business requirements that generated the justification for the project. Performance risks can also lead to schedule and cost risks if technological problems increase the duration and cost of the project.</a:t>
            </a:r>
          </a:p>
          <a:p>
            <a:pPr>
              <a:buNone/>
            </a:pPr>
            <a:r>
              <a:rPr lang="en-US" b="1" i="1" dirty="0" smtClean="0"/>
              <a:t>2.Environment, safety, and health risks.</a:t>
            </a:r>
            <a:r>
              <a:rPr lang="en-US" dirty="0" smtClean="0"/>
              <a:t> </a:t>
            </a:r>
          </a:p>
          <a:p>
            <a:r>
              <a:rPr lang="en-US" dirty="0" smtClean="0"/>
              <a:t>These include the risks that the project may have a detrimental effect on the environment or that hidden hazards may be uncovered during project execution. Serious incidents can have a severe impact on schedule and costs. </a:t>
            </a:r>
            <a:r>
              <a:rPr lang="en-US" dirty="0" smtClean="0">
                <a:solidFill>
                  <a:srgbClr val="FF0000"/>
                </a:solidFill>
              </a:rPr>
              <a:t>(radioactivity, deforestation, extreme weather condition)</a:t>
            </a:r>
          </a:p>
          <a:p>
            <a:endParaRPr lang="en-US"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09600"/>
            <a:ext cx="8229600" cy="5638800"/>
          </a:xfrm>
        </p:spPr>
        <p:txBody>
          <a:bodyPr>
            <a:normAutofit fontScale="85000" lnSpcReduction="10000"/>
          </a:bodyPr>
          <a:lstStyle/>
          <a:p>
            <a:pPr>
              <a:buNone/>
            </a:pPr>
            <a:r>
              <a:rPr lang="en-US" b="1" i="1" dirty="0" smtClean="0"/>
              <a:t>3.Schedule risk</a:t>
            </a:r>
            <a:r>
              <a:rPr lang="en-US" i="1" dirty="0" smtClean="0"/>
              <a:t>.</a:t>
            </a:r>
            <a:r>
              <a:rPr lang="en-US" dirty="0" smtClean="0"/>
              <a:t> This is the risk that the project takes longer than scheduled. </a:t>
            </a:r>
            <a:r>
              <a:rPr lang="en-US" dirty="0" smtClean="0">
                <a:solidFill>
                  <a:srgbClr val="FF0000"/>
                </a:solidFill>
              </a:rPr>
              <a:t>Schedule risk may also lead to cost risks</a:t>
            </a:r>
            <a:r>
              <a:rPr lang="en-US" dirty="0" smtClean="0"/>
              <a:t>, </a:t>
            </a:r>
            <a:r>
              <a:rPr lang="en-US" dirty="0" smtClean="0">
                <a:solidFill>
                  <a:srgbClr val="0070C0"/>
                </a:solidFill>
              </a:rPr>
              <a:t>as longer projects always cost more</a:t>
            </a:r>
            <a:r>
              <a:rPr lang="en-US" dirty="0" smtClean="0"/>
              <a:t>, and </a:t>
            </a:r>
            <a:r>
              <a:rPr lang="en-US" dirty="0" smtClean="0">
                <a:solidFill>
                  <a:srgbClr val="00B050"/>
                </a:solidFill>
              </a:rPr>
              <a:t>to performance risk</a:t>
            </a:r>
            <a:r>
              <a:rPr lang="en-US" dirty="0" smtClean="0"/>
              <a:t>, if the project is completed too late to perform its intended mission fully. Even if cost increases are not severe, delays in project completion reduce the value of the project to the owner.</a:t>
            </a:r>
          </a:p>
          <a:p>
            <a:pPr>
              <a:buNone/>
            </a:pPr>
            <a:r>
              <a:rPr lang="en-US" b="1" i="1" dirty="0" smtClean="0"/>
              <a:t>4.Cost risk.</a:t>
            </a:r>
            <a:r>
              <a:rPr lang="en-US" dirty="0" smtClean="0"/>
              <a:t> This is the risk that the project costs more than budgeted. </a:t>
            </a:r>
            <a:r>
              <a:rPr lang="en-US" dirty="0" smtClean="0">
                <a:solidFill>
                  <a:srgbClr val="C00000"/>
                </a:solidFill>
              </a:rPr>
              <a:t>Cost risk may lead to performance risk if cost overruns lead to reductions in scope or quality to try to stay within the baseline budget</a:t>
            </a:r>
            <a:r>
              <a:rPr lang="en-US" dirty="0" smtClean="0"/>
              <a:t>. Cost risk may also lead to schedule risk if the schedule is extended because not enough funds are available to accomplish the project on time.</a:t>
            </a:r>
          </a:p>
          <a:p>
            <a:endParaRPr lang="en-US"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10000"/>
          </a:bodyPr>
          <a:lstStyle/>
          <a:p>
            <a:pPr>
              <a:buNone/>
            </a:pPr>
            <a:r>
              <a:rPr lang="en-US" b="1" i="1" dirty="0" smtClean="0"/>
              <a:t>5.Loss of support</a:t>
            </a:r>
            <a:r>
              <a:rPr lang="en-US" i="1" dirty="0" smtClean="0"/>
              <a:t>.</a:t>
            </a:r>
            <a:r>
              <a:rPr lang="en-US" dirty="0" smtClean="0"/>
              <a:t> Loss of public or stakeholder support for the project’s goals and objectives may ultimately lead to a reduction of scope and to funding cuts, and thus contribute to poor project performance. </a:t>
            </a:r>
            <a:r>
              <a:rPr lang="en-US" dirty="0" smtClean="0">
                <a:solidFill>
                  <a:srgbClr val="FF0000"/>
                </a:solidFill>
              </a:rPr>
              <a:t>(</a:t>
            </a:r>
            <a:r>
              <a:rPr lang="en-US" dirty="0" err="1" smtClean="0">
                <a:solidFill>
                  <a:srgbClr val="FF0000"/>
                </a:solidFill>
              </a:rPr>
              <a:t>eg</a:t>
            </a:r>
            <a:r>
              <a:rPr lang="en-US" dirty="0" smtClean="0">
                <a:solidFill>
                  <a:srgbClr val="FF0000"/>
                </a:solidFill>
              </a:rPr>
              <a:t> because of increase in dollar prices investor becomes reluctant in investing imported cars)</a:t>
            </a:r>
          </a:p>
          <a:p>
            <a:endParaRPr lang="en-US" sz="1800" i="1" dirty="0" smtClean="0"/>
          </a:p>
          <a:p>
            <a:endParaRPr lang="en-US" sz="1800" i="1" dirty="0" smtClean="0"/>
          </a:p>
          <a:p>
            <a:endParaRPr lang="en-US" sz="1800" i="1" dirty="0" smtClean="0"/>
          </a:p>
          <a:p>
            <a:r>
              <a:rPr lang="en-US" sz="1800" i="1" dirty="0" smtClean="0">
                <a:solidFill>
                  <a:srgbClr val="C00000"/>
                </a:solidFill>
              </a:rPr>
              <a:t>Source: The Owner’s Role in Project Risk Management, “THE NATIONAL ACADEMIES PRESS Washington” , D.C.</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411162"/>
          </a:xfrm>
        </p:spPr>
        <p:txBody>
          <a:bodyPr>
            <a:normAutofit fontScale="90000"/>
          </a:bodyPr>
          <a:lstStyle/>
          <a:p>
            <a:r>
              <a:rPr lang="en-US" dirty="0" smtClean="0"/>
              <a:t>GRM Risk Categories</a:t>
            </a:r>
            <a:endParaRPr lang="en-US" dirty="0"/>
          </a:p>
        </p:txBody>
      </p:sp>
      <p:sp>
        <p:nvSpPr>
          <p:cNvPr id="3" name="Content Placeholder 2"/>
          <p:cNvSpPr>
            <a:spLocks noGrp="1"/>
          </p:cNvSpPr>
          <p:nvPr>
            <p:ph idx="1"/>
          </p:nvPr>
        </p:nvSpPr>
        <p:spPr>
          <a:xfrm>
            <a:off x="152400" y="838200"/>
            <a:ext cx="8991600" cy="6019800"/>
          </a:xfrm>
        </p:spPr>
        <p:txBody>
          <a:bodyPr>
            <a:normAutofit fontScale="70000" lnSpcReduction="20000"/>
          </a:bodyPr>
          <a:lstStyle/>
          <a:p>
            <a:r>
              <a:rPr lang="en-US" dirty="0" smtClean="0"/>
              <a:t>GRM Risk Categories From an extensive review of the literature, including the papers listed in Table 1, nine categories were identified. Respective risks determined for each category. The categories and associated risks are as follows. </a:t>
            </a:r>
          </a:p>
          <a:p>
            <a:pPr algn="just"/>
            <a:r>
              <a:rPr lang="en-US" b="1" dirty="0" smtClean="0"/>
              <a:t>(1) Technological and Operational Risk </a:t>
            </a:r>
            <a:r>
              <a:rPr lang="en-US" dirty="0" smtClean="0"/>
              <a:t>is sub-divided into operational, engineering, and performance risk. Operational risk includes </a:t>
            </a:r>
            <a:r>
              <a:rPr lang="en-US" dirty="0" smtClean="0">
                <a:solidFill>
                  <a:srgbClr val="FF0000"/>
                </a:solidFill>
              </a:rPr>
              <a:t>lack of communication and coordination in the project, labor productivity and improper project planning. </a:t>
            </a:r>
            <a:r>
              <a:rPr lang="en-US" dirty="0" smtClean="0"/>
              <a:t>Engineering risk includes </a:t>
            </a:r>
            <a:r>
              <a:rPr lang="en-US" dirty="0" smtClean="0">
                <a:solidFill>
                  <a:srgbClr val="FF0000"/>
                </a:solidFill>
              </a:rPr>
              <a:t>inadequate engineering designs, incomplete project scope, inadequate specifications, and differences between actual values and engineering assumptions. Performance risk includes technology limits and quality. </a:t>
            </a:r>
          </a:p>
          <a:p>
            <a:endParaRPr lang="en-US" dirty="0" smtClean="0"/>
          </a:p>
          <a:p>
            <a:pPr algn="just"/>
            <a:r>
              <a:rPr lang="en-US" b="1" dirty="0" smtClean="0"/>
              <a:t>(2) Financial and Economic Risk </a:t>
            </a:r>
            <a:r>
              <a:rPr lang="en-US" dirty="0" smtClean="0"/>
              <a:t>is sub-divided into </a:t>
            </a:r>
            <a:r>
              <a:rPr lang="en-US" dirty="0" smtClean="0">
                <a:solidFill>
                  <a:srgbClr val="FF0000"/>
                </a:solidFill>
              </a:rPr>
              <a:t>credit default, budget constraint/ scope creep, foreign exchange, inflation and interest rate, insurance, and funding risk</a:t>
            </a:r>
            <a:r>
              <a:rPr lang="en-US" dirty="0" smtClean="0"/>
              <a:t>. It includes </a:t>
            </a:r>
            <a:r>
              <a:rPr lang="en-US" dirty="0" smtClean="0">
                <a:solidFill>
                  <a:srgbClr val="FF0000"/>
                </a:solidFill>
              </a:rPr>
              <a:t>credit fraud, changes in inflation or interest rates, and changes in the price of raw materials</a:t>
            </a:r>
            <a:r>
              <a:rPr lang="en-US" dirty="0" smtClean="0"/>
              <a:t>. For international projects, changes in exchange rates can cause budget pressures leading to cost overruns and/or decreases in the project performance or scope.</a:t>
            </a:r>
            <a:endParaRPr lang="en-US"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5719"/>
          </a:xfrm>
        </p:spPr>
        <p:txBody>
          <a:bodyPr>
            <a:normAutofit fontScale="90000"/>
          </a:bodyPr>
          <a:lstStyle/>
          <a:p>
            <a:endParaRPr lang="en-US" dirty="0"/>
          </a:p>
        </p:txBody>
      </p:sp>
      <p:sp>
        <p:nvSpPr>
          <p:cNvPr id="3" name="Content Placeholder 2"/>
          <p:cNvSpPr>
            <a:spLocks noGrp="1"/>
          </p:cNvSpPr>
          <p:nvPr>
            <p:ph idx="1"/>
          </p:nvPr>
        </p:nvSpPr>
        <p:spPr>
          <a:xfrm>
            <a:off x="304800" y="609600"/>
            <a:ext cx="8610600" cy="6019800"/>
          </a:xfrm>
        </p:spPr>
        <p:txBody>
          <a:bodyPr>
            <a:normAutofit fontScale="85000" lnSpcReduction="10000"/>
          </a:bodyPr>
          <a:lstStyle/>
          <a:p>
            <a:pPr algn="just"/>
            <a:r>
              <a:rPr lang="en-US" dirty="0" smtClean="0"/>
              <a:t>(3) </a:t>
            </a:r>
            <a:r>
              <a:rPr lang="en-US" b="1" dirty="0" smtClean="0"/>
              <a:t>Procurement and Contractual Risk </a:t>
            </a:r>
            <a:r>
              <a:rPr lang="en-US" dirty="0" smtClean="0"/>
              <a:t>is sub-divided into </a:t>
            </a:r>
            <a:r>
              <a:rPr lang="en-US" dirty="0" smtClean="0">
                <a:solidFill>
                  <a:srgbClr val="C00000"/>
                </a:solidFill>
              </a:rPr>
              <a:t>raw material procurement and subcontractor procurement risk.</a:t>
            </a:r>
            <a:r>
              <a:rPr lang="en-US" dirty="0" smtClean="0"/>
              <a:t> Raw material procurement risk is the delay due to market competition. Contractual risk involves issues or concerns associated with procurement through contractor. </a:t>
            </a:r>
          </a:p>
          <a:p>
            <a:pPr algn="just"/>
            <a:r>
              <a:rPr lang="en-US" b="1" dirty="0" smtClean="0"/>
              <a:t>(4) Political Risk </a:t>
            </a:r>
            <a:r>
              <a:rPr lang="en-US" dirty="0" smtClean="0"/>
              <a:t>is sub-divided into political instability and customer requirement risk. Political risk can be due to revisions in policies and rules, slow approvals, instable governments, or other bureaucratic hurdles. The political environment can impact projects during the implementation phase. Customer requirement risks can be caused by changes to customer technical or aesthetic requirements, which often lead to scope creep.</a:t>
            </a:r>
            <a:endParaRPr lang="en-US"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33400"/>
            <a:ext cx="8229600" cy="6096000"/>
          </a:xfrm>
        </p:spPr>
        <p:txBody>
          <a:bodyPr>
            <a:normAutofit fontScale="77500" lnSpcReduction="20000"/>
          </a:bodyPr>
          <a:lstStyle/>
          <a:p>
            <a:pPr algn="just"/>
            <a:r>
              <a:rPr lang="en-US" b="1" dirty="0" smtClean="0"/>
              <a:t>(5) Environmental Risk </a:t>
            </a:r>
            <a:r>
              <a:rPr lang="en-US" dirty="0" smtClean="0"/>
              <a:t>is sub-divided into </a:t>
            </a:r>
            <a:r>
              <a:rPr lang="en-US" dirty="0" smtClean="0">
                <a:solidFill>
                  <a:srgbClr val="C00000"/>
                </a:solidFill>
              </a:rPr>
              <a:t>weather and pollution risk</a:t>
            </a:r>
            <a:r>
              <a:rPr lang="en-US" dirty="0" smtClean="0"/>
              <a:t>. Risks to the project due to weather conditions such as rain, snow, or reduced sunlight are considered weather risks. Pollution risk is considered when the project affects the environment by generating pollution and vice versa. Generating pollution can result in delays and fines. Working in a polluted environment may affect the project’s performance or cause additional effort to successful complete the project. </a:t>
            </a:r>
          </a:p>
          <a:p>
            <a:endParaRPr lang="en-US" dirty="0" smtClean="0"/>
          </a:p>
          <a:p>
            <a:pPr algn="just"/>
            <a:r>
              <a:rPr lang="en-US" b="1" dirty="0" smtClean="0"/>
              <a:t>(6) Social Risk </a:t>
            </a:r>
            <a:r>
              <a:rPr lang="en-US" dirty="0" smtClean="0"/>
              <a:t>is sub-divided into cultural relationship and society impact risk. Society impact risk occurs when a project has an effect on society. An example of social risk is </a:t>
            </a:r>
            <a:r>
              <a:rPr lang="en-US" dirty="0" smtClean="0">
                <a:solidFill>
                  <a:srgbClr val="C00000"/>
                </a:solidFill>
              </a:rPr>
              <a:t>the construction of a dam that could disturb the ecological balance of the region</a:t>
            </a:r>
            <a:r>
              <a:rPr lang="en-US" dirty="0" smtClean="0"/>
              <a:t>. Cultural relationship risk is often associated with global projects. In these situations misunderstanding the needs and sensitivities of the customer can impact the scope and operation of the projects.</a:t>
            </a:r>
            <a:endParaRPr lang="en-US"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85800"/>
            <a:ext cx="8229600" cy="5440363"/>
          </a:xfrm>
        </p:spPr>
        <p:txBody>
          <a:bodyPr>
            <a:normAutofit fontScale="77500" lnSpcReduction="20000"/>
          </a:bodyPr>
          <a:lstStyle/>
          <a:p>
            <a:pPr algn="just"/>
            <a:r>
              <a:rPr lang="en-US" b="1" dirty="0" smtClean="0"/>
              <a:t>(7) Regulatory and Legal Risk is risk </a:t>
            </a:r>
            <a:r>
              <a:rPr lang="en-US" dirty="0" smtClean="0"/>
              <a:t>sub-divided into </a:t>
            </a:r>
            <a:r>
              <a:rPr lang="en-US" dirty="0" smtClean="0">
                <a:solidFill>
                  <a:srgbClr val="C00000"/>
                </a:solidFill>
              </a:rPr>
              <a:t>litigation and non-compliance </a:t>
            </a:r>
            <a:r>
              <a:rPr lang="en-US" dirty="0" smtClean="0"/>
              <a:t>with codes and laws. Rules and regulations vary by country and industry sector. Changing regulations can impact a projects’ budget and/or schedule. The risk of litigation is great if rules are not properly followed. </a:t>
            </a:r>
          </a:p>
          <a:p>
            <a:pPr algn="just"/>
            <a:r>
              <a:rPr lang="en-US" b="1" dirty="0" smtClean="0"/>
              <a:t>(8) Safety Risk</a:t>
            </a:r>
            <a:r>
              <a:rPr lang="en-US" dirty="0" smtClean="0"/>
              <a:t> includes security risk. Security risk can be caused by many factors, such as acts of God, fire, theft, terrorism, and war. For example, floods or fire can drastically impact construction projects but they can influence any type of project if deliveries are impacted. </a:t>
            </a:r>
          </a:p>
          <a:p>
            <a:pPr algn="just"/>
            <a:r>
              <a:rPr lang="en-US" b="1" dirty="0" smtClean="0"/>
              <a:t>(9) Delay Risk</a:t>
            </a:r>
            <a:r>
              <a:rPr lang="en-US" dirty="0" smtClean="0"/>
              <a:t> is sub-divided into project delay and third party delay risk. Project delay risk can be caused by plan approval delays or other constraints. Third party delay risk is caused by delays by sub-contractors, suppliers, or vendors. </a:t>
            </a:r>
            <a:endParaRPr lang="en-US" dirty="0"/>
          </a:p>
        </p:txBody>
      </p:sp>
      <p:sp>
        <p:nvSpPr>
          <p:cNvPr id="4" name="Rectangle 3"/>
          <p:cNvSpPr/>
          <p:nvPr/>
        </p:nvSpPr>
        <p:spPr>
          <a:xfrm>
            <a:off x="152400" y="6019800"/>
            <a:ext cx="8686800" cy="646331"/>
          </a:xfrm>
          <a:prstGeom prst="rect">
            <a:avLst/>
          </a:prstGeom>
        </p:spPr>
        <p:txBody>
          <a:bodyPr wrap="square">
            <a:spAutoFit/>
          </a:bodyPr>
          <a:lstStyle/>
          <a:p>
            <a:r>
              <a:rPr lang="en-US" dirty="0" smtClean="0">
                <a:solidFill>
                  <a:srgbClr val="C00000"/>
                </a:solidFill>
              </a:rPr>
              <a:t>Reference: Murray, S. L., Grantham, K., &amp; </a:t>
            </a:r>
            <a:r>
              <a:rPr lang="en-US" dirty="0" err="1" smtClean="0">
                <a:solidFill>
                  <a:srgbClr val="C00000"/>
                </a:solidFill>
              </a:rPr>
              <a:t>Damle</a:t>
            </a:r>
            <a:r>
              <a:rPr lang="en-US" dirty="0" smtClean="0">
                <a:solidFill>
                  <a:srgbClr val="C00000"/>
                </a:solidFill>
              </a:rPr>
              <a:t>, S. B. (2011). Development of a generic risk matrix to manage project risks. </a:t>
            </a:r>
            <a:r>
              <a:rPr lang="en-US" i="1" dirty="0" smtClean="0">
                <a:solidFill>
                  <a:srgbClr val="C00000"/>
                </a:solidFill>
              </a:rPr>
              <a:t>Journal of Industrial and Systems Engineering</a:t>
            </a:r>
            <a:r>
              <a:rPr lang="en-US" dirty="0" smtClean="0">
                <a:solidFill>
                  <a:srgbClr val="C00000"/>
                </a:solidFill>
              </a:rPr>
              <a:t>, </a:t>
            </a:r>
            <a:r>
              <a:rPr lang="en-US" i="1" dirty="0" smtClean="0">
                <a:solidFill>
                  <a:srgbClr val="C00000"/>
                </a:solidFill>
              </a:rPr>
              <a:t>5</a:t>
            </a:r>
            <a:r>
              <a:rPr lang="en-US" dirty="0" smtClean="0">
                <a:solidFill>
                  <a:srgbClr val="C00000"/>
                </a:solidFill>
              </a:rPr>
              <a:t>(1), 35-51.</a:t>
            </a:r>
            <a:endParaRPr lang="en-US" dirty="0">
              <a:solidFill>
                <a:srgbClr val="C00000"/>
              </a:solidFill>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Framework to Identify Sources of Overall Project Risks</a:t>
            </a:r>
            <a:endParaRPr lang="en-US" dirty="0"/>
          </a:p>
        </p:txBody>
      </p:sp>
      <p:sp>
        <p:nvSpPr>
          <p:cNvPr id="3" name="Content Placeholder 2"/>
          <p:cNvSpPr>
            <a:spLocks noGrp="1"/>
          </p:cNvSpPr>
          <p:nvPr>
            <p:ph idx="1"/>
          </p:nvPr>
        </p:nvSpPr>
        <p:spPr/>
        <p:txBody>
          <a:bodyPr/>
          <a:lstStyle/>
          <a:p>
            <a:r>
              <a:rPr lang="en-US" dirty="0" smtClean="0"/>
              <a:t>• PESTLE (political, economic, social, technological, legal, environment) </a:t>
            </a:r>
          </a:p>
          <a:p>
            <a:r>
              <a:rPr lang="en-US" dirty="0" smtClean="0"/>
              <a:t>• TECOP (technical, environmental, commercial, operational, political) </a:t>
            </a:r>
          </a:p>
          <a:p>
            <a:r>
              <a:rPr lang="en-US" dirty="0" smtClean="0"/>
              <a:t>• VUCA (volatility, uncertainty, complexity, ambiguity)</a:t>
            </a:r>
            <a:endParaRPr lang="en-US" dirty="0"/>
          </a:p>
        </p:txBody>
      </p:sp>
      <p:sp>
        <p:nvSpPr>
          <p:cNvPr id="4" name="Rectangle 3"/>
          <p:cNvSpPr/>
          <p:nvPr/>
        </p:nvSpPr>
        <p:spPr>
          <a:xfrm>
            <a:off x="3124200" y="4495800"/>
            <a:ext cx="5410200" cy="369332"/>
          </a:xfrm>
          <a:prstGeom prst="rect">
            <a:avLst/>
          </a:prstGeom>
        </p:spPr>
        <p:txBody>
          <a:bodyPr wrap="square">
            <a:spAutoFit/>
          </a:bodyPr>
          <a:lstStyle/>
          <a:p>
            <a:r>
              <a:rPr lang="en-US" dirty="0" smtClean="0">
                <a:hlinkClick r:id="rId2"/>
              </a:rPr>
              <a:t>https://www.youtube.com/watch?v=rLOLdTjdnsY</a:t>
            </a:r>
            <a:endParaRPr lang="en-US"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56322" name="Picture 2" descr="https://www.designorate.com/wp-content/uploads/2019/04/PESTLE.jpg"/>
          <p:cNvPicPr>
            <a:picLocks noChangeAspect="1" noChangeArrowheads="1"/>
          </p:cNvPicPr>
          <p:nvPr/>
        </p:nvPicPr>
        <p:blipFill>
          <a:blip r:embed="rId2"/>
          <a:srcRect/>
          <a:stretch>
            <a:fillRect/>
          </a:stretch>
        </p:blipFill>
        <p:spPr bwMode="auto">
          <a:xfrm>
            <a:off x="0" y="0"/>
            <a:ext cx="9144000" cy="6858000"/>
          </a:xfrm>
          <a:prstGeom prst="rect">
            <a:avLst/>
          </a:prstGeom>
          <a:noFill/>
        </p:spPr>
      </p:pic>
      <p:sp>
        <p:nvSpPr>
          <p:cNvPr id="4" name="Rectangle 3"/>
          <p:cNvSpPr/>
          <p:nvPr/>
        </p:nvSpPr>
        <p:spPr>
          <a:xfrm>
            <a:off x="76200" y="6395283"/>
            <a:ext cx="5029200" cy="369332"/>
          </a:xfrm>
          <a:prstGeom prst="rect">
            <a:avLst/>
          </a:prstGeom>
        </p:spPr>
        <p:txBody>
          <a:bodyPr wrap="square">
            <a:spAutoFit/>
          </a:bodyPr>
          <a:lstStyle/>
          <a:p>
            <a:r>
              <a:rPr lang="en-US" dirty="0">
                <a:hlinkClick r:id="rId3"/>
              </a:rPr>
              <a:t>https://www.youtube.com/watch?v=_YhEpBvlO2M</a:t>
            </a:r>
            <a:endParaRPr lang="en-US"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dirty="0"/>
          </a:p>
        </p:txBody>
      </p:sp>
      <p:pic>
        <p:nvPicPr>
          <p:cNvPr id="5124" name="Picture 4" descr="Image result for vuca framework"/>
          <p:cNvPicPr>
            <a:picLocks noChangeAspect="1" noChangeArrowheads="1"/>
          </p:cNvPicPr>
          <p:nvPr/>
        </p:nvPicPr>
        <p:blipFill>
          <a:blip r:embed="rId2"/>
          <a:srcRect/>
          <a:stretch>
            <a:fillRect/>
          </a:stretch>
        </p:blipFill>
        <p:spPr bwMode="auto">
          <a:xfrm>
            <a:off x="457200" y="54187"/>
            <a:ext cx="8229600" cy="6803813"/>
          </a:xfrm>
          <a:prstGeom prst="rect">
            <a:avLst/>
          </a:prstGeom>
          <a:noFill/>
        </p:spPr>
      </p:pic>
      <p:sp>
        <p:nvSpPr>
          <p:cNvPr id="6" name="TextBox 5"/>
          <p:cNvSpPr txBox="1"/>
          <p:nvPr/>
        </p:nvSpPr>
        <p:spPr>
          <a:xfrm>
            <a:off x="2743200" y="3124200"/>
            <a:ext cx="3580660" cy="369332"/>
          </a:xfrm>
          <a:prstGeom prst="rect">
            <a:avLst/>
          </a:prstGeom>
          <a:noFill/>
        </p:spPr>
        <p:txBody>
          <a:bodyPr wrap="none" rtlCol="0">
            <a:spAutoFit/>
          </a:bodyPr>
          <a:lstStyle/>
          <a:p>
            <a:r>
              <a:rPr lang="en-US" b="1" dirty="0" smtClean="0"/>
              <a:t>Reference: Harvard business review</a:t>
            </a:r>
            <a:endParaRPr lang="en-US" b="1"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a:xfrm>
            <a:off x="457200" y="1447800"/>
            <a:ext cx="8229600" cy="1219200"/>
          </a:xfrm>
        </p:spPr>
        <p:txBody>
          <a:bodyPr>
            <a:normAutofit/>
          </a:bodyPr>
          <a:lstStyle/>
          <a:p>
            <a:r>
              <a:rPr lang="en-US" sz="6000" b="1" dirty="0" smtClean="0"/>
              <a:t>How to identify risk??</a:t>
            </a:r>
            <a:endParaRPr lang="en-US" sz="6000" b="1" dirty="0"/>
          </a:p>
        </p:txBody>
      </p:sp>
      <p:pic>
        <p:nvPicPr>
          <p:cNvPr id="3074" name="Picture 2" descr="Image result for risk"/>
          <p:cNvPicPr>
            <a:picLocks noChangeAspect="1" noChangeArrowheads="1"/>
          </p:cNvPicPr>
          <p:nvPr/>
        </p:nvPicPr>
        <p:blipFill>
          <a:blip r:embed="rId2"/>
          <a:srcRect/>
          <a:stretch>
            <a:fillRect/>
          </a:stretch>
        </p:blipFill>
        <p:spPr bwMode="auto">
          <a:xfrm>
            <a:off x="0" y="3276601"/>
            <a:ext cx="9144001" cy="3581400"/>
          </a:xfrm>
          <a:prstGeom prst="rect">
            <a:avLst/>
          </a:prstGeom>
          <a:noFill/>
        </p:spPr>
      </p:pic>
      <p:sp>
        <p:nvSpPr>
          <p:cNvPr id="5" name="TextBox 4"/>
          <p:cNvSpPr txBox="1"/>
          <p:nvPr/>
        </p:nvSpPr>
        <p:spPr>
          <a:xfrm>
            <a:off x="3429000" y="2667000"/>
            <a:ext cx="1627818" cy="369332"/>
          </a:xfrm>
          <a:prstGeom prst="rect">
            <a:avLst/>
          </a:prstGeom>
          <a:noFill/>
        </p:spPr>
        <p:txBody>
          <a:bodyPr wrap="none" rtlCol="0">
            <a:spAutoFit/>
          </a:bodyPr>
          <a:lstStyle/>
          <a:p>
            <a:r>
              <a:rPr lang="en-US" dirty="0" smtClean="0"/>
              <a:t>Research Paper</a:t>
            </a:r>
            <a:endParaRPr lang="en-US"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Class Activity 1</a:t>
            </a:r>
            <a:endParaRPr lang="en-US" dirty="0"/>
          </a:p>
        </p:txBody>
      </p:sp>
      <p:sp>
        <p:nvSpPr>
          <p:cNvPr id="3" name="Content Placeholder 2"/>
          <p:cNvSpPr>
            <a:spLocks noGrp="1"/>
          </p:cNvSpPr>
          <p:nvPr>
            <p:ph idx="1"/>
          </p:nvPr>
        </p:nvSpPr>
        <p:spPr/>
        <p:txBody>
          <a:bodyPr>
            <a:normAutofit/>
          </a:bodyPr>
          <a:lstStyle/>
          <a:p>
            <a:pPr>
              <a:buNone/>
            </a:pPr>
            <a:r>
              <a:rPr lang="en-US" dirty="0" smtClean="0"/>
              <a:t>Identify risk in your project area by using:</a:t>
            </a:r>
          </a:p>
          <a:p>
            <a:pPr>
              <a:buNone/>
            </a:pPr>
            <a:r>
              <a:rPr lang="en-US" dirty="0" smtClean="0"/>
              <a:t>Brain storming.</a:t>
            </a:r>
          </a:p>
          <a:p>
            <a:pPr>
              <a:buNone/>
            </a:pPr>
            <a:r>
              <a:rPr lang="en-US" dirty="0" smtClean="0"/>
              <a:t>Document review.</a:t>
            </a:r>
          </a:p>
          <a:p>
            <a:pPr>
              <a:buNone/>
            </a:pPr>
            <a:r>
              <a:rPr lang="en-US" dirty="0" smtClean="0"/>
              <a:t>Checklist</a:t>
            </a:r>
          </a:p>
          <a:p>
            <a:pPr>
              <a:buNone/>
            </a:pPr>
            <a:r>
              <a:rPr lang="en-US" dirty="0" smtClean="0"/>
              <a:t>Flow chart</a:t>
            </a:r>
          </a:p>
          <a:p>
            <a:pPr>
              <a:buNone/>
            </a:pPr>
            <a:r>
              <a:rPr lang="en-US" dirty="0" smtClean="0"/>
              <a:t>Cause and effect diagram.</a:t>
            </a:r>
          </a:p>
          <a:p>
            <a:pPr>
              <a:buNone/>
            </a:pPr>
            <a:r>
              <a:rPr lang="en-US" dirty="0" smtClean="0"/>
              <a:t> </a:t>
            </a:r>
            <a:endParaRPr lang="en-US"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lvl="2"/>
            <a:r>
              <a:rPr lang="en-US" b="1" dirty="0"/>
              <a:t>Identify Risks: Outputs</a:t>
            </a:r>
          </a:p>
          <a:p>
            <a:r>
              <a:rPr lang="en-US" dirty="0"/>
              <a:t>This process will create the following output:</a:t>
            </a:r>
          </a:p>
          <a:p>
            <a:endParaRPr lang="en-US" dirty="0"/>
          </a:p>
        </p:txBody>
      </p:sp>
      <p:pic>
        <p:nvPicPr>
          <p:cNvPr id="6146" name="Picture 2"/>
          <p:cNvPicPr>
            <a:picLocks noChangeAspect="1" noChangeArrowheads="1"/>
          </p:cNvPicPr>
          <p:nvPr/>
        </p:nvPicPr>
        <p:blipFill>
          <a:blip r:embed="rId2"/>
          <a:srcRect/>
          <a:stretch>
            <a:fillRect/>
          </a:stretch>
        </p:blipFill>
        <p:spPr bwMode="auto">
          <a:xfrm>
            <a:off x="990600" y="2590800"/>
            <a:ext cx="6845891" cy="3315559"/>
          </a:xfrm>
          <a:prstGeom prst="rect">
            <a:avLst/>
          </a:prstGeom>
          <a:noFill/>
          <a:ln w="9525">
            <a:noFill/>
            <a:miter lim="800000"/>
            <a:headEnd/>
            <a:tailEnd/>
          </a:ln>
          <a:effectLst/>
        </p:spPr>
      </p:pic>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3" algn="ctr" rtl="0">
              <a:spcBef>
                <a:spcPct val="0"/>
              </a:spcBef>
            </a:pPr>
            <a:r>
              <a:rPr lang="en-US" sz="3200" b="1" dirty="0" smtClean="0"/>
              <a:t>Risk Register</a:t>
            </a:r>
            <a:r>
              <a:rPr lang="en-US" b="1" dirty="0" smtClean="0"/>
              <a:t/>
            </a:r>
            <a:br>
              <a:rPr lang="en-US" b="1" dirty="0" smtClean="0"/>
            </a:br>
            <a:endParaRPr lang="en-US" dirty="0"/>
          </a:p>
        </p:txBody>
      </p:sp>
      <p:sp>
        <p:nvSpPr>
          <p:cNvPr id="3" name="Content Placeholder 2"/>
          <p:cNvSpPr>
            <a:spLocks noGrp="1"/>
          </p:cNvSpPr>
          <p:nvPr>
            <p:ph idx="1"/>
          </p:nvPr>
        </p:nvSpPr>
        <p:spPr/>
        <p:txBody>
          <a:bodyPr>
            <a:normAutofit fontScale="85000" lnSpcReduction="20000"/>
          </a:bodyPr>
          <a:lstStyle/>
          <a:p>
            <a:pPr algn="just"/>
            <a:r>
              <a:rPr lang="en-US" dirty="0" smtClean="0"/>
              <a:t>This </a:t>
            </a:r>
            <a:r>
              <a:rPr lang="en-US" dirty="0"/>
              <a:t>is the only output from this process and consists of the list of all the identified risks, their root causes, categories and responses. The information contained within the risk register may be used to update the risk breakdown structure.</a:t>
            </a:r>
          </a:p>
          <a:p>
            <a:pPr algn="just"/>
            <a:r>
              <a:rPr lang="en-US" dirty="0"/>
              <a:t>Because of risk is an ongoing activity, the risk register will be updated continuously throughout the life of the project and it is a key tool to aid in the management of risks within a project. The risk register ultimately contains the outcomes of the other risk </a:t>
            </a:r>
            <a:r>
              <a:rPr lang="en-US" dirty="0" smtClean="0"/>
              <a:t>management </a:t>
            </a:r>
            <a:r>
              <a:rPr lang="en-US" dirty="0"/>
              <a:t>processes as they are conducted, resulting in an increase in the level and type of information contained in the risk register over time.</a:t>
            </a:r>
          </a:p>
          <a:p>
            <a:endParaRPr lang="en-US"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List of identified risks.</a:t>
            </a:r>
            <a:endParaRPr lang="en-US" dirty="0"/>
          </a:p>
        </p:txBody>
      </p:sp>
      <p:sp>
        <p:nvSpPr>
          <p:cNvPr id="3" name="Content Placeholder 2"/>
          <p:cNvSpPr>
            <a:spLocks noGrp="1"/>
          </p:cNvSpPr>
          <p:nvPr>
            <p:ph idx="1"/>
          </p:nvPr>
        </p:nvSpPr>
        <p:spPr/>
        <p:txBody>
          <a:bodyPr>
            <a:normAutofit fontScale="85000" lnSpcReduction="10000"/>
          </a:bodyPr>
          <a:lstStyle/>
          <a:p>
            <a:pPr algn="just"/>
            <a:r>
              <a:rPr lang="en-US" dirty="0" smtClean="0"/>
              <a:t>The identified risks are described in as much detail as is reasonable. A structure for describing risks using risk statements may be applied, for example, </a:t>
            </a:r>
            <a:r>
              <a:rPr lang="en-US" dirty="0" smtClean="0">
                <a:solidFill>
                  <a:srgbClr val="002060"/>
                </a:solidFill>
              </a:rPr>
              <a:t>EVENT may occur causing IMPACT, or If CAUSE exists, EVENT may occur leading to EFFECT.</a:t>
            </a:r>
            <a:r>
              <a:rPr lang="en-US" dirty="0" smtClean="0"/>
              <a:t> In addition to the list of identified risks, the root causes of those risks may become more evident. </a:t>
            </a:r>
          </a:p>
          <a:p>
            <a:pPr algn="just"/>
            <a:r>
              <a:rPr lang="en-US" dirty="0" smtClean="0"/>
              <a:t>These are the fundamental conditions or events that may give rise to one or more identified risks. They should be recorded and used to support future risk identification for this and other projects.</a:t>
            </a:r>
            <a:endParaRPr lang="en-US"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List of potential responses</a:t>
            </a:r>
            <a:endParaRPr lang="en-US" dirty="0"/>
          </a:p>
        </p:txBody>
      </p:sp>
      <p:sp>
        <p:nvSpPr>
          <p:cNvPr id="3" name="Content Placeholder 2"/>
          <p:cNvSpPr>
            <a:spLocks noGrp="1"/>
          </p:cNvSpPr>
          <p:nvPr>
            <p:ph idx="1"/>
          </p:nvPr>
        </p:nvSpPr>
        <p:spPr/>
        <p:txBody>
          <a:bodyPr/>
          <a:lstStyle/>
          <a:p>
            <a:r>
              <a:rPr lang="en-US" dirty="0" smtClean="0"/>
              <a:t>Potential responses to a risk may sometimes be identified during the Identify Risks process. These responses, if identified in this process, should be used as inputs to the Plan Risk Responses process.</a:t>
            </a:r>
            <a:endParaRPr lang="en-US"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Activity 2</a:t>
            </a:r>
            <a:endParaRPr lang="en-US" dirty="0"/>
          </a:p>
        </p:txBody>
      </p:sp>
      <p:sp>
        <p:nvSpPr>
          <p:cNvPr id="3" name="Content Placeholder 2"/>
          <p:cNvSpPr>
            <a:spLocks noGrp="1"/>
          </p:cNvSpPr>
          <p:nvPr>
            <p:ph idx="1"/>
          </p:nvPr>
        </p:nvSpPr>
        <p:spPr/>
        <p:txBody>
          <a:bodyPr/>
          <a:lstStyle/>
          <a:p>
            <a:r>
              <a:rPr lang="en-US" dirty="0" smtClean="0"/>
              <a:t>Update Risk Register by using identified risks in activity 1.</a:t>
            </a:r>
            <a:endParaRPr lang="en-US"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Perform Qualitative Risk Analysis</a:t>
            </a:r>
            <a:endParaRPr lang="en-US" dirty="0"/>
          </a:p>
        </p:txBody>
      </p:sp>
      <p:sp>
        <p:nvSpPr>
          <p:cNvPr id="3" name="Content Placeholder 2"/>
          <p:cNvSpPr>
            <a:spLocks noGrp="1"/>
          </p:cNvSpPr>
          <p:nvPr>
            <p:ph idx="1"/>
          </p:nvPr>
        </p:nvSpPr>
        <p:spPr/>
        <p:txBody>
          <a:bodyPr>
            <a:normAutofit fontScale="92500" lnSpcReduction="10000"/>
          </a:bodyPr>
          <a:lstStyle/>
          <a:p>
            <a:r>
              <a:rPr lang="en-US" dirty="0" smtClean="0"/>
              <a:t>Perform Qualitative Risk Analysis is the process of prioritizing risks for further analysis or action by assessing and combining their probability of occurrence and impact. The key benefit of this process is that it enables project managers to reduce the level of uncertainty and to focus on high-priority risks. The inputs, tools and techniques, and outputs of this process are depicted in Figure 11-8. Figure 11-9 depicts the data flow diagram of the process.</a:t>
            </a:r>
            <a:endParaRPr lang="en-US"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Process flow</a:t>
            </a:r>
            <a:endParaRPr lang="en-US" dirty="0"/>
          </a:p>
        </p:txBody>
      </p:sp>
      <p:sp>
        <p:nvSpPr>
          <p:cNvPr id="3" name="Content Placeholder 2"/>
          <p:cNvSpPr>
            <a:spLocks noGrp="1"/>
          </p:cNvSpPr>
          <p:nvPr>
            <p:ph idx="1"/>
          </p:nvPr>
        </p:nvSpPr>
        <p:spPr>
          <a:xfrm>
            <a:off x="381000" y="1447800"/>
            <a:ext cx="8229600" cy="1219200"/>
          </a:xfrm>
        </p:spPr>
        <p:txBody>
          <a:bodyPr>
            <a:normAutofit fontScale="92500"/>
          </a:bodyPr>
          <a:lstStyle/>
          <a:p>
            <a:r>
              <a:rPr lang="en-US" dirty="0" smtClean="0"/>
              <a:t>The inputs, tools and techniques, and outputs of this process are summarized in the table below.</a:t>
            </a:r>
          </a:p>
          <a:p>
            <a:endParaRPr lang="en-US" dirty="0"/>
          </a:p>
        </p:txBody>
      </p:sp>
      <p:pic>
        <p:nvPicPr>
          <p:cNvPr id="1026" name="Picture 2"/>
          <p:cNvPicPr>
            <a:picLocks noChangeAspect="1" noChangeArrowheads="1"/>
          </p:cNvPicPr>
          <p:nvPr/>
        </p:nvPicPr>
        <p:blipFill>
          <a:blip r:embed="rId2"/>
          <a:srcRect/>
          <a:stretch>
            <a:fillRect/>
          </a:stretch>
        </p:blipFill>
        <p:spPr bwMode="auto">
          <a:xfrm>
            <a:off x="0" y="2971800"/>
            <a:ext cx="9156911" cy="2949219"/>
          </a:xfrm>
          <a:prstGeom prst="rect">
            <a:avLst/>
          </a:prstGeom>
          <a:noFill/>
          <a:ln w="9525">
            <a:noFill/>
            <a:miter lim="800000"/>
            <a:headEnd/>
            <a:tailEnd/>
          </a:ln>
          <a:effectLst/>
        </p:spPr>
      </p:pic>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87362"/>
          </a:xfrm>
        </p:spPr>
        <p:txBody>
          <a:bodyPr>
            <a:normAutofit fontScale="90000"/>
          </a:bodyPr>
          <a:lstStyle/>
          <a:p>
            <a:r>
              <a:rPr lang="en-US" dirty="0" smtClean="0"/>
              <a:t>Data Flow Diagram</a:t>
            </a:r>
            <a:endParaRPr lang="en-US" dirty="0"/>
          </a:p>
        </p:txBody>
      </p:sp>
      <p:sp>
        <p:nvSpPr>
          <p:cNvPr id="3" name="Content Placeholder 2"/>
          <p:cNvSpPr>
            <a:spLocks noGrp="1"/>
          </p:cNvSpPr>
          <p:nvPr>
            <p:ph idx="1"/>
          </p:nvPr>
        </p:nvSpPr>
        <p:spPr/>
        <p:txBody>
          <a:bodyPr/>
          <a:lstStyle/>
          <a:p>
            <a:endParaRPr lang="en-US"/>
          </a:p>
        </p:txBody>
      </p:sp>
      <p:pic>
        <p:nvPicPr>
          <p:cNvPr id="2050" name="Picture 2"/>
          <p:cNvPicPr>
            <a:picLocks noChangeAspect="1" noChangeArrowheads="1"/>
          </p:cNvPicPr>
          <p:nvPr/>
        </p:nvPicPr>
        <p:blipFill>
          <a:blip r:embed="rId2"/>
          <a:srcRect/>
          <a:stretch>
            <a:fillRect/>
          </a:stretch>
        </p:blipFill>
        <p:spPr bwMode="auto">
          <a:xfrm>
            <a:off x="0" y="752906"/>
            <a:ext cx="8991600" cy="6105093"/>
          </a:xfrm>
          <a:prstGeom prst="rect">
            <a:avLst/>
          </a:prstGeom>
          <a:noFill/>
          <a:ln w="9525">
            <a:noFill/>
            <a:miter lim="800000"/>
            <a:headEnd/>
            <a:tailEnd/>
          </a:ln>
          <a:effectLst/>
        </p:spPr>
      </p:pic>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3562"/>
          </a:xfrm>
        </p:spPr>
        <p:txBody>
          <a:bodyPr>
            <a:normAutofit fontScale="90000"/>
          </a:bodyPr>
          <a:lstStyle/>
          <a:p>
            <a:r>
              <a:rPr lang="en-US" dirty="0"/>
              <a:t>Perform Qualitative Risk analysis</a:t>
            </a:r>
          </a:p>
        </p:txBody>
      </p:sp>
      <p:sp>
        <p:nvSpPr>
          <p:cNvPr id="3" name="Content Placeholder 2"/>
          <p:cNvSpPr>
            <a:spLocks noGrp="1"/>
          </p:cNvSpPr>
          <p:nvPr>
            <p:ph idx="1"/>
          </p:nvPr>
        </p:nvSpPr>
        <p:spPr/>
        <p:txBody>
          <a:bodyPr>
            <a:normAutofit fontScale="85000" lnSpcReduction="20000"/>
          </a:bodyPr>
          <a:lstStyle/>
          <a:p>
            <a:pPr algn="just"/>
            <a:r>
              <a:rPr lang="en-US" dirty="0"/>
              <a:t>This process analyses each risk from the risk register in terms of its probability and </a:t>
            </a:r>
            <a:r>
              <a:rPr lang="en-US" dirty="0" smtClean="0"/>
              <a:t>impact </a:t>
            </a:r>
            <a:r>
              <a:rPr lang="en-US" dirty="0"/>
              <a:t>on the project if it were to occur. It should be performed as soon as possible after risks have been identified so that appropriate time and resources can be allocated to the more serious risks. It uses the probability and impact matrix (PIM) to rank and prioritize risks, and this information is placed back on the risk register</a:t>
            </a:r>
            <a:r>
              <a:rPr lang="en-US" dirty="0" smtClean="0"/>
              <a:t>.</a:t>
            </a:r>
          </a:p>
          <a:p>
            <a:pPr algn="just"/>
            <a:r>
              <a:rPr lang="en-US" dirty="0"/>
              <a:t>Like all the processes within risk management, this one should be performed regularly because new risks will be identified and the characteristics of existing risks may change as the project progresses.</a:t>
            </a:r>
          </a:p>
          <a:p>
            <a:endParaRPr lang="en-US" dirty="0"/>
          </a:p>
          <a:p>
            <a:endParaRPr lang="en-US" dirty="0"/>
          </a:p>
        </p:txBody>
      </p:sp>
    </p:spTree>
    <p:extLst>
      <p:ext uri="{BB962C8B-B14F-4D97-AF65-F5344CB8AC3E}">
        <p14:creationId xmlns:p14="http://schemas.microsoft.com/office/powerpoint/2010/main" val="3065557231"/>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609600"/>
            <a:ext cx="8229600" cy="487362"/>
          </a:xfrm>
        </p:spPr>
        <p:txBody>
          <a:bodyPr>
            <a:normAutofit fontScale="90000"/>
          </a:bodyPr>
          <a:lstStyle/>
          <a:p>
            <a:r>
              <a:rPr lang="en-US" dirty="0"/>
              <a:t>Perform Qualitative Risk Analysis: Inputs</a:t>
            </a:r>
          </a:p>
        </p:txBody>
      </p:sp>
      <p:sp>
        <p:nvSpPr>
          <p:cNvPr id="3" name="Content Placeholder 2"/>
          <p:cNvSpPr>
            <a:spLocks noGrp="1"/>
          </p:cNvSpPr>
          <p:nvPr>
            <p:ph idx="1"/>
          </p:nvPr>
        </p:nvSpPr>
        <p:spPr/>
        <p:txBody>
          <a:bodyPr>
            <a:normAutofit/>
          </a:bodyPr>
          <a:lstStyle/>
          <a:p>
            <a:pPr marL="342900" lvl="3" indent="-342900">
              <a:buFont typeface="Arial" pitchFamily="34" charset="0"/>
              <a:buChar char="•"/>
            </a:pPr>
            <a:r>
              <a:rPr lang="en-US" sz="3200" b="1" dirty="0"/>
              <a:t>Risk Management </a:t>
            </a:r>
            <a:r>
              <a:rPr lang="en-US" sz="3200" b="1" dirty="0" smtClean="0"/>
              <a:t>Plan</a:t>
            </a:r>
            <a:endParaRPr lang="en-US" dirty="0" smtClean="0"/>
          </a:p>
          <a:p>
            <a:pPr algn="just"/>
            <a:r>
              <a:rPr lang="en-US" dirty="0" smtClean="0"/>
              <a:t>This </a:t>
            </a:r>
            <a:r>
              <a:rPr lang="en-US" dirty="0"/>
              <a:t>is developed during process </a:t>
            </a:r>
            <a:r>
              <a:rPr lang="en-US" dirty="0" smtClean="0"/>
              <a:t>‘</a:t>
            </a:r>
            <a:r>
              <a:rPr lang="en-US" b="1" dirty="0" smtClean="0"/>
              <a:t>Plan </a:t>
            </a:r>
            <a:r>
              <a:rPr lang="en-US" b="1" dirty="0"/>
              <a:t>Risk Management</a:t>
            </a:r>
            <a:r>
              <a:rPr lang="en-US" dirty="0"/>
              <a:t>’ and will explain the </a:t>
            </a:r>
            <a:r>
              <a:rPr lang="en-US" dirty="0">
                <a:solidFill>
                  <a:srgbClr val="FF0000"/>
                </a:solidFill>
              </a:rPr>
              <a:t>overall approach</a:t>
            </a:r>
            <a:r>
              <a:rPr lang="en-US" dirty="0"/>
              <a:t> that needs to be taken to risk management on this particular project. It will detail </a:t>
            </a:r>
            <a:r>
              <a:rPr lang="en-US" dirty="0">
                <a:solidFill>
                  <a:srgbClr val="FF0000"/>
                </a:solidFill>
              </a:rPr>
              <a:t>how much risk is acceptable</a:t>
            </a:r>
            <a:r>
              <a:rPr lang="en-US" dirty="0"/>
              <a:t> and </a:t>
            </a:r>
            <a:r>
              <a:rPr lang="en-US" dirty="0">
                <a:solidFill>
                  <a:srgbClr val="FF0000"/>
                </a:solidFill>
              </a:rPr>
              <a:t>who should be involved in carrying out</a:t>
            </a:r>
            <a:r>
              <a:rPr lang="en-US" dirty="0"/>
              <a:t> the </a:t>
            </a:r>
            <a:r>
              <a:rPr lang="en-US" dirty="0" smtClean="0"/>
              <a:t>qualitative </a:t>
            </a:r>
            <a:r>
              <a:rPr lang="en-US" dirty="0"/>
              <a:t>analysis of the known risks.</a:t>
            </a:r>
          </a:p>
          <a:p>
            <a:endParaRPr lang="en-US" dirty="0"/>
          </a:p>
        </p:txBody>
      </p:sp>
    </p:spTree>
    <p:extLst>
      <p:ext uri="{BB962C8B-B14F-4D97-AF65-F5344CB8AC3E}">
        <p14:creationId xmlns:p14="http://schemas.microsoft.com/office/powerpoint/2010/main" val="1397553630"/>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533400" y="4191000"/>
            <a:ext cx="8153400" cy="2362200"/>
          </a:xfrm>
        </p:spPr>
        <p:txBody>
          <a:bodyPr>
            <a:normAutofit fontScale="85000" lnSpcReduction="10000"/>
          </a:bodyPr>
          <a:lstStyle/>
          <a:p>
            <a:r>
              <a:rPr lang="en-US" dirty="0"/>
              <a:t>The key elements of this plan used in this process are roles and responsibilities for </a:t>
            </a:r>
            <a:r>
              <a:rPr lang="en-US" dirty="0" smtClean="0"/>
              <a:t>conducting </a:t>
            </a:r>
            <a:r>
              <a:rPr lang="en-US" dirty="0"/>
              <a:t>risk management, budget, schedule for risk management activities, definition of risk categories, definition of risk probability and impact, probability and impact matrix, and stakeholder’s risk tolerances.</a:t>
            </a: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19200" y="228601"/>
            <a:ext cx="6323815" cy="3810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207944987"/>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6248400"/>
          </a:xfrm>
        </p:spPr>
        <p:txBody>
          <a:bodyPr>
            <a:normAutofit fontScale="70000" lnSpcReduction="20000"/>
          </a:bodyPr>
          <a:lstStyle/>
          <a:p>
            <a:pPr marL="342900" lvl="3" indent="-342900">
              <a:buFont typeface="Arial" pitchFamily="34" charset="0"/>
              <a:buChar char="•"/>
            </a:pPr>
            <a:r>
              <a:rPr lang="en-US" sz="4600" b="1" dirty="0"/>
              <a:t>Scope </a:t>
            </a:r>
            <a:r>
              <a:rPr lang="en-US" sz="4600" b="1" dirty="0" smtClean="0"/>
              <a:t>Baseline</a:t>
            </a:r>
            <a:endParaRPr lang="en-US" sz="4600" dirty="0" smtClean="0"/>
          </a:p>
          <a:p>
            <a:r>
              <a:rPr lang="en-US" dirty="0" smtClean="0"/>
              <a:t>The </a:t>
            </a:r>
            <a:r>
              <a:rPr lang="en-US" dirty="0"/>
              <a:t>scope of the project will have a direct bearing on the type and amount of risk that is likely to be encountered. In general terms, certain types of project are associated with certain types of risk.</a:t>
            </a:r>
          </a:p>
          <a:p>
            <a:pPr marL="0" indent="0">
              <a:buNone/>
            </a:pPr>
            <a:r>
              <a:rPr lang="en-US" dirty="0"/>
              <a:t> </a:t>
            </a:r>
            <a:endParaRPr lang="en-US" sz="4000" dirty="0"/>
          </a:p>
          <a:p>
            <a:r>
              <a:rPr lang="en-US" dirty="0"/>
              <a:t>For example,</a:t>
            </a:r>
          </a:p>
          <a:p>
            <a:r>
              <a:rPr lang="en-US" dirty="0"/>
              <a:t> </a:t>
            </a:r>
            <a:r>
              <a:rPr lang="en-US" b="1" i="1" dirty="0" smtClean="0"/>
              <a:t>Construction </a:t>
            </a:r>
            <a:r>
              <a:rPr lang="en-US" b="1" i="1" dirty="0"/>
              <a:t>projects </a:t>
            </a:r>
            <a:r>
              <a:rPr lang="en-US" i="1" dirty="0"/>
              <a:t>the risks would include such things like, </a:t>
            </a:r>
            <a:r>
              <a:rPr lang="en-US" i="1" dirty="0" smtClean="0"/>
              <a:t>planning</a:t>
            </a:r>
            <a:r>
              <a:rPr lang="en-US" sz="1800" dirty="0" smtClean="0"/>
              <a:t>, </a:t>
            </a:r>
            <a:r>
              <a:rPr lang="en-US" i="1" dirty="0" smtClean="0"/>
              <a:t>permissions</a:t>
            </a:r>
            <a:r>
              <a:rPr lang="en-US" i="1" dirty="0"/>
              <a:t>, weather, health and safety legislation, and labor union </a:t>
            </a:r>
            <a:r>
              <a:rPr lang="en-US" i="1" dirty="0" smtClean="0"/>
              <a:t>issues.</a:t>
            </a:r>
            <a:endParaRPr lang="en-US" sz="2800" dirty="0" smtClean="0"/>
          </a:p>
          <a:p>
            <a:endParaRPr lang="en-US" sz="2800" b="1" i="1" dirty="0"/>
          </a:p>
          <a:p>
            <a:r>
              <a:rPr lang="en-US" b="1" i="1" dirty="0" smtClean="0"/>
              <a:t>IT </a:t>
            </a:r>
            <a:r>
              <a:rPr lang="en-US" b="1" i="1" dirty="0"/>
              <a:t>project </a:t>
            </a:r>
            <a:r>
              <a:rPr lang="en-US" i="1" dirty="0"/>
              <a:t>risks tend to be concerned with whether development software will perform as advertised and with compatibility issues</a:t>
            </a:r>
            <a:r>
              <a:rPr lang="en-US" i="1" dirty="0" smtClean="0"/>
              <a:t>. </a:t>
            </a:r>
            <a:r>
              <a:rPr lang="en-US" i="1" dirty="0" smtClean="0">
                <a:solidFill>
                  <a:srgbClr val="FF0000"/>
                </a:solidFill>
              </a:rPr>
              <a:t>(</a:t>
            </a:r>
            <a:r>
              <a:rPr lang="en-US" i="1" dirty="0" err="1" smtClean="0">
                <a:solidFill>
                  <a:srgbClr val="FF0000"/>
                </a:solidFill>
              </a:rPr>
              <a:t>eg</a:t>
            </a:r>
            <a:r>
              <a:rPr lang="en-US" i="1" dirty="0" smtClean="0">
                <a:solidFill>
                  <a:srgbClr val="FF0000"/>
                </a:solidFill>
              </a:rPr>
              <a:t> 5G)</a:t>
            </a:r>
            <a:endParaRPr lang="en-US" sz="1800" dirty="0">
              <a:solidFill>
                <a:srgbClr val="FF0000"/>
              </a:solidFill>
            </a:endParaRPr>
          </a:p>
          <a:p>
            <a:pPr marL="0" indent="0">
              <a:buNone/>
            </a:pPr>
            <a:endParaRPr lang="en-US" sz="4000" dirty="0"/>
          </a:p>
          <a:p>
            <a:r>
              <a:rPr lang="en-US" dirty="0"/>
              <a:t>Projects of a common or recurrent type tend to have well understood risks, whereas those breaking new ground tend to have more uncertainty.</a:t>
            </a:r>
          </a:p>
          <a:p>
            <a:endParaRPr lang="en-US" dirty="0"/>
          </a:p>
        </p:txBody>
      </p:sp>
    </p:spTree>
    <p:extLst>
      <p:ext uri="{BB962C8B-B14F-4D97-AF65-F5344CB8AC3E}">
        <p14:creationId xmlns:p14="http://schemas.microsoft.com/office/powerpoint/2010/main" val="3525221538"/>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21873" y="1524000"/>
            <a:ext cx="5638800" cy="48654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436815470"/>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52400"/>
            <a:ext cx="8229600" cy="6705600"/>
          </a:xfrm>
        </p:spPr>
        <p:txBody>
          <a:bodyPr>
            <a:normAutofit fontScale="85000" lnSpcReduction="20000"/>
          </a:bodyPr>
          <a:lstStyle/>
          <a:p>
            <a:pPr marL="342900" lvl="3" indent="-342900">
              <a:buFont typeface="Arial" pitchFamily="34" charset="0"/>
              <a:buChar char="•"/>
            </a:pPr>
            <a:r>
              <a:rPr lang="en-US" sz="4100" b="1" dirty="0"/>
              <a:t>Risk </a:t>
            </a:r>
            <a:r>
              <a:rPr lang="en-US" sz="4100" b="1" dirty="0" smtClean="0"/>
              <a:t>Register</a:t>
            </a:r>
            <a:endParaRPr lang="en-US" sz="4100" dirty="0" smtClean="0"/>
          </a:p>
          <a:p>
            <a:r>
              <a:rPr lang="en-US" dirty="0" smtClean="0"/>
              <a:t>This </a:t>
            </a:r>
            <a:r>
              <a:rPr lang="en-US" dirty="0"/>
              <a:t>is the central repository of all of the known risks that are to be analyzed</a:t>
            </a:r>
            <a:r>
              <a:rPr lang="en-US" dirty="0" smtClean="0"/>
              <a:t>.</a:t>
            </a:r>
          </a:p>
          <a:p>
            <a:endParaRPr lang="en-US" dirty="0"/>
          </a:p>
          <a:p>
            <a:pPr marL="342900" lvl="3" indent="-342900">
              <a:buFont typeface="Arial" pitchFamily="34" charset="0"/>
              <a:buChar char="•"/>
            </a:pPr>
            <a:r>
              <a:rPr lang="en-US" sz="4600" b="1" dirty="0"/>
              <a:t>Enterprise Environmental </a:t>
            </a:r>
            <a:r>
              <a:rPr lang="en-US" sz="4600" b="1" dirty="0" smtClean="0"/>
              <a:t>Factors</a:t>
            </a:r>
            <a:endParaRPr lang="en-US" sz="4600" dirty="0"/>
          </a:p>
          <a:p>
            <a:r>
              <a:rPr lang="en-US" dirty="0" smtClean="0"/>
              <a:t>These </a:t>
            </a:r>
            <a:r>
              <a:rPr lang="en-US" dirty="0"/>
              <a:t>include industry studies of similar projects by risk specialists and risk databases from industry or proprietary </a:t>
            </a:r>
            <a:r>
              <a:rPr lang="en-US" dirty="0" smtClean="0"/>
              <a:t>source.</a:t>
            </a:r>
          </a:p>
          <a:p>
            <a:endParaRPr lang="en-US" dirty="0"/>
          </a:p>
          <a:p>
            <a:pPr marL="342900" lvl="3" indent="-342900">
              <a:buFont typeface="Arial" pitchFamily="34" charset="0"/>
              <a:buChar char="•"/>
            </a:pPr>
            <a:r>
              <a:rPr lang="en-US" sz="4600" b="1" dirty="0"/>
              <a:t>Organizational Process </a:t>
            </a:r>
            <a:r>
              <a:rPr lang="en-US" sz="4600" b="1" dirty="0" smtClean="0"/>
              <a:t>Asset</a:t>
            </a:r>
            <a:endParaRPr lang="en-US" sz="4600" dirty="0"/>
          </a:p>
          <a:p>
            <a:r>
              <a:rPr lang="en-US" dirty="0" smtClean="0"/>
              <a:t>These </a:t>
            </a:r>
            <a:r>
              <a:rPr lang="en-US" dirty="0"/>
              <a:t>will include the tools needed to carry out qualitative risk analysis, policies, </a:t>
            </a:r>
            <a:r>
              <a:rPr lang="en-US" dirty="0" smtClean="0"/>
              <a:t>procedures </a:t>
            </a:r>
            <a:r>
              <a:rPr lang="en-US" dirty="0"/>
              <a:t>and guidelines for risk management, and historical information including lessons learned from previous projects.</a:t>
            </a:r>
          </a:p>
          <a:p>
            <a:endParaRPr lang="en-US" dirty="0"/>
          </a:p>
        </p:txBody>
      </p:sp>
    </p:spTree>
    <p:extLst>
      <p:ext uri="{BB962C8B-B14F-4D97-AF65-F5344CB8AC3E}">
        <p14:creationId xmlns:p14="http://schemas.microsoft.com/office/powerpoint/2010/main" val="3189667328"/>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normAutofit fontScale="90000"/>
          </a:bodyPr>
          <a:lstStyle/>
          <a:p>
            <a:pPr lvl="2" algn="ctr" rtl="0">
              <a:spcBef>
                <a:spcPct val="0"/>
              </a:spcBef>
            </a:pPr>
            <a:r>
              <a:rPr lang="en-US" b="1" dirty="0"/>
              <a:t>Perform Qualitative Risk Analysis: Tools and Techniques</a:t>
            </a:r>
            <a:br>
              <a:rPr lang="en-US" b="1" dirty="0"/>
            </a:br>
            <a:endParaRPr lang="en-US" dirty="0"/>
          </a:p>
        </p:txBody>
      </p:sp>
      <p:sp>
        <p:nvSpPr>
          <p:cNvPr id="3" name="Content Placeholder 2"/>
          <p:cNvSpPr>
            <a:spLocks noGrp="1"/>
          </p:cNvSpPr>
          <p:nvPr>
            <p:ph idx="1"/>
          </p:nvPr>
        </p:nvSpPr>
        <p:spPr/>
        <p:txBody>
          <a:bodyPr/>
          <a:lstStyle/>
          <a:p>
            <a:endParaRPr lang="en-US" dirty="0"/>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4127" y="1011382"/>
            <a:ext cx="8298873" cy="3810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564052403"/>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Perform Qualitative Risk Analysis: Tools and Techniques</a:t>
            </a:r>
            <a:endParaRPr lang="en-US" dirty="0"/>
          </a:p>
        </p:txBody>
      </p:sp>
      <p:sp>
        <p:nvSpPr>
          <p:cNvPr id="3" name="Content Placeholder 2"/>
          <p:cNvSpPr>
            <a:spLocks noGrp="1"/>
          </p:cNvSpPr>
          <p:nvPr>
            <p:ph idx="1"/>
          </p:nvPr>
        </p:nvSpPr>
        <p:spPr/>
        <p:txBody>
          <a:bodyPr>
            <a:normAutofit fontScale="92500"/>
          </a:bodyPr>
          <a:lstStyle/>
          <a:p>
            <a:r>
              <a:rPr lang="en-US" b="1" dirty="0" smtClean="0"/>
              <a:t>Risk Probability and Impact Assessment</a:t>
            </a:r>
          </a:p>
          <a:p>
            <a:r>
              <a:rPr lang="en-US" sz="2400" dirty="0" smtClean="0"/>
              <a:t>Risk probability assessment investigates the likelihood that each specific risk will occur. Risk impact assessment investigates the potential effect on a project objective such as schedule, cost, quality, or performance, including both negative effects for threats and positive effects for opportunities.</a:t>
            </a:r>
          </a:p>
          <a:p>
            <a:endParaRPr lang="en-US" sz="2400" dirty="0" smtClean="0"/>
          </a:p>
          <a:p>
            <a:r>
              <a:rPr lang="en-US" sz="2400" dirty="0" smtClean="0"/>
              <a:t>Probability and impact are assessed for each identified risk. Risks can be assessed in interviews or meetings with participants selected for their familiarity with the risk categories on the agenda. Project team members and knowledgeable persons external to the project are included.</a:t>
            </a:r>
            <a:endParaRPr lang="en-US" sz="2400"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8229600" cy="1143000"/>
          </a:xfrm>
        </p:spPr>
        <p:txBody>
          <a:bodyPr>
            <a:normAutofit fontScale="90000"/>
          </a:bodyPr>
          <a:lstStyle/>
          <a:p>
            <a:r>
              <a:rPr lang="en-US" b="1" dirty="0" smtClean="0"/>
              <a:t>Risk Probability and Impact Assessment Cont.</a:t>
            </a:r>
            <a:br>
              <a:rPr lang="en-US" b="1" dirty="0" smtClean="0"/>
            </a:br>
            <a:r>
              <a:rPr lang="en-US" b="1" dirty="0" smtClean="0"/>
              <a:t> </a:t>
            </a:r>
            <a:endParaRPr lang="en-US" dirty="0"/>
          </a:p>
        </p:txBody>
      </p:sp>
      <p:sp>
        <p:nvSpPr>
          <p:cNvPr id="3" name="Content Placeholder 2"/>
          <p:cNvSpPr>
            <a:spLocks noGrp="1"/>
          </p:cNvSpPr>
          <p:nvPr>
            <p:ph idx="1"/>
          </p:nvPr>
        </p:nvSpPr>
        <p:spPr>
          <a:xfrm>
            <a:off x="381000" y="1295400"/>
            <a:ext cx="8229600" cy="3124200"/>
          </a:xfrm>
        </p:spPr>
        <p:txBody>
          <a:bodyPr>
            <a:normAutofit/>
          </a:bodyPr>
          <a:lstStyle/>
          <a:p>
            <a:r>
              <a:rPr lang="en-US" sz="2400" dirty="0" smtClean="0"/>
              <a:t>The level of probability for each risk and its impact on each objective is evaluated during the interview or meeting. Explanatory detail, including assumptions justifying the levels assigned, are also recorded. Risk probabilities and impacts are rated according to the definitions given in the risk management plan. Risks with low ratings of probability and impact will be included within the risk register as part of the watch list for future monitoring.</a:t>
            </a:r>
            <a:endParaRPr lang="en-US" sz="2400" dirty="0"/>
          </a:p>
        </p:txBody>
      </p:sp>
      <p:pic>
        <p:nvPicPr>
          <p:cNvPr id="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67200" y="4419600"/>
            <a:ext cx="3968998" cy="2285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1026" name="Picture 2" descr="Table 1. Program Risk Management Assessment Scale Example"/>
          <p:cNvPicPr>
            <a:picLocks noChangeAspect="1" noChangeArrowheads="1"/>
          </p:cNvPicPr>
          <p:nvPr/>
        </p:nvPicPr>
        <p:blipFill>
          <a:blip r:embed="rId2"/>
          <a:srcRect/>
          <a:stretch>
            <a:fillRect/>
          </a:stretch>
        </p:blipFill>
        <p:spPr bwMode="auto">
          <a:xfrm>
            <a:off x="0" y="838200"/>
            <a:ext cx="9144000" cy="5444764"/>
          </a:xfrm>
          <a:prstGeom prst="rect">
            <a:avLst/>
          </a:prstGeom>
          <a:noFill/>
        </p:spPr>
      </p:pic>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Probability and Impact Matrix</a:t>
            </a:r>
            <a:endParaRPr lang="en-US" dirty="0"/>
          </a:p>
        </p:txBody>
      </p:sp>
      <p:sp>
        <p:nvSpPr>
          <p:cNvPr id="3" name="Content Placeholder 2"/>
          <p:cNvSpPr>
            <a:spLocks noGrp="1"/>
          </p:cNvSpPr>
          <p:nvPr>
            <p:ph idx="1"/>
          </p:nvPr>
        </p:nvSpPr>
        <p:spPr/>
        <p:txBody>
          <a:bodyPr>
            <a:normAutofit fontScale="92500" lnSpcReduction="20000"/>
          </a:bodyPr>
          <a:lstStyle/>
          <a:p>
            <a:pPr algn="just"/>
            <a:r>
              <a:rPr lang="en-US" dirty="0" smtClean="0"/>
              <a:t>Risks can be prioritized for further quantitative analysis and planning risk responses based on their risk rating. Ratings are assigned to risks based on their assessed probability and impact. Evaluation of each risk’s importance and priority for attention is typically conducted using a look-up table or a probability and impact matrix. Such a matrix specifies combinations of probability and impact that lead to rating the risks as low, moderate, or high priority. Descriptive terms or numeric values can be used depending on organizational preference.</a:t>
            </a:r>
            <a:endParaRPr lang="en-US"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990600" y="1219200"/>
            <a:ext cx="7162800" cy="49530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cxnSp>
        <p:nvCxnSpPr>
          <p:cNvPr id="5" name="Straight Connector 4"/>
          <p:cNvCxnSpPr/>
          <p:nvPr/>
        </p:nvCxnSpPr>
        <p:spPr>
          <a:xfrm rot="5400000">
            <a:off x="152400" y="3505200"/>
            <a:ext cx="4572000" cy="1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 name="Straight Connector 5"/>
          <p:cNvCxnSpPr/>
          <p:nvPr/>
        </p:nvCxnSpPr>
        <p:spPr>
          <a:xfrm>
            <a:off x="2438400" y="1219200"/>
            <a:ext cx="5715000" cy="1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p:cNvCxnSpPr/>
          <p:nvPr/>
        </p:nvCxnSpPr>
        <p:spPr>
          <a:xfrm rot="10800000">
            <a:off x="990600" y="1981200"/>
            <a:ext cx="7162800" cy="1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rot="10800000">
            <a:off x="990600" y="2743200"/>
            <a:ext cx="7162800" cy="1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rot="10800000">
            <a:off x="990600" y="3505200"/>
            <a:ext cx="7162800" cy="1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rot="10800000">
            <a:off x="990600" y="4267200"/>
            <a:ext cx="7162800" cy="1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rot="5400000">
            <a:off x="1296194" y="3505200"/>
            <a:ext cx="4571206" cy="79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rot="5400000">
            <a:off x="2439194" y="3504406"/>
            <a:ext cx="4572000" cy="1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rot="5400000">
            <a:off x="3582194" y="3504406"/>
            <a:ext cx="4572000" cy="1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rot="5400000">
            <a:off x="4725194" y="3504406"/>
            <a:ext cx="4572000" cy="1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rot="10800000">
            <a:off x="990600" y="5029200"/>
            <a:ext cx="7162800" cy="1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6" name="Rectangle 15"/>
          <p:cNvSpPr/>
          <p:nvPr/>
        </p:nvSpPr>
        <p:spPr>
          <a:xfrm>
            <a:off x="2438400" y="1219200"/>
            <a:ext cx="1143000" cy="7620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7" name="Rectangle 16"/>
          <p:cNvSpPr/>
          <p:nvPr/>
        </p:nvSpPr>
        <p:spPr>
          <a:xfrm>
            <a:off x="2438400" y="1981200"/>
            <a:ext cx="1143000" cy="762000"/>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8" name="Rectangle 17"/>
          <p:cNvSpPr/>
          <p:nvPr/>
        </p:nvSpPr>
        <p:spPr>
          <a:xfrm>
            <a:off x="2438400" y="2743200"/>
            <a:ext cx="1143000" cy="7620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9" name="Rectangle 18"/>
          <p:cNvSpPr/>
          <p:nvPr/>
        </p:nvSpPr>
        <p:spPr>
          <a:xfrm>
            <a:off x="2438400" y="3505200"/>
            <a:ext cx="1143000" cy="7620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0" name="Rectangle 19"/>
          <p:cNvSpPr/>
          <p:nvPr/>
        </p:nvSpPr>
        <p:spPr>
          <a:xfrm>
            <a:off x="2438400" y="4267200"/>
            <a:ext cx="1143000" cy="7620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1" name="Rectangle 20"/>
          <p:cNvSpPr/>
          <p:nvPr/>
        </p:nvSpPr>
        <p:spPr>
          <a:xfrm>
            <a:off x="2438400" y="5029200"/>
            <a:ext cx="1143000" cy="7620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2" name="Rectangle 21"/>
          <p:cNvSpPr/>
          <p:nvPr/>
        </p:nvSpPr>
        <p:spPr>
          <a:xfrm>
            <a:off x="3581400" y="1219200"/>
            <a:ext cx="1143000" cy="7620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3" name="Rectangle 22"/>
          <p:cNvSpPr/>
          <p:nvPr/>
        </p:nvSpPr>
        <p:spPr>
          <a:xfrm>
            <a:off x="4724400" y="1219200"/>
            <a:ext cx="1143000" cy="7620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4" name="Rectangle 23"/>
          <p:cNvSpPr/>
          <p:nvPr/>
        </p:nvSpPr>
        <p:spPr>
          <a:xfrm>
            <a:off x="5867400" y="1219200"/>
            <a:ext cx="1143000" cy="7620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5" name="Rectangle 24"/>
          <p:cNvSpPr/>
          <p:nvPr/>
        </p:nvSpPr>
        <p:spPr>
          <a:xfrm>
            <a:off x="7010400" y="1219200"/>
            <a:ext cx="1143000" cy="7620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6" name="Rectangle 25"/>
          <p:cNvSpPr/>
          <p:nvPr/>
        </p:nvSpPr>
        <p:spPr>
          <a:xfrm>
            <a:off x="3581400" y="1981200"/>
            <a:ext cx="1143000" cy="762000"/>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7" name="Rectangle 26"/>
          <p:cNvSpPr/>
          <p:nvPr/>
        </p:nvSpPr>
        <p:spPr>
          <a:xfrm>
            <a:off x="3581400" y="2743200"/>
            <a:ext cx="1143000" cy="762000"/>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8" name="Rectangle 27"/>
          <p:cNvSpPr/>
          <p:nvPr/>
        </p:nvSpPr>
        <p:spPr>
          <a:xfrm>
            <a:off x="3581400" y="3505200"/>
            <a:ext cx="1143000" cy="7620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9" name="Rectangle 28"/>
          <p:cNvSpPr/>
          <p:nvPr/>
        </p:nvSpPr>
        <p:spPr>
          <a:xfrm>
            <a:off x="3581400" y="4267200"/>
            <a:ext cx="1143000" cy="7620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30" name="Rectangle 29"/>
          <p:cNvSpPr/>
          <p:nvPr/>
        </p:nvSpPr>
        <p:spPr>
          <a:xfrm>
            <a:off x="3581400" y="5029200"/>
            <a:ext cx="1143000" cy="7620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31" name="Rectangle 30"/>
          <p:cNvSpPr/>
          <p:nvPr/>
        </p:nvSpPr>
        <p:spPr>
          <a:xfrm>
            <a:off x="4724400" y="1981200"/>
            <a:ext cx="1143000" cy="7620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32" name="Rectangle 31"/>
          <p:cNvSpPr/>
          <p:nvPr/>
        </p:nvSpPr>
        <p:spPr>
          <a:xfrm>
            <a:off x="4724400" y="2743200"/>
            <a:ext cx="1143000" cy="7620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33" name="Rectangle 32"/>
          <p:cNvSpPr/>
          <p:nvPr/>
        </p:nvSpPr>
        <p:spPr>
          <a:xfrm>
            <a:off x="4724400" y="3505200"/>
            <a:ext cx="1143000" cy="762000"/>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34" name="Rectangle 33"/>
          <p:cNvSpPr/>
          <p:nvPr/>
        </p:nvSpPr>
        <p:spPr>
          <a:xfrm>
            <a:off x="4724400" y="4267200"/>
            <a:ext cx="1143000" cy="7620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35" name="Rectangle 34"/>
          <p:cNvSpPr/>
          <p:nvPr/>
        </p:nvSpPr>
        <p:spPr>
          <a:xfrm>
            <a:off x="4724400" y="5029200"/>
            <a:ext cx="1143000" cy="7620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36" name="Rectangle 35"/>
          <p:cNvSpPr/>
          <p:nvPr/>
        </p:nvSpPr>
        <p:spPr>
          <a:xfrm>
            <a:off x="5867400" y="1981200"/>
            <a:ext cx="1143000" cy="762000"/>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37" name="Rectangle 36"/>
          <p:cNvSpPr/>
          <p:nvPr/>
        </p:nvSpPr>
        <p:spPr>
          <a:xfrm>
            <a:off x="5867400" y="2743200"/>
            <a:ext cx="1143000" cy="7620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38" name="Rectangle 37"/>
          <p:cNvSpPr/>
          <p:nvPr/>
        </p:nvSpPr>
        <p:spPr>
          <a:xfrm>
            <a:off x="5867400" y="3505200"/>
            <a:ext cx="1143000" cy="7620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39" name="Rectangle 38"/>
          <p:cNvSpPr/>
          <p:nvPr/>
        </p:nvSpPr>
        <p:spPr>
          <a:xfrm>
            <a:off x="5867400" y="4267200"/>
            <a:ext cx="1143000" cy="762000"/>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40" name="Rectangle 39"/>
          <p:cNvSpPr/>
          <p:nvPr/>
        </p:nvSpPr>
        <p:spPr>
          <a:xfrm>
            <a:off x="5867400" y="5029200"/>
            <a:ext cx="1143000" cy="7620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41" name="Rectangle 40"/>
          <p:cNvSpPr/>
          <p:nvPr/>
        </p:nvSpPr>
        <p:spPr>
          <a:xfrm>
            <a:off x="7010400" y="1981200"/>
            <a:ext cx="1143000" cy="762000"/>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42" name="Rectangle 41"/>
          <p:cNvSpPr/>
          <p:nvPr/>
        </p:nvSpPr>
        <p:spPr>
          <a:xfrm>
            <a:off x="7010400" y="2743200"/>
            <a:ext cx="1143000" cy="762000"/>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43" name="Rectangle 42"/>
          <p:cNvSpPr/>
          <p:nvPr/>
        </p:nvSpPr>
        <p:spPr>
          <a:xfrm>
            <a:off x="7010400" y="3505200"/>
            <a:ext cx="1143000" cy="7620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44" name="Rectangle 43"/>
          <p:cNvSpPr/>
          <p:nvPr/>
        </p:nvSpPr>
        <p:spPr>
          <a:xfrm>
            <a:off x="7010400" y="4267200"/>
            <a:ext cx="1143000" cy="762000"/>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45" name="Rectangle 44"/>
          <p:cNvSpPr/>
          <p:nvPr/>
        </p:nvSpPr>
        <p:spPr>
          <a:xfrm>
            <a:off x="7010400" y="5029200"/>
            <a:ext cx="1143000" cy="7620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46" name="Rectangle 45"/>
          <p:cNvSpPr/>
          <p:nvPr/>
        </p:nvSpPr>
        <p:spPr>
          <a:xfrm>
            <a:off x="990600" y="1981200"/>
            <a:ext cx="1447800" cy="7620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47" name="Rectangle 46"/>
          <p:cNvSpPr/>
          <p:nvPr/>
        </p:nvSpPr>
        <p:spPr>
          <a:xfrm>
            <a:off x="990600" y="2743200"/>
            <a:ext cx="1447800" cy="7620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48" name="Rectangle 47"/>
          <p:cNvSpPr/>
          <p:nvPr/>
        </p:nvSpPr>
        <p:spPr>
          <a:xfrm>
            <a:off x="990600" y="3505200"/>
            <a:ext cx="1447800" cy="7620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49" name="Rectangle 48"/>
          <p:cNvSpPr/>
          <p:nvPr/>
        </p:nvSpPr>
        <p:spPr>
          <a:xfrm>
            <a:off x="990600" y="4267200"/>
            <a:ext cx="1447800" cy="7620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50" name="Rectangle 49"/>
          <p:cNvSpPr/>
          <p:nvPr/>
        </p:nvSpPr>
        <p:spPr>
          <a:xfrm>
            <a:off x="990600" y="5029200"/>
            <a:ext cx="1447800" cy="11430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51" name="Rectangle 50"/>
          <p:cNvSpPr/>
          <p:nvPr/>
        </p:nvSpPr>
        <p:spPr>
          <a:xfrm>
            <a:off x="990600" y="1219200"/>
            <a:ext cx="1447800" cy="7620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52" name="Rectangle 51"/>
          <p:cNvSpPr/>
          <p:nvPr/>
        </p:nvSpPr>
        <p:spPr>
          <a:xfrm>
            <a:off x="990600" y="5029200"/>
            <a:ext cx="1447800" cy="11430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53" name="Rectangle 52"/>
          <p:cNvSpPr/>
          <p:nvPr/>
        </p:nvSpPr>
        <p:spPr>
          <a:xfrm>
            <a:off x="990600" y="685800"/>
            <a:ext cx="7162800" cy="3810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54" name="TextBox 83"/>
          <p:cNvSpPr txBox="1"/>
          <p:nvPr/>
        </p:nvSpPr>
        <p:spPr>
          <a:xfrm>
            <a:off x="1219200" y="4267200"/>
            <a:ext cx="1042273" cy="646331"/>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dirty="0" smtClean="0"/>
              <a:t>Very Low</a:t>
            </a:r>
          </a:p>
          <a:p>
            <a:pPr algn="ctr"/>
            <a:r>
              <a:rPr lang="en-US" dirty="0"/>
              <a:t>1</a:t>
            </a:r>
          </a:p>
        </p:txBody>
      </p:sp>
      <p:sp>
        <p:nvSpPr>
          <p:cNvPr id="55" name="TextBox 84"/>
          <p:cNvSpPr txBox="1"/>
          <p:nvPr/>
        </p:nvSpPr>
        <p:spPr>
          <a:xfrm>
            <a:off x="1447800" y="3505200"/>
            <a:ext cx="568489" cy="646331"/>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dirty="0" smtClean="0"/>
              <a:t>Low</a:t>
            </a:r>
          </a:p>
          <a:p>
            <a:pPr algn="ctr"/>
            <a:r>
              <a:rPr lang="en-US" dirty="0"/>
              <a:t>2</a:t>
            </a:r>
          </a:p>
        </p:txBody>
      </p:sp>
      <p:sp>
        <p:nvSpPr>
          <p:cNvPr id="56" name="TextBox 85"/>
          <p:cNvSpPr txBox="1"/>
          <p:nvPr/>
        </p:nvSpPr>
        <p:spPr>
          <a:xfrm>
            <a:off x="1219200" y="2743200"/>
            <a:ext cx="978153" cy="646331"/>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dirty="0" smtClean="0"/>
              <a:t>Medium</a:t>
            </a:r>
          </a:p>
          <a:p>
            <a:pPr algn="ctr"/>
            <a:r>
              <a:rPr lang="en-US" dirty="0"/>
              <a:t>3</a:t>
            </a:r>
          </a:p>
        </p:txBody>
      </p:sp>
      <p:sp>
        <p:nvSpPr>
          <p:cNvPr id="57" name="TextBox 86"/>
          <p:cNvSpPr txBox="1"/>
          <p:nvPr/>
        </p:nvSpPr>
        <p:spPr>
          <a:xfrm>
            <a:off x="1371600" y="1981200"/>
            <a:ext cx="612668" cy="646331"/>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dirty="0" smtClean="0"/>
              <a:t>High</a:t>
            </a:r>
          </a:p>
          <a:p>
            <a:pPr algn="ctr"/>
            <a:r>
              <a:rPr lang="en-US" dirty="0" smtClean="0"/>
              <a:t>4</a:t>
            </a:r>
            <a:endParaRPr lang="en-US" dirty="0"/>
          </a:p>
        </p:txBody>
      </p:sp>
      <p:sp>
        <p:nvSpPr>
          <p:cNvPr id="58" name="TextBox 87"/>
          <p:cNvSpPr txBox="1"/>
          <p:nvPr/>
        </p:nvSpPr>
        <p:spPr>
          <a:xfrm>
            <a:off x="1143000" y="1219200"/>
            <a:ext cx="1086451" cy="646331"/>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dirty="0" smtClean="0"/>
              <a:t>Very High</a:t>
            </a:r>
          </a:p>
          <a:p>
            <a:pPr algn="ctr"/>
            <a:r>
              <a:rPr lang="en-US" dirty="0"/>
              <a:t>5</a:t>
            </a:r>
          </a:p>
        </p:txBody>
      </p:sp>
      <p:sp>
        <p:nvSpPr>
          <p:cNvPr id="59" name="TextBox 88"/>
          <p:cNvSpPr txBox="1"/>
          <p:nvPr/>
        </p:nvSpPr>
        <p:spPr>
          <a:xfrm>
            <a:off x="2514600" y="5029200"/>
            <a:ext cx="1042273" cy="646331"/>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dirty="0" smtClean="0"/>
              <a:t>Very Low</a:t>
            </a:r>
          </a:p>
          <a:p>
            <a:pPr algn="ctr"/>
            <a:r>
              <a:rPr lang="en-US" dirty="0" smtClean="0"/>
              <a:t>A</a:t>
            </a:r>
            <a:endParaRPr lang="en-US" dirty="0"/>
          </a:p>
        </p:txBody>
      </p:sp>
      <p:sp>
        <p:nvSpPr>
          <p:cNvPr id="60" name="TextBox 89"/>
          <p:cNvSpPr txBox="1"/>
          <p:nvPr/>
        </p:nvSpPr>
        <p:spPr>
          <a:xfrm>
            <a:off x="3886200" y="5029200"/>
            <a:ext cx="568489" cy="646331"/>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dirty="0" smtClean="0"/>
              <a:t>Low</a:t>
            </a:r>
          </a:p>
          <a:p>
            <a:pPr algn="ctr"/>
            <a:r>
              <a:rPr lang="en-US" dirty="0" smtClean="0"/>
              <a:t>B</a:t>
            </a:r>
            <a:endParaRPr lang="en-US" dirty="0"/>
          </a:p>
        </p:txBody>
      </p:sp>
      <p:sp>
        <p:nvSpPr>
          <p:cNvPr id="61" name="TextBox 90"/>
          <p:cNvSpPr txBox="1"/>
          <p:nvPr/>
        </p:nvSpPr>
        <p:spPr>
          <a:xfrm>
            <a:off x="4800600" y="5029200"/>
            <a:ext cx="978153" cy="646331"/>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dirty="0" smtClean="0"/>
              <a:t>Medium</a:t>
            </a:r>
          </a:p>
          <a:p>
            <a:pPr algn="ctr"/>
            <a:r>
              <a:rPr lang="en-US" dirty="0" smtClean="0"/>
              <a:t>C</a:t>
            </a:r>
            <a:endParaRPr lang="en-US" dirty="0"/>
          </a:p>
        </p:txBody>
      </p:sp>
      <p:sp>
        <p:nvSpPr>
          <p:cNvPr id="62" name="TextBox 91"/>
          <p:cNvSpPr txBox="1"/>
          <p:nvPr/>
        </p:nvSpPr>
        <p:spPr>
          <a:xfrm>
            <a:off x="6172200" y="5029200"/>
            <a:ext cx="612668" cy="646331"/>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dirty="0" smtClean="0"/>
              <a:t>High</a:t>
            </a:r>
          </a:p>
          <a:p>
            <a:pPr algn="ctr"/>
            <a:r>
              <a:rPr lang="en-US" dirty="0" smtClean="0"/>
              <a:t>D</a:t>
            </a:r>
            <a:endParaRPr lang="en-US" dirty="0"/>
          </a:p>
        </p:txBody>
      </p:sp>
      <p:sp>
        <p:nvSpPr>
          <p:cNvPr id="63" name="TextBox 92"/>
          <p:cNvSpPr txBox="1"/>
          <p:nvPr/>
        </p:nvSpPr>
        <p:spPr>
          <a:xfrm>
            <a:off x="7010400" y="5029200"/>
            <a:ext cx="1086451" cy="646331"/>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dirty="0" smtClean="0"/>
              <a:t>Very High</a:t>
            </a:r>
          </a:p>
          <a:p>
            <a:pPr algn="ctr"/>
            <a:r>
              <a:rPr lang="en-US" dirty="0" smtClean="0"/>
              <a:t>E</a:t>
            </a:r>
            <a:endParaRPr lang="en-US" dirty="0"/>
          </a:p>
        </p:txBody>
      </p:sp>
      <p:sp>
        <p:nvSpPr>
          <p:cNvPr id="64" name="Rectangle 63"/>
          <p:cNvSpPr/>
          <p:nvPr/>
        </p:nvSpPr>
        <p:spPr>
          <a:xfrm>
            <a:off x="2438400" y="1219200"/>
            <a:ext cx="1143000" cy="7620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65" name="Rectangle 64"/>
          <p:cNvSpPr/>
          <p:nvPr/>
        </p:nvSpPr>
        <p:spPr>
          <a:xfrm>
            <a:off x="3581400" y="1219200"/>
            <a:ext cx="1143000" cy="7620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66" name="Rectangle 65"/>
          <p:cNvSpPr/>
          <p:nvPr/>
        </p:nvSpPr>
        <p:spPr>
          <a:xfrm>
            <a:off x="4724400" y="1219200"/>
            <a:ext cx="1143000" cy="762000"/>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67" name="Rectangle 66"/>
          <p:cNvSpPr/>
          <p:nvPr/>
        </p:nvSpPr>
        <p:spPr>
          <a:xfrm>
            <a:off x="5867400" y="1219200"/>
            <a:ext cx="1143000" cy="762000"/>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68" name="Rectangle 67"/>
          <p:cNvSpPr/>
          <p:nvPr/>
        </p:nvSpPr>
        <p:spPr>
          <a:xfrm>
            <a:off x="7010400" y="1219200"/>
            <a:ext cx="1143000" cy="762000"/>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69" name="TextBox 99"/>
          <p:cNvSpPr txBox="1"/>
          <p:nvPr/>
        </p:nvSpPr>
        <p:spPr>
          <a:xfrm>
            <a:off x="2819400" y="685800"/>
            <a:ext cx="3217419" cy="369332"/>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b="1" dirty="0" smtClean="0"/>
              <a:t>Probability Impact Matrix (PIM)</a:t>
            </a:r>
            <a:endParaRPr lang="en-US" b="1" dirty="0"/>
          </a:p>
        </p:txBody>
      </p:sp>
      <p:sp>
        <p:nvSpPr>
          <p:cNvPr id="70" name="TextBox 105"/>
          <p:cNvSpPr txBox="1"/>
          <p:nvPr/>
        </p:nvSpPr>
        <p:spPr>
          <a:xfrm>
            <a:off x="1143000" y="5105400"/>
            <a:ext cx="1228606" cy="923330"/>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b="1" dirty="0" smtClean="0"/>
              <a:t>Risk</a:t>
            </a:r>
          </a:p>
          <a:p>
            <a:r>
              <a:rPr lang="en-US" b="1" dirty="0" smtClean="0"/>
              <a:t>Probability</a:t>
            </a:r>
          </a:p>
          <a:p>
            <a:r>
              <a:rPr lang="en-US" b="1" dirty="0" smtClean="0"/>
              <a:t>(like hood)</a:t>
            </a:r>
            <a:endParaRPr lang="en-US" b="1" dirty="0"/>
          </a:p>
        </p:txBody>
      </p:sp>
      <p:sp>
        <p:nvSpPr>
          <p:cNvPr id="71" name="TextBox 106"/>
          <p:cNvSpPr txBox="1"/>
          <p:nvPr/>
        </p:nvSpPr>
        <p:spPr>
          <a:xfrm>
            <a:off x="4114800" y="5791200"/>
            <a:ext cx="2239652" cy="369332"/>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b="1" dirty="0" smtClean="0"/>
              <a:t>Risk Impact (severity)</a:t>
            </a:r>
            <a:endParaRPr lang="en-US" b="1" dirty="0"/>
          </a:p>
        </p:txBody>
      </p:sp>
      <p:sp>
        <p:nvSpPr>
          <p:cNvPr id="72" name="TextBox 107"/>
          <p:cNvSpPr txBox="1"/>
          <p:nvPr/>
        </p:nvSpPr>
        <p:spPr>
          <a:xfrm>
            <a:off x="2819400" y="4419600"/>
            <a:ext cx="434734" cy="369332"/>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smtClean="0"/>
              <a:t>1A</a:t>
            </a:r>
            <a:endParaRPr lang="en-US" dirty="0"/>
          </a:p>
        </p:txBody>
      </p:sp>
      <p:sp>
        <p:nvSpPr>
          <p:cNvPr id="73" name="TextBox 108"/>
          <p:cNvSpPr txBox="1"/>
          <p:nvPr/>
        </p:nvSpPr>
        <p:spPr>
          <a:xfrm>
            <a:off x="6248400" y="4419600"/>
            <a:ext cx="444352" cy="369332"/>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smtClean="0"/>
              <a:t>1D</a:t>
            </a:r>
            <a:endParaRPr lang="en-US" dirty="0"/>
          </a:p>
        </p:txBody>
      </p:sp>
      <p:sp>
        <p:nvSpPr>
          <p:cNvPr id="74" name="TextBox 109"/>
          <p:cNvSpPr txBox="1"/>
          <p:nvPr/>
        </p:nvSpPr>
        <p:spPr>
          <a:xfrm>
            <a:off x="5029200" y="4419600"/>
            <a:ext cx="425116" cy="369332"/>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smtClean="0"/>
              <a:t>1C</a:t>
            </a:r>
            <a:endParaRPr lang="en-US" dirty="0"/>
          </a:p>
        </p:txBody>
      </p:sp>
      <p:sp>
        <p:nvSpPr>
          <p:cNvPr id="75" name="TextBox 110"/>
          <p:cNvSpPr txBox="1"/>
          <p:nvPr/>
        </p:nvSpPr>
        <p:spPr>
          <a:xfrm>
            <a:off x="7391400" y="4419600"/>
            <a:ext cx="413896" cy="369332"/>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smtClean="0"/>
              <a:t>1E</a:t>
            </a:r>
            <a:endParaRPr lang="en-US" dirty="0"/>
          </a:p>
        </p:txBody>
      </p:sp>
      <p:sp>
        <p:nvSpPr>
          <p:cNvPr id="76" name="TextBox 111"/>
          <p:cNvSpPr txBox="1"/>
          <p:nvPr/>
        </p:nvSpPr>
        <p:spPr>
          <a:xfrm>
            <a:off x="3886200" y="4419600"/>
            <a:ext cx="426720" cy="369332"/>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smtClean="0"/>
              <a:t>1B</a:t>
            </a:r>
            <a:endParaRPr lang="en-US" dirty="0"/>
          </a:p>
        </p:txBody>
      </p:sp>
      <p:sp>
        <p:nvSpPr>
          <p:cNvPr id="77" name="TextBox 112"/>
          <p:cNvSpPr txBox="1"/>
          <p:nvPr/>
        </p:nvSpPr>
        <p:spPr>
          <a:xfrm>
            <a:off x="2819400" y="3657600"/>
            <a:ext cx="434734" cy="369332"/>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2</a:t>
            </a:r>
            <a:r>
              <a:rPr lang="en-US" dirty="0" smtClean="0"/>
              <a:t>A</a:t>
            </a:r>
            <a:endParaRPr lang="en-US" dirty="0"/>
          </a:p>
        </p:txBody>
      </p:sp>
      <p:sp>
        <p:nvSpPr>
          <p:cNvPr id="78" name="TextBox 113"/>
          <p:cNvSpPr txBox="1"/>
          <p:nvPr/>
        </p:nvSpPr>
        <p:spPr>
          <a:xfrm>
            <a:off x="3886200" y="3657600"/>
            <a:ext cx="426720" cy="369332"/>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smtClean="0"/>
              <a:t>2B</a:t>
            </a:r>
            <a:endParaRPr lang="en-US" dirty="0"/>
          </a:p>
        </p:txBody>
      </p:sp>
      <p:sp>
        <p:nvSpPr>
          <p:cNvPr id="79" name="TextBox 114"/>
          <p:cNvSpPr txBox="1"/>
          <p:nvPr/>
        </p:nvSpPr>
        <p:spPr>
          <a:xfrm>
            <a:off x="5029200" y="3657600"/>
            <a:ext cx="425116" cy="369332"/>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smtClean="0"/>
              <a:t>2C</a:t>
            </a:r>
            <a:endParaRPr lang="en-US" dirty="0"/>
          </a:p>
        </p:txBody>
      </p:sp>
      <p:sp>
        <p:nvSpPr>
          <p:cNvPr id="80" name="TextBox 115"/>
          <p:cNvSpPr txBox="1"/>
          <p:nvPr/>
        </p:nvSpPr>
        <p:spPr>
          <a:xfrm>
            <a:off x="6248400" y="3657600"/>
            <a:ext cx="444352" cy="369332"/>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smtClean="0"/>
              <a:t>2D</a:t>
            </a:r>
            <a:endParaRPr lang="en-US" dirty="0"/>
          </a:p>
        </p:txBody>
      </p:sp>
      <p:sp>
        <p:nvSpPr>
          <p:cNvPr id="81" name="TextBox 116"/>
          <p:cNvSpPr txBox="1"/>
          <p:nvPr/>
        </p:nvSpPr>
        <p:spPr>
          <a:xfrm>
            <a:off x="7391400" y="3657600"/>
            <a:ext cx="413896" cy="369332"/>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smtClean="0"/>
              <a:t>2E</a:t>
            </a:r>
            <a:endParaRPr lang="en-US" dirty="0"/>
          </a:p>
        </p:txBody>
      </p:sp>
      <p:sp>
        <p:nvSpPr>
          <p:cNvPr id="82" name="TextBox 117"/>
          <p:cNvSpPr txBox="1"/>
          <p:nvPr/>
        </p:nvSpPr>
        <p:spPr>
          <a:xfrm>
            <a:off x="2819400" y="2895600"/>
            <a:ext cx="434734" cy="369332"/>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3</a:t>
            </a:r>
            <a:r>
              <a:rPr lang="en-US" dirty="0" smtClean="0"/>
              <a:t>A</a:t>
            </a:r>
            <a:endParaRPr lang="en-US" dirty="0"/>
          </a:p>
        </p:txBody>
      </p:sp>
      <p:sp>
        <p:nvSpPr>
          <p:cNvPr id="83" name="TextBox 118"/>
          <p:cNvSpPr txBox="1"/>
          <p:nvPr/>
        </p:nvSpPr>
        <p:spPr>
          <a:xfrm>
            <a:off x="2819400" y="2133600"/>
            <a:ext cx="434734" cy="369332"/>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4</a:t>
            </a:r>
            <a:r>
              <a:rPr lang="en-US" dirty="0" smtClean="0"/>
              <a:t>A</a:t>
            </a:r>
            <a:endParaRPr lang="en-US" dirty="0"/>
          </a:p>
        </p:txBody>
      </p:sp>
      <p:sp>
        <p:nvSpPr>
          <p:cNvPr id="84" name="TextBox 119"/>
          <p:cNvSpPr txBox="1"/>
          <p:nvPr/>
        </p:nvSpPr>
        <p:spPr>
          <a:xfrm>
            <a:off x="2819400" y="1371600"/>
            <a:ext cx="434734" cy="369332"/>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5</a:t>
            </a:r>
            <a:r>
              <a:rPr lang="en-US" dirty="0" smtClean="0"/>
              <a:t>A</a:t>
            </a:r>
            <a:endParaRPr lang="en-US" dirty="0"/>
          </a:p>
        </p:txBody>
      </p:sp>
      <p:sp>
        <p:nvSpPr>
          <p:cNvPr id="85" name="TextBox 120"/>
          <p:cNvSpPr txBox="1"/>
          <p:nvPr/>
        </p:nvSpPr>
        <p:spPr>
          <a:xfrm>
            <a:off x="3886200" y="2895600"/>
            <a:ext cx="426720" cy="369332"/>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smtClean="0"/>
              <a:t>3B</a:t>
            </a:r>
            <a:endParaRPr lang="en-US" dirty="0"/>
          </a:p>
        </p:txBody>
      </p:sp>
      <p:sp>
        <p:nvSpPr>
          <p:cNvPr id="86" name="TextBox 121"/>
          <p:cNvSpPr txBox="1"/>
          <p:nvPr/>
        </p:nvSpPr>
        <p:spPr>
          <a:xfrm>
            <a:off x="3886200" y="2133600"/>
            <a:ext cx="426720" cy="369332"/>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smtClean="0"/>
              <a:t>4B</a:t>
            </a:r>
            <a:endParaRPr lang="en-US" dirty="0"/>
          </a:p>
        </p:txBody>
      </p:sp>
      <p:sp>
        <p:nvSpPr>
          <p:cNvPr id="87" name="TextBox 122"/>
          <p:cNvSpPr txBox="1"/>
          <p:nvPr/>
        </p:nvSpPr>
        <p:spPr>
          <a:xfrm>
            <a:off x="3886200" y="1371600"/>
            <a:ext cx="426720" cy="369332"/>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smtClean="0"/>
              <a:t>5B</a:t>
            </a:r>
            <a:endParaRPr lang="en-US" dirty="0"/>
          </a:p>
        </p:txBody>
      </p:sp>
      <p:sp>
        <p:nvSpPr>
          <p:cNvPr id="88" name="TextBox 123"/>
          <p:cNvSpPr txBox="1"/>
          <p:nvPr/>
        </p:nvSpPr>
        <p:spPr>
          <a:xfrm>
            <a:off x="5029200" y="2895600"/>
            <a:ext cx="425116" cy="369332"/>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smtClean="0"/>
              <a:t>3C</a:t>
            </a:r>
            <a:endParaRPr lang="en-US" dirty="0"/>
          </a:p>
        </p:txBody>
      </p:sp>
      <p:sp>
        <p:nvSpPr>
          <p:cNvPr id="89" name="TextBox 124"/>
          <p:cNvSpPr txBox="1"/>
          <p:nvPr/>
        </p:nvSpPr>
        <p:spPr>
          <a:xfrm>
            <a:off x="5029200" y="2133600"/>
            <a:ext cx="425116" cy="369332"/>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smtClean="0"/>
              <a:t>4C</a:t>
            </a:r>
            <a:endParaRPr lang="en-US" dirty="0"/>
          </a:p>
        </p:txBody>
      </p:sp>
      <p:sp>
        <p:nvSpPr>
          <p:cNvPr id="90" name="TextBox 125"/>
          <p:cNvSpPr txBox="1"/>
          <p:nvPr/>
        </p:nvSpPr>
        <p:spPr>
          <a:xfrm>
            <a:off x="5105400" y="1371600"/>
            <a:ext cx="425116" cy="369332"/>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smtClean="0"/>
              <a:t>5C</a:t>
            </a:r>
            <a:endParaRPr lang="en-US" dirty="0"/>
          </a:p>
        </p:txBody>
      </p:sp>
      <p:sp>
        <p:nvSpPr>
          <p:cNvPr id="91" name="TextBox 126"/>
          <p:cNvSpPr txBox="1"/>
          <p:nvPr/>
        </p:nvSpPr>
        <p:spPr>
          <a:xfrm>
            <a:off x="6248400" y="1371600"/>
            <a:ext cx="444352" cy="369332"/>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smtClean="0"/>
              <a:t>5D</a:t>
            </a:r>
            <a:endParaRPr lang="en-US" dirty="0"/>
          </a:p>
        </p:txBody>
      </p:sp>
      <p:sp>
        <p:nvSpPr>
          <p:cNvPr id="92" name="TextBox 127"/>
          <p:cNvSpPr txBox="1"/>
          <p:nvPr/>
        </p:nvSpPr>
        <p:spPr>
          <a:xfrm>
            <a:off x="6248400" y="2133600"/>
            <a:ext cx="444352" cy="369332"/>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smtClean="0"/>
              <a:t>4D</a:t>
            </a:r>
            <a:endParaRPr lang="en-US" dirty="0"/>
          </a:p>
        </p:txBody>
      </p:sp>
      <p:sp>
        <p:nvSpPr>
          <p:cNvPr id="93" name="TextBox 128"/>
          <p:cNvSpPr txBox="1"/>
          <p:nvPr/>
        </p:nvSpPr>
        <p:spPr>
          <a:xfrm>
            <a:off x="6248400" y="2895600"/>
            <a:ext cx="444352" cy="369332"/>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smtClean="0"/>
              <a:t>3D</a:t>
            </a:r>
            <a:endParaRPr lang="en-US" dirty="0"/>
          </a:p>
        </p:txBody>
      </p:sp>
      <p:sp>
        <p:nvSpPr>
          <p:cNvPr id="94" name="TextBox 129"/>
          <p:cNvSpPr txBox="1"/>
          <p:nvPr/>
        </p:nvSpPr>
        <p:spPr>
          <a:xfrm>
            <a:off x="7391400" y="2895600"/>
            <a:ext cx="413896" cy="369332"/>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smtClean="0"/>
              <a:t>3E</a:t>
            </a:r>
            <a:endParaRPr lang="en-US" dirty="0"/>
          </a:p>
        </p:txBody>
      </p:sp>
      <p:sp>
        <p:nvSpPr>
          <p:cNvPr id="95" name="TextBox 130"/>
          <p:cNvSpPr txBox="1"/>
          <p:nvPr/>
        </p:nvSpPr>
        <p:spPr>
          <a:xfrm>
            <a:off x="7391400" y="2133600"/>
            <a:ext cx="413896" cy="369332"/>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smtClean="0"/>
              <a:t>4E</a:t>
            </a:r>
            <a:endParaRPr lang="en-US" dirty="0"/>
          </a:p>
        </p:txBody>
      </p:sp>
      <p:sp>
        <p:nvSpPr>
          <p:cNvPr id="96" name="TextBox 131"/>
          <p:cNvSpPr txBox="1"/>
          <p:nvPr/>
        </p:nvSpPr>
        <p:spPr>
          <a:xfrm>
            <a:off x="7391400" y="1371600"/>
            <a:ext cx="413896" cy="369332"/>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smtClean="0"/>
              <a:t>5E</a:t>
            </a:r>
            <a:endParaRPr lang="en-US" dirty="0"/>
          </a:p>
        </p:txBody>
      </p:sp>
      <p:sp>
        <p:nvSpPr>
          <p:cNvPr id="2" name="Rectangle 1"/>
          <p:cNvSpPr/>
          <p:nvPr/>
        </p:nvSpPr>
        <p:spPr>
          <a:xfrm>
            <a:off x="333967" y="6405265"/>
            <a:ext cx="6142292" cy="369332"/>
          </a:xfrm>
          <a:prstGeom prst="rect">
            <a:avLst/>
          </a:prstGeom>
        </p:spPr>
        <p:txBody>
          <a:bodyPr wrap="square">
            <a:spAutoFit/>
          </a:bodyPr>
          <a:lstStyle/>
          <a:p>
            <a:r>
              <a:rPr lang="en-US" dirty="0">
                <a:hlinkClick r:id="rId2"/>
              </a:rPr>
              <a:t>https://www.youtube.com/watch?v=-E-jfcoR2W0</a:t>
            </a:r>
            <a:endParaRPr lang="en-US"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smtClean="0"/>
              <a:t>Refer to research paper.</a:t>
            </a:r>
            <a:endParaRPr lang="en-US" dirty="0"/>
          </a:p>
        </p:txBody>
      </p:sp>
    </p:spTree>
    <p:extLst>
      <p:ext uri="{BB962C8B-B14F-4D97-AF65-F5344CB8AC3E}">
        <p14:creationId xmlns:p14="http://schemas.microsoft.com/office/powerpoint/2010/main" val="3169648932"/>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normAutofit fontScale="90000"/>
          </a:bodyPr>
          <a:lstStyle/>
          <a:p>
            <a:pPr fontAlgn="auto">
              <a:spcAft>
                <a:spcPts val="0"/>
              </a:spcAft>
              <a:defRPr/>
            </a:pPr>
            <a:r>
              <a:rPr lang="en-GB" dirty="0" smtClean="0">
                <a:latin typeface="Bitstream Vera Sans Mono" pitchFamily="49" charset="0"/>
              </a:rPr>
              <a:t>Example of a Risk Register</a:t>
            </a:r>
            <a:endParaRPr lang="en-GB" dirty="0">
              <a:latin typeface="Bitstream Vera Sans Mono" pitchFamily="49" charset="0"/>
            </a:endParaRPr>
          </a:p>
        </p:txBody>
      </p:sp>
      <p:sp>
        <p:nvSpPr>
          <p:cNvPr id="5123" name="TextBox 3"/>
          <p:cNvSpPr txBox="1">
            <a:spLocks noChangeArrowheads="1"/>
          </p:cNvSpPr>
          <p:nvPr/>
        </p:nvSpPr>
        <p:spPr bwMode="auto">
          <a:xfrm>
            <a:off x="7704138" y="3441700"/>
            <a:ext cx="1439862" cy="3416300"/>
          </a:xfrm>
          <a:prstGeom prst="rect">
            <a:avLst/>
          </a:prstGeom>
          <a:noFill/>
          <a:ln w="9525">
            <a:noFill/>
            <a:miter lim="800000"/>
            <a:headEnd/>
            <a:tailEnd/>
          </a:ln>
        </p:spPr>
        <p:txBody>
          <a:bodyPr>
            <a:spAutoFit/>
          </a:bodyPr>
          <a:lstStyle/>
          <a:p>
            <a:pPr algn="ctr"/>
            <a:r>
              <a:rPr lang="en-GB" sz="5400">
                <a:latin typeface="Arial Black" pitchFamily="34" charset="0"/>
              </a:rPr>
              <a:t>R</a:t>
            </a:r>
          </a:p>
          <a:p>
            <a:pPr algn="ctr"/>
            <a:r>
              <a:rPr lang="en-GB" sz="5400">
                <a:latin typeface="Arial Black" pitchFamily="34" charset="0"/>
              </a:rPr>
              <a:t>I</a:t>
            </a:r>
          </a:p>
          <a:p>
            <a:pPr algn="ctr"/>
            <a:r>
              <a:rPr lang="en-GB" sz="5400">
                <a:solidFill>
                  <a:srgbClr val="FFCC66"/>
                </a:solidFill>
                <a:latin typeface="Arial Black" pitchFamily="34" charset="0"/>
              </a:rPr>
              <a:t>S</a:t>
            </a:r>
          </a:p>
          <a:p>
            <a:pPr algn="ctr"/>
            <a:r>
              <a:rPr lang="en-GB" sz="5400">
                <a:latin typeface="Arial Black" pitchFamily="34" charset="0"/>
              </a:rPr>
              <a:t>K</a:t>
            </a:r>
          </a:p>
        </p:txBody>
      </p:sp>
      <p:pic>
        <p:nvPicPr>
          <p:cNvPr id="5124" name="Picture 1"/>
          <p:cNvPicPr>
            <a:picLocks noChangeAspect="1" noChangeArrowheads="1"/>
          </p:cNvPicPr>
          <p:nvPr/>
        </p:nvPicPr>
        <p:blipFill>
          <a:blip r:embed="rId2"/>
          <a:srcRect/>
          <a:stretch>
            <a:fillRect/>
          </a:stretch>
        </p:blipFill>
        <p:spPr bwMode="auto">
          <a:xfrm>
            <a:off x="0" y="5457825"/>
            <a:ext cx="1476375" cy="1400175"/>
          </a:xfrm>
          <a:prstGeom prst="rect">
            <a:avLst/>
          </a:prstGeom>
          <a:noFill/>
          <a:ln w="9525">
            <a:noFill/>
            <a:miter lim="800000"/>
            <a:headEnd/>
            <a:tailEnd/>
          </a:ln>
        </p:spPr>
      </p:pic>
      <p:graphicFrame>
        <p:nvGraphicFramePr>
          <p:cNvPr id="6" name="Table 5"/>
          <p:cNvGraphicFramePr>
            <a:graphicFrameLocks noGrp="1"/>
          </p:cNvGraphicFramePr>
          <p:nvPr>
            <p:extLst>
              <p:ext uri="{D42A27DB-BD31-4B8C-83A1-F6EECF244321}">
                <p14:modId xmlns:p14="http://schemas.microsoft.com/office/powerpoint/2010/main" val="3961073925"/>
              </p:ext>
            </p:extLst>
          </p:nvPr>
        </p:nvGraphicFramePr>
        <p:xfrm>
          <a:off x="990603" y="1219199"/>
          <a:ext cx="7182200" cy="4914224"/>
        </p:xfrm>
        <a:graphic>
          <a:graphicData uri="http://schemas.openxmlformats.org/drawingml/2006/table">
            <a:tbl>
              <a:tblPr>
                <a:tableStyleId>{BC89EF96-8CEA-46FF-86C4-4CE0E7609802}</a:tableStyleId>
              </a:tblPr>
              <a:tblGrid>
                <a:gridCol w="718220"/>
                <a:gridCol w="718220"/>
                <a:gridCol w="718220"/>
                <a:gridCol w="718220"/>
                <a:gridCol w="718220"/>
                <a:gridCol w="718220"/>
                <a:gridCol w="718220"/>
                <a:gridCol w="816491"/>
                <a:gridCol w="619949"/>
                <a:gridCol w="718220"/>
              </a:tblGrid>
              <a:tr h="335174">
                <a:tc>
                  <a:txBody>
                    <a:bodyPr/>
                    <a:lstStyle/>
                    <a:p>
                      <a:r>
                        <a:rPr lang="en-GB" sz="1050" dirty="0"/>
                        <a:t>Risk Category</a:t>
                      </a:r>
                    </a:p>
                  </a:txBody>
                  <a:tcPr marL="16656" marR="16656" marT="8328" marB="8328" anchor="ctr"/>
                </a:tc>
                <a:tc>
                  <a:txBody>
                    <a:bodyPr/>
                    <a:lstStyle/>
                    <a:p>
                      <a:r>
                        <a:rPr lang="en-GB" sz="1050"/>
                        <a:t>Risk Name</a:t>
                      </a:r>
                    </a:p>
                  </a:txBody>
                  <a:tcPr marL="16656" marR="16656" marT="8328" marB="8328" anchor="ctr"/>
                </a:tc>
                <a:tc>
                  <a:txBody>
                    <a:bodyPr/>
                    <a:lstStyle/>
                    <a:p>
                      <a:r>
                        <a:rPr lang="en-GB" sz="1050"/>
                        <a:t>Risk Number</a:t>
                      </a:r>
                    </a:p>
                  </a:txBody>
                  <a:tcPr marL="16656" marR="16656" marT="8328" marB="8328" anchor="ctr"/>
                </a:tc>
                <a:tc>
                  <a:txBody>
                    <a:bodyPr/>
                    <a:lstStyle/>
                    <a:p>
                      <a:r>
                        <a:rPr lang="en-GB" sz="1050"/>
                        <a:t>Probability (1-3)</a:t>
                      </a:r>
                    </a:p>
                  </a:txBody>
                  <a:tcPr marL="16656" marR="16656" marT="8328" marB="8328" anchor="ctr"/>
                </a:tc>
                <a:tc>
                  <a:txBody>
                    <a:bodyPr/>
                    <a:lstStyle/>
                    <a:p>
                      <a:r>
                        <a:rPr lang="en-GB" sz="1050"/>
                        <a:t>Impact (1-3)</a:t>
                      </a:r>
                    </a:p>
                  </a:txBody>
                  <a:tcPr marL="16656" marR="16656" marT="8328" marB="8328" anchor="ctr"/>
                </a:tc>
                <a:tc>
                  <a:txBody>
                    <a:bodyPr/>
                    <a:lstStyle/>
                    <a:p>
                      <a:r>
                        <a:rPr lang="en-GB" sz="1050"/>
                        <a:t>Risk Score</a:t>
                      </a:r>
                    </a:p>
                  </a:txBody>
                  <a:tcPr marL="16656" marR="16656" marT="8328" marB="8328" anchor="ctr"/>
                </a:tc>
                <a:tc>
                  <a:txBody>
                    <a:bodyPr/>
                    <a:lstStyle/>
                    <a:p>
                      <a:r>
                        <a:rPr lang="en-GB" sz="1050"/>
                        <a:t>Mitigation</a:t>
                      </a:r>
                    </a:p>
                  </a:txBody>
                  <a:tcPr marL="16656" marR="16656" marT="8328" marB="8328" anchor="ctr"/>
                </a:tc>
                <a:tc>
                  <a:txBody>
                    <a:bodyPr/>
                    <a:lstStyle/>
                    <a:p>
                      <a:r>
                        <a:rPr lang="en-GB" sz="1050"/>
                        <a:t>Contingency</a:t>
                      </a:r>
                    </a:p>
                  </a:txBody>
                  <a:tcPr marL="16656" marR="16656" marT="8328" marB="8328" anchor="ctr"/>
                </a:tc>
                <a:tc>
                  <a:txBody>
                    <a:bodyPr/>
                    <a:lstStyle/>
                    <a:p>
                      <a:r>
                        <a:rPr lang="en-GB" sz="1050"/>
                        <a:t>Action By</a:t>
                      </a:r>
                    </a:p>
                  </a:txBody>
                  <a:tcPr marL="16656" marR="16656" marT="8328" marB="8328" anchor="ctr"/>
                </a:tc>
                <a:tc>
                  <a:txBody>
                    <a:bodyPr/>
                    <a:lstStyle/>
                    <a:p>
                      <a:r>
                        <a:rPr lang="en-GB" sz="1050"/>
                        <a:t>Action When</a:t>
                      </a:r>
                    </a:p>
                  </a:txBody>
                  <a:tcPr marL="16656" marR="16656" marT="8328" marB="8328" anchor="ctr"/>
                </a:tc>
              </a:tr>
              <a:tr h="813064">
                <a:tc>
                  <a:txBody>
                    <a:bodyPr/>
                    <a:lstStyle/>
                    <a:p>
                      <a:r>
                        <a:rPr lang="en-GB" sz="1050"/>
                        <a:t>Guests</a:t>
                      </a:r>
                    </a:p>
                  </a:txBody>
                  <a:tcPr marL="16656" marR="16656" marT="8328" marB="8328" anchor="ctr"/>
                </a:tc>
                <a:tc>
                  <a:txBody>
                    <a:bodyPr/>
                    <a:lstStyle/>
                    <a:p>
                      <a:r>
                        <a:rPr lang="en-GB" sz="1050" dirty="0"/>
                        <a:t>The guests find the party boring</a:t>
                      </a:r>
                    </a:p>
                  </a:txBody>
                  <a:tcPr marL="16656" marR="16656" marT="8328" marB="8328" anchor="ctr"/>
                </a:tc>
                <a:tc>
                  <a:txBody>
                    <a:bodyPr/>
                    <a:lstStyle/>
                    <a:p>
                      <a:r>
                        <a:rPr lang="en-GB" sz="1050"/>
                        <a:t>1.1.</a:t>
                      </a:r>
                    </a:p>
                  </a:txBody>
                  <a:tcPr marL="16656" marR="16656" marT="8328" marB="8328" anchor="ctr"/>
                </a:tc>
                <a:tc>
                  <a:txBody>
                    <a:bodyPr/>
                    <a:lstStyle/>
                    <a:p>
                      <a:r>
                        <a:rPr lang="en-GB" sz="1050"/>
                        <a:t>2</a:t>
                      </a:r>
                    </a:p>
                  </a:txBody>
                  <a:tcPr marL="16656" marR="16656" marT="8328" marB="8328" anchor="ctr"/>
                </a:tc>
                <a:tc>
                  <a:txBody>
                    <a:bodyPr/>
                    <a:lstStyle/>
                    <a:p>
                      <a:r>
                        <a:rPr lang="en-GB" sz="1050"/>
                        <a:t>2</a:t>
                      </a:r>
                    </a:p>
                  </a:txBody>
                  <a:tcPr marL="16656" marR="16656" marT="8328" marB="8328" anchor="ctr"/>
                </a:tc>
                <a:tc>
                  <a:txBody>
                    <a:bodyPr/>
                    <a:lstStyle/>
                    <a:p>
                      <a:r>
                        <a:rPr lang="en-GB" sz="1050"/>
                        <a:t>4</a:t>
                      </a:r>
                    </a:p>
                  </a:txBody>
                  <a:tcPr marL="16656" marR="16656" marT="8328" marB="8328" anchor="ctr"/>
                </a:tc>
                <a:tc>
                  <a:txBody>
                    <a:bodyPr/>
                    <a:lstStyle/>
                    <a:p>
                      <a:r>
                        <a:rPr lang="en-GB" sz="1050"/>
                        <a:t>Invite crazy friends, provide sufficient liquor</a:t>
                      </a:r>
                    </a:p>
                  </a:txBody>
                  <a:tcPr marL="16656" marR="16656" marT="8328" marB="8328" anchor="ctr"/>
                </a:tc>
                <a:tc>
                  <a:txBody>
                    <a:bodyPr/>
                    <a:lstStyle/>
                    <a:p>
                      <a:r>
                        <a:rPr lang="en-GB" sz="1050" dirty="0"/>
                        <a:t>Bring out the </a:t>
                      </a:r>
                      <a:r>
                        <a:rPr lang="en-GB" sz="1050" dirty="0">
                          <a:hlinkClick r:id="rId3" action="ppaction://hlinkfile" tooltip="Karaoke"/>
                        </a:rPr>
                        <a:t>karaoke</a:t>
                      </a:r>
                      <a:endParaRPr lang="en-GB" sz="1050" dirty="0"/>
                    </a:p>
                  </a:txBody>
                  <a:tcPr marL="16656" marR="16656" marT="8328" marB="8328" anchor="ctr"/>
                </a:tc>
                <a:tc>
                  <a:txBody>
                    <a:bodyPr/>
                    <a:lstStyle/>
                    <a:p>
                      <a:r>
                        <a:rPr lang="en-GB" sz="1050" dirty="0"/>
                        <a:t>Mack</a:t>
                      </a:r>
                    </a:p>
                  </a:txBody>
                  <a:tcPr marL="16656" marR="16656" marT="8328" marB="8328" anchor="ctr"/>
                </a:tc>
                <a:tc>
                  <a:txBody>
                    <a:bodyPr/>
                    <a:lstStyle/>
                    <a:p>
                      <a:r>
                        <a:rPr lang="en-GB" sz="1050"/>
                        <a:t>within 2hrs</a:t>
                      </a:r>
                    </a:p>
                  </a:txBody>
                  <a:tcPr marL="16656" marR="16656" marT="8328" marB="8328" anchor="ctr"/>
                </a:tc>
              </a:tr>
              <a:tr h="972361">
                <a:tc>
                  <a:txBody>
                    <a:bodyPr/>
                    <a:lstStyle/>
                    <a:p>
                      <a:r>
                        <a:rPr lang="en-GB" sz="1050"/>
                        <a:t>Guests</a:t>
                      </a:r>
                    </a:p>
                  </a:txBody>
                  <a:tcPr marL="16656" marR="16656" marT="8328" marB="8328" anchor="ctr"/>
                </a:tc>
                <a:tc>
                  <a:txBody>
                    <a:bodyPr/>
                    <a:lstStyle/>
                    <a:p>
                      <a:r>
                        <a:rPr lang="en-GB" sz="1050"/>
                        <a:t>Drunken brawl</a:t>
                      </a:r>
                    </a:p>
                  </a:txBody>
                  <a:tcPr marL="16656" marR="16656" marT="8328" marB="8328" anchor="ctr"/>
                </a:tc>
                <a:tc>
                  <a:txBody>
                    <a:bodyPr/>
                    <a:lstStyle/>
                    <a:p>
                      <a:r>
                        <a:rPr lang="en-GB" sz="1050"/>
                        <a:t>1.2.</a:t>
                      </a:r>
                    </a:p>
                  </a:txBody>
                  <a:tcPr marL="16656" marR="16656" marT="8328" marB="8328" anchor="ctr"/>
                </a:tc>
                <a:tc>
                  <a:txBody>
                    <a:bodyPr/>
                    <a:lstStyle/>
                    <a:p>
                      <a:r>
                        <a:rPr lang="en-GB" sz="1050"/>
                        <a:t>1</a:t>
                      </a:r>
                    </a:p>
                  </a:txBody>
                  <a:tcPr marL="16656" marR="16656" marT="8328" marB="8328" anchor="ctr"/>
                </a:tc>
                <a:tc>
                  <a:txBody>
                    <a:bodyPr/>
                    <a:lstStyle/>
                    <a:p>
                      <a:r>
                        <a:rPr lang="en-GB" sz="1050"/>
                        <a:t>3</a:t>
                      </a:r>
                    </a:p>
                  </a:txBody>
                  <a:tcPr marL="16656" marR="16656" marT="8328" marB="8328" anchor="ctr"/>
                </a:tc>
                <a:tc>
                  <a:txBody>
                    <a:bodyPr/>
                    <a:lstStyle/>
                    <a:p>
                      <a:r>
                        <a:rPr lang="en-GB" sz="1050"/>
                        <a:t>3</a:t>
                      </a:r>
                    </a:p>
                  </a:txBody>
                  <a:tcPr marL="16656" marR="16656" marT="8328" marB="8328" anchor="ctr"/>
                </a:tc>
                <a:tc>
                  <a:txBody>
                    <a:bodyPr/>
                    <a:lstStyle/>
                    <a:p>
                      <a:r>
                        <a:rPr lang="en-GB" sz="1050"/>
                        <a:t>Don’t invite crazy friends, don't provide too much liquor</a:t>
                      </a:r>
                    </a:p>
                  </a:txBody>
                  <a:tcPr marL="16656" marR="16656" marT="8328" marB="8328" anchor="ctr"/>
                </a:tc>
                <a:tc>
                  <a:txBody>
                    <a:bodyPr/>
                    <a:lstStyle/>
                    <a:p>
                      <a:r>
                        <a:rPr lang="en-GB" sz="1050"/>
                        <a:t>Bring in the guards</a:t>
                      </a:r>
                    </a:p>
                  </a:txBody>
                  <a:tcPr marL="16656" marR="16656" marT="8328" marB="8328" anchor="ctr"/>
                </a:tc>
                <a:tc>
                  <a:txBody>
                    <a:bodyPr/>
                    <a:lstStyle/>
                    <a:p>
                      <a:r>
                        <a:rPr lang="en-GB" sz="1050"/>
                        <a:t>Jerry</a:t>
                      </a:r>
                    </a:p>
                  </a:txBody>
                  <a:tcPr marL="16656" marR="16656" marT="8328" marB="8328" anchor="ctr"/>
                </a:tc>
                <a:tc>
                  <a:txBody>
                    <a:bodyPr/>
                    <a:lstStyle/>
                    <a:p>
                      <a:r>
                        <a:rPr lang="en-GB" sz="1050"/>
                        <a:t>Now</a:t>
                      </a:r>
                    </a:p>
                  </a:txBody>
                  <a:tcPr marL="16656" marR="16656" marT="8328" marB="8328" anchor="ctr"/>
                </a:tc>
              </a:tr>
              <a:tr h="494471">
                <a:tc>
                  <a:txBody>
                    <a:bodyPr/>
                    <a:lstStyle/>
                    <a:p>
                      <a:r>
                        <a:rPr lang="en-GB" sz="1050"/>
                        <a:t>Nature</a:t>
                      </a:r>
                    </a:p>
                  </a:txBody>
                  <a:tcPr marL="16656" marR="16656" marT="8328" marB="8328" anchor="ctr"/>
                </a:tc>
                <a:tc>
                  <a:txBody>
                    <a:bodyPr/>
                    <a:lstStyle/>
                    <a:p>
                      <a:r>
                        <a:rPr lang="en-GB" sz="1050"/>
                        <a:t>Rain</a:t>
                      </a:r>
                    </a:p>
                  </a:txBody>
                  <a:tcPr marL="16656" marR="16656" marT="8328" marB="8328" anchor="ctr"/>
                </a:tc>
                <a:tc>
                  <a:txBody>
                    <a:bodyPr/>
                    <a:lstStyle/>
                    <a:p>
                      <a:r>
                        <a:rPr lang="en-GB" sz="1050"/>
                        <a:t>2.1.</a:t>
                      </a:r>
                    </a:p>
                  </a:txBody>
                  <a:tcPr marL="16656" marR="16656" marT="8328" marB="8328" anchor="ctr"/>
                </a:tc>
                <a:tc>
                  <a:txBody>
                    <a:bodyPr/>
                    <a:lstStyle/>
                    <a:p>
                      <a:r>
                        <a:rPr lang="en-GB" sz="1050"/>
                        <a:t>2</a:t>
                      </a:r>
                    </a:p>
                  </a:txBody>
                  <a:tcPr marL="16656" marR="16656" marT="8328" marB="8328" anchor="ctr"/>
                </a:tc>
                <a:tc>
                  <a:txBody>
                    <a:bodyPr/>
                    <a:lstStyle/>
                    <a:p>
                      <a:r>
                        <a:rPr lang="en-GB" sz="1050"/>
                        <a:t>2</a:t>
                      </a:r>
                    </a:p>
                  </a:txBody>
                  <a:tcPr marL="16656" marR="16656" marT="8328" marB="8328" anchor="ctr"/>
                </a:tc>
                <a:tc>
                  <a:txBody>
                    <a:bodyPr/>
                    <a:lstStyle/>
                    <a:p>
                      <a:r>
                        <a:rPr lang="en-GB" sz="1050"/>
                        <a:t>4</a:t>
                      </a:r>
                    </a:p>
                  </a:txBody>
                  <a:tcPr marL="16656" marR="16656" marT="8328" marB="8328" anchor="ctr"/>
                </a:tc>
                <a:tc>
                  <a:txBody>
                    <a:bodyPr/>
                    <a:lstStyle/>
                    <a:p>
                      <a:r>
                        <a:rPr lang="en-GB" sz="1050"/>
                        <a:t>Have the party indoors</a:t>
                      </a:r>
                    </a:p>
                  </a:txBody>
                  <a:tcPr marL="16656" marR="16656" marT="8328" marB="8328" anchor="ctr"/>
                </a:tc>
                <a:tc>
                  <a:txBody>
                    <a:bodyPr/>
                    <a:lstStyle/>
                    <a:p>
                      <a:r>
                        <a:rPr lang="en-GB" sz="1050"/>
                        <a:t>Move the party indoors</a:t>
                      </a:r>
                    </a:p>
                  </a:txBody>
                  <a:tcPr marL="16656" marR="16656" marT="8328" marB="8328" anchor="ctr"/>
                </a:tc>
                <a:tc>
                  <a:txBody>
                    <a:bodyPr/>
                    <a:lstStyle/>
                    <a:p>
                      <a:r>
                        <a:rPr lang="en-GB" sz="1050"/>
                        <a:t>Milind</a:t>
                      </a:r>
                    </a:p>
                  </a:txBody>
                  <a:tcPr marL="16656" marR="16656" marT="8328" marB="8328" anchor="ctr"/>
                </a:tc>
                <a:tc>
                  <a:txBody>
                    <a:bodyPr/>
                    <a:lstStyle/>
                    <a:p>
                      <a:r>
                        <a:rPr lang="en-GB" sz="1050"/>
                        <a:t>10mins</a:t>
                      </a:r>
                    </a:p>
                  </a:txBody>
                  <a:tcPr marL="16656" marR="16656" marT="8328" marB="8328" anchor="ctr"/>
                </a:tc>
              </a:tr>
              <a:tr h="1290955">
                <a:tc>
                  <a:txBody>
                    <a:bodyPr/>
                    <a:lstStyle/>
                    <a:p>
                      <a:r>
                        <a:rPr lang="en-GB" sz="1050"/>
                        <a:t>Nature</a:t>
                      </a:r>
                    </a:p>
                  </a:txBody>
                  <a:tcPr marL="16656" marR="16656" marT="8328" marB="8328" anchor="ctr"/>
                </a:tc>
                <a:tc>
                  <a:txBody>
                    <a:bodyPr/>
                    <a:lstStyle/>
                    <a:p>
                      <a:r>
                        <a:rPr lang="en-GB" sz="1050"/>
                        <a:t>Earthquake or fire</a:t>
                      </a:r>
                    </a:p>
                  </a:txBody>
                  <a:tcPr marL="16656" marR="16656" marT="8328" marB="8328" anchor="ctr"/>
                </a:tc>
                <a:tc>
                  <a:txBody>
                    <a:bodyPr/>
                    <a:lstStyle/>
                    <a:p>
                      <a:r>
                        <a:rPr lang="en-GB" sz="1050"/>
                        <a:t>2.2.</a:t>
                      </a:r>
                    </a:p>
                  </a:txBody>
                  <a:tcPr marL="16656" marR="16656" marT="8328" marB="8328" anchor="ctr"/>
                </a:tc>
                <a:tc>
                  <a:txBody>
                    <a:bodyPr/>
                    <a:lstStyle/>
                    <a:p>
                      <a:r>
                        <a:rPr lang="en-GB" sz="1050"/>
                        <a:t>1</a:t>
                      </a:r>
                    </a:p>
                  </a:txBody>
                  <a:tcPr marL="16656" marR="16656" marT="8328" marB="8328" anchor="ctr"/>
                </a:tc>
                <a:tc>
                  <a:txBody>
                    <a:bodyPr/>
                    <a:lstStyle/>
                    <a:p>
                      <a:r>
                        <a:rPr lang="en-GB" sz="1050" dirty="0"/>
                        <a:t>3</a:t>
                      </a:r>
                    </a:p>
                  </a:txBody>
                  <a:tcPr marL="16656" marR="16656" marT="8328" marB="8328" anchor="ctr"/>
                </a:tc>
                <a:tc>
                  <a:txBody>
                    <a:bodyPr/>
                    <a:lstStyle/>
                    <a:p>
                      <a:r>
                        <a:rPr lang="en-GB" sz="1050"/>
                        <a:t>3</a:t>
                      </a:r>
                    </a:p>
                  </a:txBody>
                  <a:tcPr marL="16656" marR="16656" marT="8328" marB="8328" anchor="ctr"/>
                </a:tc>
                <a:tc>
                  <a:txBody>
                    <a:bodyPr/>
                    <a:lstStyle/>
                    <a:p>
                      <a:r>
                        <a:rPr lang="en-GB" sz="1050"/>
                        <a:t>Start the party with instructions on what to do in the event of fire or earthquake</a:t>
                      </a:r>
                    </a:p>
                  </a:txBody>
                  <a:tcPr marL="16656" marR="16656" marT="8328" marB="8328" anchor="ctr"/>
                </a:tc>
                <a:tc>
                  <a:txBody>
                    <a:bodyPr/>
                    <a:lstStyle/>
                    <a:p>
                      <a:r>
                        <a:rPr lang="en-GB" sz="1050"/>
                        <a:t>Implement the appropriate natural disaster response plan</a:t>
                      </a:r>
                    </a:p>
                  </a:txBody>
                  <a:tcPr marL="16656" marR="16656" marT="8328" marB="8328" anchor="ctr"/>
                </a:tc>
                <a:tc>
                  <a:txBody>
                    <a:bodyPr/>
                    <a:lstStyle/>
                    <a:p>
                      <a:r>
                        <a:rPr lang="en-GB" sz="1050"/>
                        <a:t>Everyone</a:t>
                      </a:r>
                    </a:p>
                  </a:txBody>
                  <a:tcPr marL="16656" marR="16656" marT="8328" marB="8328" anchor="ctr"/>
                </a:tc>
                <a:tc>
                  <a:txBody>
                    <a:bodyPr/>
                    <a:lstStyle/>
                    <a:p>
                      <a:r>
                        <a:rPr lang="en-GB" sz="1050"/>
                        <a:t>As per plan</a:t>
                      </a:r>
                    </a:p>
                  </a:txBody>
                  <a:tcPr marL="16656" marR="16656" marT="8328" marB="8328" anchor="ctr"/>
                </a:tc>
              </a:tr>
              <a:tr h="335174">
                <a:tc>
                  <a:txBody>
                    <a:bodyPr/>
                    <a:lstStyle/>
                    <a:p>
                      <a:r>
                        <a:rPr lang="en-GB" sz="1050"/>
                        <a:t>Food</a:t>
                      </a:r>
                    </a:p>
                  </a:txBody>
                  <a:tcPr marL="16656" marR="16656" marT="8328" marB="8328" anchor="ctr"/>
                </a:tc>
                <a:tc>
                  <a:txBody>
                    <a:bodyPr/>
                    <a:lstStyle/>
                    <a:p>
                      <a:r>
                        <a:rPr lang="en-GB" sz="1050"/>
                        <a:t>Not enough food</a:t>
                      </a:r>
                    </a:p>
                  </a:txBody>
                  <a:tcPr marL="16656" marR="16656" marT="8328" marB="8328" anchor="ctr"/>
                </a:tc>
                <a:tc>
                  <a:txBody>
                    <a:bodyPr/>
                    <a:lstStyle/>
                    <a:p>
                      <a:r>
                        <a:rPr lang="en-GB" sz="1050"/>
                        <a:t>3.1.</a:t>
                      </a:r>
                    </a:p>
                  </a:txBody>
                  <a:tcPr marL="16656" marR="16656" marT="8328" marB="8328" anchor="ctr"/>
                </a:tc>
                <a:tc>
                  <a:txBody>
                    <a:bodyPr/>
                    <a:lstStyle/>
                    <a:p>
                      <a:r>
                        <a:rPr lang="en-GB" sz="1050"/>
                        <a:t>1</a:t>
                      </a:r>
                    </a:p>
                  </a:txBody>
                  <a:tcPr marL="16656" marR="16656" marT="8328" marB="8328" anchor="ctr"/>
                </a:tc>
                <a:tc>
                  <a:txBody>
                    <a:bodyPr/>
                    <a:lstStyle/>
                    <a:p>
                      <a:r>
                        <a:rPr lang="en-GB" sz="1050"/>
                        <a:t>2</a:t>
                      </a:r>
                    </a:p>
                  </a:txBody>
                  <a:tcPr marL="16656" marR="16656" marT="8328" marB="8328" anchor="ctr"/>
                </a:tc>
                <a:tc>
                  <a:txBody>
                    <a:bodyPr/>
                    <a:lstStyle/>
                    <a:p>
                      <a:r>
                        <a:rPr lang="en-GB" sz="1050"/>
                        <a:t>2</a:t>
                      </a:r>
                    </a:p>
                  </a:txBody>
                  <a:tcPr marL="16656" marR="16656" marT="8328" marB="8328" anchor="ctr"/>
                </a:tc>
                <a:tc>
                  <a:txBody>
                    <a:bodyPr/>
                    <a:lstStyle/>
                    <a:p>
                      <a:r>
                        <a:rPr lang="en-GB" sz="1050"/>
                        <a:t>Have a buffer</a:t>
                      </a:r>
                    </a:p>
                  </a:txBody>
                  <a:tcPr marL="16656" marR="16656" marT="8328" marB="8328" anchor="ctr"/>
                </a:tc>
                <a:tc>
                  <a:txBody>
                    <a:bodyPr/>
                    <a:lstStyle/>
                    <a:p>
                      <a:r>
                        <a:rPr lang="en-GB" sz="1050"/>
                        <a:t>Order pizza</a:t>
                      </a:r>
                    </a:p>
                  </a:txBody>
                  <a:tcPr marL="16656" marR="16656" marT="8328" marB="8328" anchor="ctr"/>
                </a:tc>
                <a:tc>
                  <a:txBody>
                    <a:bodyPr/>
                    <a:lstStyle/>
                    <a:p>
                      <a:r>
                        <a:rPr lang="en-GB" sz="1050"/>
                        <a:t>Magua</a:t>
                      </a:r>
                    </a:p>
                  </a:txBody>
                  <a:tcPr marL="16656" marR="16656" marT="8328" marB="8328" anchor="ctr"/>
                </a:tc>
                <a:tc>
                  <a:txBody>
                    <a:bodyPr/>
                    <a:lstStyle/>
                    <a:p>
                      <a:r>
                        <a:rPr lang="en-GB" sz="1050"/>
                        <a:t>30mins</a:t>
                      </a:r>
                    </a:p>
                  </a:txBody>
                  <a:tcPr marL="16656" marR="16656" marT="8328" marB="8328" anchor="ctr"/>
                </a:tc>
              </a:tr>
              <a:tr h="653768">
                <a:tc>
                  <a:txBody>
                    <a:bodyPr/>
                    <a:lstStyle/>
                    <a:p>
                      <a:r>
                        <a:rPr lang="en-GB" sz="1050"/>
                        <a:t>Food</a:t>
                      </a:r>
                    </a:p>
                  </a:txBody>
                  <a:tcPr marL="16656" marR="16656" marT="8328" marB="8328" anchor="ctr"/>
                </a:tc>
                <a:tc>
                  <a:txBody>
                    <a:bodyPr/>
                    <a:lstStyle/>
                    <a:p>
                      <a:r>
                        <a:rPr lang="en-GB" sz="1050"/>
                        <a:t>Food is spoiled</a:t>
                      </a:r>
                    </a:p>
                  </a:txBody>
                  <a:tcPr marL="16656" marR="16656" marT="8328" marB="8328" anchor="ctr"/>
                </a:tc>
                <a:tc>
                  <a:txBody>
                    <a:bodyPr/>
                    <a:lstStyle/>
                    <a:p>
                      <a:r>
                        <a:rPr lang="en-GB" sz="1050"/>
                        <a:t>3.2.</a:t>
                      </a:r>
                    </a:p>
                  </a:txBody>
                  <a:tcPr marL="16656" marR="16656" marT="8328" marB="8328" anchor="ctr"/>
                </a:tc>
                <a:tc>
                  <a:txBody>
                    <a:bodyPr/>
                    <a:lstStyle/>
                    <a:p>
                      <a:r>
                        <a:rPr lang="en-GB" sz="1050"/>
                        <a:t>1</a:t>
                      </a:r>
                    </a:p>
                  </a:txBody>
                  <a:tcPr marL="16656" marR="16656" marT="8328" marB="8328" anchor="ctr"/>
                </a:tc>
                <a:tc>
                  <a:txBody>
                    <a:bodyPr/>
                    <a:lstStyle/>
                    <a:p>
                      <a:r>
                        <a:rPr lang="en-GB" sz="1050"/>
                        <a:t>3</a:t>
                      </a:r>
                    </a:p>
                  </a:txBody>
                  <a:tcPr marL="16656" marR="16656" marT="8328" marB="8328" anchor="ctr"/>
                </a:tc>
                <a:tc>
                  <a:txBody>
                    <a:bodyPr/>
                    <a:lstStyle/>
                    <a:p>
                      <a:r>
                        <a:rPr lang="en-GB" sz="1050"/>
                        <a:t>3</a:t>
                      </a:r>
                    </a:p>
                  </a:txBody>
                  <a:tcPr marL="16656" marR="16656" marT="8328" marB="8328" anchor="ctr"/>
                </a:tc>
                <a:tc>
                  <a:txBody>
                    <a:bodyPr/>
                    <a:lstStyle/>
                    <a:p>
                      <a:r>
                        <a:rPr lang="en-GB" sz="1050"/>
                        <a:t>Store the food in deep freezer</a:t>
                      </a:r>
                    </a:p>
                  </a:txBody>
                  <a:tcPr marL="16656" marR="16656" marT="8328" marB="8328" anchor="ctr"/>
                </a:tc>
                <a:tc>
                  <a:txBody>
                    <a:bodyPr/>
                    <a:lstStyle/>
                    <a:p>
                      <a:r>
                        <a:rPr lang="en-GB" sz="1050"/>
                        <a:t>Order pizza</a:t>
                      </a:r>
                    </a:p>
                  </a:txBody>
                  <a:tcPr marL="16656" marR="16656" marT="8328" marB="8328" anchor="ctr"/>
                </a:tc>
                <a:tc>
                  <a:txBody>
                    <a:bodyPr/>
                    <a:lstStyle/>
                    <a:p>
                      <a:r>
                        <a:rPr lang="en-GB" sz="1050"/>
                        <a:t>Zubair Malik</a:t>
                      </a:r>
                    </a:p>
                  </a:txBody>
                  <a:tcPr marL="16656" marR="16656" marT="8328" marB="8328" anchor="ctr"/>
                </a:tc>
                <a:tc>
                  <a:txBody>
                    <a:bodyPr/>
                    <a:lstStyle/>
                    <a:p>
                      <a:r>
                        <a:rPr lang="en-GB" sz="1050" dirty="0"/>
                        <a:t>30mins</a:t>
                      </a:r>
                    </a:p>
                  </a:txBody>
                  <a:tcPr marL="16656" marR="16656" marT="8328" marB="8328" anchor="ctr"/>
                </a:tc>
              </a:tr>
            </a:tbl>
          </a:graphicData>
        </a:graphic>
      </p:graphicFrame>
      <p:sp>
        <p:nvSpPr>
          <p:cNvPr id="5215" name="Rectangle 2"/>
          <p:cNvSpPr>
            <a:spLocks noChangeArrowheads="1"/>
          </p:cNvSpPr>
          <p:nvPr/>
        </p:nvSpPr>
        <p:spPr bwMode="auto">
          <a:xfrm>
            <a:off x="0" y="0"/>
            <a:ext cx="9144000" cy="457200"/>
          </a:xfrm>
          <a:prstGeom prst="rect">
            <a:avLst/>
          </a:prstGeom>
          <a:noFill/>
          <a:ln w="9525">
            <a:noFill/>
            <a:miter lim="800000"/>
            <a:headEnd/>
            <a:tailEnd/>
          </a:ln>
        </p:spPr>
        <p:txBody>
          <a:bodyPr wrap="none" lIns="0" tIns="0" rIns="0" bIns="63480" anchor="ctr">
            <a:spAutoFit/>
          </a:bodyPr>
          <a:lstStyle/>
          <a:p>
            <a:r>
              <a:rPr lang="en-US" sz="900"/>
              <a:t>Risk Register for project "birthday party"</a:t>
            </a:r>
            <a:endParaRPr lang="en-US"/>
          </a:p>
        </p:txBody>
      </p:sp>
    </p:spTree>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8229600" cy="1143000"/>
          </a:xfrm>
        </p:spPr>
        <p:txBody>
          <a:bodyPr/>
          <a:lstStyle/>
          <a:p>
            <a:r>
              <a:rPr lang="en-US" b="1" dirty="0" smtClean="0"/>
              <a:t>Risk Data Quality Assessment</a:t>
            </a:r>
            <a:endParaRPr lang="en-US" dirty="0"/>
          </a:p>
        </p:txBody>
      </p:sp>
      <p:sp>
        <p:nvSpPr>
          <p:cNvPr id="3" name="Content Placeholder 2"/>
          <p:cNvSpPr>
            <a:spLocks noGrp="1"/>
          </p:cNvSpPr>
          <p:nvPr>
            <p:ph idx="1"/>
          </p:nvPr>
        </p:nvSpPr>
        <p:spPr/>
        <p:txBody>
          <a:bodyPr>
            <a:normAutofit fontScale="85000" lnSpcReduction="10000"/>
          </a:bodyPr>
          <a:lstStyle/>
          <a:p>
            <a:pPr algn="just"/>
            <a:r>
              <a:rPr lang="en-US" dirty="0" smtClean="0"/>
              <a:t>Risk data quality assessment is a technique to evaluate the degree to which the data about risks is useful for risk management. It involves examining the degree to which the risk is understood and the accuracy, quality, reliability, and integrity of the data about the risk.</a:t>
            </a:r>
          </a:p>
          <a:p>
            <a:pPr algn="just"/>
            <a:r>
              <a:rPr lang="en-US" dirty="0" smtClean="0"/>
              <a:t>The use of low-quality risk data may lead to a qualitative risk analysis of little use to the project. If data quality is unacceptable, it may be necessary to gather better data. Often, the collection of information about risks is difficult, and consumes more time and resources than originally planned. </a:t>
            </a:r>
            <a:endParaRPr lang="en-US"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Risk Categorization</a:t>
            </a:r>
            <a:endParaRPr lang="en-US" dirty="0"/>
          </a:p>
        </p:txBody>
      </p:sp>
      <p:sp>
        <p:nvSpPr>
          <p:cNvPr id="3" name="Content Placeholder 2"/>
          <p:cNvSpPr>
            <a:spLocks noGrp="1"/>
          </p:cNvSpPr>
          <p:nvPr>
            <p:ph idx="1"/>
          </p:nvPr>
        </p:nvSpPr>
        <p:spPr>
          <a:xfrm>
            <a:off x="228600" y="1425599"/>
            <a:ext cx="8458200" cy="4525963"/>
          </a:xfrm>
        </p:spPr>
        <p:txBody>
          <a:bodyPr>
            <a:normAutofit fontScale="92500" lnSpcReduction="10000"/>
          </a:bodyPr>
          <a:lstStyle/>
          <a:p>
            <a:pPr algn="just"/>
            <a:r>
              <a:rPr lang="en-US" dirty="0" smtClean="0"/>
              <a:t>Risks to the project can be categorized by sources of risk (e.g., using the RBS), the area of the project affected (e.g., using the WBS), or other useful categories (e.g., project phase) to determine the areas of the project most exposed to the effects of uncertainty. Risks can also be categorized by common root causes. This technique helps determine work packages, activities, project phases or even roles in the project, which can lead to the development of effective risk responses.</a:t>
            </a:r>
            <a:endParaRPr lang="en-US" dirty="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rmAutofit fontScale="90000"/>
          </a:bodyPr>
          <a:lstStyle/>
          <a:p>
            <a:r>
              <a:rPr lang="en-US" b="1" dirty="0" smtClean="0"/>
              <a:t>Risk Urgency Assessment</a:t>
            </a:r>
            <a:endParaRPr lang="en-US" dirty="0"/>
          </a:p>
        </p:txBody>
      </p:sp>
      <p:sp>
        <p:nvSpPr>
          <p:cNvPr id="3" name="Content Placeholder 2"/>
          <p:cNvSpPr>
            <a:spLocks noGrp="1"/>
          </p:cNvSpPr>
          <p:nvPr>
            <p:ph idx="1"/>
          </p:nvPr>
        </p:nvSpPr>
        <p:spPr>
          <a:xfrm>
            <a:off x="228600" y="990600"/>
            <a:ext cx="8686800" cy="5562600"/>
          </a:xfrm>
        </p:spPr>
        <p:txBody>
          <a:bodyPr>
            <a:normAutofit fontScale="85000" lnSpcReduction="20000"/>
          </a:bodyPr>
          <a:lstStyle/>
          <a:p>
            <a:pPr algn="just"/>
            <a:r>
              <a:rPr lang="en-US" dirty="0"/>
              <a:t>The purpose of this risk urgency assessment technique is to identify near term risks. We are trying to determine which risks are to be considered urgent. In other words, we are trying to identify those risks that require our immediate attention</a:t>
            </a:r>
            <a:r>
              <a:rPr lang="en-US" dirty="0" smtClean="0"/>
              <a:t>.</a:t>
            </a:r>
          </a:p>
          <a:p>
            <a:r>
              <a:rPr lang="en-US" b="1" dirty="0"/>
              <a:t>How to Identify a Near Term Risk?</a:t>
            </a:r>
            <a:r>
              <a:rPr lang="en-US" dirty="0"/>
              <a:t/>
            </a:r>
            <a:br>
              <a:rPr lang="en-US" dirty="0"/>
            </a:br>
            <a:r>
              <a:rPr lang="en-US" dirty="0"/>
              <a:t/>
            </a:r>
            <a:br>
              <a:rPr lang="en-US" dirty="0"/>
            </a:br>
            <a:r>
              <a:rPr lang="en-US" dirty="0"/>
              <a:t>According to the PMBOK guide, we can identify near-term risks by considering either/all of the below factors</a:t>
            </a:r>
            <a:r>
              <a:rPr lang="en-US" dirty="0" smtClean="0"/>
              <a:t>:</a:t>
            </a:r>
          </a:p>
          <a:p>
            <a:r>
              <a:rPr lang="en-US" dirty="0"/>
              <a:t>a. Time Available to put a risk response into motion – </a:t>
            </a:r>
            <a:r>
              <a:rPr lang="en-US" dirty="0" smtClean="0">
                <a:solidFill>
                  <a:srgbClr val="FF0000"/>
                </a:solidFill>
              </a:rPr>
              <a:t>(Opportunity came for small time Timeframe)</a:t>
            </a:r>
          </a:p>
          <a:p>
            <a:r>
              <a:rPr lang="en-US" dirty="0"/>
              <a:t>b. The symptoms and/or warning signs of the risk – </a:t>
            </a:r>
            <a:r>
              <a:rPr lang="en-US" dirty="0" smtClean="0"/>
              <a:t>(</a:t>
            </a:r>
            <a:r>
              <a:rPr lang="en-US" dirty="0" smtClean="0">
                <a:solidFill>
                  <a:srgbClr val="FF0000"/>
                </a:solidFill>
              </a:rPr>
              <a:t>Symptoms </a:t>
            </a:r>
            <a:r>
              <a:rPr lang="en-US" dirty="0">
                <a:solidFill>
                  <a:srgbClr val="FF0000"/>
                </a:solidFill>
              </a:rPr>
              <a:t>or Warning signs are also known as Risk Triggers</a:t>
            </a:r>
            <a:r>
              <a:rPr lang="en-US" dirty="0" smtClean="0">
                <a:solidFill>
                  <a:srgbClr val="FF0000"/>
                </a:solidFill>
              </a:rPr>
              <a:t>.)</a:t>
            </a:r>
          </a:p>
          <a:p>
            <a:r>
              <a:rPr lang="en-US" dirty="0"/>
              <a:t>c. Risk rating score –</a:t>
            </a:r>
            <a:endParaRPr lang="en-US" dirty="0">
              <a:solidFill>
                <a:srgbClr val="FF0000"/>
              </a:solidFill>
            </a:endParaRP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normAutofit fontScale="90000"/>
          </a:bodyPr>
          <a:lstStyle/>
          <a:p>
            <a:r>
              <a:rPr lang="en-US" b="1" dirty="0" smtClean="0"/>
              <a:t>Expert Judgment</a:t>
            </a:r>
            <a:endParaRPr lang="en-US" dirty="0"/>
          </a:p>
        </p:txBody>
      </p:sp>
      <p:sp>
        <p:nvSpPr>
          <p:cNvPr id="3" name="Content Placeholder 2"/>
          <p:cNvSpPr>
            <a:spLocks noGrp="1"/>
          </p:cNvSpPr>
          <p:nvPr>
            <p:ph idx="1"/>
          </p:nvPr>
        </p:nvSpPr>
        <p:spPr/>
        <p:txBody>
          <a:bodyPr>
            <a:normAutofit/>
          </a:bodyPr>
          <a:lstStyle/>
          <a:p>
            <a:pPr algn="just"/>
            <a:r>
              <a:rPr lang="en-US" dirty="0" smtClean="0"/>
              <a:t>Expert judgment is required to assess the probability and impact of each risk to determine its location in the matrix shown in Figure. Experts generally are those having experience with similar, recent projects. Gathering expert judgment is often accomplished with the use of risk facilitation workshops or interviews. The experts’ bias should be taken into account in this process.</a:t>
            </a:r>
            <a:endParaRPr lang="en-US" dirty="0"/>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2" algn="ctr" rtl="0">
              <a:spcBef>
                <a:spcPct val="0"/>
              </a:spcBef>
            </a:pPr>
            <a:r>
              <a:rPr lang="en-US" b="1" dirty="0"/>
              <a:t>Perform Qualitative Risk Analysis: Outputs</a:t>
            </a:r>
            <a:br>
              <a:rPr lang="en-US" b="1" dirty="0"/>
            </a:br>
            <a:endParaRPr lang="en-US" dirty="0"/>
          </a:p>
        </p:txBody>
      </p:sp>
      <p:sp>
        <p:nvSpPr>
          <p:cNvPr id="3" name="Content Placeholder 2"/>
          <p:cNvSpPr>
            <a:spLocks noGrp="1"/>
          </p:cNvSpPr>
          <p:nvPr>
            <p:ph idx="1"/>
          </p:nvPr>
        </p:nvSpPr>
        <p:spPr/>
        <p:txBody>
          <a:bodyPr/>
          <a:lstStyle/>
          <a:p>
            <a:endParaRPr lang="en-US" dirty="0"/>
          </a:p>
        </p:txBody>
      </p:sp>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76400" y="2438400"/>
            <a:ext cx="6953250" cy="2781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805285552"/>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81000"/>
            <a:ext cx="8229600" cy="639762"/>
          </a:xfrm>
        </p:spPr>
        <p:txBody>
          <a:bodyPr>
            <a:normAutofit fontScale="90000"/>
          </a:bodyPr>
          <a:lstStyle/>
          <a:p>
            <a:r>
              <a:rPr lang="en-US" dirty="0" smtClean="0"/>
              <a:t>Project Documents Updates</a:t>
            </a:r>
            <a:br>
              <a:rPr lang="en-US" dirty="0" smtClean="0"/>
            </a:br>
            <a:endParaRPr lang="en-US" dirty="0"/>
          </a:p>
        </p:txBody>
      </p:sp>
      <p:sp>
        <p:nvSpPr>
          <p:cNvPr id="3" name="Content Placeholder 2"/>
          <p:cNvSpPr>
            <a:spLocks noGrp="1"/>
          </p:cNvSpPr>
          <p:nvPr>
            <p:ph idx="1"/>
          </p:nvPr>
        </p:nvSpPr>
        <p:spPr>
          <a:xfrm>
            <a:off x="457200" y="1066800"/>
            <a:ext cx="8229600" cy="5287963"/>
          </a:xfrm>
        </p:spPr>
        <p:txBody>
          <a:bodyPr>
            <a:normAutofit fontScale="70000" lnSpcReduction="20000"/>
          </a:bodyPr>
          <a:lstStyle/>
          <a:p>
            <a:pPr algn="just"/>
            <a:r>
              <a:rPr lang="en-US" dirty="0" smtClean="0"/>
              <a:t>The </a:t>
            </a:r>
            <a:r>
              <a:rPr lang="en-US" dirty="0"/>
              <a:t>risk register can be updated with the following information</a:t>
            </a:r>
            <a:r>
              <a:rPr lang="en-US" dirty="0" smtClean="0"/>
              <a:t>.</a:t>
            </a:r>
          </a:p>
          <a:p>
            <a:pPr lvl="0" algn="just"/>
            <a:r>
              <a:rPr lang="en-US" b="1" i="1" dirty="0"/>
              <a:t>Relative ranking or priority list of project risks</a:t>
            </a:r>
            <a:r>
              <a:rPr lang="en-US" dirty="0"/>
              <a:t>—the probability and impact matrix can be used to classify risks according to their individual significance. Risks may be listed by priority separately for schedule, cost, and performance since </a:t>
            </a:r>
            <a:r>
              <a:rPr lang="en-US" dirty="0" smtClean="0"/>
              <a:t>organizations </a:t>
            </a:r>
            <a:r>
              <a:rPr lang="en-US" dirty="0"/>
              <a:t>may value one objective over another. The project manager can then use the prioritized list of risks to focus attention on those items of high significance to the most important objectives</a:t>
            </a:r>
            <a:r>
              <a:rPr lang="en-US" dirty="0" smtClean="0"/>
              <a:t>.</a:t>
            </a:r>
          </a:p>
          <a:p>
            <a:pPr lvl="0" algn="just"/>
            <a:endParaRPr lang="en-US" dirty="0"/>
          </a:p>
          <a:p>
            <a:pPr lvl="0" algn="just"/>
            <a:r>
              <a:rPr lang="en-US" b="1" i="1" dirty="0"/>
              <a:t>Risks grouped by categories</a:t>
            </a:r>
            <a:r>
              <a:rPr lang="en-US" dirty="0"/>
              <a:t>—this can point to common underlying causes of risk, which may in turn suggest a holistic approach to dealing with them. Discovering concentrations of risk may also improve the effectiveness of risk responses</a:t>
            </a:r>
            <a:r>
              <a:rPr lang="en-US" dirty="0" smtClean="0"/>
              <a:t>.</a:t>
            </a:r>
          </a:p>
          <a:p>
            <a:pPr lvl="0" algn="just"/>
            <a:endParaRPr lang="en-US" dirty="0"/>
          </a:p>
          <a:p>
            <a:pPr lvl="0" algn="just"/>
            <a:r>
              <a:rPr lang="en-US" b="1" i="1" dirty="0"/>
              <a:t>List of risks requiring response in the near-term</a:t>
            </a:r>
            <a:r>
              <a:rPr lang="en-US" dirty="0"/>
              <a:t>—includes those risks that require an urgent response and those that can be handled at a later date may be put into different groups.</a:t>
            </a:r>
          </a:p>
          <a:p>
            <a:pPr algn="just"/>
            <a:endParaRPr lang="en-US" dirty="0"/>
          </a:p>
          <a:p>
            <a:pPr algn="just"/>
            <a:endParaRPr lang="en-US" dirty="0"/>
          </a:p>
        </p:txBody>
      </p:sp>
    </p:spTree>
    <p:extLst>
      <p:ext uri="{BB962C8B-B14F-4D97-AF65-F5344CB8AC3E}">
        <p14:creationId xmlns:p14="http://schemas.microsoft.com/office/powerpoint/2010/main" val="388776735"/>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87362"/>
          </a:xfrm>
        </p:spPr>
        <p:txBody>
          <a:bodyPr>
            <a:normAutofit fontScale="90000"/>
          </a:bodyPr>
          <a:lstStyle/>
          <a:p>
            <a:r>
              <a:rPr lang="en-US" dirty="0" smtClean="0"/>
              <a:t>Cont.</a:t>
            </a:r>
            <a:endParaRPr lang="en-US" dirty="0"/>
          </a:p>
        </p:txBody>
      </p:sp>
      <p:sp>
        <p:nvSpPr>
          <p:cNvPr id="3" name="Content Placeholder 2"/>
          <p:cNvSpPr>
            <a:spLocks noGrp="1"/>
          </p:cNvSpPr>
          <p:nvPr>
            <p:ph idx="1"/>
          </p:nvPr>
        </p:nvSpPr>
        <p:spPr>
          <a:xfrm>
            <a:off x="457200" y="914400"/>
            <a:ext cx="8229600" cy="5791199"/>
          </a:xfrm>
        </p:spPr>
        <p:txBody>
          <a:bodyPr>
            <a:normAutofit fontScale="77500" lnSpcReduction="20000"/>
          </a:bodyPr>
          <a:lstStyle/>
          <a:p>
            <a:pPr lvl="0" algn="just"/>
            <a:r>
              <a:rPr lang="en-US" b="1" i="1" dirty="0"/>
              <a:t>List of risks for additional analysis and response</a:t>
            </a:r>
            <a:r>
              <a:rPr lang="en-US" dirty="0"/>
              <a:t>—some risks might warrant more analysis, including Quantitative Risk Analysis, as well as response action</a:t>
            </a:r>
            <a:r>
              <a:rPr lang="en-US" dirty="0" smtClean="0"/>
              <a:t>.</a:t>
            </a:r>
          </a:p>
          <a:p>
            <a:pPr lvl="0" algn="just"/>
            <a:endParaRPr lang="en-US" dirty="0"/>
          </a:p>
          <a:p>
            <a:pPr lvl="0" algn="just"/>
            <a:r>
              <a:rPr lang="en-US" b="1" i="1" dirty="0"/>
              <a:t>Watch lists of low-priority risks</a:t>
            </a:r>
            <a:r>
              <a:rPr lang="en-US" dirty="0"/>
              <a:t>—those that are not assessed as important in this process can be placed on a watch list for continued monitoring</a:t>
            </a:r>
            <a:r>
              <a:rPr lang="en-US" dirty="0" smtClean="0"/>
              <a:t>.</a:t>
            </a:r>
          </a:p>
          <a:p>
            <a:pPr lvl="0" algn="just"/>
            <a:endParaRPr lang="en-US" dirty="0"/>
          </a:p>
          <a:p>
            <a:pPr lvl="0" algn="just"/>
            <a:r>
              <a:rPr lang="en-US" b="1" i="1" dirty="0"/>
              <a:t>Trends in the analysis results</a:t>
            </a:r>
            <a:r>
              <a:rPr lang="en-US" dirty="0"/>
              <a:t>—as this process is iterative, trends for particular types of risk may become apparent. This information can be fed back into the risk management process</a:t>
            </a:r>
            <a:r>
              <a:rPr lang="en-US" dirty="0" smtClean="0"/>
              <a:t>.</a:t>
            </a:r>
          </a:p>
          <a:p>
            <a:pPr marL="0" lvl="0" indent="0" algn="just">
              <a:buNone/>
            </a:pPr>
            <a:endParaRPr lang="en-US" dirty="0"/>
          </a:p>
          <a:p>
            <a:pPr lvl="0" algn="just"/>
            <a:r>
              <a:rPr lang="en-US" b="1" i="1" dirty="0"/>
              <a:t>Assumptions Log</a:t>
            </a:r>
            <a:r>
              <a:rPr lang="en-US" dirty="0"/>
              <a:t>—the project scope statement may contain assumptions about the project, which may be updated as a result of the qualitative risk analysis done in this process.</a:t>
            </a:r>
          </a:p>
          <a:p>
            <a:pPr algn="just"/>
            <a:endParaRPr lang="en-US" dirty="0"/>
          </a:p>
        </p:txBody>
      </p:sp>
    </p:spTree>
    <p:extLst>
      <p:ext uri="{BB962C8B-B14F-4D97-AF65-F5344CB8AC3E}">
        <p14:creationId xmlns:p14="http://schemas.microsoft.com/office/powerpoint/2010/main" val="90880966"/>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smtClean="0"/>
              <a:t>The END.</a:t>
            </a:r>
            <a:endParaRPr lang="en-US"/>
          </a:p>
        </p:txBody>
      </p:sp>
    </p:spTree>
    <p:extLst>
      <p:ext uri="{BB962C8B-B14F-4D97-AF65-F5344CB8AC3E}">
        <p14:creationId xmlns:p14="http://schemas.microsoft.com/office/powerpoint/2010/main" val="36284433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3131</TotalTime>
  <Words>5314</Words>
  <Application>Microsoft Office PowerPoint</Application>
  <PresentationFormat>On-screen Show (4:3)</PresentationFormat>
  <Paragraphs>596</Paragraphs>
  <Slides>94</Slides>
  <Notes>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94</vt:i4>
      </vt:variant>
    </vt:vector>
  </HeadingPairs>
  <TitlesOfParts>
    <vt:vector size="101" baseType="lpstr">
      <vt:lpstr>ＭＳ Ｐゴシック</vt:lpstr>
      <vt:lpstr>ＭＳ Ｐゴシック</vt:lpstr>
      <vt:lpstr>Arial</vt:lpstr>
      <vt:lpstr>Arial Black</vt:lpstr>
      <vt:lpstr>Bitstream Vera Sans Mono</vt:lpstr>
      <vt:lpstr>Calibri</vt:lpstr>
      <vt:lpstr>Office Theme</vt:lpstr>
      <vt:lpstr>Risk Identification Process</vt:lpstr>
      <vt:lpstr>PowerPoint Presentation</vt:lpstr>
      <vt:lpstr>identify Risks </vt:lpstr>
      <vt:lpstr>Risk Identification Process</vt:lpstr>
      <vt:lpstr>PowerPoint Presentation</vt:lpstr>
      <vt:lpstr>Risk Management Plan </vt:lpstr>
      <vt:lpstr>Cost, Schedule and Quality Management Plans </vt:lpstr>
      <vt:lpstr>Human Resource (HR) Management Plan </vt:lpstr>
      <vt:lpstr>PowerPoint Presentation</vt:lpstr>
      <vt:lpstr>PowerPoint Presentation</vt:lpstr>
      <vt:lpstr>PowerPoint Presentation</vt:lpstr>
      <vt:lpstr>PowerPoint Presentation</vt:lpstr>
      <vt:lpstr>PowerPoint Presentation</vt:lpstr>
      <vt:lpstr>Delta’s Ground Crew Orchestrates a Smooth Takeoff (case Study)</vt:lpstr>
      <vt:lpstr>Service For a Delta Jet</vt:lpstr>
      <vt:lpstr>CPM Example.</vt:lpstr>
      <vt:lpstr>AON Example </vt:lpstr>
      <vt:lpstr>PowerPoint Presentation</vt:lpstr>
      <vt:lpstr>PowerPoint Presentation</vt:lpstr>
      <vt:lpstr>PowerPoint Presentation</vt:lpstr>
      <vt:lpstr>Documentation Reviews </vt:lpstr>
      <vt:lpstr>Information Gathering Techniques </vt:lpstr>
      <vt:lpstr>Class Activity</vt:lpstr>
      <vt:lpstr>PowerPoint Presentation</vt:lpstr>
      <vt:lpstr>Brain Storming (example)</vt:lpstr>
      <vt:lpstr>Assumptions</vt:lpstr>
      <vt:lpstr>Assumption Log</vt:lpstr>
      <vt:lpstr>Assumption log Example</vt:lpstr>
      <vt:lpstr>Assumptions Analysis </vt:lpstr>
      <vt:lpstr>Diagramming Techniques </vt:lpstr>
      <vt:lpstr>Cause &amp; Effect Diagram</vt:lpstr>
      <vt:lpstr>PowerPoint Presentation</vt:lpstr>
      <vt:lpstr>PowerPoint Presentation</vt:lpstr>
      <vt:lpstr>Class Practice</vt:lpstr>
      <vt:lpstr>PowerPoint Presentation</vt:lpstr>
      <vt:lpstr>Analysis of Inadequate Production of Headers class exercise</vt:lpstr>
      <vt:lpstr>PowerPoint Presentation</vt:lpstr>
      <vt:lpstr>PowerPoint Presentation</vt:lpstr>
      <vt:lpstr>DECISION POINT </vt:lpstr>
      <vt:lpstr>The first originates from lean manufacturing and the Toyota Production System, it is The 5 Ms</vt:lpstr>
      <vt:lpstr>PowerPoint Presentation</vt:lpstr>
      <vt:lpstr>PowerPoint Presentation</vt:lpstr>
      <vt:lpstr>SWOT</vt:lpstr>
      <vt:lpstr>PowerPoint Presentation</vt:lpstr>
      <vt:lpstr>Class Discussion</vt:lpstr>
      <vt:lpstr>Strengths, Weaknesses, Opportunities and Threats (SWOT). </vt:lpstr>
      <vt:lpstr>PowerPoint Presentation</vt:lpstr>
      <vt:lpstr>PowerPoint Presentation</vt:lpstr>
      <vt:lpstr>PowerPoint Presentation</vt:lpstr>
      <vt:lpstr>PowerPoint Presentation</vt:lpstr>
      <vt:lpstr>Risk Register </vt:lpstr>
      <vt:lpstr>Risk Register</vt:lpstr>
      <vt:lpstr>GENERAL PROJECT RISK CHARACTERIZATION </vt:lpstr>
      <vt:lpstr>PowerPoint Presentation</vt:lpstr>
      <vt:lpstr>PowerPoint Presentation</vt:lpstr>
      <vt:lpstr>GRM Risk Categories</vt:lpstr>
      <vt:lpstr>PowerPoint Presentation</vt:lpstr>
      <vt:lpstr>PowerPoint Presentation</vt:lpstr>
      <vt:lpstr>PowerPoint Presentation</vt:lpstr>
      <vt:lpstr>Framework to Identify Sources of Overall Project Risks</vt:lpstr>
      <vt:lpstr>PowerPoint Presentation</vt:lpstr>
      <vt:lpstr>PowerPoint Presentation</vt:lpstr>
      <vt:lpstr>PowerPoint Presentation</vt:lpstr>
      <vt:lpstr>Class Activity 1</vt:lpstr>
      <vt:lpstr>PowerPoint Presentation</vt:lpstr>
      <vt:lpstr>Risk Register </vt:lpstr>
      <vt:lpstr>List of identified risks.</vt:lpstr>
      <vt:lpstr>List of potential responses</vt:lpstr>
      <vt:lpstr>Activity 2</vt:lpstr>
      <vt:lpstr>Perform Qualitative Risk Analysis</vt:lpstr>
      <vt:lpstr>Process flow</vt:lpstr>
      <vt:lpstr>Data Flow Diagram</vt:lpstr>
      <vt:lpstr>Perform Qualitative Risk analysis</vt:lpstr>
      <vt:lpstr>Perform Qualitative Risk Analysis: Inputs</vt:lpstr>
      <vt:lpstr>PowerPoint Presentation</vt:lpstr>
      <vt:lpstr>PowerPoint Presentation</vt:lpstr>
      <vt:lpstr>PowerPoint Presentation</vt:lpstr>
      <vt:lpstr>PowerPoint Presentation</vt:lpstr>
      <vt:lpstr>Perform Qualitative Risk Analysis: Tools and Techniques </vt:lpstr>
      <vt:lpstr>Perform Qualitative Risk Analysis: Tools and Techniques</vt:lpstr>
      <vt:lpstr>Risk Probability and Impact Assessment Cont.  </vt:lpstr>
      <vt:lpstr>PowerPoint Presentation</vt:lpstr>
      <vt:lpstr>Probability and Impact Matrix</vt:lpstr>
      <vt:lpstr>PowerPoint Presentation</vt:lpstr>
      <vt:lpstr>PowerPoint Presentation</vt:lpstr>
      <vt:lpstr>Example of a Risk Register</vt:lpstr>
      <vt:lpstr>Risk Data Quality Assessment</vt:lpstr>
      <vt:lpstr>Risk Categorization</vt:lpstr>
      <vt:lpstr>Risk Urgency Assessment</vt:lpstr>
      <vt:lpstr>Expert Judgment</vt:lpstr>
      <vt:lpstr>Perform Qualitative Risk Analysis: Outputs </vt:lpstr>
      <vt:lpstr>Project Documents Updates </vt:lpstr>
      <vt:lpstr>Cont.</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Mutasim</dc:creator>
  <cp:lastModifiedBy>Bahria</cp:lastModifiedBy>
  <cp:revision>53</cp:revision>
  <dcterms:created xsi:type="dcterms:W3CDTF">2019-09-03T15:05:37Z</dcterms:created>
  <dcterms:modified xsi:type="dcterms:W3CDTF">2022-04-01T07:23:49Z</dcterms:modified>
</cp:coreProperties>
</file>