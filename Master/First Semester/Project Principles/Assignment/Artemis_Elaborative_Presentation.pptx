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2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www.nasa.gov/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7200" y="1722755"/>
            <a:ext cx="6896100" cy="402145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088135"/>
            <a:ext cx="8174736" cy="4912613"/>
            <a:chOff x="0" y="307847"/>
            <a:chExt cx="10899648" cy="6550150"/>
          </a:xfrm>
        </p:grpSpPr>
        <p:sp>
          <p:nvSpPr>
            <p:cNvPr id="6" name="object 6"/>
            <p:cNvSpPr/>
            <p:nvPr/>
          </p:nvSpPr>
          <p:spPr>
            <a:xfrm>
              <a:off x="10899648" y="307847"/>
              <a:ext cx="0" cy="845819"/>
            </a:xfrm>
            <a:custGeom>
              <a:avLst/>
              <a:gdLst/>
              <a:ahLst/>
              <a:cxnLst/>
              <a:rect l="l" t="t" r="r" b="b"/>
              <a:pathLst>
                <a:path h="845819">
                  <a:moveTo>
                    <a:pt x="0" y="0"/>
                  </a:moveTo>
                  <a:lnTo>
                    <a:pt x="0" y="845692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56047"/>
              <a:ext cx="2040635" cy="19019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53139" y="5719648"/>
            <a:ext cx="512445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/>
              </a:rPr>
              <a:t>www.nasa.gov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629" y="2590572"/>
            <a:ext cx="3476149" cy="1620520"/>
          </a:xfrm>
          <a:prstGeom prst="rect">
            <a:avLst/>
          </a:prstGeom>
        </p:spPr>
        <p:txBody>
          <a:bodyPr vert="horz" wrap="square" lIns="0" tIns="728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en-US" sz="2100" spc="-10" dirty="0">
                <a:solidFill>
                  <a:srgbClr val="FFFFFF"/>
                </a:solidFill>
                <a:latin typeface="Arial MT"/>
                <a:cs typeface="Arial MT"/>
              </a:rPr>
              <a:t>Hafiz Muhammad Hamza</a:t>
            </a:r>
            <a:endParaRPr sz="2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lang="en-US" sz="2100" spc="-10" dirty="0" err="1">
                <a:solidFill>
                  <a:srgbClr val="FFFFFF"/>
                </a:solidFill>
                <a:latin typeface="Arial MT"/>
                <a:cs typeface="Arial MT"/>
              </a:rPr>
              <a:t>Shoaib</a:t>
            </a:r>
            <a:r>
              <a:rPr lang="en-US" sz="2100" spc="-10" dirty="0">
                <a:solidFill>
                  <a:srgbClr val="FFFFFF"/>
                </a:solidFill>
                <a:latin typeface="Arial MT"/>
                <a:cs typeface="Arial MT"/>
              </a:rPr>
              <a:t> Akhtar</a:t>
            </a:r>
            <a:endParaRPr lang="en-US" sz="21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spcBef>
                <a:spcPts val="665"/>
              </a:spcBef>
            </a:pPr>
            <a:r>
              <a:rPr lang="en-US" sz="2100" spc="-10" dirty="0">
                <a:solidFill>
                  <a:srgbClr val="FFFFFF"/>
                </a:solidFill>
                <a:latin typeface="Arial MT"/>
                <a:cs typeface="Arial MT"/>
              </a:rPr>
              <a:t>Adal </a:t>
            </a:r>
            <a:r>
              <a:rPr lang="en-US" sz="2100" spc="-10" dirty="0" err="1">
                <a:solidFill>
                  <a:srgbClr val="FFFFFF"/>
                </a:solidFill>
                <a:latin typeface="Arial MT"/>
                <a:cs typeface="Arial MT"/>
              </a:rPr>
              <a:t>Imtaiz</a:t>
            </a:r>
            <a:endParaRPr lang="en-US" sz="21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spcBef>
                <a:spcPts val="665"/>
              </a:spcBef>
            </a:pPr>
            <a:r>
              <a:rPr lang="en-US" sz="2100" spc="-10" dirty="0">
                <a:solidFill>
                  <a:srgbClr val="FFFFFF"/>
                </a:solidFill>
                <a:latin typeface="Arial MT"/>
                <a:cs typeface="Arial MT"/>
              </a:rPr>
              <a:t>Abdul </a:t>
            </a:r>
            <a:r>
              <a:rPr lang="en-US" sz="2100" spc="-10" dirty="0" err="1">
                <a:solidFill>
                  <a:srgbClr val="FFFFFF"/>
                </a:solidFill>
                <a:latin typeface="Arial MT"/>
                <a:cs typeface="Arial MT"/>
              </a:rPr>
              <a:t>Mahemin</a:t>
            </a:r>
            <a:endParaRPr sz="21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3" name="Title 2"/>
          <p:cNvSpPr/>
          <p:nvPr>
            <p:ph type="title"/>
          </p:nvPr>
        </p:nvSpPr>
        <p:spPr>
          <a:xfrm>
            <a:off x="457200" y="274955"/>
            <a:ext cx="8408035" cy="1446530"/>
          </a:xfrm>
        </p:spPr>
        <p:txBody>
          <a:bodyPr/>
          <a:p>
            <a:r>
              <a:rPr>
                <a:sym typeface="+mn-ea"/>
              </a:rPr>
              <a:t>NASA Artemis Program</a:t>
            </a:r>
            <a:br>
              <a:rPr>
                <a:sym typeface="+mn-ea"/>
              </a:rPr>
            </a:br>
            <a:r>
              <a:rPr>
                <a:sym typeface="+mn-ea"/>
              </a:rPr>
              <a:t>Return to the Moon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Artemis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NASA’s initiative to return humans to the Moon.</a:t>
            </a:r>
          </a:p>
          <a:p>
            <a:r>
              <a:t>Establish sustainable lunar presence.</a:t>
            </a:r>
          </a:p>
          <a:p>
            <a:r>
              <a:t>Supports deep-space exploration and Mars missions.</a:t>
            </a:r>
          </a:p>
          <a:p>
            <a:r>
              <a:t>Highly complex multi-agency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Artemis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 astronauts on the lunar South Pole.</a:t>
            </a:r>
          </a:p>
          <a:p>
            <a:r>
              <a:t>Conduct scientific and technological experiments.</a:t>
            </a:r>
          </a:p>
          <a:p>
            <a:r>
              <a:t>Build the Gateway lunar orbital station.</a:t>
            </a:r>
          </a:p>
          <a:p>
            <a:r>
              <a:t>Test sustainable lunar systems.</a:t>
            </a:r>
          </a:p>
          <a:p>
            <a:r>
              <a:t>Prepare for Mars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Artemis as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with many interdependent projects.</a:t>
            </a:r>
          </a:p>
          <a:p>
            <a:r>
              <a:t>Includes SLS, Orion, Gateway, HLS, surface systems.</a:t>
            </a:r>
          </a:p>
          <a:p>
            <a:r>
              <a:t>Each subsystem has unique budget, schedule, and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Management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management.</a:t>
            </a:r>
          </a:p>
          <a:p>
            <a:r>
              <a:t>Stakeholder coordination.</a:t>
            </a:r>
          </a:p>
          <a:p>
            <a:r>
              <a:t>Governance and oversight.</a:t>
            </a:r>
          </a:p>
          <a:p>
            <a:r>
              <a:t>Benefit realization.</a:t>
            </a:r>
          </a:p>
          <a:p>
            <a:r>
              <a:t>Sustainability and long-term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Lifecycle in Artemis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Initiation: Mission need.</a:t>
            </a:r>
          </a:p>
          <a:p>
            <a:r>
              <a:t>Planning: Budgets, risks, requirements.</a:t>
            </a:r>
          </a:p>
          <a:p>
            <a:r>
              <a:t>Execution: Manufacturing, testing.</a:t>
            </a:r>
          </a:p>
          <a:p>
            <a:r>
              <a:t>Monitoring: Cost, schedule, performance.</a:t>
            </a:r>
          </a:p>
          <a:p>
            <a:r>
              <a:t>Closure: Mission analysis and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NASA HQ and mission directorates.</a:t>
            </a:r>
          </a:p>
          <a:p>
            <a:r>
              <a:t>ESA, JAXA, CSA.</a:t>
            </a:r>
          </a:p>
          <a:p>
            <a:r>
              <a:t>SpaceX, Lockheed Martin, Boeing.</a:t>
            </a:r>
          </a:p>
          <a:p>
            <a:r>
              <a:t>Scientific institutions.</a:t>
            </a:r>
          </a:p>
          <a:p>
            <a:r>
              <a:t>Public, media, government.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SLS rocket development.</a:t>
            </a:r>
          </a:p>
          <a:p>
            <a:r>
              <a:t>Orion spacecraft production.</a:t>
            </a:r>
          </a:p>
          <a:p>
            <a:r>
              <a:t>Gateway orbit station construction.</a:t>
            </a:r>
          </a:p>
          <a:p>
            <a:r>
              <a:t>Lunar landers.</a:t>
            </a:r>
          </a:p>
          <a:p>
            <a:r>
              <a:t>Surface exploration tech.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Multi-year milestones.</a:t>
            </a:r>
          </a:p>
          <a:p>
            <a:r>
              <a:t>Artemis I: Uncrewed.</a:t>
            </a:r>
          </a:p>
          <a:p>
            <a:r>
              <a:t>Artemis II: Crewed flyby.</a:t>
            </a:r>
          </a:p>
          <a:p>
            <a:r>
              <a:t>Artemis III: Lunar landing.</a:t>
            </a:r>
          </a:p>
          <a:p>
            <a:r>
              <a:t>Uses Integrated Master Schedules.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Estimated $93B+.</a:t>
            </a:r>
          </a:p>
          <a:p>
            <a:r>
              <a:t>Cost drivers: SLS, Orion, HLS.</a:t>
            </a:r>
          </a:p>
          <a:p>
            <a:r>
              <a:t>Uses Earned Value Management.</a:t>
            </a:r>
          </a:p>
          <a:p>
            <a:r>
              <a:t>Frequent Congressional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Technical: Rocket or system failures.</a:t>
            </a:r>
          </a:p>
          <a:p>
            <a:r>
              <a:t>Schedule: Testing delays.</a:t>
            </a:r>
          </a:p>
          <a:p>
            <a:r>
              <a:t>Budget: Funding shifts.</a:t>
            </a:r>
          </a:p>
          <a:p>
            <a:r>
              <a:t>Human safety risks.</a:t>
            </a:r>
          </a:p>
          <a:p>
            <a:r>
              <a:t>International coordination risks.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Follows NASA engineering standards.</a:t>
            </a:r>
          </a:p>
          <a:p>
            <a:r>
              <a:t>Extensive thermal, vibration, vacuum tests.</a:t>
            </a:r>
          </a:p>
          <a:p>
            <a:r>
              <a:t>Independent safety boards.</a:t>
            </a:r>
          </a:p>
          <a:p>
            <a:r>
              <a:t>Test as you fly’ principle.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Coordination across NASA centers.</a:t>
            </a:r>
          </a:p>
          <a:p>
            <a:r>
              <a:t>International communication protocols.</a:t>
            </a:r>
          </a:p>
          <a:p>
            <a:r>
              <a:t>Public briefings and mission updates.</a:t>
            </a:r>
          </a:p>
          <a:p>
            <a:r>
              <a:t>Use of ICDs and technical reviews.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Resource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Engineers, astronauts, mission planners.</a:t>
            </a:r>
          </a:p>
          <a:p>
            <a:r>
              <a:t>Specialized training programs.</a:t>
            </a:r>
          </a:p>
          <a:p>
            <a:r>
              <a:t>Safety culture focus.</a:t>
            </a:r>
          </a:p>
          <a:p>
            <a:r>
              <a:t>Multi-center staffing coordination.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Success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achievement.</a:t>
            </a:r>
          </a:p>
          <a:p>
            <a:r>
              <a:t>Safe crewed missions.</a:t>
            </a:r>
          </a:p>
          <a:p>
            <a:r>
              <a:t>Sustainable lunar presence.</a:t>
            </a:r>
          </a:p>
          <a:p>
            <a:r>
              <a:t>Technological advancements.</a:t>
            </a:r>
          </a:p>
          <a:p>
            <a:r>
              <a:t>Global scientific collaboration.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Artemis is a landmark modern exploration program.</a:t>
            </a:r>
          </a:p>
          <a:p>
            <a:r>
              <a:t>Demonstrates effective program management.</a:t>
            </a:r>
          </a:p>
          <a:p>
            <a:r>
              <a:t>Enables future missions to Mars.</a:t>
            </a:r>
          </a:p>
          <a:p>
            <a:r>
              <a:t>Represents global innovation and collaboration.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750" y="2978150"/>
            <a:ext cx="2230755" cy="3148330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ym typeface="+mn-ea"/>
              </a:rPr>
              <a:t>Thank You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 b="1">
                <a:sym typeface="+mn-ea"/>
              </a:rPr>
              <a:t>     Q/A</a:t>
            </a:r>
            <a:endParaRPr b="1">
              <a:sym typeface="+mn-ea"/>
            </a:endParaRPr>
          </a:p>
          <a:p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2592</Words>
  <Application>WPS Presentation</Application>
  <PresentationFormat>On-screen Show (4:3)</PresentationFormat>
  <Paragraphs>126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Arial MT</vt:lpstr>
      <vt:lpstr>Business Cooperate</vt:lpstr>
      <vt:lpstr>Returning to the Moon: NASA Artemis Missions</vt:lpstr>
      <vt:lpstr>Introduction to the Artemis Program</vt:lpstr>
      <vt:lpstr>Objectives of Artemis</vt:lpstr>
      <vt:lpstr>Artemis as a Program</vt:lpstr>
      <vt:lpstr>Program Management Principles</vt:lpstr>
      <vt:lpstr>Project Lifecycle in Artemis</vt:lpstr>
      <vt:lpstr>Stakeholder Management</vt:lpstr>
      <vt:lpstr>Scope Management</vt:lpstr>
      <vt:lpstr>Schedule Management</vt:lpstr>
      <vt:lpstr>Cost Management</vt:lpstr>
      <vt:lpstr>Risk Management</vt:lpstr>
      <vt:lpstr>Quality Management</vt:lpstr>
      <vt:lpstr>Communication Management</vt:lpstr>
      <vt:lpstr>Human Resource Management</vt:lpstr>
      <vt:lpstr>Program Success Indicators</vt:lpstr>
      <vt:lpstr>Conclusion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Hammad</cp:lastModifiedBy>
  <cp:revision>3</cp:revision>
  <dcterms:created xsi:type="dcterms:W3CDTF">2013-01-27T09:14:00Z</dcterms:created>
  <dcterms:modified xsi:type="dcterms:W3CDTF">2025-12-06T11:40:53Z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4E0B91701EEF49DBB87642F7A6698E07_12</vt:lpwstr>
  </property>
  <property fmtid="{D5CDD505-2E9C-101B-9397-08002B2CF9AE}" pid="3" name="KSOProductBuildVer">
    <vt:lpwstr>1033-12.9.0.21549</vt:lpwstr>
  </property>
</Properties>
</file>