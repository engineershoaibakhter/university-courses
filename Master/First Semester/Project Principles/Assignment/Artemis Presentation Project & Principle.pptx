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93" r:id="rId5"/>
    <p:sldId id="294" r:id="rId6"/>
    <p:sldId id="295" r:id="rId7"/>
    <p:sldId id="296" r:id="rId8"/>
    <p:sldId id="270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75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3650A3-513E-4540-8746-583B3D611F2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81DF98-1AC6-4CF0-A530-7CF9F3482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533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81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5940" y="284988"/>
            <a:ext cx="1287779" cy="103022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0776" y="0"/>
            <a:ext cx="1325879" cy="15544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609676"/>
            <a:ext cx="354202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81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5940" y="284988"/>
            <a:ext cx="1287779" cy="103022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0776" y="0"/>
            <a:ext cx="1325879" cy="15544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81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5940" y="284988"/>
            <a:ext cx="1287779" cy="103022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0775" y="0"/>
            <a:ext cx="1325879" cy="155447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44483" y="1595627"/>
            <a:ext cx="3482339" cy="231952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244551"/>
            <a:ext cx="12034520" cy="968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393697"/>
            <a:ext cx="5558790" cy="4620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nasa.gov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07847"/>
            <a:ext cx="10899648" cy="6550150"/>
            <a:chOff x="0" y="307847"/>
            <a:chExt cx="10899648" cy="6550150"/>
          </a:xfrm>
        </p:grpSpPr>
        <p:sp>
          <p:nvSpPr>
            <p:cNvPr id="6" name="object 6"/>
            <p:cNvSpPr/>
            <p:nvPr/>
          </p:nvSpPr>
          <p:spPr>
            <a:xfrm>
              <a:off x="10899648" y="307847"/>
              <a:ext cx="0" cy="845819"/>
            </a:xfrm>
            <a:custGeom>
              <a:avLst/>
              <a:gdLst/>
              <a:ahLst/>
              <a:cxnLst/>
              <a:rect l="l" t="t" r="r" b="b"/>
              <a:pathLst>
                <a:path h="845819">
                  <a:moveTo>
                    <a:pt x="0" y="0"/>
                  </a:moveTo>
                  <a:lnTo>
                    <a:pt x="0" y="845692"/>
                  </a:lnTo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956047"/>
              <a:ext cx="2040635" cy="19019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1137518" y="6483197"/>
            <a:ext cx="68326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  <a:hlinkClick r:id="rId4"/>
              </a:rPr>
              <a:t>www.nasa.gov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4172" y="2311096"/>
            <a:ext cx="4634865" cy="1570302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lang="en-US" sz="2800" spc="-10" dirty="0" smtClean="0">
                <a:solidFill>
                  <a:srgbClr val="FFFFFF"/>
                </a:solidFill>
                <a:latin typeface="Arial MT"/>
                <a:cs typeface="Arial MT"/>
              </a:rPr>
              <a:t>Hafiz Muhammad Hamza</a:t>
            </a:r>
            <a:endParaRPr sz="2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lang="en-US" sz="2800" spc="-10" dirty="0" err="1">
                <a:solidFill>
                  <a:srgbClr val="FFFFFF"/>
                </a:solidFill>
                <a:latin typeface="Arial MT"/>
                <a:cs typeface="Arial MT"/>
              </a:rPr>
              <a:t>Shoaib</a:t>
            </a:r>
            <a:r>
              <a:rPr lang="en-US" sz="2800" spc="-10" dirty="0">
                <a:solidFill>
                  <a:srgbClr val="FFFFFF"/>
                </a:solidFill>
                <a:latin typeface="Arial MT"/>
                <a:cs typeface="Arial MT"/>
              </a:rPr>
              <a:t> Akhtar</a:t>
            </a:r>
          </a:p>
          <a:p>
            <a:pPr marL="12700">
              <a:spcBef>
                <a:spcPts val="665"/>
              </a:spcBef>
            </a:pPr>
            <a:r>
              <a:rPr lang="en-US" sz="2800" spc="-10" dirty="0">
                <a:solidFill>
                  <a:srgbClr val="FFFFFF"/>
                </a:solidFill>
                <a:latin typeface="Arial MT"/>
                <a:cs typeface="Arial MT"/>
              </a:rPr>
              <a:t>Adal </a:t>
            </a:r>
            <a:r>
              <a:rPr lang="en-US" sz="2800" spc="-10" dirty="0" err="1">
                <a:solidFill>
                  <a:srgbClr val="FFFFFF"/>
                </a:solidFill>
                <a:latin typeface="Arial MT"/>
                <a:cs typeface="Arial MT"/>
              </a:rPr>
              <a:t>Imtaiz</a:t>
            </a:r>
            <a:endParaRPr sz="2800" spc="-10" dirty="0">
              <a:solidFill>
                <a:srgbClr val="FFFFFF"/>
              </a:solidFill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76199" y="818210"/>
            <a:ext cx="7245350" cy="1402948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5080"/>
              </a:lnSpc>
              <a:spcBef>
                <a:spcPts val="740"/>
              </a:spcBef>
            </a:pPr>
            <a:r>
              <a:rPr sz="4700" dirty="0"/>
              <a:t>Returning</a:t>
            </a:r>
            <a:r>
              <a:rPr sz="4700" spc="-55" dirty="0"/>
              <a:t> </a:t>
            </a:r>
            <a:r>
              <a:rPr sz="4700" dirty="0"/>
              <a:t>to</a:t>
            </a:r>
            <a:r>
              <a:rPr sz="4700" spc="-30" dirty="0"/>
              <a:t> </a:t>
            </a:r>
            <a:r>
              <a:rPr sz="4700" dirty="0"/>
              <a:t>the</a:t>
            </a:r>
            <a:r>
              <a:rPr sz="4700" spc="-35" dirty="0"/>
              <a:t> </a:t>
            </a:r>
            <a:r>
              <a:rPr sz="4700" spc="-10" dirty="0"/>
              <a:t>Moon: </a:t>
            </a:r>
            <a:r>
              <a:rPr sz="4700" spc="-95" dirty="0" smtClean="0"/>
              <a:t>NASA</a:t>
            </a:r>
            <a:r>
              <a:rPr sz="4700" spc="-195" dirty="0" smtClean="0"/>
              <a:t> </a:t>
            </a:r>
            <a:r>
              <a:rPr sz="4700" dirty="0"/>
              <a:t>Artemis</a:t>
            </a:r>
            <a:r>
              <a:rPr sz="4700" spc="-70" dirty="0"/>
              <a:t> </a:t>
            </a:r>
            <a:r>
              <a:rPr sz="4700" spc="-10" dirty="0"/>
              <a:t>Missions</a:t>
            </a:r>
            <a:endParaRPr sz="4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53340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Glass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90359" y="1449322"/>
              <a:ext cx="5109972" cy="504291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10000" y="513587"/>
            <a:ext cx="44196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INTRODUCTION</a:t>
            </a:r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461010" y="1274738"/>
            <a:ext cx="5558790" cy="5336461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>
              <a:spcBef>
                <a:spcPts val="2500"/>
              </a:spcBef>
            </a:pPr>
            <a:r>
              <a:rPr lang="en-US" b="1" dirty="0"/>
              <a:t>Moon Return and Milestones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Artemis aims to land the first woman and next man on the Moon, marking a historic exploration milestone.</a:t>
            </a:r>
          </a:p>
          <a:p>
            <a:pPr>
              <a:spcBef>
                <a:spcPts val="2500"/>
              </a:spcBef>
            </a:pPr>
            <a:r>
              <a:rPr lang="en-US" b="1" dirty="0"/>
              <a:t>Sustainable Lunar Presence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The program focuses on establishing a sustainable human presence on the Moon for future exploration missions.</a:t>
            </a:r>
          </a:p>
          <a:p>
            <a:pPr>
              <a:spcBef>
                <a:spcPts val="2500"/>
              </a:spcBef>
            </a:pPr>
            <a:r>
              <a:rPr lang="en-US" b="1" dirty="0"/>
              <a:t>Technology and Partnerships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Artemis leverages advanced technology, international partnerships, and commercial collaborations to achieve its goals.</a:t>
            </a:r>
          </a:p>
          <a:p>
            <a:pPr>
              <a:spcBef>
                <a:spcPts val="2500"/>
              </a:spcBef>
            </a:pPr>
            <a:r>
              <a:rPr lang="en-US" b="1" dirty="0"/>
              <a:t>Inclusivity and Inspiration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The program emphasizes diversity and aims to inspire future generations through innovation in space exploration.</a:t>
            </a:r>
          </a:p>
          <a:p>
            <a:pPr marL="241300" marR="5080" indent="-228600">
              <a:lnSpc>
                <a:spcPct val="80000"/>
              </a:lnSpc>
              <a:spcBef>
                <a:spcPts val="585"/>
              </a:spcBef>
              <a:buChar char="•"/>
              <a:tabLst>
                <a:tab pos="241300" algn="l"/>
              </a:tabLst>
            </a:pP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648450" y="1737105"/>
            <a:ext cx="5080000" cy="4613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Arial MT"/>
                <a:cs typeface="Arial MT"/>
              </a:rPr>
              <a:t>Twin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sister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1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Apollo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goddess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the </a:t>
            </a:r>
            <a:r>
              <a:rPr sz="2200" dirty="0">
                <a:latin typeface="Arial MT"/>
                <a:cs typeface="Arial MT"/>
              </a:rPr>
              <a:t>Moon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Greek</a:t>
            </a:r>
            <a:r>
              <a:rPr sz="2200" spc="-30" dirty="0">
                <a:latin typeface="Arial MT"/>
                <a:cs typeface="Arial MT"/>
              </a:rPr>
              <a:t> mythology,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Artemis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the </a:t>
            </a:r>
            <a:r>
              <a:rPr sz="2200" spc="-10" dirty="0">
                <a:latin typeface="Arial MT"/>
                <a:cs typeface="Arial MT"/>
              </a:rPr>
              <a:t>torch-</a:t>
            </a:r>
            <a:r>
              <a:rPr sz="2200" dirty="0">
                <a:latin typeface="Arial MT"/>
                <a:cs typeface="Arial MT"/>
              </a:rPr>
              <a:t>bringer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personifying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our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path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the </a:t>
            </a:r>
            <a:r>
              <a:rPr sz="2200" dirty="0">
                <a:latin typeface="Arial MT"/>
                <a:cs typeface="Arial MT"/>
              </a:rPr>
              <a:t>Moon.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During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next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era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human </a:t>
            </a:r>
            <a:r>
              <a:rPr sz="2200" dirty="0">
                <a:latin typeface="Arial MT"/>
                <a:cs typeface="Arial MT"/>
              </a:rPr>
              <a:t>exploration,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will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discover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life-saving, </a:t>
            </a:r>
            <a:r>
              <a:rPr sz="2200" spc="-20" dirty="0">
                <a:latin typeface="Arial MT"/>
                <a:cs typeface="Arial MT"/>
              </a:rPr>
              <a:t>Earth-</a:t>
            </a:r>
            <a:r>
              <a:rPr sz="2200" dirty="0">
                <a:latin typeface="Arial MT"/>
                <a:cs typeface="Arial MT"/>
              </a:rPr>
              <a:t>changing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science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technology </a:t>
            </a:r>
            <a:r>
              <a:rPr sz="2200" dirty="0">
                <a:latin typeface="Arial MT"/>
                <a:cs typeface="Arial MT"/>
              </a:rPr>
              <a:t>along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way.</a:t>
            </a:r>
            <a:endParaRPr sz="2200">
              <a:latin typeface="Arial MT"/>
              <a:cs typeface="Arial MT"/>
            </a:endParaRPr>
          </a:p>
          <a:p>
            <a:pPr marL="12700" marR="118745">
              <a:lnSpc>
                <a:spcPct val="100000"/>
              </a:lnSpc>
              <a:spcBef>
                <a:spcPts val="1805"/>
              </a:spcBef>
            </a:pPr>
            <a:r>
              <a:rPr sz="2200" spc="-20" dirty="0">
                <a:latin typeface="Arial MT"/>
                <a:cs typeface="Arial MT"/>
              </a:rPr>
              <a:t>NASA’s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goal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land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first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woman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first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person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color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Moon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return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them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safely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Earth.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When </a:t>
            </a:r>
            <a:r>
              <a:rPr sz="2200" spc="-10" dirty="0">
                <a:latin typeface="Arial MT"/>
                <a:cs typeface="Arial MT"/>
              </a:rPr>
              <a:t>the</a:t>
            </a:r>
            <a:r>
              <a:rPr sz="2200" spc="-1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Artemis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astronauts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land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lunar </a:t>
            </a:r>
            <a:r>
              <a:rPr sz="2200" dirty="0">
                <a:latin typeface="Arial MT"/>
                <a:cs typeface="Arial MT"/>
              </a:rPr>
              <a:t>surface,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they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will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step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into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future, </a:t>
            </a:r>
            <a:r>
              <a:rPr sz="2200" dirty="0">
                <a:latin typeface="Arial MT"/>
                <a:cs typeface="Arial MT"/>
              </a:rPr>
              <a:t>bringing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all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humanity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them.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8440" y="556259"/>
            <a:ext cx="5170932" cy="11201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as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927"/>
            <a:ext cx="12192000" cy="6858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9CB60D5-325E-BBD3-0EE5-03B60076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9599"/>
            <a:ext cx="4672584" cy="1453896"/>
          </a:xfrm>
        </p:spPr>
        <p:txBody>
          <a:bodyPr anchor="t">
            <a:normAutofit/>
          </a:bodyPr>
          <a:lstStyle/>
          <a:p>
            <a:r>
              <a:rPr lang="en-US" dirty="0"/>
              <a:t>Goals and Significance</a:t>
            </a:r>
          </a:p>
        </p:txBody>
      </p:sp>
      <p:pic>
        <p:nvPicPr>
          <p:cNvPr id="12" name="Content Placeholder 4" descr="A stunning image of the astronauts on the moon with Lunar Excursion ModuleNOTE FOR THE INSPECTOR:the toys have been bought in a discout market and no copyright information was present on the box.Earth maps courtesy of NASA (http://visibleearth.nasa.gov/)">
            <a:extLst>
              <a:ext uri="{FF2B5EF4-FFF2-40B4-BE49-F238E27FC236}">
                <a16:creationId xmlns:a16="http://schemas.microsoft.com/office/drawing/2014/main" id="{C5DF3592-169D-459C-B003-AC96022123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12" r="7612"/>
          <a:stretch>
            <a:fillRect/>
          </a:stretch>
        </p:blipFill>
        <p:spPr>
          <a:xfrm>
            <a:off x="361188" y="1373678"/>
            <a:ext cx="5175504" cy="4646122"/>
          </a:xfrm>
          <a:prstGeom prst="rect">
            <a:avLst/>
          </a:prstGeom>
          <a:noFill/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DEB8A85E-8386-E023-158A-822928C18D57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937402" y="599600"/>
            <a:ext cx="5633165" cy="5623360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Arial MT"/>
              </a:rPr>
              <a:t>Inclusive Lunar Exploration</a:t>
            </a:r>
          </a:p>
          <a:p>
            <a:pPr marL="0" lvl="1"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/>
                </a:solidFill>
              </a:rPr>
              <a:t>Artemis aims to land the first woman and person of color on the Moon, promoting diversity and progress.</a:t>
            </a:r>
          </a:p>
          <a:p>
            <a:pPr>
              <a:spcBef>
                <a:spcPts val="2500"/>
              </a:spcBef>
            </a:pPr>
            <a:r>
              <a:rPr lang="en-US" sz="2000" b="1" dirty="0">
                <a:solidFill>
                  <a:schemeClr val="bg1"/>
                </a:solidFill>
                <a:latin typeface="Arial MT"/>
              </a:rPr>
              <a:t>Scientific and Technological Advances</a:t>
            </a:r>
          </a:p>
          <a:p>
            <a:pPr marL="0" lvl="1"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/>
                </a:solidFill>
              </a:rPr>
              <a:t>The program focuses on lunar geology, water ice research, and sustainable technologies for deep space missions.</a:t>
            </a:r>
          </a:p>
          <a:p>
            <a:pPr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bg1"/>
                </a:solidFill>
                <a:latin typeface="Arial MT"/>
              </a:rPr>
              <a:t>International Collaboration</a:t>
            </a:r>
          </a:p>
          <a:p>
            <a:pPr marL="0" lvl="1"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/>
                </a:solidFill>
              </a:rPr>
              <a:t>Artemis fosters global partnerships and commercial collaborations to drive innovation in space exploration.</a:t>
            </a:r>
          </a:p>
          <a:p>
            <a:pPr>
              <a:spcBef>
                <a:spcPts val="2500"/>
              </a:spcBef>
            </a:pPr>
            <a:r>
              <a:rPr lang="en-US" sz="2000" b="1" dirty="0">
                <a:solidFill>
                  <a:schemeClr val="bg1"/>
                </a:solidFill>
                <a:latin typeface="Arial MT"/>
              </a:rPr>
              <a:t>Economic and Educational Impact</a:t>
            </a:r>
          </a:p>
          <a:p>
            <a:pPr marL="0" lvl="1"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/>
                </a:solidFill>
              </a:rPr>
              <a:t>Investing in Artemis fuels economic growth, inspires STEM education, and strengthens global leadership.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74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as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8598" y="-1772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4167139-F88E-9174-5D94-DF7C82D18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9599"/>
            <a:ext cx="4672584" cy="1453896"/>
          </a:xfrm>
        </p:spPr>
        <p:txBody>
          <a:bodyPr anchor="t">
            <a:normAutofit/>
          </a:bodyPr>
          <a:lstStyle/>
          <a:p>
            <a:r>
              <a:rPr lang="en-US"/>
              <a:t>Economic and Workforce Impact</a:t>
            </a:r>
          </a:p>
        </p:txBody>
      </p:sp>
      <p:pic>
        <p:nvPicPr>
          <p:cNvPr id="7" name="Content Placeholder 4" descr="Conspiracy Theory: America has never set foot on the moon. This was a propaganda race in the Soviet era. USA wanted to attack in space against its closest rival, Russia. For this reason, a studio was established in the 51st District and a movie was shot. Because it was not possible to undertake such a task with the technology at that time. Of course, these are assumptions.">
            <a:extLst>
              <a:ext uri="{FF2B5EF4-FFF2-40B4-BE49-F238E27FC236}">
                <a16:creationId xmlns:a16="http://schemas.microsoft.com/office/drawing/2014/main" id="{8C13BEBE-5CF9-4253-8F5A-EC32734B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12" r="7612"/>
          <a:stretch>
            <a:fillRect/>
          </a:stretch>
        </p:blipFill>
        <p:spPr>
          <a:xfrm>
            <a:off x="349324" y="2423719"/>
            <a:ext cx="5175504" cy="4069080"/>
          </a:xfrm>
          <a:prstGeom prst="rect">
            <a:avLst/>
          </a:prstGeom>
          <a:noFill/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6843EA9-5204-DEC7-16D8-642E164066E5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937402" y="599600"/>
            <a:ext cx="5633165" cy="5623360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chemeClr val="bg1"/>
                </a:solidFill>
              </a:rPr>
              <a:t>Lunar Economy Growth</a:t>
            </a:r>
          </a:p>
          <a:p>
            <a:pPr marL="0" lvl="1"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/>
                </a:solidFill>
              </a:rPr>
              <a:t>Artemis missions enable a lunar economy, stimulating industries in space technology and resource extraction.</a:t>
            </a:r>
          </a:p>
          <a:p>
            <a:pPr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chemeClr val="bg1"/>
                </a:solidFill>
              </a:rPr>
              <a:t>High-Tech Job Creation</a:t>
            </a:r>
          </a:p>
          <a:p>
            <a:pPr marL="0" lvl="1"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/>
                </a:solidFill>
              </a:rPr>
              <a:t>These initiatives generate high-tech jobs that foster innovation and strengthen the global space sector.</a:t>
            </a:r>
          </a:p>
          <a:p>
            <a:pPr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chemeClr val="bg1"/>
                </a:solidFill>
              </a:rPr>
              <a:t>STEM Education Impact</a:t>
            </a:r>
          </a:p>
          <a:p>
            <a:pPr marL="0" lvl="1"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/>
                </a:solidFill>
              </a:rPr>
              <a:t>Educational programs linked to Artemis inspire students to pursue STEM careers, building future talent pipelines.</a:t>
            </a:r>
          </a:p>
          <a:p>
            <a:pPr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chemeClr val="bg1"/>
                </a:solidFill>
              </a:rPr>
              <a:t>Public-Private Partnerships</a:t>
            </a:r>
          </a:p>
          <a:p>
            <a:pPr marL="0" lvl="1"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/>
                </a:solidFill>
              </a:rPr>
              <a:t>Artemis encourages commercial investment through partnerships, creating a dynamic space-terrestrial ecosystem.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517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as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8598" y="-1772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DA8D210-225C-7893-B46F-D50D90C30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9599"/>
            <a:ext cx="4672584" cy="1453896"/>
          </a:xfrm>
        </p:spPr>
        <p:txBody>
          <a:bodyPr anchor="t">
            <a:normAutofit/>
          </a:bodyPr>
          <a:lstStyle/>
          <a:p>
            <a:r>
              <a:rPr lang="en-US"/>
              <a:t>Human Exploration Vision</a:t>
            </a:r>
          </a:p>
        </p:txBody>
      </p:sp>
      <p:pic>
        <p:nvPicPr>
          <p:cNvPr id="5" name="Content Placeholder 4" descr="The meta-universe of the virtual world">
            <a:extLst>
              <a:ext uri="{FF2B5EF4-FFF2-40B4-BE49-F238E27FC236}">
                <a16:creationId xmlns:a16="http://schemas.microsoft.com/office/drawing/2014/main" id="{9525A5B1-7A02-4816-B19E-38A8DD872B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12" r="7612"/>
          <a:stretch>
            <a:fillRect/>
          </a:stretch>
        </p:blipFill>
        <p:spPr>
          <a:xfrm>
            <a:off x="349324" y="1828800"/>
            <a:ext cx="5175504" cy="4663999"/>
          </a:xfrm>
          <a:prstGeom prst="rect">
            <a:avLst/>
          </a:prstGeom>
          <a:noFill/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1E6F270-C6E9-6FE6-AB03-9E18A7FE701E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937402" y="599600"/>
            <a:ext cx="5633165" cy="5623360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smtClean="0">
                <a:solidFill>
                  <a:schemeClr val="bg1"/>
                </a:solidFill>
              </a:rPr>
              <a:t>Inspirational Lunar Mission</a:t>
            </a:r>
          </a:p>
          <a:p>
            <a:pPr marL="0" lvl="1">
              <a:buFont typeface="Arial" panose="020B0604020202020204" pitchFamily="34" charset="0"/>
              <a:buNone/>
            </a:pPr>
            <a:r>
              <a:rPr lang="en-US" smtClean="0">
                <a:solidFill>
                  <a:schemeClr val="bg1"/>
                </a:solidFill>
              </a:rPr>
              <a:t>The Artemis program aims to inspire global audiences by returning humans to the Moon through innovation and collaboration.</a:t>
            </a:r>
          </a:p>
          <a:p>
            <a:pPr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smtClean="0">
                <a:solidFill>
                  <a:schemeClr val="bg1"/>
                </a:solidFill>
              </a:rPr>
              <a:t>Diversity and Global Partnerships</a:t>
            </a:r>
          </a:p>
          <a:p>
            <a:pPr marL="0" lvl="1">
              <a:buFont typeface="Arial" panose="020B0604020202020204" pitchFamily="34" charset="0"/>
              <a:buNone/>
            </a:pPr>
            <a:r>
              <a:rPr lang="en-US" smtClean="0">
                <a:solidFill>
                  <a:schemeClr val="bg1"/>
                </a:solidFill>
              </a:rPr>
              <a:t>Artemis emphasizes diversity, inclusion, and international partnerships to shape the future of space exploration.</a:t>
            </a:r>
          </a:p>
          <a:p>
            <a:pPr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smtClean="0">
                <a:solidFill>
                  <a:schemeClr val="bg1"/>
                </a:solidFill>
              </a:rPr>
              <a:t>Advanced Space Technologies</a:t>
            </a:r>
          </a:p>
          <a:p>
            <a:pPr marL="0" lvl="1">
              <a:buFont typeface="Arial" panose="020B0604020202020204" pitchFamily="34" charset="0"/>
              <a:buNone/>
            </a:pPr>
            <a:r>
              <a:rPr lang="en-US" smtClean="0">
                <a:solidFill>
                  <a:schemeClr val="bg1"/>
                </a:solidFill>
              </a:rPr>
              <a:t>The program features cutting-edge technologies like advanced propulsion, autonomous robotics, and sustainable habitats.</a:t>
            </a:r>
          </a:p>
          <a:p>
            <a:pPr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smtClean="0">
                <a:solidFill>
                  <a:schemeClr val="bg1"/>
                </a:solidFill>
              </a:rPr>
              <a:t>Uniting Humanity’s Vision</a:t>
            </a:r>
          </a:p>
          <a:p>
            <a:pPr marL="0" lvl="1">
              <a:buFont typeface="Arial" panose="020B0604020202020204" pitchFamily="34" charset="0"/>
              <a:buNone/>
            </a:pPr>
            <a:r>
              <a:rPr lang="en-US" smtClean="0">
                <a:solidFill>
                  <a:schemeClr val="bg1"/>
                </a:solidFill>
              </a:rPr>
              <a:t>Artemis seeks to unite humanity with a shared goal of exploring new frontiers beyond Earth.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231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as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8598" y="-1772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B6722F1-865F-49AF-44F2-7D47EAE1D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9599"/>
            <a:ext cx="4672584" cy="1453896"/>
          </a:xfrm>
        </p:spPr>
        <p:txBody>
          <a:bodyPr anchor="t">
            <a:normAutofit/>
          </a:bodyPr>
          <a:lstStyle/>
          <a:p>
            <a:r>
              <a:rPr lang="en-US"/>
              <a:t>Mission Achievements</a:t>
            </a:r>
          </a:p>
        </p:txBody>
      </p:sp>
      <p:pic>
        <p:nvPicPr>
          <p:cNvPr id="5" name="Content Placeholder 4" descr="Galaxy Backgrounds">
            <a:extLst>
              <a:ext uri="{FF2B5EF4-FFF2-40B4-BE49-F238E27FC236}">
                <a16:creationId xmlns:a16="http://schemas.microsoft.com/office/drawing/2014/main" id="{3CD4050B-6DEA-4435-80D2-36A222166F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12" r="7612"/>
          <a:stretch>
            <a:fillRect/>
          </a:stretch>
        </p:blipFill>
        <p:spPr>
          <a:xfrm>
            <a:off x="349324" y="1219200"/>
            <a:ext cx="5175504" cy="5273599"/>
          </a:xfrm>
          <a:prstGeom prst="rect">
            <a:avLst/>
          </a:prstGeom>
          <a:noFill/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26ED3D1-3016-97A7-5493-BBAD800F8021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937402" y="599600"/>
            <a:ext cx="5633165" cy="5623360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smtClean="0">
                <a:solidFill>
                  <a:schemeClr val="bg1"/>
                </a:solidFill>
              </a:rPr>
              <a:t>Powerful Rocket Launch</a:t>
            </a:r>
          </a:p>
          <a:p>
            <a:pPr marL="0" lvl="1">
              <a:buFont typeface="Arial" panose="020B0604020202020204" pitchFamily="34" charset="0"/>
              <a:buNone/>
            </a:pPr>
            <a:r>
              <a:rPr lang="en-US" smtClean="0">
                <a:solidFill>
                  <a:schemeClr val="bg1"/>
                </a:solidFill>
              </a:rPr>
              <a:t>Artemis I launched the most powerful rocket in the world, marking a major milestone in space exploration.</a:t>
            </a:r>
          </a:p>
          <a:p>
            <a:pPr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smtClean="0">
                <a:solidFill>
                  <a:schemeClr val="bg1"/>
                </a:solidFill>
              </a:rPr>
              <a:t>Distant Retrograde Orbit</a:t>
            </a:r>
          </a:p>
          <a:p>
            <a:pPr marL="0" lvl="1">
              <a:buFont typeface="Arial" panose="020B0604020202020204" pitchFamily="34" charset="0"/>
              <a:buNone/>
            </a:pPr>
            <a:r>
              <a:rPr lang="en-US" smtClean="0">
                <a:solidFill>
                  <a:schemeClr val="bg1"/>
                </a:solidFill>
              </a:rPr>
              <a:t>Orion spacecraft was placed in a distant retrograde orbit, farther than any human-rated spacecraft before.</a:t>
            </a:r>
          </a:p>
          <a:p>
            <a:pPr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smtClean="0">
                <a:solidFill>
                  <a:schemeClr val="bg1"/>
                </a:solidFill>
              </a:rPr>
              <a:t>Moon-Earth Transit Images</a:t>
            </a:r>
          </a:p>
          <a:p>
            <a:pPr marL="0" lvl="1">
              <a:buFont typeface="Arial" panose="020B0604020202020204" pitchFamily="34" charset="0"/>
              <a:buNone/>
            </a:pPr>
            <a:r>
              <a:rPr lang="en-US" smtClean="0">
                <a:solidFill>
                  <a:schemeClr val="bg1"/>
                </a:solidFill>
              </a:rPr>
              <a:t>The mission captured stunning images of the Moon transiting in front of Earth, showcasing celestial beauty.</a:t>
            </a:r>
          </a:p>
          <a:p>
            <a:pPr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smtClean="0">
                <a:solidFill>
                  <a:schemeClr val="bg1"/>
                </a:solidFill>
              </a:rPr>
              <a:t>Safe Ocean Recovery</a:t>
            </a:r>
          </a:p>
          <a:p>
            <a:pPr marL="0" lvl="1">
              <a:buFont typeface="Arial" panose="020B0604020202020204" pitchFamily="34" charset="0"/>
              <a:buNone/>
            </a:pPr>
            <a:r>
              <a:rPr lang="en-US" smtClean="0">
                <a:solidFill>
                  <a:schemeClr val="bg1"/>
                </a:solidFill>
              </a:rPr>
              <a:t>Orion safely landed in the Pacific Ocean, demonstrating effective heatshield and parachute systems.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9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600" y="1295400"/>
            <a:ext cx="670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/>
              <a:t>Thanks</a:t>
            </a:r>
            <a:endParaRPr lang="en-US" sz="9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520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MT</vt:lpstr>
      <vt:lpstr>Calibri</vt:lpstr>
      <vt:lpstr>Office Theme</vt:lpstr>
      <vt:lpstr>Returning to the Moon: NASA Artemis Missions</vt:lpstr>
      <vt:lpstr>INTRODUCTION</vt:lpstr>
      <vt:lpstr>PowerPoint Presentation</vt:lpstr>
      <vt:lpstr>Goals and Significance</vt:lpstr>
      <vt:lpstr>Economic and Workforce Impact</vt:lpstr>
      <vt:lpstr>Human Exploration Vision</vt:lpstr>
      <vt:lpstr>Mission Achievements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Returning to the Moon: NASA Artemis Missions</dc:title>
  <dc:creator>DELL</dc:creator>
  <cp:lastModifiedBy>DELL</cp:lastModifiedBy>
  <cp:revision>7</cp:revision>
  <dcterms:created xsi:type="dcterms:W3CDTF">2025-11-24T16:31:16Z</dcterms:created>
  <dcterms:modified xsi:type="dcterms:W3CDTF">2025-11-24T17:04:18Z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2023-01-23T00:00:00Z</vt:filetime>
  </property>
  <property fmtid="{D5CDD505-2E9C-101B-9397-08002B2CF9AE}" pid="3" name="LastSaved">
    <vt:filetime>2025-11-24T00:00:00Z</vt:filetime>
  </property>
</Properties>
</file>