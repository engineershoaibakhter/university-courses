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317" r:id="rId3"/>
    <p:sldId id="316" r:id="rId4"/>
    <p:sldId id="318" r:id="rId5"/>
    <p:sldId id="319" r:id="rId6"/>
    <p:sldId id="321" r:id="rId7"/>
    <p:sldId id="320" r:id="rId8"/>
    <p:sldId id="322" r:id="rId9"/>
    <p:sldId id="323" r:id="rId10"/>
    <p:sldId id="324" r:id="rId11"/>
    <p:sldId id="330" r:id="rId12"/>
    <p:sldId id="331" r:id="rId13"/>
    <p:sldId id="332" r:id="rId14"/>
    <p:sldId id="333" r:id="rId15"/>
    <p:sldId id="334" r:id="rId16"/>
    <p:sldId id="329" r:id="rId17"/>
    <p:sldId id="327" r:id="rId18"/>
    <p:sldId id="328" r:id="rId19"/>
    <p:sldId id="325" r:id="rId20"/>
    <p:sldId id="326" r:id="rId21"/>
    <p:sldId id="335" r:id="rId22"/>
    <p:sldId id="336" r:id="rId23"/>
    <p:sldId id="30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E1D"/>
    <a:srgbClr val="008000"/>
    <a:srgbClr val="D68B1C"/>
    <a:srgbClr val="D09622"/>
    <a:srgbClr val="157FFF"/>
    <a:srgbClr val="F7E28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9288" autoAdjust="0"/>
  </p:normalViewPr>
  <p:slideViewPr>
    <p:cSldViewPr>
      <p:cViewPr varScale="1">
        <p:scale>
          <a:sx n="86" d="100"/>
          <a:sy n="86" d="100"/>
        </p:scale>
        <p:origin x="153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FEF12B-7DAB-4457-AC60-EAA0DAD6BCF4}" type="datetimeFigureOut">
              <a:rPr lang="en-US" smtClean="0"/>
              <a:pPr/>
              <a:t>5/31/2025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434123-F2F4-4EED-A50E-42F1E7A18F5F}" type="slidenum">
              <a:rPr lang="en-US" smtClean="0"/>
              <a:pPr/>
              <a:t>‹#›</a:t>
            </a:fld>
            <a:endParaRPr lang="en-US"/>
          </a:p>
        </p:txBody>
      </p:sp>
    </p:spTree>
    <p:extLst>
      <p:ext uri="{BB962C8B-B14F-4D97-AF65-F5344CB8AC3E}">
        <p14:creationId xmlns:p14="http://schemas.microsoft.com/office/powerpoint/2010/main" val="422743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9785" y="2207360"/>
            <a:ext cx="7772400" cy="763525"/>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434130" y="4039820"/>
            <a:ext cx="6400800" cy="1068935"/>
          </a:xfrm>
        </p:spPr>
        <p:txBody>
          <a:bodyPr>
            <a:normAutofit/>
          </a:bodyPr>
          <a:lstStyle>
            <a:lvl1pPr marL="0" indent="0" algn="r">
              <a:buNone/>
              <a:defRPr sz="2800">
                <a:solidFill>
                  <a:srgbClr val="00B0F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4375" y="527605"/>
            <a:ext cx="8229600" cy="610820"/>
          </a:xfrm>
        </p:spPr>
        <p:txBody>
          <a:bodyPr>
            <a:normAutofit/>
          </a:bodyPr>
          <a:lstStyle>
            <a:lvl1pPr algn="r">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754374" y="1443835"/>
            <a:ext cx="7482545" cy="458115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23310" y="527605"/>
            <a:ext cx="7016195" cy="684885"/>
          </a:xfrm>
        </p:spPr>
        <p:txBody>
          <a:bodyPr>
            <a:normAutofit/>
          </a:bodyPr>
          <a:lstStyle>
            <a:lvl1pPr algn="l">
              <a:defRPr sz="3600">
                <a:solidFill>
                  <a:srgbClr val="00B0F0"/>
                </a:solidFill>
              </a:defRPr>
            </a:lvl1pPr>
          </a:lstStyle>
          <a:p>
            <a:r>
              <a:rPr lang="en-US" dirty="0"/>
              <a:t>Click to edit Master title style</a:t>
            </a:r>
          </a:p>
        </p:txBody>
      </p:sp>
      <p:sp>
        <p:nvSpPr>
          <p:cNvPr id="3" name="Content Placeholder 2"/>
          <p:cNvSpPr>
            <a:spLocks noGrp="1"/>
          </p:cNvSpPr>
          <p:nvPr>
            <p:ph idx="1"/>
          </p:nvPr>
        </p:nvSpPr>
        <p:spPr>
          <a:xfrm>
            <a:off x="1823310" y="1443835"/>
            <a:ext cx="7016195" cy="427574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56010" y="527605"/>
            <a:ext cx="6244435" cy="532180"/>
          </a:xfrm>
        </p:spPr>
        <p:txBody>
          <a:bodyPr>
            <a:normAutofit/>
          </a:bodyPr>
          <a:lstStyle>
            <a:lvl1pPr algn="r">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601671" y="1596540"/>
            <a:ext cx="3817624" cy="639762"/>
          </a:xfrm>
        </p:spPr>
        <p:txBody>
          <a:bodyPr anchor="b"/>
          <a:lstStyle>
            <a:lvl1pPr marL="0" indent="0">
              <a:buNone/>
              <a:defRPr sz="2400" b="1" baseline="0">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1671" y="2226403"/>
            <a:ext cx="3817624"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705" y="1596540"/>
            <a:ext cx="3970330" cy="639762"/>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724705" y="2226403"/>
            <a:ext cx="3970330"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5/31/2025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5/31/2025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5/31/2025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5/31/2025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url?sa=i&amp;rct=j&amp;q=&amp;esrc=s&amp;source=images&amp;cd=&amp;ved=2ahUKEwj88pfQpqffAhUN-YUKHZMyAOMQjRx6BAgBEAU&amp;url=http://lighthouseinsights.in/creative-promotions-by-brands-and-the-dabbawalas-of-mumbai.html/&amp;psig=AOvVaw3-BZvvl3V8nvlV1CStVCF1&amp;ust=1545151058237242" TargetMode="External"/><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8130" name="AutoShape 2" descr="Image result for mumbai dabbawala">
            <a:hlinkClick r:id="rId3"/>
          </p:cNvPr>
          <p:cNvSpPr>
            <a:spLocks noChangeAspect="1" noChangeArrowheads="1"/>
          </p:cNvSpPr>
          <p:nvPr/>
        </p:nvSpPr>
        <p:spPr bwMode="auto">
          <a:xfrm>
            <a:off x="117475" y="-1668463"/>
            <a:ext cx="6143625" cy="34861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48132" name="AutoShape 4" descr="Image result for mumbai dabbawala">
            <a:hlinkClick r:id="rId3"/>
          </p:cNvPr>
          <p:cNvSpPr>
            <a:spLocks noChangeAspect="1" noChangeArrowheads="1"/>
          </p:cNvSpPr>
          <p:nvPr/>
        </p:nvSpPr>
        <p:spPr bwMode="auto">
          <a:xfrm>
            <a:off x="117475" y="-1668463"/>
            <a:ext cx="6143625" cy="34861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4387" y="1714488"/>
            <a:ext cx="2468880"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8" descr="Slideheader01"/>
          <p:cNvSpPr>
            <a:spLocks noGrp="1" noChangeArrowheads="1"/>
          </p:cNvSpPr>
          <p:nvPr>
            <p:ph type="ctrTitle"/>
          </p:nvPr>
        </p:nvSpPr>
        <p:spPr>
          <a:xfrm>
            <a:off x="3154524" y="2251893"/>
            <a:ext cx="5953980" cy="1321123"/>
          </a:xfrm>
          <a:noFill/>
          <a:extLst>
            <a:ext uri="{909E8E84-426E-40DD-AFC4-6F175D3DCCD1}">
              <a14:hiddenFill xmlns:a14="http://schemas.microsoft.com/office/drawing/2010/main">
                <a:blipFill dpi="0" rotWithShape="1">
                  <a:blip r:embed="rId5"/>
                  <a:srcRect/>
                  <a:stretch>
                    <a:fillRect/>
                  </a:stretch>
                </a:blipFill>
              </a14:hiddenFill>
            </a:ext>
          </a:extLst>
        </p:spPr>
        <p:txBody>
          <a:bodyPr>
            <a:noAutofit/>
          </a:bodyPr>
          <a:lstStyle/>
          <a:p>
            <a:pPr indent="0" algn="ctr" eaLnBrk="1" hangingPunct="1"/>
            <a:r>
              <a:rPr lang="en-US" sz="3200" b="1" dirty="0">
                <a:solidFill>
                  <a:schemeClr val="tx1"/>
                </a:solidFill>
              </a:rPr>
              <a:t>PROJECT PROCUREMENT MANAGEMENT</a:t>
            </a:r>
          </a:p>
        </p:txBody>
      </p:sp>
      <p:sp>
        <p:nvSpPr>
          <p:cNvPr id="3" name="Subtitle 2"/>
          <p:cNvSpPr>
            <a:spLocks noGrp="1"/>
          </p:cNvSpPr>
          <p:nvPr>
            <p:ph type="subTitle" idx="1"/>
          </p:nvPr>
        </p:nvSpPr>
        <p:spPr>
          <a:xfrm>
            <a:off x="6084168" y="5805264"/>
            <a:ext cx="3044950" cy="1443835"/>
          </a:xfrm>
        </p:spPr>
        <p:txBody>
          <a:bodyPr>
            <a:noAutofit/>
          </a:bodyPr>
          <a:lstStyle/>
          <a:p>
            <a:pPr algn="ctr"/>
            <a:r>
              <a:rPr lang="en-US" sz="2000" b="1" i="1" dirty="0">
                <a:solidFill>
                  <a:schemeClr val="bg1">
                    <a:lumMod val="95000"/>
                  </a:schemeClr>
                </a:solidFill>
                <a:latin typeface="Georgia" pitchFamily="18" charset="0"/>
              </a:rPr>
              <a:t>LECTURE # 14</a:t>
            </a:r>
          </a:p>
          <a:p>
            <a:pPr algn="ctr"/>
            <a:endParaRPr lang="en-US" sz="2000" b="1" i="1" dirty="0">
              <a:solidFill>
                <a:schemeClr val="bg1">
                  <a:lumMod val="95000"/>
                </a:schemeClr>
              </a:solidFill>
              <a:latin typeface="Georgia" pitchFamily="18" charset="0"/>
            </a:endParaRPr>
          </a:p>
        </p:txBody>
      </p:sp>
    </p:spTree>
    <p:extLst>
      <p:ext uri="{BB962C8B-B14F-4D97-AF65-F5344CB8AC3E}">
        <p14:creationId xmlns:p14="http://schemas.microsoft.com/office/powerpoint/2010/main" val="363920370"/>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6369" y="404664"/>
            <a:ext cx="5780127" cy="610820"/>
          </a:xfrm>
        </p:spPr>
        <p:txBody>
          <a:bodyPr>
            <a:normAutofit fontScale="90000"/>
          </a:bodyPr>
          <a:lstStyle/>
          <a:p>
            <a:pPr algn="ctr"/>
            <a:r>
              <a:rPr lang="en-US" dirty="0"/>
              <a:t>WHAT IS PROCUREMENT</a:t>
            </a:r>
          </a:p>
        </p:txBody>
      </p:sp>
      <p:sp>
        <p:nvSpPr>
          <p:cNvPr id="3" name="Content Placeholder 2"/>
          <p:cNvSpPr>
            <a:spLocks noGrp="1"/>
          </p:cNvSpPr>
          <p:nvPr>
            <p:ph idx="1"/>
          </p:nvPr>
        </p:nvSpPr>
        <p:spPr>
          <a:xfrm>
            <a:off x="100408" y="2060848"/>
            <a:ext cx="4327576" cy="2592288"/>
          </a:xfrm>
        </p:spPr>
        <p:txBody>
          <a:bodyPr/>
          <a:lstStyle/>
          <a:p>
            <a:pPr marL="0" indent="0" algn="ctr">
              <a:buNone/>
            </a:pPr>
            <a:r>
              <a:rPr lang="en-US" dirty="0"/>
              <a:t>Procurement is an act of acquiring works, goods and services from external suppliers.</a:t>
            </a:r>
          </a:p>
        </p:txBody>
      </p:sp>
      <p:pic>
        <p:nvPicPr>
          <p:cNvPr id="2052" name="Picture 4" descr="Procur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5157192"/>
            <a:ext cx="9036496" cy="1653928"/>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D:\bahria 2019\FOPM\Sumaiya\Lecture 14\Final 1\intr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206" y="1556792"/>
            <a:ext cx="4334669" cy="3267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966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3848" y="260648"/>
            <a:ext cx="5976664" cy="610820"/>
          </a:xfrm>
        </p:spPr>
        <p:txBody>
          <a:bodyPr>
            <a:normAutofit/>
          </a:bodyPr>
          <a:lstStyle/>
          <a:p>
            <a:pPr algn="ctr"/>
            <a:r>
              <a:rPr lang="en-US" sz="2800" b="1" spc="25" dirty="0">
                <a:latin typeface="Arial"/>
                <a:cs typeface="Arial"/>
              </a:rPr>
              <a:t>Project</a:t>
            </a:r>
            <a:r>
              <a:rPr lang="en-US" sz="2800" b="1" spc="-215" dirty="0">
                <a:latin typeface="Arial"/>
                <a:cs typeface="Arial"/>
              </a:rPr>
              <a:t> </a:t>
            </a:r>
            <a:r>
              <a:rPr lang="en-US" sz="2800" b="1" spc="20" dirty="0">
                <a:latin typeface="Arial"/>
                <a:cs typeface="Arial"/>
              </a:rPr>
              <a:t>Procurement</a:t>
            </a:r>
            <a:r>
              <a:rPr lang="en-US" sz="2800" b="1" spc="-285" dirty="0">
                <a:latin typeface="Arial"/>
                <a:cs typeface="Arial"/>
              </a:rPr>
              <a:t> </a:t>
            </a:r>
            <a:r>
              <a:rPr lang="en-US" sz="2800" b="1" spc="15" dirty="0">
                <a:latin typeface="Arial"/>
                <a:cs typeface="Arial"/>
              </a:rPr>
              <a:t>Management</a:t>
            </a:r>
            <a:endParaRPr lang="en-US" sz="2800" b="1" dirty="0"/>
          </a:p>
        </p:txBody>
      </p:sp>
      <p:sp>
        <p:nvSpPr>
          <p:cNvPr id="3" name="Content Placeholder 2"/>
          <p:cNvSpPr>
            <a:spLocks noGrp="1"/>
          </p:cNvSpPr>
          <p:nvPr>
            <p:ph idx="1"/>
          </p:nvPr>
        </p:nvSpPr>
        <p:spPr>
          <a:xfrm>
            <a:off x="107504" y="1340768"/>
            <a:ext cx="8928992" cy="4581150"/>
          </a:xfrm>
        </p:spPr>
        <p:txBody>
          <a:bodyPr>
            <a:noAutofit/>
          </a:bodyPr>
          <a:lstStyle/>
          <a:p>
            <a:pPr marL="236220" marR="316865" indent="-223520">
              <a:lnSpc>
                <a:spcPct val="80800"/>
              </a:lnSpc>
              <a:spcBef>
                <a:spcPts val="840"/>
              </a:spcBef>
              <a:tabLst>
                <a:tab pos="236220" algn="l"/>
              </a:tabLst>
            </a:pPr>
            <a:r>
              <a:rPr lang="en-US" sz="2400" spc="25" dirty="0">
                <a:latin typeface="Arial"/>
                <a:cs typeface="Arial"/>
              </a:rPr>
              <a:t>Project</a:t>
            </a:r>
            <a:r>
              <a:rPr lang="en-US" sz="2400" spc="-215" dirty="0">
                <a:latin typeface="Arial"/>
                <a:cs typeface="Arial"/>
              </a:rPr>
              <a:t> </a:t>
            </a:r>
            <a:r>
              <a:rPr lang="en-US" sz="2400" spc="20" dirty="0">
                <a:latin typeface="Arial"/>
                <a:cs typeface="Arial"/>
              </a:rPr>
              <a:t>Procurement</a:t>
            </a:r>
            <a:r>
              <a:rPr lang="en-US" sz="2400" spc="-285" dirty="0">
                <a:latin typeface="Arial"/>
                <a:cs typeface="Arial"/>
              </a:rPr>
              <a:t> </a:t>
            </a:r>
            <a:r>
              <a:rPr lang="en-US" sz="2400" spc="15" dirty="0">
                <a:latin typeface="Arial"/>
                <a:cs typeface="Arial"/>
              </a:rPr>
              <a:t>Management</a:t>
            </a:r>
            <a:r>
              <a:rPr lang="en-US" sz="2400" spc="-290" dirty="0">
                <a:latin typeface="Arial"/>
                <a:cs typeface="Arial"/>
              </a:rPr>
              <a:t> </a:t>
            </a:r>
            <a:r>
              <a:rPr lang="en-US" sz="2400" spc="30" dirty="0">
                <a:latin typeface="Arial"/>
                <a:cs typeface="Arial"/>
              </a:rPr>
              <a:t>includes</a:t>
            </a:r>
            <a:r>
              <a:rPr lang="en-US" sz="2400" spc="-260" dirty="0">
                <a:latin typeface="Arial"/>
                <a:cs typeface="Arial"/>
              </a:rPr>
              <a:t> </a:t>
            </a:r>
            <a:r>
              <a:rPr lang="en-US" sz="2400" spc="15" dirty="0">
                <a:latin typeface="Arial"/>
                <a:cs typeface="Arial"/>
              </a:rPr>
              <a:t>the</a:t>
            </a:r>
            <a:r>
              <a:rPr lang="en-US" sz="2400" spc="-120" dirty="0">
                <a:latin typeface="Arial"/>
                <a:cs typeface="Arial"/>
              </a:rPr>
              <a:t> </a:t>
            </a:r>
            <a:r>
              <a:rPr lang="en-US" sz="2400" spc="15" dirty="0">
                <a:latin typeface="Arial"/>
                <a:cs typeface="Arial"/>
              </a:rPr>
              <a:t>processes  </a:t>
            </a:r>
            <a:r>
              <a:rPr lang="en-US" sz="2400" spc="20" dirty="0">
                <a:latin typeface="Arial"/>
                <a:cs typeface="Arial"/>
              </a:rPr>
              <a:t>required </a:t>
            </a:r>
            <a:r>
              <a:rPr lang="en-US" sz="2400" spc="10" dirty="0">
                <a:latin typeface="Arial"/>
                <a:cs typeface="Arial"/>
              </a:rPr>
              <a:t>to </a:t>
            </a:r>
            <a:r>
              <a:rPr lang="en-US" sz="2400" spc="25" dirty="0">
                <a:latin typeface="Arial"/>
                <a:cs typeface="Arial"/>
              </a:rPr>
              <a:t>acquire goods and </a:t>
            </a:r>
            <a:r>
              <a:rPr lang="en-US" sz="2400" spc="10" dirty="0">
                <a:latin typeface="Arial"/>
                <a:cs typeface="Arial"/>
              </a:rPr>
              <a:t>services </a:t>
            </a:r>
            <a:r>
              <a:rPr lang="en-US" sz="2400" spc="40" dirty="0">
                <a:latin typeface="Arial"/>
                <a:cs typeface="Arial"/>
              </a:rPr>
              <a:t>from </a:t>
            </a:r>
            <a:r>
              <a:rPr lang="en-US" sz="2400" spc="15" dirty="0">
                <a:latin typeface="Arial"/>
                <a:cs typeface="Arial"/>
              </a:rPr>
              <a:t>outside </a:t>
            </a:r>
            <a:r>
              <a:rPr lang="en-US" sz="2400" spc="20" dirty="0">
                <a:latin typeface="Arial"/>
                <a:cs typeface="Arial"/>
              </a:rPr>
              <a:t>the  </a:t>
            </a:r>
            <a:r>
              <a:rPr lang="en-US" sz="2400" spc="15" dirty="0">
                <a:latin typeface="Arial"/>
                <a:cs typeface="Arial"/>
              </a:rPr>
              <a:t>performing</a:t>
            </a:r>
            <a:r>
              <a:rPr lang="en-US" sz="2400" spc="-204" dirty="0">
                <a:latin typeface="Arial"/>
                <a:cs typeface="Arial"/>
              </a:rPr>
              <a:t> </a:t>
            </a:r>
            <a:r>
              <a:rPr lang="en-US" sz="2400" spc="10" dirty="0">
                <a:latin typeface="Arial"/>
                <a:cs typeface="Arial"/>
              </a:rPr>
              <a:t>organization.</a:t>
            </a:r>
            <a:endParaRPr lang="en-US" sz="2400" dirty="0">
              <a:latin typeface="Arial"/>
              <a:cs typeface="Arial"/>
            </a:endParaRPr>
          </a:p>
          <a:p>
            <a:pPr marL="236220" indent="-223520">
              <a:lnSpc>
                <a:spcPts val="3525"/>
              </a:lnSpc>
              <a:tabLst>
                <a:tab pos="236220" algn="l"/>
              </a:tabLst>
            </a:pPr>
            <a:r>
              <a:rPr lang="en-US" sz="2400" spc="5" dirty="0">
                <a:latin typeface="Arial"/>
                <a:cs typeface="Arial"/>
              </a:rPr>
              <a:t>Overview</a:t>
            </a:r>
            <a:r>
              <a:rPr lang="en-US" sz="2400" spc="-85" dirty="0">
                <a:latin typeface="Arial"/>
                <a:cs typeface="Arial"/>
              </a:rPr>
              <a:t> </a:t>
            </a:r>
            <a:r>
              <a:rPr lang="en-US" sz="2400" spc="20" dirty="0">
                <a:latin typeface="Arial"/>
                <a:cs typeface="Arial"/>
              </a:rPr>
              <a:t>of</a:t>
            </a:r>
            <a:r>
              <a:rPr lang="en-US" sz="2400" spc="-50" dirty="0">
                <a:latin typeface="Arial"/>
                <a:cs typeface="Arial"/>
              </a:rPr>
              <a:t> </a:t>
            </a:r>
            <a:r>
              <a:rPr lang="en-US" sz="2400" spc="15" dirty="0">
                <a:latin typeface="Arial"/>
                <a:cs typeface="Arial"/>
              </a:rPr>
              <a:t>the</a:t>
            </a:r>
            <a:r>
              <a:rPr lang="en-US" sz="2400" spc="-120" dirty="0">
                <a:latin typeface="Arial"/>
                <a:cs typeface="Arial"/>
              </a:rPr>
              <a:t> </a:t>
            </a:r>
            <a:r>
              <a:rPr lang="en-US" sz="2400" spc="25" dirty="0">
                <a:latin typeface="Arial"/>
                <a:cs typeface="Arial"/>
              </a:rPr>
              <a:t>following</a:t>
            </a:r>
            <a:r>
              <a:rPr lang="en-US" sz="2400" spc="-280" dirty="0">
                <a:latin typeface="Arial"/>
                <a:cs typeface="Arial"/>
              </a:rPr>
              <a:t> </a:t>
            </a:r>
            <a:r>
              <a:rPr lang="en-US" sz="2400" spc="30" dirty="0">
                <a:latin typeface="Arial"/>
                <a:cs typeface="Arial"/>
              </a:rPr>
              <a:t>major</a:t>
            </a:r>
            <a:r>
              <a:rPr lang="en-US" sz="2400" spc="-140" dirty="0">
                <a:latin typeface="Arial"/>
                <a:cs typeface="Arial"/>
              </a:rPr>
              <a:t> </a:t>
            </a:r>
            <a:r>
              <a:rPr lang="en-US" sz="2400" spc="10" dirty="0">
                <a:latin typeface="Arial"/>
                <a:cs typeface="Arial"/>
              </a:rPr>
              <a:t>processes:</a:t>
            </a:r>
            <a:endParaRPr lang="en-US" sz="2400" dirty="0">
              <a:latin typeface="Arial"/>
              <a:cs typeface="Arial"/>
            </a:endParaRPr>
          </a:p>
          <a:p>
            <a:pPr marL="734695" lvl="1" indent="-315595">
              <a:lnSpc>
                <a:spcPts val="3180"/>
              </a:lnSpc>
              <a:spcBef>
                <a:spcPts val="45"/>
              </a:spcBef>
              <a:buFont typeface="Arial"/>
              <a:buChar char="–"/>
              <a:tabLst>
                <a:tab pos="734695" algn="l"/>
              </a:tabLst>
            </a:pPr>
            <a:r>
              <a:rPr lang="en-US" sz="2000" b="1" spc="10" dirty="0">
                <a:latin typeface="Arial"/>
                <a:cs typeface="Arial"/>
              </a:rPr>
              <a:t>Procurement </a:t>
            </a:r>
            <a:r>
              <a:rPr lang="en-US" sz="2000" b="1" spc="-20" dirty="0">
                <a:latin typeface="Arial"/>
                <a:cs typeface="Arial"/>
              </a:rPr>
              <a:t>Planning </a:t>
            </a:r>
            <a:r>
              <a:rPr lang="en-US" sz="2000" b="1" spc="10" dirty="0">
                <a:latin typeface="Arial"/>
                <a:cs typeface="Arial"/>
              </a:rPr>
              <a:t>– </a:t>
            </a:r>
            <a:r>
              <a:rPr lang="en-US" sz="2000" spc="-35" dirty="0">
                <a:latin typeface="Arial"/>
                <a:cs typeface="Arial"/>
              </a:rPr>
              <a:t>determining </a:t>
            </a:r>
            <a:r>
              <a:rPr lang="en-US" sz="2000" spc="-40" dirty="0">
                <a:latin typeface="Arial"/>
                <a:cs typeface="Arial"/>
              </a:rPr>
              <a:t>what </a:t>
            </a:r>
            <a:r>
              <a:rPr lang="en-US" sz="2000" spc="-10" dirty="0">
                <a:latin typeface="Arial"/>
                <a:cs typeface="Arial"/>
              </a:rPr>
              <a:t>to </a:t>
            </a:r>
            <a:r>
              <a:rPr lang="en-US" sz="2000" spc="-20" dirty="0">
                <a:latin typeface="Arial"/>
                <a:cs typeface="Arial"/>
              </a:rPr>
              <a:t>procure </a:t>
            </a:r>
            <a:r>
              <a:rPr lang="en-US" sz="2000" spc="-15" dirty="0">
                <a:latin typeface="Arial"/>
                <a:cs typeface="Arial"/>
              </a:rPr>
              <a:t>and</a:t>
            </a:r>
            <a:r>
              <a:rPr lang="en-US" sz="2000" spc="-250" dirty="0">
                <a:latin typeface="Arial"/>
                <a:cs typeface="Arial"/>
              </a:rPr>
              <a:t> </a:t>
            </a:r>
            <a:r>
              <a:rPr lang="en-US" sz="2000" spc="-30" dirty="0">
                <a:latin typeface="Arial"/>
                <a:cs typeface="Arial"/>
              </a:rPr>
              <a:t>when.</a:t>
            </a:r>
            <a:endParaRPr lang="en-US" sz="2000" dirty="0">
              <a:latin typeface="Arial"/>
              <a:cs typeface="Arial"/>
            </a:endParaRPr>
          </a:p>
          <a:p>
            <a:pPr marL="643255" marR="223520" lvl="1" indent="-224154">
              <a:lnSpc>
                <a:spcPts val="2650"/>
              </a:lnSpc>
              <a:spcBef>
                <a:spcPts val="520"/>
              </a:spcBef>
              <a:buFont typeface="Arial"/>
              <a:buChar char="–"/>
              <a:tabLst>
                <a:tab pos="734695" algn="l"/>
              </a:tabLst>
            </a:pPr>
            <a:r>
              <a:rPr lang="en-US" sz="2400" dirty="0"/>
              <a:t>	</a:t>
            </a:r>
            <a:r>
              <a:rPr lang="en-US" sz="2000" b="1" spc="-5" dirty="0">
                <a:latin typeface="Arial"/>
                <a:cs typeface="Arial"/>
              </a:rPr>
              <a:t>Solicitation </a:t>
            </a:r>
            <a:r>
              <a:rPr lang="en-US" sz="2000" b="1" spc="-20" dirty="0">
                <a:latin typeface="Arial"/>
                <a:cs typeface="Arial"/>
              </a:rPr>
              <a:t>Planning </a:t>
            </a:r>
            <a:r>
              <a:rPr lang="en-US" sz="2000" b="1" spc="10" dirty="0">
                <a:latin typeface="Arial"/>
                <a:cs typeface="Arial"/>
              </a:rPr>
              <a:t>– </a:t>
            </a:r>
            <a:r>
              <a:rPr lang="en-US" sz="2000" spc="-30" dirty="0">
                <a:latin typeface="Arial"/>
                <a:cs typeface="Arial"/>
              </a:rPr>
              <a:t>documenting product </a:t>
            </a:r>
            <a:r>
              <a:rPr lang="en-US" sz="2000" spc="-40" dirty="0">
                <a:latin typeface="Arial"/>
                <a:cs typeface="Arial"/>
              </a:rPr>
              <a:t>requirements </a:t>
            </a:r>
            <a:r>
              <a:rPr lang="en-US" sz="2000" spc="-15" dirty="0">
                <a:latin typeface="Arial"/>
                <a:cs typeface="Arial"/>
              </a:rPr>
              <a:t>and  </a:t>
            </a:r>
            <a:r>
              <a:rPr lang="en-US" sz="2000" spc="-20" dirty="0">
                <a:latin typeface="Arial"/>
                <a:cs typeface="Arial"/>
              </a:rPr>
              <a:t>identifying </a:t>
            </a:r>
            <a:r>
              <a:rPr lang="en-US" sz="2000" spc="-40" dirty="0">
                <a:latin typeface="Arial"/>
                <a:cs typeface="Arial"/>
              </a:rPr>
              <a:t>potential</a:t>
            </a:r>
            <a:r>
              <a:rPr lang="en-US" sz="2000" spc="390" dirty="0">
                <a:latin typeface="Arial"/>
                <a:cs typeface="Arial"/>
              </a:rPr>
              <a:t> </a:t>
            </a:r>
            <a:r>
              <a:rPr lang="en-US" sz="2000" spc="-15" dirty="0">
                <a:latin typeface="Arial"/>
                <a:cs typeface="Arial"/>
              </a:rPr>
              <a:t>sources.</a:t>
            </a:r>
            <a:endParaRPr lang="en-US" sz="2000" dirty="0">
              <a:latin typeface="Arial"/>
              <a:cs typeface="Arial"/>
            </a:endParaRPr>
          </a:p>
          <a:p>
            <a:pPr marL="643255" marR="284480" lvl="1" indent="-224154">
              <a:lnSpc>
                <a:spcPct val="79100"/>
              </a:lnSpc>
              <a:spcBef>
                <a:spcPts val="645"/>
              </a:spcBef>
              <a:buFont typeface="Arial"/>
              <a:buChar char="–"/>
              <a:tabLst>
                <a:tab pos="734695" algn="l"/>
              </a:tabLst>
            </a:pPr>
            <a:r>
              <a:rPr lang="en-US" sz="2400" dirty="0"/>
              <a:t>	</a:t>
            </a:r>
            <a:r>
              <a:rPr lang="en-US" sz="2000" b="1" spc="-5" dirty="0">
                <a:latin typeface="Arial"/>
                <a:cs typeface="Arial"/>
              </a:rPr>
              <a:t>Solicitation </a:t>
            </a:r>
            <a:r>
              <a:rPr lang="en-US" sz="2000" b="1" spc="10" dirty="0">
                <a:latin typeface="Arial"/>
                <a:cs typeface="Arial"/>
              </a:rPr>
              <a:t>– </a:t>
            </a:r>
            <a:r>
              <a:rPr lang="en-US" sz="2000" spc="-30" dirty="0">
                <a:latin typeface="Arial"/>
                <a:cs typeface="Arial"/>
              </a:rPr>
              <a:t>obtaining quotations, bids, </a:t>
            </a:r>
            <a:r>
              <a:rPr lang="en-US" sz="2000" spc="-20" dirty="0">
                <a:latin typeface="Arial"/>
                <a:cs typeface="Arial"/>
              </a:rPr>
              <a:t>offers, </a:t>
            </a:r>
            <a:r>
              <a:rPr lang="en-US" sz="2000" spc="-30" dirty="0">
                <a:latin typeface="Arial"/>
                <a:cs typeface="Arial"/>
              </a:rPr>
              <a:t>or </a:t>
            </a:r>
            <a:r>
              <a:rPr lang="en-US" sz="2000" spc="-40" dirty="0">
                <a:latin typeface="Arial"/>
                <a:cs typeface="Arial"/>
              </a:rPr>
              <a:t>proposals </a:t>
            </a:r>
            <a:r>
              <a:rPr lang="en-US" sz="2000" spc="-30" dirty="0">
                <a:latin typeface="Arial"/>
                <a:cs typeface="Arial"/>
              </a:rPr>
              <a:t>as  </a:t>
            </a:r>
            <a:r>
              <a:rPr lang="en-US" sz="2000" spc="-45" dirty="0">
                <a:latin typeface="Arial"/>
                <a:cs typeface="Arial"/>
              </a:rPr>
              <a:t>appropriate.</a:t>
            </a:r>
            <a:endParaRPr lang="en-US" sz="2000" dirty="0">
              <a:latin typeface="Arial"/>
              <a:cs typeface="Arial"/>
            </a:endParaRPr>
          </a:p>
          <a:p>
            <a:pPr marL="734695" lvl="1" indent="-315595">
              <a:lnSpc>
                <a:spcPts val="3190"/>
              </a:lnSpc>
              <a:buFont typeface="Arial"/>
              <a:buChar char="–"/>
              <a:tabLst>
                <a:tab pos="734695" algn="l"/>
              </a:tabLst>
            </a:pPr>
            <a:r>
              <a:rPr lang="en-US" sz="2000" b="1" spc="15" dirty="0">
                <a:latin typeface="Arial"/>
                <a:cs typeface="Arial"/>
              </a:rPr>
              <a:t>Source </a:t>
            </a:r>
            <a:r>
              <a:rPr lang="en-US" sz="2000" b="1" dirty="0">
                <a:latin typeface="Arial"/>
                <a:cs typeface="Arial"/>
              </a:rPr>
              <a:t>Selection </a:t>
            </a:r>
            <a:r>
              <a:rPr lang="en-US" sz="2000" b="1" spc="10" dirty="0">
                <a:latin typeface="Arial"/>
                <a:cs typeface="Arial"/>
              </a:rPr>
              <a:t>– </a:t>
            </a:r>
            <a:r>
              <a:rPr lang="en-US" sz="2000" spc="-15" dirty="0">
                <a:latin typeface="Arial"/>
                <a:cs typeface="Arial"/>
              </a:rPr>
              <a:t>choosing </a:t>
            </a:r>
            <a:r>
              <a:rPr lang="en-US" sz="2000" spc="-5" dirty="0">
                <a:latin typeface="Arial"/>
                <a:cs typeface="Arial"/>
              </a:rPr>
              <a:t>from </a:t>
            </a:r>
            <a:r>
              <a:rPr lang="en-US" sz="2000" spc="-40" dirty="0">
                <a:latin typeface="Arial"/>
                <a:cs typeface="Arial"/>
              </a:rPr>
              <a:t>among potential</a:t>
            </a:r>
            <a:r>
              <a:rPr lang="en-US" sz="2000" spc="220" dirty="0">
                <a:latin typeface="Arial"/>
                <a:cs typeface="Arial"/>
              </a:rPr>
              <a:t> </a:t>
            </a:r>
            <a:r>
              <a:rPr lang="en-US" sz="2000" spc="-25" dirty="0">
                <a:latin typeface="Arial"/>
                <a:cs typeface="Arial"/>
              </a:rPr>
              <a:t>sellers.</a:t>
            </a:r>
            <a:endParaRPr lang="en-US" sz="2000" dirty="0">
              <a:latin typeface="Arial"/>
              <a:cs typeface="Arial"/>
            </a:endParaRPr>
          </a:p>
          <a:p>
            <a:pPr marL="643255" marR="462280" lvl="1" indent="-224154">
              <a:lnSpc>
                <a:spcPct val="79100"/>
              </a:lnSpc>
              <a:spcBef>
                <a:spcPts val="660"/>
              </a:spcBef>
              <a:buFont typeface="Arial"/>
              <a:buChar char="–"/>
              <a:tabLst>
                <a:tab pos="734695" algn="l"/>
              </a:tabLst>
            </a:pPr>
            <a:r>
              <a:rPr lang="en-US" sz="2400" dirty="0"/>
              <a:t>	</a:t>
            </a:r>
            <a:r>
              <a:rPr lang="en-US" sz="2000" b="1" spc="10" dirty="0">
                <a:latin typeface="Arial"/>
                <a:cs typeface="Arial"/>
              </a:rPr>
              <a:t>Contract </a:t>
            </a:r>
            <a:r>
              <a:rPr lang="en-US" sz="2000" b="1" spc="-5" dirty="0">
                <a:latin typeface="Arial"/>
                <a:cs typeface="Arial"/>
              </a:rPr>
              <a:t>Administration </a:t>
            </a:r>
            <a:r>
              <a:rPr lang="en-US" sz="2000" b="1" spc="10" dirty="0">
                <a:latin typeface="Arial"/>
                <a:cs typeface="Arial"/>
              </a:rPr>
              <a:t>– </a:t>
            </a:r>
            <a:r>
              <a:rPr lang="en-US" sz="2000" spc="-35" dirty="0">
                <a:latin typeface="Arial"/>
                <a:cs typeface="Arial"/>
              </a:rPr>
              <a:t>managing </a:t>
            </a:r>
            <a:r>
              <a:rPr lang="en-US" sz="2000" spc="-5" dirty="0">
                <a:latin typeface="Arial"/>
                <a:cs typeface="Arial"/>
              </a:rPr>
              <a:t>the </a:t>
            </a:r>
            <a:r>
              <a:rPr lang="en-US" sz="2000" spc="-30" dirty="0">
                <a:latin typeface="Arial"/>
                <a:cs typeface="Arial"/>
              </a:rPr>
              <a:t>relationship </a:t>
            </a:r>
            <a:r>
              <a:rPr lang="en-US" sz="2000" spc="-45" dirty="0">
                <a:latin typeface="Arial"/>
                <a:cs typeface="Arial"/>
              </a:rPr>
              <a:t>with </a:t>
            </a:r>
            <a:r>
              <a:rPr lang="en-US" sz="2000" spc="-5" dirty="0">
                <a:latin typeface="Arial"/>
                <a:cs typeface="Arial"/>
              </a:rPr>
              <a:t>the  </a:t>
            </a:r>
            <a:r>
              <a:rPr lang="en-US" sz="2000" spc="-55" dirty="0">
                <a:latin typeface="Arial"/>
                <a:cs typeface="Arial"/>
              </a:rPr>
              <a:t>seller.</a:t>
            </a:r>
            <a:endParaRPr lang="en-US" sz="2000" dirty="0">
              <a:latin typeface="Arial"/>
              <a:cs typeface="Arial"/>
            </a:endParaRPr>
          </a:p>
          <a:p>
            <a:pPr marL="643255" marR="145415" lvl="1" indent="-224154">
              <a:lnSpc>
                <a:spcPts val="2650"/>
              </a:lnSpc>
              <a:spcBef>
                <a:spcPts val="545"/>
              </a:spcBef>
              <a:buFont typeface="Arial"/>
              <a:buChar char="–"/>
              <a:tabLst>
                <a:tab pos="734695" algn="l"/>
              </a:tabLst>
            </a:pPr>
            <a:r>
              <a:rPr lang="en-US" sz="2400" dirty="0"/>
              <a:t>	</a:t>
            </a:r>
            <a:r>
              <a:rPr lang="en-US" sz="2000" b="1" spc="10" dirty="0">
                <a:latin typeface="Arial"/>
                <a:cs typeface="Arial"/>
              </a:rPr>
              <a:t>Contract </a:t>
            </a:r>
            <a:r>
              <a:rPr lang="en-US" sz="2000" b="1" spc="5" dirty="0">
                <a:latin typeface="Arial"/>
                <a:cs typeface="Arial"/>
              </a:rPr>
              <a:t>Close-out </a:t>
            </a:r>
            <a:r>
              <a:rPr lang="en-US" sz="2000" b="1" spc="10" dirty="0">
                <a:latin typeface="Arial"/>
                <a:cs typeface="Arial"/>
              </a:rPr>
              <a:t>– </a:t>
            </a:r>
            <a:r>
              <a:rPr lang="en-US" sz="2000" spc="-45" dirty="0">
                <a:latin typeface="Arial"/>
                <a:cs typeface="Arial"/>
              </a:rPr>
              <a:t>completion </a:t>
            </a:r>
            <a:r>
              <a:rPr lang="en-US" sz="2000" spc="-15" dirty="0">
                <a:latin typeface="Arial"/>
                <a:cs typeface="Arial"/>
              </a:rPr>
              <a:t>and </a:t>
            </a:r>
            <a:r>
              <a:rPr lang="en-US" sz="2000" spc="-40" dirty="0">
                <a:latin typeface="Arial"/>
                <a:cs typeface="Arial"/>
              </a:rPr>
              <a:t>settlement </a:t>
            </a:r>
            <a:r>
              <a:rPr lang="en-US" sz="2000" spc="-30" dirty="0">
                <a:latin typeface="Arial"/>
                <a:cs typeface="Arial"/>
              </a:rPr>
              <a:t>of </a:t>
            </a:r>
            <a:r>
              <a:rPr lang="en-US" sz="2000" spc="-5" dirty="0">
                <a:latin typeface="Arial"/>
                <a:cs typeface="Arial"/>
              </a:rPr>
              <a:t>the </a:t>
            </a:r>
            <a:r>
              <a:rPr lang="en-US" sz="2000" spc="-20" dirty="0">
                <a:latin typeface="Arial"/>
                <a:cs typeface="Arial"/>
              </a:rPr>
              <a:t>contract,  </a:t>
            </a:r>
            <a:r>
              <a:rPr lang="en-US" sz="2000" spc="-15" dirty="0">
                <a:latin typeface="Arial"/>
                <a:cs typeface="Arial"/>
              </a:rPr>
              <a:t>including </a:t>
            </a:r>
            <a:r>
              <a:rPr lang="en-US" sz="2000" spc="-30" dirty="0">
                <a:latin typeface="Arial"/>
                <a:cs typeface="Arial"/>
              </a:rPr>
              <a:t>resolution of </a:t>
            </a:r>
            <a:r>
              <a:rPr lang="en-US" sz="2000" spc="-15" dirty="0">
                <a:latin typeface="Arial"/>
                <a:cs typeface="Arial"/>
              </a:rPr>
              <a:t>any </a:t>
            </a:r>
            <a:r>
              <a:rPr lang="en-US" sz="2000" spc="-45" dirty="0">
                <a:latin typeface="Arial"/>
                <a:cs typeface="Arial"/>
              </a:rPr>
              <a:t>open</a:t>
            </a:r>
            <a:r>
              <a:rPr lang="en-US" sz="2000" spc="530" dirty="0">
                <a:latin typeface="Arial"/>
                <a:cs typeface="Arial"/>
              </a:rPr>
              <a:t> </a:t>
            </a:r>
            <a:r>
              <a:rPr lang="en-US" sz="2000" spc="-35" dirty="0">
                <a:latin typeface="Arial"/>
                <a:cs typeface="Arial"/>
              </a:rPr>
              <a:t>items.</a:t>
            </a:r>
            <a:endParaRPr lang="en-US" sz="2000" dirty="0">
              <a:latin typeface="Arial"/>
              <a:cs typeface="Arial"/>
            </a:endParaRPr>
          </a:p>
        </p:txBody>
      </p:sp>
    </p:spTree>
    <p:extLst>
      <p:ext uri="{BB962C8B-B14F-4D97-AF65-F5344CB8AC3E}">
        <p14:creationId xmlns:p14="http://schemas.microsoft.com/office/powerpoint/2010/main" val="685127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8377" y="476672"/>
            <a:ext cx="5708119" cy="610820"/>
          </a:xfrm>
        </p:spPr>
        <p:txBody>
          <a:bodyPr>
            <a:normAutofit fontScale="90000"/>
          </a:bodyPr>
          <a:lstStyle/>
          <a:p>
            <a:pPr algn="ctr"/>
            <a:r>
              <a:rPr lang="en-US" b="1" dirty="0"/>
              <a:t>Buyer-Seller Relationship</a:t>
            </a:r>
          </a:p>
        </p:txBody>
      </p:sp>
      <p:sp>
        <p:nvSpPr>
          <p:cNvPr id="3" name="Content Placeholder 2"/>
          <p:cNvSpPr>
            <a:spLocks noGrp="1"/>
          </p:cNvSpPr>
          <p:nvPr>
            <p:ph idx="1"/>
          </p:nvPr>
        </p:nvSpPr>
        <p:spPr>
          <a:xfrm>
            <a:off x="323528" y="1443834"/>
            <a:ext cx="8640960" cy="5153517"/>
          </a:xfrm>
        </p:spPr>
        <p:txBody>
          <a:bodyPr>
            <a:normAutofit fontScale="77500" lnSpcReduction="20000"/>
          </a:bodyPr>
          <a:lstStyle/>
          <a:p>
            <a:pPr marL="236220" marR="801370" indent="-223520">
              <a:lnSpc>
                <a:spcPct val="78800"/>
              </a:lnSpc>
              <a:spcBef>
                <a:spcPts val="869"/>
              </a:spcBef>
              <a:tabLst>
                <a:tab pos="236220" algn="l"/>
              </a:tabLst>
            </a:pPr>
            <a:r>
              <a:rPr lang="en-US" spc="-15" dirty="0">
                <a:latin typeface="Arial"/>
                <a:cs typeface="Arial"/>
              </a:rPr>
              <a:t>Project </a:t>
            </a:r>
            <a:r>
              <a:rPr lang="en-US" spc="-20" dirty="0">
                <a:latin typeface="Arial"/>
                <a:cs typeface="Arial"/>
              </a:rPr>
              <a:t>Procurement </a:t>
            </a:r>
            <a:r>
              <a:rPr lang="en-US" spc="-25" dirty="0">
                <a:latin typeface="Arial"/>
                <a:cs typeface="Arial"/>
              </a:rPr>
              <a:t>Management </a:t>
            </a:r>
            <a:r>
              <a:rPr lang="en-US" spc="15" dirty="0">
                <a:latin typeface="Arial"/>
                <a:cs typeface="Arial"/>
              </a:rPr>
              <a:t>is </a:t>
            </a:r>
            <a:r>
              <a:rPr lang="en-US" spc="-15" dirty="0">
                <a:latin typeface="Arial"/>
                <a:cs typeface="Arial"/>
              </a:rPr>
              <a:t>discussed </a:t>
            </a:r>
            <a:r>
              <a:rPr lang="en-US" spc="5" dirty="0">
                <a:latin typeface="Arial"/>
                <a:cs typeface="Arial"/>
              </a:rPr>
              <a:t>from </a:t>
            </a:r>
            <a:r>
              <a:rPr lang="en-US" dirty="0">
                <a:latin typeface="Arial"/>
                <a:cs typeface="Arial"/>
              </a:rPr>
              <a:t>the  </a:t>
            </a:r>
            <a:r>
              <a:rPr lang="en-US" spc="-15" dirty="0">
                <a:latin typeface="Arial"/>
                <a:cs typeface="Arial"/>
              </a:rPr>
              <a:t>perspective</a:t>
            </a:r>
            <a:r>
              <a:rPr lang="en-US" spc="-220" dirty="0">
                <a:latin typeface="Arial"/>
                <a:cs typeface="Arial"/>
              </a:rPr>
              <a:t> </a:t>
            </a:r>
            <a:r>
              <a:rPr lang="en-US" spc="-10" dirty="0">
                <a:latin typeface="Arial"/>
                <a:cs typeface="Arial"/>
              </a:rPr>
              <a:t>of</a:t>
            </a:r>
            <a:r>
              <a:rPr lang="en-US" spc="-5" dirty="0">
                <a:latin typeface="Arial"/>
                <a:cs typeface="Arial"/>
              </a:rPr>
              <a:t> </a:t>
            </a:r>
            <a:r>
              <a:rPr lang="en-US" dirty="0">
                <a:latin typeface="Arial"/>
                <a:cs typeface="Arial"/>
              </a:rPr>
              <a:t>the</a:t>
            </a:r>
            <a:r>
              <a:rPr lang="en-US" spc="-135" dirty="0">
                <a:latin typeface="Arial"/>
                <a:cs typeface="Arial"/>
              </a:rPr>
              <a:t> </a:t>
            </a:r>
            <a:r>
              <a:rPr lang="en-US" spc="-30" dirty="0">
                <a:latin typeface="Arial"/>
                <a:cs typeface="Arial"/>
              </a:rPr>
              <a:t>buyer</a:t>
            </a:r>
            <a:r>
              <a:rPr lang="en-US" spc="-15" dirty="0">
                <a:latin typeface="Arial"/>
                <a:cs typeface="Arial"/>
              </a:rPr>
              <a:t> </a:t>
            </a:r>
            <a:r>
              <a:rPr lang="en-US" spc="15" dirty="0">
                <a:latin typeface="Arial"/>
                <a:cs typeface="Arial"/>
              </a:rPr>
              <a:t>in</a:t>
            </a:r>
            <a:r>
              <a:rPr lang="en-US" spc="-130" dirty="0">
                <a:latin typeface="Arial"/>
                <a:cs typeface="Arial"/>
              </a:rPr>
              <a:t> </a:t>
            </a:r>
            <a:r>
              <a:rPr lang="en-US" dirty="0">
                <a:latin typeface="Arial"/>
                <a:cs typeface="Arial"/>
              </a:rPr>
              <a:t>the</a:t>
            </a:r>
            <a:r>
              <a:rPr lang="en-US" spc="-165" dirty="0">
                <a:latin typeface="Arial"/>
                <a:cs typeface="Arial"/>
              </a:rPr>
              <a:t> </a:t>
            </a:r>
            <a:r>
              <a:rPr lang="en-US" b="1" spc="-10" dirty="0">
                <a:latin typeface="Arial"/>
                <a:cs typeface="Arial"/>
              </a:rPr>
              <a:t>buyer-seller</a:t>
            </a:r>
            <a:r>
              <a:rPr lang="en-US" b="1" spc="-270" dirty="0">
                <a:latin typeface="Arial"/>
                <a:cs typeface="Arial"/>
              </a:rPr>
              <a:t> </a:t>
            </a:r>
            <a:r>
              <a:rPr lang="en-US" b="1" spc="-10" dirty="0">
                <a:latin typeface="Arial"/>
                <a:cs typeface="Arial"/>
              </a:rPr>
              <a:t>relationship</a:t>
            </a:r>
            <a:r>
              <a:rPr lang="en-US" spc="-10" dirty="0">
                <a:latin typeface="Arial"/>
                <a:cs typeface="Arial"/>
              </a:rPr>
              <a:t>.</a:t>
            </a:r>
          </a:p>
          <a:p>
            <a:pPr marL="236220" marR="801370" indent="-223520">
              <a:lnSpc>
                <a:spcPct val="78800"/>
              </a:lnSpc>
              <a:spcBef>
                <a:spcPts val="869"/>
              </a:spcBef>
              <a:tabLst>
                <a:tab pos="236220" algn="l"/>
              </a:tabLst>
            </a:pPr>
            <a:endParaRPr lang="en-US" dirty="0">
              <a:latin typeface="Arial"/>
              <a:cs typeface="Arial"/>
            </a:endParaRPr>
          </a:p>
          <a:p>
            <a:pPr marL="236220" marR="1851660" indent="-223520">
              <a:lnSpc>
                <a:spcPct val="78800"/>
              </a:lnSpc>
              <a:spcBef>
                <a:spcPts val="640"/>
              </a:spcBef>
              <a:tabLst>
                <a:tab pos="236220" algn="l"/>
              </a:tabLst>
            </a:pPr>
            <a:r>
              <a:rPr lang="en-US" spc="-15" dirty="0">
                <a:latin typeface="Arial"/>
                <a:cs typeface="Arial"/>
              </a:rPr>
              <a:t>The</a:t>
            </a:r>
            <a:r>
              <a:rPr lang="en-US" spc="-65" dirty="0">
                <a:latin typeface="Arial"/>
                <a:cs typeface="Arial"/>
              </a:rPr>
              <a:t> </a:t>
            </a:r>
            <a:r>
              <a:rPr lang="en-US" b="1" spc="-35" dirty="0">
                <a:latin typeface="Arial"/>
                <a:cs typeface="Arial"/>
              </a:rPr>
              <a:t>buyer</a:t>
            </a:r>
            <a:r>
              <a:rPr lang="en-US" b="1" spc="-30" dirty="0">
                <a:latin typeface="Arial"/>
                <a:cs typeface="Arial"/>
              </a:rPr>
              <a:t> </a:t>
            </a:r>
            <a:r>
              <a:rPr lang="en-US" spc="-25" dirty="0">
                <a:latin typeface="Arial"/>
                <a:cs typeface="Arial"/>
              </a:rPr>
              <a:t>becomes</a:t>
            </a:r>
            <a:r>
              <a:rPr lang="en-US" spc="-130" dirty="0">
                <a:latin typeface="Arial"/>
                <a:cs typeface="Arial"/>
              </a:rPr>
              <a:t> </a:t>
            </a:r>
            <a:r>
              <a:rPr lang="en-US" dirty="0">
                <a:latin typeface="Arial"/>
                <a:cs typeface="Arial"/>
              </a:rPr>
              <a:t>the</a:t>
            </a:r>
            <a:r>
              <a:rPr lang="en-US" spc="-150" dirty="0">
                <a:latin typeface="Arial"/>
                <a:cs typeface="Arial"/>
              </a:rPr>
              <a:t> </a:t>
            </a:r>
            <a:r>
              <a:rPr lang="en-US" spc="-15" dirty="0">
                <a:latin typeface="Arial"/>
                <a:cs typeface="Arial"/>
              </a:rPr>
              <a:t>customer</a:t>
            </a:r>
            <a:r>
              <a:rPr lang="en-US" spc="-185" dirty="0">
                <a:latin typeface="Arial"/>
                <a:cs typeface="Arial"/>
              </a:rPr>
              <a:t> </a:t>
            </a:r>
            <a:r>
              <a:rPr lang="en-US" spc="-15" dirty="0">
                <a:latin typeface="Arial"/>
                <a:cs typeface="Arial"/>
              </a:rPr>
              <a:t>and</a:t>
            </a:r>
            <a:r>
              <a:rPr lang="en-US" spc="-150" dirty="0">
                <a:latin typeface="Arial"/>
                <a:cs typeface="Arial"/>
              </a:rPr>
              <a:t> </a:t>
            </a:r>
            <a:r>
              <a:rPr lang="en-US" spc="15" dirty="0">
                <a:latin typeface="Arial"/>
                <a:cs typeface="Arial"/>
              </a:rPr>
              <a:t>is</a:t>
            </a:r>
            <a:r>
              <a:rPr lang="en-US" spc="-50" dirty="0">
                <a:latin typeface="Arial"/>
                <a:cs typeface="Arial"/>
              </a:rPr>
              <a:t> </a:t>
            </a:r>
            <a:r>
              <a:rPr lang="en-US" spc="-5" dirty="0">
                <a:latin typeface="Arial"/>
                <a:cs typeface="Arial"/>
              </a:rPr>
              <a:t>thus</a:t>
            </a:r>
            <a:r>
              <a:rPr lang="en-US" spc="-135" dirty="0">
                <a:latin typeface="Arial"/>
                <a:cs typeface="Arial"/>
              </a:rPr>
              <a:t> </a:t>
            </a:r>
            <a:r>
              <a:rPr lang="en-US" spc="-5" dirty="0">
                <a:latin typeface="Arial"/>
                <a:cs typeface="Arial"/>
              </a:rPr>
              <a:t>a</a:t>
            </a:r>
            <a:r>
              <a:rPr lang="en-US" spc="-60" dirty="0">
                <a:latin typeface="Arial"/>
                <a:cs typeface="Arial"/>
              </a:rPr>
              <a:t> </a:t>
            </a:r>
            <a:r>
              <a:rPr lang="en-US" spc="-35" dirty="0">
                <a:latin typeface="Arial"/>
                <a:cs typeface="Arial"/>
              </a:rPr>
              <a:t>key  </a:t>
            </a:r>
            <a:r>
              <a:rPr lang="en-US" spc="-20" dirty="0">
                <a:latin typeface="Arial"/>
                <a:cs typeface="Arial"/>
              </a:rPr>
              <a:t>stakeholder </a:t>
            </a:r>
            <a:r>
              <a:rPr lang="en-US" dirty="0">
                <a:latin typeface="Arial"/>
                <a:cs typeface="Arial"/>
              </a:rPr>
              <a:t>for the</a:t>
            </a:r>
            <a:r>
              <a:rPr lang="en-US" spc="-409" dirty="0">
                <a:latin typeface="Arial"/>
                <a:cs typeface="Arial"/>
              </a:rPr>
              <a:t> </a:t>
            </a:r>
            <a:r>
              <a:rPr lang="en-US" spc="-40" dirty="0">
                <a:latin typeface="Arial"/>
                <a:cs typeface="Arial"/>
              </a:rPr>
              <a:t>seller.</a:t>
            </a:r>
            <a:endParaRPr lang="en-US" dirty="0">
              <a:latin typeface="Arial"/>
              <a:cs typeface="Arial"/>
            </a:endParaRPr>
          </a:p>
          <a:p>
            <a:pPr marL="236220" marR="663575" indent="-223520" algn="just">
              <a:lnSpc>
                <a:spcPct val="78800"/>
              </a:lnSpc>
              <a:spcBef>
                <a:spcPts val="560"/>
              </a:spcBef>
              <a:tabLst>
                <a:tab pos="236220" algn="l"/>
              </a:tabLst>
            </a:pPr>
            <a:endParaRPr lang="en-US" dirty="0"/>
          </a:p>
          <a:p>
            <a:pPr marL="236220" marR="663575" indent="-223520" algn="just">
              <a:lnSpc>
                <a:spcPct val="78800"/>
              </a:lnSpc>
              <a:spcBef>
                <a:spcPts val="560"/>
              </a:spcBef>
              <a:tabLst>
                <a:tab pos="236220" algn="l"/>
              </a:tabLst>
            </a:pPr>
            <a:r>
              <a:rPr lang="en-US" dirty="0"/>
              <a:t>The company or person who provides services and goods can be called a contractor, subcontractor, supplier, designer, or vendor. 'The PMBOK" Guide primarily uses the term "seller."</a:t>
            </a:r>
            <a:endParaRPr lang="en-US" spc="-15" dirty="0">
              <a:latin typeface="Arial"/>
              <a:cs typeface="Arial"/>
            </a:endParaRPr>
          </a:p>
          <a:p>
            <a:pPr marL="236220" marR="663575" indent="-223520" algn="just">
              <a:lnSpc>
                <a:spcPct val="78800"/>
              </a:lnSpc>
              <a:spcBef>
                <a:spcPts val="560"/>
              </a:spcBef>
              <a:tabLst>
                <a:tab pos="236220" algn="l"/>
              </a:tabLst>
            </a:pPr>
            <a:r>
              <a:rPr lang="en-US" spc="-25" dirty="0">
                <a:latin typeface="Arial"/>
                <a:cs typeface="Arial"/>
              </a:rPr>
              <a:t>.</a:t>
            </a:r>
            <a:endParaRPr lang="en-US" dirty="0">
              <a:latin typeface="Arial"/>
              <a:cs typeface="Arial"/>
            </a:endParaRPr>
          </a:p>
          <a:p>
            <a:pPr marL="236220" marR="5080" indent="-223520">
              <a:lnSpc>
                <a:spcPct val="78800"/>
              </a:lnSpc>
              <a:spcBef>
                <a:spcPts val="640"/>
              </a:spcBef>
              <a:tabLst>
                <a:tab pos="236220" algn="l"/>
              </a:tabLst>
            </a:pPr>
            <a:endParaRPr lang="en-US" spc="-15" dirty="0">
              <a:latin typeface="Arial"/>
              <a:cs typeface="Arial"/>
            </a:endParaRPr>
          </a:p>
          <a:p>
            <a:pPr marL="236220" marR="5080" indent="-223520">
              <a:lnSpc>
                <a:spcPct val="120000"/>
              </a:lnSpc>
              <a:spcBef>
                <a:spcPts val="640"/>
              </a:spcBef>
              <a:tabLst>
                <a:tab pos="236220" algn="l"/>
              </a:tabLst>
            </a:pPr>
            <a:r>
              <a:rPr lang="en-US" spc="-15" dirty="0">
                <a:latin typeface="Arial"/>
                <a:cs typeface="Arial"/>
              </a:rPr>
              <a:t>The</a:t>
            </a:r>
            <a:r>
              <a:rPr lang="en-US" spc="-60" dirty="0">
                <a:latin typeface="Arial"/>
                <a:cs typeface="Arial"/>
              </a:rPr>
              <a:t> </a:t>
            </a:r>
            <a:r>
              <a:rPr lang="en-US" b="1" spc="15" dirty="0">
                <a:latin typeface="Arial"/>
                <a:cs typeface="Arial"/>
              </a:rPr>
              <a:t>terms</a:t>
            </a:r>
            <a:r>
              <a:rPr lang="en-US" b="1" spc="-300" dirty="0">
                <a:latin typeface="Arial"/>
                <a:cs typeface="Arial"/>
              </a:rPr>
              <a:t> </a:t>
            </a:r>
            <a:r>
              <a:rPr lang="en-US" b="1" spc="-20" dirty="0">
                <a:latin typeface="Arial"/>
                <a:cs typeface="Arial"/>
              </a:rPr>
              <a:t>and</a:t>
            </a:r>
            <a:r>
              <a:rPr lang="en-US" b="1" spc="-70" dirty="0">
                <a:latin typeface="Arial"/>
                <a:cs typeface="Arial"/>
              </a:rPr>
              <a:t> </a:t>
            </a:r>
            <a:r>
              <a:rPr lang="en-US" b="1" spc="-10" dirty="0">
                <a:latin typeface="Arial"/>
                <a:cs typeface="Arial"/>
              </a:rPr>
              <a:t>conditions</a:t>
            </a:r>
            <a:r>
              <a:rPr lang="en-US" b="1" spc="-260" dirty="0">
                <a:latin typeface="Arial"/>
                <a:cs typeface="Arial"/>
              </a:rPr>
              <a:t> </a:t>
            </a:r>
            <a:r>
              <a:rPr lang="en-US" spc="-15" dirty="0">
                <a:latin typeface="Arial"/>
                <a:cs typeface="Arial"/>
              </a:rPr>
              <a:t>of</a:t>
            </a:r>
            <a:r>
              <a:rPr lang="en-US" spc="-20" dirty="0">
                <a:latin typeface="Arial"/>
                <a:cs typeface="Arial"/>
              </a:rPr>
              <a:t> </a:t>
            </a:r>
            <a:r>
              <a:rPr lang="en-US" dirty="0">
                <a:latin typeface="Arial"/>
                <a:cs typeface="Arial"/>
              </a:rPr>
              <a:t>the</a:t>
            </a:r>
            <a:r>
              <a:rPr lang="en-US" spc="-135" dirty="0">
                <a:latin typeface="Arial"/>
                <a:cs typeface="Arial"/>
              </a:rPr>
              <a:t> </a:t>
            </a:r>
            <a:r>
              <a:rPr lang="en-US" spc="-5" dirty="0">
                <a:latin typeface="Arial"/>
                <a:cs typeface="Arial"/>
              </a:rPr>
              <a:t>contract</a:t>
            </a:r>
            <a:r>
              <a:rPr lang="en-US" spc="-260" dirty="0">
                <a:latin typeface="Arial"/>
                <a:cs typeface="Arial"/>
              </a:rPr>
              <a:t> </a:t>
            </a:r>
            <a:r>
              <a:rPr lang="en-US" spc="-10" dirty="0">
                <a:latin typeface="Arial"/>
                <a:cs typeface="Arial"/>
              </a:rPr>
              <a:t>become</a:t>
            </a:r>
            <a:r>
              <a:rPr lang="en-US" spc="-220" dirty="0">
                <a:latin typeface="Arial"/>
                <a:cs typeface="Arial"/>
              </a:rPr>
              <a:t> </a:t>
            </a:r>
            <a:r>
              <a:rPr lang="en-US" spc="-5" dirty="0">
                <a:latin typeface="Arial"/>
                <a:cs typeface="Arial"/>
              </a:rPr>
              <a:t>a</a:t>
            </a:r>
            <a:r>
              <a:rPr lang="en-US" spc="15" dirty="0">
                <a:latin typeface="Arial"/>
                <a:cs typeface="Arial"/>
              </a:rPr>
              <a:t> </a:t>
            </a:r>
            <a:r>
              <a:rPr lang="en-US" spc="-40" dirty="0">
                <a:latin typeface="Arial"/>
                <a:cs typeface="Arial"/>
              </a:rPr>
              <a:t>key</a:t>
            </a:r>
            <a:r>
              <a:rPr lang="en-US" spc="-50" dirty="0">
                <a:latin typeface="Arial"/>
                <a:cs typeface="Arial"/>
              </a:rPr>
              <a:t> </a:t>
            </a:r>
            <a:r>
              <a:rPr lang="en-US" spc="-5" dirty="0">
                <a:latin typeface="Arial"/>
                <a:cs typeface="Arial"/>
              </a:rPr>
              <a:t>input  </a:t>
            </a:r>
            <a:r>
              <a:rPr lang="en-US" spc="10" dirty="0">
                <a:latin typeface="Arial"/>
                <a:cs typeface="Arial"/>
              </a:rPr>
              <a:t>to </a:t>
            </a:r>
            <a:r>
              <a:rPr lang="en-US" spc="15" dirty="0">
                <a:latin typeface="Arial"/>
                <a:cs typeface="Arial"/>
              </a:rPr>
              <a:t>many </a:t>
            </a:r>
            <a:r>
              <a:rPr lang="en-US" spc="-10" dirty="0">
                <a:latin typeface="Arial"/>
                <a:cs typeface="Arial"/>
              </a:rPr>
              <a:t>of </a:t>
            </a:r>
            <a:r>
              <a:rPr lang="en-US" dirty="0">
                <a:latin typeface="Arial"/>
                <a:cs typeface="Arial"/>
              </a:rPr>
              <a:t>the </a:t>
            </a:r>
            <a:r>
              <a:rPr lang="en-US" spc="-20" dirty="0">
                <a:latin typeface="Arial"/>
                <a:cs typeface="Arial"/>
              </a:rPr>
              <a:t>seller’s </a:t>
            </a:r>
            <a:r>
              <a:rPr lang="en-US" spc="-25" dirty="0">
                <a:latin typeface="Arial"/>
                <a:cs typeface="Arial"/>
              </a:rPr>
              <a:t>processes. </a:t>
            </a:r>
            <a:r>
              <a:rPr lang="en-US" spc="-15" dirty="0">
                <a:latin typeface="Arial"/>
                <a:cs typeface="Arial"/>
              </a:rPr>
              <a:t>The </a:t>
            </a:r>
            <a:r>
              <a:rPr lang="en-US" dirty="0">
                <a:latin typeface="Arial"/>
                <a:cs typeface="Arial"/>
              </a:rPr>
              <a:t>contract </a:t>
            </a:r>
            <a:r>
              <a:rPr lang="en-US" spc="25" dirty="0">
                <a:latin typeface="Arial"/>
                <a:cs typeface="Arial"/>
              </a:rPr>
              <a:t>may </a:t>
            </a:r>
            <a:r>
              <a:rPr lang="en-US" spc="5" dirty="0">
                <a:latin typeface="Arial"/>
                <a:cs typeface="Arial"/>
              </a:rPr>
              <a:t>actually  </a:t>
            </a:r>
            <a:r>
              <a:rPr lang="en-US" dirty="0">
                <a:latin typeface="Arial"/>
                <a:cs typeface="Arial"/>
              </a:rPr>
              <a:t>contain the </a:t>
            </a:r>
            <a:r>
              <a:rPr lang="en-US" spc="-5" dirty="0">
                <a:latin typeface="Arial"/>
                <a:cs typeface="Arial"/>
              </a:rPr>
              <a:t>input </a:t>
            </a:r>
            <a:r>
              <a:rPr lang="en-US" spc="-10" dirty="0">
                <a:latin typeface="Arial"/>
                <a:cs typeface="Arial"/>
              </a:rPr>
              <a:t>(e.g., </a:t>
            </a:r>
            <a:r>
              <a:rPr lang="en-US" dirty="0">
                <a:latin typeface="Arial"/>
                <a:cs typeface="Arial"/>
              </a:rPr>
              <a:t>major </a:t>
            </a:r>
            <a:r>
              <a:rPr lang="en-US" spc="-20" dirty="0">
                <a:latin typeface="Arial"/>
                <a:cs typeface="Arial"/>
              </a:rPr>
              <a:t>deliverables, </a:t>
            </a:r>
            <a:r>
              <a:rPr lang="en-US" spc="-35" dirty="0">
                <a:latin typeface="Arial"/>
                <a:cs typeface="Arial"/>
              </a:rPr>
              <a:t>key </a:t>
            </a:r>
            <a:r>
              <a:rPr lang="en-US" spc="-15" dirty="0">
                <a:latin typeface="Arial"/>
                <a:cs typeface="Arial"/>
              </a:rPr>
              <a:t>milestones,  </a:t>
            </a:r>
            <a:r>
              <a:rPr lang="en-US" spc="-5" dirty="0">
                <a:latin typeface="Arial"/>
                <a:cs typeface="Arial"/>
              </a:rPr>
              <a:t>cost</a:t>
            </a:r>
            <a:r>
              <a:rPr lang="en-US" spc="-100" dirty="0">
                <a:latin typeface="Arial"/>
                <a:cs typeface="Arial"/>
              </a:rPr>
              <a:t> </a:t>
            </a:r>
            <a:r>
              <a:rPr lang="en-US" spc="-15" dirty="0">
                <a:latin typeface="Arial"/>
                <a:cs typeface="Arial"/>
              </a:rPr>
              <a:t>objectives)</a:t>
            </a:r>
            <a:r>
              <a:rPr lang="en-US" spc="-175" dirty="0">
                <a:latin typeface="Arial"/>
                <a:cs typeface="Arial"/>
              </a:rPr>
              <a:t> </a:t>
            </a:r>
            <a:r>
              <a:rPr lang="en-US" spc="-10" dirty="0">
                <a:latin typeface="Arial"/>
                <a:cs typeface="Arial"/>
              </a:rPr>
              <a:t>or</a:t>
            </a:r>
            <a:r>
              <a:rPr lang="en-US" spc="-100" dirty="0">
                <a:latin typeface="Arial"/>
                <a:cs typeface="Arial"/>
              </a:rPr>
              <a:t> </a:t>
            </a:r>
            <a:r>
              <a:rPr lang="en-US" spc="15" dirty="0">
                <a:latin typeface="Arial"/>
                <a:cs typeface="Arial"/>
              </a:rPr>
              <a:t>it</a:t>
            </a:r>
            <a:r>
              <a:rPr lang="en-US" spc="-90" dirty="0">
                <a:latin typeface="Arial"/>
                <a:cs typeface="Arial"/>
              </a:rPr>
              <a:t> </a:t>
            </a:r>
            <a:r>
              <a:rPr lang="en-US" spc="25" dirty="0">
                <a:latin typeface="Arial"/>
                <a:cs typeface="Arial"/>
              </a:rPr>
              <a:t>may</a:t>
            </a:r>
            <a:r>
              <a:rPr lang="en-US" spc="-200" dirty="0">
                <a:latin typeface="Arial"/>
                <a:cs typeface="Arial"/>
              </a:rPr>
              <a:t> </a:t>
            </a:r>
            <a:r>
              <a:rPr lang="en-US" spc="25" dirty="0">
                <a:latin typeface="Arial"/>
                <a:cs typeface="Arial"/>
              </a:rPr>
              <a:t>limit</a:t>
            </a:r>
            <a:r>
              <a:rPr lang="en-US" spc="-250" dirty="0">
                <a:latin typeface="Arial"/>
                <a:cs typeface="Arial"/>
              </a:rPr>
              <a:t> </a:t>
            </a:r>
            <a:r>
              <a:rPr lang="en-US" dirty="0">
                <a:latin typeface="Arial"/>
                <a:cs typeface="Arial"/>
              </a:rPr>
              <a:t>the</a:t>
            </a:r>
            <a:r>
              <a:rPr lang="en-US" spc="-130" dirty="0">
                <a:latin typeface="Arial"/>
                <a:cs typeface="Arial"/>
              </a:rPr>
              <a:t> </a:t>
            </a:r>
            <a:r>
              <a:rPr lang="en-US" spc="-10" dirty="0">
                <a:latin typeface="Arial"/>
                <a:cs typeface="Arial"/>
              </a:rPr>
              <a:t>project</a:t>
            </a:r>
            <a:r>
              <a:rPr lang="en-US" spc="-175" dirty="0">
                <a:latin typeface="Arial"/>
                <a:cs typeface="Arial"/>
              </a:rPr>
              <a:t> </a:t>
            </a:r>
            <a:r>
              <a:rPr lang="en-US" spc="-20" dirty="0">
                <a:latin typeface="Arial"/>
                <a:cs typeface="Arial"/>
              </a:rPr>
              <a:t>team’s</a:t>
            </a:r>
            <a:r>
              <a:rPr lang="en-US" spc="-120" dirty="0">
                <a:latin typeface="Arial"/>
                <a:cs typeface="Arial"/>
              </a:rPr>
              <a:t> </a:t>
            </a:r>
            <a:r>
              <a:rPr lang="en-US" dirty="0">
                <a:latin typeface="Arial"/>
                <a:cs typeface="Arial"/>
              </a:rPr>
              <a:t>options</a:t>
            </a:r>
            <a:r>
              <a:rPr lang="en-US" spc="-200" dirty="0">
                <a:latin typeface="Arial"/>
                <a:cs typeface="Arial"/>
              </a:rPr>
              <a:t> </a:t>
            </a:r>
            <a:r>
              <a:rPr lang="en-US" spc="-10" dirty="0">
                <a:latin typeface="Arial"/>
                <a:cs typeface="Arial"/>
              </a:rPr>
              <a:t>(e.g.,  </a:t>
            </a:r>
            <a:r>
              <a:rPr lang="en-US" spc="-30" dirty="0">
                <a:latin typeface="Arial"/>
                <a:cs typeface="Arial"/>
              </a:rPr>
              <a:t>buyer</a:t>
            </a:r>
            <a:r>
              <a:rPr lang="en-US" spc="-15" dirty="0">
                <a:latin typeface="Arial"/>
                <a:cs typeface="Arial"/>
              </a:rPr>
              <a:t> </a:t>
            </a:r>
            <a:r>
              <a:rPr lang="en-US" spc="-10" dirty="0">
                <a:latin typeface="Arial"/>
                <a:cs typeface="Arial"/>
              </a:rPr>
              <a:t>approval</a:t>
            </a:r>
            <a:r>
              <a:rPr lang="en-US" spc="-240" dirty="0">
                <a:latin typeface="Arial"/>
                <a:cs typeface="Arial"/>
              </a:rPr>
              <a:t> </a:t>
            </a:r>
            <a:r>
              <a:rPr lang="en-US" spc="-10" dirty="0">
                <a:latin typeface="Arial"/>
                <a:cs typeface="Arial"/>
              </a:rPr>
              <a:t>of</a:t>
            </a:r>
            <a:r>
              <a:rPr lang="en-US" spc="-5" dirty="0">
                <a:latin typeface="Arial"/>
                <a:cs typeface="Arial"/>
              </a:rPr>
              <a:t> </a:t>
            </a:r>
            <a:r>
              <a:rPr lang="en-US" spc="-10" dirty="0">
                <a:latin typeface="Arial"/>
                <a:cs typeface="Arial"/>
              </a:rPr>
              <a:t>staffing</a:t>
            </a:r>
            <a:r>
              <a:rPr lang="en-US" spc="-210" dirty="0">
                <a:latin typeface="Arial"/>
                <a:cs typeface="Arial"/>
              </a:rPr>
              <a:t> </a:t>
            </a:r>
            <a:r>
              <a:rPr lang="en-US" spc="-10" dirty="0">
                <a:latin typeface="Arial"/>
                <a:cs typeface="Arial"/>
              </a:rPr>
              <a:t>decisions</a:t>
            </a:r>
            <a:r>
              <a:rPr lang="en-US" spc="-280" dirty="0">
                <a:latin typeface="Arial"/>
                <a:cs typeface="Arial"/>
              </a:rPr>
              <a:t> </a:t>
            </a:r>
            <a:r>
              <a:rPr lang="en-US" spc="15" dirty="0">
                <a:latin typeface="Arial"/>
                <a:cs typeface="Arial"/>
              </a:rPr>
              <a:t>is</a:t>
            </a:r>
            <a:r>
              <a:rPr lang="en-US" spc="-35" dirty="0">
                <a:latin typeface="Arial"/>
                <a:cs typeface="Arial"/>
              </a:rPr>
              <a:t> </a:t>
            </a:r>
            <a:r>
              <a:rPr lang="en-US" spc="-15" dirty="0">
                <a:latin typeface="Arial"/>
                <a:cs typeface="Arial"/>
              </a:rPr>
              <a:t>often</a:t>
            </a:r>
            <a:r>
              <a:rPr lang="en-US" spc="-130" dirty="0">
                <a:latin typeface="Arial"/>
                <a:cs typeface="Arial"/>
              </a:rPr>
              <a:t> </a:t>
            </a:r>
            <a:r>
              <a:rPr lang="en-US" spc="-20" dirty="0">
                <a:latin typeface="Arial"/>
                <a:cs typeface="Arial"/>
              </a:rPr>
              <a:t>required</a:t>
            </a:r>
            <a:r>
              <a:rPr lang="en-US" spc="-130" dirty="0">
                <a:latin typeface="Arial"/>
                <a:cs typeface="Arial"/>
              </a:rPr>
              <a:t> </a:t>
            </a:r>
            <a:r>
              <a:rPr lang="en-US" spc="-10" dirty="0">
                <a:latin typeface="Arial"/>
                <a:cs typeface="Arial"/>
              </a:rPr>
              <a:t>on</a:t>
            </a:r>
            <a:r>
              <a:rPr lang="en-US" spc="-50" dirty="0">
                <a:latin typeface="Arial"/>
                <a:cs typeface="Arial"/>
              </a:rPr>
              <a:t> </a:t>
            </a:r>
            <a:r>
              <a:rPr lang="en-US" spc="-20" dirty="0">
                <a:latin typeface="Arial"/>
                <a:cs typeface="Arial"/>
              </a:rPr>
              <a:t>design  </a:t>
            </a:r>
            <a:r>
              <a:rPr lang="en-US" spc="-5" dirty="0">
                <a:latin typeface="Arial"/>
                <a:cs typeface="Arial"/>
              </a:rPr>
              <a:t>projects).</a:t>
            </a:r>
            <a:endParaRPr lang="en-US" dirty="0">
              <a:latin typeface="Arial"/>
              <a:cs typeface="Arial"/>
            </a:endParaRPr>
          </a:p>
          <a:p>
            <a:endParaRPr lang="en-US" dirty="0"/>
          </a:p>
        </p:txBody>
      </p:sp>
    </p:spTree>
    <p:extLst>
      <p:ext uri="{BB962C8B-B14F-4D97-AF65-F5344CB8AC3E}">
        <p14:creationId xmlns:p14="http://schemas.microsoft.com/office/powerpoint/2010/main" val="3908793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2353" y="513924"/>
            <a:ext cx="5996151" cy="610820"/>
          </a:xfrm>
        </p:spPr>
        <p:txBody>
          <a:bodyPr>
            <a:normAutofit fontScale="90000"/>
          </a:bodyPr>
          <a:lstStyle/>
          <a:p>
            <a:pPr algn="ctr"/>
            <a:r>
              <a:rPr lang="en-US" b="1" spc="-30" dirty="0">
                <a:solidFill>
                  <a:srgbClr val="FFFFFF"/>
                </a:solidFill>
                <a:latin typeface="Arial"/>
                <a:cs typeface="Arial"/>
              </a:rPr>
              <a:t>Centralized </a:t>
            </a:r>
            <a:r>
              <a:rPr lang="en-US" b="1" spc="-55" dirty="0">
                <a:solidFill>
                  <a:srgbClr val="FFFFFF"/>
                </a:solidFill>
                <a:latin typeface="Arial"/>
                <a:cs typeface="Arial"/>
              </a:rPr>
              <a:t>vs. </a:t>
            </a:r>
            <a:r>
              <a:rPr lang="en-US" b="1" spc="-30" dirty="0">
                <a:solidFill>
                  <a:srgbClr val="FFFFFF"/>
                </a:solidFill>
                <a:latin typeface="Arial"/>
                <a:cs typeface="Arial"/>
              </a:rPr>
              <a:t>Decentralized</a:t>
            </a:r>
            <a:r>
              <a:rPr lang="en-US" b="1" spc="10" dirty="0">
                <a:solidFill>
                  <a:srgbClr val="FFFFFF"/>
                </a:solidFill>
                <a:latin typeface="Arial"/>
                <a:cs typeface="Arial"/>
              </a:rPr>
              <a:t> </a:t>
            </a:r>
            <a:r>
              <a:rPr lang="en-US" b="1" spc="-25" dirty="0">
                <a:solidFill>
                  <a:srgbClr val="FFFFFF"/>
                </a:solidFill>
                <a:latin typeface="Arial"/>
                <a:cs typeface="Arial"/>
              </a:rPr>
              <a:t>Procurement</a:t>
            </a:r>
            <a:br>
              <a:rPr lang="en-US" b="1" dirty="0">
                <a:latin typeface="Arial"/>
                <a:cs typeface="Arial"/>
              </a:rPr>
            </a:br>
            <a:endParaRPr lang="en-US" b="1" dirty="0"/>
          </a:p>
        </p:txBody>
      </p:sp>
      <p:sp>
        <p:nvSpPr>
          <p:cNvPr id="3" name="Content Placeholder 2"/>
          <p:cNvSpPr>
            <a:spLocks noGrp="1"/>
          </p:cNvSpPr>
          <p:nvPr>
            <p:ph idx="1"/>
          </p:nvPr>
        </p:nvSpPr>
        <p:spPr/>
        <p:txBody>
          <a:bodyPr>
            <a:normAutofit fontScale="77500" lnSpcReduction="20000"/>
          </a:bodyPr>
          <a:lstStyle/>
          <a:p>
            <a:pPr marL="358140" indent="-346075">
              <a:spcBef>
                <a:spcPts val="425"/>
              </a:spcBef>
              <a:buFont typeface="Arial"/>
              <a:buChar char="•"/>
              <a:tabLst>
                <a:tab pos="358140" algn="l"/>
                <a:tab pos="358775" algn="l"/>
              </a:tabLst>
            </a:pPr>
            <a:r>
              <a:rPr lang="en-US" sz="3200" b="1" spc="-20" dirty="0">
                <a:latin typeface="Carlito"/>
                <a:cs typeface="Carlito"/>
              </a:rPr>
              <a:t>Centralized</a:t>
            </a:r>
            <a:r>
              <a:rPr lang="en-US" sz="3200" b="1" spc="25" dirty="0">
                <a:latin typeface="Carlito"/>
                <a:cs typeface="Carlito"/>
              </a:rPr>
              <a:t> </a:t>
            </a:r>
            <a:r>
              <a:rPr lang="en-US" sz="3200" b="1" spc="-10" dirty="0">
                <a:latin typeface="Carlito"/>
                <a:cs typeface="Carlito"/>
              </a:rPr>
              <a:t>Procurement:</a:t>
            </a:r>
            <a:endParaRPr lang="en-US" sz="3200" dirty="0">
              <a:latin typeface="Carlito"/>
              <a:cs typeface="Carlito"/>
            </a:endParaRPr>
          </a:p>
          <a:p>
            <a:pPr marL="755015" marR="5080" lvl="1" indent="-285115">
              <a:lnSpc>
                <a:spcPct val="90200"/>
              </a:lnSpc>
              <a:spcBef>
                <a:spcPts val="700"/>
              </a:spcBef>
              <a:buFont typeface="Arial"/>
              <a:buChar char="–"/>
              <a:tabLst>
                <a:tab pos="755015" algn="l"/>
              </a:tabLst>
            </a:pPr>
            <a:r>
              <a:rPr lang="en-US" sz="3200" dirty="0">
                <a:latin typeface="Carlito"/>
                <a:cs typeface="Carlito"/>
              </a:rPr>
              <a:t>In </a:t>
            </a:r>
            <a:r>
              <a:rPr lang="en-US" sz="3200" spc="-20" dirty="0">
                <a:latin typeface="Carlito"/>
                <a:cs typeface="Carlito"/>
              </a:rPr>
              <a:t>centralized </a:t>
            </a:r>
            <a:r>
              <a:rPr lang="en-US" sz="3200" spc="-10" dirty="0">
                <a:latin typeface="Carlito"/>
                <a:cs typeface="Carlito"/>
              </a:rPr>
              <a:t>purchasing buying and managing process </a:t>
            </a:r>
            <a:r>
              <a:rPr lang="en-US" sz="3200" spc="-15" dirty="0">
                <a:latin typeface="Carlito"/>
                <a:cs typeface="Carlito"/>
              </a:rPr>
              <a:t>is  performed </a:t>
            </a:r>
            <a:r>
              <a:rPr lang="en-US" sz="3200" spc="-25" dirty="0">
                <a:latin typeface="Carlito"/>
                <a:cs typeface="Carlito"/>
              </a:rPr>
              <a:t>from </a:t>
            </a:r>
            <a:r>
              <a:rPr lang="en-US" sz="3200" spc="-5" dirty="0">
                <a:latin typeface="Carlito"/>
                <a:cs typeface="Carlito"/>
              </a:rPr>
              <a:t>one </a:t>
            </a:r>
            <a:r>
              <a:rPr lang="en-US" sz="3200" spc="-15" dirty="0">
                <a:latin typeface="Carlito"/>
                <a:cs typeface="Carlito"/>
              </a:rPr>
              <a:t>location </a:t>
            </a:r>
            <a:r>
              <a:rPr lang="en-US" sz="3200" spc="-20" dirty="0">
                <a:latin typeface="Carlito"/>
                <a:cs typeface="Carlito"/>
              </a:rPr>
              <a:t>to </a:t>
            </a:r>
            <a:r>
              <a:rPr lang="en-US" sz="3200" spc="-10" dirty="0">
                <a:latin typeface="Carlito"/>
                <a:cs typeface="Carlito"/>
              </a:rPr>
              <a:t>all </a:t>
            </a:r>
            <a:r>
              <a:rPr lang="en-US" sz="3200" spc="-15" dirty="0">
                <a:latin typeface="Carlito"/>
                <a:cs typeface="Carlito"/>
              </a:rPr>
              <a:t>locations </a:t>
            </a:r>
            <a:r>
              <a:rPr lang="en-US" sz="3200" spc="-10" dirty="0">
                <a:latin typeface="Carlito"/>
                <a:cs typeface="Carlito"/>
              </a:rPr>
              <a:t>within an  </a:t>
            </a:r>
            <a:r>
              <a:rPr lang="en-US" sz="3200" spc="-30" dirty="0">
                <a:latin typeface="Carlito"/>
                <a:cs typeface="Carlito"/>
              </a:rPr>
              <a:t>organization. </a:t>
            </a:r>
            <a:r>
              <a:rPr lang="en-US" sz="3200" dirty="0">
                <a:latin typeface="Carlito"/>
                <a:cs typeface="Carlito"/>
              </a:rPr>
              <a:t>This </a:t>
            </a:r>
            <a:r>
              <a:rPr lang="en-US" sz="3200" spc="-5" dirty="0">
                <a:latin typeface="Carlito"/>
                <a:cs typeface="Carlito"/>
              </a:rPr>
              <a:t>can also be </a:t>
            </a:r>
            <a:r>
              <a:rPr lang="en-US" sz="3200" dirty="0">
                <a:latin typeface="Carlito"/>
                <a:cs typeface="Carlito"/>
              </a:rPr>
              <a:t>run </a:t>
            </a:r>
            <a:r>
              <a:rPr lang="en-US" sz="3200" spc="-5" dirty="0">
                <a:latin typeface="Carlito"/>
                <a:cs typeface="Carlito"/>
              </a:rPr>
              <a:t>by </a:t>
            </a:r>
            <a:r>
              <a:rPr lang="en-US" sz="3200" dirty="0">
                <a:latin typeface="Carlito"/>
                <a:cs typeface="Carlito"/>
              </a:rPr>
              <a:t>a </a:t>
            </a:r>
            <a:r>
              <a:rPr lang="en-US" sz="3200" spc="-20" dirty="0">
                <a:latin typeface="Carlito"/>
                <a:cs typeface="Carlito"/>
              </a:rPr>
              <a:t>central </a:t>
            </a:r>
            <a:r>
              <a:rPr lang="en-US" sz="3200" spc="-15" dirty="0">
                <a:latin typeface="Carlito"/>
                <a:cs typeface="Carlito"/>
              </a:rPr>
              <a:t>location  </a:t>
            </a:r>
            <a:r>
              <a:rPr lang="en-US" sz="3200" spc="-10" dirty="0">
                <a:latin typeface="Carlito"/>
                <a:cs typeface="Carlito"/>
              </a:rPr>
              <a:t>buying </a:t>
            </a:r>
            <a:r>
              <a:rPr lang="en-US" sz="3200" spc="-15" dirty="0">
                <a:latin typeface="Carlito"/>
                <a:cs typeface="Carlito"/>
              </a:rPr>
              <a:t>into </a:t>
            </a:r>
            <a:r>
              <a:rPr lang="en-US" sz="3200" dirty="0">
                <a:latin typeface="Carlito"/>
                <a:cs typeface="Carlito"/>
              </a:rPr>
              <a:t>a </a:t>
            </a:r>
            <a:r>
              <a:rPr lang="en-US" sz="3200" spc="-10" dirty="0">
                <a:latin typeface="Carlito"/>
                <a:cs typeface="Carlito"/>
              </a:rPr>
              <a:t>distribution </a:t>
            </a:r>
            <a:r>
              <a:rPr lang="en-US" sz="3200" spc="-5" dirty="0">
                <a:latin typeface="Carlito"/>
                <a:cs typeface="Carlito"/>
              </a:rPr>
              <a:t>warehouse </a:t>
            </a:r>
            <a:r>
              <a:rPr lang="en-US" sz="3200" spc="-15" dirty="0">
                <a:latin typeface="Carlito"/>
                <a:cs typeface="Carlito"/>
              </a:rPr>
              <a:t>that </a:t>
            </a:r>
            <a:r>
              <a:rPr lang="en-US" sz="3200" spc="-20" dirty="0">
                <a:latin typeface="Carlito"/>
                <a:cs typeface="Carlito"/>
              </a:rPr>
              <a:t>feeds </a:t>
            </a:r>
            <a:r>
              <a:rPr lang="en-US" sz="3200" spc="-5" dirty="0">
                <a:latin typeface="Carlito"/>
                <a:cs typeface="Carlito"/>
              </a:rPr>
              <a:t>smaller  warehouses. </a:t>
            </a:r>
            <a:r>
              <a:rPr lang="en-US" sz="3200" dirty="0">
                <a:latin typeface="Carlito"/>
                <a:cs typeface="Carlito"/>
              </a:rPr>
              <a:t>This </a:t>
            </a:r>
            <a:r>
              <a:rPr lang="en-US" sz="3200" spc="-10" dirty="0">
                <a:latin typeface="Carlito"/>
                <a:cs typeface="Carlito"/>
              </a:rPr>
              <a:t>is called </a:t>
            </a:r>
            <a:r>
              <a:rPr lang="en-US" sz="3200" dirty="0">
                <a:latin typeface="Carlito"/>
                <a:cs typeface="Carlito"/>
              </a:rPr>
              <a:t>a </a:t>
            </a:r>
            <a:r>
              <a:rPr lang="en-US" sz="3200" spc="-15" dirty="0">
                <a:latin typeface="Carlito"/>
                <a:cs typeface="Carlito"/>
              </a:rPr>
              <a:t>hub-and-spoke</a:t>
            </a:r>
            <a:r>
              <a:rPr lang="en-US" sz="3200" spc="55" dirty="0">
                <a:latin typeface="Carlito"/>
                <a:cs typeface="Carlito"/>
              </a:rPr>
              <a:t> </a:t>
            </a:r>
            <a:r>
              <a:rPr lang="en-US" sz="3200" spc="-10" dirty="0">
                <a:latin typeface="Carlito"/>
                <a:cs typeface="Carlito"/>
              </a:rPr>
              <a:t>system.</a:t>
            </a:r>
          </a:p>
          <a:p>
            <a:pPr marL="755015" marR="5080" lvl="1" indent="-285115">
              <a:lnSpc>
                <a:spcPct val="90200"/>
              </a:lnSpc>
              <a:spcBef>
                <a:spcPts val="700"/>
              </a:spcBef>
              <a:buFont typeface="Arial"/>
              <a:buChar char="–"/>
              <a:tabLst>
                <a:tab pos="755015" algn="l"/>
              </a:tabLst>
            </a:pPr>
            <a:endParaRPr lang="en-US" sz="3200" dirty="0">
              <a:latin typeface="Carlito"/>
              <a:cs typeface="Carlito"/>
            </a:endParaRPr>
          </a:p>
          <a:p>
            <a:pPr marL="358140" indent="-346075">
              <a:spcBef>
                <a:spcPts val="405"/>
              </a:spcBef>
              <a:buFont typeface="Arial"/>
              <a:buChar char="•"/>
              <a:tabLst>
                <a:tab pos="358140" algn="l"/>
                <a:tab pos="358775" algn="l"/>
              </a:tabLst>
            </a:pPr>
            <a:r>
              <a:rPr lang="en-US" sz="3200" b="1" spc="-20" dirty="0">
                <a:latin typeface="Carlito"/>
                <a:cs typeface="Carlito"/>
              </a:rPr>
              <a:t>Decentralized</a:t>
            </a:r>
            <a:r>
              <a:rPr lang="en-US" sz="3200" b="1" spc="25" dirty="0">
                <a:latin typeface="Carlito"/>
                <a:cs typeface="Carlito"/>
              </a:rPr>
              <a:t> </a:t>
            </a:r>
            <a:r>
              <a:rPr lang="en-US" sz="3200" b="1" spc="-10" dirty="0">
                <a:latin typeface="Carlito"/>
                <a:cs typeface="Carlito"/>
              </a:rPr>
              <a:t>Procurement:</a:t>
            </a:r>
            <a:endParaRPr lang="en-US" sz="3200" dirty="0">
              <a:latin typeface="Carlito"/>
              <a:cs typeface="Carlito"/>
            </a:endParaRPr>
          </a:p>
          <a:p>
            <a:pPr marL="755015" marR="95250" lvl="1" indent="-285115">
              <a:lnSpc>
                <a:spcPct val="90400"/>
              </a:lnSpc>
              <a:spcBef>
                <a:spcPts val="775"/>
              </a:spcBef>
              <a:buFont typeface="Arial"/>
              <a:buChar char="–"/>
              <a:tabLst>
                <a:tab pos="755015" algn="l"/>
              </a:tabLst>
            </a:pPr>
            <a:r>
              <a:rPr lang="en-US" sz="3200" dirty="0">
                <a:latin typeface="Carlito"/>
                <a:cs typeface="Carlito"/>
              </a:rPr>
              <a:t>In </a:t>
            </a:r>
            <a:r>
              <a:rPr lang="en-US" sz="3200" spc="-25" dirty="0">
                <a:latin typeface="Carlito"/>
                <a:cs typeface="Carlito"/>
              </a:rPr>
              <a:t>large </a:t>
            </a:r>
            <a:r>
              <a:rPr lang="en-US" sz="3200" spc="-5" dirty="0">
                <a:latin typeface="Carlito"/>
                <a:cs typeface="Carlito"/>
              </a:rPr>
              <a:t>firms </a:t>
            </a:r>
            <a:r>
              <a:rPr lang="en-US" sz="3200" spc="-25" dirty="0">
                <a:latin typeface="Carlito"/>
                <a:cs typeface="Carlito"/>
              </a:rPr>
              <a:t>there </a:t>
            </a:r>
            <a:r>
              <a:rPr lang="en-US" sz="3200" spc="-35" dirty="0">
                <a:latin typeface="Carlito"/>
                <a:cs typeface="Carlito"/>
              </a:rPr>
              <a:t>are </a:t>
            </a:r>
            <a:r>
              <a:rPr lang="en-US" sz="3200" spc="-25" dirty="0">
                <a:latin typeface="Carlito"/>
                <a:cs typeface="Carlito"/>
              </a:rPr>
              <a:t>many </a:t>
            </a:r>
            <a:r>
              <a:rPr lang="en-US" sz="3200" spc="-10" dirty="0">
                <a:latin typeface="Carlito"/>
                <a:cs typeface="Carlito"/>
              </a:rPr>
              <a:t>branches, </a:t>
            </a:r>
            <a:r>
              <a:rPr lang="en-US" sz="3200" spc="-5" dirty="0">
                <a:latin typeface="Carlito"/>
                <a:cs typeface="Carlito"/>
              </a:rPr>
              <a:t>sections or  departments. </a:t>
            </a:r>
            <a:r>
              <a:rPr lang="en-US" sz="3200" dirty="0">
                <a:latin typeface="Carlito"/>
                <a:cs typeface="Carlito"/>
              </a:rPr>
              <a:t>If each </a:t>
            </a:r>
            <a:r>
              <a:rPr lang="en-US" sz="3200" spc="-20" dirty="0">
                <a:latin typeface="Carlito"/>
                <a:cs typeface="Carlito"/>
              </a:rPr>
              <a:t>branch </a:t>
            </a:r>
            <a:r>
              <a:rPr lang="en-US" sz="3200" spc="-5" dirty="0">
                <a:latin typeface="Carlito"/>
                <a:cs typeface="Carlito"/>
              </a:rPr>
              <a:t>or </a:t>
            </a:r>
            <a:r>
              <a:rPr lang="en-US" sz="3200" spc="-10" dirty="0">
                <a:latin typeface="Carlito"/>
                <a:cs typeface="Carlito"/>
              </a:rPr>
              <a:t>department buys </a:t>
            </a:r>
            <a:r>
              <a:rPr lang="en-US" sz="3200" spc="-20" dirty="0">
                <a:latin typeface="Carlito"/>
                <a:cs typeface="Carlito"/>
              </a:rPr>
              <a:t>its </a:t>
            </a:r>
            <a:r>
              <a:rPr lang="en-US" sz="3200" dirty="0">
                <a:latin typeface="Carlito"/>
                <a:cs typeface="Carlito"/>
              </a:rPr>
              <a:t>own  </a:t>
            </a:r>
            <a:r>
              <a:rPr lang="en-US" sz="3200" spc="-10" dirty="0">
                <a:latin typeface="Carlito"/>
                <a:cs typeface="Carlito"/>
              </a:rPr>
              <a:t>materials and equipment, it is </a:t>
            </a:r>
            <a:r>
              <a:rPr lang="en-US" sz="3200" dirty="0">
                <a:latin typeface="Carlito"/>
                <a:cs typeface="Carlito"/>
              </a:rPr>
              <a:t>known </a:t>
            </a:r>
            <a:r>
              <a:rPr lang="en-US" sz="3200" spc="-10" dirty="0">
                <a:latin typeface="Carlito"/>
                <a:cs typeface="Carlito"/>
              </a:rPr>
              <a:t>as </a:t>
            </a:r>
            <a:r>
              <a:rPr lang="en-US" sz="3200" spc="-20" dirty="0">
                <a:latin typeface="Carlito"/>
                <a:cs typeface="Carlito"/>
              </a:rPr>
              <a:t>decentralized  purchasi</a:t>
            </a:r>
            <a:r>
              <a:rPr lang="en-US" sz="3200" spc="-20" dirty="0">
                <a:latin typeface="Arial"/>
                <a:cs typeface="Arial"/>
              </a:rPr>
              <a:t>ng.</a:t>
            </a:r>
            <a:endParaRPr lang="en-US" sz="3200" dirty="0">
              <a:latin typeface="Arial"/>
              <a:cs typeface="Arial"/>
            </a:endParaRPr>
          </a:p>
        </p:txBody>
      </p:sp>
    </p:spTree>
    <p:extLst>
      <p:ext uri="{BB962C8B-B14F-4D97-AF65-F5344CB8AC3E}">
        <p14:creationId xmlns:p14="http://schemas.microsoft.com/office/powerpoint/2010/main" val="128104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Processes - Project Procurement Management - Edur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48" y="2420888"/>
            <a:ext cx="8689448" cy="252028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3131839" y="297900"/>
            <a:ext cx="5852135" cy="610820"/>
          </a:xfrm>
        </p:spPr>
        <p:txBody>
          <a:bodyPr>
            <a:normAutofit fontScale="90000"/>
          </a:bodyPr>
          <a:lstStyle/>
          <a:p>
            <a:pPr algn="ctr"/>
            <a:r>
              <a:rPr lang="en-US" b="1" dirty="0"/>
              <a:t>PROCUREMENT MANAGEMENT PROCESS</a:t>
            </a:r>
          </a:p>
        </p:txBody>
      </p:sp>
    </p:spTree>
    <p:extLst>
      <p:ext uri="{BB962C8B-B14F-4D97-AF65-F5344CB8AC3E}">
        <p14:creationId xmlns:p14="http://schemas.microsoft.com/office/powerpoint/2010/main" val="180441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8377" y="260648"/>
            <a:ext cx="5708119" cy="610820"/>
          </a:xfrm>
        </p:spPr>
        <p:txBody>
          <a:bodyPr>
            <a:normAutofit fontScale="90000"/>
          </a:bodyPr>
          <a:lstStyle/>
          <a:p>
            <a:pPr algn="ctr"/>
            <a:r>
              <a:rPr lang="en-US" b="1" dirty="0"/>
              <a:t>PROCUREMENT MANAGEMENT PROCESS</a:t>
            </a:r>
          </a:p>
        </p:txBody>
      </p:sp>
      <p:pic>
        <p:nvPicPr>
          <p:cNvPr id="3074" name="Picture 2" descr="D:\bahria 2019\FOPM\Sumaiya\Lecture 14\Final 1\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087" y="1196752"/>
            <a:ext cx="9106913" cy="5661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144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Plan Procurement Management</a:t>
            </a:r>
          </a:p>
        </p:txBody>
      </p:sp>
      <p:sp>
        <p:nvSpPr>
          <p:cNvPr id="3" name="Content Placeholder 2"/>
          <p:cNvSpPr>
            <a:spLocks noGrp="1"/>
          </p:cNvSpPr>
          <p:nvPr>
            <p:ph idx="1"/>
          </p:nvPr>
        </p:nvSpPr>
        <p:spPr>
          <a:xfrm>
            <a:off x="107504" y="1196752"/>
            <a:ext cx="8784976" cy="4793477"/>
          </a:xfrm>
        </p:spPr>
        <p:txBody>
          <a:bodyPr>
            <a:noAutofit/>
          </a:bodyPr>
          <a:lstStyle/>
          <a:p>
            <a:r>
              <a:rPr lang="en-US" sz="2400" dirty="0"/>
              <a:t>Plan procurement management is the initial process of project procurement management knowledge area.</a:t>
            </a:r>
          </a:p>
          <a:p>
            <a:r>
              <a:rPr lang="en-US" sz="2400" dirty="0"/>
              <a:t>It helps in identifying which resources are to be acquired and when. </a:t>
            </a:r>
          </a:p>
          <a:p>
            <a:r>
              <a:rPr lang="en-US" sz="2400" dirty="0"/>
              <a:t> In this process, you need to document various procurement decisions, specify the procurement approach and identify the potential and quality sellers.</a:t>
            </a:r>
          </a:p>
          <a:p>
            <a:r>
              <a:rPr lang="en-US" sz="2400" dirty="0"/>
              <a:t>It also helps in identifying potential suppliers.</a:t>
            </a:r>
          </a:p>
          <a:p>
            <a:r>
              <a:rPr lang="en-US" sz="2400" dirty="0"/>
              <a:t>Basic Questions: "How will make-or-buy analysis be performed ?" "What goods or services do we need to buy for this project? "How will we purchase them? "Who are potential sellers? “</a:t>
            </a:r>
          </a:p>
          <a:p>
            <a:r>
              <a:rPr lang="en-US" sz="2400" dirty="0"/>
              <a:t>This process involves putting together the bid documents that will be sent to prospective sellers describing the buyer's need, how to respond, and the criteria the buyer will use to select a seller.</a:t>
            </a:r>
          </a:p>
        </p:txBody>
      </p:sp>
    </p:spTree>
    <p:extLst>
      <p:ext uri="{BB962C8B-B14F-4D97-AF65-F5344CB8AC3E}">
        <p14:creationId xmlns:p14="http://schemas.microsoft.com/office/powerpoint/2010/main" val="1842489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6369" y="476672"/>
            <a:ext cx="5852135" cy="610820"/>
          </a:xfrm>
        </p:spPr>
        <p:txBody>
          <a:bodyPr>
            <a:normAutofit fontScale="90000"/>
          </a:bodyPr>
          <a:lstStyle/>
          <a:p>
            <a:pPr algn="ctr"/>
            <a:r>
              <a:rPr lang="en-US" b="1" dirty="0"/>
              <a:t>Activities in Plan Procurement Management</a:t>
            </a:r>
          </a:p>
        </p:txBody>
      </p:sp>
      <p:sp>
        <p:nvSpPr>
          <p:cNvPr id="3" name="Content Placeholder 2"/>
          <p:cNvSpPr>
            <a:spLocks noGrp="1"/>
          </p:cNvSpPr>
          <p:nvPr>
            <p:ph idx="1"/>
          </p:nvPr>
        </p:nvSpPr>
        <p:spPr>
          <a:xfrm>
            <a:off x="107504" y="1227811"/>
            <a:ext cx="9036496" cy="5081509"/>
          </a:xfrm>
        </p:spPr>
        <p:txBody>
          <a:bodyPr>
            <a:noAutofit/>
          </a:bodyPr>
          <a:lstStyle/>
          <a:p>
            <a:r>
              <a:rPr lang="en-US" sz="2400" dirty="0"/>
              <a:t>Performing make-or-buy analysis- Time; cost; Expertise; resources</a:t>
            </a:r>
          </a:p>
          <a:p>
            <a:r>
              <a:rPr lang="en-US" sz="2400" dirty="0"/>
              <a:t>Creating a procurement management plan –Approach that will be used; policies and procedures; outlines the roles and responsibilities of team members; Templates; how to conduct M&amp;C?</a:t>
            </a:r>
          </a:p>
          <a:p>
            <a:r>
              <a:rPr lang="en-US" sz="2400" dirty="0"/>
              <a:t>Creating a procurement strategy for each procurement –Three basic elements: how goods or services will be delivered to the buyer, what type of contract will be used &amp; how the procurement will be carried out throughout each phase.</a:t>
            </a:r>
          </a:p>
          <a:p>
            <a:r>
              <a:rPr lang="en-US" sz="2400" dirty="0"/>
              <a:t>Creating a procurement statement of work for each procurement- What work is required must be defined clearly.</a:t>
            </a:r>
          </a:p>
          <a:p>
            <a:r>
              <a:rPr lang="en-US" sz="2400" dirty="0"/>
              <a:t>Creating the appropriate contract type for each procurement </a:t>
            </a:r>
          </a:p>
          <a:p>
            <a:r>
              <a:rPr lang="en-US" sz="2400" dirty="0"/>
              <a:t>Creating the bid documents </a:t>
            </a:r>
          </a:p>
          <a:p>
            <a:r>
              <a:rPr lang="en-US" sz="2400" dirty="0"/>
              <a:t>Determining the source selection criteria –Technical Requirements, Quality; Price; Reputation etc.</a:t>
            </a:r>
          </a:p>
        </p:txBody>
      </p:sp>
    </p:spTree>
    <p:extLst>
      <p:ext uri="{BB962C8B-B14F-4D97-AF65-F5344CB8AC3E}">
        <p14:creationId xmlns:p14="http://schemas.microsoft.com/office/powerpoint/2010/main" val="191326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800" y="476672"/>
            <a:ext cx="5780127" cy="610820"/>
          </a:xfrm>
        </p:spPr>
        <p:txBody>
          <a:bodyPr>
            <a:normAutofit fontScale="90000"/>
          </a:bodyPr>
          <a:lstStyle/>
          <a:p>
            <a:r>
              <a:rPr lang="en-US" b="1" dirty="0"/>
              <a:t>CONDUCT PROCUREMENT</a:t>
            </a:r>
          </a:p>
        </p:txBody>
      </p:sp>
      <p:sp>
        <p:nvSpPr>
          <p:cNvPr id="3" name="Content Placeholder 2"/>
          <p:cNvSpPr>
            <a:spLocks noGrp="1"/>
          </p:cNvSpPr>
          <p:nvPr>
            <p:ph idx="1"/>
          </p:nvPr>
        </p:nvSpPr>
        <p:spPr>
          <a:xfrm>
            <a:off x="395536" y="1443834"/>
            <a:ext cx="8424936" cy="4937493"/>
          </a:xfrm>
        </p:spPr>
        <p:txBody>
          <a:bodyPr>
            <a:normAutofit/>
          </a:bodyPr>
          <a:lstStyle/>
          <a:p>
            <a:r>
              <a:rPr lang="en-US" dirty="0"/>
              <a:t> In this process responses from various sellers are collected, an efficient seller is selected among them and finally, a contract is curated. </a:t>
            </a:r>
          </a:p>
          <a:p>
            <a:r>
              <a:rPr lang="en-US" dirty="0"/>
              <a:t>This process involves bid documents including procurement statement of work and other documents to prospective sellers, answering the sellers' questions, and receiving and evaluating sellers' responses. You will select a seller using the source selection criteria specified in the procurement management and then negotiate a contract.</a:t>
            </a:r>
          </a:p>
        </p:txBody>
      </p:sp>
    </p:spTree>
    <p:extLst>
      <p:ext uri="{BB962C8B-B14F-4D97-AF65-F5344CB8AC3E}">
        <p14:creationId xmlns:p14="http://schemas.microsoft.com/office/powerpoint/2010/main" val="101930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912" y="527605"/>
            <a:ext cx="8229600" cy="610820"/>
          </a:xfrm>
        </p:spPr>
        <p:txBody>
          <a:bodyPr>
            <a:normAutofit fontScale="90000"/>
          </a:bodyPr>
          <a:lstStyle/>
          <a:p>
            <a:r>
              <a:rPr lang="en-US" dirty="0"/>
              <a:t>Activities in Conduct Procurement</a:t>
            </a:r>
          </a:p>
        </p:txBody>
      </p:sp>
      <p:sp>
        <p:nvSpPr>
          <p:cNvPr id="3" name="Content Placeholder 2"/>
          <p:cNvSpPr>
            <a:spLocks noGrp="1"/>
          </p:cNvSpPr>
          <p:nvPr>
            <p:ph idx="1"/>
          </p:nvPr>
        </p:nvSpPr>
        <p:spPr>
          <a:xfrm>
            <a:off x="179512" y="1268760"/>
            <a:ext cx="8642162" cy="5153517"/>
          </a:xfrm>
        </p:spPr>
        <p:txBody>
          <a:bodyPr>
            <a:normAutofit/>
          </a:bodyPr>
          <a:lstStyle/>
          <a:p>
            <a:r>
              <a:rPr lang="en-US" dirty="0"/>
              <a:t>A buyer may use techniques such as </a:t>
            </a:r>
            <a:r>
              <a:rPr lang="en-US" b="1" dirty="0"/>
              <a:t>advertising</a:t>
            </a:r>
            <a:r>
              <a:rPr lang="en-US" dirty="0"/>
              <a:t> to find possible sellers or may send the bid document to a select list of sellers pre-approved by the organization.</a:t>
            </a:r>
          </a:p>
          <a:p>
            <a:r>
              <a:rPr lang="en-US" dirty="0"/>
              <a:t>The buyer may invite the sellers to attend a meeting -called a </a:t>
            </a:r>
            <a:r>
              <a:rPr lang="en-US" b="1" dirty="0"/>
              <a:t>bidder conference</a:t>
            </a:r>
            <a:r>
              <a:rPr lang="en-US" dirty="0"/>
              <a:t>, contractor conference, vendor conference or pre-bid conference -in which they can tour the buyer's facilities or attend an online forum and ask questions about the procurement</a:t>
            </a:r>
          </a:p>
          <a:p>
            <a:r>
              <a:rPr lang="en-US" b="1" dirty="0"/>
              <a:t>A seller’s proposal </a:t>
            </a:r>
            <a:r>
              <a:rPr lang="en-US" dirty="0"/>
              <a:t>is usually the response to bid documents. The seller’s proposal (or price quote or bid) represents an official offer from the seller</a:t>
            </a:r>
          </a:p>
        </p:txBody>
      </p:sp>
    </p:spTree>
    <p:extLst>
      <p:ext uri="{BB962C8B-B14F-4D97-AF65-F5344CB8AC3E}">
        <p14:creationId xmlns:p14="http://schemas.microsoft.com/office/powerpoint/2010/main" val="2873716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1443834"/>
            <a:ext cx="7848872" cy="4865485"/>
          </a:xfrm>
        </p:spPr>
        <p:txBody>
          <a:bodyPr>
            <a:normAutofit fontScale="92500" lnSpcReduction="20000"/>
          </a:bodyPr>
          <a:lstStyle/>
          <a:p>
            <a:r>
              <a:rPr lang="en-US" b="1" dirty="0"/>
              <a:t>Proposal Evaluation:</a:t>
            </a:r>
            <a:r>
              <a:rPr lang="en-US" dirty="0"/>
              <a:t> </a:t>
            </a:r>
          </a:p>
          <a:p>
            <a:pPr>
              <a:buSzPct val="50000"/>
            </a:pPr>
            <a:r>
              <a:rPr lang="en-US" dirty="0"/>
              <a:t>Buyer may simply select a seller and ask them to sign a standard contract. </a:t>
            </a:r>
          </a:p>
          <a:p>
            <a:pPr>
              <a:buSzPct val="50000"/>
            </a:pPr>
            <a:r>
              <a:rPr lang="en-US" dirty="0"/>
              <a:t>Buyer may ask a seller to make a presentation, and then, if all goes well, move on to negotiations. </a:t>
            </a:r>
          </a:p>
          <a:p>
            <a:pPr>
              <a:buSzPct val="50000"/>
            </a:pPr>
            <a:r>
              <a:rPr lang="en-US" dirty="0"/>
              <a:t>The buyer may narrow down (''short-list”) the list of sellers to a few. </a:t>
            </a:r>
          </a:p>
          <a:p>
            <a:pPr>
              <a:buSzPct val="50000"/>
            </a:pPr>
            <a:r>
              <a:rPr lang="en-US" dirty="0"/>
              <a:t> The buyer may ask the short-listed sellers to make presentations, and then ask the selected ones to go on to negotiations. </a:t>
            </a:r>
          </a:p>
          <a:p>
            <a:pPr>
              <a:buSzPct val="50000"/>
            </a:pPr>
            <a:r>
              <a:rPr lang="en-US" dirty="0"/>
              <a:t>The buyer may negotiate with more then one seller. </a:t>
            </a:r>
          </a:p>
          <a:p>
            <a:pPr>
              <a:buSzPct val="50000"/>
            </a:pPr>
            <a:r>
              <a:rPr lang="en-US" dirty="0"/>
              <a:t> The buyer may use some combination of presentation and negotiations.</a:t>
            </a:r>
          </a:p>
        </p:txBody>
      </p:sp>
      <p:sp>
        <p:nvSpPr>
          <p:cNvPr id="4" name="Title 1"/>
          <p:cNvSpPr>
            <a:spLocks noGrp="1"/>
          </p:cNvSpPr>
          <p:nvPr>
            <p:ph type="title"/>
          </p:nvPr>
        </p:nvSpPr>
        <p:spPr>
          <a:xfrm>
            <a:off x="950912" y="404664"/>
            <a:ext cx="8229600" cy="610820"/>
          </a:xfrm>
        </p:spPr>
        <p:txBody>
          <a:bodyPr>
            <a:normAutofit fontScale="90000"/>
          </a:bodyPr>
          <a:lstStyle/>
          <a:p>
            <a:r>
              <a:rPr lang="en-US" dirty="0"/>
              <a:t>Activities in Conduct Procurement</a:t>
            </a:r>
          </a:p>
        </p:txBody>
      </p:sp>
    </p:spTree>
    <p:extLst>
      <p:ext uri="{BB962C8B-B14F-4D97-AF65-F5344CB8AC3E}">
        <p14:creationId xmlns:p14="http://schemas.microsoft.com/office/powerpoint/2010/main" val="380106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b="1" dirty="0"/>
              <a:t>Weightage-criteria</a:t>
            </a:r>
          </a:p>
          <a:p>
            <a:pPr>
              <a:buSzPct val="51000"/>
            </a:pPr>
            <a:r>
              <a:rPr lang="en-US" dirty="0"/>
              <a:t> Number of years in business </a:t>
            </a:r>
          </a:p>
          <a:p>
            <a:pPr>
              <a:buSzPct val="51000"/>
            </a:pPr>
            <a:r>
              <a:rPr lang="en-US" dirty="0"/>
              <a:t>Understanding of need Price or life </a:t>
            </a:r>
          </a:p>
          <a:p>
            <a:pPr>
              <a:buSzPct val="51000"/>
            </a:pPr>
            <a:r>
              <a:rPr lang="en-US" dirty="0"/>
              <a:t>Technical ability </a:t>
            </a:r>
          </a:p>
          <a:p>
            <a:pPr>
              <a:buSzPct val="51000"/>
            </a:pPr>
            <a:r>
              <a:rPr lang="en-US" dirty="0"/>
              <a:t>Ability to complete the work on time </a:t>
            </a:r>
          </a:p>
          <a:p>
            <a:pPr>
              <a:buSzPct val="51000"/>
            </a:pPr>
            <a:r>
              <a:rPr lang="en-US" dirty="0"/>
              <a:t>Project management ability </a:t>
            </a:r>
          </a:p>
          <a:p>
            <a:pPr>
              <a:buSzPct val="51000"/>
            </a:pPr>
            <a:r>
              <a:rPr lang="en-US" dirty="0"/>
              <a:t>Total score for this seller</a:t>
            </a:r>
          </a:p>
          <a:p>
            <a:r>
              <a:rPr lang="en-US" b="1" dirty="0"/>
              <a:t>Past Performance</a:t>
            </a:r>
          </a:p>
          <a:p>
            <a:r>
              <a:rPr lang="en-US" b="1" dirty="0"/>
              <a:t>Presentation</a:t>
            </a:r>
          </a:p>
          <a:p>
            <a:r>
              <a:rPr lang="en-US" b="1" dirty="0"/>
              <a:t>Negotiations</a:t>
            </a:r>
          </a:p>
        </p:txBody>
      </p:sp>
      <p:sp>
        <p:nvSpPr>
          <p:cNvPr id="4" name="Title 1"/>
          <p:cNvSpPr>
            <a:spLocks noGrp="1"/>
          </p:cNvSpPr>
          <p:nvPr>
            <p:ph type="title"/>
          </p:nvPr>
        </p:nvSpPr>
        <p:spPr>
          <a:xfrm>
            <a:off x="950912" y="476672"/>
            <a:ext cx="8229600" cy="610820"/>
          </a:xfrm>
        </p:spPr>
        <p:txBody>
          <a:bodyPr>
            <a:normAutofit fontScale="90000"/>
          </a:bodyPr>
          <a:lstStyle/>
          <a:p>
            <a:r>
              <a:rPr lang="en-US" dirty="0"/>
              <a:t>Activities in Conduct Procurement</a:t>
            </a:r>
          </a:p>
        </p:txBody>
      </p:sp>
    </p:spTree>
    <p:extLst>
      <p:ext uri="{BB962C8B-B14F-4D97-AF65-F5344CB8AC3E}">
        <p14:creationId xmlns:p14="http://schemas.microsoft.com/office/powerpoint/2010/main" val="3013466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6369" y="404664"/>
            <a:ext cx="5852135" cy="610820"/>
          </a:xfrm>
        </p:spPr>
        <p:txBody>
          <a:bodyPr>
            <a:normAutofit fontScale="90000"/>
          </a:bodyPr>
          <a:lstStyle/>
          <a:p>
            <a:pPr algn="ctr"/>
            <a:r>
              <a:rPr lang="en-US" b="1" dirty="0"/>
              <a:t>Control Procurement</a:t>
            </a:r>
          </a:p>
        </p:txBody>
      </p:sp>
      <p:sp>
        <p:nvSpPr>
          <p:cNvPr id="3" name="Content Placeholder 2"/>
          <p:cNvSpPr>
            <a:spLocks noGrp="1"/>
          </p:cNvSpPr>
          <p:nvPr>
            <p:ph idx="1"/>
          </p:nvPr>
        </p:nvSpPr>
        <p:spPr/>
        <p:txBody>
          <a:bodyPr>
            <a:normAutofit lnSpcReduction="10000"/>
          </a:bodyPr>
          <a:lstStyle/>
          <a:p>
            <a:r>
              <a:rPr lang="en-US" dirty="0"/>
              <a:t>It involves managing the relationship between the buyer and seller, and ensuring that both parties perform as required by the contract and that each contract is closed when completed or terminated. </a:t>
            </a:r>
          </a:p>
          <a:p>
            <a:r>
              <a:rPr lang="en-US" dirty="0"/>
              <a:t>Throughout this process, the seller is focused on completing the work while the buyer is focused on measuring the performance of the seller and comparing actual performance to the contract, other procurement documents and plans.</a:t>
            </a:r>
          </a:p>
        </p:txBody>
      </p:sp>
    </p:spTree>
    <p:extLst>
      <p:ext uri="{BB962C8B-B14F-4D97-AF65-F5344CB8AC3E}">
        <p14:creationId xmlns:p14="http://schemas.microsoft.com/office/powerpoint/2010/main" val="958733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69908"/>
            <a:ext cx="7868359" cy="610820"/>
          </a:xfrm>
        </p:spPr>
        <p:txBody>
          <a:bodyPr>
            <a:normAutofit fontScale="90000"/>
          </a:bodyPr>
          <a:lstStyle/>
          <a:p>
            <a:r>
              <a:rPr lang="en-US" b="1" dirty="0"/>
              <a:t>Activities in Control Procurement</a:t>
            </a:r>
          </a:p>
        </p:txBody>
      </p:sp>
      <p:sp>
        <p:nvSpPr>
          <p:cNvPr id="3" name="Content Placeholder 2"/>
          <p:cNvSpPr>
            <a:spLocks noGrp="1"/>
          </p:cNvSpPr>
          <p:nvPr>
            <p:ph idx="1"/>
          </p:nvPr>
        </p:nvSpPr>
        <p:spPr>
          <a:xfrm>
            <a:off x="107504" y="764704"/>
            <a:ext cx="8640960" cy="4900241"/>
          </a:xfrm>
        </p:spPr>
        <p:txBody>
          <a:bodyPr>
            <a:noAutofit/>
          </a:bodyPr>
          <a:lstStyle/>
          <a:p>
            <a:endParaRPr lang="en-US" sz="2000" dirty="0"/>
          </a:p>
          <a:p>
            <a:r>
              <a:rPr lang="en-US" sz="2000" dirty="0"/>
              <a:t>Authorize payments to the seller. </a:t>
            </a:r>
          </a:p>
          <a:p>
            <a:r>
              <a:rPr lang="en-US" sz="2000" dirty="0"/>
              <a:t> Interpret what is and what is not in the contract. </a:t>
            </a:r>
          </a:p>
          <a:p>
            <a:r>
              <a:rPr lang="en-US" sz="2000" dirty="0"/>
              <a:t>Resolve disputes. </a:t>
            </a:r>
          </a:p>
          <a:p>
            <a:r>
              <a:rPr lang="en-US" sz="2000" dirty="0"/>
              <a:t>Evaluate whether a change is needed and is within the approved scope of the project. </a:t>
            </a:r>
          </a:p>
          <a:p>
            <a:r>
              <a:rPr lang="en-US" sz="2000" dirty="0"/>
              <a:t>Work with the procurement manager on requested and approved changes </a:t>
            </a:r>
          </a:p>
          <a:p>
            <a:r>
              <a:rPr lang="en-US" sz="2000" dirty="0"/>
              <a:t>Send copies of changes to the appropriate parties.</a:t>
            </a:r>
          </a:p>
          <a:p>
            <a:r>
              <a:rPr lang="en-US" sz="2000" dirty="0"/>
              <a:t>Hold procurement performance review meetings with your team and the seller. </a:t>
            </a:r>
          </a:p>
          <a:p>
            <a:r>
              <a:rPr lang="en-US" sz="2000" dirty="0"/>
              <a:t>Prepare Report on performance</a:t>
            </a:r>
          </a:p>
          <a:p>
            <a:r>
              <a:rPr lang="en-US" sz="2000" dirty="0"/>
              <a:t>Monitor schedule and technical performance against the contract</a:t>
            </a:r>
          </a:p>
          <a:p>
            <a:r>
              <a:rPr lang="en-US" sz="2000" dirty="0"/>
              <a:t>Control quality according to what is required m the contract. </a:t>
            </a:r>
          </a:p>
          <a:p>
            <a:r>
              <a:rPr lang="en-US" sz="2000" dirty="0"/>
              <a:t> Review claims submitted by the seller. </a:t>
            </a:r>
          </a:p>
          <a:p>
            <a:r>
              <a:rPr lang="en-US" sz="2000" dirty="0"/>
              <a:t>Document lessons learned, and make recommendations to the organization for improvement. </a:t>
            </a:r>
          </a:p>
          <a:p>
            <a:r>
              <a:rPr lang="en-US" sz="2000" dirty="0"/>
              <a:t>Accept final deliverables from the seller, and make final payments. </a:t>
            </a:r>
          </a:p>
        </p:txBody>
      </p:sp>
    </p:spTree>
    <p:extLst>
      <p:ext uri="{BB962C8B-B14F-4D97-AF65-F5344CB8AC3E}">
        <p14:creationId xmlns:p14="http://schemas.microsoft.com/office/powerpoint/2010/main" val="4184067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7863" y="476672"/>
            <a:ext cx="5636111" cy="610820"/>
          </a:xfrm>
        </p:spPr>
        <p:txBody>
          <a:bodyPr>
            <a:normAutofit fontScale="90000"/>
          </a:bodyPr>
          <a:lstStyle/>
          <a:p>
            <a:pPr algn="ctr"/>
            <a:r>
              <a:rPr lang="en-US" b="1" dirty="0"/>
              <a:t>CONTRACT</a:t>
            </a:r>
          </a:p>
        </p:txBody>
      </p:sp>
      <p:sp>
        <p:nvSpPr>
          <p:cNvPr id="3" name="Content Placeholder 2"/>
          <p:cNvSpPr>
            <a:spLocks noGrp="1"/>
          </p:cNvSpPr>
          <p:nvPr>
            <p:ph idx="1"/>
          </p:nvPr>
        </p:nvSpPr>
        <p:spPr>
          <a:xfrm>
            <a:off x="754374" y="1443834"/>
            <a:ext cx="7850074" cy="4937493"/>
          </a:xfrm>
        </p:spPr>
        <p:txBody>
          <a:bodyPr>
            <a:normAutofit fontScale="92500" lnSpcReduction="10000"/>
          </a:bodyPr>
          <a:lstStyle/>
          <a:p>
            <a:pPr marL="358140" indent="-346075">
              <a:spcBef>
                <a:spcPts val="235"/>
              </a:spcBef>
              <a:buFont typeface="Arial"/>
              <a:buChar char="•"/>
              <a:tabLst>
                <a:tab pos="358140" algn="l"/>
                <a:tab pos="358775" algn="l"/>
                <a:tab pos="5228590" algn="l"/>
              </a:tabLst>
            </a:pPr>
            <a:r>
              <a:rPr lang="en-US" b="1" spc="10" dirty="0">
                <a:latin typeface="Carlito"/>
                <a:cs typeface="Carlito"/>
              </a:rPr>
              <a:t>CONTRACT </a:t>
            </a:r>
            <a:r>
              <a:rPr lang="en-US" spc="-30" dirty="0">
                <a:latin typeface="Carlito"/>
                <a:cs typeface="Carlito"/>
              </a:rPr>
              <a:t>may </a:t>
            </a:r>
            <a:r>
              <a:rPr lang="en-US" spc="15" dirty="0">
                <a:latin typeface="Carlito"/>
                <a:cs typeface="Carlito"/>
              </a:rPr>
              <a:t>be </a:t>
            </a:r>
            <a:r>
              <a:rPr lang="en-US" spc="10" dirty="0">
                <a:latin typeface="Carlito"/>
                <a:cs typeface="Carlito"/>
              </a:rPr>
              <a:t>defined</a:t>
            </a:r>
            <a:r>
              <a:rPr lang="en-US" spc="-165" dirty="0">
                <a:latin typeface="Carlito"/>
                <a:cs typeface="Carlito"/>
              </a:rPr>
              <a:t> </a:t>
            </a:r>
            <a:r>
              <a:rPr lang="en-US" spc="-15" dirty="0">
                <a:latin typeface="Carlito"/>
                <a:cs typeface="Carlito"/>
              </a:rPr>
              <a:t>as</a:t>
            </a:r>
            <a:endParaRPr lang="en-US" dirty="0">
              <a:latin typeface="Carlito"/>
              <a:cs typeface="Carlito"/>
            </a:endParaRPr>
          </a:p>
          <a:p>
            <a:pPr marL="218440" indent="0">
              <a:lnSpc>
                <a:spcPct val="100000"/>
              </a:lnSpc>
              <a:spcBef>
                <a:spcPts val="365"/>
              </a:spcBef>
              <a:buNone/>
            </a:pPr>
            <a:r>
              <a:rPr lang="en-US" b="1" spc="-55" dirty="0">
                <a:latin typeface="Carlito"/>
                <a:cs typeface="Carlito"/>
              </a:rPr>
              <a:t>		“An </a:t>
            </a:r>
            <a:r>
              <a:rPr lang="en-US" b="1" spc="5" dirty="0">
                <a:latin typeface="Carlito"/>
                <a:cs typeface="Carlito"/>
              </a:rPr>
              <a:t>Agreement </a:t>
            </a:r>
            <a:r>
              <a:rPr lang="en-US" b="1" spc="-10" dirty="0">
                <a:latin typeface="Carlito"/>
                <a:cs typeface="Carlito"/>
              </a:rPr>
              <a:t>enforceable </a:t>
            </a:r>
            <a:r>
              <a:rPr lang="en-US" b="1" spc="-5" dirty="0">
                <a:latin typeface="Carlito"/>
                <a:cs typeface="Carlito"/>
              </a:rPr>
              <a:t>by </a:t>
            </a:r>
            <a:r>
              <a:rPr lang="en-US" b="1" dirty="0">
                <a:latin typeface="Carlito"/>
                <a:cs typeface="Carlito"/>
              </a:rPr>
              <a:t>law</a:t>
            </a:r>
            <a:r>
              <a:rPr lang="en-US" b="1" spc="-240" dirty="0">
                <a:latin typeface="Carlito"/>
                <a:cs typeface="Carlito"/>
              </a:rPr>
              <a:t> </a:t>
            </a:r>
            <a:r>
              <a:rPr lang="en-US" b="1" spc="-105" dirty="0">
                <a:latin typeface="Carlito"/>
                <a:cs typeface="Carlito"/>
              </a:rPr>
              <a:t>”.</a:t>
            </a:r>
            <a:endParaRPr lang="en-US" dirty="0">
              <a:latin typeface="Carlito"/>
              <a:cs typeface="Carlito"/>
            </a:endParaRPr>
          </a:p>
          <a:p>
            <a:pPr marL="358140" marR="5080" indent="-346075">
              <a:lnSpc>
                <a:spcPts val="2960"/>
              </a:lnSpc>
              <a:spcBef>
                <a:spcPts val="620"/>
              </a:spcBef>
              <a:buFont typeface="Arial"/>
              <a:buChar char="•"/>
              <a:tabLst>
                <a:tab pos="358140" algn="l"/>
                <a:tab pos="358775" algn="l"/>
                <a:tab pos="1364615" algn="l"/>
                <a:tab pos="3184525" algn="l"/>
                <a:tab pos="4364355" algn="l"/>
                <a:tab pos="5391150" algn="l"/>
                <a:tab pos="6082665" algn="l"/>
                <a:tab pos="7831455" algn="l"/>
                <a:tab pos="9234805" algn="l"/>
                <a:tab pos="9865360" algn="l"/>
              </a:tabLst>
            </a:pPr>
            <a:endParaRPr lang="en-US" spc="40" dirty="0">
              <a:latin typeface="Carlito"/>
              <a:cs typeface="Carlito"/>
            </a:endParaRPr>
          </a:p>
          <a:p>
            <a:pPr marL="358140" marR="5080" indent="-346075">
              <a:lnSpc>
                <a:spcPts val="2960"/>
              </a:lnSpc>
              <a:spcBef>
                <a:spcPts val="620"/>
              </a:spcBef>
              <a:buFont typeface="Arial"/>
              <a:buChar char="•"/>
              <a:tabLst>
                <a:tab pos="358140" algn="l"/>
                <a:tab pos="358775" algn="l"/>
                <a:tab pos="1364615" algn="l"/>
                <a:tab pos="3184525" algn="l"/>
                <a:tab pos="4364355" algn="l"/>
                <a:tab pos="5391150" algn="l"/>
                <a:tab pos="6082665" algn="l"/>
                <a:tab pos="7831455" algn="l"/>
                <a:tab pos="9234805" algn="l"/>
                <a:tab pos="9865360" algn="l"/>
              </a:tabLst>
            </a:pPr>
            <a:r>
              <a:rPr lang="en-US" spc="40" dirty="0">
                <a:latin typeface="Carlito"/>
                <a:cs typeface="Carlito"/>
              </a:rPr>
              <a:t>T</a:t>
            </a:r>
            <a:r>
              <a:rPr lang="en-US" spc="15" dirty="0">
                <a:latin typeface="Carlito"/>
                <a:cs typeface="Carlito"/>
              </a:rPr>
              <a:t>h</a:t>
            </a:r>
            <a:r>
              <a:rPr lang="en-US" spc="10" dirty="0">
                <a:latin typeface="Carlito"/>
                <a:cs typeface="Carlito"/>
              </a:rPr>
              <a:t>e</a:t>
            </a:r>
            <a:r>
              <a:rPr lang="en-US" spc="-15" dirty="0">
                <a:latin typeface="Carlito"/>
                <a:cs typeface="Carlito"/>
              </a:rPr>
              <a:t>s</a:t>
            </a:r>
            <a:r>
              <a:rPr lang="en-US" spc="10" dirty="0">
                <a:latin typeface="Carlito"/>
                <a:cs typeface="Carlito"/>
              </a:rPr>
              <a:t>e</a:t>
            </a:r>
            <a:r>
              <a:rPr lang="en-US" dirty="0">
                <a:latin typeface="Carlito"/>
                <a:cs typeface="Carlito"/>
              </a:rPr>
              <a:t>	</a:t>
            </a:r>
            <a:r>
              <a:rPr lang="en-US" spc="-15" dirty="0">
                <a:latin typeface="Carlito"/>
                <a:cs typeface="Carlito"/>
              </a:rPr>
              <a:t>a</a:t>
            </a:r>
            <a:r>
              <a:rPr lang="en-US" spc="-70" dirty="0">
                <a:latin typeface="Carlito"/>
                <a:cs typeface="Carlito"/>
              </a:rPr>
              <a:t>g</a:t>
            </a:r>
            <a:r>
              <a:rPr lang="en-US" spc="15" dirty="0">
                <a:latin typeface="Carlito"/>
                <a:cs typeface="Carlito"/>
              </a:rPr>
              <a:t>r</a:t>
            </a:r>
            <a:r>
              <a:rPr lang="en-US" spc="10" dirty="0">
                <a:latin typeface="Carlito"/>
                <a:cs typeface="Carlito"/>
              </a:rPr>
              <a:t>e</a:t>
            </a:r>
            <a:r>
              <a:rPr lang="en-US" spc="20" dirty="0">
                <a:latin typeface="Carlito"/>
                <a:cs typeface="Carlito"/>
              </a:rPr>
              <a:t>e</a:t>
            </a:r>
            <a:r>
              <a:rPr lang="en-US" spc="-80" dirty="0">
                <a:latin typeface="Carlito"/>
                <a:cs typeface="Carlito"/>
              </a:rPr>
              <a:t>m</a:t>
            </a:r>
            <a:r>
              <a:rPr lang="en-US" spc="10" dirty="0">
                <a:latin typeface="Carlito"/>
                <a:cs typeface="Carlito"/>
              </a:rPr>
              <a:t>e</a:t>
            </a:r>
            <a:r>
              <a:rPr lang="en-US" spc="25" dirty="0">
                <a:latin typeface="Carlito"/>
                <a:cs typeface="Carlito"/>
              </a:rPr>
              <a:t>n</a:t>
            </a:r>
            <a:r>
              <a:rPr lang="en-US" spc="-25" dirty="0">
                <a:latin typeface="Carlito"/>
                <a:cs typeface="Carlito"/>
              </a:rPr>
              <a:t>t</a:t>
            </a:r>
            <a:r>
              <a:rPr lang="en-US" spc="5" dirty="0">
                <a:latin typeface="Carlito"/>
                <a:cs typeface="Carlito"/>
              </a:rPr>
              <a:t>s</a:t>
            </a:r>
            <a:r>
              <a:rPr lang="en-US" dirty="0">
                <a:latin typeface="Carlito"/>
                <a:cs typeface="Carlito"/>
              </a:rPr>
              <a:t>	</a:t>
            </a:r>
            <a:r>
              <a:rPr lang="en-US" spc="-25" dirty="0">
                <a:latin typeface="Carlito"/>
                <a:cs typeface="Carlito"/>
              </a:rPr>
              <a:t>c</a:t>
            </a:r>
            <a:r>
              <a:rPr lang="en-US" spc="-65" dirty="0">
                <a:latin typeface="Carlito"/>
                <a:cs typeface="Carlito"/>
              </a:rPr>
              <a:t>r</a:t>
            </a:r>
            <a:r>
              <a:rPr lang="en-US" spc="10" dirty="0">
                <a:latin typeface="Carlito"/>
                <a:cs typeface="Carlito"/>
              </a:rPr>
              <a:t>e</a:t>
            </a:r>
            <a:r>
              <a:rPr lang="en-US" spc="-5" dirty="0">
                <a:latin typeface="Carlito"/>
                <a:cs typeface="Carlito"/>
              </a:rPr>
              <a:t>a</a:t>
            </a:r>
            <a:r>
              <a:rPr lang="en-US" spc="-30" dirty="0">
                <a:latin typeface="Carlito"/>
                <a:cs typeface="Carlito"/>
              </a:rPr>
              <a:t>t</a:t>
            </a:r>
            <a:r>
              <a:rPr lang="en-US" spc="10" dirty="0">
                <a:latin typeface="Carlito"/>
                <a:cs typeface="Carlito"/>
              </a:rPr>
              <a:t>es</a:t>
            </a:r>
            <a:r>
              <a:rPr lang="en-US" dirty="0">
                <a:latin typeface="Carlito"/>
                <a:cs typeface="Carlito"/>
              </a:rPr>
              <a:t>	</a:t>
            </a:r>
            <a:r>
              <a:rPr lang="en-US" spc="-30" dirty="0">
                <a:latin typeface="Carlito"/>
                <a:cs typeface="Carlito"/>
              </a:rPr>
              <a:t>R</a:t>
            </a:r>
            <a:r>
              <a:rPr lang="en-US" spc="20" dirty="0">
                <a:latin typeface="Carlito"/>
                <a:cs typeface="Carlito"/>
              </a:rPr>
              <a:t>i</a:t>
            </a:r>
            <a:r>
              <a:rPr lang="en-US" spc="10" dirty="0">
                <a:latin typeface="Carlito"/>
                <a:cs typeface="Carlito"/>
              </a:rPr>
              <a:t>g</a:t>
            </a:r>
            <a:r>
              <a:rPr lang="en-US" spc="20" dirty="0">
                <a:latin typeface="Carlito"/>
                <a:cs typeface="Carlito"/>
              </a:rPr>
              <a:t>h</a:t>
            </a:r>
            <a:r>
              <a:rPr lang="en-US" spc="-25" dirty="0">
                <a:latin typeface="Carlito"/>
                <a:cs typeface="Carlito"/>
              </a:rPr>
              <a:t>t</a:t>
            </a:r>
            <a:r>
              <a:rPr lang="en-US" spc="5" dirty="0">
                <a:latin typeface="Carlito"/>
                <a:cs typeface="Carlito"/>
              </a:rPr>
              <a:t>s</a:t>
            </a:r>
            <a:r>
              <a:rPr lang="en-US" dirty="0">
                <a:latin typeface="Carlito"/>
                <a:cs typeface="Carlito"/>
              </a:rPr>
              <a:t>	</a:t>
            </a:r>
            <a:r>
              <a:rPr lang="en-US" spc="-15" dirty="0">
                <a:latin typeface="Carlito"/>
                <a:cs typeface="Carlito"/>
              </a:rPr>
              <a:t>a</a:t>
            </a:r>
            <a:r>
              <a:rPr lang="en-US" spc="15" dirty="0">
                <a:latin typeface="Carlito"/>
                <a:cs typeface="Carlito"/>
              </a:rPr>
              <a:t>n</a:t>
            </a:r>
            <a:r>
              <a:rPr lang="en-US" spc="10" dirty="0">
                <a:latin typeface="Carlito"/>
                <a:cs typeface="Carlito"/>
              </a:rPr>
              <a:t>d</a:t>
            </a:r>
            <a:r>
              <a:rPr lang="en-US" dirty="0">
                <a:latin typeface="Carlito"/>
                <a:cs typeface="Carlito"/>
              </a:rPr>
              <a:t>	</a:t>
            </a:r>
            <a:r>
              <a:rPr lang="en-US" spc="45" dirty="0">
                <a:latin typeface="Carlito"/>
                <a:cs typeface="Carlito"/>
              </a:rPr>
              <a:t>O</a:t>
            </a:r>
            <a:r>
              <a:rPr lang="en-US" spc="15" dirty="0">
                <a:latin typeface="Carlito"/>
                <a:cs typeface="Carlito"/>
              </a:rPr>
              <a:t>b</a:t>
            </a:r>
            <a:r>
              <a:rPr lang="en-US" spc="-60" dirty="0">
                <a:latin typeface="Carlito"/>
                <a:cs typeface="Carlito"/>
              </a:rPr>
              <a:t>l</a:t>
            </a:r>
            <a:r>
              <a:rPr lang="en-US" spc="15" dirty="0">
                <a:latin typeface="Carlito"/>
                <a:cs typeface="Carlito"/>
              </a:rPr>
              <a:t>i</a:t>
            </a:r>
            <a:r>
              <a:rPr lang="en-US" spc="-75" dirty="0">
                <a:latin typeface="Carlito"/>
                <a:cs typeface="Carlito"/>
              </a:rPr>
              <a:t>g</a:t>
            </a:r>
            <a:r>
              <a:rPr lang="en-US" spc="-15" dirty="0">
                <a:latin typeface="Carlito"/>
                <a:cs typeface="Carlito"/>
              </a:rPr>
              <a:t>a</a:t>
            </a:r>
            <a:r>
              <a:rPr lang="en-US" spc="-30" dirty="0">
                <a:latin typeface="Carlito"/>
                <a:cs typeface="Carlito"/>
              </a:rPr>
              <a:t>t</a:t>
            </a:r>
            <a:r>
              <a:rPr lang="en-US" spc="15" dirty="0">
                <a:latin typeface="Carlito"/>
                <a:cs typeface="Carlito"/>
              </a:rPr>
              <a:t>i</a:t>
            </a:r>
            <a:r>
              <a:rPr lang="en-US" spc="5" dirty="0">
                <a:latin typeface="Carlito"/>
                <a:cs typeface="Carlito"/>
              </a:rPr>
              <a:t>o</a:t>
            </a:r>
            <a:r>
              <a:rPr lang="en-US" spc="20" dirty="0">
                <a:latin typeface="Carlito"/>
                <a:cs typeface="Carlito"/>
              </a:rPr>
              <a:t>n</a:t>
            </a:r>
            <a:r>
              <a:rPr lang="en-US" spc="5" dirty="0">
                <a:latin typeface="Carlito"/>
                <a:cs typeface="Carlito"/>
              </a:rPr>
              <a:t>s</a:t>
            </a:r>
            <a:r>
              <a:rPr lang="en-US" dirty="0">
                <a:latin typeface="Carlito"/>
                <a:cs typeface="Carlito"/>
              </a:rPr>
              <a:t>	</a:t>
            </a:r>
            <a:r>
              <a:rPr lang="en-US" spc="-60" dirty="0">
                <a:latin typeface="Carlito"/>
                <a:cs typeface="Carlito"/>
              </a:rPr>
              <a:t>b</a:t>
            </a:r>
            <a:r>
              <a:rPr lang="en-US" spc="10" dirty="0">
                <a:latin typeface="Carlito"/>
                <a:cs typeface="Carlito"/>
              </a:rPr>
              <a:t>e</a:t>
            </a:r>
            <a:r>
              <a:rPr lang="en-US" spc="-15" dirty="0">
                <a:latin typeface="Carlito"/>
                <a:cs typeface="Carlito"/>
              </a:rPr>
              <a:t>tw</a:t>
            </a:r>
            <a:r>
              <a:rPr lang="en-US" spc="10" dirty="0">
                <a:latin typeface="Carlito"/>
                <a:cs typeface="Carlito"/>
              </a:rPr>
              <a:t>e</a:t>
            </a:r>
            <a:r>
              <a:rPr lang="en-US" spc="20" dirty="0">
                <a:latin typeface="Carlito"/>
                <a:cs typeface="Carlito"/>
              </a:rPr>
              <a:t>e</a:t>
            </a:r>
            <a:r>
              <a:rPr lang="en-US" spc="10" dirty="0">
                <a:latin typeface="Carlito"/>
                <a:cs typeface="Carlito"/>
              </a:rPr>
              <a:t>n</a:t>
            </a:r>
            <a:r>
              <a:rPr lang="en-US" dirty="0">
                <a:latin typeface="Carlito"/>
                <a:cs typeface="Carlito"/>
              </a:rPr>
              <a:t>	</a:t>
            </a:r>
            <a:r>
              <a:rPr lang="en-US" spc="-30" dirty="0">
                <a:latin typeface="Carlito"/>
                <a:cs typeface="Carlito"/>
              </a:rPr>
              <a:t>t</a:t>
            </a:r>
            <a:r>
              <a:rPr lang="en-US" spc="-60" dirty="0">
                <a:latin typeface="Carlito"/>
                <a:cs typeface="Carlito"/>
              </a:rPr>
              <a:t>h</a:t>
            </a:r>
            <a:r>
              <a:rPr lang="en-US" spc="10" dirty="0">
                <a:latin typeface="Carlito"/>
                <a:cs typeface="Carlito"/>
              </a:rPr>
              <a:t>e </a:t>
            </a:r>
            <a:r>
              <a:rPr lang="en-US" spc="-40" dirty="0">
                <a:latin typeface="Carlito"/>
                <a:cs typeface="Carlito"/>
              </a:rPr>
              <a:t>P</a:t>
            </a:r>
            <a:r>
              <a:rPr lang="en-US" spc="-15" dirty="0">
                <a:latin typeface="Carlito"/>
                <a:cs typeface="Carlito"/>
              </a:rPr>
              <a:t>a</a:t>
            </a:r>
            <a:r>
              <a:rPr lang="en-US" spc="10" dirty="0">
                <a:latin typeface="Carlito"/>
                <a:cs typeface="Carlito"/>
              </a:rPr>
              <a:t>r</a:t>
            </a:r>
            <a:r>
              <a:rPr lang="en-US" spc="-30" dirty="0">
                <a:latin typeface="Carlito"/>
                <a:cs typeface="Carlito"/>
              </a:rPr>
              <a:t>t</a:t>
            </a:r>
            <a:r>
              <a:rPr lang="en-US" spc="15" dirty="0">
                <a:latin typeface="Carlito"/>
                <a:cs typeface="Carlito"/>
              </a:rPr>
              <a:t>i</a:t>
            </a:r>
            <a:r>
              <a:rPr lang="en-US" spc="-65" dirty="0">
                <a:latin typeface="Carlito"/>
                <a:cs typeface="Carlito"/>
              </a:rPr>
              <a:t>e</a:t>
            </a:r>
            <a:r>
              <a:rPr lang="en-US" spc="5" dirty="0">
                <a:latin typeface="Carlito"/>
                <a:cs typeface="Carlito"/>
              </a:rPr>
              <a:t>s  </a:t>
            </a:r>
            <a:r>
              <a:rPr lang="en-US" dirty="0">
                <a:latin typeface="Carlito"/>
                <a:cs typeface="Carlito"/>
              </a:rPr>
              <a:t>which </a:t>
            </a:r>
            <a:r>
              <a:rPr lang="en-US" spc="-10" dirty="0">
                <a:latin typeface="Carlito"/>
                <a:cs typeface="Carlito"/>
              </a:rPr>
              <a:t>can </a:t>
            </a:r>
            <a:r>
              <a:rPr lang="en-US" spc="15" dirty="0">
                <a:latin typeface="Carlito"/>
                <a:cs typeface="Carlito"/>
              </a:rPr>
              <a:t>be </a:t>
            </a:r>
            <a:r>
              <a:rPr lang="en-US" dirty="0">
                <a:latin typeface="Carlito"/>
                <a:cs typeface="Carlito"/>
              </a:rPr>
              <a:t>claimed </a:t>
            </a:r>
            <a:r>
              <a:rPr lang="en-US" spc="10" dirty="0">
                <a:latin typeface="Carlito"/>
                <a:cs typeface="Carlito"/>
              </a:rPr>
              <a:t>in </a:t>
            </a:r>
            <a:r>
              <a:rPr lang="en-US" spc="-5" dirty="0">
                <a:latin typeface="Carlito"/>
                <a:cs typeface="Carlito"/>
              </a:rPr>
              <a:t>the </a:t>
            </a:r>
            <a:r>
              <a:rPr lang="en-US" spc="10" dirty="0">
                <a:latin typeface="Carlito"/>
                <a:cs typeface="Carlito"/>
              </a:rPr>
              <a:t>Court of </a:t>
            </a:r>
            <a:r>
              <a:rPr lang="en-US" spc="-30" dirty="0">
                <a:latin typeface="Carlito"/>
                <a:cs typeface="Carlito"/>
              </a:rPr>
              <a:t>Law.(Legal</a:t>
            </a:r>
            <a:r>
              <a:rPr lang="en-US" spc="-300" dirty="0">
                <a:latin typeface="Carlito"/>
                <a:cs typeface="Carlito"/>
              </a:rPr>
              <a:t> </a:t>
            </a:r>
            <a:r>
              <a:rPr lang="en-US" dirty="0">
                <a:latin typeface="Carlito"/>
                <a:cs typeface="Carlito"/>
              </a:rPr>
              <a:t>Obligation).</a:t>
            </a:r>
          </a:p>
          <a:p>
            <a:pPr marL="358140" indent="-346075">
              <a:spcBef>
                <a:spcPts val="235"/>
              </a:spcBef>
              <a:buFont typeface="Arial"/>
              <a:buChar char="•"/>
              <a:tabLst>
                <a:tab pos="358140" algn="l"/>
                <a:tab pos="358775" algn="l"/>
              </a:tabLst>
            </a:pPr>
            <a:endParaRPr lang="en-US" spc="20" dirty="0">
              <a:latin typeface="Carlito"/>
              <a:cs typeface="Carlito"/>
            </a:endParaRPr>
          </a:p>
          <a:p>
            <a:pPr marL="358140" indent="-346075">
              <a:spcBef>
                <a:spcPts val="235"/>
              </a:spcBef>
              <a:buFont typeface="Arial"/>
              <a:buChar char="•"/>
              <a:tabLst>
                <a:tab pos="358140" algn="l"/>
                <a:tab pos="358775" algn="l"/>
              </a:tabLst>
            </a:pPr>
            <a:r>
              <a:rPr lang="en-US" spc="20" dirty="0">
                <a:latin typeface="Carlito"/>
                <a:cs typeface="Carlito"/>
              </a:rPr>
              <a:t>The </a:t>
            </a:r>
            <a:r>
              <a:rPr lang="en-US" b="1" spc="15" dirty="0">
                <a:latin typeface="Carlito"/>
                <a:cs typeface="Carlito"/>
              </a:rPr>
              <a:t>PMI </a:t>
            </a:r>
            <a:r>
              <a:rPr lang="en-US" b="1" spc="-5" dirty="0">
                <a:latin typeface="Carlito"/>
                <a:cs typeface="Carlito"/>
              </a:rPr>
              <a:t>definition </a:t>
            </a:r>
            <a:r>
              <a:rPr lang="en-US" spc="5" dirty="0">
                <a:latin typeface="Carlito"/>
                <a:cs typeface="Carlito"/>
              </a:rPr>
              <a:t>of </a:t>
            </a:r>
            <a:r>
              <a:rPr lang="en-US" spc="10" dirty="0">
                <a:latin typeface="Carlito"/>
                <a:cs typeface="Carlito"/>
              </a:rPr>
              <a:t>a </a:t>
            </a:r>
            <a:r>
              <a:rPr lang="en-US" b="1" spc="-10" dirty="0">
                <a:latin typeface="Carlito"/>
                <a:cs typeface="Carlito"/>
              </a:rPr>
              <a:t>Contract</a:t>
            </a:r>
            <a:r>
              <a:rPr lang="en-US" b="1" spc="-240" dirty="0">
                <a:latin typeface="Carlito"/>
                <a:cs typeface="Carlito"/>
              </a:rPr>
              <a:t> </a:t>
            </a:r>
            <a:r>
              <a:rPr lang="en-US" dirty="0">
                <a:latin typeface="Carlito"/>
                <a:cs typeface="Carlito"/>
              </a:rPr>
              <a:t>is:</a:t>
            </a:r>
          </a:p>
          <a:p>
            <a:pPr marL="358140" indent="-346075">
              <a:spcBef>
                <a:spcPts val="235"/>
              </a:spcBef>
              <a:buFont typeface="Arial"/>
              <a:buChar char="•"/>
              <a:tabLst>
                <a:tab pos="358140" algn="l"/>
                <a:tab pos="358775" algn="l"/>
              </a:tabLst>
            </a:pPr>
            <a:r>
              <a:rPr lang="en-US" spc="-120" dirty="0">
                <a:latin typeface="Carlito"/>
                <a:cs typeface="Carlito"/>
              </a:rPr>
              <a:t>“A </a:t>
            </a:r>
            <a:r>
              <a:rPr lang="en-US" spc="-10" dirty="0">
                <a:latin typeface="Carlito"/>
                <a:cs typeface="Carlito"/>
              </a:rPr>
              <a:t>contract </a:t>
            </a:r>
            <a:r>
              <a:rPr lang="en-US" spc="10" dirty="0">
                <a:latin typeface="Carlito"/>
                <a:cs typeface="Carlito"/>
              </a:rPr>
              <a:t>is a </a:t>
            </a:r>
            <a:r>
              <a:rPr lang="en-US" spc="-5" dirty="0">
                <a:latin typeface="Carlito"/>
                <a:cs typeface="Carlito"/>
              </a:rPr>
              <a:t>mutually </a:t>
            </a:r>
            <a:r>
              <a:rPr lang="en-US" spc="-10" dirty="0">
                <a:latin typeface="Carlito"/>
                <a:cs typeface="Carlito"/>
              </a:rPr>
              <a:t>binding </a:t>
            </a:r>
            <a:r>
              <a:rPr lang="en-US" spc="-5" dirty="0">
                <a:latin typeface="Carlito"/>
                <a:cs typeface="Carlito"/>
              </a:rPr>
              <a:t>agreement </a:t>
            </a:r>
            <a:r>
              <a:rPr lang="en-US" spc="-20" dirty="0">
                <a:latin typeface="Carlito"/>
                <a:cs typeface="Carlito"/>
              </a:rPr>
              <a:t>that </a:t>
            </a:r>
            <a:r>
              <a:rPr lang="en-US" spc="-15" dirty="0">
                <a:latin typeface="Carlito"/>
                <a:cs typeface="Carlito"/>
              </a:rPr>
              <a:t>obligates</a:t>
            </a:r>
            <a:r>
              <a:rPr lang="en-US" spc="-75" dirty="0">
                <a:latin typeface="Carlito"/>
                <a:cs typeface="Carlito"/>
              </a:rPr>
              <a:t> </a:t>
            </a:r>
            <a:r>
              <a:rPr lang="en-US" spc="-15" dirty="0">
                <a:latin typeface="Carlito"/>
                <a:cs typeface="Carlito"/>
              </a:rPr>
              <a:t>the</a:t>
            </a:r>
            <a:r>
              <a:rPr lang="en-US" dirty="0">
                <a:latin typeface="Carlito"/>
                <a:cs typeface="Carlito"/>
              </a:rPr>
              <a:t> seller </a:t>
            </a:r>
            <a:r>
              <a:rPr lang="en-US" spc="-5" dirty="0">
                <a:latin typeface="Carlito"/>
                <a:cs typeface="Carlito"/>
              </a:rPr>
              <a:t>to provide </a:t>
            </a:r>
            <a:r>
              <a:rPr lang="en-US" spc="-15" dirty="0">
                <a:latin typeface="Carlito"/>
                <a:cs typeface="Carlito"/>
              </a:rPr>
              <a:t>the </a:t>
            </a:r>
            <a:r>
              <a:rPr lang="en-US" spc="-5" dirty="0">
                <a:latin typeface="Carlito"/>
                <a:cs typeface="Carlito"/>
              </a:rPr>
              <a:t>specified </a:t>
            </a:r>
            <a:r>
              <a:rPr lang="en-US" spc="-15" dirty="0">
                <a:latin typeface="Carlito"/>
                <a:cs typeface="Carlito"/>
              </a:rPr>
              <a:t>product and obligates the buyer </a:t>
            </a:r>
            <a:r>
              <a:rPr lang="en-US" spc="-5" dirty="0">
                <a:latin typeface="Carlito"/>
                <a:cs typeface="Carlito"/>
              </a:rPr>
              <a:t>to</a:t>
            </a:r>
            <a:r>
              <a:rPr lang="en-US" spc="445" dirty="0">
                <a:latin typeface="Carlito"/>
                <a:cs typeface="Carlito"/>
              </a:rPr>
              <a:t> </a:t>
            </a:r>
            <a:r>
              <a:rPr lang="en-US" spc="-15" dirty="0">
                <a:latin typeface="Carlito"/>
                <a:cs typeface="Carlito"/>
              </a:rPr>
              <a:t>pay</a:t>
            </a:r>
            <a:r>
              <a:rPr lang="en-US" dirty="0">
                <a:latin typeface="Carlito"/>
                <a:cs typeface="Carlito"/>
              </a:rPr>
              <a:t> </a:t>
            </a:r>
            <a:r>
              <a:rPr lang="en-US" spc="-15" dirty="0">
                <a:latin typeface="Carlito"/>
                <a:cs typeface="Carlito"/>
              </a:rPr>
              <a:t>for</a:t>
            </a:r>
            <a:r>
              <a:rPr lang="en-US" spc="-30" dirty="0">
                <a:latin typeface="Carlito"/>
                <a:cs typeface="Carlito"/>
              </a:rPr>
              <a:t> </a:t>
            </a:r>
            <a:r>
              <a:rPr lang="en-US" spc="-45" dirty="0">
                <a:latin typeface="Carlito"/>
                <a:cs typeface="Carlito"/>
              </a:rPr>
              <a:t>it”.</a:t>
            </a:r>
            <a:endParaRPr lang="en-US" dirty="0"/>
          </a:p>
        </p:txBody>
      </p:sp>
    </p:spTree>
    <p:extLst>
      <p:ext uri="{BB962C8B-B14F-4D97-AF65-F5344CB8AC3E}">
        <p14:creationId xmlns:p14="http://schemas.microsoft.com/office/powerpoint/2010/main" val="2225924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3847" y="527605"/>
            <a:ext cx="5780127" cy="610820"/>
          </a:xfrm>
        </p:spPr>
        <p:txBody>
          <a:bodyPr>
            <a:normAutofit fontScale="90000"/>
          </a:bodyPr>
          <a:lstStyle/>
          <a:p>
            <a:pPr algn="ctr"/>
            <a:r>
              <a:rPr lang="en-US" b="1" dirty="0"/>
              <a:t>TYPES OF CONTRACT</a:t>
            </a:r>
          </a:p>
        </p:txBody>
      </p:sp>
      <p:sp>
        <p:nvSpPr>
          <p:cNvPr id="3" name="Content Placeholder 2"/>
          <p:cNvSpPr>
            <a:spLocks noGrp="1"/>
          </p:cNvSpPr>
          <p:nvPr>
            <p:ph idx="1"/>
          </p:nvPr>
        </p:nvSpPr>
        <p:spPr/>
        <p:txBody>
          <a:bodyPr/>
          <a:lstStyle/>
          <a:p>
            <a:endParaRPr lang="en-US"/>
          </a:p>
        </p:txBody>
      </p:sp>
      <p:pic>
        <p:nvPicPr>
          <p:cNvPr id="4099" name="Picture 3" descr="D:\bahria 2019\FOPM\Sumaiya\Lecture 14\Final 1\Untitl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4784"/>
            <a:ext cx="9144000"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65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28377" y="476672"/>
            <a:ext cx="5708119" cy="610820"/>
          </a:xfrm>
        </p:spPr>
        <p:txBody>
          <a:bodyPr>
            <a:normAutofit fontScale="90000"/>
          </a:bodyPr>
          <a:lstStyle/>
          <a:p>
            <a:pPr algn="ctr"/>
            <a:r>
              <a:rPr lang="en-US" dirty="0"/>
              <a:t>FIXED PRICE CONTRACT</a:t>
            </a:r>
          </a:p>
        </p:txBody>
      </p:sp>
      <p:pic>
        <p:nvPicPr>
          <p:cNvPr id="5123" name="Picture 3" descr="D:\bahria 2019\FOPM\Sumaiya\Lecture 14\Final 1\F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19" y="2060848"/>
            <a:ext cx="9119081"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386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TIME &amp; MATERIAL CONTRACT</a:t>
            </a:r>
          </a:p>
        </p:txBody>
      </p:sp>
      <p:sp>
        <p:nvSpPr>
          <p:cNvPr id="3" name="Content Placeholder 2"/>
          <p:cNvSpPr>
            <a:spLocks noGrp="1"/>
          </p:cNvSpPr>
          <p:nvPr>
            <p:ph idx="1"/>
          </p:nvPr>
        </p:nvSpPr>
        <p:spPr/>
        <p:txBody>
          <a:bodyPr/>
          <a:lstStyle/>
          <a:p>
            <a:r>
              <a:rPr lang="en-US" dirty="0"/>
              <a:t>In this type of contract, the buyer pays on a per-hour or per-item basis. Time and material contracts are frequently used for service efforts in which the level of effort cannot be defined when contract is awarded.</a:t>
            </a:r>
          </a:p>
          <a:p>
            <a:endParaRPr lang="en-US" dirty="0"/>
          </a:p>
        </p:txBody>
      </p:sp>
    </p:spTree>
    <p:extLst>
      <p:ext uri="{BB962C8B-B14F-4D97-AF65-F5344CB8AC3E}">
        <p14:creationId xmlns:p14="http://schemas.microsoft.com/office/powerpoint/2010/main" val="4204942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7863" y="441916"/>
            <a:ext cx="5636111" cy="610820"/>
          </a:xfrm>
        </p:spPr>
        <p:txBody>
          <a:bodyPr>
            <a:normAutofit fontScale="90000"/>
          </a:bodyPr>
          <a:lstStyle/>
          <a:p>
            <a:pPr algn="ctr"/>
            <a:r>
              <a:rPr lang="en-US" b="1" dirty="0"/>
              <a:t>COST REIMBURSEMENT</a:t>
            </a:r>
          </a:p>
        </p:txBody>
      </p:sp>
      <p:sp>
        <p:nvSpPr>
          <p:cNvPr id="3" name="Content Placeholder 2"/>
          <p:cNvSpPr>
            <a:spLocks noGrp="1"/>
          </p:cNvSpPr>
          <p:nvPr>
            <p:ph idx="1"/>
          </p:nvPr>
        </p:nvSpPr>
        <p:spPr/>
        <p:txBody>
          <a:bodyPr/>
          <a:lstStyle/>
          <a:p>
            <a:r>
              <a:rPr lang="en-US" dirty="0"/>
              <a:t>Cost reimbursement contract are used when the scope is not clear and cost cannot be accurately estimated.</a:t>
            </a:r>
          </a:p>
          <a:p>
            <a:r>
              <a:rPr lang="en-US" dirty="0"/>
              <a:t>This allows the buyer to pay the seller allowable incurred  cost to the extend provided in contract.</a:t>
            </a:r>
          </a:p>
          <a:p>
            <a:r>
              <a:rPr lang="en-US" dirty="0"/>
              <a:t>This add additional fee or reward to the cost for the seller profit</a:t>
            </a:r>
          </a:p>
        </p:txBody>
      </p:sp>
    </p:spTree>
    <p:extLst>
      <p:ext uri="{BB962C8B-B14F-4D97-AF65-F5344CB8AC3E}">
        <p14:creationId xmlns:p14="http://schemas.microsoft.com/office/powerpoint/2010/main" val="1571601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7863" y="527605"/>
            <a:ext cx="5636111" cy="610820"/>
          </a:xfrm>
        </p:spPr>
        <p:txBody>
          <a:bodyPr>
            <a:normAutofit fontScale="90000"/>
          </a:bodyPr>
          <a:lstStyle/>
          <a:p>
            <a:pPr algn="ctr"/>
            <a:r>
              <a:rPr lang="en-US" b="1" dirty="0"/>
              <a:t>Few Contractual Terms</a:t>
            </a:r>
          </a:p>
        </p:txBody>
      </p:sp>
      <p:sp>
        <p:nvSpPr>
          <p:cNvPr id="3" name="Content Placeholder 2"/>
          <p:cNvSpPr>
            <a:spLocks noGrp="1"/>
          </p:cNvSpPr>
          <p:nvPr>
            <p:ph idx="1"/>
          </p:nvPr>
        </p:nvSpPr>
        <p:spPr>
          <a:xfrm>
            <a:off x="323528" y="1412776"/>
            <a:ext cx="8496944" cy="5040560"/>
          </a:xfrm>
        </p:spPr>
        <p:txBody>
          <a:bodyPr>
            <a:normAutofit fontScale="62500" lnSpcReduction="20000"/>
          </a:bodyPr>
          <a:lstStyle/>
          <a:p>
            <a:r>
              <a:rPr lang="en-US" b="1" u="sng" dirty="0"/>
              <a:t>Acceptance</a:t>
            </a:r>
            <a:r>
              <a:rPr lang="en-US" dirty="0"/>
              <a:t> How will you specifically know if the work is acceptable? </a:t>
            </a:r>
          </a:p>
          <a:p>
            <a:r>
              <a:rPr lang="en-US" b="1" u="sng" dirty="0"/>
              <a:t>Agent</a:t>
            </a:r>
            <a:r>
              <a:rPr lang="en-US" dirty="0"/>
              <a:t> Who is an authorized representative of each party? </a:t>
            </a:r>
          </a:p>
          <a:p>
            <a:r>
              <a:rPr lang="en-US" b="1" u="sng" dirty="0"/>
              <a:t>Arbitration</a:t>
            </a:r>
            <a:r>
              <a:rPr lang="en-US" dirty="0"/>
              <a:t> It is method to resolve disputes uses private third parties to render a decision on the dispute. It is usually faster and cheaper than the courts.</a:t>
            </a:r>
          </a:p>
          <a:p>
            <a:r>
              <a:rPr lang="en-US" b="1" u="sng" dirty="0"/>
              <a:t>Assignment</a:t>
            </a:r>
            <a:r>
              <a:rPr lang="en-US" dirty="0"/>
              <a:t> This refers to the circumstances under which one party can assign its rights or obligations under the contract to another. </a:t>
            </a:r>
          </a:p>
          <a:p>
            <a:r>
              <a:rPr lang="en-US" b="1" u="sng" dirty="0"/>
              <a:t>Authority</a:t>
            </a:r>
            <a:r>
              <a:rPr lang="en-US" dirty="0"/>
              <a:t> Who has the power to do what? </a:t>
            </a:r>
          </a:p>
          <a:p>
            <a:r>
              <a:rPr lang="en-US" b="1" u="sng" dirty="0"/>
              <a:t>Changes</a:t>
            </a:r>
            <a:r>
              <a:rPr lang="en-US" dirty="0"/>
              <a:t> How will changes be made? What forms will be used? What are the timeframes for notice and turnaround ?</a:t>
            </a:r>
          </a:p>
          <a:p>
            <a:r>
              <a:rPr lang="en-US" b="1" u="sng" dirty="0"/>
              <a:t>Confidentiality/ nondisclosure</a:t>
            </a:r>
            <a:r>
              <a:rPr lang="en-US" dirty="0"/>
              <a:t> What information must not be made known or </a:t>
            </a:r>
            <a:r>
              <a:rPr lang="en-US" dirty="0" err="1"/>
              <a:t>gh·en</a:t>
            </a:r>
            <a:r>
              <a:rPr lang="en-US" dirty="0"/>
              <a:t> to third parties? </a:t>
            </a:r>
            <a:endParaRPr lang="en-US" b="1" u="sng" dirty="0"/>
          </a:p>
          <a:p>
            <a:r>
              <a:rPr lang="en-US" b="1" u="sng" dirty="0"/>
              <a:t> Dispute resolution</a:t>
            </a:r>
            <a:r>
              <a:rPr lang="en-US" dirty="0"/>
              <a:t> How will any disputes regarding the contract be settled? Some options for dispute resolution are to use the courts or in arbitrator. </a:t>
            </a:r>
          </a:p>
          <a:p>
            <a:r>
              <a:rPr lang="en-US" b="1" u="sng" dirty="0"/>
              <a:t>Force majeure</a:t>
            </a:r>
            <a:r>
              <a:rPr lang="en-US" dirty="0"/>
              <a:t> 'This refers to a situation that could be considered an "act of nature;' such as a fire or storm, and it is an allowable excuse for either party not meeting contract requirements. If a force majeure occurs, it is considered to be neither party's fault. It is usually resolved by the seller receiving an extension of time on the project. Who pays for the cost of the items destroyed in a fire or other force majeure? Usually the risk of loss is borne by the seller and is hopefully covered by insurance</a:t>
            </a:r>
          </a:p>
        </p:txBody>
      </p:sp>
    </p:spTree>
    <p:extLst>
      <p:ext uri="{BB962C8B-B14F-4D97-AF65-F5344CB8AC3E}">
        <p14:creationId xmlns:p14="http://schemas.microsoft.com/office/powerpoint/2010/main" val="3460389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u="sng" dirty="0"/>
              <a:t>Incentives </a:t>
            </a:r>
            <a:r>
              <a:rPr lang="en-US" dirty="0"/>
              <a:t>These are benefits the seller may receive for achieving the buyer's objectives of schedule, cost, quality, risk, and performance. </a:t>
            </a:r>
          </a:p>
          <a:p>
            <a:r>
              <a:rPr lang="en-US" b="1" u="sng" dirty="0" err="1"/>
              <a:t>lndemnification</a:t>
            </a:r>
            <a:r>
              <a:rPr lang="en-US" b="1" u="sng" dirty="0"/>
              <a:t> (liability)</a:t>
            </a:r>
            <a:r>
              <a:rPr lang="en-US" dirty="0"/>
              <a:t> Who is liable for personal injury, damage, or accidents? </a:t>
            </a:r>
          </a:p>
          <a:p>
            <a:r>
              <a:rPr lang="en-US" b="1" u="sng" dirty="0"/>
              <a:t>Independent contractor</a:t>
            </a:r>
            <a:r>
              <a:rPr lang="en-US" dirty="0"/>
              <a:t> This means the seller is not an employee of the buyer. </a:t>
            </a:r>
          </a:p>
          <a:p>
            <a:r>
              <a:rPr lang="en-US" b="1" u="sng" dirty="0"/>
              <a:t>Inspection</a:t>
            </a:r>
            <a:r>
              <a:rPr lang="en-US" dirty="0"/>
              <a:t> Does anyone have a right to inspect the work during the execution?</a:t>
            </a:r>
          </a:p>
          <a:p>
            <a:r>
              <a:rPr lang="en-US" b="1" u="sng" dirty="0"/>
              <a:t>Site access</a:t>
            </a:r>
            <a:r>
              <a:rPr lang="en-US" dirty="0"/>
              <a:t> This describes any requirements for access to the site where the work will be performed. </a:t>
            </a:r>
          </a:p>
          <a:p>
            <a:r>
              <a:rPr lang="en-US" b="1" u="sng" dirty="0"/>
              <a:t>Time is of the essence</a:t>
            </a:r>
            <a:r>
              <a:rPr lang="en-US" dirty="0"/>
              <a:t> Delivery dates are strictly binding. The seller is on notice that time is important and that any delay is a material breach.</a:t>
            </a:r>
          </a:p>
          <a:p>
            <a:pPr marL="358140" indent="-346075">
              <a:spcBef>
                <a:spcPts val="930"/>
              </a:spcBef>
              <a:buFont typeface="Arial"/>
              <a:buChar char="•"/>
              <a:tabLst>
                <a:tab pos="358140" algn="l"/>
                <a:tab pos="358775" algn="l"/>
              </a:tabLst>
            </a:pPr>
            <a:r>
              <a:rPr lang="en-US" sz="2900" b="1" u="sng" spc="-20" dirty="0">
                <a:latin typeface="Calibri" pitchFamily="34" charset="0"/>
                <a:cs typeface="Calibri" pitchFamily="34" charset="0"/>
              </a:rPr>
              <a:t>Warranty</a:t>
            </a:r>
            <a:r>
              <a:rPr lang="en-US" sz="2900" b="1" spc="-20" dirty="0">
                <a:latin typeface="Calibri" pitchFamily="34" charset="0"/>
                <a:cs typeface="Calibri" pitchFamily="34" charset="0"/>
              </a:rPr>
              <a:t> </a:t>
            </a:r>
            <a:r>
              <a:rPr lang="en-US" sz="2900" spc="-5" dirty="0">
                <a:latin typeface="Calibri" pitchFamily="34" charset="0"/>
                <a:cs typeface="Calibri" pitchFamily="34" charset="0"/>
              </a:rPr>
              <a:t>Item </a:t>
            </a:r>
            <a:r>
              <a:rPr lang="en-US" sz="2900" spc="-10" dirty="0">
                <a:latin typeface="Calibri" pitchFamily="34" charset="0"/>
                <a:cs typeface="Calibri" pitchFamily="34" charset="0"/>
              </a:rPr>
              <a:t>which </a:t>
            </a:r>
            <a:r>
              <a:rPr lang="en-US" sz="2900" dirty="0">
                <a:latin typeface="Calibri" pitchFamily="34" charset="0"/>
                <a:cs typeface="Calibri" pitchFamily="34" charset="0"/>
              </a:rPr>
              <a:t>is critical </a:t>
            </a:r>
            <a:r>
              <a:rPr lang="en-US" sz="2900" spc="5" dirty="0">
                <a:latin typeface="Calibri" pitchFamily="34" charset="0"/>
                <a:cs typeface="Calibri" pitchFamily="34" charset="0"/>
              </a:rPr>
              <a:t>to </a:t>
            </a:r>
            <a:r>
              <a:rPr lang="en-US" sz="2900" spc="-20" dirty="0">
                <a:latin typeface="Calibri" pitchFamily="34" charset="0"/>
                <a:cs typeface="Calibri" pitchFamily="34" charset="0"/>
              </a:rPr>
              <a:t>be </a:t>
            </a:r>
            <a:r>
              <a:rPr lang="en-US" sz="2900" spc="-10" dirty="0">
                <a:latin typeface="Calibri" pitchFamily="34" charset="0"/>
                <a:cs typeface="Calibri" pitchFamily="34" charset="0"/>
              </a:rPr>
              <a:t>specified </a:t>
            </a:r>
            <a:r>
              <a:rPr lang="en-US" sz="2900" dirty="0">
                <a:latin typeface="Calibri" pitchFamily="34" charset="0"/>
                <a:cs typeface="Calibri" pitchFamily="34" charset="0"/>
              </a:rPr>
              <a:t>in </a:t>
            </a:r>
            <a:r>
              <a:rPr lang="en-US" sz="2900" spc="-5" dirty="0">
                <a:latin typeface="Calibri" pitchFamily="34" charset="0"/>
                <a:cs typeface="Calibri" pitchFamily="34" charset="0"/>
              </a:rPr>
              <a:t>this </a:t>
            </a:r>
            <a:r>
              <a:rPr lang="en-US" sz="2900" spc="-10" dirty="0">
                <a:latin typeface="Calibri" pitchFamily="34" charset="0"/>
                <a:cs typeface="Calibri" pitchFamily="34" charset="0"/>
              </a:rPr>
              <a:t>term </a:t>
            </a:r>
            <a:r>
              <a:rPr lang="en-US" sz="2900" dirty="0">
                <a:latin typeface="Calibri" pitchFamily="34" charset="0"/>
                <a:cs typeface="Calibri" pitchFamily="34" charset="0"/>
              </a:rPr>
              <a:t>is </a:t>
            </a:r>
            <a:r>
              <a:rPr lang="en-US" sz="2900" spc="-5" dirty="0">
                <a:latin typeface="Calibri" pitchFamily="34" charset="0"/>
                <a:cs typeface="Calibri" pitchFamily="34" charset="0"/>
              </a:rPr>
              <a:t>the </a:t>
            </a:r>
            <a:r>
              <a:rPr lang="en-US" sz="2900" spc="5" dirty="0">
                <a:latin typeface="Calibri" pitchFamily="34" charset="0"/>
                <a:cs typeface="Calibri" pitchFamily="34" charset="0"/>
              </a:rPr>
              <a:t>time </a:t>
            </a:r>
            <a:r>
              <a:rPr lang="en-US" sz="2900" spc="-25" dirty="0">
                <a:latin typeface="Calibri" pitchFamily="34" charset="0"/>
                <a:cs typeface="Calibri" pitchFamily="34" charset="0"/>
              </a:rPr>
              <a:t>period  </a:t>
            </a:r>
            <a:r>
              <a:rPr lang="en-US" sz="2900" spc="-20" dirty="0">
                <a:latin typeface="Calibri" pitchFamily="34" charset="0"/>
                <a:cs typeface="Calibri" pitchFamily="34" charset="0"/>
              </a:rPr>
              <a:t>covered </a:t>
            </a:r>
            <a:r>
              <a:rPr lang="en-US" sz="2900" spc="-15" dirty="0">
                <a:latin typeface="Calibri" pitchFamily="34" charset="0"/>
                <a:cs typeface="Calibri" pitchFamily="34" charset="0"/>
              </a:rPr>
              <a:t>by </a:t>
            </a:r>
            <a:r>
              <a:rPr lang="en-US" sz="2900" dirty="0">
                <a:latin typeface="Calibri" pitchFamily="34" charset="0"/>
                <a:cs typeface="Calibri" pitchFamily="34" charset="0"/>
              </a:rPr>
              <a:t>a </a:t>
            </a:r>
            <a:r>
              <a:rPr lang="en-US" sz="2900" spc="-10" dirty="0">
                <a:latin typeface="Calibri" pitchFamily="34" charset="0"/>
                <a:cs typeface="Calibri" pitchFamily="34" charset="0"/>
              </a:rPr>
              <a:t>seller's</a:t>
            </a:r>
            <a:r>
              <a:rPr lang="en-US" sz="2900" spc="40" dirty="0">
                <a:latin typeface="Calibri" pitchFamily="34" charset="0"/>
                <a:cs typeface="Calibri" pitchFamily="34" charset="0"/>
              </a:rPr>
              <a:t> </a:t>
            </a:r>
            <a:r>
              <a:rPr lang="en-US" sz="2900" spc="-30" dirty="0">
                <a:latin typeface="Calibri" pitchFamily="34" charset="0"/>
                <a:cs typeface="Calibri" pitchFamily="34" charset="0"/>
              </a:rPr>
              <a:t>warranty.</a:t>
            </a:r>
            <a:endParaRPr lang="en-US" sz="2900" dirty="0">
              <a:latin typeface="Calibri" pitchFamily="34" charset="0"/>
              <a:cs typeface="Calibri" pitchFamily="34" charset="0"/>
            </a:endParaRPr>
          </a:p>
          <a:p>
            <a:endParaRPr lang="en-US" dirty="0"/>
          </a:p>
        </p:txBody>
      </p:sp>
    </p:spTree>
    <p:extLst>
      <p:ext uri="{BB962C8B-B14F-4D97-AF65-F5344CB8AC3E}">
        <p14:creationId xmlns:p14="http://schemas.microsoft.com/office/powerpoint/2010/main" val="1314589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4" name="Picture 2" descr="D:\sumi1\PROJECT\HRM\GRP Presentation\final\pics\template_ma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8760"/>
            <a:ext cx="9144000" cy="60026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355976" y="2276872"/>
            <a:ext cx="4428445" cy="646331"/>
          </a:xfrm>
          <a:prstGeom prst="rect">
            <a:avLst/>
          </a:prstGeom>
          <a:noFill/>
        </p:spPr>
        <p:txBody>
          <a:bodyPr wrap="square" rtlCol="0">
            <a:spAutoFit/>
          </a:bodyPr>
          <a:lstStyle/>
          <a:p>
            <a:r>
              <a:rPr lang="en-US" sz="3600" b="1" dirty="0">
                <a:latin typeface="Georgia" pitchFamily="18" charset="0"/>
              </a:rPr>
              <a:t>THANK YOU</a:t>
            </a:r>
          </a:p>
        </p:txBody>
      </p:sp>
    </p:spTree>
    <p:extLst>
      <p:ext uri="{BB962C8B-B14F-4D97-AF65-F5344CB8AC3E}">
        <p14:creationId xmlns:p14="http://schemas.microsoft.com/office/powerpoint/2010/main" val="1723667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7791</TotalTime>
  <Words>1732</Words>
  <Application>Microsoft Office PowerPoint</Application>
  <PresentationFormat>On-screen Show (4:3)</PresentationFormat>
  <Paragraphs>123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Carlito</vt:lpstr>
      <vt:lpstr>Georgia</vt:lpstr>
      <vt:lpstr>Office Theme</vt:lpstr>
      <vt:lpstr>PROJECT PROCUREMENT MANAGEMENT</vt:lpstr>
      <vt:lpstr>WHAT IS PROCUREMENT</vt:lpstr>
      <vt:lpstr>Project Procurement Management</vt:lpstr>
      <vt:lpstr>Buyer-Seller Relationship</vt:lpstr>
      <vt:lpstr>Centralized vs. Decentralized Procurement </vt:lpstr>
      <vt:lpstr>PROCUREMENT MANAGEMENT PROCESS</vt:lpstr>
      <vt:lpstr>PROCUREMENT MANAGEMENT PROCESS</vt:lpstr>
      <vt:lpstr>Plan Procurement Management</vt:lpstr>
      <vt:lpstr>Activities in Plan Procurement Management</vt:lpstr>
      <vt:lpstr>CONDUCT PROCUREMENT</vt:lpstr>
      <vt:lpstr>Activities in Conduct Procurement</vt:lpstr>
      <vt:lpstr>Activities in Conduct Procurement</vt:lpstr>
      <vt:lpstr>Activities in Conduct Procurement</vt:lpstr>
      <vt:lpstr>Control Procurement</vt:lpstr>
      <vt:lpstr>Activities in Control Procurement</vt:lpstr>
      <vt:lpstr>CONTRACT</vt:lpstr>
      <vt:lpstr>TYPES OF CONTRACT</vt:lpstr>
      <vt:lpstr>FIXED PRICE CONTRACT</vt:lpstr>
      <vt:lpstr>TIME &amp; MATERIAL CONTRACT</vt:lpstr>
      <vt:lpstr>COST REIMBURSEMENT</vt:lpstr>
      <vt:lpstr>Few Contractual Terms</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sajid mahmood BUKC</cp:lastModifiedBy>
  <cp:revision>514</cp:revision>
  <dcterms:created xsi:type="dcterms:W3CDTF">2013-08-21T19:17:07Z</dcterms:created>
  <dcterms:modified xsi:type="dcterms:W3CDTF">2025-05-31T09:26:47Z</dcterms:modified>
</cp:coreProperties>
</file>