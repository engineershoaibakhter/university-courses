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4" r:id="rId3"/>
    <p:sldId id="279" r:id="rId4"/>
    <p:sldId id="271" r:id="rId5"/>
    <p:sldId id="272" r:id="rId6"/>
    <p:sldId id="273" r:id="rId7"/>
    <p:sldId id="270" r:id="rId8"/>
    <p:sldId id="264" r:id="rId9"/>
    <p:sldId id="265" r:id="rId10"/>
    <p:sldId id="275" r:id="rId11"/>
    <p:sldId id="266" r:id="rId12"/>
    <p:sldId id="276" r:id="rId13"/>
    <p:sldId id="267" r:id="rId14"/>
    <p:sldId id="277" r:id="rId15"/>
    <p:sldId id="257" r:id="rId16"/>
    <p:sldId id="258" r:id="rId17"/>
    <p:sldId id="259" r:id="rId18"/>
    <p:sldId id="260" r:id="rId19"/>
    <p:sldId id="261" r:id="rId20"/>
    <p:sldId id="262" r:id="rId21"/>
    <p:sldId id="284" r:id="rId22"/>
    <p:sldId id="268" r:id="rId23"/>
    <p:sldId id="280" r:id="rId24"/>
    <p:sldId id="283" r:id="rId25"/>
    <p:sldId id="282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E1D"/>
    <a:srgbClr val="008000"/>
    <a:srgbClr val="D68B1C"/>
    <a:srgbClr val="D09622"/>
    <a:srgbClr val="157FFF"/>
    <a:srgbClr val="F7E289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9288" autoAdjust="0"/>
  </p:normalViewPr>
  <p:slideViewPr>
    <p:cSldViewPr>
      <p:cViewPr varScale="1">
        <p:scale>
          <a:sx n="87" d="100"/>
          <a:sy n="87" d="100"/>
        </p:scale>
        <p:origin x="141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77FDDC4-42F5-40E5-88DD-61D411D26C02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4DD780A-47E4-466A-B608-18FAF6E45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70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8FEF12B-7DAB-4457-AC60-EAA0DAD6BCF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434123-F2F4-4EED-A50E-42F1E7A18F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3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34123-F2F4-4EED-A50E-42F1E7A18F5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8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2207360"/>
            <a:ext cx="7772400" cy="763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4039820"/>
            <a:ext cx="6400800" cy="1068935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527605"/>
            <a:ext cx="8229600" cy="61082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43835"/>
            <a:ext cx="7482545" cy="458115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527605"/>
            <a:ext cx="7016195" cy="68488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0" y="1443835"/>
            <a:ext cx="7016195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010" y="527605"/>
            <a:ext cx="6244435" cy="53218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671" y="1596540"/>
            <a:ext cx="3817624" cy="639762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671" y="2226403"/>
            <a:ext cx="3817624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705" y="1596540"/>
            <a:ext cx="397033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705" y="2226403"/>
            <a:ext cx="3970330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rct=j&amp;q=&amp;esrc=s&amp;source=images&amp;cd=&amp;ved=2ahUKEwj88pfQpqffAhUN-YUKHZMyAOMQjRx6BAgBEAU&amp;url=http://lighthouseinsights.in/creative-promotions-by-brands-and-the-dabbawalas-of-mumbai.html/&amp;psig=AOvVaw3-BZvvl3V8nvlV1CStVCF1&amp;ust=154515105823724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roject-management.info/earned-value-analysis-management-eva-ev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132" name="AutoShape 4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387" y="1714488"/>
            <a:ext cx="2468880" cy="65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8" descr="Slideheader01"/>
          <p:cNvSpPr>
            <a:spLocks noGrp="1" noChangeArrowheads="1"/>
          </p:cNvSpPr>
          <p:nvPr>
            <p:ph type="ctrTitle"/>
          </p:nvPr>
        </p:nvSpPr>
        <p:spPr>
          <a:xfrm>
            <a:off x="2627785" y="2179885"/>
            <a:ext cx="6515482" cy="1321123"/>
          </a:xfrm>
          <a:noFill/>
          <a:extLst>
            <a:ext uri="{909E8E84-426E-40DD-AFC4-6F175D3DCCD1}">
              <a14:hiddenFill xmlns:a14="http://schemas.microsoft.com/office/drawing/2010/main">
                <a:blipFill dpi="0" rotWithShape="1">
                  <a:blip r:embed="rId5"/>
                  <a:srcRect/>
                  <a:stretch>
                    <a:fillRect/>
                  </a:stretch>
                </a:blipFill>
              </a14:hiddenFill>
            </a:ext>
          </a:extLst>
        </p:spPr>
        <p:txBody>
          <a:bodyPr>
            <a:noAutofit/>
          </a:bodyPr>
          <a:lstStyle/>
          <a:p>
            <a:pPr indent="0" algn="ctr" eaLnBrk="1" hangingPunct="1"/>
            <a:r>
              <a:rPr lang="en-US" sz="3200" b="1" dirty="0" smtClean="0">
                <a:solidFill>
                  <a:schemeClr val="tx1"/>
                </a:solidFill>
              </a:rPr>
              <a:t>Earned Value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4168" y="5805264"/>
            <a:ext cx="3044950" cy="1443835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 smtClean="0">
                <a:solidFill>
                  <a:schemeClr val="bg1">
                    <a:lumMod val="95000"/>
                  </a:schemeClr>
                </a:solidFill>
                <a:latin typeface="Georgia" pitchFamily="18" charset="0"/>
              </a:rPr>
              <a:t>LECTURE # 10</a:t>
            </a:r>
          </a:p>
          <a:p>
            <a:pPr algn="ctr"/>
            <a:endParaRPr lang="en-US" sz="2000" b="1" i="1" dirty="0" smtClean="0">
              <a:solidFill>
                <a:schemeClr val="bg1">
                  <a:lumMod val="95000"/>
                </a:schemeClr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2" y="260648"/>
            <a:ext cx="5832648" cy="610820"/>
          </a:xfrm>
        </p:spPr>
        <p:txBody>
          <a:bodyPr>
            <a:noAutofit/>
          </a:bodyPr>
          <a:lstStyle/>
          <a:p>
            <a:pPr algn="ctr"/>
            <a:r>
              <a:rPr lang="en-US" dirty="0" smtClean="0"/>
              <a:t>What are the POSSIBLE </a:t>
            </a:r>
            <a:br>
              <a:rPr lang="en-US" dirty="0" smtClean="0"/>
            </a:br>
            <a:r>
              <a:rPr lang="en-US" dirty="0" smtClean="0"/>
              <a:t>NIGHTMARES for PM???</a:t>
            </a:r>
            <a:endParaRPr lang="en-US" dirty="0"/>
          </a:p>
        </p:txBody>
      </p:sp>
      <p:pic>
        <p:nvPicPr>
          <p:cNvPr id="5122" name="Picture 2" descr="D:\bahria 2019\FOPM\Sumaiya\Lecture 9\PREP 4\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D:\bahria 2019\FOPM\Sumaiya\Lecture 9\PREP 4\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9160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02" y="1443835"/>
            <a:ext cx="8642162" cy="4581150"/>
          </a:xfrm>
        </p:spPr>
        <p:txBody>
          <a:bodyPr/>
          <a:lstStyle/>
          <a:p>
            <a:r>
              <a:rPr lang="en-US" dirty="0" smtClean="0"/>
              <a:t>Leadership teams wants to know 2 simple questions:</a:t>
            </a:r>
          </a:p>
          <a:p>
            <a:endParaRPr lang="en-US" dirty="0"/>
          </a:p>
        </p:txBody>
      </p:sp>
      <p:pic>
        <p:nvPicPr>
          <p:cNvPr id="10242" name="Picture 2" descr="D:\bahria 2019\FOPM\Sumaiya\Lecture 9\PREP 4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48880"/>
            <a:ext cx="6912768" cy="407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9087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 4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9217024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:\bahria 2019\FOPM\Sumaiya\Lecture 9\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26" y="4923606"/>
            <a:ext cx="3362274" cy="188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4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EARNED VALUE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9\PREP 4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8425"/>
            <a:ext cx="9144000" cy="558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77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39" y="332656"/>
            <a:ext cx="5852135" cy="610820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/>
              <a:t>EVM</a:t>
            </a:r>
            <a:endParaRPr lang="en-US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196752"/>
            <a:ext cx="87129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EVM is a widely used scientific approach to measure, analyze and integrate project data to accurate report on current project status and also help us forecast the required performance.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result from Earned value analysis indicating potential deviation from the project from cost or schedule base line.</a:t>
            </a:r>
          </a:p>
          <a:p>
            <a:endParaRPr lang="en-US" sz="2400" b="1" u="sng" dirty="0"/>
          </a:p>
          <a:p>
            <a:r>
              <a:rPr lang="en-US" sz="2400" b="1" u="sng" dirty="0" smtClean="0"/>
              <a:t> CORE PROMISES: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How much will it cost?--- Promise!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How much did I get the work done?---Performance!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How much did it actually cost? ---</a:t>
            </a:r>
            <a:r>
              <a:rPr lang="en-US" sz="2400" dirty="0"/>
              <a:t>Reality!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56125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87" y="332656"/>
            <a:ext cx="5420087" cy="610820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/>
              <a:t>EVM helps….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8640960" cy="5976664"/>
          </a:xfrm>
        </p:spPr>
        <p:txBody>
          <a:bodyPr>
            <a:noAutofit/>
          </a:bodyPr>
          <a:lstStyle/>
          <a:p>
            <a:endParaRPr lang="en-US" sz="2500" dirty="0" smtClean="0"/>
          </a:p>
          <a:p>
            <a:r>
              <a:rPr lang="en-US" sz="2500" dirty="0" smtClean="0"/>
              <a:t>When the initiative will be completed?</a:t>
            </a:r>
          </a:p>
          <a:p>
            <a:r>
              <a:rPr lang="en-US" sz="2500" dirty="0"/>
              <a:t>Amount of work actually </a:t>
            </a:r>
            <a:r>
              <a:rPr lang="en-US" sz="2500" dirty="0" smtClean="0"/>
              <a:t>accomplished</a:t>
            </a:r>
          </a:p>
          <a:p>
            <a:r>
              <a:rPr lang="en-US" sz="2500" dirty="0" smtClean="0"/>
              <a:t>How well a project is performing in terms of schedule &amp; cost?</a:t>
            </a:r>
          </a:p>
          <a:p>
            <a:r>
              <a:rPr lang="en-US" sz="2500" dirty="0" smtClean="0"/>
              <a:t>Are we ahead or behind schedule? Are we over or under cost?</a:t>
            </a:r>
          </a:p>
          <a:p>
            <a:r>
              <a:rPr lang="en-US" sz="2500" dirty="0" smtClean="0"/>
              <a:t>How efficient are we utilizing our resources?</a:t>
            </a:r>
          </a:p>
          <a:p>
            <a:r>
              <a:rPr lang="en-US" sz="2500" dirty="0" smtClean="0"/>
              <a:t>Helps forecast how well a project will perform in future?</a:t>
            </a:r>
          </a:p>
          <a:p>
            <a:r>
              <a:rPr lang="en-US" sz="2500" dirty="0" smtClean="0"/>
              <a:t>Will we be under or over budget in future?</a:t>
            </a:r>
          </a:p>
          <a:p>
            <a:r>
              <a:rPr lang="en-US" sz="2500" dirty="0" smtClean="0"/>
              <a:t>If and when additional funding is required?</a:t>
            </a:r>
          </a:p>
          <a:p>
            <a:r>
              <a:rPr lang="en-US" sz="2500" dirty="0" smtClean="0"/>
              <a:t>What questions should be ask to fix the project issues</a:t>
            </a:r>
          </a:p>
          <a:p>
            <a:r>
              <a:rPr lang="en-US" sz="2500" dirty="0" smtClean="0"/>
              <a:t>Anticipate if action plans needs to be in place ( proactive than reactive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3950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3847" y="332656"/>
            <a:ext cx="578012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Earned Value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Earned value management:</a:t>
            </a:r>
            <a:r>
              <a:rPr lang="en-US" dirty="0"/>
              <a:t> uses a set of formulas to help measure the progress of a project against the plan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the </a:t>
            </a:r>
            <a:r>
              <a:rPr lang="en-US" dirty="0">
                <a:hlinkClick r:id="rId2"/>
              </a:rPr>
              <a:t>earned value management measures</a:t>
            </a:r>
            <a:r>
              <a:rPr lang="en-US" dirty="0"/>
              <a:t> that are used for controlling project cost indicate significant variances from the budget, a re-estimation of the cost and schedule and a revisiting of the overall budget can be inevitable.</a:t>
            </a:r>
          </a:p>
        </p:txBody>
      </p:sp>
      <p:pic>
        <p:nvPicPr>
          <p:cNvPr id="1026" name="Picture 2" descr="D:\bahria 2019\FOPM\Sumaiya\Lecture 9\PREP 1\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3" y="1124744"/>
            <a:ext cx="9007563" cy="588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D:\bahria 2019\FOPM\Sumaiya\Lecture 9\PREP 4\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437111"/>
            <a:ext cx="5112568" cy="206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35896" y="3933056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EVA BALANCING FACTOR: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2389407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1" y="527605"/>
            <a:ext cx="5564103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PLANNED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 1\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928992" cy="596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71785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3" y="527605"/>
            <a:ext cx="707627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PLANNED VALUE (PV)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:\bahria 2019\FOPM\Sumaiya\Lecture 9\PREP 4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11" y="1196752"/>
            <a:ext cx="9153111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048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476672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EARNED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9\PREP 1\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9" y="1196752"/>
            <a:ext cx="9118881" cy="586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2030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2393" y="404664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EARNED VALUE (EV)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bahria 2019\FOPM\Sumaiya\Lecture 9\PREP 4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" y="1196752"/>
            <a:ext cx="9030066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3054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527605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ACTUAL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:\bahria 2019\FOPM\Sumaiya\Lecture 9\PREP 1\2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1"/>
            <a:ext cx="9036496" cy="579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131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1" y="441916"/>
            <a:ext cx="5564103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ACTUAL COST (AC)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D:\bahria 2019\FOPM\Sumaiya\Lecture 9\PREP 4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68760"/>
            <a:ext cx="9036496" cy="542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60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87" y="527605"/>
            <a:ext cx="542008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TERMS TO KNOW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658397"/>
              </p:ext>
            </p:extLst>
          </p:nvPr>
        </p:nvGraphicFramePr>
        <p:xfrm>
          <a:off x="251520" y="1268758"/>
          <a:ext cx="8640961" cy="5509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085">
                <a:tc>
                  <a:txBody>
                    <a:bodyPr/>
                    <a:lstStyle/>
                    <a:p>
                      <a:r>
                        <a:rPr lang="en-US" dirty="0" smtClean="0"/>
                        <a:t>Acronym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Interpretation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045">
                <a:tc>
                  <a:txBody>
                    <a:bodyPr/>
                    <a:lstStyle/>
                    <a:p>
                      <a:r>
                        <a:rPr lang="en-US" dirty="0" smtClean="0"/>
                        <a:t>PV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Planned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 of today,</a:t>
                      </a:r>
                      <a:r>
                        <a:rPr lang="en-US" baseline="0" dirty="0" smtClean="0"/>
                        <a:t> what is the estimated value of the work planned to be done 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US" dirty="0" smtClean="0"/>
                        <a:t>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Earned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 of today what is the estimated value of the work actually accomplished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242">
                <a:tc>
                  <a:txBody>
                    <a:bodyPr/>
                    <a:lstStyle/>
                    <a:p>
                      <a:r>
                        <a:rPr lang="en-US" dirty="0" smtClean="0"/>
                        <a:t>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 of</a:t>
                      </a:r>
                      <a:r>
                        <a:rPr lang="en-US" baseline="0" dirty="0" smtClean="0"/>
                        <a:t> today, what is the actual cost incurred for the work accomplished?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242">
                <a:tc>
                  <a:txBody>
                    <a:bodyPr/>
                    <a:lstStyle/>
                    <a:p>
                      <a:r>
                        <a:rPr lang="en-US" dirty="0" smtClean="0"/>
                        <a:t>BAC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Budget at Completion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How much did we budget for the total budget effort?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242">
                <a:tc>
                  <a:txBody>
                    <a:bodyPr/>
                    <a:lstStyle/>
                    <a:p>
                      <a:r>
                        <a:rPr lang="en-US" dirty="0" smtClean="0"/>
                        <a:t>EAC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Estimate at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complete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What do we currently expect the total budget to cost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242">
                <a:tc>
                  <a:txBody>
                    <a:bodyPr/>
                    <a:lstStyle/>
                    <a:p>
                      <a:r>
                        <a:rPr lang="en-US" dirty="0" smtClean="0"/>
                        <a:t>ETC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Estimate to complete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From this point on how much do</a:t>
                      </a:r>
                      <a:r>
                        <a:rPr lang="en-US" baseline="0" dirty="0" smtClean="0"/>
                        <a:t> we expect it to cost to finish the project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085">
                <a:tc>
                  <a:txBody>
                    <a:bodyPr/>
                    <a:lstStyle/>
                    <a:p>
                      <a:r>
                        <a:rPr lang="en-US" dirty="0" smtClean="0"/>
                        <a:t>VAC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Variance at completion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 of today how much over or under budget do we expect to be at the end of the project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2127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1763688" y="2060848"/>
            <a:ext cx="6048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63688" y="3212976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427984" y="1772816"/>
            <a:ext cx="0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763688" y="1772816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63688" y="292494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427984" y="4005064"/>
            <a:ext cx="4032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812360" y="1772816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460432" y="3753036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63688" y="162880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PV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916088" y="27402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AC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048164" y="343107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ETC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064388" y="341236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EAC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416316" y="144413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BAC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3049" y="1692097"/>
            <a:ext cx="161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Original Spending plan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25785" y="2884584"/>
            <a:ext cx="1618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Actual Spending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157014" y="3753036"/>
            <a:ext cx="161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Forecast Spending Plan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1178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FORMULAS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250248"/>
              </p:ext>
            </p:extLst>
          </p:nvPr>
        </p:nvGraphicFramePr>
        <p:xfrm>
          <a:off x="0" y="0"/>
          <a:ext cx="9144000" cy="6721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5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14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FORMULA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INTERPRETATION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90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BAC x Planned % complete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Authorized budget assigned to the scheduled work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90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BAC x actual % complete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Actual project value you have earned</a:t>
                      </a:r>
                      <a:r>
                        <a:rPr lang="en-US" sz="1400" baseline="0" dirty="0" smtClean="0"/>
                        <a:t> you have completed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4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The actual amount you have spend on the project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67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Cost Variance (CV)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EV-AC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 smtClean="0"/>
                        <a:t>is over budget;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dirty="0" smtClean="0"/>
                        <a:t>+</a:t>
                      </a:r>
                      <a:r>
                        <a:rPr lang="en-US" sz="1400" baseline="0" dirty="0" smtClean="0"/>
                        <a:t> is under budget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Schedule Variance (SV)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EV-PV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 smtClean="0"/>
                        <a:t>is behind schedule;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dirty="0" smtClean="0"/>
                        <a:t>+</a:t>
                      </a:r>
                      <a:r>
                        <a:rPr lang="en-US" sz="1400" baseline="0" dirty="0" smtClean="0"/>
                        <a:t> is ahead of schedule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68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Cost</a:t>
                      </a:r>
                      <a:r>
                        <a:rPr lang="en-US" sz="1400" baseline="0" dirty="0" smtClean="0"/>
                        <a:t> Performance Index (CPI)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EV/AC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 are getting $_______worth of work out of every$1.</a:t>
                      </a:r>
                    </a:p>
                    <a:p>
                      <a:r>
                        <a:rPr lang="en-US" sz="1400" dirty="0" smtClean="0"/>
                        <a:t>Funds are or not efficiently used.</a:t>
                      </a:r>
                    </a:p>
                    <a:p>
                      <a:r>
                        <a:rPr lang="en-US" sz="1400" dirty="0" smtClean="0"/>
                        <a:t>Greater</a:t>
                      </a:r>
                      <a:r>
                        <a:rPr lang="en-US" sz="1400" baseline="0" dirty="0" smtClean="0"/>
                        <a:t> than 1 is good and less than 1 is bad.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067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Schedule</a:t>
                      </a:r>
                      <a:r>
                        <a:rPr lang="en-US" sz="1400" baseline="0" dirty="0" smtClean="0"/>
                        <a:t> Performance Index  (SPI)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EV/PV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 are progressing at __% of the rate originally planned. Greater than 1 is good and less than 1 is bad.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067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Estimate</a:t>
                      </a:r>
                      <a:r>
                        <a:rPr lang="en-US" sz="1400" baseline="0" dirty="0" smtClean="0"/>
                        <a:t> at completion (EAC)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BAC/CPI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As</a:t>
                      </a:r>
                      <a:r>
                        <a:rPr lang="en-US" sz="1400" baseline="0" dirty="0" smtClean="0"/>
                        <a:t> of now how much do we expect the total budget to cost.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5573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Estimate</a:t>
                      </a:r>
                      <a:r>
                        <a:rPr lang="en-US" sz="1400" baseline="0" dirty="0" smtClean="0"/>
                        <a:t> to completion (ETC)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EAC-AC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Total project cost as of</a:t>
                      </a:r>
                      <a:r>
                        <a:rPr lang="en-US" sz="1400" baseline="0" dirty="0" smtClean="0"/>
                        <a:t> today minus what has been spent to date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830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Variance at Completion (VAC)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BAC-EAC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How much over or under budget we will be at the end of project?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277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3847" y="441916"/>
            <a:ext cx="578012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84976" cy="54006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The project manager team meeting calls a team meeting and says,” We are six months into a million dollar project, and my latest analysis shows a CPI of 1.2 and SPI of 0.89. This means we are getting $ 1.2 for every dollar we put in project, but only progressing at 89% of the rate originally planned. Lets look for options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a</a:t>
            </a:r>
            <a:r>
              <a:rPr lang="en-US" sz="2400" dirty="0"/>
              <a:t>) Network specialist suggests she should be replaced by some less expensive member.</a:t>
            </a:r>
          </a:p>
          <a:p>
            <a:r>
              <a:rPr lang="en-US" sz="2400" dirty="0"/>
              <a:t>b) </a:t>
            </a:r>
            <a:r>
              <a:rPr lang="en-US" sz="2400" dirty="0" smtClean="0"/>
              <a:t>IT </a:t>
            </a:r>
            <a:r>
              <a:rPr lang="en-US" sz="2400" dirty="0"/>
              <a:t>manager suggests either removing purchase of new computers from project or telling client it will be two weeks delayed.</a:t>
            </a:r>
          </a:p>
          <a:p>
            <a:r>
              <a:rPr lang="en-US" sz="2400" dirty="0"/>
              <a:t>c) Another team member suggests that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another </a:t>
            </a:r>
            <a:r>
              <a:rPr lang="en-US" sz="2400" dirty="0"/>
              <a:t>programmer from IT department </a:t>
            </a:r>
            <a:r>
              <a:rPr lang="en-US" sz="2400" dirty="0" smtClean="0"/>
              <a:t>should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be called-in to get the activities done more quickly.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026" name="Picture 2" descr="D:\bahria 2019\FOPM\Sumaiya\Lecture 9\PREP 3\NEW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722" y="5168560"/>
            <a:ext cx="2906278" cy="170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5488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87" y="476672"/>
            <a:ext cx="542008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640960" cy="450914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You have a project to build a new fence. The fence will form a square. Each side will take 1 day to complete and 1000$ budgeted for each side. The sides are planned to be completed one after another. Today is end of Day 3</a:t>
            </a:r>
          </a:p>
          <a:p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68787"/>
              </p:ext>
            </p:extLst>
          </p:nvPr>
        </p:nvGraphicFramePr>
        <p:xfrm>
          <a:off x="467546" y="2492896"/>
          <a:ext cx="8352924" cy="401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2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8859"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Day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Day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Day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Day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Status End of Day 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859">
                <a:tc>
                  <a:txBody>
                    <a:bodyPr/>
                    <a:lstStyle/>
                    <a:p>
                      <a:r>
                        <a:rPr lang="en-US" dirty="0" smtClean="0"/>
                        <a:t>SIDE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Complete,</a:t>
                      </a:r>
                      <a:r>
                        <a:rPr lang="en-US" baseline="0" dirty="0" smtClean="0"/>
                        <a:t> spent $ 1000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59">
                <a:tc>
                  <a:txBody>
                    <a:bodyPr/>
                    <a:lstStyle/>
                    <a:p>
                      <a:r>
                        <a:rPr lang="en-US" dirty="0" smtClean="0"/>
                        <a:t>SIDE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Complete, Spent $ 1200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59">
                <a:tc>
                  <a:txBody>
                    <a:bodyPr/>
                    <a:lstStyle/>
                    <a:p>
                      <a:r>
                        <a:rPr lang="en-US" dirty="0" smtClean="0"/>
                        <a:t>SIDE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 done; spent</a:t>
                      </a:r>
                      <a:r>
                        <a:rPr lang="en-US" baseline="0" dirty="0" smtClean="0"/>
                        <a:t> $600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859">
                <a:tc>
                  <a:txBody>
                    <a:bodyPr/>
                    <a:lstStyle/>
                    <a:p>
                      <a:r>
                        <a:rPr lang="en-US" dirty="0" smtClean="0"/>
                        <a:t>SIDE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yet</a:t>
                      </a:r>
                      <a:r>
                        <a:rPr lang="en-US" baseline="0" dirty="0" smtClean="0"/>
                        <a:t> started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8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6012160" y="2348880"/>
            <a:ext cx="0" cy="4176464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886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478767"/>
              </p:ext>
            </p:extLst>
          </p:nvPr>
        </p:nvGraphicFramePr>
        <p:xfrm>
          <a:off x="179511" y="1412772"/>
          <a:ext cx="8640960" cy="4756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919">
                <a:tc>
                  <a:txBody>
                    <a:bodyPr/>
                    <a:lstStyle/>
                    <a:p>
                      <a:r>
                        <a:rPr lang="en-US" dirty="0" smtClean="0"/>
                        <a:t>What</a:t>
                      </a:r>
                      <a:r>
                        <a:rPr lang="en-US" baseline="0" dirty="0" smtClean="0"/>
                        <a:t> 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Calculation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Answer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Interpretation of the answer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PV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BAC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CV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SV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CPI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SPI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EAC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ETC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336">
                <a:tc>
                  <a:txBody>
                    <a:bodyPr/>
                    <a:lstStyle/>
                    <a:p>
                      <a:r>
                        <a:rPr lang="en-US" dirty="0" smtClean="0"/>
                        <a:t>VAC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2093785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should have done $3000 worth of work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5610461" y="2523184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should have completed $2500 worth of work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580112" y="2863969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should have  actually spent $2800 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652120" y="3224009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Our project budget is $4000 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0" y="3584049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are over budget by $300 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652120" y="3944089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are behind schedule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436096" y="4221088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are only getting about 89 cents out of every dollar we put  into the project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436096" y="4797152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are only progressing at about 83% of the rate planned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436096" y="5013176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are currently estimated that the total project will cost </a:t>
            </a:r>
          </a:p>
          <a:p>
            <a:r>
              <a:rPr lang="en-US" sz="1200" dirty="0" smtClean="0"/>
              <a:t>$ 4479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5436096" y="5445224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need to spend additional $ 1679 to finish the project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436096" y="58162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currently expect to be $ 479 over budget when project is complete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849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0" y="1443835"/>
            <a:ext cx="7765830" cy="50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D:\bahria 2019\FOPM\Sumaiya\Lecture 9\PREP 1\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" y="1124744"/>
            <a:ext cx="9017207" cy="5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8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40" y="260648"/>
            <a:ext cx="5348079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are a project manager on a project that has $800,000 software development effort. There are two teams of programmers that will work for the six months for a total of 10,000 hours. According to the project schedule your team should be done with 38% of the work. As of today, the project is 40% complete while 50% of the project is consumed. Calculate and share your conclusions.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5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48880"/>
            <a:ext cx="3168352" cy="2886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54636"/>
            <a:ext cx="3024336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1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  <a:latin typeface="Georgia" pitchFamily="18" charset="0"/>
              </a:rPr>
              <a:t>Conclusions</a:t>
            </a:r>
            <a:endParaRPr lang="en-US" b="1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4098" name="Picture 2" descr="D:\sumi1\PROJECT\HRM\GRP Presentation\final\pics\template_mai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04856"/>
            <a:ext cx="9095554" cy="816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0" y="374900"/>
            <a:ext cx="4428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Georgia" pitchFamily="18" charset="0"/>
              </a:rPr>
              <a:t>THANK YOU</a:t>
            </a:r>
            <a:endParaRPr lang="en-US" sz="3600" b="1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0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6882</TotalTime>
  <Words>1020</Words>
  <Application>Microsoft Office PowerPoint</Application>
  <PresentationFormat>On-screen Show (4:3)</PresentationFormat>
  <Paragraphs>164</Paragraphs>
  <Slides>25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Earned Value Management</vt:lpstr>
      <vt:lpstr>What are the POSSIBLE  NIGHTMARES for PM???</vt:lpstr>
      <vt:lpstr>PowerPoint Presentation</vt:lpstr>
      <vt:lpstr>PowerPoint Presentation</vt:lpstr>
      <vt:lpstr>EARNED VALUE MANAGEMENT</vt:lpstr>
      <vt:lpstr>EVM</vt:lpstr>
      <vt:lpstr>EVM helps….</vt:lpstr>
      <vt:lpstr>Earned Value Analysis</vt:lpstr>
      <vt:lpstr>PLANNED VALUE</vt:lpstr>
      <vt:lpstr>PLANNED VALUE (PV)</vt:lpstr>
      <vt:lpstr>EARNED VALUE</vt:lpstr>
      <vt:lpstr>EARNED VALUE (EV)</vt:lpstr>
      <vt:lpstr>ACTUAL COST</vt:lpstr>
      <vt:lpstr>ACTUAL COST (AC)</vt:lpstr>
      <vt:lpstr>TERMS TO KNOW</vt:lpstr>
      <vt:lpstr>PowerPoint Presentation</vt:lpstr>
      <vt:lpstr>FORMULAS</vt:lpstr>
      <vt:lpstr>ACTIVITY</vt:lpstr>
      <vt:lpstr>EXERCISE</vt:lpstr>
      <vt:lpstr>PowerPoint Presentation</vt:lpstr>
      <vt:lpstr>PowerPoint Presentation</vt:lpstr>
      <vt:lpstr>PowerPoint Presentation</vt:lpstr>
      <vt:lpstr>ACTIVITY</vt:lpstr>
      <vt:lpstr>PowerPoint Presentation</vt:lpstr>
      <vt:lpstr>Conclusions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Bahria</cp:lastModifiedBy>
  <cp:revision>441</cp:revision>
  <cp:lastPrinted>2024-11-23T09:28:22Z</cp:lastPrinted>
  <dcterms:created xsi:type="dcterms:W3CDTF">2013-08-21T19:17:07Z</dcterms:created>
  <dcterms:modified xsi:type="dcterms:W3CDTF">2024-11-28T04:47:21Z</dcterms:modified>
</cp:coreProperties>
</file>