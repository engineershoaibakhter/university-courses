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7000"/>
  <p:notesSz cx="6858000" cy="9144000"/>
  <p:embeddedFontLst>
    <p:embeddedFont>
      <p:font typeface="Montserrat" panose="00000500000000000000" pitchFamily="2" charset="0"/>
      <p:regular r:id="rId21"/>
    </p:embeddedFont>
    <p:embeddedFont>
      <p:font typeface="Montserrat Bold" panose="00000800000000000000" charset="0"/>
      <p:regular r:id="rId22"/>
    </p:embeddedFont>
    <p:embeddedFont>
      <p:font typeface="Montserrat Bold Italics" panose="020B0604020202020204" charset="0"/>
      <p:regular r:id="rId23"/>
    </p:embeddedFont>
    <p:embeddedFont>
      <p:font typeface="Montserrat Italics" panose="020B0604020202020204" charset="0"/>
      <p:regular r:id="rId24"/>
    </p:embeddedFont>
    <p:embeddedFont>
      <p:font typeface="Montserrat Semi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92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94422" y="0"/>
            <a:ext cx="8793578" cy="10287000"/>
            <a:chOff x="0" y="0"/>
            <a:chExt cx="231600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6004" cy="2709333"/>
            </a:xfrm>
            <a:custGeom>
              <a:avLst/>
              <a:gdLst/>
              <a:ahLst/>
              <a:cxnLst/>
              <a:rect l="l" t="t" r="r" b="b"/>
              <a:pathLst>
                <a:path w="2316004" h="2709333">
                  <a:moveTo>
                    <a:pt x="0" y="0"/>
                  </a:moveTo>
                  <a:lnTo>
                    <a:pt x="2316004" y="0"/>
                  </a:lnTo>
                  <a:lnTo>
                    <a:pt x="23160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687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1600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120236" y="5390383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835902" y="1351194"/>
            <a:ext cx="6921188" cy="8935806"/>
          </a:xfrm>
          <a:custGeom>
            <a:avLst/>
            <a:gdLst/>
            <a:ahLst/>
            <a:cxnLst/>
            <a:rect l="l" t="t" r="r" b="b"/>
            <a:pathLst>
              <a:path w="6921188" h="8935806">
                <a:moveTo>
                  <a:pt x="0" y="0"/>
                </a:moveTo>
                <a:lnTo>
                  <a:pt x="6921188" y="0"/>
                </a:lnTo>
                <a:lnTo>
                  <a:pt x="6921188" y="8935806"/>
                </a:lnTo>
                <a:lnTo>
                  <a:pt x="0" y="8935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00339" y="6694044"/>
            <a:ext cx="6048082" cy="604808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8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1795987" y="1160694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122436" y="2276148"/>
            <a:ext cx="1503005" cy="150300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337464" y="6694044"/>
            <a:ext cx="2564256" cy="2564256"/>
          </a:xfrm>
          <a:custGeom>
            <a:avLst/>
            <a:gdLst/>
            <a:ahLst/>
            <a:cxnLst/>
            <a:rect l="l" t="t" r="r" b="b"/>
            <a:pathLst>
              <a:path w="2564256" h="2564256">
                <a:moveTo>
                  <a:pt x="0" y="0"/>
                </a:moveTo>
                <a:lnTo>
                  <a:pt x="2564256" y="0"/>
                </a:lnTo>
                <a:lnTo>
                  <a:pt x="2564256" y="2564256"/>
                </a:lnTo>
                <a:lnTo>
                  <a:pt x="0" y="25642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6250976" y="-1375640"/>
            <a:ext cx="2536334" cy="2536334"/>
          </a:xfrm>
          <a:custGeom>
            <a:avLst/>
            <a:gdLst/>
            <a:ahLst/>
            <a:cxnLst/>
            <a:rect l="l" t="t" r="r" b="b"/>
            <a:pathLst>
              <a:path w="2536334" h="2536334">
                <a:moveTo>
                  <a:pt x="0" y="0"/>
                </a:moveTo>
                <a:lnTo>
                  <a:pt x="2536334" y="0"/>
                </a:lnTo>
                <a:lnTo>
                  <a:pt x="2536334" y="2536334"/>
                </a:lnTo>
                <a:lnTo>
                  <a:pt x="0" y="25363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592082" y="2805482"/>
            <a:ext cx="7490765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dirty="0">
                <a:solidFill>
                  <a:srgbClr val="194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Agile Project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77973" y="2421764"/>
            <a:ext cx="11163629" cy="9093283"/>
          </a:xfrm>
          <a:custGeom>
            <a:avLst/>
            <a:gdLst/>
            <a:ahLst/>
            <a:cxnLst/>
            <a:rect l="l" t="t" r="r" b="b"/>
            <a:pathLst>
              <a:path w="11163629" h="9093283">
                <a:moveTo>
                  <a:pt x="0" y="0"/>
                </a:moveTo>
                <a:lnTo>
                  <a:pt x="11163629" y="0"/>
                </a:lnTo>
                <a:lnTo>
                  <a:pt x="11163629" y="9093283"/>
                </a:lnTo>
                <a:lnTo>
                  <a:pt x="0" y="9093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02181" y="3620001"/>
            <a:ext cx="8547694" cy="6030010"/>
          </a:xfrm>
          <a:custGeom>
            <a:avLst/>
            <a:gdLst/>
            <a:ahLst/>
            <a:cxnLst/>
            <a:rect l="l" t="t" r="r" b="b"/>
            <a:pathLst>
              <a:path w="8547694" h="6030010">
                <a:moveTo>
                  <a:pt x="0" y="0"/>
                </a:moveTo>
                <a:lnTo>
                  <a:pt x="8547694" y="0"/>
                </a:lnTo>
                <a:lnTo>
                  <a:pt x="8547694" y="6030010"/>
                </a:lnTo>
                <a:lnTo>
                  <a:pt x="0" y="6030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9144000" cy="7817355"/>
            <a:chOff x="0" y="0"/>
            <a:chExt cx="2408296" cy="20588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2058892"/>
            </a:xfrm>
            <a:custGeom>
              <a:avLst/>
              <a:gdLst/>
              <a:ahLst/>
              <a:cxnLst/>
              <a:rect l="l" t="t" r="r" b="b"/>
              <a:pathLst>
                <a:path w="2408296" h="2058892">
                  <a:moveTo>
                    <a:pt x="0" y="0"/>
                  </a:moveTo>
                  <a:lnTo>
                    <a:pt x="2408296" y="0"/>
                  </a:lnTo>
                  <a:lnTo>
                    <a:pt x="2408296" y="2058892"/>
                  </a:lnTo>
                  <a:lnTo>
                    <a:pt x="0" y="2058892"/>
                  </a:lnTo>
                  <a:close/>
                </a:path>
              </a:pathLst>
            </a:custGeom>
            <a:solidFill>
              <a:srgbClr val="1948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20969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4070" y="4293177"/>
            <a:ext cx="1324556" cy="132455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87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7817355"/>
            <a:ext cx="9144000" cy="2505140"/>
            <a:chOff x="0" y="0"/>
            <a:chExt cx="2408296" cy="6597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08296" cy="659790"/>
            </a:xfrm>
            <a:custGeom>
              <a:avLst/>
              <a:gdLst/>
              <a:ahLst/>
              <a:cxnLst/>
              <a:rect l="l" t="t" r="r" b="b"/>
              <a:pathLst>
                <a:path w="2408296" h="659790">
                  <a:moveTo>
                    <a:pt x="0" y="0"/>
                  </a:moveTo>
                  <a:lnTo>
                    <a:pt x="2408296" y="0"/>
                  </a:lnTo>
                  <a:lnTo>
                    <a:pt x="2408296" y="659790"/>
                  </a:lnTo>
                  <a:lnTo>
                    <a:pt x="0" y="659790"/>
                  </a:lnTo>
                  <a:close/>
                </a:path>
              </a:pathLst>
            </a:custGeom>
            <a:solidFill>
              <a:srgbClr val="2687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408296" cy="697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310889" y="1028700"/>
            <a:ext cx="948411" cy="948411"/>
          </a:xfrm>
          <a:custGeom>
            <a:avLst/>
            <a:gdLst/>
            <a:ahLst/>
            <a:cxnLst/>
            <a:rect l="l" t="t" r="r" b="b"/>
            <a:pathLst>
              <a:path w="948411" h="948411">
                <a:moveTo>
                  <a:pt x="0" y="0"/>
                </a:moveTo>
                <a:lnTo>
                  <a:pt x="948411" y="0"/>
                </a:lnTo>
                <a:lnTo>
                  <a:pt x="948411" y="948411"/>
                </a:lnTo>
                <a:lnTo>
                  <a:pt x="0" y="9484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877973" y="740702"/>
            <a:ext cx="3464559" cy="1524406"/>
          </a:xfrm>
          <a:custGeom>
            <a:avLst/>
            <a:gdLst/>
            <a:ahLst/>
            <a:cxnLst/>
            <a:rect l="l" t="t" r="r" b="b"/>
            <a:pathLst>
              <a:path w="3464559" h="1524406">
                <a:moveTo>
                  <a:pt x="0" y="0"/>
                </a:moveTo>
                <a:lnTo>
                  <a:pt x="3464559" y="0"/>
                </a:lnTo>
                <a:lnTo>
                  <a:pt x="3464559" y="1524406"/>
                </a:lnTo>
                <a:lnTo>
                  <a:pt x="0" y="1524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406348" y="1426805"/>
            <a:ext cx="6908448" cy="250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 of Agile and Core Principles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4123" y="913945"/>
            <a:ext cx="7970127" cy="8202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endParaRPr dirty="0"/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194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Agile is a flexible, iterative approach to project management focused on collaboration, adaptability, and customer satisfaction.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19486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Unlike traditional methods, Agile breaks projects into smaller deliverables.</a:t>
            </a:r>
          </a:p>
          <a:p>
            <a:pPr marL="474989" lvl="1" indent="-237495" algn="l">
              <a:lnSpc>
                <a:spcPts val="3080"/>
              </a:lnSpc>
              <a:buFont typeface="Arial"/>
              <a:buChar char="•"/>
            </a:pPr>
            <a:endParaRPr lang="en-US" sz="3999" b="1" dirty="0">
              <a:solidFill>
                <a:srgbClr val="19486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74989" lvl="1" indent="-237495" algn="l">
              <a:lnSpc>
                <a:spcPts val="3080"/>
              </a:lnSpc>
              <a:buFont typeface="Arial"/>
              <a:buChar char="•"/>
            </a:pPr>
            <a:endParaRPr lang="en-US" sz="3999" b="1" dirty="0">
              <a:solidFill>
                <a:srgbClr val="19486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9494422" y="0"/>
            <a:ext cx="8793578" cy="10287000"/>
            <a:chOff x="0" y="0"/>
            <a:chExt cx="2316004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6004" cy="2709333"/>
            </a:xfrm>
            <a:custGeom>
              <a:avLst/>
              <a:gdLst/>
              <a:ahLst/>
              <a:cxnLst/>
              <a:rect l="l" t="t" r="r" b="b"/>
              <a:pathLst>
                <a:path w="2316004" h="2709333">
                  <a:moveTo>
                    <a:pt x="0" y="0"/>
                  </a:moveTo>
                  <a:lnTo>
                    <a:pt x="2316004" y="0"/>
                  </a:lnTo>
                  <a:lnTo>
                    <a:pt x="23160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687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1600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719514" y="1028700"/>
            <a:ext cx="6539786" cy="8772883"/>
          </a:xfrm>
          <a:custGeom>
            <a:avLst/>
            <a:gdLst/>
            <a:ahLst/>
            <a:cxnLst/>
            <a:rect l="l" t="t" r="r" b="b"/>
            <a:pathLst>
              <a:path w="6539786" h="8772883">
                <a:moveTo>
                  <a:pt x="0" y="0"/>
                </a:moveTo>
                <a:lnTo>
                  <a:pt x="6539786" y="0"/>
                </a:lnTo>
                <a:lnTo>
                  <a:pt x="6539786" y="8772883"/>
                </a:lnTo>
                <a:lnTo>
                  <a:pt x="0" y="877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77973" y="2421764"/>
            <a:ext cx="11163629" cy="9093283"/>
          </a:xfrm>
          <a:custGeom>
            <a:avLst/>
            <a:gdLst/>
            <a:ahLst/>
            <a:cxnLst/>
            <a:rect l="l" t="t" r="r" b="b"/>
            <a:pathLst>
              <a:path w="11163629" h="9093283">
                <a:moveTo>
                  <a:pt x="0" y="0"/>
                </a:moveTo>
                <a:lnTo>
                  <a:pt x="11163629" y="0"/>
                </a:lnTo>
                <a:lnTo>
                  <a:pt x="11163629" y="9093283"/>
                </a:lnTo>
                <a:lnTo>
                  <a:pt x="0" y="9093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3203771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87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2600" y="2364614"/>
            <a:ext cx="7878508" cy="860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9"/>
              </a:lnSpc>
            </a:pPr>
            <a:endParaRPr dirty="0"/>
          </a:p>
          <a:p>
            <a:pPr algn="l">
              <a:lnSpc>
                <a:spcPts val="4499"/>
              </a:lnSpc>
            </a:pPr>
            <a:r>
              <a:rPr lang="en-US" sz="3213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Scrum:</a:t>
            </a:r>
          </a:p>
          <a:p>
            <a:pPr marL="693871" lvl="1" indent="-346936" algn="l">
              <a:lnSpc>
                <a:spcPts val="4499"/>
              </a:lnSpc>
              <a:buFont typeface="Arial"/>
              <a:buChar char="•"/>
            </a:pPr>
            <a:r>
              <a:rPr lang="en-US" sz="3213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Uses time-boxed sprints (e.g., 2 weeks).</a:t>
            </a:r>
          </a:p>
          <a:p>
            <a:pPr marL="693871" lvl="1" indent="-346936" algn="l">
              <a:lnSpc>
                <a:spcPts val="4499"/>
              </a:lnSpc>
              <a:buFont typeface="Arial"/>
              <a:buChar char="•"/>
            </a:pPr>
            <a:r>
              <a:rPr lang="en-US" sz="3213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Includes events like daily stand-ups, sprints, backlog, daily scrum, sprint planning, sprint reviews and sprint retrospective.</a:t>
            </a:r>
          </a:p>
          <a:p>
            <a:pPr algn="l">
              <a:lnSpc>
                <a:spcPts val="4499"/>
              </a:lnSpc>
            </a:pPr>
            <a:endParaRPr lang="en-US" sz="3213" i="1" dirty="0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  <a:p>
            <a:pPr algn="l">
              <a:lnSpc>
                <a:spcPts val="4499"/>
              </a:lnSpc>
            </a:pPr>
            <a:r>
              <a:rPr lang="en-US" sz="3213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Lean:</a:t>
            </a:r>
          </a:p>
          <a:p>
            <a:pPr marL="693871" lvl="1" indent="-346936" algn="l">
              <a:lnSpc>
                <a:spcPts val="4499"/>
              </a:lnSpc>
              <a:buFont typeface="Arial"/>
              <a:buChar char="•"/>
            </a:pPr>
            <a:r>
              <a:rPr lang="en-US" sz="3213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Eliminates waste, emphasizes value </a:t>
            </a:r>
            <a:r>
              <a:rPr lang="en-US" sz="3213" i="1" dirty="0" err="1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creation,build</a:t>
            </a:r>
            <a:r>
              <a:rPr lang="en-US" sz="3213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what is needed and encourages continuous improvement.</a:t>
            </a:r>
          </a:p>
          <a:p>
            <a:pPr algn="l">
              <a:lnSpc>
                <a:spcPts val="4359"/>
              </a:lnSpc>
            </a:pPr>
            <a:endParaRPr lang="en-US" sz="3213" i="1" dirty="0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2600" y="368299"/>
            <a:ext cx="9105977" cy="66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Key Methodologies:</a:t>
            </a:r>
          </a:p>
        </p:txBody>
      </p:sp>
      <p:sp>
        <p:nvSpPr>
          <p:cNvPr id="8" name="Freeform 8"/>
          <p:cNvSpPr/>
          <p:nvPr/>
        </p:nvSpPr>
        <p:spPr>
          <a:xfrm>
            <a:off x="14722966" y="-1583834"/>
            <a:ext cx="2129086" cy="2129086"/>
          </a:xfrm>
          <a:custGeom>
            <a:avLst/>
            <a:gdLst/>
            <a:ahLst/>
            <a:cxnLst/>
            <a:rect l="l" t="t" r="r" b="b"/>
            <a:pathLst>
              <a:path w="2129086" h="2129086">
                <a:moveTo>
                  <a:pt x="0" y="0"/>
                </a:moveTo>
                <a:lnTo>
                  <a:pt x="2129086" y="0"/>
                </a:lnTo>
                <a:lnTo>
                  <a:pt x="2129086" y="2129086"/>
                </a:lnTo>
                <a:lnTo>
                  <a:pt x="0" y="2129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638577" y="3410185"/>
            <a:ext cx="8181561" cy="506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Kanban</a:t>
            </a:r>
            <a:r>
              <a:rPr lang="en-US" sz="32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marL="712467" lvl="1" indent="-356233" algn="ctr">
              <a:lnSpc>
                <a:spcPts val="4619"/>
              </a:lnSpc>
              <a:buFont typeface="Arial"/>
              <a:buChar char="•"/>
            </a:pPr>
            <a:r>
              <a:rPr lang="en-US" sz="3299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Visualizes tasks on a board (e.g., To-Do, Doing, Done).</a:t>
            </a:r>
          </a:p>
          <a:p>
            <a:pPr marL="712467" lvl="1" indent="-356233" algn="ctr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Focuses on continuous flow and reducing work in progress (WIP).</a:t>
            </a:r>
          </a:p>
          <a:p>
            <a:pPr marL="712467" lvl="1" indent="-356233" algn="ctr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Extreme Programming (XP):</a:t>
            </a:r>
          </a:p>
          <a:p>
            <a:pPr marL="712467" lvl="1" indent="-356233" algn="ctr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i="1" dirty="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Centers on coding excellence and frequent delivery.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3299" i="1" dirty="0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446748" y="952500"/>
            <a:ext cx="6735068" cy="74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3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METHODOLOGIES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0" y="1295675"/>
            <a:ext cx="17337065" cy="8783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Principles of Agile</a:t>
            </a:r>
          </a:p>
          <a:p>
            <a:pPr marL="863588" lvl="1" indent="-431794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Individuals and Interactions Over Processes and Tools.</a:t>
            </a:r>
          </a:p>
          <a:p>
            <a:pPr marL="863588" lvl="1" indent="-431794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Working Software Over Comprehensive Documentation.</a:t>
            </a:r>
          </a:p>
          <a:p>
            <a:pPr marL="863588" lvl="1" indent="-431794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 Collaboration Over Contract Negotiation.</a:t>
            </a:r>
          </a:p>
          <a:p>
            <a:pPr marL="863588" lvl="1" indent="-431794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Responding to Change Over Following a Plan.</a:t>
            </a:r>
          </a:p>
          <a:p>
            <a:pPr marL="863588" lvl="1" indent="-431794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Why These Principles Matter</a:t>
            </a: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1727176" lvl="2" indent="-575725" algn="l">
              <a:lnSpc>
                <a:spcPts val="5599"/>
              </a:lnSpc>
              <a:spcBef>
                <a:spcPct val="0"/>
              </a:spcBef>
              <a:buFont typeface="Arial"/>
              <a:buChar char="⚬"/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Agile prioritizes flexibility and value delivery.</a:t>
            </a:r>
          </a:p>
          <a:p>
            <a:pPr marL="1727176" lvl="2" indent="-575725" algn="l">
              <a:lnSpc>
                <a:spcPts val="5599"/>
              </a:lnSpc>
              <a:spcBef>
                <a:spcPct val="0"/>
              </a:spcBef>
              <a:buFont typeface="Arial"/>
              <a:buChar char="⚬"/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Encourages close collaboration between stakeholders and teams.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Example: A team shifts priorities mid-project to include customer feedback, ensuring better alignment with business goals.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3999" b="1" i="1" dirty="0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0" y="1295675"/>
            <a:ext cx="17337065" cy="834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000" b="1" dirty="0">
                <a:latin typeface="Montserrat" panose="020B0604020202020204" charset="0"/>
              </a:rPr>
              <a:t>Kanban </a:t>
            </a:r>
            <a:endParaRPr lang="en-US" sz="4000" dirty="0">
              <a:latin typeface="Montserrat" panose="020B0604020202020204" charset="0"/>
            </a:endParaRPr>
          </a:p>
          <a:p>
            <a:pPr lvl="0"/>
            <a:r>
              <a:rPr lang="en-US" sz="4000" b="1" dirty="0">
                <a:latin typeface="Montserrat" panose="020B0604020202020204" charset="0"/>
              </a:rPr>
              <a:t>Visual Management</a:t>
            </a:r>
            <a:r>
              <a:rPr lang="en-US" sz="4000" dirty="0">
                <a:latin typeface="Montserrat" panose="020B0604020202020204" charset="0"/>
              </a:rPr>
              <a:t>:</a:t>
            </a:r>
          </a:p>
          <a:p>
            <a:pPr lvl="1"/>
            <a:r>
              <a:rPr lang="en-US" sz="4000" dirty="0">
                <a:latin typeface="Montserrat" panose="020B0604020202020204" charset="0"/>
              </a:rPr>
              <a:t>Tasks are tracked on a board with columns such as "To Do," "In Progress," and "Done."</a:t>
            </a:r>
          </a:p>
          <a:p>
            <a:pPr lvl="0"/>
            <a:endParaRPr lang="en-US" sz="4000" b="1" dirty="0">
              <a:latin typeface="Montserrat" panose="020B0604020202020204" charset="0"/>
            </a:endParaRPr>
          </a:p>
          <a:p>
            <a:pPr lvl="0"/>
            <a:r>
              <a:rPr lang="en-US" sz="4000" b="1" dirty="0">
                <a:latin typeface="Montserrat" panose="020B0604020202020204" charset="0"/>
              </a:rPr>
              <a:t>Principles</a:t>
            </a:r>
            <a:r>
              <a:rPr lang="en-US" sz="4000" dirty="0">
                <a:latin typeface="Montserrat" panose="020B0604020202020204" charset="0"/>
              </a:rPr>
              <a:t>:</a:t>
            </a:r>
          </a:p>
          <a:p>
            <a:pPr lvl="1"/>
            <a:r>
              <a:rPr lang="en-US" sz="4000" dirty="0">
                <a:latin typeface="Montserrat" panose="020B0604020202020204" charset="0"/>
              </a:rPr>
              <a:t>Visualize work, limit WIP, and focus on continuous improvement.</a:t>
            </a:r>
          </a:p>
          <a:p>
            <a:pPr lvl="0"/>
            <a:endParaRPr lang="en-US" sz="4000" b="1" dirty="0">
              <a:latin typeface="Montserrat" panose="020B0604020202020204" charset="0"/>
            </a:endParaRPr>
          </a:p>
          <a:p>
            <a:pPr lvl="0"/>
            <a:r>
              <a:rPr lang="en-US" sz="4000" b="1" dirty="0">
                <a:latin typeface="Montserrat" panose="020B0604020202020204" charset="0"/>
              </a:rPr>
              <a:t>Advantages</a:t>
            </a:r>
            <a:r>
              <a:rPr lang="en-US" sz="4000" dirty="0">
                <a:latin typeface="Montserrat" panose="020B0604020202020204" charset="0"/>
              </a:rPr>
              <a:t>:</a:t>
            </a:r>
          </a:p>
          <a:p>
            <a:pPr lvl="1"/>
            <a:r>
              <a:rPr lang="en-US" sz="4000" dirty="0">
                <a:latin typeface="Montserrat" panose="020B0604020202020204" charset="0"/>
              </a:rPr>
              <a:t>No strict iteration cycles.</a:t>
            </a:r>
          </a:p>
          <a:p>
            <a:pPr lvl="1"/>
            <a:r>
              <a:rPr lang="en-US" sz="4000" dirty="0">
                <a:latin typeface="Montserrat" panose="020B0604020202020204" charset="0"/>
              </a:rPr>
              <a:t>Suitable for teams managing ongoing or operational tasks.</a:t>
            </a:r>
          </a:p>
          <a:p>
            <a:pPr lvl="0"/>
            <a:endParaRPr lang="en-US" sz="4000" b="1" dirty="0">
              <a:latin typeface="Montserrat" panose="020B0604020202020204" charset="0"/>
            </a:endParaRPr>
          </a:p>
          <a:p>
            <a:pPr lvl="0"/>
            <a:r>
              <a:rPr lang="en-US" sz="4000" b="1" dirty="0">
                <a:latin typeface="Montserrat" panose="020B0604020202020204" charset="0"/>
              </a:rPr>
              <a:t>Example</a:t>
            </a:r>
            <a:r>
              <a:rPr lang="en-US" sz="4000" dirty="0">
                <a:latin typeface="Montserrat" panose="020B0604020202020204" charset="0"/>
              </a:rPr>
              <a:t>: Software maintenance team handling bug fixes.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3999" b="1" i="1" dirty="0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</p:spTree>
    <p:extLst>
      <p:ext uri="{BB962C8B-B14F-4D97-AF65-F5344CB8AC3E}">
        <p14:creationId xmlns:p14="http://schemas.microsoft.com/office/powerpoint/2010/main" val="279350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0" y="1295675"/>
            <a:ext cx="17337065" cy="527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endParaRPr lang="en-US" sz="4000" b="1" dirty="0">
              <a:latin typeface="Montserrat" panose="020B0604020202020204" charset="0"/>
            </a:endParaRPr>
          </a:p>
          <a:p>
            <a:pPr algn="ctr"/>
            <a:endParaRPr lang="en-US" sz="4000" b="1" dirty="0">
              <a:latin typeface="Montserrat" panose="020B0604020202020204" charset="0"/>
            </a:endParaRPr>
          </a:p>
          <a:p>
            <a:pPr algn="ctr"/>
            <a:endParaRPr lang="en-US" sz="4000" b="1" dirty="0">
              <a:latin typeface="Montserrat" panose="020B0604020202020204" charset="0"/>
            </a:endParaRPr>
          </a:p>
          <a:p>
            <a:pPr algn="ctr"/>
            <a:endParaRPr lang="en-US" sz="4000" b="1" dirty="0">
              <a:latin typeface="Montserrat" panose="020B0604020202020204" charset="0"/>
            </a:endParaRPr>
          </a:p>
          <a:p>
            <a:pPr algn="ctr"/>
            <a:endParaRPr lang="en-US" sz="4000" b="1" dirty="0">
              <a:latin typeface="Montserrat" panose="020B0604020202020204" charset="0"/>
            </a:endParaRPr>
          </a:p>
          <a:p>
            <a:pPr algn="ctr"/>
            <a:endParaRPr lang="en-US" sz="4000" b="1" dirty="0">
              <a:latin typeface="Montserrat" panose="020B0604020202020204" charset="0"/>
            </a:endParaRPr>
          </a:p>
          <a:p>
            <a:pPr algn="ctr"/>
            <a:endParaRPr lang="en-US" sz="4000" b="1" dirty="0">
              <a:latin typeface="Montserrat" panose="020B0604020202020204" charset="0"/>
            </a:endParaRPr>
          </a:p>
          <a:p>
            <a:pPr algn="ctr"/>
            <a:r>
              <a:rPr lang="en-US" sz="4000" b="1" dirty="0">
                <a:latin typeface="Montserrat" panose="020B0604020202020204" charset="0"/>
              </a:rPr>
              <a:t> </a:t>
            </a:r>
            <a:endParaRPr lang="en-US" sz="4000" dirty="0">
              <a:latin typeface="Montserrat" panose="020B0604020202020204" charset="0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3999" b="1" i="1" dirty="0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266" y="2179124"/>
            <a:ext cx="13060668" cy="736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8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5665" y="789304"/>
            <a:ext cx="16694782" cy="9720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Scrum Iterative Development and Adaptive Planning</a:t>
            </a:r>
          </a:p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Iterative Development</a:t>
            </a:r>
          </a:p>
          <a:p>
            <a:pPr marL="863588" lvl="1" indent="-431794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Definition:</a:t>
            </a:r>
          </a:p>
          <a:p>
            <a:pPr marL="1727176" lvl="2" indent="-575725" algn="just">
              <a:lnSpc>
                <a:spcPts val="5599"/>
              </a:lnSpc>
              <a:buFont typeface="Arial"/>
              <a:buChar char="⚬"/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Delivering work in small, manageable chunks called iterations or sprints.</a:t>
            </a:r>
          </a:p>
          <a:p>
            <a:pPr marL="1727176" lvl="2" indent="-575725" algn="just">
              <a:lnSpc>
                <a:spcPts val="5599"/>
              </a:lnSpc>
              <a:spcBef>
                <a:spcPct val="0"/>
              </a:spcBef>
              <a:buFont typeface="Arial"/>
              <a:buChar char="⚬"/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Each iteration results in a potentially shippable product increment.</a:t>
            </a:r>
          </a:p>
          <a:p>
            <a:pPr marL="863588" lvl="1" indent="-431794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Benefits:</a:t>
            </a:r>
          </a:p>
          <a:p>
            <a:pPr marL="1727176" lvl="2" indent="-575725" algn="just">
              <a:lnSpc>
                <a:spcPts val="5599"/>
              </a:lnSpc>
              <a:spcBef>
                <a:spcPct val="0"/>
              </a:spcBef>
              <a:buFont typeface="Arial"/>
              <a:buChar char="⚬"/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Early identification of issues.</a:t>
            </a:r>
          </a:p>
          <a:p>
            <a:pPr marL="1727176" lvl="2" indent="-575725" algn="just">
              <a:lnSpc>
                <a:spcPts val="5599"/>
              </a:lnSpc>
              <a:spcBef>
                <a:spcPct val="0"/>
              </a:spcBef>
              <a:buFont typeface="Arial"/>
              <a:buChar char="⚬"/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Continuous improvement through feedback.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 </a:t>
            </a:r>
            <a:r>
              <a:rPr lang="en-US" sz="3999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 team building an online shopping app delivers the login feature in Sprint 1, the product catalog in Sprint 2, and the checkout in Sprint 3.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3999" b="1" i="1" dirty="0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44070" y="340515"/>
            <a:ext cx="16694782" cy="1006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Adaptive Planning and Responding to Change</a:t>
            </a:r>
          </a:p>
          <a:p>
            <a:pPr algn="l">
              <a:lnSpc>
                <a:spcPts val="5879"/>
              </a:lnSpc>
            </a:pPr>
            <a:r>
              <a:rPr lang="en-US" sz="4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Adaptive Planning?</a:t>
            </a:r>
          </a:p>
          <a:p>
            <a:pPr marL="1813534" lvl="2" indent="-604511" algn="l">
              <a:lnSpc>
                <a:spcPts val="5879"/>
              </a:lnSpc>
              <a:buFont typeface="Arial"/>
              <a:buChar char="⚬"/>
            </a:pPr>
            <a:r>
              <a:rPr lang="en-US" sz="4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Agile plans are not fixed; they evolve based on feedback and progress.</a:t>
            </a:r>
          </a:p>
          <a:p>
            <a:pPr marL="1813534" lvl="2" indent="-604511" algn="l">
              <a:lnSpc>
                <a:spcPts val="5879"/>
              </a:lnSpc>
              <a:buFont typeface="Arial"/>
              <a:buChar char="⚬"/>
            </a:pPr>
            <a:r>
              <a:rPr lang="en-US" sz="4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Encourages teams to reassess priorities at regular intervals.</a:t>
            </a:r>
          </a:p>
          <a:p>
            <a:pPr marL="906767" lvl="1" indent="-453384" algn="l">
              <a:lnSpc>
                <a:spcPts val="5879"/>
              </a:lnSpc>
              <a:buFont typeface="Arial"/>
              <a:buChar char="•"/>
            </a:pPr>
            <a:r>
              <a:rPr lang="en-US" sz="4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Responding to Change:</a:t>
            </a:r>
          </a:p>
          <a:p>
            <a:pPr marL="1813534" lvl="2" indent="-604511" algn="l">
              <a:lnSpc>
                <a:spcPts val="5879"/>
              </a:lnSpc>
              <a:spcBef>
                <a:spcPct val="0"/>
              </a:spcBef>
              <a:buFont typeface="Arial"/>
              <a:buChar char="⚬"/>
            </a:pPr>
            <a:r>
              <a:rPr lang="en-US" sz="4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Agile welcomes change even late in the project lifecycle.</a:t>
            </a:r>
          </a:p>
          <a:p>
            <a:pPr marL="1813534" lvl="2" indent="-604511" algn="l">
              <a:lnSpc>
                <a:spcPts val="5879"/>
              </a:lnSpc>
              <a:spcBef>
                <a:spcPct val="0"/>
              </a:spcBef>
              <a:buFont typeface="Arial"/>
              <a:buChar char="⚬"/>
            </a:pPr>
            <a:r>
              <a:rPr lang="en-US" sz="4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Increases the likelihood of delivering value-aligned outcomes.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 </a:t>
            </a:r>
            <a:r>
              <a:rPr lang="en-US" sz="4199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 customer requests a new feature after Sprint 2. The team adjusts plans to incorporate it in Sprint 3.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4199" b="1" i="1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06348" y="2869094"/>
            <a:ext cx="16694782" cy="438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Benefits of Agile's Flexibility</a:t>
            </a:r>
          </a:p>
          <a:p>
            <a:pPr marL="993125" lvl="1" indent="-496562" algn="just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Faster time to market.</a:t>
            </a:r>
          </a:p>
          <a:p>
            <a:pPr marL="993125" lvl="1" indent="-496562" algn="just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Higher customer satisfaction.</a:t>
            </a:r>
          </a:p>
          <a:p>
            <a:pPr marL="993125" lvl="1" indent="-496562" algn="just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Reduced risk by addressing issues early.</a:t>
            </a:r>
          </a:p>
          <a:p>
            <a:pPr marL="993125" lvl="1" indent="-496562" algn="just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Better alignment with business needs.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4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63955" y="1028700"/>
            <a:ext cx="11560090" cy="7785138"/>
          </a:xfrm>
          <a:custGeom>
            <a:avLst/>
            <a:gdLst/>
            <a:ahLst/>
            <a:cxnLst/>
            <a:rect l="l" t="t" r="r" b="b"/>
            <a:pathLst>
              <a:path w="11560090" h="7785138">
                <a:moveTo>
                  <a:pt x="0" y="0"/>
                </a:moveTo>
                <a:lnTo>
                  <a:pt x="11560090" y="0"/>
                </a:lnTo>
                <a:lnTo>
                  <a:pt x="11560090" y="7785138"/>
                </a:lnTo>
                <a:lnTo>
                  <a:pt x="0" y="7785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47" r="-237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96609" y="359565"/>
            <a:ext cx="16694782" cy="983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9"/>
              </a:lnSpc>
            </a:pPr>
            <a:r>
              <a:rPr lang="en-US" sz="3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Agile Roles Overview</a:t>
            </a:r>
          </a:p>
          <a:p>
            <a:pPr marL="798825" lvl="1" indent="-399412" algn="just">
              <a:lnSpc>
                <a:spcPts val="5179"/>
              </a:lnSpc>
              <a:buFont typeface="Arial"/>
              <a:buChar char="•"/>
            </a:pPr>
            <a:r>
              <a:rPr lang="en-US" sz="3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Owner (PO):</a:t>
            </a:r>
          </a:p>
          <a:p>
            <a:pPr marL="1597649" lvl="2" indent="-532550" algn="just">
              <a:lnSpc>
                <a:spcPts val="5179"/>
              </a:lnSpc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Manages the product backlog.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Represents customer interests.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Prioritizes work based on business value.</a:t>
            </a:r>
          </a:p>
          <a:p>
            <a:pPr marL="798825" lvl="1" indent="-399412" algn="just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sz="3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Scrum Master (SM):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Coaches the team on Agile principles.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Removes obstacles that hinder progress.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Facilitates key ceremonies like daily stand-ups and sprint reviews.</a:t>
            </a:r>
          </a:p>
          <a:p>
            <a:pPr marL="798825" lvl="1" indent="-399412" algn="just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sz="3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Development Team: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Cross-functional members who design, develop, and test the product.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Work collaboratively to deliver product increments.</a:t>
            </a:r>
          </a:p>
          <a:p>
            <a:pPr algn="just">
              <a:lnSpc>
                <a:spcPts val="5179"/>
              </a:lnSpc>
              <a:spcBef>
                <a:spcPct val="0"/>
              </a:spcBef>
            </a:pPr>
            <a:endParaRPr lang="en-US" sz="36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3696" y="1169208"/>
            <a:ext cx="14380608" cy="8089092"/>
          </a:xfrm>
          <a:custGeom>
            <a:avLst/>
            <a:gdLst/>
            <a:ahLst/>
            <a:cxnLst/>
            <a:rect l="l" t="t" r="r" b="b"/>
            <a:pathLst>
              <a:path w="14380608" h="8089092">
                <a:moveTo>
                  <a:pt x="0" y="0"/>
                </a:moveTo>
                <a:lnTo>
                  <a:pt x="14380608" y="0"/>
                </a:lnTo>
                <a:lnTo>
                  <a:pt x="14380608" y="8089092"/>
                </a:lnTo>
                <a:lnTo>
                  <a:pt x="0" y="808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75731" y="1177203"/>
            <a:ext cx="16694782" cy="534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 of the Product Owner (PO)</a:t>
            </a:r>
          </a:p>
          <a:p>
            <a:pPr marL="798825" lvl="1" indent="-399412" algn="just">
              <a:lnSpc>
                <a:spcPts val="5179"/>
              </a:lnSpc>
              <a:buFont typeface="Arial"/>
              <a:buChar char="•"/>
            </a:pPr>
            <a:r>
              <a:rPr lang="en-US" sz="3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Responsibilities:</a:t>
            </a:r>
          </a:p>
          <a:p>
            <a:pPr marL="1597649" lvl="2" indent="-532550" algn="just">
              <a:lnSpc>
                <a:spcPts val="5179"/>
              </a:lnSpc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Define and maintain the product vision.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Create, update, and prioritize the backlog.</a:t>
            </a:r>
          </a:p>
          <a:p>
            <a:pPr marL="1597649" lvl="2" indent="-532550" algn="just">
              <a:lnSpc>
                <a:spcPts val="5179"/>
              </a:lnSpc>
              <a:spcBef>
                <a:spcPct val="0"/>
              </a:spcBef>
              <a:buFont typeface="Arial"/>
              <a:buChar char="⚬"/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Ensure the team understands the customer’s needs.</a:t>
            </a:r>
          </a:p>
          <a:p>
            <a:pPr algn="just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 </a:t>
            </a:r>
            <a:r>
              <a:rPr lang="en-US" sz="3699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 a food delivery app, the PO prioritizes adding a “track your order” feature based on customer demand.</a:t>
            </a:r>
          </a:p>
          <a:p>
            <a:pPr algn="just">
              <a:lnSpc>
                <a:spcPts val="5179"/>
              </a:lnSpc>
              <a:spcBef>
                <a:spcPct val="0"/>
              </a:spcBef>
            </a:pPr>
            <a:endParaRPr lang="en-US" sz="3699" b="1" i="1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88345" y="1123324"/>
            <a:ext cx="12251704" cy="7945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51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 of the Scrum Master (SM)</a:t>
            </a:r>
          </a:p>
          <a:p>
            <a:pPr marL="825968" lvl="1" indent="-412984" algn="l">
              <a:lnSpc>
                <a:spcPts val="5355"/>
              </a:lnSpc>
              <a:buFont typeface="Arial"/>
              <a:buChar char="•"/>
            </a:pPr>
            <a:r>
              <a:rPr lang="en-US" sz="38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Responsibilities:</a:t>
            </a:r>
          </a:p>
          <a:p>
            <a:pPr marL="1651936" lvl="2" indent="-550645" algn="l">
              <a:lnSpc>
                <a:spcPts val="5355"/>
              </a:lnSpc>
              <a:spcBef>
                <a:spcPct val="0"/>
              </a:spcBef>
              <a:buFont typeface="Arial"/>
              <a:buChar char="⚬"/>
            </a:pPr>
            <a:r>
              <a:rPr lang="en-US" sz="38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Facilitate Agile processes and remove impediments.</a:t>
            </a:r>
          </a:p>
          <a:p>
            <a:pPr marL="1651936" lvl="2" indent="-550645" algn="l">
              <a:lnSpc>
                <a:spcPts val="5355"/>
              </a:lnSpc>
              <a:spcBef>
                <a:spcPct val="0"/>
              </a:spcBef>
              <a:buFont typeface="Arial"/>
              <a:buChar char="⚬"/>
            </a:pPr>
            <a:r>
              <a:rPr lang="en-US" sz="38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Ensure the team adheres to Scrum principles.</a:t>
            </a:r>
          </a:p>
          <a:p>
            <a:pPr marL="1651936" lvl="2" indent="-550645" algn="l">
              <a:lnSpc>
                <a:spcPts val="5355"/>
              </a:lnSpc>
              <a:spcBef>
                <a:spcPct val="0"/>
              </a:spcBef>
              <a:buFont typeface="Arial"/>
              <a:buChar char="⚬"/>
            </a:pPr>
            <a:r>
              <a:rPr lang="en-US" sz="38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 as a servant leader, supporting the team’s productivity.</a:t>
            </a:r>
          </a:p>
          <a:p>
            <a:pPr algn="l">
              <a:lnSpc>
                <a:spcPts val="5355"/>
              </a:lnSpc>
              <a:spcBef>
                <a:spcPct val="0"/>
              </a:spcBef>
            </a:pPr>
            <a:r>
              <a:rPr lang="en-US" sz="3825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Example: A Scrum Master resolves a technical dependency blocking the team by coordinating with external stakeholders.</a:t>
            </a:r>
          </a:p>
          <a:p>
            <a:pPr algn="l">
              <a:lnSpc>
                <a:spcPts val="2136"/>
              </a:lnSpc>
              <a:spcBef>
                <a:spcPct val="0"/>
              </a:spcBef>
            </a:pPr>
            <a:endParaRPr lang="en-US" sz="3825" b="1" i="1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88345" y="1151899"/>
            <a:ext cx="12251704" cy="7316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5"/>
              </a:lnSpc>
            </a:pPr>
            <a:r>
              <a:rPr lang="en-US" sz="37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Agile Metrics</a:t>
            </a:r>
          </a:p>
          <a:p>
            <a:pPr marL="804378" lvl="1" indent="-402189" algn="l">
              <a:lnSpc>
                <a:spcPts val="5215"/>
              </a:lnSpc>
              <a:buFont typeface="Arial"/>
              <a:buChar char="•"/>
            </a:pPr>
            <a:r>
              <a:rPr lang="en-US" sz="37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Metrics:</a:t>
            </a:r>
          </a:p>
          <a:p>
            <a:pPr marL="1608756" lvl="2" indent="-536252" algn="l">
              <a:lnSpc>
                <a:spcPts val="5215"/>
              </a:lnSpc>
              <a:spcBef>
                <a:spcPct val="0"/>
              </a:spcBef>
              <a:buAutoNum type="alphaLcPeriod"/>
            </a:pPr>
            <a:r>
              <a:rPr lang="en-US" sz="37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Velocity:</a:t>
            </a:r>
            <a:r>
              <a:rPr lang="en-US" sz="37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Measures the amount of work completed in a sprint.</a:t>
            </a:r>
          </a:p>
          <a:p>
            <a:pPr marL="1608756" lvl="2" indent="-536252" algn="l">
              <a:lnSpc>
                <a:spcPts val="5215"/>
              </a:lnSpc>
              <a:spcBef>
                <a:spcPct val="0"/>
              </a:spcBef>
              <a:buAutoNum type="alphaLcPeriod"/>
            </a:pPr>
            <a:r>
              <a:rPr lang="en-US" sz="37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Lead Time: </a:t>
            </a:r>
            <a:r>
              <a:rPr lang="en-US" sz="37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Tracks the time from task creation to completion.</a:t>
            </a:r>
          </a:p>
          <a:p>
            <a:pPr marL="1608756" lvl="2" indent="-536252" algn="l">
              <a:lnSpc>
                <a:spcPts val="5215"/>
              </a:lnSpc>
              <a:spcBef>
                <a:spcPct val="0"/>
              </a:spcBef>
              <a:buAutoNum type="alphaLcPeriod"/>
            </a:pPr>
            <a:r>
              <a:rPr lang="en-US" sz="37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Cycle Time: </a:t>
            </a:r>
            <a:r>
              <a:rPr lang="en-US" sz="37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Focuses on the time to complete a single task.</a:t>
            </a:r>
          </a:p>
          <a:p>
            <a:pPr marL="1608756" lvl="2" indent="-536252" algn="l">
              <a:lnSpc>
                <a:spcPts val="5215"/>
              </a:lnSpc>
              <a:spcBef>
                <a:spcPct val="0"/>
              </a:spcBef>
              <a:buAutoNum type="alphaLcPeriod"/>
            </a:pPr>
            <a:r>
              <a:rPr lang="en-US" sz="37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Burn-Down and Burn-Up Charts: </a:t>
            </a:r>
            <a:r>
              <a:rPr lang="en-US" sz="37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 tools for tracking progress against the sprint goal.</a:t>
            </a:r>
          </a:p>
          <a:p>
            <a:pPr algn="l">
              <a:lnSpc>
                <a:spcPts val="176"/>
              </a:lnSpc>
              <a:spcBef>
                <a:spcPct val="0"/>
              </a:spcBef>
            </a:pPr>
            <a:endParaRPr lang="en-US" sz="3725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4562" y="633393"/>
            <a:ext cx="12026952" cy="9020214"/>
          </a:xfrm>
          <a:custGeom>
            <a:avLst/>
            <a:gdLst/>
            <a:ahLst/>
            <a:cxnLst/>
            <a:rect l="l" t="t" r="r" b="b"/>
            <a:pathLst>
              <a:path w="12026952" h="9020214">
                <a:moveTo>
                  <a:pt x="0" y="0"/>
                </a:moveTo>
                <a:lnTo>
                  <a:pt x="12026952" y="0"/>
                </a:lnTo>
                <a:lnTo>
                  <a:pt x="12026952" y="9020214"/>
                </a:lnTo>
                <a:lnTo>
                  <a:pt x="0" y="9020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88345" y="1142374"/>
            <a:ext cx="12251704" cy="80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41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Scaling Agile for Complex Projects</a:t>
            </a:r>
          </a:p>
          <a:p>
            <a:pPr marL="804378" lvl="1" indent="-402189" algn="l">
              <a:lnSpc>
                <a:spcPts val="5215"/>
              </a:lnSpc>
              <a:buFont typeface="Arial"/>
              <a:buChar char="•"/>
            </a:pPr>
            <a:r>
              <a:rPr lang="en-US" sz="37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Frameworks:</a:t>
            </a:r>
          </a:p>
          <a:p>
            <a:pPr marL="1608756" lvl="2" indent="-536252" algn="l">
              <a:lnSpc>
                <a:spcPts val="5215"/>
              </a:lnSpc>
              <a:spcBef>
                <a:spcPct val="0"/>
              </a:spcBef>
              <a:buAutoNum type="alphaLcPeriod"/>
            </a:pPr>
            <a:r>
              <a:rPr lang="en-US" sz="37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Scaled Agile Framework (</a:t>
            </a:r>
            <a:r>
              <a:rPr lang="en-US" sz="372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SAFe</a:t>
            </a:r>
            <a:r>
              <a:rPr lang="en-US" sz="37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):</a:t>
            </a:r>
          </a:p>
          <a:p>
            <a:pPr marL="2413135" lvl="3" indent="-603284" algn="l">
              <a:lnSpc>
                <a:spcPts val="5215"/>
              </a:lnSpc>
              <a:spcBef>
                <a:spcPct val="0"/>
              </a:spcBef>
              <a:buFont typeface="Arial"/>
              <a:buChar char="￭"/>
            </a:pPr>
            <a:r>
              <a:rPr lang="en-US" sz="37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Aligns multiple teams under a common vision and backlog.</a:t>
            </a:r>
          </a:p>
          <a:p>
            <a:pPr marL="1608756" lvl="2" indent="-536252" algn="l">
              <a:lnSpc>
                <a:spcPts val="5215"/>
              </a:lnSpc>
              <a:spcBef>
                <a:spcPct val="0"/>
              </a:spcBef>
              <a:buAutoNum type="alphaLcPeriod"/>
            </a:pPr>
            <a:r>
              <a:rPr lang="en-US" sz="37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Large-Scale Scrum (</a:t>
            </a:r>
            <a:r>
              <a:rPr lang="en-US" sz="372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LeSS</a:t>
            </a:r>
            <a:r>
              <a:rPr lang="en-US" sz="37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):</a:t>
            </a:r>
          </a:p>
          <a:p>
            <a:pPr marL="2413135" lvl="3" indent="-603284" algn="l">
              <a:lnSpc>
                <a:spcPts val="5215"/>
              </a:lnSpc>
              <a:spcBef>
                <a:spcPct val="0"/>
              </a:spcBef>
              <a:buFont typeface="Arial"/>
              <a:buChar char="￭"/>
            </a:pPr>
            <a:r>
              <a:rPr lang="en-US" sz="37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Extends Scrum practices for large teams.</a:t>
            </a:r>
          </a:p>
          <a:p>
            <a:pPr marL="1608756" lvl="2" indent="-536252" algn="l">
              <a:lnSpc>
                <a:spcPts val="5215"/>
              </a:lnSpc>
              <a:spcBef>
                <a:spcPct val="0"/>
              </a:spcBef>
              <a:buAutoNum type="alphaLcPeriod"/>
            </a:pPr>
            <a:r>
              <a:rPr lang="en-US" sz="37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Disciplined Agile (DA):</a:t>
            </a:r>
          </a:p>
          <a:p>
            <a:pPr marL="2413135" lvl="3" indent="-603284" algn="l">
              <a:lnSpc>
                <a:spcPts val="5215"/>
              </a:lnSpc>
              <a:spcBef>
                <a:spcPct val="0"/>
              </a:spcBef>
              <a:buFont typeface="Arial"/>
              <a:buChar char="￭"/>
            </a:pPr>
            <a:r>
              <a:rPr lang="en-US" sz="372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Allows customization of Agile practices for the organization’s needs.</a:t>
            </a:r>
          </a:p>
          <a:p>
            <a:pPr algn="l">
              <a:lnSpc>
                <a:spcPts val="5215"/>
              </a:lnSpc>
              <a:spcBef>
                <a:spcPct val="0"/>
              </a:spcBef>
            </a:pPr>
            <a:r>
              <a:rPr lang="en-US" sz="37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 </a:t>
            </a:r>
            <a:r>
              <a:rPr lang="en-US" sz="3725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Using </a:t>
            </a:r>
            <a:r>
              <a:rPr lang="en-US" sz="3725" b="1" i="1" dirty="0" err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SAFe</a:t>
            </a:r>
            <a:r>
              <a:rPr lang="en-US" sz="3725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to manage a multi-team project for launching a global product.</a:t>
            </a:r>
          </a:p>
          <a:p>
            <a:pPr algn="l">
              <a:lnSpc>
                <a:spcPts val="176"/>
              </a:lnSpc>
              <a:spcBef>
                <a:spcPct val="0"/>
              </a:spcBef>
            </a:pPr>
            <a:endParaRPr lang="en-US" sz="3725" b="1" i="1" dirty="0">
              <a:solidFill>
                <a:srgbClr val="000000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0717" y="2107078"/>
            <a:ext cx="7339851" cy="7339851"/>
          </a:xfrm>
          <a:custGeom>
            <a:avLst/>
            <a:gdLst/>
            <a:ahLst/>
            <a:cxnLst/>
            <a:rect l="l" t="t" r="r" b="b"/>
            <a:pathLst>
              <a:path w="7339851" h="7339851">
                <a:moveTo>
                  <a:pt x="0" y="0"/>
                </a:moveTo>
                <a:lnTo>
                  <a:pt x="7339851" y="0"/>
                </a:lnTo>
                <a:lnTo>
                  <a:pt x="7339851" y="7339850"/>
                </a:lnTo>
                <a:lnTo>
                  <a:pt x="0" y="73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4070" y="2954819"/>
            <a:ext cx="1324556" cy="13245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5749" y="9221503"/>
            <a:ext cx="690844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id="7" name="Freeform 7"/>
          <p:cNvSpPr/>
          <p:nvPr/>
        </p:nvSpPr>
        <p:spPr>
          <a:xfrm>
            <a:off x="9823121" y="4899936"/>
            <a:ext cx="9497118" cy="7735834"/>
          </a:xfrm>
          <a:custGeom>
            <a:avLst/>
            <a:gdLst/>
            <a:ahLst/>
            <a:cxnLst/>
            <a:rect l="l" t="t" r="r" b="b"/>
            <a:pathLst>
              <a:path w="9497118" h="7735834">
                <a:moveTo>
                  <a:pt x="0" y="0"/>
                </a:moveTo>
                <a:lnTo>
                  <a:pt x="9497118" y="0"/>
                </a:lnTo>
                <a:lnTo>
                  <a:pt x="9497118" y="7735834"/>
                </a:lnTo>
                <a:lnTo>
                  <a:pt x="0" y="77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740446" y="426240"/>
            <a:ext cx="2144173" cy="1220229"/>
          </a:xfrm>
          <a:custGeom>
            <a:avLst/>
            <a:gdLst/>
            <a:ahLst/>
            <a:cxnLst/>
            <a:rect l="l" t="t" r="r" b="b"/>
            <a:pathLst>
              <a:path w="2144173" h="1220229">
                <a:moveTo>
                  <a:pt x="0" y="0"/>
                </a:moveTo>
                <a:lnTo>
                  <a:pt x="2144173" y="0"/>
                </a:lnTo>
                <a:lnTo>
                  <a:pt x="2144173" y="1220229"/>
                </a:lnTo>
                <a:lnTo>
                  <a:pt x="0" y="122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88345" y="1142374"/>
            <a:ext cx="12251704" cy="8111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41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and Q&amp;A</a:t>
            </a:r>
          </a:p>
          <a:p>
            <a:pPr marL="890739" lvl="1" indent="-445369" algn="l">
              <a:lnSpc>
                <a:spcPts val="5775"/>
              </a:lnSpc>
              <a:buFont typeface="Arial"/>
              <a:buChar char="•"/>
            </a:pPr>
            <a:r>
              <a:rPr lang="en-US" sz="41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Recap Key Points:</a:t>
            </a:r>
          </a:p>
          <a:p>
            <a:pPr marL="1781477" lvl="2" indent="-593826" algn="l">
              <a:lnSpc>
                <a:spcPts val="5775"/>
              </a:lnSpc>
              <a:buAutoNum type="alphaLcPeriod"/>
            </a:pPr>
            <a:r>
              <a:rPr lang="en-US" sz="4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Agile methodologies are flexible, iterative, and customer-focused.</a:t>
            </a:r>
          </a:p>
          <a:p>
            <a:pPr marL="1781477" lvl="2" indent="-593826" algn="l">
              <a:lnSpc>
                <a:spcPts val="5775"/>
              </a:lnSpc>
              <a:buAutoNum type="alphaLcPeriod"/>
            </a:pPr>
            <a:r>
              <a:rPr lang="en-US" sz="4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Agile roles ensure clear accountability and collaboration.</a:t>
            </a:r>
          </a:p>
          <a:p>
            <a:pPr marL="1781477" lvl="2" indent="-593826" algn="l">
              <a:lnSpc>
                <a:spcPts val="5775"/>
              </a:lnSpc>
              <a:buAutoNum type="alphaLcPeriod"/>
            </a:pPr>
            <a:r>
              <a:rPr lang="en-US" sz="4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Metrics and frameworks help teams measure and scale success.</a:t>
            </a:r>
          </a:p>
          <a:p>
            <a:pPr algn="l">
              <a:lnSpc>
                <a:spcPts val="5775"/>
              </a:lnSpc>
              <a:spcBef>
                <a:spcPct val="0"/>
              </a:spcBef>
            </a:pPr>
            <a:endParaRPr lang="en-US" sz="4125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5775"/>
              </a:lnSpc>
              <a:spcBef>
                <a:spcPct val="0"/>
              </a:spcBef>
            </a:pPr>
            <a:r>
              <a:rPr lang="en-US" sz="41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"Which Agile role or practice do you find most interesting and why?"</a:t>
            </a:r>
          </a:p>
          <a:p>
            <a:pPr algn="l">
              <a:lnSpc>
                <a:spcPts val="176"/>
              </a:lnSpc>
              <a:spcBef>
                <a:spcPct val="0"/>
              </a:spcBef>
            </a:pPr>
            <a:endParaRPr lang="en-US" sz="4125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881</Words>
  <Application>Microsoft Office PowerPoint</Application>
  <PresentationFormat>Custom</PresentationFormat>
  <Paragraphs>128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Montserrat Bold Italics</vt:lpstr>
      <vt:lpstr>Montserrat Semi-Bold</vt:lpstr>
      <vt:lpstr>Montserrat Bold</vt:lpstr>
      <vt:lpstr>Montserrat</vt:lpstr>
      <vt:lpstr>Arial</vt:lpstr>
      <vt:lpstr>Calibri</vt:lpstr>
      <vt:lpstr>Montserrat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Illustrative The Benefits of Time Management Presentation</dc:title>
  <dc:creator>BUKC</dc:creator>
  <cp:lastModifiedBy>sajid mahmood BUKC</cp:lastModifiedBy>
  <cp:revision>5</cp:revision>
  <dcterms:created xsi:type="dcterms:W3CDTF">2006-08-16T00:00:00Z</dcterms:created>
  <dcterms:modified xsi:type="dcterms:W3CDTF">2025-02-13T21:32:39Z</dcterms:modified>
  <dc:identifier>DAGYbjK9O_8</dc:identifier>
</cp:coreProperties>
</file>