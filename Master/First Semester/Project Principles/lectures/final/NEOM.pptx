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4630400" cy="8229600"/>
  <p:notesSz cx="8229600" cy="14630400"/>
  <p:embeddedFontLst>
    <p:embeddedFont>
      <p:font typeface="Roboto" panose="02000000000000000000" pitchFamily="2" charset="0"/>
      <p:regular r:id="rId37"/>
      <p:bold r:id="rId38"/>
    </p:embeddedFont>
    <p:embeddedFont>
      <p:font typeface="Saira Medium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54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615" y="92523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Boeing 787 Dreamliner Rise, Downfall &amp; Management Lessons</a:t>
            </a:r>
            <a:endParaRPr lang="en-US" sz="4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E3E678-8E97-3C0A-5F94-4A1798C7DEC7}"/>
              </a:ext>
            </a:extLst>
          </p:cNvPr>
          <p:cNvSpPr/>
          <p:nvPr/>
        </p:nvSpPr>
        <p:spPr>
          <a:xfrm>
            <a:off x="771487" y="3585689"/>
            <a:ext cx="7556421" cy="24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Member 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– Abdul Hadi Siddiqui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– Sohaib Azmat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– Syed Ahsan Hussain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– Shahrukh Ali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– Aamir Khan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5976"/>
            <a:ext cx="42398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Boeing Company Overview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974896"/>
            <a:ext cx="4196358" cy="3158609"/>
          </a:xfrm>
          <a:prstGeom prst="roundRect">
            <a:avLst>
              <a:gd name="adj" fmla="val 646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3464" y="3224570"/>
            <a:ext cx="3206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aerospace leader: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3714988"/>
            <a:ext cx="36970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is a major global aerospace company with expertise in designing and manufacturing commercial, defense, and space systems.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974896"/>
            <a:ext cx="4196358" cy="3158609"/>
          </a:xfrm>
          <a:prstGeom prst="roundRect">
            <a:avLst>
              <a:gd name="adj" fmla="val 646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66636" y="3224570"/>
            <a:ext cx="36970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Commercial, defense &amp; space: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66636" y="4069318"/>
            <a:ext cx="36970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serves customers worldwide, providing cutting-edge solutions in commercial aircraft, military defense, and space exploration.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974896"/>
            <a:ext cx="4196358" cy="3158609"/>
          </a:xfrm>
          <a:prstGeom prst="roundRect">
            <a:avLst>
              <a:gd name="adj" fmla="val 646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89808" y="3224570"/>
            <a:ext cx="36970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Large-scale systems integration: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9808" y="4069318"/>
            <a:ext cx="36970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integrates complex aerospace systems, offering full-service solutions across various sectors, including commercial and defense aviation.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8356"/>
            <a:ext cx="44966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the 787 Dreamliner?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967276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967276"/>
            <a:ext cx="121920" cy="3173849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22457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Long-range wide-body aircraft: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69318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is a wide-body airliner designed for long-haul flights, offering non-stop routes between distant cities with advanced fuel efficiency.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967276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6482" y="2967276"/>
            <a:ext cx="121920" cy="3173849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5696" y="32245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Fuel efficient: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714988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uses composite materials and next-generation engines to achieve 20-25% better fuel efficiency than older models like the 767, cutting operational costs.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967276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9653" y="2967276"/>
            <a:ext cx="121920" cy="3173849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88868" y="322457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Passenger comfort focused: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069318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features a quieter cabin, larger windows, improved pressurization, and better humidity control, creating a more comfortable flight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382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Vision Behind 787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02744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036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Point-to-point travel: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52723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allows airlines to operate non-stop flights between more distant city pairs, reducing the need for layovers and enhancing route flexibility.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902744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036814"/>
            <a:ext cx="37104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Lower airline operating cost: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52723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to reduce fuel consumption and maintenance costs, the 787 provides airlines with a more economical long-haul solution.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902744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036814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Innovation leadership: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52723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Dreamliner aimed to be a technological leader, incorporating new materials and systems to transform modern air travel.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85192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Innovations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4855" y="1494830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materials: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787's airframe uses carbon-fiber-reinforced composites, reducing weight, increasing fuel efficiency, and offering greater durability than traditional aluminum.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855" y="2707838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Electrical systems: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aircraft replaces traditional hydraulic systems with electric ones, making the plane lighter, more efficient, and reducing maintenance costs.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855" y="3920847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Lithium-ion batteries: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Dreamliner is the first commercial aircraft to use lithium-ion batteries, which are more energy-efficient and lighter than traditional batteries.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76" y="1542812"/>
            <a:ext cx="6310789" cy="6310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178" y="532805"/>
            <a:ext cx="3789878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787 Matters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3178" y="1290638"/>
            <a:ext cx="7817644" cy="2009061"/>
          </a:xfrm>
          <a:prstGeom prst="roundRect">
            <a:avLst>
              <a:gd name="adj" fmla="val 8489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6038" y="1313498"/>
            <a:ext cx="7771924" cy="568404"/>
          </a:xfrm>
          <a:prstGeom prst="roundRect">
            <a:avLst>
              <a:gd name="adj" fmla="val 25179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429839" y="1408628"/>
            <a:ext cx="284202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75467" y="2071330"/>
            <a:ext cx="2368629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Strategic aircraft: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467" y="2480905"/>
            <a:ext cx="739306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was developed as a response to market demands for more fuel-efficient, longer-range aircraft, helping Boeing stay competitive against Airbus.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3178" y="3489127"/>
            <a:ext cx="7817644" cy="2009061"/>
          </a:xfrm>
          <a:prstGeom prst="roundRect">
            <a:avLst>
              <a:gd name="adj" fmla="val 8489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6038" y="3511987"/>
            <a:ext cx="7771924" cy="568404"/>
          </a:xfrm>
          <a:prstGeom prst="roundRect">
            <a:avLst>
              <a:gd name="adj" fmla="val 25179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29839" y="3607118"/>
            <a:ext cx="284202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5467" y="4269819"/>
            <a:ext cx="2430066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Competitive response: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75467" y="4679394"/>
            <a:ext cx="739306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its innovative features, the 787 directly competed with Airbus's A350, driving both companies to push the envelope in terms of technology and efficiency.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3178" y="5687616"/>
            <a:ext cx="7817644" cy="2009061"/>
          </a:xfrm>
          <a:prstGeom prst="roundRect">
            <a:avLst>
              <a:gd name="adj" fmla="val 8489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6038" y="5710476"/>
            <a:ext cx="7771924" cy="568404"/>
          </a:xfrm>
          <a:prstGeom prst="roundRect">
            <a:avLst>
              <a:gd name="adj" fmla="val 25179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29839" y="5805607"/>
            <a:ext cx="284202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75467" y="6468308"/>
            <a:ext cx="3145631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Megaproject transformation: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75467" y="6877883"/>
            <a:ext cx="739306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787's development marked a shift in how large-scale aerospace projects were managed, with a global supply chain and significant risks tied to its success.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85192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Early Market Success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4855" y="1494830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Fastest-selling wide-body: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787 was the fastest-selling wide-body airliner in history, with over 1,000 orders placed by airlines before its first delivery.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855" y="2707838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airline demand: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Airlines were drawn to its fuel efficiency and operational cost reductions, with the 787 becoming a preferred choice for long-haul flights.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76" y="1542812"/>
            <a:ext cx="6310789" cy="6310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36044"/>
            <a:ext cx="45578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Technological Breakthroughs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3514963"/>
            <a:ext cx="6407944" cy="2078474"/>
          </a:xfrm>
          <a:prstGeom prst="roundRect">
            <a:avLst>
              <a:gd name="adj" fmla="val 26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3464" y="3764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Composite fuselage: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4255056"/>
            <a:ext cx="5908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787’s fuselage is primarily made from composite materials, making it lighter, more resistant to corrosion, and more fuel-efficient than traditional metal airframes.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514963"/>
            <a:ext cx="6408063" cy="2078474"/>
          </a:xfrm>
          <a:prstGeom prst="roundRect">
            <a:avLst>
              <a:gd name="adj" fmla="val 26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78222" y="3764637"/>
            <a:ext cx="3172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Improved cabin comfort: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8222" y="4255056"/>
            <a:ext cx="59087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Dreamliner’s cabin pressure, humidity, and lighting systems are designed to enhance passenger comfort, reducing fatigue on long-haul flights.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85192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Fuel Efficiency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55" y="1542812"/>
            <a:ext cx="6310789" cy="6310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2376" y="1494830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 less fuel use: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Dreamliner’s advanced design and materials result in a 20-25% improvement in fuel efficiency compared to older aircraft models, helping airlines cut costs.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82376" y="2707838"/>
            <a:ext cx="6310789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emissions: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aircraft’s fuel efficiency also translates into reduced emissions, contributing to environmental sustainability in the aviation sector.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205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Supply Chain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3341132"/>
            <a:ext cx="6407944" cy="2766298"/>
          </a:xfrm>
          <a:prstGeom prst="roundRect">
            <a:avLst>
              <a:gd name="adj" fmla="val 5289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3310652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540" y="300097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61614" y="317111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908108"/>
            <a:ext cx="2909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Risk-sharing partners: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398526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Boeing's supply chain for the 787 is highly globalized, with many components produced by risk-sharing partners, reducing Boeing's financial burden but increasing complexity.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41132"/>
            <a:ext cx="6408063" cy="2766298"/>
          </a:xfrm>
          <a:prstGeom prst="roundRect">
            <a:avLst>
              <a:gd name="adj" fmla="val 5289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8548" y="3310652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92298" y="300097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96371" y="317111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908108"/>
            <a:ext cx="2952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Tier-1 suppliers: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439852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suppliers, including companies from Japan, Italy, and the U.S., play a crucial role in producing the various parts and systems that make up the Dreamliner.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185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3149"/>
            <a:ext cx="6123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Competitive Advantage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32090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310" y="2432090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42524" y="2689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Long range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179802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787’s long-range capability (up to 8,000 nautical miles) enables airlines to serve more destinations directly, reducing layovers and improving efficiency.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752618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3310" y="4752618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2524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Mid-size capacity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500330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a capacity to carry 242–330 passengers, the 787 fills a market gap between smaller single-aisle jets and larger wide-body aircraft, offering flexibility in passenger capacity.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83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Early Brand Impact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47330"/>
            <a:ext cx="7556421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29864" y="2697004"/>
            <a:ext cx="3221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Strong innovation image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29864" y="3187422"/>
            <a:ext cx="705707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was marketed as a technological marvel, boasting innovations like composite materials and electric systems, positioning Boeing as a leader in aviation.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29864" y="5002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Large backlog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29864" y="5492710"/>
            <a:ext cx="705707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Dreamliner’s early success was also evident in its large order backlog, with over 1,000 units sold before its first delivery, reflecting high airline demand and confidence.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575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Program Delays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606516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833330"/>
            <a:ext cx="3384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Repeated postponements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323749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experienced several delays, with its first delivery pushed back multiple times due to design and manufacturing challenges.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Schedule overruns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356503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delays significantly impacted Boeing’s ability to meet the original delivery schedule, creating dissatisfaction among customers and stakeholders.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14757"/>
            <a:ext cx="5675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Supply Chain Failures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03859"/>
            <a:ext cx="7556421" cy="2403396"/>
          </a:xfrm>
          <a:prstGeom prst="roundRect">
            <a:avLst>
              <a:gd name="adj" fmla="val 6087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93790" y="2273379"/>
            <a:ext cx="7556421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31779" y="19636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35852" y="213383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084" y="2870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Poor coordination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3361253"/>
            <a:ext cx="70418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Boeing’s global supply chain faced coordination challenges, with multiple suppliers struggling to meet deadlines or provide the necessary parts, delaying the overall program.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74231"/>
            <a:ext cx="7556421" cy="2040493"/>
          </a:xfrm>
          <a:prstGeom prst="roundRect">
            <a:avLst>
              <a:gd name="adj" fmla="val 7170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93790" y="5243751"/>
            <a:ext cx="7556421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31779" y="4934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35852" y="51042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51084" y="5841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Incomplete parts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1084" y="6331625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parts were delivered incomplete or of substandard quality, leading to rework and affecting the overall assembly schedule.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68710"/>
            <a:ext cx="56958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Manufacturing Issues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17651"/>
            <a:ext cx="6407944" cy="2078474"/>
          </a:xfrm>
          <a:prstGeom prst="roundRect">
            <a:avLst>
              <a:gd name="adj" fmla="val 26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4346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Fastener shortages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43464" y="5757743"/>
            <a:ext cx="5908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manufacturing process was slowed by shortages of critical fasteners, which were essential for assembly, leading to production delays.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5017651"/>
            <a:ext cx="6408063" cy="2078474"/>
          </a:xfrm>
          <a:prstGeom prst="roundRect">
            <a:avLst>
              <a:gd name="adj" fmla="val 26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78222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Rework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78222" y="5757743"/>
            <a:ext cx="59087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to quality control issues and faulty parts, significant rework was required at various stages of the manufacturing process, adding to the delays and costs.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77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Battery Crisis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96683"/>
            <a:ext cx="6407944" cy="2320409"/>
          </a:xfrm>
          <a:prstGeom prst="roundRect">
            <a:avLst>
              <a:gd name="adj" fmla="val 879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81" y="4791075"/>
            <a:ext cx="272177" cy="27217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165" y="7050524"/>
            <a:ext cx="272177" cy="2721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64431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Fire incidents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164431" y="5757743"/>
            <a:ext cx="566666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2013, the 787 was grounded worldwide after two incidents involving lithium-ion battery fires, highlighting a major safety risk in the aircraft's design.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7428548" y="4896683"/>
            <a:ext cx="6408063" cy="2320409"/>
          </a:xfrm>
          <a:prstGeom prst="roundRect">
            <a:avLst>
              <a:gd name="adj" fmla="val 879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939" y="4791075"/>
            <a:ext cx="272177" cy="27217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0042" y="7050524"/>
            <a:ext cx="272177" cy="2721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99189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Global grounding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7799189" y="5757743"/>
            <a:ext cx="566678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grounding of the fleet for several months cost Boeing and its customers millions of dollars in lost revenue and damage to its reputation.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08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Labor Strikes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69750"/>
            <a:ext cx="6407944" cy="2774156"/>
          </a:xfrm>
          <a:prstGeom prst="roundRect">
            <a:avLst>
              <a:gd name="adj" fmla="val 7359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4270" y="4700230"/>
            <a:ext cx="6346984" cy="680442"/>
          </a:xfrm>
          <a:prstGeom prst="roundRect">
            <a:avLst>
              <a:gd name="adj" fmla="val 24627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27621" y="48163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51084" y="5607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Workforce unrest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609790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Strikes by Boeing’s labor unions, particularly over issues like job security and production timelines, further exacerbated delays and manufacturing difficulties.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4669750"/>
            <a:ext cx="6408063" cy="2774156"/>
          </a:xfrm>
          <a:prstGeom prst="roundRect">
            <a:avLst>
              <a:gd name="adj" fmla="val 7359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59027" y="4700230"/>
            <a:ext cx="6347103" cy="680442"/>
          </a:xfrm>
          <a:prstGeom prst="roundRect">
            <a:avLst>
              <a:gd name="adj" fmla="val 24627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62498" y="48163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685842" y="5607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Productivity loss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685842" y="609790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strikes led to significant productivity loss, with halted production lines and delays in meeting assembly deadlines, further compounding supply chain issues.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533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Reputation Damage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02324"/>
            <a:ext cx="7556421" cy="23049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07004" y="2629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Financial penalties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507004" y="3119557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delays and failures led to several financial penalties imposed by customers, including airlines and suppliers, resulting in a significant financial impact for Boeing.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934069"/>
            <a:ext cx="7556421" cy="19420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07004" y="5160883"/>
            <a:ext cx="32358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dissatisfaction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507004" y="56513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Airlines that had long awaited the Dreamliner were frustrated by delays and quality issues, leading to a tarnished reputation in the industry.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25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Cost Overruns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414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Unrealistic budgets: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development of the 787 exceeded initial cost estimates, with an early budget of $6 billion ballooning to over $20 billion due to delays, design issues, and unforeseen challenges.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8533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$20B+ overruns: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 faced over $20 billion in cost overruns, which were the result of repeated delays, design changes, and challenges with the global supply chain. The financial pressure mounted, impacting both short-term and long-term profitability.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753785"/>
            <a:ext cx="2805946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Cost Breakdown Table: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744855" y="1511856"/>
            <a:ext cx="13140690" cy="5043488"/>
          </a:xfrm>
          <a:prstGeom prst="roundRect">
            <a:avLst>
              <a:gd name="adj" fmla="val 379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2475" y="1519476"/>
            <a:ext cx="13125450" cy="6110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5240" y="1654731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50412" y="1654731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Estimate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31775" y="1654731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Estimate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813137" y="1654731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Overrun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2475" y="2130504"/>
            <a:ext cx="13125450" cy="6110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5240" y="2265759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Costs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50412" y="2265759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31775" y="2265759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$20B+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813137" y="2265759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$14B+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52475" y="2741533"/>
            <a:ext cx="13125450" cy="951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5240" y="2876788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Chain Issues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250412" y="2876788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Included in budget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31775" y="2876788"/>
            <a:ext cx="284821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costs due to supplier delays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813137" y="2876788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$4B+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2475" y="3693081"/>
            <a:ext cx="13125450" cy="9515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5240" y="3828336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Manufacturing Delays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250412" y="3828336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Included in budget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31775" y="3828336"/>
            <a:ext cx="284821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Impacted production and rework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813137" y="3828336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$2B+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52475" y="4644628"/>
            <a:ext cx="13125450" cy="6110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5240" y="4779883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Battery Safety Crisis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250412" y="4779883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initially budgeted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31775" y="4779883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Grounding and redesign costs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813137" y="4779883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$1.5B+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52475" y="5255657"/>
            <a:ext cx="13125450" cy="12920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5240" y="5390912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Delays (General)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250412" y="5390912"/>
            <a:ext cx="28482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Included in budget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31775" y="5390912"/>
            <a:ext cx="2848213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overrun led to cost of rescheduling and operational losses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813137" y="5390912"/>
            <a:ext cx="285202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$3B+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44855" y="6794778"/>
            <a:ext cx="1314069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overrun table reflects estimates based on available data and includes both visible and hidden costs arising from various stages of the project.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84238"/>
            <a:ext cx="411670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20 – Financial Issues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51496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Deferred costs: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 deferred a significant portion of the 787’s costs, accounting for billions in expenditures to be paid over time, thus creating a financial imbalance in the company’s immediate cash flow.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9547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Cash flow stress: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Due to the delays, cost overruns, and ongoing issues, Boeing experienced severe cash flow stress, making it difficult to fund ongoing operations and future development, requiring strategic financial adjustments.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85192"/>
            <a:ext cx="2816781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Financial Impact Table: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744855" y="1343263"/>
            <a:ext cx="13140690" cy="5384006"/>
          </a:xfrm>
          <a:prstGeom prst="roundRect">
            <a:avLst>
              <a:gd name="adj" fmla="val 355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2475" y="1350883"/>
            <a:ext cx="13124021" cy="6110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6907" y="1486138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Aspect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44835" y="1486138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Value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8953" y="1486138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2475" y="1961912"/>
            <a:ext cx="13124021" cy="9515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6907" y="2097167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Overruns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44835" y="2097167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$20B+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18953" y="2097167"/>
            <a:ext cx="3944779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financial pressure, reduced profitability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2475" y="2913459"/>
            <a:ext cx="13124021" cy="951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6907" y="3048714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Deferred Costs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44835" y="3048714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$10B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18953" y="3048714"/>
            <a:ext cx="3944779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Deferred costs caused immediate cash flow challenges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2475" y="3865007"/>
            <a:ext cx="13124021" cy="9515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6907" y="4000262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 of Revenue (Grounding)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44835" y="4000262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$3B+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18953" y="4000262"/>
            <a:ext cx="3944779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loss from grounded fleet, delayed deliveries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2475" y="4816554"/>
            <a:ext cx="13124021" cy="951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6907" y="4951809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Penalties to Airlines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44835" y="4951809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$1.5B+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18953" y="4951809"/>
            <a:ext cx="3944779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Compensation and financial penalties to customers for delays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52475" y="5768102"/>
            <a:ext cx="13124021" cy="95154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6907" y="5903357"/>
            <a:ext cx="394477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Costs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344835" y="5903357"/>
            <a:ext cx="39409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$2B+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718953" y="5903357"/>
            <a:ext cx="3944779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due to ongoing production issues and rework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4855" y="6966704"/>
            <a:ext cx="1314069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figures represent the combined impact of both direct and indirect financial strains caused by delays, safety concerns, and operational disruptions.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889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tables provide a clear breakdown of the </a:t>
            </a: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challenges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 faced due to the </a:t>
            </a: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$20B+ cost overruns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difficulties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during the 787 program. Let me know if you'd like to expand further or add anything else!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59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Outsourcing Failure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0487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outsourced over 70% of 787 production to reduce costs, but suppliers failed to meet timelines and quality standards.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oversight of the global supply chain led to poor coordination, incomplete parts, and manufacturing delays.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had to depend on more than </a:t>
            </a: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suppliers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caused inconsistent quality and communication breakdowns.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477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delays and poor part quality resulted in </a:t>
            </a: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 billion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penalties and lost revenue.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3640"/>
            <a:ext cx="4499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22 – PM Methodology Issues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311598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311598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568893"/>
            <a:ext cx="3281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Rigid Waterfall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931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waterfall project management approach was too rigid to handle the evolving challenges of the 787 program.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311598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311598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568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Integration Failures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05931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between over 50 suppliers and 20 systems failed, resulting in part failures, rework, and production delays.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32127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63212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889421"/>
            <a:ext cx="3395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Hindered Iterative Testing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79839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waterfall model hindered iterative testing and feedback, which slowed problem resolution during critical phases.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32127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632127"/>
            <a:ext cx="121920" cy="2093714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889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Lack of Agility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79839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agility in addressing unexpected challenges caused production bottlenecks, leading to massive delays.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3218"/>
            <a:ext cx="5138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23 – Risk Management Weakness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280190" y="262770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critical issues, like the lithium-ion battery fires, were only detected late, preventing proactive fixes.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60866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effective monitoring tools, Boeing struggled to track ongoing risks, allowing problems to worsen over time.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896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 in identifying critical issues led to grounded planes and additional financial penalties.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705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failure to monitor supplier performance meant that quality issues went unnoticed until they caused significant disruptions.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8880"/>
            <a:ext cx="29196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24 – PM Lessons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326838"/>
            <a:ext cx="6407944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3464" y="2576513"/>
            <a:ext cx="36609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Complexity Underestimated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3066931"/>
            <a:ext cx="5908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underestimated the complexity of managing global supply chains and integrating new technologies, leading to unforeseen challenges.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326838"/>
            <a:ext cx="64080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78222" y="2576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Governance Gaps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8222" y="3066931"/>
            <a:ext cx="59087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governance structures led to unclear accountability, especially in managing supplier performance, causing delays and cost overruns.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32127"/>
            <a:ext cx="6407944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3464" y="48818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Leadership Gaps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3464" y="5372219"/>
            <a:ext cx="59085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lack of centralized decision-making and clear authority in the project led to missed opportunities for early intervention.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32127"/>
            <a:ext cx="64080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78222" y="48818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Planning Failures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78222" y="5372219"/>
            <a:ext cx="59087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did not fully account for the challenges of innovation and integration, which added unexpected risks and delays.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9381"/>
            <a:ext cx="3700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25 – Corrective Actions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16806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Supplier Acquisition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33279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acquired key suppliers involved in critical components to regain control and improve oversight over production.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11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In-House Control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466332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company increased in-house production capabilities, bringing some critical manufacturing processes under direct control to improve quality.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16806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Improved Auditing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2332792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implemented stricter supplier audits, ensuring higher compliance with quality standards and improving production timelines.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374118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Streamlined Processes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4856321" y="5451515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streamlined internal processes helped Boeing reduce reliance on external partners, allowing for better integration and faster production.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811"/>
            <a:ext cx="3095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26 – Improved PM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78769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2712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Strong Controls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20325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implemented stronger project management controls, improving visibility, accountability, and tracking of production progress.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578769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2712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Hybrid Approach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20325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hybrid of agile and waterfall project management methodologies was adopted, enabling more flexibility in addressing changes and challenges.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18779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652849"/>
            <a:ext cx="29317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Better Communication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143268"/>
            <a:ext cx="60677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stronger internal controls, Boeing improved communication across teams and suppliers, allowing quicker identification of issues.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518779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652849"/>
            <a:ext cx="3086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Faster Decision-Making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14326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hybrid approach sped up decision-making by allowing agile adjustments within a larger structured framework.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6757"/>
            <a:ext cx="3790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27 – Financial Recovery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5980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14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629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Aircraft/Month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20277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Boeing ramped up 787 production rates, reaching 14 aircraft per month by 2016, which helped generate significant revenue.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5980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157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629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787s Delivered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12027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2020, Boeing had delivered 157 787s, significantly improving cash flow and increasing market share.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5980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15%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629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Revenue Growth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120277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787’s strong market demand contributed to a 15% year-over-year growth in Boeing’s commercial aircraft sales.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270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became Boeing's most profitable aircraft, with long-term orders and growing market demand driving sustained financial recovery.</a:t>
            </a:r>
            <a:endParaRPr lang="en-US" sz="1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14618"/>
            <a:ext cx="4274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28 – Quality Improvements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430911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audits: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Regular audits were introduced to ensure suppliers met stringent quality standards, helping detect issues early and prevent defects.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142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documentation: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 introduced more rigorous documentation processes, ensuring all parts and components were tracked and quality was maintained throughout production.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193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Tighter standards: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Stricter quality checks were implemented at every stage of production, reducing the risk of defective components reaching assembly.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7244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inspections: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 now performs more detailed inspections and quality assurance tests on parts before they are integrated into the assembly line.</a:t>
            </a:r>
            <a:endParaRPr lang="en-US" sz="1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797"/>
            <a:ext cx="3662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29 – Strategic Lessons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2001917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1971437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540" y="166175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61614" y="183189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568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Balance Outsourcing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059311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787 program emphasized the importance of balancing outsourcing with in-house manufacturing to retain control over key parts of production.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001917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8548" y="1971437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92298" y="166175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96371" y="183189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2568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Manage Risks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059311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risk management frameworks are necessary to detect and address issues earlier, with clear contingency plans for mitigating supply chain and quality risks.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72288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3790" y="4941808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540" y="463212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61614" y="48022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539264"/>
            <a:ext cx="2912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Supplier Management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029682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supplier management is critical to ensuring timely deliveries and quality parts in large-scale projects like the 787.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4972288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8548" y="4941808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92298" y="463212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96371" y="48022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539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Early Planning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029682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identification and assessment of potential risks would have prevented many of the delays and cost overruns Boeing faced.</a:t>
            </a:r>
            <a:endParaRPr lang="en-US" sz="1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22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Slide 30 – Conclusion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620351" y="1901904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&amp; warning case: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787’s success in revolutionizing the aviation industry also serves as a warning for managing large, complex megaprojects with multiple stakeholders.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3245763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 learning landmark: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Boeing’s 787 project is a landmark example of project management failure and recovery, providing valuable lessons for future high-risk, high-reward projects.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20351" y="4589621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 vs execution: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787 demonstrated the importance of balancing technological innovation with execution discipline and risk management.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20351" y="5933480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Megaproject management: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program showed that effective governance, risk management, and supplier coordination are essential for the success of megaprojects.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1646753"/>
            <a:ext cx="30480" cy="5630585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2497</Words>
  <Application>Microsoft Office PowerPoint</Application>
  <PresentationFormat>Custom</PresentationFormat>
  <Paragraphs>270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Roboto</vt:lpstr>
      <vt:lpstr>Arial</vt:lpstr>
      <vt:lpstr>Saira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Amir Khan</dc:creator>
  <cp:lastModifiedBy>Muhammad Amir Khan</cp:lastModifiedBy>
  <cp:revision>4</cp:revision>
  <dcterms:created xsi:type="dcterms:W3CDTF">2025-12-16T19:08:05Z</dcterms:created>
  <dcterms:modified xsi:type="dcterms:W3CDTF">2025-12-18T08:09:55Z</dcterms:modified>
</cp:coreProperties>
</file>