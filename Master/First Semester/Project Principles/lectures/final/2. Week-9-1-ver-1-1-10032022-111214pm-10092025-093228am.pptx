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397" r:id="rId3"/>
    <p:sldId id="398" r:id="rId4"/>
    <p:sldId id="393" r:id="rId5"/>
    <p:sldId id="391" r:id="rId6"/>
    <p:sldId id="394" r:id="rId7"/>
    <p:sldId id="395" r:id="rId8"/>
    <p:sldId id="399" r:id="rId9"/>
    <p:sldId id="357" r:id="rId10"/>
    <p:sldId id="358" r:id="rId11"/>
    <p:sldId id="356" r:id="rId12"/>
    <p:sldId id="359" r:id="rId13"/>
    <p:sldId id="368" r:id="rId14"/>
    <p:sldId id="410" r:id="rId15"/>
    <p:sldId id="369" r:id="rId16"/>
    <p:sldId id="422" r:id="rId17"/>
    <p:sldId id="362" r:id="rId18"/>
    <p:sldId id="365" r:id="rId19"/>
    <p:sldId id="374" r:id="rId20"/>
    <p:sldId id="404" r:id="rId21"/>
    <p:sldId id="392" r:id="rId22"/>
    <p:sldId id="390" r:id="rId23"/>
    <p:sldId id="402" r:id="rId24"/>
    <p:sldId id="411" r:id="rId25"/>
    <p:sldId id="412" r:id="rId26"/>
    <p:sldId id="413" r:id="rId27"/>
    <p:sldId id="414" r:id="rId28"/>
    <p:sldId id="415" r:id="rId29"/>
    <p:sldId id="416" r:id="rId30"/>
    <p:sldId id="417" r:id="rId31"/>
    <p:sldId id="418" r:id="rId32"/>
    <p:sldId id="403" r:id="rId33"/>
    <p:sldId id="419" r:id="rId34"/>
    <p:sldId id="420" r:id="rId35"/>
    <p:sldId id="376" r:id="rId36"/>
    <p:sldId id="421" r:id="rId37"/>
    <p:sldId id="423" r:id="rId38"/>
    <p:sldId id="424" r:id="rId39"/>
    <p:sldId id="400" r:id="rId40"/>
    <p:sldId id="407" r:id="rId41"/>
    <p:sldId id="408" r:id="rId42"/>
    <p:sldId id="383" r:id="rId43"/>
    <p:sldId id="409" r:id="rId44"/>
    <p:sldId id="425" r:id="rId45"/>
    <p:sldId id="426" r:id="rId46"/>
    <p:sldId id="405" r:id="rId47"/>
    <p:sldId id="379" r:id="rId48"/>
    <p:sldId id="381" r:id="rId49"/>
    <p:sldId id="384" r:id="rId50"/>
    <p:sldId id="385" r:id="rId51"/>
    <p:sldId id="387" r:id="rId52"/>
    <p:sldId id="388" r:id="rId53"/>
    <p:sldId id="427" r:id="rId54"/>
    <p:sldId id="428" r:id="rId55"/>
    <p:sldId id="389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7FFF"/>
    <a:srgbClr val="FF9E1D"/>
    <a:srgbClr val="008000"/>
    <a:srgbClr val="D68B1C"/>
    <a:srgbClr val="D09622"/>
    <a:srgbClr val="F7E289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>
        <p:scale>
          <a:sx n="76" d="100"/>
          <a:sy n="76" d="100"/>
        </p:scale>
        <p:origin x="-1122" y="2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EF12B-7DAB-4457-AC60-EAA0DAD6BCF4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34123-F2F4-4EED-A50E-42F1E7A18F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3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9785" y="2207360"/>
            <a:ext cx="7772400" cy="7635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4130" y="4039820"/>
            <a:ext cx="6400800" cy="1068935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B0F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</a:t>
            </a:r>
          </a:p>
          <a:p>
            <a:r>
              <a:rPr lang="en-US" dirty="0" smtClean="0"/>
              <a:t>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527605"/>
            <a:ext cx="8229600" cy="610820"/>
          </a:xfrm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374" y="1443835"/>
            <a:ext cx="7482545" cy="4581150"/>
          </a:xfrm>
        </p:spPr>
        <p:txBody>
          <a:bodyPr/>
          <a:lstStyle>
            <a:lvl1pPr>
              <a:defRPr sz="28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3310" y="527605"/>
            <a:ext cx="7016195" cy="684885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B0F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3310" y="1443835"/>
            <a:ext cx="7016195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6010" y="527605"/>
            <a:ext cx="6244435" cy="532180"/>
          </a:xfrm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671" y="1596540"/>
            <a:ext cx="3817624" cy="639762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671" y="2226403"/>
            <a:ext cx="3817624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705" y="1596540"/>
            <a:ext cx="3970330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705" y="2226403"/>
            <a:ext cx="3970330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rct=j&amp;q=&amp;esrc=s&amp;source=images&amp;cd=&amp;ved=2ahUKEwj88pfQpqffAhUN-YUKHZMyAOMQjRx6BAgBEAU&amp;url=http://lighthouseinsights.in/creative-promotions-by-brands-and-the-dabbawalas-of-mumbai.html/&amp;psig=AOvVaw3-BZvvl3V8nvlV1CStVCF1&amp;ust=1545151058237242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tudy.com/academy/lesson/what-is-project-cost-management-definition-techniques-importance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AutoShape 2" descr="Image result for mumbai dabbawala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117475" y="-1668463"/>
            <a:ext cx="6143625" cy="34861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8132" name="AutoShape 4" descr="Image result for mumbai dabbawala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117475" y="-1668463"/>
            <a:ext cx="6143625" cy="34861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387" y="1714488"/>
            <a:ext cx="2468880" cy="65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8" descr="Slideheader01"/>
          <p:cNvSpPr>
            <a:spLocks noGrp="1" noChangeArrowheads="1"/>
          </p:cNvSpPr>
          <p:nvPr>
            <p:ph type="ctrTitle"/>
          </p:nvPr>
        </p:nvSpPr>
        <p:spPr>
          <a:xfrm>
            <a:off x="2627785" y="2179885"/>
            <a:ext cx="6515482" cy="1321123"/>
          </a:xfrm>
          <a:noFill/>
          <a:extLst>
            <a:ext uri="{909E8E84-426E-40DD-AFC4-6F175D3DCCD1}">
              <a14:hiddenFill xmlns:a14="http://schemas.microsoft.com/office/drawing/2010/main">
                <a:blipFill dpi="0" rotWithShape="1">
                  <a:blip r:embed="rId5"/>
                  <a:srcRect/>
                  <a:stretch>
                    <a:fillRect/>
                  </a:stretch>
                </a:blipFill>
              </a14:hiddenFill>
            </a:ext>
          </a:extLst>
        </p:spPr>
        <p:txBody>
          <a:bodyPr>
            <a:noAutofit/>
          </a:bodyPr>
          <a:lstStyle/>
          <a:p>
            <a:pPr indent="0" algn="ctr" eaLnBrk="1" hangingPunct="1"/>
            <a:r>
              <a:rPr lang="en-US" sz="3200" b="1" smtClean="0">
                <a:solidFill>
                  <a:schemeClr val="tx1"/>
                </a:solidFill>
              </a:rPr>
              <a:t>PROJECT COST </a:t>
            </a:r>
            <a:r>
              <a:rPr lang="en-US" sz="3200" b="1" dirty="0" smtClean="0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84168" y="5805264"/>
            <a:ext cx="3044950" cy="1443835"/>
          </a:xfrm>
        </p:spPr>
        <p:txBody>
          <a:bodyPr>
            <a:noAutofit/>
          </a:bodyPr>
          <a:lstStyle/>
          <a:p>
            <a:pPr algn="ctr"/>
            <a:r>
              <a:rPr lang="en-US" sz="2000" b="1" i="1" dirty="0" smtClean="0">
                <a:solidFill>
                  <a:schemeClr val="bg1">
                    <a:lumMod val="95000"/>
                  </a:schemeClr>
                </a:solidFill>
                <a:latin typeface="Georgia" pitchFamily="18" charset="0"/>
              </a:rPr>
              <a:t>LECTURE # 9</a:t>
            </a:r>
          </a:p>
          <a:p>
            <a:pPr algn="ctr"/>
            <a:endParaRPr lang="en-US" sz="2000" b="1" i="1" dirty="0" smtClean="0">
              <a:solidFill>
                <a:schemeClr val="bg1">
                  <a:lumMod val="95000"/>
                </a:schemeClr>
              </a:solidFill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hinking Images | Free Vectors, Stock Photos &amp; PS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4544" y="1096859"/>
            <a:ext cx="1972100" cy="1972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:\bahria 2019\FOPM\Sumaiya\Lecture 9\PREP 3\A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34630"/>
            <a:ext cx="7884368" cy="580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423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:\bahria 2019\FOPM\Sumaiya\Lecture 9\PREP 3\a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268760"/>
            <a:ext cx="8810218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1421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7863" y="513924"/>
            <a:ext cx="5636111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What is Project cost?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What is Project </a:t>
            </a:r>
            <a:r>
              <a:rPr lang="en-US" b="1" dirty="0" smtClean="0"/>
              <a:t>Cost?</a:t>
            </a:r>
          </a:p>
          <a:p>
            <a:pPr marL="0" indent="0">
              <a:buNone/>
            </a:pPr>
            <a:endParaRPr lang="en-US" sz="1200" b="1" dirty="0"/>
          </a:p>
          <a:p>
            <a:r>
              <a:rPr lang="en-US" dirty="0"/>
              <a:t>The project cost is a cost required to procure all the needed products, services and resources to deliver the project successfully.</a:t>
            </a:r>
          </a:p>
          <a:p>
            <a:endParaRPr lang="en-US" dirty="0" smtClean="0"/>
          </a:p>
          <a:p>
            <a:r>
              <a:rPr lang="en-US" dirty="0" smtClean="0"/>
              <a:t>Example</a:t>
            </a:r>
            <a:r>
              <a:rPr lang="en-US" dirty="0"/>
              <a:t>: In an example of a construction project, the cost estimation starts from land acquisition cost, construction cost, materials cost, administration cost, labor cost and other direct and indirect costs.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515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1879" y="527605"/>
            <a:ext cx="5492095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Project Cost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374" y="2060848"/>
            <a:ext cx="7778066" cy="28803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>
              <a:hlinkClick r:id="rId2"/>
            </a:endParaRPr>
          </a:p>
          <a:p>
            <a:pPr marL="0" indent="0" algn="ctr" fontAlgn="ctr">
              <a:buNone/>
            </a:pPr>
            <a:r>
              <a:rPr lang="en-US" b="1" dirty="0"/>
              <a:t>What is Project Cost Management</a:t>
            </a:r>
            <a:r>
              <a:rPr lang="en-US" b="1" dirty="0" smtClean="0"/>
              <a:t>?</a:t>
            </a:r>
          </a:p>
          <a:p>
            <a:pPr marL="0" indent="0" fontAlgn="ctr">
              <a:buNone/>
            </a:pPr>
            <a:endParaRPr lang="en-US" dirty="0"/>
          </a:p>
          <a:p>
            <a:pPr marL="0" indent="0" fontAlgn="ctr">
              <a:buNone/>
            </a:pPr>
            <a:r>
              <a:rPr lang="en-US" dirty="0" smtClean="0"/>
              <a:t> Project </a:t>
            </a:r>
            <a:r>
              <a:rPr lang="en-US" dirty="0"/>
              <a:t>cost management is all of the </a:t>
            </a:r>
            <a:r>
              <a:rPr lang="en-US" dirty="0" smtClean="0"/>
              <a:t>activities used to estimate, allocate and control cost to </a:t>
            </a:r>
            <a:r>
              <a:rPr lang="en-US" dirty="0"/>
              <a:t>ensure a project stays on budget. </a:t>
            </a:r>
          </a:p>
        </p:txBody>
      </p:sp>
    </p:spTree>
    <p:extLst>
      <p:ext uri="{BB962C8B-B14F-4D97-AF65-F5344CB8AC3E}">
        <p14:creationId xmlns:p14="http://schemas.microsoft.com/office/powerpoint/2010/main" val="1653373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5895" y="476672"/>
            <a:ext cx="5348079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IMPORTANCE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43834"/>
            <a:ext cx="8280920" cy="50815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After all, if you can’t definitively lay out how much a project will cost, how will you be able to quantify if you’ve made any money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r>
              <a:rPr lang="en-US" dirty="0" smtClean="0"/>
              <a:t>Without </a:t>
            </a:r>
            <a:r>
              <a:rPr lang="en-US" dirty="0"/>
              <a:t>a detailed budget, you cannot effectively map out the resources needed for your project.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Project </a:t>
            </a:r>
            <a:r>
              <a:rPr lang="en-US" dirty="0"/>
              <a:t>success is decided by how well the project cost has been handled in the project.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65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1879" y="332656"/>
            <a:ext cx="5492095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By implementing efficient cost management practices, project managers can:</a:t>
            </a:r>
          </a:p>
          <a:p>
            <a:r>
              <a:rPr lang="en-US" dirty="0"/>
              <a:t>Set clear expectations with stakeholders</a:t>
            </a:r>
          </a:p>
          <a:p>
            <a:r>
              <a:rPr lang="en-US" dirty="0"/>
              <a:t>Control scope creep due to transparencies established with the customer</a:t>
            </a:r>
          </a:p>
          <a:p>
            <a:r>
              <a:rPr lang="en-US" dirty="0"/>
              <a:t>Track progress and respond with corrective action at a quick pace</a:t>
            </a:r>
          </a:p>
          <a:p>
            <a:r>
              <a:rPr lang="en-US" dirty="0"/>
              <a:t>Maintain expected margin, increase ROI, and avoid losing money on the project</a:t>
            </a:r>
          </a:p>
          <a:p>
            <a:r>
              <a:rPr lang="en-US" dirty="0"/>
              <a:t>Generate data to benchmark for future projects and track long-term cost trends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7864" y="441916"/>
            <a:ext cx="5564103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TYPE OF RESERVES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 descr="D:\bahria 2019\FOPM\Sumaiya\Lecture 9\PREP 3\c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370552"/>
            <a:ext cx="7632848" cy="486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215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7904" y="332656"/>
            <a:ext cx="5204063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CONTIGENCY RESERVE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43834"/>
            <a:ext cx="8352928" cy="5081509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i="1" dirty="0" smtClean="0"/>
              <a:t>Contingency</a:t>
            </a:r>
            <a:r>
              <a:rPr lang="en-US" b="1" dirty="0"/>
              <a:t> reserves</a:t>
            </a:r>
            <a:r>
              <a:rPr lang="en-US" dirty="0"/>
              <a:t> are allowances for unplanned but potentially required changes that can result from realized risks identified in the risk </a:t>
            </a:r>
            <a:r>
              <a:rPr lang="en-US" dirty="0" smtClean="0"/>
              <a:t>register or past project. 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Some </a:t>
            </a:r>
            <a:r>
              <a:rPr lang="en-US" dirty="0"/>
              <a:t>of the items, conditions, or events for which the state, occurrence, and/or effect is uncertain include, but are not limited to, planning and estimating errors and omissions, minor price fluctuations (other than general escalation), design developments and </a:t>
            </a:r>
            <a:r>
              <a:rPr lang="en-US" dirty="0" smtClean="0"/>
              <a:t>changes within </a:t>
            </a:r>
            <a:r>
              <a:rPr lang="en-US" dirty="0"/>
              <a:t>the scope, and variations in market and environmental conditions”.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285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US" dirty="0"/>
              <a:t>Contingency usually excludes: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Major scope changes such as changes in end product specification, capacities, building sizes, and location of the asset or project;</a:t>
            </a:r>
          </a:p>
          <a:p>
            <a:pPr fontAlgn="base"/>
            <a:r>
              <a:rPr lang="en-US" dirty="0"/>
              <a:t>Extraordinary events such as major strikes and natural disasters;</a:t>
            </a:r>
          </a:p>
          <a:p>
            <a:pPr fontAlgn="base"/>
            <a:r>
              <a:rPr lang="en-US" dirty="0"/>
              <a:t>Management reserves; and</a:t>
            </a:r>
          </a:p>
          <a:p>
            <a:pPr fontAlgn="base"/>
            <a:r>
              <a:rPr lang="en-US" dirty="0"/>
              <a:t>Escalation and currency effects.</a:t>
            </a:r>
          </a:p>
          <a:p>
            <a:endParaRPr lang="en-US" dirty="0" smtClean="0"/>
          </a:p>
          <a:p>
            <a:r>
              <a:rPr lang="en-US" dirty="0" smtClean="0"/>
              <a:t>Contingency </a:t>
            </a:r>
            <a:r>
              <a:rPr lang="en-US" dirty="0"/>
              <a:t>is the cost or time allowance that is used to manage identified risks or “known-unknown”. Contingency is not a random allowance, it is an estimated allowance based on various assessment techniques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7944" y="260648"/>
            <a:ext cx="39384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</a:rPr>
              <a:t>CONTIGENCY RESERVE</a:t>
            </a:r>
            <a:endParaRPr lang="en-US" sz="32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991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871" y="332656"/>
            <a:ext cx="5564103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MANGEMENT </a:t>
            </a:r>
            <a:r>
              <a:rPr lang="en-US" dirty="0"/>
              <a:t>RESERVE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337071"/>
            <a:ext cx="7913391" cy="4900241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en-US" b="1" i="1" dirty="0"/>
              <a:t>Management</a:t>
            </a:r>
            <a:r>
              <a:rPr lang="en-US" b="1" dirty="0"/>
              <a:t> reserves</a:t>
            </a:r>
            <a:r>
              <a:rPr lang="en-US" dirty="0"/>
              <a:t>, on the other hand, are budgets reserved for unplanned changes to project scope and cost.</a:t>
            </a:r>
            <a:endParaRPr lang="en-US" dirty="0" smtClean="0"/>
          </a:p>
          <a:p>
            <a:pPr fontAlgn="base"/>
            <a:r>
              <a:rPr lang="en-US" dirty="0" smtClean="0"/>
              <a:t>Management </a:t>
            </a:r>
            <a:r>
              <a:rPr lang="en-US" dirty="0"/>
              <a:t>Reserve” is the cost or time allowance that is used to manage the unidentified risks or “unknown-unknown”. </a:t>
            </a:r>
            <a:endParaRPr lang="en-US" dirty="0" smtClean="0"/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“</a:t>
            </a:r>
            <a:r>
              <a:rPr lang="en-US" dirty="0"/>
              <a:t>Management Reserve” is not an estimated allowance but a random figure by management, which is usually assessed according to the organization’s policy/risk appetite/past performance/etc..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Accordingly</a:t>
            </a:r>
            <a:r>
              <a:rPr lang="en-US" dirty="0"/>
              <a:t>, the “Management Reserve” is not in the Performance Measurement Baseline (PMB) but is a part of the Project Budget Base (PBB)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047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5048" y="260648"/>
            <a:ext cx="8229600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TYPE OF COST –</a:t>
            </a:r>
            <a:br>
              <a:rPr lang="en-US" dirty="0" smtClean="0"/>
            </a:br>
            <a:r>
              <a:rPr lang="en-US" dirty="0" smtClean="0"/>
              <a:t>DIRECT AND INDIRECT COST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Costs </a:t>
            </a:r>
            <a:r>
              <a:rPr lang="en-US" dirty="0"/>
              <a:t>associated with </a:t>
            </a:r>
            <a:r>
              <a:rPr lang="en-US" dirty="0" smtClean="0"/>
              <a:t>the </a:t>
            </a:r>
            <a:r>
              <a:rPr lang="en-US" dirty="0"/>
              <a:t>project </a:t>
            </a:r>
            <a:r>
              <a:rPr lang="en-US" dirty="0" smtClean="0"/>
              <a:t>itself.</a:t>
            </a:r>
          </a:p>
          <a:p>
            <a:r>
              <a:rPr lang="en-US" dirty="0"/>
              <a:t>Examples of direct costs include fixed labor, materials, and equipment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r>
              <a:rPr lang="en-US" dirty="0"/>
              <a:t>Indirect </a:t>
            </a:r>
            <a:r>
              <a:rPr lang="en-US" dirty="0" smtClean="0"/>
              <a:t>Costs </a:t>
            </a:r>
            <a:r>
              <a:rPr lang="en-US" dirty="0"/>
              <a:t>incurred by the organization at </a:t>
            </a:r>
            <a:r>
              <a:rPr lang="en-US" dirty="0" smtClean="0"/>
              <a:t>large. Indirect </a:t>
            </a:r>
            <a:r>
              <a:rPr lang="en-US" dirty="0"/>
              <a:t>costs are oftentimes called overhead and they do not vary based on the project. he indirect cost is the amount of money spent to support indirect completion of the project </a:t>
            </a:r>
            <a:r>
              <a:rPr lang="en-US" dirty="0" smtClean="0"/>
              <a:t>Examples </a:t>
            </a:r>
            <a:r>
              <a:rPr lang="en-US" dirty="0"/>
              <a:t>of indirect costs include building rent, administrative costs, electric power, and general operational fees.</a:t>
            </a:r>
          </a:p>
        </p:txBody>
      </p:sp>
    </p:spTree>
    <p:extLst>
      <p:ext uri="{BB962C8B-B14F-4D97-AF65-F5344CB8AC3E}">
        <p14:creationId xmlns:p14="http://schemas.microsoft.com/office/powerpoint/2010/main" val="310552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0385" y="225892"/>
            <a:ext cx="5708119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PROJECT COST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D:\bahria 2019\FOPM\Sumaiya\Lecture 9\PREP 1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58287" cy="566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471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1026" name="Picture 2" descr="D:\bahria 2019\FOPM\Sumaiya\Lecture 9\PREP\1.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20" y="1844824"/>
            <a:ext cx="9144000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829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823" y="404664"/>
            <a:ext cx="5996151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ESTIMATE COST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:\bahria 2019\FOPM\Sumaiya\Lecture 9\PREP 1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" y="1196752"/>
            <a:ext cx="8942384" cy="5926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83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D:\bahria 2019\FOPM\Sumaiya\Lecture 9\PREP\2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8964488" cy="566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733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1879" y="332656"/>
            <a:ext cx="5492095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Cost Estimate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dirty="0"/>
              <a:t>What Is a Cost Estimate?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A </a:t>
            </a:r>
            <a:r>
              <a:rPr lang="en-US" dirty="0"/>
              <a:t>Cost estimate is a quantified expectation of how many resources are required to complete a project or parts of a project.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Such </a:t>
            </a:r>
            <a:r>
              <a:rPr lang="en-US" dirty="0"/>
              <a:t>cost estimates are often expressed in currency units.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789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When Are Cost Estimated?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43834"/>
            <a:ext cx="8496944" cy="529753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1600" dirty="0" smtClean="0"/>
              <a:t>The </a:t>
            </a:r>
            <a:r>
              <a:rPr lang="en-US" sz="1600" dirty="0"/>
              <a:t>PMBOK states that the process is performed “periodically throughout the project as needed” </a:t>
            </a:r>
          </a:p>
          <a:p>
            <a:pPr marL="0" indent="0" fontAlgn="base">
              <a:buNone/>
            </a:pPr>
            <a:r>
              <a:rPr lang="en-US" sz="1600" dirty="0" smtClean="0"/>
              <a:t>Typically costs </a:t>
            </a:r>
            <a:r>
              <a:rPr lang="en-US" sz="1600" dirty="0"/>
              <a:t>are estimated at different points in time throughout the project.</a:t>
            </a:r>
          </a:p>
          <a:p>
            <a:pPr marL="0" indent="0" fontAlgn="base">
              <a:buNone/>
            </a:pPr>
            <a:r>
              <a:rPr lang="en-US" sz="1600" dirty="0" smtClean="0"/>
              <a:t>1- Initiation phase- </a:t>
            </a:r>
            <a:r>
              <a:rPr lang="en-US" sz="1600" dirty="0"/>
              <a:t>e.g. when the project business case or the project charter is created. For these documents, a project manager has to determine the amount of resources that is required to complete the project.</a:t>
            </a:r>
          </a:p>
          <a:p>
            <a:pPr marL="0" indent="0" fontAlgn="base">
              <a:buNone/>
            </a:pPr>
            <a:r>
              <a:rPr lang="en-US" sz="1600" dirty="0" smtClean="0"/>
              <a:t>As </a:t>
            </a:r>
            <a:r>
              <a:rPr lang="en-US" sz="1600" dirty="0"/>
              <a:t>the information that is available at that point is usually not very detailed, the project manager will likely end up producing a rough order of magnitude estimate rather than a definitive estimate. </a:t>
            </a:r>
            <a:endParaRPr lang="en-US" sz="1600" dirty="0" smtClean="0"/>
          </a:p>
          <a:p>
            <a:pPr marL="0" indent="0" fontAlgn="base">
              <a:buNone/>
            </a:pPr>
            <a:endParaRPr lang="en-US" sz="1600" dirty="0" smtClean="0"/>
          </a:p>
          <a:p>
            <a:pPr marL="0" indent="0" fontAlgn="base">
              <a:buNone/>
            </a:pPr>
            <a:r>
              <a:rPr lang="en-US" sz="1600" dirty="0" smtClean="0"/>
              <a:t>2- Planning Phase: Project </a:t>
            </a:r>
            <a:r>
              <a:rPr lang="en-US" sz="1600" dirty="0"/>
              <a:t>when more information is available, this order of magnitude estimate will be replaced with a definitive estimate.</a:t>
            </a:r>
          </a:p>
          <a:p>
            <a:pPr marL="0" indent="0" fontAlgn="base">
              <a:buNone/>
            </a:pPr>
            <a:r>
              <a:rPr lang="en-US" sz="1600" dirty="0" smtClean="0"/>
              <a:t> After </a:t>
            </a:r>
            <a:r>
              <a:rPr lang="en-US" sz="1600" dirty="0"/>
              <a:t>the project initiation phase, the cost will be re-assessed during the planning </a:t>
            </a:r>
            <a:r>
              <a:rPr lang="en-US" sz="1600" dirty="0" smtClean="0"/>
              <a:t>phase.</a:t>
            </a:r>
          </a:p>
          <a:p>
            <a:pPr marL="0" indent="0" fontAlgn="base">
              <a:buNone/>
            </a:pPr>
            <a:endParaRPr lang="en-US" sz="1600" dirty="0"/>
          </a:p>
          <a:p>
            <a:pPr marL="0" indent="0" fontAlgn="base">
              <a:buNone/>
            </a:pPr>
            <a:r>
              <a:rPr lang="en-US" sz="1600" dirty="0" smtClean="0"/>
              <a:t>3- In </a:t>
            </a:r>
            <a:r>
              <a:rPr lang="en-US" sz="1600" dirty="0"/>
              <a:t>subsequent phases, costs are typically (re-)estimated if relevant new information and details become known </a:t>
            </a:r>
            <a:r>
              <a:rPr lang="en-US" sz="1600" dirty="0" smtClean="0"/>
              <a:t>( iterative cycle) or </a:t>
            </a:r>
            <a:r>
              <a:rPr lang="en-US" sz="1600" dirty="0"/>
              <a:t>if changes to the project scope or timeline </a:t>
            </a:r>
            <a:r>
              <a:rPr lang="en-US" sz="1600" dirty="0" smtClean="0"/>
              <a:t>occur  (Monitoring &amp; Controlling) </a:t>
            </a:r>
          </a:p>
          <a:p>
            <a:pPr marL="0" indent="0" fontAlgn="base">
              <a:buNone/>
            </a:pPr>
            <a:endParaRPr lang="en-US" sz="1600" dirty="0" smtClean="0">
              <a:solidFill>
                <a:srgbClr val="FF0000"/>
              </a:solidFill>
            </a:endParaRPr>
          </a:p>
          <a:p>
            <a:pPr marL="0" indent="0" fontAlgn="base">
              <a:buNone/>
            </a:pPr>
            <a:r>
              <a:rPr lang="en-US" sz="1600" dirty="0" smtClean="0">
                <a:solidFill>
                  <a:srgbClr val="FF0000"/>
                </a:solidFill>
              </a:rPr>
              <a:t>One </a:t>
            </a:r>
            <a:r>
              <a:rPr lang="en-US" sz="1600" dirty="0">
                <a:solidFill>
                  <a:srgbClr val="FF0000"/>
                </a:solidFill>
              </a:rPr>
              <a:t>of the common reasons for re-estimating cost is, for instance, when the indicators of the project controlling suggest that the original budget baseline cannot be met.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53321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1879" y="404664"/>
            <a:ext cx="5492095" cy="61082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Cost Estimates</a:t>
            </a:r>
            <a:br>
              <a:rPr lang="en-US" b="1" dirty="0"/>
            </a:b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760"/>
            <a:ext cx="9144000" cy="5445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640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3847" y="404664"/>
            <a:ext cx="5780127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TYPE OF ESTIMATES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D:\bahria 2019\FOPM\Sumaiya\Lecture 9\PREP 3\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96752"/>
            <a:ext cx="9036497" cy="581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542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8229600" cy="61082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TOP DOWN VS BOTTOM UP ESTIMATES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374" y="1443834"/>
            <a:ext cx="7850074" cy="49374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Top-Down Estimates – usually are derived from someone who uses experience and/or information to determine the project duration and total cost. – are made by top managers who have little knowledge of the processes used to complete the project.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Bottom-Up </a:t>
            </a:r>
            <a:r>
              <a:rPr lang="en-US" dirty="0"/>
              <a:t>Approach – can serve as a check on cost elements in the WBS by rolling up the work packages and associated cost accounts to major deliverables to the project level.</a:t>
            </a:r>
          </a:p>
        </p:txBody>
      </p:sp>
    </p:spTree>
    <p:extLst>
      <p:ext uri="{BB962C8B-B14F-4D97-AF65-F5344CB8AC3E}">
        <p14:creationId xmlns:p14="http://schemas.microsoft.com/office/powerpoint/2010/main" val="1974438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1879" y="332656"/>
            <a:ext cx="5492095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COST AGGREGATION:</a:t>
            </a:r>
            <a:br>
              <a:rPr lang="en-US" dirty="0" smtClean="0"/>
            </a:br>
            <a:r>
              <a:rPr lang="en-US" dirty="0" smtClean="0"/>
              <a:t>BOTTOM UP APPROACH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63" y="1849109"/>
            <a:ext cx="7483475" cy="3770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67544" y="5877272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While the estimation is performed at the level of activities or work packages, the estimate for the whole project is the sum of all granular estimates.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976132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6370" y="404664"/>
            <a:ext cx="5924142" cy="61082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 Down </a:t>
            </a:r>
            <a:r>
              <a:rPr lang="en-US" dirty="0" err="1" smtClean="0"/>
              <a:t>vs</a:t>
            </a:r>
            <a:r>
              <a:rPr lang="en-US" dirty="0" smtClean="0"/>
              <a:t> Bottom Up Estimates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D:\bahria 2019\FOPM\Sumaiya\Lecture 9\PREP 3\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96752"/>
            <a:ext cx="8993187" cy="566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153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D:\bahria 2019\FOPM\Sumaiya\Lecture 9\PREP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000" cy="626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9912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:\bahria 2019\FOPM\Sumaiya\Lecture 9\PREP\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7" y="1196752"/>
            <a:ext cx="9115733" cy="6246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401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D:\bahria 2019\FOPM\Sumaiya\Lecture 9\PREP\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2776"/>
            <a:ext cx="9144000" cy="634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498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D:\bahria 2019\FOPM\Sumaiya\Lecture 9\PREP\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634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408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D:\bahria 2019\FOPM\Sumaiya\Lecture 9\PREP\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04" y="1196752"/>
            <a:ext cx="9346232" cy="583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60821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:\bahria 2019\FOPM\Sumaiya\Lecture 9\PREP\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196752"/>
            <a:ext cx="9121630" cy="566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688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D:\bahria 2019\FOPM\Sumaiya\Lecture 9\PREP\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" y="1196751"/>
            <a:ext cx="9143933" cy="594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895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D:\bahria 2019\FOPM\Sumaiya\Lecture 9\PREP\1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6" y="1196751"/>
            <a:ext cx="9125044" cy="566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7845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2920" y="404664"/>
            <a:ext cx="8229600" cy="61082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Factors influencing Quality of Estimates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D:\bahria 2019\FOPM\Sumaiya\Lecture 9\PREP 3\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758"/>
            <a:ext cx="9036496" cy="547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703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D:\bahria 2019\FOPM\Sumaiya\Lecture 9\PREP\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6" y="1124744"/>
            <a:ext cx="9131074" cy="6434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8216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D:\bahria 2019\FOPM\Sumaiya\Lecture 9\PREP\1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036496" cy="5855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695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Process 3  Determine Budget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D:\bahria 2019\FOPM\Sumaiya\Lecture 9\PREP 1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1169971"/>
            <a:ext cx="9252520" cy="534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5559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D:\bahria 2019\FOPM\Sumaiya\Lecture 9\PREP\2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573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3325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D:\bahria 2019\FOPM\Sumaiya\Lecture 9\PREP\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2" y="1180483"/>
            <a:ext cx="9124778" cy="6136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0175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D:\bahria 2019\FOPM\Sumaiya\Lecture 9\PREP\2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8" y="1196752"/>
            <a:ext cx="9005148" cy="579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3703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9" name="Picture 3" descr="D:\bahria 2019\FOPM\Sumaiya\Lecture 9\PREP 3\R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5" y="0"/>
            <a:ext cx="9019931" cy="715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14253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D:\bahria 2019\FOPM\Sumaiya\Lecture 9\PREP 1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620688"/>
            <a:ext cx="9117013" cy="603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454968" y="9868"/>
            <a:ext cx="8229600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RESERVE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230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912" y="260648"/>
            <a:ext cx="5132055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RESERVE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 smtClean="0"/>
              <a:t>Contingency Reserve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contingency reserve is not random; it is an </a:t>
            </a:r>
            <a:r>
              <a:rPr lang="en-US" b="1" dirty="0">
                <a:solidFill>
                  <a:srgbClr val="157FFF"/>
                </a:solidFill>
              </a:rPr>
              <a:t>estimated reserve</a:t>
            </a:r>
            <a:r>
              <a:rPr lang="en-US" dirty="0"/>
              <a:t> based on various risk management techniques</a:t>
            </a:r>
            <a:r>
              <a:rPr lang="en-US" dirty="0" smtClean="0"/>
              <a:t>. Like, Percentage </a:t>
            </a:r>
            <a:r>
              <a:rPr lang="en-US" dirty="0"/>
              <a:t>of the Project’s </a:t>
            </a:r>
            <a:r>
              <a:rPr lang="en-US" dirty="0" smtClean="0"/>
              <a:t>Cost, Expected </a:t>
            </a:r>
            <a:r>
              <a:rPr lang="en-US" dirty="0"/>
              <a:t>Monetary </a:t>
            </a:r>
            <a:r>
              <a:rPr lang="en-US" dirty="0" smtClean="0"/>
              <a:t>Value, Decision </a:t>
            </a:r>
            <a:r>
              <a:rPr lang="en-US" dirty="0"/>
              <a:t>Tree </a:t>
            </a:r>
            <a:r>
              <a:rPr lang="en-US" dirty="0" smtClean="0"/>
              <a:t>Analysis, Monte </a:t>
            </a:r>
            <a:r>
              <a:rPr lang="en-US" dirty="0"/>
              <a:t>Carlo Simulation</a:t>
            </a:r>
          </a:p>
          <a:p>
            <a:endParaRPr lang="en-US" dirty="0" smtClean="0"/>
          </a:p>
          <a:p>
            <a:r>
              <a:rPr lang="en-US" dirty="0" smtClean="0"/>
              <a:t>Project </a:t>
            </a:r>
            <a:r>
              <a:rPr lang="en-US" dirty="0"/>
              <a:t>managers control this reserve; they have full authority to use it whenever an identified risk occurs. They can also delegate this authority to a risk owner. The risk owner will manage it and update the project manager in later stages.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0371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1879" y="332656"/>
            <a:ext cx="5492095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RESERVE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 descr="D:\bahria 2019\FOPM\Sumaiya\Lecture 9\PREP 1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5388"/>
            <a:ext cx="9136063" cy="5545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8792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340768"/>
            <a:ext cx="8352928" cy="518457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b="1" u="sng" dirty="0" smtClean="0"/>
              <a:t>Management Reserve</a:t>
            </a:r>
          </a:p>
          <a:p>
            <a:r>
              <a:rPr lang="en-US" dirty="0" smtClean="0"/>
              <a:t>The </a:t>
            </a:r>
            <a:r>
              <a:rPr lang="en-US" dirty="0"/>
              <a:t>management reserve is a part of the project budget but not the cost baseline. It is not an estimated reserve; it is a figure that is fashioned according to the organization’s policies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It can be 5% of the total project cost or duration of the project or it may be as high as 10%. The management reserve is usually estimated based on the uncertainty of the project.</a:t>
            </a:r>
          </a:p>
          <a:p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if you are doing a project in which your organization has the expertise and experience, the management reserve will be less. In this case, there is less uncertainty.</a:t>
            </a:r>
          </a:p>
          <a:p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if you are doing a kind of project new to your organization, the management reserve will be high, because, in this situation, the uncertainty is greater.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project manager does not control management reserve, the management does. Therefore, the project manager must receive approval to use this reserve whenever any unidentified risk occurs.</a:t>
            </a:r>
          </a:p>
          <a:p>
            <a:endParaRPr lang="en-US" b="1" u="sng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779912" y="260648"/>
            <a:ext cx="5132055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RESERVE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6938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D:\bahria 2019\FOPM\Sumaiya\Lecture 9\PREP\2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3166"/>
            <a:ext cx="9144000" cy="5858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5573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D:\bahria 2019\FOPM\Sumaiya\Lecture 9\PREP\2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308133" cy="573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1498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51520" y="1268760"/>
            <a:ext cx="856895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Cost Estimate</a:t>
            </a:r>
          </a:p>
          <a:p>
            <a:r>
              <a:rPr lang="en-US" sz="2400" dirty="0"/>
              <a:t>The cost estimate is the cost of all work packages and is “rolled up” to the top level; this is the total cost of the project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b="1" dirty="0"/>
              <a:t>Cost Baseline</a:t>
            </a:r>
          </a:p>
          <a:p>
            <a:r>
              <a:rPr lang="en-US" sz="2400" dirty="0"/>
              <a:t>When you add the contingency reserve to the cost estimate, you get the cost baseline.</a:t>
            </a:r>
          </a:p>
          <a:p>
            <a:r>
              <a:rPr lang="en-US" sz="2400" dirty="0"/>
              <a:t>Cost Baseline = Cost Estimate + Contingency </a:t>
            </a:r>
            <a:r>
              <a:rPr lang="en-US" sz="2400" dirty="0" smtClean="0"/>
              <a:t>Reserve</a:t>
            </a:r>
          </a:p>
          <a:p>
            <a:endParaRPr lang="en-US" sz="2400" dirty="0"/>
          </a:p>
          <a:p>
            <a:r>
              <a:rPr lang="en-US" sz="2400" dirty="0"/>
              <a:t>Note that the project’s performance will be measured against the cost baseline.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Project </a:t>
            </a:r>
            <a:r>
              <a:rPr lang="en-US" sz="2400" b="1" dirty="0"/>
              <a:t>Budget</a:t>
            </a:r>
          </a:p>
          <a:p>
            <a:r>
              <a:rPr lang="en-US" sz="2400" dirty="0"/>
              <a:t>If you add the management reserve to the cost baseline, you will get the project budget.</a:t>
            </a:r>
          </a:p>
          <a:p>
            <a:r>
              <a:rPr lang="en-US" sz="2400" dirty="0"/>
              <a:t>Project Budget = Cost Baseline + Management Reserve</a:t>
            </a:r>
          </a:p>
        </p:txBody>
      </p:sp>
    </p:spTree>
    <p:extLst>
      <p:ext uri="{BB962C8B-B14F-4D97-AF65-F5344CB8AC3E}">
        <p14:creationId xmlns:p14="http://schemas.microsoft.com/office/powerpoint/2010/main" val="2641313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D:\bahria 2019\FOPM\Sumaiya\Lecture 9\PREP 1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1141363"/>
            <a:ext cx="9252520" cy="588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5177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D:\bahria 2019\FOPM\Sumaiya\Lecture 9\PREP 1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96752"/>
            <a:ext cx="9144000" cy="5645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7863" y="332656"/>
            <a:ext cx="5636111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COST BASELINE</a:t>
            </a:r>
            <a:endParaRPr lang="en-US" dirty="0"/>
          </a:p>
        </p:txBody>
      </p:sp>
      <p:pic>
        <p:nvPicPr>
          <p:cNvPr id="5122" name="Picture 2" descr="Creating Budget Or Cost Baseline For Projects - RationalPla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822134"/>
            <a:ext cx="3295650" cy="204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5006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D:\bahria 2019\FOPM\Sumaiya\Lecture 9\PREP 1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610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5726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9" name="Picture 3" descr="D:\bahria 2019\FOPM\Sumaiya\Lecture 9\PREP 1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5926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2425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D:\bahria 2019\FOPM\Sumaiya\Lecture 9\PREP 1\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6126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3573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D:\bahria 2019\FOPM\Sumaiya\Lecture 9\PREP 1\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7" y="1124744"/>
            <a:ext cx="8942451" cy="584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0527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D:\bahria 2019\FOPM\Sumaiya\Lecture 9\PREP\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3" y="1196752"/>
            <a:ext cx="9109037" cy="573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2705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 descr="D:\bahria 2019\FOPM\Sumaiya\Lecture 9\PREP\3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7762"/>
            <a:ext cx="9144000" cy="552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9595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D:\bahria 2019\FOPM\Sumaiya\Lecture 9\PREP 1\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588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596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7575</TotalTime>
  <Words>892</Words>
  <Application>Microsoft Office PowerPoint</Application>
  <PresentationFormat>On-screen Show (4:3)</PresentationFormat>
  <Paragraphs>117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Office Theme</vt:lpstr>
      <vt:lpstr>PROJECT COST MANAGEMENT</vt:lpstr>
      <vt:lpstr>PowerPoint Presentation</vt:lpstr>
      <vt:lpstr>PowerPoint Presentation</vt:lpstr>
      <vt:lpstr>What is Project cost? </vt:lpstr>
      <vt:lpstr>Project Cost Management</vt:lpstr>
      <vt:lpstr>IMPORTANCE</vt:lpstr>
      <vt:lpstr>BENEFITS</vt:lpstr>
      <vt:lpstr>TYPE OF RESERVES</vt:lpstr>
      <vt:lpstr>CONTIGENCY RESERVE</vt:lpstr>
      <vt:lpstr>PowerPoint Presentation</vt:lpstr>
      <vt:lpstr>MANGEMENT RESERVE</vt:lpstr>
      <vt:lpstr>TYPE OF COST – DIRECT AND INDIRECT COST</vt:lpstr>
      <vt:lpstr>PROJECT COST MANAGEMENT</vt:lpstr>
      <vt:lpstr>PowerPoint Presentation</vt:lpstr>
      <vt:lpstr>ESTIMATE COST</vt:lpstr>
      <vt:lpstr>PowerPoint Presentation</vt:lpstr>
      <vt:lpstr>Cost Estimate</vt:lpstr>
      <vt:lpstr>When Are Cost Estimated? </vt:lpstr>
      <vt:lpstr>Types of Cost Estimates </vt:lpstr>
      <vt:lpstr>TYPE OF ESTIMATES</vt:lpstr>
      <vt:lpstr>TOP DOWN VS BOTTOM UP ESTIMATES</vt:lpstr>
      <vt:lpstr>COST AGGREGATION: BOTTOM UP APPROACH</vt:lpstr>
      <vt:lpstr>Top Down vs Bottom Up Estimates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Factors influencing Quality of Estimates</vt:lpstr>
      <vt:lpstr>PowerPoint Presentation</vt:lpstr>
      <vt:lpstr>PowerPoint Presentation</vt:lpstr>
      <vt:lpstr>Process 3  Determine Budget</vt:lpstr>
      <vt:lpstr>PowerPoint Presentation</vt:lpstr>
      <vt:lpstr>PowerPoint Presentation</vt:lpstr>
      <vt:lpstr>PowerPoint Presentation</vt:lpstr>
      <vt:lpstr>PowerPoint Presentation</vt:lpstr>
      <vt:lpstr>RESERVE ANALYSIS</vt:lpstr>
      <vt:lpstr>RESERVE ANALYSIS</vt:lpstr>
      <vt:lpstr>RESERVE ANALYSIS</vt:lpstr>
      <vt:lpstr>RESERVE ANALYSIS</vt:lpstr>
      <vt:lpstr>PowerPoint Presentation</vt:lpstr>
      <vt:lpstr>PowerPoint Presentation</vt:lpstr>
      <vt:lpstr>PowerPoint Presentation</vt:lpstr>
      <vt:lpstr>PowerPoint Presentation</vt:lpstr>
      <vt:lpstr>COST BASELINE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HAIER</cp:lastModifiedBy>
  <cp:revision>408</cp:revision>
  <dcterms:created xsi:type="dcterms:W3CDTF">2013-08-21T19:17:07Z</dcterms:created>
  <dcterms:modified xsi:type="dcterms:W3CDTF">2021-12-11T16:22:32Z</dcterms:modified>
</cp:coreProperties>
</file>