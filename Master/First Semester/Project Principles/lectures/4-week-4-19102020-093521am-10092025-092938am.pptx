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5" r:id="rId2"/>
  </p:sldMasterIdLst>
  <p:notesMasterIdLst>
    <p:notesMasterId r:id="rId49"/>
  </p:notesMasterIdLst>
  <p:sldIdLst>
    <p:sldId id="349" r:id="rId3"/>
    <p:sldId id="350" r:id="rId4"/>
    <p:sldId id="351" r:id="rId5"/>
    <p:sldId id="353" r:id="rId6"/>
    <p:sldId id="338" r:id="rId7"/>
    <p:sldId id="339" r:id="rId8"/>
    <p:sldId id="340" r:id="rId9"/>
    <p:sldId id="341" r:id="rId10"/>
    <p:sldId id="304" r:id="rId11"/>
    <p:sldId id="287" r:id="rId12"/>
    <p:sldId id="306" r:id="rId13"/>
    <p:sldId id="307" r:id="rId14"/>
    <p:sldId id="288" r:id="rId15"/>
    <p:sldId id="289" r:id="rId16"/>
    <p:sldId id="313" r:id="rId17"/>
    <p:sldId id="311" r:id="rId18"/>
    <p:sldId id="342" r:id="rId19"/>
    <p:sldId id="343" r:id="rId20"/>
    <p:sldId id="344" r:id="rId21"/>
    <p:sldId id="345" r:id="rId22"/>
    <p:sldId id="346" r:id="rId23"/>
    <p:sldId id="347" r:id="rId24"/>
    <p:sldId id="348" r:id="rId25"/>
    <p:sldId id="316" r:id="rId26"/>
    <p:sldId id="317" r:id="rId27"/>
    <p:sldId id="318" r:id="rId28"/>
    <p:sldId id="319" r:id="rId29"/>
    <p:sldId id="320" r:id="rId30"/>
    <p:sldId id="321" r:id="rId31"/>
    <p:sldId id="322" r:id="rId32"/>
    <p:sldId id="323" r:id="rId33"/>
    <p:sldId id="324" r:id="rId34"/>
    <p:sldId id="325" r:id="rId35"/>
    <p:sldId id="326" r:id="rId36"/>
    <p:sldId id="327" r:id="rId37"/>
    <p:sldId id="328" r:id="rId38"/>
    <p:sldId id="329" r:id="rId39"/>
    <p:sldId id="330" r:id="rId40"/>
    <p:sldId id="331" r:id="rId41"/>
    <p:sldId id="332" r:id="rId42"/>
    <p:sldId id="333" r:id="rId43"/>
    <p:sldId id="334" r:id="rId44"/>
    <p:sldId id="335" r:id="rId45"/>
    <p:sldId id="336" r:id="rId46"/>
    <p:sldId id="352" r:id="rId47"/>
    <p:sldId id="337"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3" autoAdjust="0"/>
    <p:restoredTop sz="94660"/>
  </p:normalViewPr>
  <p:slideViewPr>
    <p:cSldViewPr snapToGrid="0">
      <p:cViewPr varScale="1">
        <p:scale>
          <a:sx n="86" d="100"/>
          <a:sy n="86" d="100"/>
        </p:scale>
        <p:origin x="64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4CB0B4-ACC4-45E6-9D6A-85DBEC14C811}" type="datetimeFigureOut">
              <a:rPr lang="en-US" smtClean="0"/>
              <a:t>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A25113-A5D5-43C2-B3BA-9241A39D4289}" type="slidenum">
              <a:rPr lang="en-US" smtClean="0"/>
              <a:t>‹#›</a:t>
            </a:fld>
            <a:endParaRPr lang="en-US"/>
          </a:p>
        </p:txBody>
      </p:sp>
    </p:spTree>
    <p:extLst>
      <p:ext uri="{BB962C8B-B14F-4D97-AF65-F5344CB8AC3E}">
        <p14:creationId xmlns:p14="http://schemas.microsoft.com/office/powerpoint/2010/main" val="1406570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p:spPr>
        <p:txBody>
          <a:bodyPr/>
          <a:lstStyle>
            <a:lvl1pPr>
              <a:defRPr sz="2400" b="1">
                <a:solidFill>
                  <a:schemeClr val="tx1"/>
                </a:solidFill>
                <a:latin typeface="Arial" panose="020B0604020202020204" pitchFamily="34" charset="0"/>
              </a:defRPr>
            </a:lvl1pPr>
            <a:lvl2pPr marL="742950" indent="-285750">
              <a:defRPr sz="2400" b="1">
                <a:solidFill>
                  <a:schemeClr val="tx1"/>
                </a:solidFill>
                <a:latin typeface="Arial" panose="020B0604020202020204" pitchFamily="34" charset="0"/>
              </a:defRPr>
            </a:lvl2pPr>
            <a:lvl3pPr marL="1143000" indent="-228600">
              <a:defRPr sz="2400" b="1">
                <a:solidFill>
                  <a:schemeClr val="tx1"/>
                </a:solidFill>
                <a:latin typeface="Arial" panose="020B0604020202020204" pitchFamily="34" charset="0"/>
              </a:defRPr>
            </a:lvl3pPr>
            <a:lvl4pPr marL="1600200" indent="-228600">
              <a:defRPr sz="2400" b="1">
                <a:solidFill>
                  <a:schemeClr val="tx1"/>
                </a:solidFill>
                <a:latin typeface="Arial" panose="020B0604020202020204" pitchFamily="34" charset="0"/>
              </a:defRPr>
            </a:lvl4pPr>
            <a:lvl5pPr marL="2057400" indent="-228600">
              <a:defRPr sz="2400" b="1">
                <a:solidFill>
                  <a:schemeClr val="tx1"/>
                </a:solidFill>
                <a:latin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4B52BDB-20D7-475C-AEED-ED2F327D9B85}"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9219" name="Rectangle 2"/>
          <p:cNvSpPr>
            <a:spLocks noGrp="1" noRot="1" noChangeAspect="1" noChangeArrowheads="1" noTextEdit="1"/>
          </p:cNvSpPr>
          <p:nvPr>
            <p:ph type="sldImg"/>
          </p:nvPr>
        </p:nvSpPr>
        <p:spPr>
          <a:ln/>
        </p:spPr>
      </p:sp>
      <p:sp>
        <p:nvSpPr>
          <p:cNvPr id="9220" name="Rectangle 3"/>
          <p:cNvSpPr>
            <a:spLocks noGrp="1" noChangeArrowheads="1"/>
          </p:cNvSpPr>
          <p:nvPr>
            <p:ph type="body" idx="1"/>
          </p:nvPr>
        </p:nvSpPr>
        <p:spPr>
          <a:noFill/>
        </p:spPr>
        <p:txBody>
          <a:bodyPr/>
          <a:lstStyle/>
          <a:p>
            <a:pPr eaLnBrk="1" hangingPunct="1"/>
            <a:r>
              <a:rPr lang="en-US" altLang="en-US"/>
              <a:t>SOWs must reflect the full requirement to include a description of the work to be accomplished, the outcomes or deliverables, any NAFI/Government information to be provided the contractor, </a:t>
            </a:r>
            <a:r>
              <a:rPr lang="en-US" altLang="en-US">
                <a:latin typeface="Arial" panose="020B0604020202020204" pitchFamily="34" charset="0"/>
              </a:rPr>
              <a:t>All other documents must be consistent with your SOW. We will go into this a litlle later, however some examples are the evaluation factors/criteria, instructions for proposal presentation, </a:t>
            </a:r>
          </a:p>
          <a:p>
            <a:pPr eaLnBrk="1" hangingPunct="1"/>
            <a:endParaRPr lang="en-US" altLang="en-US"/>
          </a:p>
        </p:txBody>
      </p:sp>
    </p:spTree>
    <p:extLst>
      <p:ext uri="{BB962C8B-B14F-4D97-AF65-F5344CB8AC3E}">
        <p14:creationId xmlns:p14="http://schemas.microsoft.com/office/powerpoint/2010/main" val="12742428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p:spPr>
        <p:txBody>
          <a:bodyPr/>
          <a:lstStyle>
            <a:lvl1pPr>
              <a:defRPr sz="2400" b="1">
                <a:solidFill>
                  <a:schemeClr val="tx1"/>
                </a:solidFill>
                <a:latin typeface="Arial" panose="020B0604020202020204" pitchFamily="34" charset="0"/>
              </a:defRPr>
            </a:lvl1pPr>
            <a:lvl2pPr marL="742950" indent="-285750">
              <a:defRPr sz="2400" b="1">
                <a:solidFill>
                  <a:schemeClr val="tx1"/>
                </a:solidFill>
                <a:latin typeface="Arial" panose="020B0604020202020204" pitchFamily="34" charset="0"/>
              </a:defRPr>
            </a:lvl2pPr>
            <a:lvl3pPr marL="1143000" indent="-228600">
              <a:defRPr sz="2400" b="1">
                <a:solidFill>
                  <a:schemeClr val="tx1"/>
                </a:solidFill>
                <a:latin typeface="Arial" panose="020B0604020202020204" pitchFamily="34" charset="0"/>
              </a:defRPr>
            </a:lvl3pPr>
            <a:lvl4pPr marL="1600200" indent="-228600">
              <a:defRPr sz="2400" b="1">
                <a:solidFill>
                  <a:schemeClr val="tx1"/>
                </a:solidFill>
                <a:latin typeface="Arial" panose="020B0604020202020204" pitchFamily="34" charset="0"/>
              </a:defRPr>
            </a:lvl4pPr>
            <a:lvl5pPr marL="2057400" indent="-228600">
              <a:defRPr sz="2400" b="1">
                <a:solidFill>
                  <a:schemeClr val="tx1"/>
                </a:solidFill>
                <a:latin typeface="Arial" panose="020B0604020202020204" pitchFamily="34" charset="0"/>
              </a:defRPr>
            </a:lvl5pPr>
            <a:lvl6pPr marL="2514600" indent="-228600" eaLnBrk="0" fontAlgn="base" hangingPunct="0">
              <a:spcBef>
                <a:spcPct val="0"/>
              </a:spcBef>
              <a:spcAft>
                <a:spcPct val="0"/>
              </a:spcAft>
              <a:defRPr sz="2400" b="1">
                <a:solidFill>
                  <a:schemeClr val="tx1"/>
                </a:solidFill>
                <a:latin typeface="Arial" panose="020B0604020202020204" pitchFamily="34" charset="0"/>
              </a:defRPr>
            </a:lvl6pPr>
            <a:lvl7pPr marL="2971800" indent="-228600" eaLnBrk="0" fontAlgn="base" hangingPunct="0">
              <a:spcBef>
                <a:spcPct val="0"/>
              </a:spcBef>
              <a:spcAft>
                <a:spcPct val="0"/>
              </a:spcAft>
              <a:defRPr sz="2400" b="1">
                <a:solidFill>
                  <a:schemeClr val="tx1"/>
                </a:solidFill>
                <a:latin typeface="Arial" panose="020B0604020202020204" pitchFamily="34" charset="0"/>
              </a:defRPr>
            </a:lvl7pPr>
            <a:lvl8pPr marL="3429000" indent="-228600" eaLnBrk="0" fontAlgn="base" hangingPunct="0">
              <a:spcBef>
                <a:spcPct val="0"/>
              </a:spcBef>
              <a:spcAft>
                <a:spcPct val="0"/>
              </a:spcAft>
              <a:defRPr sz="2400" b="1">
                <a:solidFill>
                  <a:schemeClr val="tx1"/>
                </a:solidFill>
                <a:latin typeface="Arial" panose="020B0604020202020204" pitchFamily="34" charset="0"/>
              </a:defRPr>
            </a:lvl8pPr>
            <a:lvl9pPr marL="3886200" indent="-228600" eaLnBrk="0" fontAlgn="base" hangingPunct="0">
              <a:spcBef>
                <a:spcPct val="0"/>
              </a:spcBef>
              <a:spcAft>
                <a:spcPct val="0"/>
              </a:spcAft>
              <a:defRPr sz="2400" b="1">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CD954DF-4464-42C1-9155-C7FFFB818F25}"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p:spPr>
        <p:txBody>
          <a:bodyPr/>
          <a:lstStyle/>
          <a:p>
            <a:pPr eaLnBrk="1" hangingPunct="1"/>
            <a:r>
              <a:rPr lang="en-US" altLang="en-US"/>
              <a:t>Amendments during the solicitation and evaluation process</a:t>
            </a:r>
          </a:p>
          <a:p>
            <a:pPr eaLnBrk="1" hangingPunct="1"/>
            <a:r>
              <a:rPr lang="en-US" altLang="en-US"/>
              <a:t>Ensures ease of administration – lessens possibility of misinterpretations of requirements.</a:t>
            </a:r>
          </a:p>
          <a:p>
            <a:pPr eaLnBrk="1" hangingPunct="1"/>
            <a:r>
              <a:rPr lang="en-US" altLang="en-US"/>
              <a:t>Additional cost as a result of inadequate specification</a:t>
            </a:r>
          </a:p>
          <a:p>
            <a:pPr eaLnBrk="1" hangingPunct="1"/>
            <a:endParaRPr lang="en-US" altLang="en-US"/>
          </a:p>
          <a:p>
            <a:pPr eaLnBrk="1" hangingPunct="1"/>
            <a:r>
              <a:rPr lang="en-US" altLang="en-US"/>
              <a:t> </a:t>
            </a:r>
          </a:p>
        </p:txBody>
      </p:sp>
    </p:spTree>
    <p:extLst>
      <p:ext uri="{BB962C8B-B14F-4D97-AF65-F5344CB8AC3E}">
        <p14:creationId xmlns:p14="http://schemas.microsoft.com/office/powerpoint/2010/main" val="36267307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7BF9876-71C6-40EA-887F-0BC32337A544}" type="datetimeFigureOut">
              <a:rPr lang="en-US" smtClean="0"/>
              <a:t>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11E2A5-9284-4FAB-BC3F-A9D650E248D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BF9876-71C6-40EA-887F-0BC32337A544}" type="datetimeFigureOut">
              <a:rPr lang="en-US" smtClean="0"/>
              <a:t>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11E2A5-9284-4FAB-BC3F-A9D650E248D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BF9876-71C6-40EA-887F-0BC32337A544}" type="datetimeFigureOut">
              <a:rPr lang="en-US" smtClean="0"/>
              <a:t>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11E2A5-9284-4FAB-BC3F-A9D650E248D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7BF9876-71C6-40EA-887F-0BC32337A544}" type="datetimeFigureOut">
              <a:rPr lang="en-US" smtClean="0"/>
              <a:t>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11E2A5-9284-4FAB-BC3F-A9D650E248D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7BF9876-71C6-40EA-887F-0BC32337A544}" type="datetimeFigureOut">
              <a:rPr lang="en-US" smtClean="0"/>
              <a:t>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C11E2A5-9284-4FAB-BC3F-A9D650E248D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7BF9876-71C6-40EA-887F-0BC32337A544}" type="datetimeFigureOut">
              <a:rPr lang="en-US" smtClean="0"/>
              <a:t>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C11E2A5-9284-4FAB-BC3F-A9D650E248D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BF9876-71C6-40EA-887F-0BC32337A544}" type="datetimeFigureOut">
              <a:rPr lang="en-US" smtClean="0"/>
              <a:t>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C11E2A5-9284-4FAB-BC3F-A9D650E248D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7BF9876-71C6-40EA-887F-0BC32337A544}" type="datetimeFigureOut">
              <a:rPr lang="en-US" smtClean="0"/>
              <a:t>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11E2A5-9284-4FAB-BC3F-A9D650E248D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7BF9876-71C6-40EA-887F-0BC32337A544}" type="datetimeFigureOut">
              <a:rPr lang="en-US" smtClean="0"/>
              <a:t>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11E2A5-9284-4FAB-BC3F-A9D650E248D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BF9876-71C6-40EA-887F-0BC32337A544}" type="datetimeFigureOut">
              <a:rPr lang="en-US" smtClean="0"/>
              <a:t>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11E2A5-9284-4FAB-BC3F-A9D650E248D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BF9876-71C6-40EA-887F-0BC32337A544}" type="datetimeFigureOut">
              <a:rPr lang="en-US" smtClean="0"/>
              <a:t>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11E2A5-9284-4FAB-BC3F-A9D650E248DB}"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panose="020B0604020202020204"/>
              </a:rPr>
              <a:t>”</a:t>
            </a:r>
            <a:endParaRPr lang="en-US" dirty="0">
              <a:solidFill>
                <a:schemeClr val="accent1">
                  <a:lumMod val="60000"/>
                  <a:lumOff val="40000"/>
                </a:schemeClr>
              </a:solidFill>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BF9876-71C6-40EA-887F-0BC32337A544}" type="datetimeFigureOut">
              <a:rPr lang="en-US" smtClean="0"/>
              <a:t>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11E2A5-9284-4FAB-BC3F-A9D650E248DB}"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BF9876-71C6-40EA-887F-0BC32337A544}" type="datetimeFigureOut">
              <a:rPr lang="en-US" smtClean="0"/>
              <a:t>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11E2A5-9284-4FAB-BC3F-A9D650E248DB}"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BF9876-71C6-40EA-887F-0BC32337A544}" type="datetimeFigureOut">
              <a:rPr lang="en-US" smtClean="0"/>
              <a:t>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11E2A5-9284-4FAB-BC3F-A9D650E248DB}"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BF9876-71C6-40EA-887F-0BC32337A544}" type="datetimeFigureOut">
              <a:rPr lang="en-US" smtClean="0"/>
              <a:t>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11E2A5-9284-4FAB-BC3F-A9D650E248DB}"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7BF9876-71C6-40EA-887F-0BC32337A544}" type="datetimeFigureOut">
              <a:rPr lang="en-US" smtClean="0"/>
              <a:t>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11E2A5-9284-4FAB-BC3F-A9D650E248DB}"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3047" y="2207360"/>
            <a:ext cx="10363200" cy="763525"/>
          </a:xfrm>
          <a:effectLst>
            <a:outerShdw blurRad="50800" dist="38100" dir="2700000" algn="tl" rotWithShape="0">
              <a:prstClr val="black">
                <a:alpha val="40000"/>
              </a:prstClr>
            </a:outerShdw>
          </a:effectLst>
        </p:spPr>
        <p:txBody>
          <a:bodyPr>
            <a:normAutofit/>
          </a:bodyPr>
          <a:lstStyle>
            <a:lvl1pPr algn="r">
              <a:defRPr sz="36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3245507" y="4039820"/>
            <a:ext cx="8534400" cy="1068935"/>
          </a:xfrm>
        </p:spPr>
        <p:txBody>
          <a:bodyPr>
            <a:normAutofit/>
          </a:bodyPr>
          <a:lstStyle>
            <a:lvl1pPr marL="0" indent="0" algn="r">
              <a:buNone/>
              <a:defRPr sz="2800">
                <a:solidFill>
                  <a:srgbClr val="00B0F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t>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05833" y="527605"/>
            <a:ext cx="10972800" cy="610820"/>
          </a:xfrm>
        </p:spPr>
        <p:txBody>
          <a:bodyPr>
            <a:normAutofit/>
          </a:bodyPr>
          <a:lstStyle>
            <a:lvl1pPr algn="r">
              <a:defRPr sz="36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1005832" y="1443835"/>
            <a:ext cx="9976727" cy="4581150"/>
          </a:xfrm>
        </p:spPr>
        <p:txBody>
          <a:bodyPr/>
          <a:lstStyle>
            <a:lvl1pPr>
              <a:defRPr sz="2800">
                <a:solidFill>
                  <a:schemeClr val="tx2">
                    <a:lumMod val="75000"/>
                  </a:schemeClr>
                </a:solidFill>
              </a:defRPr>
            </a:lvl1pPr>
            <a:lvl2pPr>
              <a:defRPr>
                <a:solidFill>
                  <a:schemeClr val="tx2">
                    <a:lumMod val="75000"/>
                  </a:schemeClr>
                </a:solidFill>
              </a:defRPr>
            </a:lvl2pPr>
            <a:lvl3pPr>
              <a:defRPr>
                <a:solidFill>
                  <a:schemeClr val="tx2">
                    <a:lumMod val="75000"/>
                  </a:schemeClr>
                </a:solidFill>
              </a:defRPr>
            </a:lvl3pPr>
            <a:lvl4pPr>
              <a:defRPr>
                <a:solidFill>
                  <a:schemeClr val="tx2">
                    <a:lumMod val="75000"/>
                  </a:schemeClr>
                </a:solidFill>
              </a:defRPr>
            </a:lvl4pPr>
            <a:lvl5pPr>
              <a:defRPr>
                <a:solidFill>
                  <a:schemeClr val="tx2">
                    <a:lumMod val="7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t>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31080" y="527605"/>
            <a:ext cx="9354927" cy="684885"/>
          </a:xfrm>
        </p:spPr>
        <p:txBody>
          <a:bodyPr>
            <a:normAutofit/>
          </a:bodyPr>
          <a:lstStyle>
            <a:lvl1pPr algn="l">
              <a:defRPr sz="3600">
                <a:solidFill>
                  <a:srgbClr val="00B0F0"/>
                </a:solidFill>
              </a:defRPr>
            </a:lvl1pPr>
          </a:lstStyle>
          <a:p>
            <a:r>
              <a:rPr lang="en-US" dirty="0"/>
              <a:t>Click to edit Master title style</a:t>
            </a:r>
          </a:p>
        </p:txBody>
      </p:sp>
      <p:sp>
        <p:nvSpPr>
          <p:cNvPr id="3" name="Content Placeholder 2"/>
          <p:cNvSpPr>
            <a:spLocks noGrp="1"/>
          </p:cNvSpPr>
          <p:nvPr>
            <p:ph idx="1"/>
          </p:nvPr>
        </p:nvSpPr>
        <p:spPr>
          <a:xfrm>
            <a:off x="2431080" y="1443835"/>
            <a:ext cx="9354927" cy="4275740"/>
          </a:xfrm>
        </p:spPr>
        <p:txBody>
          <a:bodyPr/>
          <a:lstStyle>
            <a:lvl1pPr>
              <a:defRPr sz="2800">
                <a:solidFill>
                  <a:schemeClr val="tx2">
                    <a:lumMod val="75000"/>
                  </a:schemeClr>
                </a:solidFill>
              </a:defRPr>
            </a:lvl1pPr>
            <a:lvl2pPr>
              <a:defRPr>
                <a:solidFill>
                  <a:schemeClr val="tx2">
                    <a:lumMod val="75000"/>
                  </a:schemeClr>
                </a:solidFill>
              </a:defRPr>
            </a:lvl2pPr>
            <a:lvl3pPr>
              <a:defRPr>
                <a:solidFill>
                  <a:schemeClr val="tx2">
                    <a:lumMod val="75000"/>
                  </a:schemeClr>
                </a:solidFill>
              </a:defRPr>
            </a:lvl3pPr>
            <a:lvl4pPr>
              <a:defRPr>
                <a:solidFill>
                  <a:schemeClr val="tx2">
                    <a:lumMod val="75000"/>
                  </a:schemeClr>
                </a:solidFill>
              </a:defRPr>
            </a:lvl4pPr>
            <a:lvl5pPr>
              <a:defRPr>
                <a:solidFill>
                  <a:schemeClr val="tx2">
                    <a:lumMod val="7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t>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t>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t>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674680" y="527605"/>
            <a:ext cx="8325913" cy="532180"/>
          </a:xfrm>
        </p:spPr>
        <p:txBody>
          <a:bodyPr>
            <a:normAutofit/>
          </a:bodyPr>
          <a:lstStyle>
            <a:lvl1pPr algn="r">
              <a:defRPr sz="3600">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802228" y="1596540"/>
            <a:ext cx="5090165" cy="639762"/>
          </a:xfrm>
        </p:spPr>
        <p:txBody>
          <a:bodyPr anchor="b"/>
          <a:lstStyle>
            <a:lvl1pPr marL="0" indent="0">
              <a:buNone/>
              <a:defRPr sz="2400" b="1" baseline="0">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02228" y="2226403"/>
            <a:ext cx="5090165" cy="3035058"/>
          </a:xfrm>
        </p:spPr>
        <p:txBody>
          <a:bodyPr/>
          <a:lstStyle>
            <a:lvl1pPr>
              <a:defRPr sz="2400">
                <a:solidFill>
                  <a:schemeClr val="tx2">
                    <a:lumMod val="75000"/>
                  </a:schemeClr>
                </a:solidFill>
              </a:defRPr>
            </a:lvl1pPr>
            <a:lvl2pPr>
              <a:defRPr sz="2000">
                <a:solidFill>
                  <a:schemeClr val="tx2">
                    <a:lumMod val="75000"/>
                  </a:schemeClr>
                </a:solidFill>
              </a:defRPr>
            </a:lvl2pPr>
            <a:lvl3pPr>
              <a:defRPr sz="1800">
                <a:solidFill>
                  <a:schemeClr val="tx2">
                    <a:lumMod val="75000"/>
                  </a:schemeClr>
                </a:solidFill>
              </a:defRPr>
            </a:lvl3pPr>
            <a:lvl4pPr>
              <a:defRPr sz="1600">
                <a:solidFill>
                  <a:schemeClr val="tx2">
                    <a:lumMod val="75000"/>
                  </a:schemeClr>
                </a:solidFill>
              </a:defRPr>
            </a:lvl4pPr>
            <a:lvl5pPr>
              <a:defRPr sz="1600">
                <a:solidFill>
                  <a:schemeClr val="tx2">
                    <a:lumMod val="75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299607" y="1596540"/>
            <a:ext cx="5293773" cy="639762"/>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99607" y="2226403"/>
            <a:ext cx="5293773" cy="3035058"/>
          </a:xfrm>
        </p:spPr>
        <p:txBody>
          <a:bodyPr/>
          <a:lstStyle>
            <a:lvl1pPr>
              <a:defRPr sz="2400">
                <a:solidFill>
                  <a:schemeClr val="tx2">
                    <a:lumMod val="75000"/>
                  </a:schemeClr>
                </a:solidFill>
              </a:defRPr>
            </a:lvl1pPr>
            <a:lvl2pPr>
              <a:defRPr sz="2000">
                <a:solidFill>
                  <a:schemeClr val="tx2">
                    <a:lumMod val="75000"/>
                  </a:schemeClr>
                </a:solidFill>
              </a:defRPr>
            </a:lvl2pPr>
            <a:lvl3pPr>
              <a:defRPr sz="1800">
                <a:solidFill>
                  <a:schemeClr val="tx2">
                    <a:lumMod val="75000"/>
                  </a:schemeClr>
                </a:solidFill>
              </a:defRPr>
            </a:lvl3pPr>
            <a:lvl4pPr>
              <a:defRPr sz="1600">
                <a:solidFill>
                  <a:schemeClr val="tx2">
                    <a:lumMod val="75000"/>
                  </a:schemeClr>
                </a:solidFill>
              </a:defRPr>
            </a:lvl4pPr>
            <a:lvl5pPr>
              <a:defRPr sz="1600">
                <a:solidFill>
                  <a:schemeClr val="tx2">
                    <a:lumMod val="75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t>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t>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t>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t>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t>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t>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t>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heme" Target="../theme/theme2.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7BF9876-71C6-40EA-887F-0BC32337A544}" type="datetimeFigureOut">
              <a:rPr lang="en-US" smtClean="0"/>
              <a:t>3/1/2025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C11E2A5-9284-4FAB-BC3F-A9D650E248D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t>3/1/2025</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google.com/url?sa=i&amp;rct=j&amp;q=&amp;esrc=s&amp;source=images&amp;cd=&amp;ved=2ahUKEwj88pfQpqffAhUN-YUKHZMyAOMQjRx6BAgBEAU&amp;url=http://lighthouseinsights.in/creative-promotions-by-brands-and-the-dabbawalas-of-mumbai.html/&amp;psig=AOvVaw3-BZvvl3V8nvlV1CStVCF1&amp;ust=1545151058237242" TargetMode="External"/><Relationship Id="rId1" Type="http://schemas.openxmlformats.org/officeDocument/2006/relationships/slideLayout" Target="../slideLayouts/slideLayout1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ubtitle 2"/>
          <p:cNvSpPr>
            <a:spLocks noGrp="1" noChangeArrowheads="1"/>
          </p:cNvSpPr>
          <p:nvPr>
            <p:ph type="subTitle" idx="1"/>
          </p:nvPr>
        </p:nvSpPr>
        <p:spPr>
          <a:xfrm>
            <a:off x="7620001" y="4987926"/>
            <a:ext cx="2684463" cy="811213"/>
          </a:xfrm>
        </p:spPr>
        <p:txBody>
          <a:bodyPr/>
          <a:lstStyle/>
          <a:p>
            <a:pPr algn="ctr" eaLnBrk="1" hangingPunct="1"/>
            <a:r>
              <a:rPr lang="en-GB" altLang="en-US" sz="1800" b="1" i="1" dirty="0">
                <a:solidFill>
                  <a:schemeClr val="tx1"/>
                </a:solidFill>
                <a:latin typeface="Georgia" panose="02040502050405020303" pitchFamily="18" charset="0"/>
              </a:rPr>
              <a:t>Lecturer </a:t>
            </a:r>
          </a:p>
          <a:p>
            <a:pPr algn="ctr" eaLnBrk="1" hangingPunct="1"/>
            <a:r>
              <a:rPr lang="en-GB" altLang="en-US" sz="1800" b="1" i="1" dirty="0" err="1">
                <a:solidFill>
                  <a:schemeClr val="tx1"/>
                </a:solidFill>
                <a:latin typeface="Georgia" panose="02040502050405020303" pitchFamily="18" charset="0"/>
              </a:rPr>
              <a:t>Sajid</a:t>
            </a:r>
            <a:r>
              <a:rPr lang="en-GB" altLang="en-US" sz="1800" b="1" i="1" dirty="0">
                <a:solidFill>
                  <a:schemeClr val="tx1"/>
                </a:solidFill>
                <a:latin typeface="Georgia" panose="02040502050405020303" pitchFamily="18" charset="0"/>
              </a:rPr>
              <a:t> </a:t>
            </a:r>
            <a:r>
              <a:rPr lang="en-GB" altLang="en-US" sz="1800" b="1" i="1" dirty="0" err="1">
                <a:solidFill>
                  <a:schemeClr val="tx1"/>
                </a:solidFill>
                <a:latin typeface="Georgia" panose="02040502050405020303" pitchFamily="18" charset="0"/>
              </a:rPr>
              <a:t>Mehmood</a:t>
            </a:r>
            <a:endParaRPr lang="en-GB" altLang="en-US" sz="1800" b="1" i="1" dirty="0">
              <a:solidFill>
                <a:schemeClr val="tx1"/>
              </a:solidFill>
              <a:latin typeface="Georgia" panose="02040502050405020303" pitchFamily="18" charset="0"/>
            </a:endParaRPr>
          </a:p>
        </p:txBody>
      </p:sp>
      <p:sp>
        <p:nvSpPr>
          <p:cNvPr id="48130" name="AutoShape 2" descr="Image result for mumbai dabbawala">
            <a:hlinkClick r:id="rId2"/>
          </p:cNvPr>
          <p:cNvSpPr>
            <a:spLocks noChangeAspect="1" noChangeArrowheads="1"/>
          </p:cNvSpPr>
          <p:nvPr/>
        </p:nvSpPr>
        <p:spPr bwMode="auto">
          <a:xfrm>
            <a:off x="3589339" y="561976"/>
            <a:ext cx="3457575" cy="1960563"/>
          </a:xfrm>
          <a:prstGeom prst="rect">
            <a:avLst/>
          </a:prstGeom>
          <a:noFill/>
        </p:spPr>
        <p:txBody>
          <a:bodyPr lIns="51435" tIns="25718" rIns="51435" bIns="25718"/>
          <a:lstStyle/>
          <a:p>
            <a:pPr eaLnBrk="1" hangingPunct="1">
              <a:defRPr/>
            </a:pPr>
            <a:endParaRPr lang="en-US" sz="1013" noProof="1"/>
          </a:p>
        </p:txBody>
      </p:sp>
      <p:sp>
        <p:nvSpPr>
          <p:cNvPr id="48132" name="AutoShape 4" descr="Image result for mumbai dabbawala">
            <a:hlinkClick r:id="rId2"/>
          </p:cNvPr>
          <p:cNvSpPr>
            <a:spLocks noChangeAspect="1" noChangeArrowheads="1"/>
          </p:cNvSpPr>
          <p:nvPr/>
        </p:nvSpPr>
        <p:spPr bwMode="auto">
          <a:xfrm>
            <a:off x="3589339" y="561976"/>
            <a:ext cx="3457575" cy="1960563"/>
          </a:xfrm>
          <a:prstGeom prst="rect">
            <a:avLst/>
          </a:prstGeom>
          <a:noFill/>
        </p:spPr>
        <p:txBody>
          <a:bodyPr lIns="51435" tIns="25718" rIns="51435" bIns="25718"/>
          <a:lstStyle/>
          <a:p>
            <a:pPr eaLnBrk="1" hangingPunct="1">
              <a:defRPr/>
            </a:pPr>
            <a:endParaRPr lang="en-US" sz="1013" noProof="1"/>
          </a:p>
        </p:txBody>
      </p:sp>
      <p:sp>
        <p:nvSpPr>
          <p:cNvPr id="7173" name="Rectangle 12"/>
          <p:cNvSpPr>
            <a:spLocks noChangeArrowheads="1"/>
          </p:cNvSpPr>
          <p:nvPr/>
        </p:nvSpPr>
        <p:spPr bwMode="auto">
          <a:xfrm>
            <a:off x="5202239" y="3349626"/>
            <a:ext cx="4664075"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2200" b="1" u="sng" noProof="1"/>
              <a:t>PROJECT MANAGEMENT PRINCIPLES AND PRACTIES</a:t>
            </a:r>
          </a:p>
          <a:p>
            <a:pPr algn="ctr"/>
            <a:r>
              <a:rPr lang="en-US" altLang="en-US" sz="2000" b="1" noProof="1"/>
              <a:t>MS-PM-Spring 2025</a:t>
            </a:r>
          </a:p>
        </p:txBody>
      </p:sp>
      <p:pic>
        <p:nvPicPr>
          <p:cNvPr id="717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000" y="1562101"/>
            <a:ext cx="3892550"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object 15"/>
          <p:cNvSpPr/>
          <p:nvPr/>
        </p:nvSpPr>
        <p:spPr>
          <a:xfrm>
            <a:off x="2057400" y="4425950"/>
            <a:ext cx="1905000" cy="1822450"/>
          </a:xfrm>
          <a:prstGeom prst="rect">
            <a:avLst/>
          </a:prstGeom>
          <a:blipFill>
            <a:blip r:embed="rId4" cstate="print"/>
            <a:stretch>
              <a:fillRect/>
            </a:stretch>
          </a:blipFill>
        </p:spPr>
        <p:txBody>
          <a:bodyPr lIns="0" tIns="0" rIns="0" bIns="0"/>
          <a:lstStyle/>
          <a:p>
            <a:pPr eaLnBrk="1" hangingPunct="1">
              <a:defRPr/>
            </a:pPr>
            <a:endParaRPr sz="788" noProof="1"/>
          </a:p>
        </p:txBody>
      </p:sp>
    </p:spTree>
    <p:extLst>
      <p:ext uri="{BB962C8B-B14F-4D97-AF65-F5344CB8AC3E}">
        <p14:creationId xmlns:p14="http://schemas.microsoft.com/office/powerpoint/2010/main" val="1787062844"/>
      </p:ext>
    </p:extLst>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Box 1"/>
          <p:cNvSpPr txBox="1">
            <a:spLocks noChangeArrowheads="1"/>
          </p:cNvSpPr>
          <p:nvPr/>
        </p:nvSpPr>
        <p:spPr bwMode="auto">
          <a:xfrm>
            <a:off x="3116264" y="1371600"/>
            <a:ext cx="5095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sz="2000" b="1" u="sng"/>
              <a:t>LECTURE OUTLINE </a:t>
            </a:r>
          </a:p>
        </p:txBody>
      </p:sp>
      <p:sp>
        <p:nvSpPr>
          <p:cNvPr id="8195" name="TextBox 2"/>
          <p:cNvSpPr txBox="1">
            <a:spLocks noChangeArrowheads="1"/>
          </p:cNvSpPr>
          <p:nvPr/>
        </p:nvSpPr>
        <p:spPr bwMode="auto">
          <a:xfrm>
            <a:off x="698077" y="1771650"/>
            <a:ext cx="6548437"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342900" indent="-342900">
              <a:buFont typeface="Arial" panose="020B0604020202020204" pitchFamily="34" charset="0"/>
              <a:buChar char="•"/>
            </a:pPr>
            <a:r>
              <a:rPr lang="en-US" b="1" dirty="0"/>
              <a:t>Scope Management </a:t>
            </a:r>
            <a:endParaRPr lang="en-US" dirty="0"/>
          </a:p>
          <a:p>
            <a:pPr marL="342900" lvl="0" indent="-342900" fontAlgn="base">
              <a:buFont typeface="Arial" panose="020B0604020202020204" pitchFamily="34" charset="0"/>
              <a:buChar char="•"/>
            </a:pPr>
            <a:r>
              <a:rPr lang="en-US" dirty="0"/>
              <a:t>The Importance of Scope Management </a:t>
            </a:r>
          </a:p>
          <a:p>
            <a:pPr marL="342900" lvl="0" indent="-342900" fontAlgn="base">
              <a:buFont typeface="Arial" panose="020B0604020202020204" pitchFamily="34" charset="0"/>
              <a:buChar char="•"/>
            </a:pPr>
            <a:r>
              <a:rPr lang="en-US" dirty="0"/>
              <a:t>Conceptual Development</a:t>
            </a:r>
          </a:p>
          <a:p>
            <a:pPr marL="342900" lvl="0" indent="-342900" fontAlgn="base">
              <a:buFont typeface="Arial" panose="020B0604020202020204" pitchFamily="34" charset="0"/>
              <a:buChar char="•"/>
            </a:pPr>
            <a:r>
              <a:rPr lang="en-US" dirty="0"/>
              <a:t>The Statement of Work </a:t>
            </a:r>
          </a:p>
          <a:p>
            <a:pPr marL="342900" lvl="0" indent="-342900" fontAlgn="base">
              <a:buFont typeface="Arial" panose="020B0604020202020204" pitchFamily="34" charset="0"/>
              <a:buChar char="•"/>
            </a:pPr>
            <a:r>
              <a:rPr lang="en-US" dirty="0"/>
              <a:t>The Project Charter </a:t>
            </a:r>
          </a:p>
          <a:p>
            <a:pPr marL="342900" lvl="0" indent="-342900" fontAlgn="base">
              <a:buFont typeface="Arial" panose="020B0604020202020204" pitchFamily="34" charset="0"/>
              <a:buChar char="•"/>
            </a:pPr>
            <a:r>
              <a:rPr lang="en-US" dirty="0"/>
              <a:t>Defining the Project Scope </a:t>
            </a:r>
          </a:p>
          <a:p>
            <a:pPr marL="342900" lvl="0" indent="-342900" fontAlgn="base">
              <a:buFont typeface="Arial" panose="020B0604020202020204" pitchFamily="34" charset="0"/>
              <a:buChar char="•"/>
            </a:pPr>
            <a:r>
              <a:rPr lang="en-US" dirty="0"/>
              <a:t>Establishing Project Priorities.</a:t>
            </a:r>
          </a:p>
          <a:p>
            <a:pPr marL="342900" lvl="0" indent="-342900" fontAlgn="base">
              <a:buFont typeface="Arial" panose="020B0604020202020204" pitchFamily="34" charset="0"/>
              <a:buChar char="•"/>
            </a:pPr>
            <a:r>
              <a:rPr lang="en-US" dirty="0"/>
              <a:t>Creating the Work Breakdown Structure.</a:t>
            </a:r>
          </a:p>
          <a:p>
            <a:pPr marL="342900" lvl="0" indent="-342900" fontAlgn="base">
              <a:buFont typeface="Arial" panose="020B0604020202020204" pitchFamily="34" charset="0"/>
              <a:buChar char="•"/>
            </a:pPr>
            <a:r>
              <a:rPr lang="en-US" dirty="0"/>
              <a:t>Integrating the WBS with the Organization.</a:t>
            </a:r>
          </a:p>
          <a:p>
            <a:pPr marL="342900" lvl="0" indent="-342900" fontAlgn="base">
              <a:buFont typeface="Arial" panose="020B0604020202020204" pitchFamily="34" charset="0"/>
              <a:buChar char="•"/>
            </a:pPr>
            <a:r>
              <a:rPr lang="en-US" dirty="0"/>
              <a:t>Coding the WBS for the Information System.</a:t>
            </a:r>
          </a:p>
          <a:p>
            <a:pPr marL="342900" lvl="0" indent="-342900" fontAlgn="base">
              <a:buFont typeface="Arial" panose="020B0604020202020204" pitchFamily="34" charset="0"/>
              <a:buChar char="•"/>
            </a:pPr>
            <a:r>
              <a:rPr lang="en-US" dirty="0"/>
              <a:t>Process Breakdown Structure.</a:t>
            </a:r>
          </a:p>
          <a:p>
            <a:pPr marL="342900" lvl="0" indent="-342900" fontAlgn="base">
              <a:buFont typeface="Arial" panose="020B0604020202020204" pitchFamily="34" charset="0"/>
              <a:buChar char="•"/>
            </a:pPr>
            <a:r>
              <a:rPr lang="en-US" dirty="0"/>
              <a:t>Responsibility Matrices.</a:t>
            </a:r>
          </a:p>
          <a:p>
            <a:pPr marL="342900" indent="-342900">
              <a:buFont typeface="Arial" panose="020B0604020202020204" pitchFamily="34" charset="0"/>
              <a:buChar char="•"/>
            </a:pPr>
            <a:r>
              <a:rPr lang="en-US" dirty="0"/>
              <a:t>Project Communication Plan.</a:t>
            </a:r>
          </a:p>
        </p:txBody>
      </p:sp>
    </p:spTree>
    <p:extLst>
      <p:ext uri="{BB962C8B-B14F-4D97-AF65-F5344CB8AC3E}">
        <p14:creationId xmlns:p14="http://schemas.microsoft.com/office/powerpoint/2010/main" val="2218793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t>BUSINESS CASE</a:t>
            </a:r>
          </a:p>
        </p:txBody>
      </p:sp>
      <p:sp>
        <p:nvSpPr>
          <p:cNvPr id="3" name="Content Placeholder 2"/>
          <p:cNvSpPr>
            <a:spLocks noGrp="1"/>
          </p:cNvSpPr>
          <p:nvPr>
            <p:ph idx="1"/>
          </p:nvPr>
        </p:nvSpPr>
        <p:spPr>
          <a:xfrm>
            <a:off x="1005832" y="1443834"/>
            <a:ext cx="9976727" cy="5135641"/>
          </a:xfrm>
        </p:spPr>
        <p:txBody>
          <a:bodyPr>
            <a:normAutofit fontScale="85000" lnSpcReduction="20000"/>
          </a:bodyPr>
          <a:lstStyle/>
          <a:p>
            <a:r>
              <a:rPr lang="en-US" b="1" dirty="0"/>
              <a:t>Business Case:</a:t>
            </a:r>
          </a:p>
          <a:p>
            <a:pPr lvl="1"/>
            <a:r>
              <a:rPr lang="en-US" dirty="0"/>
              <a:t> Business case provides justification for undertaking a project, </a:t>
            </a:r>
            <a:r>
              <a:rPr lang="en-US" dirty="0" err="1"/>
              <a:t>programme</a:t>
            </a:r>
            <a:r>
              <a:rPr lang="en-US" dirty="0"/>
              <a:t> or portfolio. It evaluates the benefit, cost and risk of alternative options and provides a rationale for the preferred solution.</a:t>
            </a:r>
          </a:p>
          <a:p>
            <a:pPr lvl="1"/>
            <a:endParaRPr lang="en-US" dirty="0"/>
          </a:p>
          <a:p>
            <a:r>
              <a:rPr lang="en-US" b="1" dirty="0"/>
              <a:t>Preparing the business case involves an assessment of:</a:t>
            </a:r>
            <a:endParaRPr lang="en-US" dirty="0"/>
          </a:p>
          <a:p>
            <a:pPr lvl="1"/>
            <a:r>
              <a:rPr lang="en-US" dirty="0"/>
              <a:t>Business problem or opportunity.</a:t>
            </a:r>
          </a:p>
          <a:p>
            <a:pPr lvl="1"/>
            <a:r>
              <a:rPr lang="en-US" dirty="0"/>
              <a:t>Benefits.</a:t>
            </a:r>
          </a:p>
          <a:p>
            <a:pPr lvl="1"/>
            <a:r>
              <a:rPr lang="en-US" dirty="0"/>
              <a:t>Risk.</a:t>
            </a:r>
          </a:p>
          <a:p>
            <a:pPr lvl="1"/>
            <a:r>
              <a:rPr lang="en-US" dirty="0"/>
              <a:t>Costs including investment appraisal.</a:t>
            </a:r>
          </a:p>
          <a:p>
            <a:pPr lvl="1"/>
            <a:r>
              <a:rPr lang="en-US" dirty="0"/>
              <a:t>Technical solutions.</a:t>
            </a:r>
          </a:p>
          <a:p>
            <a:pPr lvl="1"/>
            <a:r>
              <a:rPr lang="en-US" dirty="0"/>
              <a:t>Timescale.</a:t>
            </a:r>
          </a:p>
          <a:p>
            <a:pPr lvl="1"/>
            <a:r>
              <a:rPr lang="en-US" dirty="0"/>
              <a:t>Impact on operations.</a:t>
            </a:r>
          </a:p>
          <a:p>
            <a:pPr lvl="1"/>
            <a:r>
              <a:rPr lang="en-US" dirty="0"/>
              <a:t>Organizational capability to deliver the project outcomes.</a:t>
            </a:r>
          </a:p>
          <a:p>
            <a:pPr lvl="1"/>
            <a:endParaRPr lang="en-US" dirty="0"/>
          </a:p>
        </p:txBody>
      </p:sp>
    </p:spTree>
    <p:extLst>
      <p:ext uri="{BB962C8B-B14F-4D97-AF65-F5344CB8AC3E}">
        <p14:creationId xmlns:p14="http://schemas.microsoft.com/office/powerpoint/2010/main" val="341630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t>         BUSINESS CASE EXERCISE</a:t>
            </a:r>
          </a:p>
        </p:txBody>
      </p:sp>
      <p:sp>
        <p:nvSpPr>
          <p:cNvPr id="3" name="Content Placeholder 2"/>
          <p:cNvSpPr>
            <a:spLocks noGrp="1"/>
          </p:cNvSpPr>
          <p:nvPr>
            <p:ph idx="1"/>
          </p:nvPr>
        </p:nvSpPr>
        <p:spPr>
          <a:xfrm>
            <a:off x="1005832" y="1443834"/>
            <a:ext cx="9976727" cy="5135641"/>
          </a:xfrm>
        </p:spPr>
        <p:txBody>
          <a:bodyPr>
            <a:normAutofit fontScale="85000" lnSpcReduction="10000"/>
          </a:bodyPr>
          <a:lstStyle/>
          <a:p>
            <a:pPr marL="514350" indent="-514350">
              <a:buFont typeface="+mj-lt"/>
              <a:buAutoNum type="arabicPeriod"/>
            </a:pPr>
            <a:r>
              <a:rPr lang="en-US" dirty="0"/>
              <a:t>"Strategies for Launching a New Smartphone in a Competitive Market"</a:t>
            </a:r>
          </a:p>
          <a:p>
            <a:pPr marL="514350" indent="-514350">
              <a:buFont typeface="+mj-lt"/>
              <a:buAutoNum type="arabicPeriod"/>
            </a:pPr>
            <a:r>
              <a:rPr lang="en-US" dirty="0"/>
              <a:t>"Introducing a Health and Wellness App to the Market"</a:t>
            </a:r>
          </a:p>
          <a:p>
            <a:pPr marL="514350" indent="-514350">
              <a:buFont typeface="+mj-lt"/>
              <a:buAutoNum type="arabicPeriod"/>
            </a:pPr>
            <a:r>
              <a:rPr lang="en-US" dirty="0"/>
              <a:t>"Launching an Eco-Friendly Cleaning Product Line"</a:t>
            </a:r>
          </a:p>
          <a:p>
            <a:pPr marL="514350" indent="-514350">
              <a:buFont typeface="+mj-lt"/>
              <a:buAutoNum type="arabicPeriod"/>
            </a:pPr>
            <a:r>
              <a:rPr lang="en-US" dirty="0"/>
              <a:t>"Bringing a Luxury Watch Collection to Market"</a:t>
            </a:r>
          </a:p>
          <a:p>
            <a:pPr marL="514350" indent="-514350">
              <a:buFont typeface="+mj-lt"/>
              <a:buAutoNum type="arabicPeriod"/>
            </a:pPr>
            <a:r>
              <a:rPr lang="en-US" dirty="0"/>
              <a:t>"Introducing a Plant-Based Protein Beverage to Consumers"</a:t>
            </a:r>
          </a:p>
          <a:p>
            <a:pPr marL="514350" indent="-514350">
              <a:buFont typeface="+mj-lt"/>
              <a:buAutoNum type="arabicPeriod"/>
            </a:pPr>
            <a:r>
              <a:rPr lang="en-US" dirty="0"/>
              <a:t>"Market Entry Plan for a New Electric Car Model"</a:t>
            </a:r>
          </a:p>
          <a:p>
            <a:pPr marL="514350" indent="-514350">
              <a:buFont typeface="+mj-lt"/>
              <a:buAutoNum type="arabicPeriod"/>
            </a:pPr>
            <a:r>
              <a:rPr lang="en-US" dirty="0"/>
              <a:t>"Launching a Line of Sustainable Fashion Products"</a:t>
            </a:r>
          </a:p>
          <a:p>
            <a:pPr marL="514350" indent="-514350">
              <a:buFont typeface="+mj-lt"/>
              <a:buAutoNum type="arabicPeriod"/>
            </a:pPr>
            <a:r>
              <a:rPr lang="en-US" dirty="0"/>
              <a:t>"Introducing a Premium Coffee Subscription Service"</a:t>
            </a:r>
          </a:p>
          <a:p>
            <a:pPr marL="514350" indent="-514350">
              <a:buFont typeface="+mj-lt"/>
              <a:buAutoNum type="arabicPeriod"/>
            </a:pPr>
            <a:r>
              <a:rPr lang="en-US" dirty="0"/>
              <a:t>"Bringing a Smart Home Automation Device to Market"</a:t>
            </a:r>
          </a:p>
          <a:p>
            <a:pPr marL="514350" indent="-514350">
              <a:buFont typeface="+mj-lt"/>
              <a:buAutoNum type="arabicPeriod"/>
            </a:pPr>
            <a:r>
              <a:rPr lang="en-US" dirty="0"/>
              <a:t>"Market Entry Strategies for a New Organic Skincare Line"</a:t>
            </a:r>
          </a:p>
          <a:p>
            <a:pPr marL="514350" indent="-514350">
              <a:buFont typeface="+mj-lt"/>
              <a:buAutoNum type="arabicPeriod"/>
            </a:pPr>
            <a:r>
              <a:rPr lang="en-US" dirty="0"/>
              <a:t>"Marketing the UVW Virtual Reality Gaming Console: A Campaign Plan“</a:t>
            </a:r>
          </a:p>
          <a:p>
            <a:pPr marL="514350" indent="-514350">
              <a:buFont typeface="+mj-lt"/>
              <a:buAutoNum type="arabicPeriod"/>
            </a:pPr>
            <a:r>
              <a:rPr lang="en-US" dirty="0"/>
              <a:t>"Introducing a Cutting-Edge Home Fitness Equipment Line to Consumers"</a:t>
            </a:r>
          </a:p>
        </p:txBody>
      </p:sp>
    </p:spTree>
    <p:extLst>
      <p:ext uri="{BB962C8B-B14F-4D97-AF65-F5344CB8AC3E}">
        <p14:creationId xmlns:p14="http://schemas.microsoft.com/office/powerpoint/2010/main" val="2065035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9672" y="675306"/>
            <a:ext cx="253596" cy="369332"/>
          </a:xfrm>
          <a:prstGeom prst="rect">
            <a:avLst/>
          </a:prstGeom>
        </p:spPr>
        <p:txBody>
          <a:bodyPr wrap="none">
            <a:spAutoFit/>
          </a:bodyPr>
          <a:lstStyle/>
          <a:p>
            <a:r>
              <a:rPr lang="en-GB" dirty="0"/>
              <a:t> </a:t>
            </a:r>
          </a:p>
        </p:txBody>
      </p:sp>
      <p:sp>
        <p:nvSpPr>
          <p:cNvPr id="5" name="Rectangle 4"/>
          <p:cNvSpPr/>
          <p:nvPr/>
        </p:nvSpPr>
        <p:spPr>
          <a:xfrm>
            <a:off x="502502" y="0"/>
            <a:ext cx="9196785" cy="6694140"/>
          </a:xfrm>
          <a:prstGeom prst="rect">
            <a:avLst/>
          </a:prstGeom>
        </p:spPr>
        <p:txBody>
          <a:bodyPr wrap="square">
            <a:spAutoFit/>
          </a:bodyPr>
          <a:lstStyle/>
          <a:p>
            <a:endParaRPr lang="en-GB" dirty="0"/>
          </a:p>
          <a:p>
            <a:r>
              <a:rPr lang="en-GB" dirty="0">
                <a:solidFill>
                  <a:schemeClr val="accent1">
                    <a:lumMod val="50000"/>
                  </a:schemeClr>
                </a:solidFill>
              </a:rPr>
              <a:t>Project Charter </a:t>
            </a:r>
          </a:p>
          <a:p>
            <a:endParaRPr lang="en-GB" dirty="0"/>
          </a:p>
          <a:p>
            <a:pPr algn="just"/>
            <a:r>
              <a:rPr lang="en-GB" sz="1900" dirty="0">
                <a:solidFill>
                  <a:schemeClr val="accent1"/>
                </a:solidFill>
              </a:rPr>
              <a:t>The very first thing that’s done on a new project is the development of the project charter. That’s the document that authorizes you to do your work. But you’re not always involved in making it—oftentimes it’s handed to you by the sponsor.</a:t>
            </a:r>
          </a:p>
          <a:p>
            <a:pPr algn="just"/>
            <a:endParaRPr lang="en-GB" sz="1900" dirty="0">
              <a:solidFill>
                <a:schemeClr val="accent1"/>
              </a:solidFill>
            </a:endParaRPr>
          </a:p>
          <a:p>
            <a:pPr algn="just"/>
            <a:r>
              <a:rPr lang="en-GB" sz="1900" dirty="0">
                <a:solidFill>
                  <a:schemeClr val="accent1"/>
                </a:solidFill>
              </a:rPr>
              <a:t> Project Charter process tells everyone in the company why the project is needed, and gives you the authority you need to make it happen. </a:t>
            </a:r>
          </a:p>
          <a:p>
            <a:pPr algn="just"/>
            <a:endParaRPr lang="en-GB" sz="1900" dirty="0">
              <a:solidFill>
                <a:schemeClr val="accent1"/>
              </a:solidFill>
            </a:endParaRPr>
          </a:p>
          <a:p>
            <a:endParaRPr lang="en-GB" dirty="0"/>
          </a:p>
          <a:p>
            <a:r>
              <a:rPr lang="en-GB" dirty="0">
                <a:solidFill>
                  <a:schemeClr val="accent1">
                    <a:lumMod val="50000"/>
                  </a:schemeClr>
                </a:solidFill>
              </a:rPr>
              <a:t>Inputs for Develop project charter:</a:t>
            </a:r>
          </a:p>
          <a:p>
            <a:endParaRPr lang="en-GB" dirty="0"/>
          </a:p>
          <a:p>
            <a:r>
              <a:rPr lang="en-GB" sz="1900" dirty="0">
                <a:solidFill>
                  <a:schemeClr val="accent1"/>
                </a:solidFill>
              </a:rPr>
              <a:t>Agreement</a:t>
            </a:r>
          </a:p>
          <a:p>
            <a:r>
              <a:rPr lang="en-GB" sz="1900" dirty="0">
                <a:solidFill>
                  <a:schemeClr val="accent1"/>
                </a:solidFill>
              </a:rPr>
              <a:t>EEF</a:t>
            </a:r>
          </a:p>
          <a:p>
            <a:r>
              <a:rPr lang="en-GB" sz="1900" dirty="0">
                <a:solidFill>
                  <a:schemeClr val="accent1"/>
                </a:solidFill>
              </a:rPr>
              <a:t>OPA</a:t>
            </a:r>
          </a:p>
          <a:p>
            <a:r>
              <a:rPr lang="en-GB" sz="1900" dirty="0">
                <a:solidFill>
                  <a:schemeClr val="accent1"/>
                </a:solidFill>
              </a:rPr>
              <a:t>Business case</a:t>
            </a:r>
            <a:r>
              <a:rPr lang="en-GB" dirty="0"/>
              <a:t>                                        </a:t>
            </a:r>
            <a:r>
              <a:rPr lang="en-GB" dirty="0">
                <a:solidFill>
                  <a:schemeClr val="accent1">
                    <a:lumMod val="50000"/>
                  </a:schemeClr>
                </a:solidFill>
              </a:rPr>
              <a:t>Output:</a:t>
            </a:r>
          </a:p>
          <a:p>
            <a:r>
              <a:rPr lang="en-GB" dirty="0"/>
              <a:t>                                                                            </a:t>
            </a:r>
          </a:p>
          <a:p>
            <a:r>
              <a:rPr lang="en-GB" dirty="0">
                <a:solidFill>
                  <a:schemeClr val="accent1">
                    <a:lumMod val="50000"/>
                  </a:schemeClr>
                </a:solidFill>
              </a:rPr>
              <a:t>Tools</a:t>
            </a:r>
            <a:r>
              <a:rPr lang="en-GB" sz="1900" dirty="0">
                <a:solidFill>
                  <a:schemeClr val="accent1"/>
                </a:solidFill>
              </a:rPr>
              <a:t>:                                                  Project charter</a:t>
            </a:r>
          </a:p>
          <a:p>
            <a:r>
              <a:rPr lang="en-GB" sz="1900" dirty="0">
                <a:solidFill>
                  <a:schemeClr val="accent1"/>
                </a:solidFill>
              </a:rPr>
              <a:t>Expert judgement                                Assumption Log</a:t>
            </a:r>
          </a:p>
          <a:p>
            <a:r>
              <a:rPr lang="en-GB" sz="1900" dirty="0">
                <a:solidFill>
                  <a:schemeClr val="accent1"/>
                </a:solidFill>
              </a:rPr>
              <a:t>Data Gathering</a:t>
            </a:r>
          </a:p>
          <a:p>
            <a:endParaRPr lang="en-GB" dirty="0"/>
          </a:p>
        </p:txBody>
      </p:sp>
    </p:spTree>
    <p:extLst>
      <p:ext uri="{BB962C8B-B14F-4D97-AF65-F5344CB8AC3E}">
        <p14:creationId xmlns:p14="http://schemas.microsoft.com/office/powerpoint/2010/main" val="1993585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0047" y="532730"/>
            <a:ext cx="8922327" cy="2677656"/>
          </a:xfrm>
          <a:prstGeom prst="rect">
            <a:avLst/>
          </a:prstGeom>
          <a:noFill/>
        </p:spPr>
        <p:txBody>
          <a:bodyPr wrap="square" rtlCol="0">
            <a:spAutoFit/>
          </a:bodyPr>
          <a:lstStyle/>
          <a:p>
            <a:r>
              <a:rPr lang="en-GB" dirty="0">
                <a:solidFill>
                  <a:schemeClr val="accent1">
                    <a:lumMod val="50000"/>
                  </a:schemeClr>
                </a:solidFill>
              </a:rPr>
              <a:t>Project charter Include</a:t>
            </a:r>
          </a:p>
          <a:p>
            <a:endParaRPr lang="en-GB" dirty="0"/>
          </a:p>
          <a:p>
            <a:r>
              <a:rPr lang="en-GB" sz="1900" dirty="0">
                <a:solidFill>
                  <a:schemeClr val="accent1"/>
                </a:solidFill>
              </a:rPr>
              <a:t>Project description</a:t>
            </a:r>
          </a:p>
          <a:p>
            <a:r>
              <a:rPr lang="en-GB" sz="1900" dirty="0">
                <a:solidFill>
                  <a:schemeClr val="accent1"/>
                </a:solidFill>
              </a:rPr>
              <a:t>Project goals</a:t>
            </a:r>
          </a:p>
          <a:p>
            <a:r>
              <a:rPr lang="en-GB" sz="1900" dirty="0">
                <a:solidFill>
                  <a:schemeClr val="accent1"/>
                </a:solidFill>
              </a:rPr>
              <a:t>Project scope </a:t>
            </a:r>
          </a:p>
          <a:p>
            <a:r>
              <a:rPr lang="en-GB" sz="1900" dirty="0">
                <a:solidFill>
                  <a:schemeClr val="accent1"/>
                </a:solidFill>
              </a:rPr>
              <a:t>Project milestone(DMAIC)</a:t>
            </a:r>
          </a:p>
          <a:p>
            <a:r>
              <a:rPr lang="en-GB" sz="1900" dirty="0">
                <a:solidFill>
                  <a:schemeClr val="accent1"/>
                </a:solidFill>
              </a:rPr>
              <a:t>Project Manager and Authority</a:t>
            </a:r>
          </a:p>
          <a:p>
            <a:r>
              <a:rPr lang="en-GB" sz="1900" dirty="0">
                <a:solidFill>
                  <a:schemeClr val="accent1"/>
                </a:solidFill>
              </a:rPr>
              <a:t>Business case</a:t>
            </a:r>
          </a:p>
          <a:p>
            <a:r>
              <a:rPr lang="en-GB" dirty="0"/>
              <a:t> </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70217" y="348304"/>
            <a:ext cx="7426037" cy="6107914"/>
          </a:xfrm>
          <a:prstGeom prst="rect">
            <a:avLst/>
          </a:prstGeom>
        </p:spPr>
      </p:pic>
    </p:spTree>
    <p:extLst>
      <p:ext uri="{BB962C8B-B14F-4D97-AF65-F5344CB8AC3E}">
        <p14:creationId xmlns:p14="http://schemas.microsoft.com/office/powerpoint/2010/main" val="1471381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7725" y="598115"/>
            <a:ext cx="2063385" cy="369332"/>
          </a:xfrm>
          <a:prstGeom prst="rect">
            <a:avLst/>
          </a:prstGeom>
        </p:spPr>
        <p:txBody>
          <a:bodyPr wrap="none">
            <a:spAutoFit/>
          </a:bodyPr>
          <a:lstStyle/>
          <a:p>
            <a:r>
              <a:rPr lang="en-GB" dirty="0">
                <a:solidFill>
                  <a:schemeClr val="accent1">
                    <a:lumMod val="50000"/>
                  </a:schemeClr>
                </a:solidFill>
              </a:rPr>
              <a:t>Plan your project!</a:t>
            </a:r>
          </a:p>
        </p:txBody>
      </p:sp>
      <p:sp>
        <p:nvSpPr>
          <p:cNvPr id="3" name="Rectangle 2"/>
          <p:cNvSpPr/>
          <p:nvPr/>
        </p:nvSpPr>
        <p:spPr>
          <a:xfrm>
            <a:off x="389391" y="1156595"/>
            <a:ext cx="8931590" cy="1554272"/>
          </a:xfrm>
          <a:prstGeom prst="rect">
            <a:avLst/>
          </a:prstGeom>
        </p:spPr>
        <p:txBody>
          <a:bodyPr wrap="square">
            <a:spAutoFit/>
          </a:bodyPr>
          <a:lstStyle/>
          <a:p>
            <a:pPr algn="just"/>
            <a:r>
              <a:rPr lang="en-GB" sz="1900" dirty="0">
                <a:solidFill>
                  <a:schemeClr val="accent1"/>
                </a:solidFill>
              </a:rPr>
              <a:t>Planning the project is when you really take control. You write a plan that says exactly how you’re going to handle everything that goes on in the project. The Develop Project Management Plan process is where you organize all of the information about your project into one place, so everyone knows exactly what needs to happen when they do the project work—no matter what their jobs are.</a:t>
            </a:r>
          </a:p>
        </p:txBody>
      </p:sp>
      <p:sp>
        <p:nvSpPr>
          <p:cNvPr id="4" name="Rectangle 3"/>
          <p:cNvSpPr/>
          <p:nvPr/>
        </p:nvSpPr>
        <p:spPr>
          <a:xfrm>
            <a:off x="282254" y="3200089"/>
            <a:ext cx="9038727" cy="1523494"/>
          </a:xfrm>
          <a:prstGeom prst="rect">
            <a:avLst/>
          </a:prstGeom>
        </p:spPr>
        <p:txBody>
          <a:bodyPr wrap="square">
            <a:spAutoFit/>
          </a:bodyPr>
          <a:lstStyle/>
          <a:p>
            <a:r>
              <a:rPr lang="en-GB" dirty="0">
                <a:solidFill>
                  <a:schemeClr val="accent1">
                    <a:lumMod val="50000"/>
                  </a:schemeClr>
                </a:solidFill>
              </a:rPr>
              <a:t>The Direct and Manage Project Work process</a:t>
            </a:r>
          </a:p>
          <a:p>
            <a:pPr algn="just"/>
            <a:endParaRPr lang="en-GB" dirty="0"/>
          </a:p>
          <a:p>
            <a:pPr algn="just"/>
            <a:r>
              <a:rPr lang="en-GB" sz="1900" dirty="0">
                <a:solidFill>
                  <a:schemeClr val="accent1"/>
                </a:solidFill>
              </a:rPr>
              <a:t>Once you have a Project Management plan, your project is ready to begin. And as the project unfolds, it’s your job to direct and manage each activity on the project, every step of the way. </a:t>
            </a:r>
          </a:p>
        </p:txBody>
      </p:sp>
    </p:spTree>
    <p:extLst>
      <p:ext uri="{BB962C8B-B14F-4D97-AF65-F5344CB8AC3E}">
        <p14:creationId xmlns:p14="http://schemas.microsoft.com/office/powerpoint/2010/main" val="226163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96340" y="707611"/>
            <a:ext cx="4251036" cy="369332"/>
          </a:xfrm>
          <a:prstGeom prst="rect">
            <a:avLst/>
          </a:prstGeom>
        </p:spPr>
        <p:txBody>
          <a:bodyPr wrap="none">
            <a:spAutoFit/>
          </a:bodyPr>
          <a:lstStyle/>
          <a:p>
            <a:r>
              <a:rPr lang="en-GB" dirty="0">
                <a:solidFill>
                  <a:schemeClr val="accent1">
                    <a:lumMod val="50000"/>
                  </a:schemeClr>
                </a:solidFill>
              </a:rPr>
              <a:t>The Manage Project Knowledge process</a:t>
            </a:r>
          </a:p>
        </p:txBody>
      </p:sp>
      <p:sp>
        <p:nvSpPr>
          <p:cNvPr id="3" name="Rectangle 2"/>
          <p:cNvSpPr/>
          <p:nvPr/>
        </p:nvSpPr>
        <p:spPr>
          <a:xfrm>
            <a:off x="696340" y="1395700"/>
            <a:ext cx="8683634" cy="1554272"/>
          </a:xfrm>
          <a:prstGeom prst="rect">
            <a:avLst/>
          </a:prstGeom>
        </p:spPr>
        <p:txBody>
          <a:bodyPr wrap="square">
            <a:spAutoFit/>
          </a:bodyPr>
          <a:lstStyle/>
          <a:p>
            <a:r>
              <a:rPr lang="en-GB" sz="1900" dirty="0">
                <a:solidFill>
                  <a:schemeClr val="accent1"/>
                </a:solidFill>
              </a:rPr>
              <a:t>The whole time your project is happening, your team is solving problems and learning. The Manage Project Knowledge process is all about using the information your company has already learned from doing past projects and creating new information when your team learns something your company hasn’t encountered before.</a:t>
            </a:r>
          </a:p>
        </p:txBody>
      </p:sp>
      <p:sp>
        <p:nvSpPr>
          <p:cNvPr id="4" name="Rectangle 3"/>
          <p:cNvSpPr/>
          <p:nvPr/>
        </p:nvSpPr>
        <p:spPr>
          <a:xfrm>
            <a:off x="758499" y="4719174"/>
            <a:ext cx="3756156" cy="369332"/>
          </a:xfrm>
          <a:prstGeom prst="rect">
            <a:avLst/>
          </a:prstGeom>
        </p:spPr>
        <p:txBody>
          <a:bodyPr wrap="none">
            <a:spAutoFit/>
          </a:bodyPr>
          <a:lstStyle/>
          <a:p>
            <a:r>
              <a:rPr lang="en-GB" dirty="0">
                <a:solidFill>
                  <a:schemeClr val="accent1">
                    <a:lumMod val="50000"/>
                  </a:schemeClr>
                </a:solidFill>
              </a:rPr>
              <a:t>Finish the work, close the project </a:t>
            </a:r>
          </a:p>
        </p:txBody>
      </p:sp>
      <p:sp>
        <p:nvSpPr>
          <p:cNvPr id="5" name="Rectangle 4"/>
          <p:cNvSpPr/>
          <p:nvPr/>
        </p:nvSpPr>
        <p:spPr>
          <a:xfrm>
            <a:off x="758499" y="3538680"/>
            <a:ext cx="4014240" cy="369332"/>
          </a:xfrm>
          <a:prstGeom prst="rect">
            <a:avLst/>
          </a:prstGeom>
        </p:spPr>
        <p:txBody>
          <a:bodyPr wrap="none">
            <a:spAutoFit/>
          </a:bodyPr>
          <a:lstStyle/>
          <a:p>
            <a:r>
              <a:rPr lang="en-GB" dirty="0">
                <a:solidFill>
                  <a:schemeClr val="accent1">
                    <a:lumMod val="50000"/>
                  </a:schemeClr>
                </a:solidFill>
              </a:rPr>
              <a:t>Look for changes and deal with them</a:t>
            </a:r>
          </a:p>
        </p:txBody>
      </p:sp>
    </p:spTree>
    <p:extLst>
      <p:ext uri="{BB962C8B-B14F-4D97-AF65-F5344CB8AC3E}">
        <p14:creationId xmlns:p14="http://schemas.microsoft.com/office/powerpoint/2010/main" val="3240373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8205" y="590966"/>
            <a:ext cx="9630697" cy="4616648"/>
          </a:xfrm>
          <a:prstGeom prst="rect">
            <a:avLst/>
          </a:prstGeom>
        </p:spPr>
        <p:txBody>
          <a:bodyPr wrap="square">
            <a:spAutoFit/>
          </a:bodyPr>
          <a:lstStyle/>
          <a:p>
            <a:endParaRPr lang="en-GB" dirty="0">
              <a:solidFill>
                <a:schemeClr val="accent1">
                  <a:lumMod val="60000"/>
                  <a:lumOff val="40000"/>
                </a:schemeClr>
              </a:solidFill>
              <a:latin typeface="Times New Roman" panose="02020603050405020304" pitchFamily="18" charset="0"/>
              <a:cs typeface="Times New Roman" panose="02020603050405020304" pitchFamily="18" charset="0"/>
            </a:endParaRPr>
          </a:p>
          <a:p>
            <a:r>
              <a:rPr lang="en-GB" sz="2400" dirty="0">
                <a:solidFill>
                  <a:schemeClr val="accent1">
                    <a:lumMod val="50000"/>
                  </a:schemeClr>
                </a:solidFill>
                <a:latin typeface="Times New Roman" panose="02020603050405020304" pitchFamily="18" charset="0"/>
                <a:cs typeface="Times New Roman" panose="02020603050405020304" pitchFamily="18" charset="0"/>
              </a:rPr>
              <a:t>Scope management</a:t>
            </a:r>
            <a:r>
              <a:rPr lang="en-GB" sz="2400" dirty="0">
                <a:latin typeface="Times New Roman" panose="02020603050405020304" pitchFamily="18" charset="0"/>
                <a:cs typeface="Times New Roman" panose="02020603050405020304" pitchFamily="18" charset="0"/>
              </a:rPr>
              <a:t>: </a:t>
            </a:r>
            <a:r>
              <a:rPr lang="en-GB" sz="2400" dirty="0">
                <a:solidFill>
                  <a:schemeClr val="accent1"/>
                </a:solidFill>
                <a:latin typeface="Times New Roman" panose="02020603050405020304" pitchFamily="18" charset="0"/>
                <a:cs typeface="Times New Roman" panose="02020603050405020304" pitchFamily="18" charset="0"/>
              </a:rPr>
              <a:t>Doing the right stuff</a:t>
            </a:r>
          </a:p>
          <a:p>
            <a:endParaRPr lang="en-GB" sz="2400" dirty="0">
              <a:latin typeface="Times New Roman" panose="02020603050405020304" pitchFamily="18" charset="0"/>
              <a:cs typeface="Times New Roman" panose="02020603050405020304" pitchFamily="18" charset="0"/>
            </a:endParaRPr>
          </a:p>
          <a:p>
            <a:endParaRPr lang="en-GB" sz="2400" dirty="0">
              <a:latin typeface="Times New Roman" panose="02020603050405020304" pitchFamily="18" charset="0"/>
              <a:cs typeface="Times New Roman" panose="02020603050405020304" pitchFamily="18" charset="0"/>
            </a:endParaRPr>
          </a:p>
          <a:p>
            <a:r>
              <a:rPr lang="en-GB" sz="2400" dirty="0">
                <a:solidFill>
                  <a:schemeClr val="accent1">
                    <a:lumMod val="50000"/>
                  </a:schemeClr>
                </a:solidFill>
                <a:latin typeface="Times New Roman" panose="02020603050405020304" pitchFamily="18" charset="0"/>
                <a:cs typeface="Times New Roman" panose="02020603050405020304" pitchFamily="18" charset="0"/>
              </a:rPr>
              <a:t>Product scope:</a:t>
            </a:r>
            <a:r>
              <a:rPr lang="en-GB" sz="2400" dirty="0">
                <a:latin typeface="Times New Roman" panose="02020603050405020304" pitchFamily="18" charset="0"/>
                <a:cs typeface="Times New Roman" panose="02020603050405020304" pitchFamily="18" charset="0"/>
              </a:rPr>
              <a:t> </a:t>
            </a:r>
            <a:r>
              <a:rPr lang="en-GB" sz="2400" dirty="0">
                <a:solidFill>
                  <a:schemeClr val="accent1"/>
                </a:solidFill>
                <a:latin typeface="Times New Roman" panose="02020603050405020304" pitchFamily="18" charset="0"/>
                <a:cs typeface="Times New Roman" panose="02020603050405020304" pitchFamily="18" charset="0"/>
              </a:rPr>
              <a:t>Features and functions of the product  that you and your team is going to build </a:t>
            </a:r>
          </a:p>
          <a:p>
            <a:endParaRPr lang="en-GB" sz="2400" dirty="0">
              <a:latin typeface="Times New Roman" panose="02020603050405020304" pitchFamily="18" charset="0"/>
              <a:cs typeface="Times New Roman" panose="02020603050405020304" pitchFamily="18" charset="0"/>
            </a:endParaRPr>
          </a:p>
          <a:p>
            <a:r>
              <a:rPr lang="en-GB" sz="2400" dirty="0">
                <a:solidFill>
                  <a:schemeClr val="accent1">
                    <a:lumMod val="50000"/>
                  </a:schemeClr>
                </a:solidFill>
                <a:latin typeface="Times New Roman" panose="02020603050405020304" pitchFamily="18" charset="0"/>
                <a:cs typeface="Times New Roman" panose="02020603050405020304" pitchFamily="18" charset="0"/>
              </a:rPr>
              <a:t>Project scope </a:t>
            </a:r>
            <a:r>
              <a:rPr lang="en-GB" sz="2400" dirty="0">
                <a:latin typeface="Times New Roman" panose="02020603050405020304" pitchFamily="18" charset="0"/>
                <a:cs typeface="Times New Roman" panose="02020603050405020304" pitchFamily="18" charset="0"/>
              </a:rPr>
              <a:t>:</a:t>
            </a:r>
            <a:r>
              <a:rPr lang="en-GB" sz="2400" dirty="0">
                <a:solidFill>
                  <a:schemeClr val="accent1"/>
                </a:solidFill>
                <a:latin typeface="Times New Roman" panose="02020603050405020304" pitchFamily="18" charset="0"/>
                <a:cs typeface="Times New Roman" panose="02020603050405020304" pitchFamily="18" charset="0"/>
              </a:rPr>
              <a:t>all of the work that need to be done to make the product.</a:t>
            </a:r>
          </a:p>
          <a:p>
            <a:endParaRPr lang="en-GB" sz="2400" dirty="0">
              <a:latin typeface="Times New Roman" panose="02020603050405020304" pitchFamily="18" charset="0"/>
              <a:cs typeface="Times New Roman" panose="02020603050405020304" pitchFamily="18" charset="0"/>
            </a:endParaRPr>
          </a:p>
          <a:p>
            <a:r>
              <a:rPr lang="en-GB" sz="2400" dirty="0">
                <a:solidFill>
                  <a:schemeClr val="accent1">
                    <a:lumMod val="50000"/>
                  </a:schemeClr>
                </a:solidFill>
                <a:latin typeface="Times New Roman" panose="02020603050405020304" pitchFamily="18" charset="0"/>
                <a:cs typeface="Times New Roman" panose="02020603050405020304" pitchFamily="18" charset="0"/>
              </a:rPr>
              <a:t>Scope Creep </a:t>
            </a:r>
            <a:r>
              <a:rPr lang="en-GB" sz="2400" dirty="0">
                <a:latin typeface="Times New Roman" panose="02020603050405020304" pitchFamily="18" charset="0"/>
                <a:cs typeface="Times New Roman" panose="02020603050405020304" pitchFamily="18" charset="0"/>
              </a:rPr>
              <a:t>: </a:t>
            </a:r>
            <a:r>
              <a:rPr lang="en-GB" sz="2400" dirty="0">
                <a:solidFill>
                  <a:schemeClr val="accent1"/>
                </a:solidFill>
                <a:latin typeface="Times New Roman" panose="02020603050405020304" pitchFamily="18" charset="0"/>
                <a:cs typeface="Times New Roman" panose="02020603050405020304" pitchFamily="18" charset="0"/>
              </a:rPr>
              <a:t>those uncontrolled changes that cause the team  to do more work</a:t>
            </a:r>
          </a:p>
          <a:p>
            <a:endParaRPr lang="en-GB" dirty="0">
              <a:latin typeface="Times New Roman" panose="02020603050405020304" pitchFamily="18" charset="0"/>
              <a:cs typeface="Times New Roman" panose="02020603050405020304" pitchFamily="18" charset="0"/>
            </a:endParaRPr>
          </a:p>
          <a:p>
            <a:endParaRPr lang="en-GB" dirty="0">
              <a:latin typeface="Times New Roman" panose="02020603050405020304" pitchFamily="18" charset="0"/>
              <a:cs typeface="Times New Roman" panose="02020603050405020304" pitchFamily="18" charset="0"/>
            </a:endParaRPr>
          </a:p>
        </p:txBody>
      </p:sp>
      <p:sp>
        <p:nvSpPr>
          <p:cNvPr id="3" name="Rectangle 2"/>
          <p:cNvSpPr/>
          <p:nvPr/>
        </p:nvSpPr>
        <p:spPr>
          <a:xfrm>
            <a:off x="530942" y="4886368"/>
            <a:ext cx="8507584" cy="1384995"/>
          </a:xfrm>
          <a:prstGeom prst="rect">
            <a:avLst/>
          </a:prstGeom>
        </p:spPr>
        <p:txBody>
          <a:bodyPr wrap="square">
            <a:spAutoFit/>
          </a:bodyPr>
          <a:lstStyle/>
          <a:p>
            <a:endParaRPr lang="en-GB" dirty="0"/>
          </a:p>
          <a:p>
            <a:endParaRPr lang="en-GB" dirty="0"/>
          </a:p>
          <a:p>
            <a:r>
              <a:rPr lang="en-GB" sz="2400" dirty="0">
                <a:solidFill>
                  <a:srgbClr val="FF0000"/>
                </a:solidFill>
                <a:latin typeface="Times New Roman" panose="02020603050405020304" pitchFamily="18" charset="0"/>
                <a:cs typeface="Times New Roman" panose="02020603050405020304" pitchFamily="18" charset="0"/>
              </a:rPr>
              <a:t>Scope Management means figuring out what’s OUT OF scope, not just what’s part of 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51471" y="558876"/>
            <a:ext cx="4362092" cy="461665"/>
          </a:xfrm>
          <a:prstGeom prst="rect">
            <a:avLst/>
          </a:prstGeom>
        </p:spPr>
        <p:txBody>
          <a:bodyPr wrap="none">
            <a:spAutoFit/>
          </a:bodyPr>
          <a:lstStyle/>
          <a:p>
            <a:r>
              <a:rPr lang="en-GB" sz="2400" dirty="0">
                <a:solidFill>
                  <a:schemeClr val="accent1">
                    <a:lumMod val="50000"/>
                  </a:schemeClr>
                </a:solidFill>
                <a:latin typeface="Times New Roman" panose="02020603050405020304" pitchFamily="18" charset="0"/>
                <a:cs typeface="Times New Roman" panose="02020603050405020304" pitchFamily="18" charset="0"/>
              </a:rPr>
              <a:t>Six Scope Management processes</a:t>
            </a:r>
          </a:p>
        </p:txBody>
      </p:sp>
      <p:sp>
        <p:nvSpPr>
          <p:cNvPr id="5" name="Rectangle 4"/>
          <p:cNvSpPr/>
          <p:nvPr/>
        </p:nvSpPr>
        <p:spPr>
          <a:xfrm>
            <a:off x="751078" y="1180098"/>
            <a:ext cx="8702637" cy="3785652"/>
          </a:xfrm>
          <a:prstGeom prst="rect">
            <a:avLst/>
          </a:prstGeom>
        </p:spPr>
        <p:txBody>
          <a:bodyPr wrap="square">
            <a:spAutoFit/>
          </a:bodyPr>
          <a:lstStyle/>
          <a:p>
            <a:r>
              <a:rPr lang="en-GB" sz="2400" dirty="0">
                <a:solidFill>
                  <a:schemeClr val="accent1"/>
                </a:solidFill>
                <a:latin typeface="Times New Roman" panose="02020603050405020304" pitchFamily="18" charset="0"/>
                <a:cs typeface="Times New Roman" panose="02020603050405020304" pitchFamily="18" charset="0"/>
              </a:rPr>
              <a:t>Each of the Scope Management processes was designed to help you avoid the kinds of scope problems that cause a lot of projects to go off track</a:t>
            </a:r>
          </a:p>
          <a:p>
            <a:endParaRPr lang="en-GB" sz="2400" dirty="0">
              <a:solidFill>
                <a:schemeClr val="accent1"/>
              </a:solidFill>
              <a:latin typeface="Times New Roman" panose="02020603050405020304" pitchFamily="18" charset="0"/>
              <a:cs typeface="Times New Roman" panose="02020603050405020304" pitchFamily="18" charset="0"/>
            </a:endParaRPr>
          </a:p>
          <a:p>
            <a:r>
              <a:rPr lang="en-GB" sz="2400" dirty="0">
                <a:solidFill>
                  <a:schemeClr val="accent1"/>
                </a:solidFill>
                <a:latin typeface="Times New Roman" panose="02020603050405020304" pitchFamily="18" charset="0"/>
                <a:cs typeface="Times New Roman" panose="02020603050405020304" pitchFamily="18" charset="0"/>
              </a:rPr>
              <a:t>1.Plan scope management process</a:t>
            </a:r>
          </a:p>
          <a:p>
            <a:r>
              <a:rPr lang="en-GB" sz="2400" dirty="0">
                <a:solidFill>
                  <a:schemeClr val="accent1"/>
                </a:solidFill>
                <a:latin typeface="Times New Roman" panose="02020603050405020304" pitchFamily="18" charset="0"/>
                <a:cs typeface="Times New Roman" panose="02020603050405020304" pitchFamily="18" charset="0"/>
              </a:rPr>
              <a:t>2. Collect requirements</a:t>
            </a:r>
          </a:p>
          <a:p>
            <a:r>
              <a:rPr lang="en-GB" sz="2400" dirty="0">
                <a:solidFill>
                  <a:schemeClr val="accent1"/>
                </a:solidFill>
                <a:latin typeface="Times New Roman" panose="02020603050405020304" pitchFamily="18" charset="0"/>
                <a:cs typeface="Times New Roman" panose="02020603050405020304" pitchFamily="18" charset="0"/>
              </a:rPr>
              <a:t>3. Define scope</a:t>
            </a:r>
          </a:p>
          <a:p>
            <a:r>
              <a:rPr lang="en-GB" sz="2400" dirty="0">
                <a:solidFill>
                  <a:schemeClr val="accent1"/>
                </a:solidFill>
                <a:latin typeface="Times New Roman" panose="02020603050405020304" pitchFamily="18" charset="0"/>
                <a:cs typeface="Times New Roman" panose="02020603050405020304" pitchFamily="18" charset="0"/>
              </a:rPr>
              <a:t>4. Create WBS</a:t>
            </a:r>
          </a:p>
          <a:p>
            <a:r>
              <a:rPr lang="en-GB" sz="2400" dirty="0">
                <a:solidFill>
                  <a:schemeClr val="accent1"/>
                </a:solidFill>
                <a:latin typeface="Times New Roman" panose="02020603050405020304" pitchFamily="18" charset="0"/>
                <a:cs typeface="Times New Roman" panose="02020603050405020304" pitchFamily="18" charset="0"/>
              </a:rPr>
              <a:t>5. Control scope</a:t>
            </a:r>
          </a:p>
          <a:p>
            <a:r>
              <a:rPr lang="en-GB" sz="2400" dirty="0">
                <a:solidFill>
                  <a:schemeClr val="accent1"/>
                </a:solidFill>
                <a:latin typeface="Times New Roman" panose="02020603050405020304" pitchFamily="18" charset="0"/>
                <a:cs typeface="Times New Roman" panose="02020603050405020304" pitchFamily="18" charset="0"/>
              </a:rPr>
              <a:t>6. Validate Scope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0464" y="1065146"/>
            <a:ext cx="9199363" cy="4893647"/>
          </a:xfrm>
          <a:prstGeom prst="rect">
            <a:avLst/>
          </a:prstGeom>
        </p:spPr>
        <p:txBody>
          <a:bodyPr wrap="square">
            <a:spAutoFit/>
          </a:bodyPr>
          <a:lstStyle/>
          <a:p>
            <a:r>
              <a:rPr lang="en-GB" sz="2400" dirty="0">
                <a:solidFill>
                  <a:schemeClr val="accent1">
                    <a:lumMod val="50000"/>
                  </a:schemeClr>
                </a:solidFill>
                <a:latin typeface="Times New Roman" panose="02020603050405020304" pitchFamily="18" charset="0"/>
                <a:cs typeface="Times New Roman" panose="02020603050405020304" pitchFamily="18" charset="0"/>
              </a:rPr>
              <a:t>Plan Scope Management process </a:t>
            </a:r>
          </a:p>
          <a:p>
            <a:endParaRPr lang="en-GB" sz="2400" dirty="0">
              <a:solidFill>
                <a:schemeClr val="accent1"/>
              </a:solidFill>
              <a:latin typeface="Times New Roman" panose="02020603050405020304" pitchFamily="18" charset="0"/>
              <a:cs typeface="Times New Roman" panose="02020603050405020304" pitchFamily="18" charset="0"/>
            </a:endParaRPr>
          </a:p>
          <a:p>
            <a:r>
              <a:rPr lang="en-GB" sz="2400" dirty="0">
                <a:solidFill>
                  <a:schemeClr val="accent1"/>
                </a:solidFill>
                <a:latin typeface="Times New Roman" panose="02020603050405020304" pitchFamily="18" charset="0"/>
                <a:cs typeface="Times New Roman" panose="02020603050405020304" pitchFamily="18" charset="0"/>
              </a:rPr>
              <a:t>It is  where you lay out your approach to figuring out what work you’ll do and what’s out of scope. All of the other processes in the Scope Management knowledge area are defined and described in this document.</a:t>
            </a:r>
          </a:p>
          <a:p>
            <a:endParaRPr lang="en-GB" sz="2400" dirty="0">
              <a:solidFill>
                <a:schemeClr val="accent1"/>
              </a:solidFill>
              <a:latin typeface="Times New Roman" panose="02020603050405020304" pitchFamily="18" charset="0"/>
              <a:cs typeface="Times New Roman" panose="02020603050405020304" pitchFamily="18" charset="0"/>
            </a:endParaRPr>
          </a:p>
          <a:p>
            <a:endParaRPr lang="en-GB" sz="2400" dirty="0">
              <a:solidFill>
                <a:schemeClr val="accent1"/>
              </a:solidFill>
              <a:latin typeface="Times New Roman" panose="02020603050405020304" pitchFamily="18" charset="0"/>
              <a:cs typeface="Times New Roman" panose="02020603050405020304" pitchFamily="18" charset="0"/>
            </a:endParaRPr>
          </a:p>
          <a:p>
            <a:r>
              <a:rPr lang="en-GB" sz="2400" dirty="0">
                <a:solidFill>
                  <a:schemeClr val="accent1">
                    <a:lumMod val="50000"/>
                  </a:schemeClr>
                </a:solidFill>
                <a:latin typeface="Times New Roman" panose="02020603050405020304" pitchFamily="18" charset="0"/>
                <a:cs typeface="Times New Roman" panose="02020603050405020304" pitchFamily="18" charset="0"/>
              </a:rPr>
              <a:t>Input</a:t>
            </a:r>
            <a:r>
              <a:rPr lang="en-GB" sz="2400" dirty="0">
                <a:solidFill>
                  <a:schemeClr val="accent1"/>
                </a:solidFill>
                <a:latin typeface="Times New Roman" panose="02020603050405020304" pitchFamily="18" charset="0"/>
                <a:cs typeface="Times New Roman" panose="02020603050405020304" pitchFamily="18" charset="0"/>
              </a:rPr>
              <a:t> : OPA, EEF , Project Plan, Project Charter</a:t>
            </a:r>
          </a:p>
          <a:p>
            <a:endParaRPr lang="en-GB" sz="2400" dirty="0">
              <a:solidFill>
                <a:schemeClr val="accent1"/>
              </a:solidFill>
              <a:latin typeface="Times New Roman" panose="02020603050405020304" pitchFamily="18" charset="0"/>
              <a:cs typeface="Times New Roman" panose="02020603050405020304" pitchFamily="18" charset="0"/>
            </a:endParaRPr>
          </a:p>
          <a:p>
            <a:r>
              <a:rPr lang="en-GB" sz="2400" dirty="0">
                <a:solidFill>
                  <a:schemeClr val="accent1">
                    <a:lumMod val="50000"/>
                  </a:schemeClr>
                </a:solidFill>
                <a:latin typeface="Times New Roman" panose="02020603050405020304" pitchFamily="18" charset="0"/>
                <a:cs typeface="Times New Roman" panose="02020603050405020304" pitchFamily="18" charset="0"/>
              </a:rPr>
              <a:t>Tools: </a:t>
            </a:r>
            <a:r>
              <a:rPr lang="en-GB" sz="2400" dirty="0">
                <a:solidFill>
                  <a:schemeClr val="accent1"/>
                </a:solidFill>
                <a:latin typeface="Times New Roman" panose="02020603050405020304" pitchFamily="18" charset="0"/>
                <a:cs typeface="Times New Roman" panose="02020603050405020304" pitchFamily="18" charset="0"/>
              </a:rPr>
              <a:t>Expert judgement , Meetings , data analysis</a:t>
            </a:r>
          </a:p>
          <a:p>
            <a:endParaRPr lang="en-GB" sz="2400" dirty="0">
              <a:solidFill>
                <a:schemeClr val="accent1"/>
              </a:solidFill>
              <a:latin typeface="Times New Roman" panose="02020603050405020304" pitchFamily="18" charset="0"/>
              <a:cs typeface="Times New Roman" panose="02020603050405020304" pitchFamily="18" charset="0"/>
            </a:endParaRPr>
          </a:p>
          <a:p>
            <a:r>
              <a:rPr lang="en-GB" sz="2400" dirty="0">
                <a:solidFill>
                  <a:schemeClr val="accent1">
                    <a:lumMod val="50000"/>
                  </a:schemeClr>
                </a:solidFill>
                <a:latin typeface="Times New Roman" panose="02020603050405020304" pitchFamily="18" charset="0"/>
                <a:cs typeface="Times New Roman" panose="02020603050405020304" pitchFamily="18" charset="0"/>
              </a:rPr>
              <a:t>Outputs</a:t>
            </a:r>
            <a:r>
              <a:rPr lang="en-GB" sz="2400" dirty="0">
                <a:solidFill>
                  <a:schemeClr val="accent1"/>
                </a:solidFill>
                <a:latin typeface="Times New Roman" panose="02020603050405020304" pitchFamily="18" charset="0"/>
                <a:cs typeface="Times New Roman" panose="02020603050405020304" pitchFamily="18" charset="0"/>
              </a:rPr>
              <a:t>: Scope Management plan and the Requirements Management plan.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4684" y="794236"/>
            <a:ext cx="9306232" cy="4893647"/>
          </a:xfrm>
          <a:prstGeom prst="rect">
            <a:avLst/>
          </a:prstGeom>
        </p:spPr>
        <p:txBody>
          <a:bodyPr wrap="square">
            <a:spAutoFit/>
          </a:bodyPr>
          <a:lstStyle/>
          <a:p>
            <a:pPr algn="just"/>
            <a:r>
              <a:rPr lang="en-GB" sz="2400" dirty="0">
                <a:solidFill>
                  <a:schemeClr val="accent1">
                    <a:lumMod val="50000"/>
                  </a:schemeClr>
                </a:solidFill>
                <a:latin typeface="Times New Roman" panose="02020603050405020304" pitchFamily="18" charset="0"/>
                <a:cs typeface="Times New Roman" panose="02020603050405020304" pitchFamily="18" charset="0"/>
              </a:rPr>
              <a:t>The Scope Management plan</a:t>
            </a:r>
          </a:p>
          <a:p>
            <a:pPr algn="just"/>
            <a:endParaRPr lang="en-GB" sz="2400" dirty="0">
              <a:solidFill>
                <a:schemeClr val="accent1"/>
              </a:solidFill>
              <a:latin typeface="Times New Roman" panose="02020603050405020304" pitchFamily="18" charset="0"/>
              <a:cs typeface="Times New Roman" panose="02020603050405020304" pitchFamily="18" charset="0"/>
            </a:endParaRPr>
          </a:p>
          <a:p>
            <a:pPr algn="just"/>
            <a:r>
              <a:rPr lang="en-GB" sz="2400" dirty="0">
                <a:solidFill>
                  <a:schemeClr val="accent1"/>
                </a:solidFill>
                <a:latin typeface="Times New Roman" panose="02020603050405020304" pitchFamily="18" charset="0"/>
                <a:cs typeface="Times New Roman" panose="02020603050405020304" pitchFamily="18" charset="0"/>
              </a:rPr>
              <a:t>The Scope Management plan keeps you on track by detailing the processes you and your team will follow as you document your scope, figure out your work breakdown structures, and validate and control your scope for the rest of the project. </a:t>
            </a:r>
          </a:p>
          <a:p>
            <a:pPr algn="just"/>
            <a:endParaRPr lang="en-GB" sz="2400" dirty="0">
              <a:solidFill>
                <a:schemeClr val="accent1"/>
              </a:solidFill>
              <a:latin typeface="Times New Roman" panose="02020603050405020304" pitchFamily="18" charset="0"/>
              <a:cs typeface="Times New Roman" panose="02020603050405020304" pitchFamily="18" charset="0"/>
            </a:endParaRPr>
          </a:p>
          <a:p>
            <a:pPr algn="just"/>
            <a:endParaRPr lang="en-GB" sz="2400" dirty="0">
              <a:solidFill>
                <a:schemeClr val="accent1"/>
              </a:solidFill>
              <a:latin typeface="Times New Roman" panose="02020603050405020304" pitchFamily="18" charset="0"/>
              <a:cs typeface="Times New Roman" panose="02020603050405020304" pitchFamily="18" charset="0"/>
            </a:endParaRPr>
          </a:p>
          <a:p>
            <a:pPr algn="just"/>
            <a:r>
              <a:rPr lang="en-GB" sz="2400" dirty="0">
                <a:solidFill>
                  <a:schemeClr val="accent1">
                    <a:lumMod val="50000"/>
                  </a:schemeClr>
                </a:solidFill>
                <a:latin typeface="Times New Roman" panose="02020603050405020304" pitchFamily="18" charset="0"/>
                <a:cs typeface="Times New Roman" panose="02020603050405020304" pitchFamily="18" charset="0"/>
              </a:rPr>
              <a:t>The Requirements Management plan</a:t>
            </a:r>
          </a:p>
          <a:p>
            <a:pPr algn="just"/>
            <a:endParaRPr lang="en-GB" sz="2400" dirty="0">
              <a:solidFill>
                <a:schemeClr val="accent1"/>
              </a:solidFill>
              <a:latin typeface="Times New Roman" panose="02020603050405020304" pitchFamily="18" charset="0"/>
              <a:cs typeface="Times New Roman" panose="02020603050405020304" pitchFamily="18" charset="0"/>
            </a:endParaRPr>
          </a:p>
          <a:p>
            <a:pPr algn="just"/>
            <a:r>
              <a:rPr lang="en-GB" sz="2400" dirty="0">
                <a:solidFill>
                  <a:schemeClr val="accent1"/>
                </a:solidFill>
                <a:latin typeface="Times New Roman" panose="02020603050405020304" pitchFamily="18" charset="0"/>
                <a:cs typeface="Times New Roman" panose="02020603050405020304" pitchFamily="18" charset="0"/>
              </a:rPr>
              <a:t>The Requirements Management plan details the process you’ll use to collect requirements and how you’ll manage them once they’ve been written down.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1079" y="544486"/>
            <a:ext cx="4836580" cy="461665"/>
          </a:xfrm>
          <a:prstGeom prst="rect">
            <a:avLst/>
          </a:prstGeom>
        </p:spPr>
        <p:txBody>
          <a:bodyPr wrap="none">
            <a:spAutoFit/>
          </a:bodyPr>
          <a:lstStyle/>
          <a:p>
            <a:r>
              <a:rPr lang="en-GB" sz="2400" dirty="0">
                <a:solidFill>
                  <a:schemeClr val="accent1">
                    <a:lumMod val="50000"/>
                  </a:schemeClr>
                </a:solidFill>
                <a:latin typeface="Times New Roman" panose="02020603050405020304" pitchFamily="18" charset="0"/>
                <a:cs typeface="Times New Roman" panose="02020603050405020304" pitchFamily="18" charset="0"/>
              </a:rPr>
              <a:t>Collect requirements for your project </a:t>
            </a:r>
          </a:p>
        </p:txBody>
      </p:sp>
      <p:sp>
        <p:nvSpPr>
          <p:cNvPr id="3" name="Rectangle 2"/>
          <p:cNvSpPr/>
          <p:nvPr/>
        </p:nvSpPr>
        <p:spPr>
          <a:xfrm>
            <a:off x="690997" y="1253795"/>
            <a:ext cx="8171248" cy="4616648"/>
          </a:xfrm>
          <a:prstGeom prst="rect">
            <a:avLst/>
          </a:prstGeom>
        </p:spPr>
        <p:txBody>
          <a:bodyPr wrap="square">
            <a:spAutoFit/>
          </a:bodyPr>
          <a:lstStyle/>
          <a:p>
            <a:r>
              <a:rPr lang="en-GB" dirty="0"/>
              <a:t> </a:t>
            </a:r>
            <a:r>
              <a:rPr lang="en-GB" sz="2400" dirty="0">
                <a:solidFill>
                  <a:schemeClr val="accent1"/>
                </a:solidFill>
                <a:latin typeface="Times New Roman" panose="02020603050405020304" pitchFamily="18" charset="0"/>
                <a:cs typeface="Times New Roman" panose="02020603050405020304" pitchFamily="18" charset="0"/>
              </a:rPr>
              <a:t>sitting down with all of the stakeholders for your project and working out what their needs are.</a:t>
            </a:r>
          </a:p>
          <a:p>
            <a:endParaRPr lang="en-GB" sz="2400" dirty="0">
              <a:solidFill>
                <a:schemeClr val="accent1"/>
              </a:solidFill>
              <a:latin typeface="Times New Roman" panose="02020603050405020304" pitchFamily="18" charset="0"/>
              <a:cs typeface="Times New Roman" panose="02020603050405020304" pitchFamily="18" charset="0"/>
            </a:endParaRPr>
          </a:p>
          <a:p>
            <a:r>
              <a:rPr lang="en-GB" sz="2400" dirty="0">
                <a:solidFill>
                  <a:schemeClr val="accent1">
                    <a:lumMod val="50000"/>
                  </a:schemeClr>
                </a:solidFill>
                <a:latin typeface="Times New Roman" panose="02020603050405020304" pitchFamily="18" charset="0"/>
                <a:cs typeface="Times New Roman" panose="02020603050405020304" pitchFamily="18" charset="0"/>
              </a:rPr>
              <a:t>Inputs:</a:t>
            </a:r>
            <a:r>
              <a:rPr lang="en-GB" sz="2400" dirty="0">
                <a:solidFill>
                  <a:schemeClr val="accent1"/>
                </a:solidFill>
                <a:latin typeface="Times New Roman" panose="02020603050405020304" pitchFamily="18" charset="0"/>
                <a:cs typeface="Times New Roman" panose="02020603050405020304" pitchFamily="18" charset="0"/>
              </a:rPr>
              <a:t> EEF, OPA, Project Management Plan, Business documents, Project charter</a:t>
            </a:r>
          </a:p>
          <a:p>
            <a:endParaRPr lang="en-GB" sz="2400" dirty="0">
              <a:solidFill>
                <a:schemeClr val="accent1"/>
              </a:solidFill>
              <a:latin typeface="Times New Roman" panose="02020603050405020304" pitchFamily="18" charset="0"/>
              <a:cs typeface="Times New Roman" panose="02020603050405020304" pitchFamily="18" charset="0"/>
            </a:endParaRPr>
          </a:p>
          <a:p>
            <a:r>
              <a:rPr lang="en-GB" sz="2400" dirty="0">
                <a:solidFill>
                  <a:schemeClr val="accent1">
                    <a:lumMod val="50000"/>
                  </a:schemeClr>
                </a:solidFill>
                <a:latin typeface="Times New Roman" panose="02020603050405020304" pitchFamily="18" charset="0"/>
                <a:cs typeface="Times New Roman" panose="02020603050405020304" pitchFamily="18" charset="0"/>
              </a:rPr>
              <a:t>Tools:  </a:t>
            </a:r>
            <a:r>
              <a:rPr lang="en-GB" sz="2400" dirty="0">
                <a:solidFill>
                  <a:schemeClr val="accent1"/>
                </a:solidFill>
                <a:latin typeface="Times New Roman" panose="02020603050405020304" pitchFamily="18" charset="0"/>
                <a:cs typeface="Times New Roman" panose="02020603050405020304" pitchFamily="18" charset="0"/>
              </a:rPr>
              <a:t>data gathering</a:t>
            </a:r>
          </a:p>
          <a:p>
            <a:endParaRPr lang="en-GB" sz="2400" dirty="0">
              <a:solidFill>
                <a:schemeClr val="accent1"/>
              </a:solidFill>
              <a:latin typeface="Times New Roman" panose="02020603050405020304" pitchFamily="18" charset="0"/>
              <a:cs typeface="Times New Roman" panose="02020603050405020304" pitchFamily="18" charset="0"/>
            </a:endParaRPr>
          </a:p>
          <a:p>
            <a:endParaRPr lang="en-GB" sz="2400" dirty="0">
              <a:solidFill>
                <a:schemeClr val="accent1"/>
              </a:solidFill>
              <a:latin typeface="Times New Roman" panose="02020603050405020304" pitchFamily="18" charset="0"/>
              <a:cs typeface="Times New Roman" panose="02020603050405020304" pitchFamily="18" charset="0"/>
            </a:endParaRPr>
          </a:p>
          <a:p>
            <a:r>
              <a:rPr lang="en-GB" sz="2400" dirty="0">
                <a:solidFill>
                  <a:schemeClr val="accent1">
                    <a:lumMod val="50000"/>
                  </a:schemeClr>
                </a:solidFill>
                <a:latin typeface="Times New Roman" panose="02020603050405020304" pitchFamily="18" charset="0"/>
                <a:cs typeface="Times New Roman" panose="02020603050405020304" pitchFamily="18" charset="0"/>
              </a:rPr>
              <a:t>Output:</a:t>
            </a:r>
            <a:r>
              <a:rPr lang="en-GB" sz="2400" dirty="0">
                <a:solidFill>
                  <a:schemeClr val="accent1"/>
                </a:solidFill>
                <a:latin typeface="Times New Roman" panose="02020603050405020304" pitchFamily="18" charset="0"/>
                <a:cs typeface="Times New Roman" panose="02020603050405020304" pitchFamily="18" charset="0"/>
              </a:rPr>
              <a:t>  requirements document </a:t>
            </a:r>
          </a:p>
          <a:p>
            <a:endParaRPr lang="en-GB" dirty="0"/>
          </a:p>
          <a:p>
            <a:endParaRPr lang="en-GB" dirty="0"/>
          </a:p>
          <a:p>
            <a:endParaRPr lang="en-GB"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3569" y="265607"/>
            <a:ext cx="4043094" cy="461665"/>
          </a:xfrm>
          <a:prstGeom prst="rect">
            <a:avLst/>
          </a:prstGeom>
        </p:spPr>
        <p:txBody>
          <a:bodyPr wrap="none">
            <a:spAutoFit/>
          </a:bodyPr>
          <a:lstStyle/>
          <a:p>
            <a:r>
              <a:rPr lang="en-GB" sz="2400" dirty="0">
                <a:solidFill>
                  <a:schemeClr val="accent1">
                    <a:lumMod val="50000"/>
                  </a:schemeClr>
                </a:solidFill>
                <a:latin typeface="Times New Roman" panose="02020603050405020304" pitchFamily="18" charset="0"/>
                <a:cs typeface="Times New Roman" panose="02020603050405020304" pitchFamily="18" charset="0"/>
              </a:rPr>
              <a:t>Define the scope of the project </a:t>
            </a:r>
          </a:p>
        </p:txBody>
      </p:sp>
      <p:sp>
        <p:nvSpPr>
          <p:cNvPr id="3" name="Rectangle 2"/>
          <p:cNvSpPr/>
          <p:nvPr/>
        </p:nvSpPr>
        <p:spPr>
          <a:xfrm>
            <a:off x="332510" y="727272"/>
            <a:ext cx="8714508" cy="3785652"/>
          </a:xfrm>
          <a:prstGeom prst="rect">
            <a:avLst/>
          </a:prstGeom>
        </p:spPr>
        <p:txBody>
          <a:bodyPr wrap="square">
            <a:spAutoFit/>
          </a:bodyPr>
          <a:lstStyle/>
          <a:p>
            <a:r>
              <a:rPr lang="en-GB" dirty="0"/>
              <a:t> </a:t>
            </a:r>
            <a:r>
              <a:rPr lang="en-GB" sz="2400" dirty="0">
                <a:solidFill>
                  <a:schemeClr val="accent1"/>
                </a:solidFill>
                <a:latin typeface="Times New Roman" panose="02020603050405020304" pitchFamily="18" charset="0"/>
                <a:cs typeface="Times New Roman" panose="02020603050405020304" pitchFamily="18" charset="0"/>
              </a:rPr>
              <a:t>They contain everything you need to know before you can begin to break the project down into the work that the team members will do.</a:t>
            </a:r>
          </a:p>
          <a:p>
            <a:endParaRPr lang="en-GB" sz="2400" dirty="0">
              <a:solidFill>
                <a:schemeClr val="accent1"/>
              </a:solidFill>
              <a:latin typeface="Times New Roman" panose="02020603050405020304" pitchFamily="18" charset="0"/>
              <a:cs typeface="Times New Roman" panose="02020603050405020304" pitchFamily="18" charset="0"/>
            </a:endParaRPr>
          </a:p>
          <a:p>
            <a:endParaRPr lang="en-GB" sz="2400" dirty="0">
              <a:solidFill>
                <a:schemeClr val="accent1"/>
              </a:solidFill>
              <a:latin typeface="Times New Roman" panose="02020603050405020304" pitchFamily="18" charset="0"/>
              <a:cs typeface="Times New Roman" panose="02020603050405020304" pitchFamily="18" charset="0"/>
            </a:endParaRPr>
          </a:p>
          <a:p>
            <a:r>
              <a:rPr lang="en-GB" sz="2400" dirty="0">
                <a:solidFill>
                  <a:schemeClr val="accent1">
                    <a:lumMod val="50000"/>
                  </a:schemeClr>
                </a:solidFill>
                <a:latin typeface="Times New Roman" panose="02020603050405020304" pitchFamily="18" charset="0"/>
                <a:cs typeface="Times New Roman" panose="02020603050405020304" pitchFamily="18" charset="0"/>
              </a:rPr>
              <a:t>Inputs:</a:t>
            </a:r>
            <a:r>
              <a:rPr lang="en-GB" sz="2400" dirty="0">
                <a:solidFill>
                  <a:schemeClr val="accent1"/>
                </a:solidFill>
                <a:latin typeface="Times New Roman" panose="02020603050405020304" pitchFamily="18" charset="0"/>
                <a:cs typeface="Times New Roman" panose="02020603050405020304" pitchFamily="18" charset="0"/>
              </a:rPr>
              <a:t> OPA, EEF, Project Management Plan , Project charter, Business plan </a:t>
            </a:r>
          </a:p>
          <a:p>
            <a:endParaRPr lang="en-GB" sz="2400" dirty="0">
              <a:solidFill>
                <a:schemeClr val="accent1"/>
              </a:solidFill>
              <a:latin typeface="Times New Roman" panose="02020603050405020304" pitchFamily="18" charset="0"/>
              <a:cs typeface="Times New Roman" panose="02020603050405020304" pitchFamily="18" charset="0"/>
            </a:endParaRPr>
          </a:p>
          <a:p>
            <a:r>
              <a:rPr lang="en-GB" sz="2400" dirty="0">
                <a:solidFill>
                  <a:schemeClr val="accent1">
                    <a:lumMod val="50000"/>
                  </a:schemeClr>
                </a:solidFill>
                <a:latin typeface="Times New Roman" panose="02020603050405020304" pitchFamily="18" charset="0"/>
                <a:cs typeface="Times New Roman" panose="02020603050405020304" pitchFamily="18" charset="0"/>
              </a:rPr>
              <a:t>Tools :</a:t>
            </a:r>
            <a:r>
              <a:rPr lang="en-GB" sz="2400" dirty="0">
                <a:solidFill>
                  <a:schemeClr val="accent1"/>
                </a:solidFill>
                <a:latin typeface="Times New Roman" panose="02020603050405020304" pitchFamily="18" charset="0"/>
                <a:cs typeface="Times New Roman" panose="02020603050405020304" pitchFamily="18" charset="0"/>
              </a:rPr>
              <a:t> data gathering </a:t>
            </a:r>
          </a:p>
          <a:p>
            <a:endParaRPr lang="en-GB" sz="2400" dirty="0">
              <a:solidFill>
                <a:schemeClr val="accent1"/>
              </a:solidFill>
              <a:latin typeface="Times New Roman" panose="02020603050405020304" pitchFamily="18" charset="0"/>
              <a:cs typeface="Times New Roman" panose="02020603050405020304" pitchFamily="18" charset="0"/>
            </a:endParaRPr>
          </a:p>
          <a:p>
            <a:r>
              <a:rPr lang="en-GB" sz="2400" dirty="0">
                <a:solidFill>
                  <a:schemeClr val="accent1">
                    <a:lumMod val="50000"/>
                  </a:schemeClr>
                </a:solidFill>
                <a:latin typeface="Times New Roman" panose="02020603050405020304" pitchFamily="18" charset="0"/>
                <a:cs typeface="Times New Roman" panose="02020603050405020304" pitchFamily="18" charset="0"/>
              </a:rPr>
              <a:t>Output:</a:t>
            </a:r>
            <a:r>
              <a:rPr lang="en-GB" sz="2400" dirty="0">
                <a:solidFill>
                  <a:schemeClr val="accent1"/>
                </a:solidFill>
                <a:latin typeface="Times New Roman" panose="02020603050405020304" pitchFamily="18" charset="0"/>
                <a:cs typeface="Times New Roman" panose="02020603050405020304" pitchFamily="18" charset="0"/>
              </a:rPr>
              <a:t>  project scope statement </a:t>
            </a:r>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903284"/>
            <a:ext cx="8991599" cy="4893647"/>
          </a:xfrm>
          <a:prstGeom prst="rect">
            <a:avLst/>
          </a:prstGeom>
        </p:spPr>
        <p:txBody>
          <a:bodyPr wrap="square">
            <a:spAutoFit/>
          </a:bodyPr>
          <a:lstStyle/>
          <a:p>
            <a:r>
              <a:rPr lang="en-GB" sz="2400" dirty="0">
                <a:solidFill>
                  <a:schemeClr val="accent1"/>
                </a:solidFill>
                <a:latin typeface="Times New Roman" panose="02020603050405020304" pitchFamily="18" charset="0"/>
                <a:cs typeface="Times New Roman" panose="02020603050405020304" pitchFamily="18" charset="0"/>
              </a:rPr>
              <a:t>Project Scope</a:t>
            </a:r>
          </a:p>
          <a:p>
            <a:endParaRPr lang="en-GB" sz="2400" dirty="0">
              <a:solidFill>
                <a:schemeClr val="accent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GB" sz="2400" dirty="0">
                <a:solidFill>
                  <a:schemeClr val="accent1"/>
                </a:solidFill>
                <a:latin typeface="Times New Roman" panose="02020603050405020304" pitchFamily="18" charset="0"/>
                <a:cs typeface="Times New Roman" panose="02020603050405020304" pitchFamily="18" charset="0"/>
              </a:rPr>
              <a:t>A definition of the end result or mission of the project </a:t>
            </a:r>
          </a:p>
          <a:p>
            <a:pPr marL="342900" indent="-342900">
              <a:buFont typeface="Arial" panose="020B0604020202020204" pitchFamily="34" charset="0"/>
              <a:buChar char="•"/>
            </a:pPr>
            <a:r>
              <a:rPr lang="en-GB" sz="2400" dirty="0">
                <a:solidFill>
                  <a:schemeClr val="accent1"/>
                </a:solidFill>
                <a:latin typeface="Times New Roman" panose="02020603050405020304" pitchFamily="18" charset="0"/>
                <a:cs typeface="Times New Roman" panose="02020603050405020304" pitchFamily="18" charset="0"/>
              </a:rPr>
              <a:t>A product or service for the client/customer—in  specific, tangible, and measurable terms.</a:t>
            </a:r>
          </a:p>
          <a:p>
            <a:endParaRPr lang="en-GB" sz="2400" dirty="0">
              <a:solidFill>
                <a:schemeClr val="accent1"/>
              </a:solidFill>
              <a:latin typeface="Times New Roman" panose="02020603050405020304" pitchFamily="18" charset="0"/>
              <a:cs typeface="Times New Roman" panose="02020603050405020304" pitchFamily="18" charset="0"/>
            </a:endParaRPr>
          </a:p>
          <a:p>
            <a:endParaRPr lang="en-GB" sz="2400" dirty="0">
              <a:solidFill>
                <a:schemeClr val="accent1"/>
              </a:solidFill>
              <a:latin typeface="Times New Roman" panose="02020603050405020304" pitchFamily="18" charset="0"/>
              <a:cs typeface="Times New Roman" panose="02020603050405020304" pitchFamily="18" charset="0"/>
            </a:endParaRPr>
          </a:p>
          <a:p>
            <a:r>
              <a:rPr lang="en-GB" sz="2400" dirty="0">
                <a:solidFill>
                  <a:schemeClr val="accent1"/>
                </a:solidFill>
                <a:latin typeface="Times New Roman" panose="02020603050405020304" pitchFamily="18" charset="0"/>
                <a:cs typeface="Times New Roman" panose="02020603050405020304" pitchFamily="18" charset="0"/>
              </a:rPr>
              <a:t>• Purpose of the Scope Statement</a:t>
            </a:r>
          </a:p>
          <a:p>
            <a:endParaRPr lang="en-GB" sz="2400" dirty="0">
              <a:solidFill>
                <a:schemeClr val="accent1"/>
              </a:solidFill>
              <a:latin typeface="Times New Roman" panose="02020603050405020304" pitchFamily="18" charset="0"/>
              <a:cs typeface="Times New Roman" panose="02020603050405020304" pitchFamily="18" charset="0"/>
            </a:endParaRPr>
          </a:p>
          <a:p>
            <a:r>
              <a:rPr lang="en-GB" sz="2400" dirty="0">
                <a:solidFill>
                  <a:schemeClr val="accent1"/>
                </a:solidFill>
                <a:latin typeface="Times New Roman" panose="02020603050405020304" pitchFamily="18" charset="0"/>
                <a:cs typeface="Times New Roman" panose="02020603050405020304" pitchFamily="18" charset="0"/>
              </a:rPr>
              <a:t>To clearly define the deliverable(s) for the end user.</a:t>
            </a:r>
          </a:p>
          <a:p>
            <a:r>
              <a:rPr lang="en-GB" sz="2400" dirty="0">
                <a:solidFill>
                  <a:schemeClr val="accent1"/>
                </a:solidFill>
                <a:latin typeface="Times New Roman" panose="02020603050405020304" pitchFamily="18" charset="0"/>
                <a:cs typeface="Times New Roman" panose="02020603050405020304" pitchFamily="18" charset="0"/>
              </a:rPr>
              <a:t>To focus the project on successful completion of its goals.</a:t>
            </a:r>
          </a:p>
          <a:p>
            <a:r>
              <a:rPr lang="en-GB" sz="2400" dirty="0">
                <a:solidFill>
                  <a:schemeClr val="accent1"/>
                </a:solidFill>
                <a:latin typeface="Times New Roman" panose="02020603050405020304" pitchFamily="18" charset="0"/>
                <a:cs typeface="Times New Roman" panose="02020603050405020304" pitchFamily="18" charset="0"/>
              </a:rPr>
              <a:t>To be used by the project owner and participants as a planning tool and for measuring project success.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33412" y="338137"/>
            <a:ext cx="10925175" cy="61817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fontAlgn="base">
              <a:spcBef>
                <a:spcPct val="0"/>
              </a:spcBef>
              <a:spcAft>
                <a:spcPct val="0"/>
              </a:spcAft>
              <a:defRPr/>
            </a:pPr>
            <a:fld id="{564B9EB9-954E-460E-BF4D-55895DF07B27}" type="slidenum">
              <a:rPr lang="en-US" altLang="en-US">
                <a:solidFill>
                  <a:srgbClr val="000000"/>
                </a:solidFill>
                <a:latin typeface="Times New Roman"/>
              </a:rPr>
              <a:pPr fontAlgn="base">
                <a:spcBef>
                  <a:spcPct val="0"/>
                </a:spcBef>
                <a:spcAft>
                  <a:spcPct val="0"/>
                </a:spcAft>
                <a:defRPr/>
              </a:pPr>
              <a:t>17</a:t>
            </a:fld>
            <a:endParaRPr lang="en-US" altLang="en-US">
              <a:solidFill>
                <a:srgbClr val="000000"/>
              </a:solidFill>
              <a:latin typeface="Times New Roman"/>
            </a:endParaRPr>
          </a:p>
        </p:txBody>
      </p:sp>
      <p:sp>
        <p:nvSpPr>
          <p:cNvPr id="8196" name="Rectangle 3"/>
          <p:cNvSpPr>
            <a:spLocks noGrp="1" noChangeArrowheads="1"/>
          </p:cNvSpPr>
          <p:nvPr>
            <p:ph type="body" idx="1"/>
          </p:nvPr>
        </p:nvSpPr>
        <p:spPr/>
        <p:txBody>
          <a:bodyPr/>
          <a:lstStyle/>
          <a:p>
            <a:pPr eaLnBrk="1" hangingPunct="1">
              <a:buFont typeface="Wingdings" panose="05000000000000000000" pitchFamily="2" charset="2"/>
              <a:buChar char="Ø"/>
            </a:pPr>
            <a:endParaRPr lang="en-US" altLang="en-US" sz="2400">
              <a:latin typeface="Arial" panose="020B0604020202020204" pitchFamily="34" charset="0"/>
            </a:endParaRPr>
          </a:p>
          <a:p>
            <a:pPr eaLnBrk="1" hangingPunct="1">
              <a:buFont typeface="Wingdings" panose="05000000000000000000" pitchFamily="2" charset="2"/>
              <a:buChar char="Ø"/>
            </a:pPr>
            <a:endParaRPr lang="en-US" altLang="en-US" sz="2400">
              <a:latin typeface="Arial" panose="020B0604020202020204" pitchFamily="34" charset="0"/>
            </a:endParaRPr>
          </a:p>
          <a:p>
            <a:pPr eaLnBrk="1" hangingPunct="1">
              <a:buFont typeface="Wingdings" panose="05000000000000000000" pitchFamily="2" charset="2"/>
              <a:buChar char="Ø"/>
            </a:pPr>
            <a:r>
              <a:rPr lang="en-US" altLang="en-US" sz="2800" b="1">
                <a:latin typeface="Arial" panose="020B0604020202020204" pitchFamily="34" charset="0"/>
              </a:rPr>
              <a:t>A formal written description of your minimum requirements to be performed by a contractor</a:t>
            </a:r>
          </a:p>
          <a:p>
            <a:pPr eaLnBrk="1" hangingPunct="1">
              <a:buFont typeface="Wingdings" panose="05000000000000000000" pitchFamily="2" charset="2"/>
              <a:buChar char="Ø"/>
            </a:pPr>
            <a:endParaRPr lang="en-US" altLang="en-US" sz="2800" b="1">
              <a:latin typeface="Arial" panose="020B0604020202020204" pitchFamily="34" charset="0"/>
            </a:endParaRPr>
          </a:p>
          <a:p>
            <a:pPr eaLnBrk="1" hangingPunct="1">
              <a:buFont typeface="Wingdings" panose="05000000000000000000" pitchFamily="2" charset="2"/>
              <a:buChar char="Ø"/>
            </a:pPr>
            <a:r>
              <a:rPr lang="en-US" altLang="en-US" sz="2800" b="1">
                <a:latin typeface="Arial" panose="020B0604020202020204" pitchFamily="34" charset="0"/>
              </a:rPr>
              <a:t>The “heart of your procurement”</a:t>
            </a:r>
          </a:p>
        </p:txBody>
      </p:sp>
      <p:sp>
        <p:nvSpPr>
          <p:cNvPr id="8197" name="Rectangle 5"/>
          <p:cNvSpPr>
            <a:spLocks noGrp="1" noChangeArrowheads="1"/>
          </p:cNvSpPr>
          <p:nvPr>
            <p:ph type="title"/>
          </p:nvPr>
        </p:nvSpPr>
        <p:spPr/>
        <p:txBody>
          <a:bodyPr>
            <a:normAutofit fontScale="90000"/>
          </a:bodyPr>
          <a:lstStyle/>
          <a:p>
            <a:pPr eaLnBrk="1" hangingPunct="1"/>
            <a:br>
              <a:rPr lang="en-US" altLang="en-US" sz="4000" dirty="0">
                <a:latin typeface="Arial" panose="020B0604020202020204" pitchFamily="34" charset="0"/>
              </a:rPr>
            </a:br>
            <a:br>
              <a:rPr lang="en-US" altLang="en-US" sz="4000" dirty="0">
                <a:latin typeface="Arial" panose="020B0604020202020204" pitchFamily="34" charset="0"/>
              </a:rPr>
            </a:br>
            <a:r>
              <a:rPr lang="en-US" altLang="en-US" sz="4000" dirty="0">
                <a:latin typeface="Arial" panose="020B0604020202020204" pitchFamily="34" charset="0"/>
              </a:rPr>
              <a:t>What Is An SOW?</a:t>
            </a:r>
          </a:p>
        </p:txBody>
      </p:sp>
    </p:spTree>
    <p:extLst>
      <p:ext uri="{BB962C8B-B14F-4D97-AF65-F5344CB8AC3E}">
        <p14:creationId xmlns:p14="http://schemas.microsoft.com/office/powerpoint/2010/main" val="1622655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fontAlgn="base">
              <a:spcBef>
                <a:spcPct val="0"/>
              </a:spcBef>
              <a:spcAft>
                <a:spcPct val="0"/>
              </a:spcAft>
              <a:defRPr/>
            </a:pPr>
            <a:fld id="{275BC1A3-6EA0-4124-AB99-AA4D313A33EB}" type="slidenum">
              <a:rPr lang="en-US" altLang="en-US">
                <a:solidFill>
                  <a:srgbClr val="000000"/>
                </a:solidFill>
                <a:latin typeface="Times New Roman"/>
              </a:rPr>
              <a:pPr fontAlgn="base">
                <a:spcBef>
                  <a:spcPct val="0"/>
                </a:spcBef>
                <a:spcAft>
                  <a:spcPct val="0"/>
                </a:spcAft>
                <a:defRPr/>
              </a:pPr>
              <a:t>18</a:t>
            </a:fld>
            <a:endParaRPr lang="en-US" altLang="en-US">
              <a:solidFill>
                <a:srgbClr val="000000"/>
              </a:solidFill>
              <a:latin typeface="Times New Roman"/>
            </a:endParaRPr>
          </a:p>
        </p:txBody>
      </p:sp>
      <p:sp>
        <p:nvSpPr>
          <p:cNvPr id="10244" name="Rectangle 2"/>
          <p:cNvSpPr>
            <a:spLocks noGrp="1" noChangeArrowheads="1"/>
          </p:cNvSpPr>
          <p:nvPr>
            <p:ph type="title"/>
          </p:nvPr>
        </p:nvSpPr>
        <p:spPr/>
        <p:txBody>
          <a:bodyPr>
            <a:normAutofit fontScale="90000"/>
          </a:bodyPr>
          <a:lstStyle/>
          <a:p>
            <a:pPr eaLnBrk="1" hangingPunct="1">
              <a:lnSpc>
                <a:spcPct val="80000"/>
              </a:lnSpc>
            </a:pPr>
            <a:br>
              <a:rPr lang="en-US" altLang="en-US" sz="3200" b="1">
                <a:latin typeface="Arial" panose="020B0604020202020204" pitchFamily="34" charset="0"/>
              </a:rPr>
            </a:br>
            <a:br>
              <a:rPr lang="en-US" altLang="en-US" sz="3200" b="1">
                <a:latin typeface="Arial" panose="020B0604020202020204" pitchFamily="34" charset="0"/>
              </a:rPr>
            </a:br>
            <a:br>
              <a:rPr lang="en-US" altLang="en-US" sz="3200">
                <a:latin typeface="Arial" panose="020B0604020202020204" pitchFamily="34" charset="0"/>
              </a:rPr>
            </a:br>
            <a:r>
              <a:rPr lang="en-US" altLang="en-US" sz="3200">
                <a:latin typeface="Arial" panose="020B0604020202020204" pitchFamily="34" charset="0"/>
              </a:rPr>
              <a:t>Why is a Clear and Concise </a:t>
            </a:r>
            <a:br>
              <a:rPr lang="en-US" altLang="en-US" sz="3200">
                <a:latin typeface="Arial" panose="020B0604020202020204" pitchFamily="34" charset="0"/>
              </a:rPr>
            </a:br>
            <a:r>
              <a:rPr lang="en-US" altLang="en-US" sz="3200">
                <a:latin typeface="Arial" panose="020B0604020202020204" pitchFamily="34" charset="0"/>
              </a:rPr>
              <a:t>SOW Important ?</a:t>
            </a:r>
          </a:p>
        </p:txBody>
      </p:sp>
      <p:sp>
        <p:nvSpPr>
          <p:cNvPr id="10245" name="Rectangle 3"/>
          <p:cNvSpPr>
            <a:spLocks noGrp="1" noChangeArrowheads="1"/>
          </p:cNvSpPr>
          <p:nvPr>
            <p:ph type="body" idx="1"/>
          </p:nvPr>
        </p:nvSpPr>
        <p:spPr>
          <a:xfrm>
            <a:off x="2514600" y="2057400"/>
            <a:ext cx="7772400" cy="4114800"/>
          </a:xfrm>
        </p:spPr>
        <p:txBody>
          <a:bodyPr>
            <a:normAutofit fontScale="92500" lnSpcReduction="10000"/>
          </a:bodyPr>
          <a:lstStyle/>
          <a:p>
            <a:pPr eaLnBrk="1" hangingPunct="1">
              <a:lnSpc>
                <a:spcPct val="90000"/>
              </a:lnSpc>
              <a:buFont typeface="Wingdings" panose="05000000000000000000" pitchFamily="2" charset="2"/>
              <a:buNone/>
            </a:pPr>
            <a:endParaRPr lang="en-US" altLang="en-US" sz="2000" dirty="0">
              <a:latin typeface="Arial" panose="020B0604020202020204" pitchFamily="34" charset="0"/>
            </a:endParaRPr>
          </a:p>
          <a:p>
            <a:pPr eaLnBrk="1" hangingPunct="1">
              <a:lnSpc>
                <a:spcPct val="90000"/>
              </a:lnSpc>
              <a:buFont typeface="Wingdings" panose="05000000000000000000" pitchFamily="2" charset="2"/>
              <a:buChar char="Ø"/>
            </a:pPr>
            <a:endParaRPr lang="en-US" altLang="en-US" sz="2000" dirty="0">
              <a:latin typeface="Arial" panose="020B0604020202020204" pitchFamily="34" charset="0"/>
            </a:endParaRPr>
          </a:p>
          <a:p>
            <a:pPr eaLnBrk="1" hangingPunct="1">
              <a:lnSpc>
                <a:spcPct val="90000"/>
              </a:lnSpc>
              <a:buFont typeface="Wingdings" panose="05000000000000000000" pitchFamily="2" charset="2"/>
              <a:buChar char="Ø"/>
            </a:pPr>
            <a:r>
              <a:rPr lang="en-US" altLang="en-US" sz="2200" dirty="0">
                <a:latin typeface="Arial" panose="020B0604020202020204" pitchFamily="34" charset="0"/>
              </a:rPr>
              <a:t>Provides a clear understanding of the requirements</a:t>
            </a:r>
          </a:p>
          <a:p>
            <a:pPr eaLnBrk="1" hangingPunct="1">
              <a:lnSpc>
                <a:spcPct val="90000"/>
              </a:lnSpc>
              <a:buFont typeface="Wingdings" panose="05000000000000000000" pitchFamily="2" charset="2"/>
              <a:buNone/>
            </a:pPr>
            <a:endParaRPr lang="en-US" altLang="en-US" sz="2200" dirty="0">
              <a:latin typeface="Arial" panose="020B0604020202020204" pitchFamily="34" charset="0"/>
            </a:endParaRPr>
          </a:p>
          <a:p>
            <a:pPr eaLnBrk="1" hangingPunct="1">
              <a:lnSpc>
                <a:spcPct val="90000"/>
              </a:lnSpc>
              <a:buFont typeface="Wingdings" panose="05000000000000000000" pitchFamily="2" charset="2"/>
              <a:buChar char="Ø"/>
            </a:pPr>
            <a:r>
              <a:rPr lang="en-US" altLang="en-US" sz="2200" dirty="0">
                <a:latin typeface="Arial" panose="020B0604020202020204" pitchFamily="34" charset="0"/>
              </a:rPr>
              <a:t>Establishes a baseline for proposal evaluation</a:t>
            </a:r>
          </a:p>
          <a:p>
            <a:pPr eaLnBrk="1" hangingPunct="1">
              <a:lnSpc>
                <a:spcPct val="90000"/>
              </a:lnSpc>
              <a:buFont typeface="Wingdings" panose="05000000000000000000" pitchFamily="2" charset="2"/>
              <a:buNone/>
            </a:pPr>
            <a:endParaRPr lang="en-US" altLang="en-US" sz="2200" dirty="0">
              <a:latin typeface="Arial" panose="020B0604020202020204" pitchFamily="34" charset="0"/>
            </a:endParaRPr>
          </a:p>
          <a:p>
            <a:pPr eaLnBrk="1" hangingPunct="1">
              <a:lnSpc>
                <a:spcPct val="90000"/>
              </a:lnSpc>
              <a:buFont typeface="Wingdings" panose="05000000000000000000" pitchFamily="2" charset="2"/>
              <a:buChar char="Ø"/>
            </a:pPr>
            <a:r>
              <a:rPr lang="en-US" altLang="en-US" sz="2200" dirty="0">
                <a:latin typeface="Arial" panose="020B0604020202020204" pitchFamily="34" charset="0"/>
              </a:rPr>
              <a:t>Reduces evaluation and negotiation time</a:t>
            </a:r>
          </a:p>
          <a:p>
            <a:pPr eaLnBrk="1" hangingPunct="1">
              <a:lnSpc>
                <a:spcPct val="90000"/>
              </a:lnSpc>
              <a:buFont typeface="Wingdings" panose="05000000000000000000" pitchFamily="2" charset="2"/>
              <a:buNone/>
            </a:pPr>
            <a:endParaRPr lang="en-US" altLang="en-US" sz="2200" dirty="0">
              <a:latin typeface="Arial" panose="020B0604020202020204" pitchFamily="34" charset="0"/>
            </a:endParaRPr>
          </a:p>
          <a:p>
            <a:pPr eaLnBrk="1" hangingPunct="1">
              <a:lnSpc>
                <a:spcPct val="90000"/>
              </a:lnSpc>
              <a:buFont typeface="Wingdings" panose="05000000000000000000" pitchFamily="2" charset="2"/>
              <a:buChar char="Ø"/>
            </a:pPr>
            <a:r>
              <a:rPr lang="en-US" altLang="en-US" sz="2200" dirty="0">
                <a:latin typeface="Arial" panose="020B0604020202020204" pitchFamily="34" charset="0"/>
              </a:rPr>
              <a:t>Minimizes need for future changes</a:t>
            </a:r>
          </a:p>
          <a:p>
            <a:pPr eaLnBrk="1" hangingPunct="1">
              <a:lnSpc>
                <a:spcPct val="90000"/>
              </a:lnSpc>
              <a:buFont typeface="Wingdings" panose="05000000000000000000" pitchFamily="2" charset="2"/>
              <a:buNone/>
            </a:pPr>
            <a:endParaRPr lang="en-US" altLang="en-US" sz="2200" dirty="0">
              <a:latin typeface="Arial" panose="020B0604020202020204" pitchFamily="34" charset="0"/>
            </a:endParaRPr>
          </a:p>
          <a:p>
            <a:pPr eaLnBrk="1" hangingPunct="1">
              <a:lnSpc>
                <a:spcPct val="90000"/>
              </a:lnSpc>
              <a:buFont typeface="Wingdings" panose="05000000000000000000" pitchFamily="2" charset="2"/>
              <a:buChar char="Ø"/>
            </a:pPr>
            <a:r>
              <a:rPr lang="en-US" altLang="en-US" sz="2200" dirty="0">
                <a:latin typeface="Arial" panose="020B0604020202020204" pitchFamily="34" charset="0"/>
              </a:rPr>
              <a:t>Baselines contractor performance measures</a:t>
            </a:r>
          </a:p>
          <a:p>
            <a:pPr eaLnBrk="1" hangingPunct="1">
              <a:lnSpc>
                <a:spcPct val="90000"/>
              </a:lnSpc>
              <a:buFont typeface="Wingdings" panose="05000000000000000000" pitchFamily="2" charset="2"/>
              <a:buChar char="Ø"/>
            </a:pPr>
            <a:endParaRPr lang="en-US" altLang="en-US" sz="2200" dirty="0">
              <a:latin typeface="Arial" panose="020B0604020202020204" pitchFamily="34" charset="0"/>
            </a:endParaRPr>
          </a:p>
        </p:txBody>
      </p:sp>
    </p:spTree>
    <p:extLst>
      <p:ext uri="{BB962C8B-B14F-4D97-AF65-F5344CB8AC3E}">
        <p14:creationId xmlns:p14="http://schemas.microsoft.com/office/powerpoint/2010/main" val="37096034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fontAlgn="base">
              <a:spcBef>
                <a:spcPct val="0"/>
              </a:spcBef>
              <a:spcAft>
                <a:spcPct val="0"/>
              </a:spcAft>
              <a:defRPr/>
            </a:pPr>
            <a:fld id="{F6F725B9-0F59-4F5F-BD0E-435EEFB09B66}" type="slidenum">
              <a:rPr lang="en-US" altLang="en-US">
                <a:solidFill>
                  <a:srgbClr val="000000"/>
                </a:solidFill>
                <a:latin typeface="Times New Roman"/>
              </a:rPr>
              <a:pPr fontAlgn="base">
                <a:spcBef>
                  <a:spcPct val="0"/>
                </a:spcBef>
                <a:spcAft>
                  <a:spcPct val="0"/>
                </a:spcAft>
                <a:defRPr/>
              </a:pPr>
              <a:t>19</a:t>
            </a:fld>
            <a:endParaRPr lang="en-US" altLang="en-US">
              <a:solidFill>
                <a:srgbClr val="000000"/>
              </a:solidFill>
              <a:latin typeface="Times New Roman"/>
            </a:endParaRPr>
          </a:p>
        </p:txBody>
      </p:sp>
      <p:sp>
        <p:nvSpPr>
          <p:cNvPr id="14340" name="Rectangle 3"/>
          <p:cNvSpPr>
            <a:spLocks noGrp="1" noChangeArrowheads="1"/>
          </p:cNvSpPr>
          <p:nvPr>
            <p:ph type="body" idx="1"/>
          </p:nvPr>
        </p:nvSpPr>
        <p:spPr>
          <a:xfrm>
            <a:off x="702732" y="1609858"/>
            <a:ext cx="8229600" cy="4559121"/>
          </a:xfrm>
        </p:spPr>
        <p:txBody>
          <a:bodyPr>
            <a:normAutofit fontScale="92500" lnSpcReduction="10000"/>
          </a:bodyPr>
          <a:lstStyle/>
          <a:p>
            <a:pPr marL="609600" indent="-609600" algn="ctr" eaLnBrk="1" hangingPunct="1">
              <a:lnSpc>
                <a:spcPct val="120000"/>
              </a:lnSpc>
              <a:buNone/>
            </a:pPr>
            <a:endParaRPr lang="en-US" altLang="en-US" sz="2400" b="1" dirty="0">
              <a:latin typeface="Arial" panose="020B0604020202020204" pitchFamily="34" charset="0"/>
            </a:endParaRPr>
          </a:p>
          <a:p>
            <a:pPr marL="609600" indent="-609600" eaLnBrk="1" hangingPunct="1">
              <a:lnSpc>
                <a:spcPct val="80000"/>
              </a:lnSpc>
              <a:buNone/>
            </a:pPr>
            <a:r>
              <a:rPr lang="en-US" altLang="en-US" sz="1800" b="1" dirty="0">
                <a:latin typeface="Arial" panose="020B0604020202020204" pitchFamily="34" charset="0"/>
              </a:rPr>
              <a:t>The following is a summary of the recommended process steps for preparing a Statement of Work SOW :</a:t>
            </a:r>
          </a:p>
          <a:p>
            <a:pPr marL="609600" indent="-609600" eaLnBrk="1" hangingPunct="1">
              <a:lnSpc>
                <a:spcPct val="40000"/>
              </a:lnSpc>
              <a:buNone/>
            </a:pPr>
            <a:endParaRPr lang="en-US" altLang="en-US" sz="1800" b="1" dirty="0">
              <a:latin typeface="Arial" panose="020B0604020202020204" pitchFamily="34" charset="0"/>
            </a:endParaRPr>
          </a:p>
          <a:p>
            <a:pPr marL="609600" indent="-609600" eaLnBrk="1" hangingPunct="1">
              <a:lnSpc>
                <a:spcPct val="80000"/>
              </a:lnSpc>
              <a:buFontTx/>
              <a:buAutoNum type="arabicPeriod"/>
            </a:pPr>
            <a:r>
              <a:rPr lang="en-US" altLang="en-US" sz="1800" b="1" dirty="0">
                <a:latin typeface="Arial" panose="020B0604020202020204" pitchFamily="34" charset="0"/>
              </a:rPr>
              <a:t>Establish a preliminary scope statement ( i.e., the purpose or objective of your procurement)</a:t>
            </a:r>
          </a:p>
          <a:p>
            <a:pPr marL="609600" indent="-609600" eaLnBrk="1" hangingPunct="1">
              <a:lnSpc>
                <a:spcPct val="80000"/>
              </a:lnSpc>
              <a:buFontTx/>
              <a:buAutoNum type="arabicPeriod"/>
            </a:pPr>
            <a:r>
              <a:rPr lang="en-US" altLang="en-US" sz="1800" b="1" dirty="0">
                <a:latin typeface="Arial" panose="020B0604020202020204" pitchFamily="34" charset="0"/>
              </a:rPr>
              <a:t>List the tasks to be performed ( i.e., All performance requirements you intend the contractor to satisfy, all requirements that the contractor must comply with during contract performance )</a:t>
            </a:r>
          </a:p>
          <a:p>
            <a:pPr marL="609600" indent="-609600" eaLnBrk="1" hangingPunct="1">
              <a:lnSpc>
                <a:spcPct val="80000"/>
              </a:lnSpc>
              <a:buFontTx/>
              <a:buAutoNum type="arabicPeriod"/>
            </a:pPr>
            <a:r>
              <a:rPr lang="en-US" altLang="en-US" sz="1800" b="1" dirty="0">
                <a:latin typeface="Arial" panose="020B0604020202020204" pitchFamily="34" charset="0"/>
              </a:rPr>
              <a:t>Group similar and related tasks.</a:t>
            </a:r>
          </a:p>
          <a:p>
            <a:pPr marL="609600" indent="-609600" eaLnBrk="1" hangingPunct="1">
              <a:lnSpc>
                <a:spcPct val="80000"/>
              </a:lnSpc>
              <a:buFontTx/>
              <a:buAutoNum type="arabicPeriod"/>
            </a:pPr>
            <a:r>
              <a:rPr lang="en-US" altLang="en-US" sz="1800" b="1" dirty="0">
                <a:latin typeface="Arial" panose="020B0604020202020204" pitchFamily="34" charset="0"/>
              </a:rPr>
              <a:t>Organize the tasks in logical sequence</a:t>
            </a:r>
          </a:p>
          <a:p>
            <a:pPr marL="609600" indent="-609600" eaLnBrk="1" hangingPunct="1">
              <a:lnSpc>
                <a:spcPct val="80000"/>
              </a:lnSpc>
              <a:buFontTx/>
              <a:buAutoNum type="arabicPeriod"/>
            </a:pPr>
            <a:r>
              <a:rPr lang="en-US" altLang="en-US" sz="1800" b="1" dirty="0">
                <a:latin typeface="Arial" panose="020B0604020202020204" pitchFamily="34" charset="0"/>
              </a:rPr>
              <a:t>Identify the input ( Required resources to perform the tasks)</a:t>
            </a:r>
          </a:p>
          <a:p>
            <a:pPr marL="609600" indent="-609600" eaLnBrk="1" hangingPunct="1">
              <a:lnSpc>
                <a:spcPct val="80000"/>
              </a:lnSpc>
              <a:buFontTx/>
              <a:buAutoNum type="arabicPeriod"/>
            </a:pPr>
            <a:r>
              <a:rPr lang="en-US" altLang="en-US" sz="1800" b="1" dirty="0">
                <a:latin typeface="Arial" panose="020B0604020202020204" pitchFamily="34" charset="0"/>
              </a:rPr>
              <a:t>Identify the output ( Required results or deliverables )</a:t>
            </a:r>
          </a:p>
          <a:p>
            <a:pPr marL="609600" indent="-609600" eaLnBrk="1" hangingPunct="1">
              <a:lnSpc>
                <a:spcPct val="80000"/>
              </a:lnSpc>
              <a:buFontTx/>
              <a:buAutoNum type="arabicPeriod"/>
            </a:pPr>
            <a:r>
              <a:rPr lang="en-US" altLang="en-US" sz="1800" b="1" dirty="0">
                <a:latin typeface="Arial" panose="020B0604020202020204" pitchFamily="34" charset="0"/>
              </a:rPr>
              <a:t>Identify the timeline or frequency of the deliverables (output)</a:t>
            </a:r>
          </a:p>
          <a:p>
            <a:pPr marL="609600" indent="-609600" eaLnBrk="1" hangingPunct="1">
              <a:lnSpc>
                <a:spcPct val="80000"/>
              </a:lnSpc>
              <a:buFontTx/>
              <a:buAutoNum type="arabicPeriod"/>
            </a:pPr>
            <a:r>
              <a:rPr lang="en-US" altLang="en-US" sz="1800" b="1" dirty="0">
                <a:latin typeface="Arial" panose="020B0604020202020204" pitchFamily="34" charset="0"/>
              </a:rPr>
              <a:t>Develop the parameters for acceptable quality and performance</a:t>
            </a:r>
          </a:p>
          <a:p>
            <a:pPr marL="609600" indent="-609600" eaLnBrk="1" hangingPunct="1">
              <a:lnSpc>
                <a:spcPct val="80000"/>
              </a:lnSpc>
              <a:buFontTx/>
              <a:buAutoNum type="arabicPeriod"/>
            </a:pPr>
            <a:r>
              <a:rPr lang="en-US" altLang="en-US" sz="1800" b="1" dirty="0">
                <a:latin typeface="Arial" panose="020B0604020202020204" pitchFamily="34" charset="0"/>
              </a:rPr>
              <a:t>Determine how you will monitor the deliverables</a:t>
            </a:r>
          </a:p>
        </p:txBody>
      </p:sp>
      <p:sp>
        <p:nvSpPr>
          <p:cNvPr id="14341" name="Rectangle 2"/>
          <p:cNvSpPr>
            <a:spLocks noGrp="1" noChangeArrowheads="1"/>
          </p:cNvSpPr>
          <p:nvPr>
            <p:ph type="title"/>
          </p:nvPr>
        </p:nvSpPr>
        <p:spPr>
          <a:xfrm>
            <a:off x="818263" y="416417"/>
            <a:ext cx="7772400" cy="914400"/>
          </a:xfrm>
        </p:spPr>
        <p:txBody>
          <a:bodyPr>
            <a:normAutofit fontScale="90000"/>
          </a:bodyPr>
          <a:lstStyle/>
          <a:p>
            <a:r>
              <a:rPr lang="en-US" altLang="en-US" sz="4000" b="1" dirty="0">
                <a:latin typeface="Arial" panose="020B0604020202020204" pitchFamily="34" charset="0"/>
              </a:rPr>
              <a:t>STATEMENT OF WORK</a:t>
            </a:r>
            <a:r>
              <a:rPr lang="en-US" altLang="en-US" sz="2800" b="1" dirty="0">
                <a:latin typeface="Arial" panose="020B0604020202020204" pitchFamily="34" charset="0"/>
              </a:rPr>
              <a:t> </a:t>
            </a:r>
            <a:br>
              <a:rPr lang="en-US" altLang="en-US" sz="2800" dirty="0">
                <a:latin typeface="Arial" panose="020B0604020202020204" pitchFamily="34" charset="0"/>
              </a:rPr>
            </a:br>
            <a:r>
              <a:rPr lang="en-US" altLang="en-US" sz="2800" dirty="0">
                <a:latin typeface="Arial" panose="020B0604020202020204" pitchFamily="34" charset="0"/>
              </a:rPr>
              <a:t> </a:t>
            </a:r>
            <a:r>
              <a:rPr lang="en-US" altLang="en-US" sz="2800" b="1" dirty="0">
                <a:latin typeface="Arial" panose="020B0604020202020204" pitchFamily="34" charset="0"/>
              </a:rPr>
              <a:t>PROCESS OVERVIEW</a:t>
            </a:r>
            <a:br>
              <a:rPr lang="en-US" altLang="en-US" sz="2800" dirty="0">
                <a:latin typeface="Arial" panose="020B0604020202020204" pitchFamily="34" charset="0"/>
              </a:rPr>
            </a:br>
            <a:br>
              <a:rPr lang="en-US" altLang="en-US" sz="2800" dirty="0">
                <a:latin typeface="Arial" panose="020B0604020202020204" pitchFamily="34" charset="0"/>
              </a:rPr>
            </a:br>
            <a:endParaRPr lang="en-US" altLang="en-US" sz="2800" b="1" dirty="0">
              <a:latin typeface="Arial" panose="020B0604020202020204" pitchFamily="34" charset="0"/>
            </a:endParaRPr>
          </a:p>
        </p:txBody>
      </p:sp>
    </p:spTree>
    <p:extLst>
      <p:ext uri="{BB962C8B-B14F-4D97-AF65-F5344CB8AC3E}">
        <p14:creationId xmlns:p14="http://schemas.microsoft.com/office/powerpoint/2010/main" val="1871275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6975" y="126350"/>
            <a:ext cx="7429978" cy="6570664"/>
          </a:xfrm>
          <a:prstGeom prst="rect">
            <a:avLst/>
          </a:prstGeom>
        </p:spPr>
      </p:pic>
    </p:spTree>
    <p:extLst>
      <p:ext uri="{BB962C8B-B14F-4D97-AF65-F5344CB8AC3E}">
        <p14:creationId xmlns:p14="http://schemas.microsoft.com/office/powerpoint/2010/main" val="3488585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0305" y="309093"/>
            <a:ext cx="9093698" cy="5732270"/>
          </a:xfrm>
        </p:spPr>
        <p:txBody>
          <a:bodyPr>
            <a:normAutofit/>
          </a:bodyPr>
          <a:lstStyle/>
          <a:p>
            <a:pPr marL="0" indent="0">
              <a:buNone/>
            </a:pPr>
            <a:r>
              <a:rPr lang="en-US" sz="2200" b="1" dirty="0"/>
              <a:t>Responsibility Matrix </a:t>
            </a:r>
          </a:p>
          <a:p>
            <a:pPr marL="0" indent="0">
              <a:buNone/>
            </a:pPr>
            <a:r>
              <a:rPr lang="en-US" dirty="0"/>
              <a:t>A responsibility assignment matrix (RAM) in project management, also known as a RACI chart or RACI matrix, details all the necessary stakeholders and clarifies responsibilities amongst cross-functional teams and their involvement level in a project. RACI stands for Responsible, Accountable, Consulted, and Informed and each letter corresponds to a team member.</a:t>
            </a:r>
          </a:p>
          <a:p>
            <a:pPr marL="0" indent="0">
              <a:buNone/>
            </a:pPr>
            <a:r>
              <a:rPr lang="en-US" dirty="0"/>
              <a:t>A RAM in project management should be referred to by all parties throughout a project because it helps plan an individual’s roles and responsibilities before work begins. A RACI matrix ensures all stakeholders know who is responsible for completing a task or getting feedback on deliverables.</a:t>
            </a:r>
          </a:p>
          <a:p>
            <a:pPr marL="0" indent="0">
              <a:buNone/>
            </a:pPr>
            <a:endParaRPr lang="en-US" dirty="0"/>
          </a:p>
          <a:p>
            <a:pPr marL="0" indent="0">
              <a:buNone/>
            </a:pPr>
            <a:r>
              <a:rPr lang="en-US" dirty="0"/>
              <a:t>The roles are broken down as follows:</a:t>
            </a:r>
          </a:p>
          <a:p>
            <a:r>
              <a:rPr lang="en-US" dirty="0"/>
              <a:t>Responsible: The person(s) completing the task</a:t>
            </a:r>
          </a:p>
          <a:p>
            <a:r>
              <a:rPr lang="en-US" dirty="0"/>
              <a:t>Accountable: The team member coordinating the actions, making decisions, and delegating to those responsible for the task</a:t>
            </a:r>
          </a:p>
          <a:p>
            <a:r>
              <a:rPr lang="en-US" dirty="0"/>
              <a:t>Consulted: The person(s) who will be communicated with regarding decisions and tasks</a:t>
            </a:r>
          </a:p>
        </p:txBody>
      </p:sp>
    </p:spTree>
    <p:extLst>
      <p:ext uri="{BB962C8B-B14F-4D97-AF65-F5344CB8AC3E}">
        <p14:creationId xmlns:p14="http://schemas.microsoft.com/office/powerpoint/2010/main" val="31145235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487" y="1141233"/>
            <a:ext cx="8718997" cy="4692896"/>
          </a:xfrm>
          <a:prstGeom prst="rect">
            <a:avLst/>
          </a:prstGeom>
        </p:spPr>
      </p:pic>
      <p:sp>
        <p:nvSpPr>
          <p:cNvPr id="5" name="Rectangle 4"/>
          <p:cNvSpPr/>
          <p:nvPr/>
        </p:nvSpPr>
        <p:spPr>
          <a:xfrm>
            <a:off x="272695" y="333709"/>
            <a:ext cx="2959901" cy="430887"/>
          </a:xfrm>
          <a:prstGeom prst="rect">
            <a:avLst/>
          </a:prstGeom>
        </p:spPr>
        <p:txBody>
          <a:bodyPr wrap="square">
            <a:spAutoFit/>
          </a:bodyPr>
          <a:lstStyle/>
          <a:p>
            <a:r>
              <a:rPr lang="en-US" sz="2200" b="1" dirty="0"/>
              <a:t>Responsibility Matrix </a:t>
            </a:r>
          </a:p>
        </p:txBody>
      </p:sp>
    </p:spTree>
    <p:extLst>
      <p:ext uri="{BB962C8B-B14F-4D97-AF65-F5344CB8AC3E}">
        <p14:creationId xmlns:p14="http://schemas.microsoft.com/office/powerpoint/2010/main" val="32474455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3695" y="125727"/>
            <a:ext cx="8596668" cy="3880773"/>
          </a:xfrm>
        </p:spPr>
        <p:txBody>
          <a:bodyPr/>
          <a:lstStyle/>
          <a:p>
            <a:pPr marL="0" indent="0">
              <a:buNone/>
            </a:pPr>
            <a:r>
              <a:rPr lang="en-US" sz="2200" b="1" dirty="0">
                <a:solidFill>
                  <a:schemeClr val="tx1"/>
                </a:solidFill>
              </a:rPr>
              <a:t>Project Communication Plan</a:t>
            </a:r>
          </a:p>
          <a:p>
            <a:pPr marL="0" indent="0">
              <a:buNone/>
            </a:pPr>
            <a:r>
              <a:rPr lang="en-US" dirty="0"/>
              <a:t>A project management communication plan identifies how important information will be communicated to stakeholders throughout the project. It also determines who will be receiving the communication, how those people will receive it, when they’ll receive it, and how often they should expect to receive that information.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695" y="1962406"/>
            <a:ext cx="9213640" cy="4554304"/>
          </a:xfrm>
          <a:prstGeom prst="rect">
            <a:avLst/>
          </a:prstGeom>
        </p:spPr>
      </p:pic>
    </p:spTree>
    <p:extLst>
      <p:ext uri="{BB962C8B-B14F-4D97-AF65-F5344CB8AC3E}">
        <p14:creationId xmlns:p14="http://schemas.microsoft.com/office/powerpoint/2010/main" val="1305359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5031" y="469849"/>
            <a:ext cx="8896956" cy="4339650"/>
          </a:xfrm>
          <a:prstGeom prst="rect">
            <a:avLst/>
          </a:prstGeom>
        </p:spPr>
        <p:txBody>
          <a:bodyPr wrap="square">
            <a:spAutoFit/>
          </a:bodyPr>
          <a:lstStyle/>
          <a:p>
            <a:pPr algn="just"/>
            <a:r>
              <a:rPr lang="en-GB" sz="2400" dirty="0">
                <a:solidFill>
                  <a:schemeClr val="accent1">
                    <a:lumMod val="50000"/>
                  </a:schemeClr>
                </a:solidFill>
                <a:latin typeface="Times New Roman" panose="02020603050405020304" pitchFamily="18" charset="0"/>
                <a:cs typeface="Times New Roman" panose="02020603050405020304" pitchFamily="18" charset="0"/>
              </a:rPr>
              <a:t>Create the work breakdown structure</a:t>
            </a:r>
          </a:p>
          <a:p>
            <a:pPr algn="just"/>
            <a:endParaRPr lang="en-GB" dirty="0"/>
          </a:p>
          <a:p>
            <a:pPr algn="just"/>
            <a:r>
              <a:rPr lang="en-GB" sz="2400" dirty="0">
                <a:solidFill>
                  <a:schemeClr val="accent1"/>
                </a:solidFill>
                <a:latin typeface="Times New Roman" panose="02020603050405020304" pitchFamily="18" charset="0"/>
                <a:cs typeface="Times New Roman" panose="02020603050405020304" pitchFamily="18" charset="0"/>
              </a:rPr>
              <a:t>The Create WBS process is the most important process in the Scope Management knowledge area because it’s where you actually figure out all the work you’re going to do. It’s where you create the work breakdown structure (or WBS), which is the main Scope Management output. Every single thing that anyone on the project team—including you— will do is written down in the WBS somewhere.</a:t>
            </a:r>
          </a:p>
          <a:p>
            <a:pPr algn="just"/>
            <a:endParaRPr lang="en-GB" sz="2400" dirty="0">
              <a:solidFill>
                <a:schemeClr val="accent1"/>
              </a:solidFill>
              <a:latin typeface="Times New Roman" panose="02020603050405020304" pitchFamily="18" charset="0"/>
              <a:cs typeface="Times New Roman" panose="02020603050405020304" pitchFamily="18" charset="0"/>
            </a:endParaRPr>
          </a:p>
          <a:p>
            <a:pPr algn="just"/>
            <a:r>
              <a:rPr lang="en-GB" sz="2400" dirty="0">
                <a:solidFill>
                  <a:schemeClr val="accent1">
                    <a:lumMod val="50000"/>
                  </a:schemeClr>
                </a:solidFill>
                <a:latin typeface="Times New Roman" panose="02020603050405020304" pitchFamily="18" charset="0"/>
                <a:cs typeface="Times New Roman" panose="02020603050405020304" pitchFamily="18" charset="0"/>
              </a:rPr>
              <a:t>Input</a:t>
            </a:r>
            <a:r>
              <a:rPr lang="en-GB" sz="2400" dirty="0">
                <a:solidFill>
                  <a:schemeClr val="accent1"/>
                </a:solidFill>
                <a:latin typeface="Times New Roman" panose="02020603050405020304" pitchFamily="18" charset="0"/>
                <a:cs typeface="Times New Roman" panose="02020603050405020304" pitchFamily="18" charset="0"/>
              </a:rPr>
              <a:t>: EEF , OPA , PMP, Scope management Plan Requirements documentation.</a:t>
            </a:r>
          </a:p>
          <a:p>
            <a:pPr algn="just"/>
            <a:r>
              <a:rPr lang="en-GB" dirty="0"/>
              <a:t> </a:t>
            </a:r>
          </a:p>
        </p:txBody>
      </p:sp>
      <p:sp>
        <p:nvSpPr>
          <p:cNvPr id="3" name="Rectangle 2"/>
          <p:cNvSpPr/>
          <p:nvPr/>
        </p:nvSpPr>
        <p:spPr>
          <a:xfrm>
            <a:off x="365031" y="4809499"/>
            <a:ext cx="8484001" cy="1200329"/>
          </a:xfrm>
          <a:prstGeom prst="rect">
            <a:avLst/>
          </a:prstGeom>
        </p:spPr>
        <p:txBody>
          <a:bodyPr wrap="square">
            <a:spAutoFit/>
          </a:bodyPr>
          <a:lstStyle/>
          <a:p>
            <a:r>
              <a:rPr lang="en-GB" sz="2400" dirty="0">
                <a:solidFill>
                  <a:schemeClr val="accent1">
                    <a:lumMod val="50000"/>
                  </a:schemeClr>
                </a:solidFill>
                <a:latin typeface="Times New Roman" panose="02020603050405020304" pitchFamily="18" charset="0"/>
                <a:cs typeface="Times New Roman" panose="02020603050405020304" pitchFamily="18" charset="0"/>
              </a:rPr>
              <a:t>Tools :</a:t>
            </a:r>
            <a:r>
              <a:rPr lang="en-GB" sz="2400" dirty="0">
                <a:solidFill>
                  <a:schemeClr val="accent1"/>
                </a:solidFill>
                <a:latin typeface="Times New Roman" panose="02020603050405020304" pitchFamily="18" charset="0"/>
                <a:cs typeface="Times New Roman" panose="02020603050405020304" pitchFamily="18" charset="0"/>
              </a:rPr>
              <a:t> Decomposition -Break it down by project or phase</a:t>
            </a:r>
          </a:p>
          <a:p>
            <a:endParaRPr lang="en-GB" sz="2400" dirty="0">
              <a:solidFill>
                <a:schemeClr val="accent1"/>
              </a:solidFill>
              <a:latin typeface="Times New Roman" panose="02020603050405020304" pitchFamily="18" charset="0"/>
              <a:cs typeface="Times New Roman" panose="02020603050405020304" pitchFamily="18" charset="0"/>
            </a:endParaRPr>
          </a:p>
          <a:p>
            <a:r>
              <a:rPr lang="en-GB" sz="2400" dirty="0">
                <a:solidFill>
                  <a:schemeClr val="accent1">
                    <a:lumMod val="50000"/>
                  </a:schemeClr>
                </a:solidFill>
                <a:latin typeface="Times New Roman" panose="02020603050405020304" pitchFamily="18" charset="0"/>
                <a:cs typeface="Times New Roman" panose="02020603050405020304" pitchFamily="18" charset="0"/>
              </a:rPr>
              <a:t>Output:</a:t>
            </a:r>
            <a:r>
              <a:rPr lang="en-GB" sz="2400" dirty="0">
                <a:solidFill>
                  <a:schemeClr val="accent1"/>
                </a:solidFill>
                <a:latin typeface="Times New Roman" panose="02020603050405020304" pitchFamily="18" charset="0"/>
                <a:cs typeface="Times New Roman" panose="02020603050405020304" pitchFamily="18" charset="0"/>
              </a:rPr>
              <a:t> WBS</a:t>
            </a:r>
          </a:p>
        </p:txBody>
      </p:sp>
    </p:spTree>
    <p:extLst>
      <p:ext uri="{BB962C8B-B14F-4D97-AF65-F5344CB8AC3E}">
        <p14:creationId xmlns:p14="http://schemas.microsoft.com/office/powerpoint/2010/main" val="3365613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42109" y="789709"/>
            <a:ext cx="8229600" cy="5562600"/>
          </a:xfrm>
        </p:spPr>
        <p:txBody>
          <a:bodyPr>
            <a:normAutofit/>
          </a:bodyPr>
          <a:lstStyle/>
          <a:p>
            <a:pPr algn="just"/>
            <a:endParaRPr lang="en-US" sz="2800" dirty="0">
              <a:solidFill>
                <a:srgbClr val="7030A0"/>
              </a:solidFill>
            </a:endParaRPr>
          </a:p>
          <a:p>
            <a:pPr algn="just"/>
            <a:r>
              <a:rPr lang="en-US" sz="2800" dirty="0">
                <a:solidFill>
                  <a:srgbClr val="7030A0"/>
                </a:solidFill>
              </a:rPr>
              <a:t>The WBS decompose the entire scope of the project into manageable components that is required in detailed schedule planning to execute the work needed to accomplish the project. </a:t>
            </a:r>
          </a:p>
          <a:p>
            <a:pPr algn="just"/>
            <a:endParaRPr lang="en-US" sz="2800" dirty="0">
              <a:solidFill>
                <a:srgbClr val="7030A0"/>
              </a:solidFill>
            </a:endParaRPr>
          </a:p>
          <a:p>
            <a:pPr algn="just"/>
            <a:r>
              <a:rPr lang="en-US" sz="2800" dirty="0">
                <a:solidFill>
                  <a:srgbClr val="7030A0"/>
                </a:solidFill>
              </a:rPr>
              <a:t>Work Package is the lowest level of WBS in which activities are defined with assigned durations, resources and constraints to develop deliverables.</a:t>
            </a:r>
          </a:p>
          <a:p>
            <a:endParaRPr lang="en-US" sz="2400" dirty="0"/>
          </a:p>
        </p:txBody>
      </p:sp>
    </p:spTree>
    <p:extLst>
      <p:ext uri="{BB962C8B-B14F-4D97-AF65-F5344CB8AC3E}">
        <p14:creationId xmlns:p14="http://schemas.microsoft.com/office/powerpoint/2010/main" val="27778132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 name="Rectangle 1"/>
          <p:cNvSpPr>
            <a:spLocks noChangeArrowheads="1"/>
          </p:cNvSpPr>
          <p:nvPr/>
        </p:nvSpPr>
        <p:spPr bwMode="auto">
          <a:xfrm>
            <a:off x="1524000" y="3762790"/>
            <a:ext cx="9144000" cy="2677656"/>
          </a:xfrm>
          <a:prstGeom prst="rect">
            <a:avLst/>
          </a:prstGeom>
          <a:solidFill>
            <a:srgbClr val="FFFFFF"/>
          </a:solidFill>
          <a:ln w="9525">
            <a:noFill/>
            <a:miter lim="800000"/>
          </a:ln>
          <a:effectLst/>
        </p:spPr>
        <p:txBody>
          <a:bodyPr vert="horz" wrap="square" lIns="91440" tIns="45720" rIns="91440" bIns="45720" numCol="1" anchor="ctr" anchorCtr="0" compatLnSpc="1">
            <a:spAutoFit/>
          </a:bodyPr>
          <a:lstStyle/>
          <a:p>
            <a:pPr algn="just" fontAlgn="base">
              <a:spcBef>
                <a:spcPct val="0"/>
              </a:spcBef>
              <a:spcAft>
                <a:spcPct val="0"/>
              </a:spcAft>
              <a:tabLst>
                <a:tab pos="457200" algn="l"/>
              </a:tabLst>
            </a:pPr>
            <a:r>
              <a:rPr lang="en-US" sz="2400" dirty="0">
                <a:solidFill>
                  <a:srgbClr val="FF0000"/>
                </a:solidFill>
                <a:latin typeface="Arial" panose="020B0604020202020204" pitchFamily="34" charset="0"/>
                <a:ea typeface="Times New Roman" panose="02020603050405020304" pitchFamily="18" charset="0"/>
                <a:cs typeface="Arial" panose="020B0604020202020204" pitchFamily="34" charset="0"/>
              </a:rPr>
              <a:t>WBS</a:t>
            </a:r>
            <a:r>
              <a:rPr lang="en-US" sz="2400" dirty="0">
                <a:solidFill>
                  <a:srgbClr val="666666"/>
                </a:solidFill>
                <a:latin typeface="Arial" panose="020B0604020202020204" pitchFamily="34" charset="0"/>
                <a:ea typeface="Times New Roman" panose="02020603050405020304" pitchFamily="18" charset="0"/>
                <a:cs typeface="Arial" panose="020B0604020202020204" pitchFamily="34" charset="0"/>
              </a:rPr>
              <a:t> is deliverable oriented hierarchical decomposition of total scope of work to be carried out by the project team to accomplish the project objectives and create required deliverables.</a:t>
            </a:r>
          </a:p>
          <a:p>
            <a:pPr algn="just" fontAlgn="base">
              <a:spcBef>
                <a:spcPct val="0"/>
              </a:spcBef>
              <a:spcAft>
                <a:spcPct val="0"/>
              </a:spcAft>
              <a:tabLst>
                <a:tab pos="457200" algn="l"/>
              </a:tabLst>
            </a:pPr>
            <a:endParaRPr lang="en-US" sz="2400" dirty="0">
              <a:solidFill>
                <a:srgbClr val="666666"/>
              </a:solidFill>
              <a:latin typeface="Arial" panose="020B0604020202020204" pitchFamily="34" charset="0"/>
              <a:ea typeface="Times New Roman" panose="02020603050405020304" pitchFamily="18" charset="0"/>
              <a:cs typeface="Arial" panose="020B0604020202020204" pitchFamily="34" charset="0"/>
            </a:endParaRPr>
          </a:p>
          <a:p>
            <a:pPr algn="just" fontAlgn="base">
              <a:spcBef>
                <a:spcPct val="0"/>
              </a:spcBef>
              <a:spcAft>
                <a:spcPct val="0"/>
              </a:spcAft>
              <a:tabLst>
                <a:tab pos="457200" algn="l"/>
              </a:tabLst>
            </a:pPr>
            <a:r>
              <a:rPr lang="en-US" sz="2400" dirty="0">
                <a:solidFill>
                  <a:srgbClr val="666666"/>
                </a:solidFill>
                <a:latin typeface="Arial" panose="020B0604020202020204" pitchFamily="34" charset="0"/>
                <a:ea typeface="Times New Roman" panose="02020603050405020304" pitchFamily="18" charset="0"/>
                <a:cs typeface="Arial" panose="020B0604020202020204" pitchFamily="34" charset="0"/>
              </a:rPr>
              <a:t>It </a:t>
            </a:r>
            <a:r>
              <a:rPr lang="en-US" sz="2400" dirty="0" err="1">
                <a:solidFill>
                  <a:srgbClr val="666666"/>
                </a:solidFill>
                <a:latin typeface="Arial" panose="020B0604020202020204" pitchFamily="34" charset="0"/>
                <a:ea typeface="Times New Roman" panose="02020603050405020304" pitchFamily="18" charset="0"/>
                <a:cs typeface="Arial" panose="020B0604020202020204" pitchFamily="34" charset="0"/>
              </a:rPr>
              <a:t>doesnot</a:t>
            </a:r>
            <a:r>
              <a:rPr lang="en-US" sz="2400" dirty="0">
                <a:solidFill>
                  <a:srgbClr val="666666"/>
                </a:solidFill>
                <a:latin typeface="Arial" panose="020B0604020202020204" pitchFamily="34" charset="0"/>
                <a:ea typeface="Times New Roman" panose="02020603050405020304" pitchFamily="18" charset="0"/>
                <a:cs typeface="Arial" panose="020B0604020202020204" pitchFamily="34" charset="0"/>
              </a:rPr>
              <a:t> actually involve breaking down work , it involves breaking down deliverables.</a:t>
            </a:r>
          </a:p>
          <a:p>
            <a:pPr fontAlgn="base">
              <a:spcBef>
                <a:spcPct val="0"/>
              </a:spcBef>
              <a:spcAft>
                <a:spcPct val="0"/>
              </a:spcAft>
              <a:tabLst>
                <a:tab pos="457200" algn="l"/>
              </a:tabLst>
            </a:pPr>
            <a:endParaRPr lang="en-US" sz="2400" dirty="0">
              <a:latin typeface="Arial" panose="020B0604020202020204" pitchFamily="34" charset="0"/>
              <a:ea typeface="Times New Roman" panose="02020603050405020304" pitchFamily="18" charset="0"/>
              <a:cs typeface="Arial" panose="020B0604020202020204" pitchFamily="34" charset="0"/>
            </a:endParaRPr>
          </a:p>
        </p:txBody>
      </p:sp>
      <p:pic>
        <p:nvPicPr>
          <p:cNvPr id="4" name="Picture 3" descr="Blocks-300x266"/>
          <p:cNvPicPr>
            <a:picLocks noChangeAspect="1" noChangeArrowheads="1"/>
          </p:cNvPicPr>
          <p:nvPr/>
        </p:nvPicPr>
        <p:blipFill>
          <a:blip r:embed="rId2" cstate="print"/>
          <a:srcRect/>
          <a:stretch>
            <a:fillRect/>
          </a:stretch>
        </p:blipFill>
        <p:spPr bwMode="auto">
          <a:xfrm>
            <a:off x="3505200" y="0"/>
            <a:ext cx="4724400" cy="2895600"/>
          </a:xfrm>
          <a:prstGeom prst="rect">
            <a:avLst/>
          </a:prstGeom>
          <a:noFill/>
          <a:ln w="9525">
            <a:noFill/>
            <a:miter lim="800000"/>
            <a:headEnd/>
            <a:tailEnd/>
          </a:ln>
        </p:spPr>
      </p:pic>
    </p:spTree>
    <p:extLst>
      <p:ext uri="{BB962C8B-B14F-4D97-AF65-F5344CB8AC3E}">
        <p14:creationId xmlns:p14="http://schemas.microsoft.com/office/powerpoint/2010/main" val="10891576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81200" y="838201"/>
            <a:ext cx="7467600" cy="5262979"/>
          </a:xfrm>
          <a:prstGeom prst="rect">
            <a:avLst/>
          </a:prstGeom>
        </p:spPr>
        <p:txBody>
          <a:bodyPr wrap="square">
            <a:spAutoFit/>
          </a:bodyPr>
          <a:lstStyle/>
          <a:p>
            <a:r>
              <a:rPr lang="en-US" sz="2800" dirty="0">
                <a:solidFill>
                  <a:srgbClr val="464646"/>
                </a:solidFill>
                <a:latin typeface="Times New Roman" panose="02020603050405020304" pitchFamily="18" charset="0"/>
                <a:ea typeface="Calibri" panose="020F0502020204030204" pitchFamily="34" charset="0"/>
                <a:cs typeface="Times New Roman" panose="02020603050405020304" pitchFamily="18" charset="0"/>
              </a:rPr>
              <a:t>The upper levels of WBS typically reflects the major deliverable work areas of the project the lower WBS elements provide appropriate details and focus for support of project management processes Eric S Norman PMI</a:t>
            </a:r>
          </a:p>
          <a:p>
            <a:endParaRPr lang="en-US" sz="2800" dirty="0">
              <a:solidFill>
                <a:srgbClr val="464646"/>
              </a:solidFill>
              <a:latin typeface="Times New Roman" panose="02020603050405020304" pitchFamily="18" charset="0"/>
              <a:cs typeface="Times New Roman" panose="02020603050405020304" pitchFamily="18" charset="0"/>
            </a:endParaRPr>
          </a:p>
          <a:p>
            <a:r>
              <a:rPr lang="en-US" sz="2800" dirty="0">
                <a:solidFill>
                  <a:srgbClr val="FF0000"/>
                </a:solidFill>
                <a:latin typeface="Times New Roman" panose="02020603050405020304" pitchFamily="18" charset="0"/>
                <a:cs typeface="Times New Roman" panose="02020603050405020304" pitchFamily="18" charset="0"/>
              </a:rPr>
              <a:t>WBS doesn't describe any actions. Instead, every item is a noun describing an end product - a bicycle seat, fork, handlebar, etc. This is one of the fundamental features of a WBS: it describes deliverables, not the activities necessary to get there.</a:t>
            </a:r>
          </a:p>
        </p:txBody>
      </p:sp>
    </p:spTree>
    <p:extLst>
      <p:ext uri="{BB962C8B-B14F-4D97-AF65-F5344CB8AC3E}">
        <p14:creationId xmlns:p14="http://schemas.microsoft.com/office/powerpoint/2010/main" val="37565212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s://lh6.googleusercontent.com/6QcLpyXBCs61XZ5eKzNLQZHPh91dIzX8L-J3DjG7GseVQ6_IFXKGRYv7gobh7xHRo1Ml8B89v9uA88RB6cC7wDnSgrtBbbfs-ET7Xj3jmjSt5sH3R3hKbtu7kAxII8Ewl2dynXvD"/>
          <p:cNvPicPr/>
          <p:nvPr/>
        </p:nvPicPr>
        <p:blipFill>
          <a:blip r:embed="rId2">
            <a:extLst>
              <a:ext uri="{28A0092B-C50C-407E-A947-70E740481C1C}">
                <a14:useLocalDpi xmlns:a14="http://schemas.microsoft.com/office/drawing/2010/main" val="0"/>
              </a:ext>
            </a:extLst>
          </a:blip>
          <a:srcRect/>
          <a:stretch>
            <a:fillRect/>
          </a:stretch>
        </p:blipFill>
        <p:spPr bwMode="auto">
          <a:xfrm>
            <a:off x="1905000" y="685800"/>
            <a:ext cx="7696200" cy="5562600"/>
          </a:xfrm>
          <a:prstGeom prst="rect">
            <a:avLst/>
          </a:prstGeom>
          <a:noFill/>
          <a:ln>
            <a:noFill/>
          </a:ln>
        </p:spPr>
      </p:pic>
    </p:spTree>
    <p:extLst>
      <p:ext uri="{BB962C8B-B14F-4D97-AF65-F5344CB8AC3E}">
        <p14:creationId xmlns:p14="http://schemas.microsoft.com/office/powerpoint/2010/main" val="32261159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09800" y="304800"/>
            <a:ext cx="2371162" cy="388696"/>
          </a:xfrm>
          <a:prstGeom prst="rect">
            <a:avLst/>
          </a:prstGeom>
        </p:spPr>
        <p:txBody>
          <a:bodyPr wrap="none">
            <a:spAutoFit/>
          </a:bodyPr>
          <a:lstStyle/>
          <a:p>
            <a:pPr>
              <a:lnSpc>
                <a:spcPct val="107000"/>
              </a:lnSpc>
              <a:spcBef>
                <a:spcPts val="200"/>
              </a:spcBef>
            </a:pPr>
            <a:r>
              <a:rPr lang="en-US" b="1" dirty="0">
                <a:solidFill>
                  <a:srgbClr val="1F4D78"/>
                </a:solidFill>
                <a:latin typeface="Times New Roman" panose="02020603050405020304" pitchFamily="18" charset="0"/>
                <a:ea typeface="Times New Roman" panose="02020603050405020304" pitchFamily="18" charset="0"/>
                <a:cs typeface="Times New Roman" panose="02020603050405020304" pitchFamily="18" charset="0"/>
              </a:rPr>
              <a:t>Additional Definitions</a:t>
            </a:r>
            <a:endParaRPr lang="en-US" sz="2000" b="1" dirty="0">
              <a:solidFill>
                <a:srgbClr val="1F4D78"/>
              </a:solidFill>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3" name="Rectangle 2"/>
          <p:cNvSpPr/>
          <p:nvPr/>
        </p:nvSpPr>
        <p:spPr>
          <a:xfrm>
            <a:off x="1905000" y="1828800"/>
            <a:ext cx="6781800" cy="3978012"/>
          </a:xfrm>
          <a:prstGeom prst="rect">
            <a:avLst/>
          </a:prstGeom>
        </p:spPr>
        <p:txBody>
          <a:bodyPr wrap="square">
            <a:spAutoFit/>
          </a:bodyPr>
          <a:lstStyle/>
          <a:p>
            <a:pPr algn="just">
              <a:lnSpc>
                <a:spcPts val="1875"/>
              </a:lnSpc>
              <a:spcAft>
                <a:spcPts val="800"/>
              </a:spcAft>
              <a:buSzPts val="1000"/>
              <a:tabLst>
                <a:tab pos="457200" algn="l"/>
              </a:tabLst>
            </a:pPr>
            <a:r>
              <a:rPr lang="en-US" sz="24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Work</a:t>
            </a:r>
            <a:r>
              <a:rPr lang="en-US" sz="2400" dirty="0">
                <a:solidFill>
                  <a:srgbClr val="464646"/>
                </a:solidFill>
                <a:latin typeface="Times New Roman" panose="02020603050405020304" pitchFamily="18" charset="0"/>
                <a:ea typeface="Calibri" panose="020F0502020204030204" pitchFamily="34" charset="0"/>
                <a:cs typeface="Times New Roman" panose="02020603050405020304" pitchFamily="18" charset="0"/>
              </a:rPr>
              <a:t>:</a:t>
            </a:r>
          </a:p>
          <a:p>
            <a:pPr algn="just">
              <a:lnSpc>
                <a:spcPts val="1875"/>
              </a:lnSpc>
              <a:spcAft>
                <a:spcPts val="800"/>
              </a:spcAft>
              <a:buSzPts val="1000"/>
              <a:tabLst>
                <a:tab pos="457200" algn="l"/>
              </a:tabLst>
            </a:pPr>
            <a:endParaRPr lang="en-US" sz="2400" dirty="0">
              <a:solidFill>
                <a:srgbClr val="464646"/>
              </a:solidFill>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ts val="1875"/>
              </a:lnSpc>
              <a:spcAft>
                <a:spcPts val="800"/>
              </a:spcAft>
              <a:buSzPts val="1000"/>
              <a:buFont typeface="Symbol" panose="05050102010706020507" pitchFamily="18" charset="2"/>
              <a:buChar char=""/>
              <a:tabLst>
                <a:tab pos="457200" algn="l"/>
              </a:tabLst>
            </a:pPr>
            <a:r>
              <a:rPr lang="en-US" sz="2400" dirty="0">
                <a:solidFill>
                  <a:srgbClr val="464646"/>
                </a:solidFill>
                <a:latin typeface="Times New Roman" panose="02020603050405020304" pitchFamily="18" charset="0"/>
                <a:ea typeface="Calibri" panose="020F0502020204030204" pitchFamily="34" charset="0"/>
                <a:cs typeface="Times New Roman" panose="02020603050405020304" pitchFamily="18" charset="0"/>
              </a:rPr>
              <a:t> According to PMBOK, work refers to “work products or deliverables that are the result of effort and not the effort itself”. </a:t>
            </a:r>
          </a:p>
          <a:p>
            <a:pPr marL="342900" indent="-342900" algn="just">
              <a:lnSpc>
                <a:spcPts val="1875"/>
              </a:lnSpc>
              <a:spcAft>
                <a:spcPts val="800"/>
              </a:spcAft>
              <a:buSzPts val="1000"/>
              <a:buFont typeface="Symbol" panose="05050102010706020507" pitchFamily="18" charset="2"/>
              <a:buChar char=""/>
              <a:tabLst>
                <a:tab pos="457200" algn="l"/>
              </a:tabLst>
            </a:pPr>
            <a:endParaRPr lang="en-US" sz="2400" dirty="0">
              <a:solidFill>
                <a:srgbClr val="464646"/>
              </a:solidFill>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ts val="1875"/>
              </a:lnSpc>
              <a:spcAft>
                <a:spcPts val="800"/>
              </a:spcAft>
              <a:buSzPts val="1000"/>
              <a:buFont typeface="Symbol" panose="05050102010706020507" pitchFamily="18" charset="2"/>
              <a:buChar char=""/>
              <a:tabLst>
                <a:tab pos="457200" algn="l"/>
              </a:tabLst>
            </a:pPr>
            <a:r>
              <a:rPr lang="en-US" sz="2400" dirty="0">
                <a:solidFill>
                  <a:srgbClr val="464646"/>
                </a:solidFill>
                <a:latin typeface="Times New Roman" panose="02020603050405020304" pitchFamily="18" charset="0"/>
                <a:ea typeface="Calibri" panose="020F0502020204030204" pitchFamily="34" charset="0"/>
                <a:cs typeface="Times New Roman" panose="02020603050405020304" pitchFamily="18" charset="0"/>
              </a:rPr>
              <a:t>That is, “work” defines the end result of any activity.</a:t>
            </a:r>
          </a:p>
          <a:p>
            <a:pPr marL="342900" indent="-342900" algn="just">
              <a:lnSpc>
                <a:spcPts val="1875"/>
              </a:lnSpc>
              <a:spcAft>
                <a:spcPts val="800"/>
              </a:spcAft>
              <a:buSzPts val="1000"/>
              <a:buFont typeface="Symbol" panose="05050102010706020507" pitchFamily="18" charset="2"/>
              <a:buChar char=""/>
              <a:tabLst>
                <a:tab pos="457200" algn="l"/>
              </a:tabLst>
            </a:pPr>
            <a:endParaRPr lang="en-US" sz="2400" dirty="0">
              <a:solidFill>
                <a:srgbClr val="464646"/>
              </a:solidFill>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lnSpc>
                <a:spcPts val="1875"/>
              </a:lnSpc>
              <a:spcAft>
                <a:spcPts val="800"/>
              </a:spcAft>
              <a:buSzPts val="1000"/>
              <a:buFont typeface="Symbol" panose="05050102010706020507" pitchFamily="18" charset="2"/>
              <a:buChar char=""/>
              <a:tabLst>
                <a:tab pos="457200" algn="l"/>
              </a:tabLst>
            </a:pPr>
            <a:r>
              <a:rPr lang="en-US" sz="2400" dirty="0">
                <a:solidFill>
                  <a:srgbClr val="464646"/>
                </a:solidFill>
                <a:latin typeface="Times New Roman" panose="02020603050405020304" pitchFamily="18" charset="0"/>
                <a:ea typeface="Calibri" panose="020F0502020204030204" pitchFamily="34" charset="0"/>
                <a:cs typeface="Times New Roman" panose="02020603050405020304" pitchFamily="18" charset="0"/>
              </a:rPr>
              <a:t> The work remains constant even though the amount of effort needed to get there might inflate/deflate.</a:t>
            </a:r>
          </a:p>
          <a:p>
            <a:pPr algn="just">
              <a:lnSpc>
                <a:spcPts val="1875"/>
              </a:lnSpc>
              <a:spcAft>
                <a:spcPts val="800"/>
              </a:spcAft>
              <a:buSzPts val="1000"/>
              <a:tabLst>
                <a:tab pos="457200" algn="l"/>
              </a:tabLst>
            </a:pPr>
            <a:endParaRPr lang="en-US" sz="2400" dirty="0">
              <a:solidFill>
                <a:srgbClr val="464646"/>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461406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05000" y="381000"/>
            <a:ext cx="6934200" cy="2695610"/>
          </a:xfrm>
          <a:prstGeom prst="rect">
            <a:avLst/>
          </a:prstGeom>
        </p:spPr>
        <p:txBody>
          <a:bodyPr wrap="square">
            <a:spAutoFit/>
          </a:bodyPr>
          <a:lstStyle/>
          <a:p>
            <a:pPr marL="342900" indent="-342900" algn="just">
              <a:lnSpc>
                <a:spcPts val="1875"/>
              </a:lnSpc>
              <a:spcAft>
                <a:spcPts val="800"/>
              </a:spcAft>
              <a:buSzPts val="1000"/>
              <a:buFont typeface="Symbol" panose="05050102010706020507" pitchFamily="18" charset="2"/>
              <a:buChar char=""/>
              <a:tabLst>
                <a:tab pos="457200" algn="l"/>
              </a:tabLst>
            </a:pPr>
            <a:r>
              <a:rPr lang="en-US" sz="24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Deliverable: </a:t>
            </a:r>
          </a:p>
          <a:p>
            <a:pPr marL="342900" indent="-342900" algn="just">
              <a:lnSpc>
                <a:spcPts val="1875"/>
              </a:lnSpc>
              <a:spcAft>
                <a:spcPts val="800"/>
              </a:spcAft>
              <a:buSzPts val="1000"/>
              <a:buFont typeface="Symbol" panose="05050102010706020507" pitchFamily="18" charset="2"/>
              <a:buChar char=""/>
              <a:tabLst>
                <a:tab pos="457200" algn="l"/>
              </a:tabLst>
            </a:pPr>
            <a:endParaRPr lang="en-US" sz="2400" dirty="0">
              <a:solidFill>
                <a:srgbClr val="464646"/>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ts val="1875"/>
              </a:lnSpc>
              <a:spcAft>
                <a:spcPts val="800"/>
              </a:spcAft>
              <a:buSzPts val="1000"/>
              <a:tabLst>
                <a:tab pos="457200" algn="l"/>
              </a:tabLst>
            </a:pPr>
            <a:r>
              <a:rPr lang="en-US" sz="2400" dirty="0">
                <a:solidFill>
                  <a:srgbClr val="464646"/>
                </a:solidFill>
                <a:latin typeface="Times New Roman" panose="02020603050405020304" pitchFamily="18" charset="0"/>
                <a:ea typeface="Calibri" panose="020F0502020204030204" pitchFamily="34" charset="0"/>
                <a:cs typeface="Times New Roman" panose="02020603050405020304" pitchFamily="18" charset="0"/>
              </a:rPr>
              <a:t>PMBOK says that a deliverable is “any unique and verifiable product, result, or capability to perform a service that is required to be produced to complete a process, phase, or project”.</a:t>
            </a:r>
          </a:p>
          <a:p>
            <a:pPr algn="just">
              <a:lnSpc>
                <a:spcPts val="1875"/>
              </a:lnSpc>
              <a:spcAft>
                <a:spcPts val="800"/>
              </a:spcAft>
              <a:buSzPts val="1000"/>
              <a:tabLst>
                <a:tab pos="457200" algn="l"/>
              </a:tabLst>
            </a:pPr>
            <a:endParaRPr lang="en-US" sz="2400" dirty="0">
              <a:solidFill>
                <a:srgbClr val="464646"/>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ts val="1875"/>
              </a:lnSpc>
              <a:spcAft>
                <a:spcPts val="800"/>
              </a:spcAft>
              <a:buSzPts val="1000"/>
              <a:tabLst>
                <a:tab pos="457200" algn="l"/>
              </a:tabLst>
            </a:pPr>
            <a:r>
              <a:rPr lang="en-US" sz="2400" dirty="0">
                <a:solidFill>
                  <a:srgbClr val="464646"/>
                </a:solidFill>
                <a:latin typeface="Times New Roman" panose="02020603050405020304" pitchFamily="18" charset="0"/>
                <a:ea typeface="Calibri" panose="020F0502020204030204" pitchFamily="34" charset="0"/>
                <a:cs typeface="Times New Roman" panose="02020603050405020304" pitchFamily="18" charset="0"/>
              </a:rPr>
              <a:t> Deliverables will vary from project to project and client to client.</a:t>
            </a:r>
          </a:p>
        </p:txBody>
      </p:sp>
      <p:sp>
        <p:nvSpPr>
          <p:cNvPr id="3" name="Rectangle 2"/>
          <p:cNvSpPr/>
          <p:nvPr/>
        </p:nvSpPr>
        <p:spPr>
          <a:xfrm>
            <a:off x="1752600" y="3317606"/>
            <a:ext cx="7772400" cy="2939266"/>
          </a:xfrm>
          <a:prstGeom prst="rect">
            <a:avLst/>
          </a:prstGeom>
        </p:spPr>
        <p:txBody>
          <a:bodyPr wrap="square">
            <a:spAutoFit/>
          </a:bodyPr>
          <a:lstStyle/>
          <a:p>
            <a:pPr marL="342900" indent="-342900" algn="just">
              <a:lnSpc>
                <a:spcPts val="1875"/>
              </a:lnSpc>
              <a:spcAft>
                <a:spcPts val="800"/>
              </a:spcAft>
              <a:buSzPts val="1000"/>
              <a:buFont typeface="Symbol" panose="05050102010706020507" pitchFamily="18" charset="2"/>
              <a:buChar char=""/>
              <a:tabLst>
                <a:tab pos="457200" algn="l"/>
              </a:tabLst>
            </a:pPr>
            <a:r>
              <a:rPr lang="en-US" sz="24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Work package: </a:t>
            </a:r>
          </a:p>
          <a:p>
            <a:pPr marL="342900" indent="-342900" algn="just">
              <a:lnSpc>
                <a:spcPts val="1875"/>
              </a:lnSpc>
              <a:spcAft>
                <a:spcPts val="800"/>
              </a:spcAft>
              <a:buSzPts val="1000"/>
              <a:buFont typeface="Symbol" panose="05050102010706020507" pitchFamily="18" charset="2"/>
              <a:buChar char=""/>
              <a:tabLst>
                <a:tab pos="457200" algn="l"/>
              </a:tabLst>
            </a:pPr>
            <a:endParaRPr lang="en-US" sz="2400" dirty="0">
              <a:solidFill>
                <a:srgbClr val="464646"/>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ts val="1875"/>
              </a:lnSpc>
              <a:spcAft>
                <a:spcPts val="800"/>
              </a:spcAft>
              <a:buSzPts val="1000"/>
              <a:tabLst>
                <a:tab pos="457200" algn="l"/>
              </a:tabLst>
            </a:pPr>
            <a:r>
              <a:rPr lang="en-US" sz="2400" dirty="0">
                <a:solidFill>
                  <a:srgbClr val="464646"/>
                </a:solidFill>
                <a:latin typeface="Times New Roman" panose="02020603050405020304" pitchFamily="18" charset="0"/>
                <a:ea typeface="Calibri" panose="020F0502020204030204" pitchFamily="34" charset="0"/>
                <a:cs typeface="Times New Roman" panose="02020603050405020304" pitchFamily="18" charset="0"/>
              </a:rPr>
              <a:t>According to PERT (which developed the WBS), a work package is “the work required to complete a specific job or process, such as a report, a design, a documentation requirement or portion thereof, a piece of hardware, or a service.” </a:t>
            </a:r>
          </a:p>
          <a:p>
            <a:pPr algn="just">
              <a:lnSpc>
                <a:spcPts val="1875"/>
              </a:lnSpc>
              <a:spcAft>
                <a:spcPts val="800"/>
              </a:spcAft>
              <a:buSzPts val="1000"/>
              <a:tabLst>
                <a:tab pos="457200" algn="l"/>
              </a:tabLst>
            </a:pPr>
            <a:endParaRPr lang="en-US" sz="2400" dirty="0">
              <a:solidFill>
                <a:srgbClr val="464646"/>
              </a:solidFill>
              <a:latin typeface="Times New Roman" panose="02020603050405020304" pitchFamily="18" charset="0"/>
              <a:ea typeface="Calibri" panose="020F0502020204030204" pitchFamily="34" charset="0"/>
              <a:cs typeface="Times New Roman" panose="02020603050405020304" pitchFamily="18" charset="0"/>
            </a:endParaRPr>
          </a:p>
          <a:p>
            <a:pPr algn="just">
              <a:lnSpc>
                <a:spcPts val="1875"/>
              </a:lnSpc>
              <a:spcAft>
                <a:spcPts val="800"/>
              </a:spcAft>
              <a:buSzPts val="1000"/>
              <a:tabLst>
                <a:tab pos="457200" algn="l"/>
              </a:tabLst>
            </a:pPr>
            <a:r>
              <a:rPr lang="en-US" sz="2400" dirty="0" err="1">
                <a:solidFill>
                  <a:srgbClr val="464646"/>
                </a:solidFill>
                <a:latin typeface="Times New Roman" panose="02020603050405020304" pitchFamily="18" charset="0"/>
                <a:ea typeface="Calibri" panose="020F0502020204030204" pitchFamily="34" charset="0"/>
                <a:cs typeface="Times New Roman" panose="02020603050405020304" pitchFamily="18" charset="0"/>
              </a:rPr>
              <a:t>PMBOk</a:t>
            </a:r>
            <a:r>
              <a:rPr lang="en-US" sz="2400" dirty="0">
                <a:solidFill>
                  <a:srgbClr val="464646"/>
                </a:solidFill>
                <a:latin typeface="Times New Roman" panose="02020603050405020304" pitchFamily="18" charset="0"/>
                <a:ea typeface="Calibri" panose="020F0502020204030204" pitchFamily="34" charset="0"/>
                <a:cs typeface="Times New Roman" panose="02020603050405020304" pitchFamily="18" charset="0"/>
              </a:rPr>
              <a:t> has a simpler definition: “a work package is a deliverable at the lowest level of the WBS.”</a:t>
            </a:r>
            <a:endParaRPr lang="en-US" sz="2400" dirty="0"/>
          </a:p>
        </p:txBody>
      </p:sp>
    </p:spTree>
    <p:extLst>
      <p:ext uri="{BB962C8B-B14F-4D97-AF65-F5344CB8AC3E}">
        <p14:creationId xmlns:p14="http://schemas.microsoft.com/office/powerpoint/2010/main" val="16718128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28800" y="762001"/>
            <a:ext cx="7086600" cy="5185907"/>
          </a:xfrm>
          <a:prstGeom prst="rect">
            <a:avLst/>
          </a:prstGeom>
        </p:spPr>
        <p:txBody>
          <a:bodyPr wrap="square">
            <a:spAutoFit/>
          </a:bodyPr>
          <a:lstStyle/>
          <a:p>
            <a:pPr>
              <a:lnSpc>
                <a:spcPct val="107000"/>
              </a:lnSpc>
              <a:spcBef>
                <a:spcPts val="200"/>
              </a:spcBef>
            </a:pPr>
            <a:r>
              <a:rPr lang="en-US" b="1" dirty="0">
                <a:solidFill>
                  <a:srgbClr val="1F4D78"/>
                </a:solidFill>
                <a:latin typeface="Times New Roman" panose="02020603050405020304" pitchFamily="18" charset="0"/>
                <a:ea typeface="Times New Roman" panose="02020603050405020304" pitchFamily="18" charset="0"/>
                <a:cs typeface="Times New Roman" panose="02020603050405020304" pitchFamily="18" charset="0"/>
              </a:rPr>
              <a:t>Characteristics of the Work Breakdown Structure</a:t>
            </a:r>
          </a:p>
          <a:p>
            <a:pPr>
              <a:lnSpc>
                <a:spcPct val="107000"/>
              </a:lnSpc>
              <a:spcBef>
                <a:spcPts val="200"/>
              </a:spcBef>
            </a:pPr>
            <a:endParaRPr lang="en-US" sz="2000" b="1" dirty="0">
              <a:solidFill>
                <a:srgbClr val="1F4D78"/>
              </a:solidFill>
              <a:latin typeface="Calibri Light" panose="020F0302020204030204" pitchFamily="34" charset="0"/>
              <a:ea typeface="Times New Roman" panose="02020603050405020304" pitchFamily="18" charset="0"/>
              <a:cs typeface="Times New Roman" panose="02020603050405020304" pitchFamily="18" charset="0"/>
            </a:endParaRPr>
          </a:p>
          <a:p>
            <a:pPr>
              <a:lnSpc>
                <a:spcPts val="1875"/>
              </a:lnSpc>
              <a:spcAft>
                <a:spcPts val="750"/>
              </a:spcAft>
            </a:pPr>
            <a:r>
              <a:rPr lang="en-US" dirty="0">
                <a:solidFill>
                  <a:srgbClr val="464646"/>
                </a:solidFill>
                <a:latin typeface="Times New Roman" panose="02020603050405020304" pitchFamily="18" charset="0"/>
                <a:ea typeface="Times New Roman" panose="02020603050405020304" pitchFamily="18" charset="0"/>
              </a:rPr>
              <a:t>Not every breakdown of project deliverables can be classified as a WBS. For it to be called a work breakdown structure, it must have certain characteristics:</a:t>
            </a:r>
            <a:endParaRPr lang="en-US" sz="2000" dirty="0">
              <a:latin typeface="Times New Roman" panose="02020603050405020304" pitchFamily="18" charset="0"/>
              <a:ea typeface="Times New Roman" panose="02020603050405020304" pitchFamily="18" charset="0"/>
            </a:endParaRPr>
          </a:p>
          <a:p>
            <a:pPr marL="342900" indent="-342900">
              <a:lnSpc>
                <a:spcPts val="1875"/>
              </a:lnSpc>
              <a:spcAft>
                <a:spcPts val="800"/>
              </a:spcAft>
              <a:buSzPts val="1000"/>
              <a:buFont typeface="Symbol" panose="05050102010706020507" pitchFamily="18" charset="2"/>
              <a:buChar char=""/>
              <a:tabLst>
                <a:tab pos="457200" algn="l"/>
              </a:tabLst>
            </a:pPr>
            <a:r>
              <a:rPr lang="en-US" b="1" dirty="0">
                <a:solidFill>
                  <a:srgbClr val="464646"/>
                </a:solidFill>
                <a:latin typeface="Calibri" panose="020F0502020204030204" pitchFamily="34" charset="0"/>
                <a:ea typeface="Calibri" panose="020F0502020204030204" pitchFamily="34" charset="0"/>
                <a:cs typeface="Times New Roman" panose="02020603050405020304" pitchFamily="18" charset="0"/>
              </a:rPr>
              <a:t>Hierarchy: </a:t>
            </a:r>
            <a:r>
              <a:rPr lang="en-US" dirty="0">
                <a:solidFill>
                  <a:srgbClr val="464646"/>
                </a:solidFill>
                <a:latin typeface="Times New Roman" panose="02020603050405020304" pitchFamily="18" charset="0"/>
                <a:ea typeface="Calibri" panose="020F0502020204030204" pitchFamily="34" charset="0"/>
                <a:cs typeface="Times New Roman" panose="02020603050405020304" pitchFamily="18" charset="0"/>
              </a:rPr>
              <a:t>The WBS is hierarchical in nature. Each “child” level exists in a strict hierarchical relationship with the parent level. The sum of all the child elements should give you the parent element.</a:t>
            </a:r>
            <a:endParaRPr lang="en-US" dirty="0">
              <a:solidFill>
                <a:srgbClr val="464646"/>
              </a:solidFill>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ts val="1875"/>
              </a:lnSpc>
              <a:spcAft>
                <a:spcPts val="800"/>
              </a:spcAft>
              <a:buSzPts val="1000"/>
              <a:buFont typeface="Symbol" panose="05050102010706020507" pitchFamily="18" charset="2"/>
              <a:buChar char=""/>
              <a:tabLst>
                <a:tab pos="457200" algn="l"/>
              </a:tabLst>
            </a:pPr>
            <a:r>
              <a:rPr lang="en-US" b="1" dirty="0">
                <a:solidFill>
                  <a:srgbClr val="464646"/>
                </a:solidFill>
                <a:latin typeface="Calibri" panose="020F0502020204030204" pitchFamily="34" charset="0"/>
                <a:ea typeface="Calibri" panose="020F0502020204030204" pitchFamily="34" charset="0"/>
                <a:cs typeface="Times New Roman" panose="02020603050405020304" pitchFamily="18" charset="0"/>
              </a:rPr>
              <a:t>100% rule: </a:t>
            </a:r>
            <a:r>
              <a:rPr lang="en-US" dirty="0">
                <a:solidFill>
                  <a:srgbClr val="464646"/>
                </a:solidFill>
                <a:latin typeface="Times New Roman" panose="02020603050405020304" pitchFamily="18" charset="0"/>
                <a:ea typeface="Calibri" panose="020F0502020204030204" pitchFamily="34" charset="0"/>
                <a:cs typeface="Times New Roman" panose="02020603050405020304" pitchFamily="18" charset="0"/>
              </a:rPr>
              <a:t>Every level of decomposition must make up 100% of the parent level. It should also have at least two child elements.</a:t>
            </a:r>
            <a:endParaRPr lang="en-US" dirty="0">
              <a:solidFill>
                <a:srgbClr val="464646"/>
              </a:solidFill>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ts val="1875"/>
              </a:lnSpc>
              <a:spcAft>
                <a:spcPts val="800"/>
              </a:spcAft>
              <a:buSzPts val="1000"/>
              <a:buFont typeface="Symbol" panose="05050102010706020507" pitchFamily="18" charset="2"/>
              <a:buChar char=""/>
              <a:tabLst>
                <a:tab pos="457200" algn="l"/>
              </a:tabLst>
            </a:pPr>
            <a:r>
              <a:rPr lang="en-US" b="1" dirty="0">
                <a:solidFill>
                  <a:srgbClr val="464646"/>
                </a:solidFill>
                <a:latin typeface="Calibri" panose="020F0502020204030204" pitchFamily="34" charset="0"/>
                <a:ea typeface="Calibri" panose="020F0502020204030204" pitchFamily="34" charset="0"/>
                <a:cs typeface="Times New Roman" panose="02020603050405020304" pitchFamily="18" charset="0"/>
              </a:rPr>
              <a:t>Mutually exclusive: </a:t>
            </a:r>
            <a:r>
              <a:rPr lang="en-US" dirty="0">
                <a:solidFill>
                  <a:srgbClr val="464646"/>
                </a:solidFill>
                <a:latin typeface="Times New Roman" panose="02020603050405020304" pitchFamily="18" charset="0"/>
                <a:ea typeface="Calibri" panose="020F0502020204030204" pitchFamily="34" charset="0"/>
                <a:cs typeface="Times New Roman" panose="02020603050405020304" pitchFamily="18" charset="0"/>
              </a:rPr>
              <a:t>All elements at a particular level in a WBS must be mutually exclusive. There must be no overlap in either their deliverables or their work. This is meant to reduce miscommunication and duplicate work.</a:t>
            </a:r>
            <a:endParaRPr lang="en-US" dirty="0">
              <a:solidFill>
                <a:srgbClr val="464646"/>
              </a:solidFill>
              <a:latin typeface="Calibri" panose="020F0502020204030204" pitchFamily="34" charset="0"/>
              <a:ea typeface="Calibri" panose="020F0502020204030204" pitchFamily="34" charset="0"/>
              <a:cs typeface="Times New Roman" panose="02020603050405020304" pitchFamily="18" charset="0"/>
            </a:endParaRPr>
          </a:p>
          <a:p>
            <a:r>
              <a:rPr lang="en-US" b="1" dirty="0">
                <a:solidFill>
                  <a:srgbClr val="464646"/>
                </a:solidFill>
                <a:ea typeface="Calibri" panose="020F0502020204030204" pitchFamily="34" charset="0"/>
              </a:rPr>
              <a:t>Outcome-focused: </a:t>
            </a:r>
            <a:r>
              <a:rPr lang="en-US" dirty="0">
                <a:solidFill>
                  <a:srgbClr val="464646"/>
                </a:solidFill>
                <a:latin typeface="Times New Roman" panose="02020603050405020304" pitchFamily="18" charset="0"/>
                <a:ea typeface="Calibri" panose="020F0502020204030204" pitchFamily="34" charset="0"/>
              </a:rPr>
              <a:t>The WBS must focus on the result of work, i.e. deliverables, rather than the activities necessary to get there. Every element should be described via nouns, not verbs. This is a big source of confusion for beginners to WBS.</a:t>
            </a:r>
            <a:endParaRPr lang="en-US" dirty="0"/>
          </a:p>
        </p:txBody>
      </p:sp>
    </p:spTree>
    <p:extLst>
      <p:ext uri="{BB962C8B-B14F-4D97-AF65-F5344CB8AC3E}">
        <p14:creationId xmlns:p14="http://schemas.microsoft.com/office/powerpoint/2010/main" val="4236074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3"/>
          <p:cNvSpPr>
            <a:spLocks noChangeArrowheads="1"/>
          </p:cNvSpPr>
          <p:nvPr/>
        </p:nvSpPr>
        <p:spPr bwMode="auto">
          <a:xfrm>
            <a:off x="2209800" y="304800"/>
            <a:ext cx="7620000" cy="5940088"/>
          </a:xfrm>
          <a:prstGeom prst="rect">
            <a:avLst/>
          </a:prstGeom>
          <a:solidFill>
            <a:srgbClr val="FFFFFF"/>
          </a:solidFill>
          <a:ln w="9525">
            <a:noFill/>
            <a:miter lim="800000"/>
          </a:ln>
          <a:effectLst/>
        </p:spPr>
        <p:txBody>
          <a:bodyPr vert="horz" wrap="square" lIns="91440" tIns="45720" rIns="91440" bIns="45720" numCol="1" anchor="ctr" anchorCtr="0" compatLnSpc="1">
            <a:spAutoFit/>
          </a:bodyPr>
          <a:lstStyle/>
          <a:p>
            <a:pPr fontAlgn="base">
              <a:spcBef>
                <a:spcPct val="0"/>
              </a:spcBef>
              <a:spcAft>
                <a:spcPct val="0"/>
              </a:spcAft>
              <a:tabLst>
                <a:tab pos="457200" algn="l"/>
              </a:tabLst>
            </a:pPr>
            <a:r>
              <a:rPr lang="en-US" sz="2000" b="1" dirty="0">
                <a:solidFill>
                  <a:srgbClr val="666666"/>
                </a:solidFill>
                <a:latin typeface="inherit"/>
                <a:ea typeface="Times New Roman" panose="02020603050405020304" pitchFamily="18" charset="0"/>
                <a:cs typeface="Arial" panose="020B0604020202020204" pitchFamily="34" charset="0"/>
              </a:rPr>
              <a:t>Why WBS is important?</a:t>
            </a:r>
          </a:p>
          <a:p>
            <a:pPr fontAlgn="base">
              <a:spcBef>
                <a:spcPct val="0"/>
              </a:spcBef>
              <a:spcAft>
                <a:spcPct val="0"/>
              </a:spcAft>
              <a:tabLst>
                <a:tab pos="457200" algn="l"/>
              </a:tabLst>
            </a:pPr>
            <a:endParaRPr lang="en-US" sz="2000" b="1" dirty="0">
              <a:solidFill>
                <a:srgbClr val="666666"/>
              </a:solidFill>
              <a:latin typeface="inherit"/>
              <a:ea typeface="Times New Roman" panose="02020603050405020304" pitchFamily="18" charset="0"/>
              <a:cs typeface="Arial" panose="020B0604020202020204" pitchFamily="34" charset="0"/>
            </a:endParaRPr>
          </a:p>
          <a:p>
            <a:pPr marL="457200" indent="-457200" eaLnBrk="0" fontAlgn="base" hangingPunct="0">
              <a:spcBef>
                <a:spcPct val="0"/>
              </a:spcBef>
              <a:spcAft>
                <a:spcPct val="0"/>
              </a:spcAft>
              <a:buFont typeface="+mj-lt"/>
              <a:buAutoNum type="alphaLcParenR"/>
              <a:tabLst>
                <a:tab pos="457200" algn="l"/>
              </a:tabLst>
            </a:pPr>
            <a:r>
              <a:rPr lang="en-US" altLang="ja-JP" sz="2000" dirty="0">
                <a:solidFill>
                  <a:srgbClr val="666666"/>
                </a:solidFill>
                <a:latin typeface="inherit"/>
                <a:ea typeface="Times New Roman" panose="02020603050405020304" pitchFamily="18" charset="0"/>
                <a:cs typeface="Arial" panose="020B0604020202020204" pitchFamily="34" charset="0"/>
              </a:rPr>
              <a:t>WBS is a pictorial representation of scope; it represents total scope of work. A picture is worth thousand words and hence </a:t>
            </a:r>
            <a:r>
              <a:rPr lang="en-US" altLang="ja-JP" sz="2000" dirty="0">
                <a:solidFill>
                  <a:srgbClr val="FF0000"/>
                </a:solidFill>
                <a:latin typeface="inherit"/>
                <a:ea typeface="Times New Roman" panose="02020603050405020304" pitchFamily="18" charset="0"/>
                <a:cs typeface="Arial" panose="020B0604020202020204" pitchFamily="34" charset="0"/>
              </a:rPr>
              <a:t>easy to understand &amp; follow</a:t>
            </a:r>
            <a:r>
              <a:rPr lang="en-US" altLang="ja-JP" sz="2000" dirty="0">
                <a:solidFill>
                  <a:srgbClr val="666666"/>
                </a:solidFill>
                <a:latin typeface="inherit"/>
                <a:ea typeface="Times New Roman" panose="02020603050405020304" pitchFamily="18" charset="0"/>
                <a:cs typeface="Arial" panose="020B0604020202020204" pitchFamily="34" charset="0"/>
              </a:rPr>
              <a:t>.</a:t>
            </a:r>
            <a:endParaRPr lang="en-US" altLang="ja-JP" sz="2000" dirty="0">
              <a:latin typeface="Arial" panose="020B0604020202020204" pitchFamily="34" charset="0"/>
              <a:ea typeface="Times New Roman" panose="02020603050405020304" pitchFamily="18" charset="0"/>
              <a:cs typeface="Arial" panose="020B0604020202020204" pitchFamily="34" charset="0"/>
            </a:endParaRPr>
          </a:p>
          <a:p>
            <a:pPr marL="457200" indent="-457200" eaLnBrk="0" fontAlgn="base" hangingPunct="0">
              <a:spcBef>
                <a:spcPct val="0"/>
              </a:spcBef>
              <a:spcAft>
                <a:spcPct val="0"/>
              </a:spcAft>
              <a:buFont typeface="+mj-lt"/>
              <a:buAutoNum type="alphaLcParenR"/>
              <a:tabLst>
                <a:tab pos="457200" algn="l"/>
              </a:tabLst>
            </a:pPr>
            <a:r>
              <a:rPr lang="en-US" altLang="ja-JP" sz="2000" dirty="0">
                <a:solidFill>
                  <a:srgbClr val="666666"/>
                </a:solidFill>
                <a:latin typeface="inherit"/>
                <a:ea typeface="Times New Roman" panose="02020603050405020304" pitchFamily="18" charset="0"/>
                <a:cs typeface="Arial" panose="020B0604020202020204" pitchFamily="34" charset="0"/>
              </a:rPr>
              <a:t>WBS represents total scope and hence it can act as a </a:t>
            </a:r>
            <a:r>
              <a:rPr lang="en-US" altLang="ja-JP" sz="2000" dirty="0">
                <a:solidFill>
                  <a:srgbClr val="FF0000"/>
                </a:solidFill>
                <a:latin typeface="inherit"/>
                <a:ea typeface="Times New Roman" panose="02020603050405020304" pitchFamily="18" charset="0"/>
                <a:cs typeface="Arial" panose="020B0604020202020204" pitchFamily="34" charset="0"/>
              </a:rPr>
              <a:t>checklist for the project</a:t>
            </a:r>
            <a:r>
              <a:rPr lang="en-US" altLang="ja-JP" sz="2000" dirty="0">
                <a:solidFill>
                  <a:srgbClr val="666666"/>
                </a:solidFill>
                <a:latin typeface="inherit"/>
                <a:ea typeface="Times New Roman" panose="02020603050405020304" pitchFamily="18" charset="0"/>
                <a:cs typeface="Arial" panose="020B0604020202020204" pitchFamily="34" charset="0"/>
              </a:rPr>
              <a:t>. A PM can easily tell what all has been accomplished and what is remaining in the project.</a:t>
            </a:r>
            <a:endParaRPr lang="en-US" altLang="ja-JP" sz="2000" dirty="0">
              <a:latin typeface="Arial" panose="020B0604020202020204" pitchFamily="34" charset="0"/>
              <a:ea typeface="Times New Roman" panose="02020603050405020304" pitchFamily="18" charset="0"/>
              <a:cs typeface="Arial" panose="020B0604020202020204" pitchFamily="34" charset="0"/>
            </a:endParaRPr>
          </a:p>
          <a:p>
            <a:pPr marL="457200" indent="-457200" eaLnBrk="0" fontAlgn="base" hangingPunct="0">
              <a:spcBef>
                <a:spcPct val="0"/>
              </a:spcBef>
              <a:spcAft>
                <a:spcPct val="0"/>
              </a:spcAft>
              <a:buFont typeface="+mj-lt"/>
              <a:buAutoNum type="alphaLcParenR"/>
              <a:tabLst>
                <a:tab pos="457200" algn="l"/>
              </a:tabLst>
            </a:pPr>
            <a:r>
              <a:rPr lang="en-US" altLang="ja-JP" sz="2000" dirty="0">
                <a:solidFill>
                  <a:srgbClr val="666666"/>
                </a:solidFill>
                <a:latin typeface="inherit"/>
                <a:ea typeface="Times New Roman" panose="02020603050405020304" pitchFamily="18" charset="0"/>
                <a:cs typeface="Arial" panose="020B0604020202020204" pitchFamily="34" charset="0"/>
              </a:rPr>
              <a:t>Each successive level of WBS provides a basis for more </a:t>
            </a:r>
            <a:r>
              <a:rPr lang="en-US" altLang="ja-JP" sz="2000" dirty="0">
                <a:solidFill>
                  <a:srgbClr val="FF0000"/>
                </a:solidFill>
                <a:latin typeface="inherit"/>
                <a:ea typeface="Times New Roman" panose="02020603050405020304" pitchFamily="18" charset="0"/>
                <a:cs typeface="Arial" panose="020B0604020202020204" pitchFamily="34" charset="0"/>
              </a:rPr>
              <a:t>accurate estimation</a:t>
            </a:r>
            <a:r>
              <a:rPr lang="en-US" altLang="ja-JP" sz="2000" dirty="0">
                <a:solidFill>
                  <a:srgbClr val="666666"/>
                </a:solidFill>
                <a:latin typeface="inherit"/>
                <a:ea typeface="Times New Roman" panose="02020603050405020304" pitchFamily="18" charset="0"/>
                <a:cs typeface="Arial" panose="020B0604020202020204" pitchFamily="34" charset="0"/>
              </a:rPr>
              <a:t> of effort, duration, resources and cost.</a:t>
            </a:r>
            <a:endParaRPr lang="en-US" altLang="ja-JP" sz="2000" dirty="0">
              <a:latin typeface="Arial" panose="020B0604020202020204" pitchFamily="34" charset="0"/>
              <a:ea typeface="Times New Roman" panose="02020603050405020304" pitchFamily="18" charset="0"/>
              <a:cs typeface="Arial" panose="020B0604020202020204" pitchFamily="34" charset="0"/>
            </a:endParaRPr>
          </a:p>
          <a:p>
            <a:pPr marL="457200" indent="-457200" eaLnBrk="0" fontAlgn="base" hangingPunct="0">
              <a:spcBef>
                <a:spcPct val="0"/>
              </a:spcBef>
              <a:spcAft>
                <a:spcPct val="0"/>
              </a:spcAft>
              <a:buFont typeface="+mj-lt"/>
              <a:buAutoNum type="alphaLcParenR"/>
              <a:tabLst>
                <a:tab pos="457200" algn="l"/>
              </a:tabLst>
            </a:pPr>
            <a:r>
              <a:rPr lang="en-US" altLang="ja-JP" sz="2000" dirty="0">
                <a:solidFill>
                  <a:srgbClr val="666666"/>
                </a:solidFill>
                <a:latin typeface="inherit"/>
                <a:ea typeface="Times New Roman" panose="02020603050405020304" pitchFamily="18" charset="0"/>
                <a:cs typeface="Arial" panose="020B0604020202020204" pitchFamily="34" charset="0"/>
              </a:rPr>
              <a:t>The deliverable, as represented by WBS, can be </a:t>
            </a:r>
            <a:r>
              <a:rPr lang="en-US" altLang="ja-JP" sz="2000" dirty="0">
                <a:solidFill>
                  <a:srgbClr val="FF0000"/>
                </a:solidFill>
                <a:latin typeface="inherit"/>
                <a:ea typeface="Times New Roman" panose="02020603050405020304" pitchFamily="18" charset="0"/>
                <a:cs typeface="Arial" panose="020B0604020202020204" pitchFamily="34" charset="0"/>
              </a:rPr>
              <a:t>easily monitored and tracked</a:t>
            </a:r>
            <a:r>
              <a:rPr lang="en-US" altLang="ja-JP" sz="2000" dirty="0">
                <a:solidFill>
                  <a:srgbClr val="666666"/>
                </a:solidFill>
                <a:latin typeface="inherit"/>
                <a:ea typeface="Times New Roman" panose="02020603050405020304" pitchFamily="18" charset="0"/>
                <a:cs typeface="Arial" panose="020B0604020202020204" pitchFamily="34" charset="0"/>
              </a:rPr>
              <a:t>.</a:t>
            </a:r>
            <a:endParaRPr lang="en-US" altLang="ja-JP" sz="2000" dirty="0">
              <a:latin typeface="Arial" panose="020B0604020202020204" pitchFamily="34" charset="0"/>
              <a:ea typeface="Times New Roman" panose="02020603050405020304" pitchFamily="18" charset="0"/>
              <a:cs typeface="Arial" panose="020B0604020202020204" pitchFamily="34" charset="0"/>
            </a:endParaRPr>
          </a:p>
          <a:p>
            <a:pPr marL="457200" indent="-457200" eaLnBrk="0" fontAlgn="base" hangingPunct="0">
              <a:spcBef>
                <a:spcPct val="0"/>
              </a:spcBef>
              <a:spcAft>
                <a:spcPct val="0"/>
              </a:spcAft>
              <a:buFont typeface="+mj-lt"/>
              <a:buAutoNum type="alphaLcParenR"/>
              <a:tabLst>
                <a:tab pos="457200" algn="l"/>
              </a:tabLst>
            </a:pPr>
            <a:r>
              <a:rPr lang="en-US" altLang="ja-JP" sz="2000" dirty="0">
                <a:solidFill>
                  <a:srgbClr val="666666"/>
                </a:solidFill>
                <a:latin typeface="inherit"/>
                <a:ea typeface="Times New Roman" panose="02020603050405020304" pitchFamily="18" charset="0"/>
                <a:cs typeface="Arial" panose="020B0604020202020204" pitchFamily="34" charset="0"/>
              </a:rPr>
              <a:t>Historical WBS can act as a templates for future work – specifically for some repetitive processes. It results in </a:t>
            </a:r>
            <a:r>
              <a:rPr lang="en-US" altLang="ja-JP" sz="2000" dirty="0">
                <a:solidFill>
                  <a:srgbClr val="FF0000"/>
                </a:solidFill>
                <a:latin typeface="inherit"/>
                <a:ea typeface="Times New Roman" panose="02020603050405020304" pitchFamily="18" charset="0"/>
                <a:cs typeface="Arial" panose="020B0604020202020204" pitchFamily="34" charset="0"/>
              </a:rPr>
              <a:t>easier and faster project planning</a:t>
            </a:r>
            <a:r>
              <a:rPr lang="en-US" altLang="ja-JP" sz="2000" dirty="0">
                <a:solidFill>
                  <a:srgbClr val="666666"/>
                </a:solidFill>
                <a:latin typeface="inherit"/>
                <a:ea typeface="Times New Roman" panose="02020603050405020304" pitchFamily="18" charset="0"/>
                <a:cs typeface="Arial" panose="020B0604020202020204" pitchFamily="34" charset="0"/>
              </a:rPr>
              <a:t>.</a:t>
            </a:r>
            <a:endParaRPr lang="en-US" altLang="ja-JP" sz="2000" dirty="0">
              <a:latin typeface="Arial" panose="020B0604020202020204" pitchFamily="34" charset="0"/>
              <a:ea typeface="Times New Roman" panose="02020603050405020304" pitchFamily="18" charset="0"/>
              <a:cs typeface="Arial" panose="020B0604020202020204" pitchFamily="34" charset="0"/>
            </a:endParaRPr>
          </a:p>
          <a:p>
            <a:pPr marL="457200" indent="-457200" eaLnBrk="0" fontAlgn="base" hangingPunct="0">
              <a:spcBef>
                <a:spcPct val="0"/>
              </a:spcBef>
              <a:spcAft>
                <a:spcPct val="0"/>
              </a:spcAft>
              <a:buFont typeface="+mj-lt"/>
              <a:buAutoNum type="alphaLcParenR"/>
              <a:tabLst>
                <a:tab pos="457200" algn="l"/>
              </a:tabLst>
            </a:pPr>
            <a:r>
              <a:rPr lang="en-US" altLang="ja-JP" sz="2000" dirty="0">
                <a:solidFill>
                  <a:srgbClr val="666666"/>
                </a:solidFill>
                <a:latin typeface="inherit"/>
                <a:ea typeface="Times New Roman" panose="02020603050405020304" pitchFamily="18" charset="0"/>
                <a:cs typeface="Arial" panose="020B0604020202020204" pitchFamily="34" charset="0"/>
              </a:rPr>
              <a:t>Smaller work can be easily </a:t>
            </a:r>
            <a:r>
              <a:rPr lang="en-US" altLang="ja-JP" sz="2000" dirty="0">
                <a:solidFill>
                  <a:srgbClr val="FF0000"/>
                </a:solidFill>
                <a:latin typeface="inherit"/>
                <a:ea typeface="Times New Roman" panose="02020603050405020304" pitchFamily="18" charset="0"/>
                <a:cs typeface="Arial" panose="020B0604020202020204" pitchFamily="34" charset="0"/>
              </a:rPr>
              <a:t>assigned to individual team members</a:t>
            </a:r>
            <a:r>
              <a:rPr lang="en-US" altLang="ja-JP" sz="2000" dirty="0">
                <a:solidFill>
                  <a:srgbClr val="666666"/>
                </a:solidFill>
                <a:latin typeface="inherit"/>
                <a:ea typeface="Times New Roman" panose="02020603050405020304" pitchFamily="18" charset="0"/>
                <a:cs typeface="Arial" panose="020B0604020202020204" pitchFamily="34" charset="0"/>
              </a:rPr>
              <a:t> and they can be made </a:t>
            </a:r>
            <a:r>
              <a:rPr lang="en-US" altLang="ja-JP" sz="2000" dirty="0">
                <a:solidFill>
                  <a:srgbClr val="FF0000"/>
                </a:solidFill>
                <a:latin typeface="inherit"/>
                <a:ea typeface="Times New Roman" panose="02020603050405020304" pitchFamily="18" charset="0"/>
                <a:cs typeface="Arial" panose="020B0604020202020204" pitchFamily="34" charset="0"/>
              </a:rPr>
              <a:t>accountable</a:t>
            </a:r>
            <a:r>
              <a:rPr lang="en-US" altLang="ja-JP" sz="2000" dirty="0">
                <a:solidFill>
                  <a:srgbClr val="666666"/>
                </a:solidFill>
                <a:latin typeface="inherit"/>
                <a:ea typeface="Times New Roman" panose="02020603050405020304" pitchFamily="18" charset="0"/>
                <a:cs typeface="Arial" panose="020B0604020202020204" pitchFamily="34" charset="0"/>
              </a:rPr>
              <a:t>.</a:t>
            </a:r>
            <a:endParaRPr lang="en-US" altLang="ja-JP" sz="2000" dirty="0">
              <a:latin typeface="Arial" panose="020B0604020202020204" pitchFamily="34" charset="0"/>
              <a:ea typeface="Times New Roman" panose="02020603050405020304" pitchFamily="18" charset="0"/>
              <a:cs typeface="Arial" panose="020B0604020202020204" pitchFamily="34" charset="0"/>
            </a:endParaRPr>
          </a:p>
          <a:p>
            <a:pPr marL="457200" indent="-457200" eaLnBrk="0" fontAlgn="base" hangingPunct="0">
              <a:spcBef>
                <a:spcPct val="0"/>
              </a:spcBef>
              <a:spcAft>
                <a:spcPct val="0"/>
              </a:spcAft>
              <a:buFont typeface="+mj-lt"/>
              <a:buAutoNum type="alphaLcParenR"/>
              <a:tabLst>
                <a:tab pos="457200" algn="l"/>
              </a:tabLst>
            </a:pPr>
            <a:r>
              <a:rPr lang="en-US" altLang="ja-JP" sz="2000" dirty="0">
                <a:solidFill>
                  <a:srgbClr val="666666"/>
                </a:solidFill>
                <a:latin typeface="inherit"/>
                <a:ea typeface="Times New Roman" panose="02020603050405020304" pitchFamily="18" charset="0"/>
                <a:cs typeface="Arial" panose="020B0604020202020204" pitchFamily="34" charset="0"/>
              </a:rPr>
              <a:t>Most important it </a:t>
            </a:r>
            <a:r>
              <a:rPr lang="en-US" altLang="ja-JP" sz="2000" dirty="0">
                <a:solidFill>
                  <a:srgbClr val="FF0000"/>
                </a:solidFill>
                <a:latin typeface="inherit"/>
                <a:ea typeface="Times New Roman" panose="02020603050405020304" pitchFamily="18" charset="0"/>
                <a:cs typeface="Arial" panose="020B0604020202020204" pitchFamily="34" charset="0"/>
              </a:rPr>
              <a:t>reduces the project risk</a:t>
            </a:r>
            <a:r>
              <a:rPr lang="en-US" altLang="ja-JP" sz="2000" dirty="0">
                <a:solidFill>
                  <a:srgbClr val="666666"/>
                </a:solidFill>
                <a:latin typeface="inherit"/>
                <a:ea typeface="Times New Roman" panose="02020603050405020304" pitchFamily="18" charset="0"/>
                <a:cs typeface="Arial" panose="020B0604020202020204" pitchFamily="34" charset="0"/>
              </a:rPr>
              <a:t>.</a:t>
            </a:r>
            <a:endParaRPr lang="en-US" altLang="ja-JP"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54934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ubtitle 5"/>
          <p:cNvSpPr txBox="1"/>
          <p:nvPr/>
        </p:nvSpPr>
        <p:spPr bwMode="auto">
          <a:xfrm>
            <a:off x="1752600" y="914400"/>
            <a:ext cx="8610600" cy="5715000"/>
          </a:xfrm>
          <a:prstGeom prst="rect">
            <a:avLst/>
          </a:prstGeom>
          <a:noFill/>
          <a:ln w="9525">
            <a:noFill/>
            <a:miter lim="800000"/>
          </a:ln>
        </p:spPr>
        <p:txBody>
          <a:bodyPr vert="horz" wrap="square" lIns="91440" tIns="45720" rIns="91440" bIns="45720" numCol="1" anchor="t" anchorCtr="0" compatLnSpc="1"/>
          <a:lstStyle/>
          <a:p>
            <a:pPr algn="just" eaLnBrk="0" hangingPunct="0">
              <a:spcBef>
                <a:spcPct val="20000"/>
              </a:spcBef>
            </a:pPr>
            <a:endParaRPr lang="en-US" sz="3200" b="1" u="sng" dirty="0">
              <a:latin typeface="+mj-lt"/>
              <a:ea typeface="+mj-ea"/>
              <a:cs typeface="+mj-cs"/>
            </a:endParaRPr>
          </a:p>
          <a:p>
            <a:pPr algn="just" eaLnBrk="0" fontAlgn="base" hangingPunct="0">
              <a:spcBef>
                <a:spcPct val="20000"/>
              </a:spcBef>
              <a:spcAft>
                <a:spcPct val="0"/>
              </a:spcAft>
              <a:defRPr/>
            </a:pPr>
            <a:r>
              <a:rPr lang="en-US" sz="3200" dirty="0">
                <a:latin typeface="+mj-lt"/>
                <a:ea typeface="+mj-ea"/>
                <a:cs typeface="+mj-cs"/>
              </a:rPr>
              <a:t> </a:t>
            </a:r>
          </a:p>
          <a:p>
            <a:pPr algn="just" eaLnBrk="0" fontAlgn="base" hangingPunct="0">
              <a:spcBef>
                <a:spcPct val="20000"/>
              </a:spcBef>
              <a:spcAft>
                <a:spcPct val="0"/>
              </a:spcAft>
              <a:defRPr/>
            </a:pPr>
            <a:endParaRPr lang="en-US" sz="3200" dirty="0">
              <a:latin typeface="+mj-lt"/>
              <a:ea typeface="+mj-ea"/>
              <a:cs typeface="+mj-cs"/>
            </a:endParaRPr>
          </a:p>
        </p:txBody>
      </p:sp>
      <p:sp>
        <p:nvSpPr>
          <p:cNvPr id="4" name="Rectangle 3"/>
          <p:cNvSpPr/>
          <p:nvPr/>
        </p:nvSpPr>
        <p:spPr>
          <a:xfrm>
            <a:off x="2819400" y="3886200"/>
            <a:ext cx="5562600" cy="369332"/>
          </a:xfrm>
          <a:prstGeom prst="rect">
            <a:avLst/>
          </a:prstGeom>
        </p:spPr>
        <p:txBody>
          <a:bodyPr wrap="square">
            <a:spAutoFit/>
          </a:bodyPr>
          <a:lstStyle/>
          <a:p>
            <a:pPr>
              <a:defRPr/>
            </a:pPr>
            <a:r>
              <a:rPr lang="en-US" dirty="0"/>
              <a:t>. </a:t>
            </a:r>
          </a:p>
        </p:txBody>
      </p:sp>
      <p:pic>
        <p:nvPicPr>
          <p:cNvPr id="6" name="Picture 5" descr="WBS.png"/>
          <p:cNvPicPr>
            <a:picLocks noChangeAspect="1"/>
          </p:cNvPicPr>
          <p:nvPr/>
        </p:nvPicPr>
        <p:blipFill>
          <a:blip r:embed="rId2" cstate="print"/>
          <a:stretch>
            <a:fillRect/>
          </a:stretch>
        </p:blipFill>
        <p:spPr>
          <a:xfrm>
            <a:off x="1524000" y="2458"/>
            <a:ext cx="9144000" cy="6858000"/>
          </a:xfrm>
          <a:prstGeom prst="rect">
            <a:avLst/>
          </a:prstGeom>
        </p:spPr>
      </p:pic>
    </p:spTree>
    <p:extLst>
      <p:ext uri="{BB962C8B-B14F-4D97-AF65-F5344CB8AC3E}">
        <p14:creationId xmlns:p14="http://schemas.microsoft.com/office/powerpoint/2010/main" val="24166355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1" descr="Day02b-Scope_Management_Page_21.jpg"/>
          <p:cNvPicPr>
            <a:picLocks noGrp="1" noChangeAspect="1"/>
          </p:cNvPicPr>
          <p:nvPr isPhoto="1"/>
        </p:nvPicPr>
        <p:blipFill>
          <a:blip r:embed="rId2" cstate="print"/>
          <a:srcRect/>
          <a:stretch>
            <a:fillRect/>
          </a:stretch>
        </p:blipFill>
        <p:spPr bwMode="auto">
          <a:xfrm>
            <a:off x="1524001" y="0"/>
            <a:ext cx="9144000" cy="6858000"/>
          </a:xfrm>
          <a:prstGeom prst="rect">
            <a:avLst/>
          </a:prstGeom>
          <a:noFill/>
          <a:ln w="9525">
            <a:noFill/>
            <a:miter lim="800000"/>
            <a:headEnd/>
            <a:tailEnd/>
          </a:ln>
        </p:spPr>
      </p:pic>
    </p:spTree>
    <p:extLst>
      <p:ext uri="{BB962C8B-B14F-4D97-AF65-F5344CB8AC3E}">
        <p14:creationId xmlns:p14="http://schemas.microsoft.com/office/powerpoint/2010/main" val="7609564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57400" y="117694"/>
            <a:ext cx="6705600" cy="6740307"/>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How to Create a WBS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 To create it, however, you need a thorough understanding of the project’s scope, your team’s capabilities, and your stakeholders’ requirements.</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marL="457200" indent="-457200" algn="just">
              <a:buAutoNum type="arabicPeriod"/>
            </a:pPr>
            <a:r>
              <a:rPr lang="en-US" sz="2400" b="1" dirty="0">
                <a:solidFill>
                  <a:srgbClr val="1F4D78"/>
                </a:solidFill>
                <a:latin typeface="Times New Roman" panose="02020603050405020304" pitchFamily="18" charset="0"/>
                <a:ea typeface="Times New Roman" panose="02020603050405020304" pitchFamily="18" charset="0"/>
                <a:cs typeface="Times New Roman" panose="02020603050405020304" pitchFamily="18" charset="0"/>
              </a:rPr>
              <a:t>Understand the Project’s Scope</a:t>
            </a:r>
          </a:p>
          <a:p>
            <a:pPr algn="just"/>
            <a:endParaRPr lang="en-US" sz="2400" b="1"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You need two things :</a:t>
            </a:r>
            <a:r>
              <a:rPr lang="en-US" sz="2400" b="1" dirty="0">
                <a:latin typeface="Times New Roman" panose="02020603050405020304" pitchFamily="18" charset="0"/>
                <a:cs typeface="Times New Roman" panose="02020603050405020304" pitchFamily="18" charset="0"/>
              </a:rPr>
              <a:t> Project scope statement</a:t>
            </a:r>
            <a:r>
              <a:rPr lang="en-US" sz="2400" dirty="0">
                <a:latin typeface="Times New Roman" panose="02020603050405020304" pitchFamily="18" charset="0"/>
                <a:cs typeface="Times New Roman" panose="02020603050405020304" pitchFamily="18" charset="0"/>
              </a:rPr>
              <a:t> to understand the project’s scope in detail.	</a:t>
            </a:r>
          </a:p>
          <a:p>
            <a:pPr algn="just"/>
            <a:endParaRPr lang="en-US" sz="2400" b="1"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Project scope management plan </a:t>
            </a:r>
            <a:r>
              <a:rPr lang="en-US" sz="2400" dirty="0">
                <a:latin typeface="Times New Roman" panose="02020603050405020304" pitchFamily="18" charset="0"/>
                <a:cs typeface="Times New Roman" panose="02020603050405020304" pitchFamily="18" charset="0"/>
              </a:rPr>
              <a:t>to understand how to deal with changes to the project’s scope (which will affect your deliverables).You’ll want to refer to your project charter to develop the scope statement and scope management plan.</a:t>
            </a:r>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0277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57400" y="457200"/>
            <a:ext cx="7086600" cy="5340308"/>
          </a:xfrm>
          <a:prstGeom prst="rect">
            <a:avLst/>
          </a:prstGeom>
        </p:spPr>
        <p:txBody>
          <a:bodyPr wrap="square">
            <a:spAutoFit/>
          </a:bodyPr>
          <a:lstStyle/>
          <a:p>
            <a:pPr algn="just">
              <a:lnSpc>
                <a:spcPct val="107000"/>
              </a:lnSpc>
              <a:spcBef>
                <a:spcPts val="200"/>
              </a:spcBef>
            </a:pPr>
            <a:r>
              <a:rPr lang="en-US" sz="2400" b="1" dirty="0">
                <a:solidFill>
                  <a:srgbClr val="1F4D78"/>
                </a:solidFill>
                <a:latin typeface="Times New Roman" panose="02020603050405020304" pitchFamily="18" charset="0"/>
                <a:ea typeface="Times New Roman" panose="02020603050405020304" pitchFamily="18" charset="0"/>
                <a:cs typeface="Times New Roman" panose="02020603050405020304" pitchFamily="18" charset="0"/>
              </a:rPr>
              <a:t>2.Determine Major Deliverables</a:t>
            </a:r>
          </a:p>
          <a:p>
            <a:pPr algn="just">
              <a:lnSpc>
                <a:spcPct val="107000"/>
              </a:lnSpc>
              <a:spcBef>
                <a:spcPts val="200"/>
              </a:spcBef>
            </a:pPr>
            <a:endParaRPr lang="en-US" sz="2400" b="1" dirty="0">
              <a:solidFill>
                <a:srgbClr val="1F4D78"/>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sz="2400" dirty="0">
                <a:solidFill>
                  <a:srgbClr val="464646"/>
                </a:solidFill>
                <a:latin typeface="Times New Roman" panose="02020603050405020304" pitchFamily="18" charset="0"/>
                <a:ea typeface="Calibri" panose="020F0502020204030204" pitchFamily="34" charset="0"/>
                <a:cs typeface="Times New Roman" panose="02020603050405020304" pitchFamily="18" charset="0"/>
              </a:rPr>
              <a:t>Once you have an understanding of the project scope, start the WBS development process by figuring out the key deliverables.</a:t>
            </a:r>
          </a:p>
          <a:p>
            <a:pPr algn="just"/>
            <a:endParaRPr lang="en-US" sz="2400" dirty="0">
              <a:solidFill>
                <a:srgbClr val="464646"/>
              </a:solidFill>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There are two heuristics you can follow for determining major deliverables at the 2nd level:</a:t>
            </a:r>
          </a:p>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deliverable must be essential to the success of the project. </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deliverable should be the responsibility of an independent team. </a:t>
            </a:r>
          </a:p>
        </p:txBody>
      </p:sp>
    </p:spTree>
    <p:extLst>
      <p:ext uri="{BB962C8B-B14F-4D97-AF65-F5344CB8AC3E}">
        <p14:creationId xmlns:p14="http://schemas.microsoft.com/office/powerpoint/2010/main" val="18761963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81201" y="304801"/>
            <a:ext cx="3990067" cy="335989"/>
          </a:xfrm>
          <a:prstGeom prst="rect">
            <a:avLst/>
          </a:prstGeom>
        </p:spPr>
        <p:txBody>
          <a:bodyPr wrap="none">
            <a:spAutoFit/>
          </a:bodyPr>
          <a:lstStyle/>
          <a:p>
            <a:pPr>
              <a:lnSpc>
                <a:spcPts val="1875"/>
              </a:lnSpc>
              <a:spcAft>
                <a:spcPts val="750"/>
              </a:spcAft>
            </a:pPr>
            <a:r>
              <a:rPr lang="en-US" sz="2400" b="1" dirty="0">
                <a:solidFill>
                  <a:srgbClr val="1F4D78"/>
                </a:solidFill>
                <a:latin typeface="Times New Roman" panose="02020603050405020304" pitchFamily="18" charset="0"/>
                <a:ea typeface="Times New Roman" panose="02020603050405020304" pitchFamily="18" charset="0"/>
                <a:cs typeface="Times New Roman" panose="02020603050405020304" pitchFamily="18" charset="0"/>
              </a:rPr>
              <a:t>3. Determine Work Packages</a:t>
            </a:r>
          </a:p>
        </p:txBody>
      </p:sp>
      <p:sp>
        <p:nvSpPr>
          <p:cNvPr id="3" name="Rectangle 2"/>
          <p:cNvSpPr/>
          <p:nvPr/>
        </p:nvSpPr>
        <p:spPr>
          <a:xfrm>
            <a:off x="1981200" y="645706"/>
            <a:ext cx="7315200" cy="6370975"/>
          </a:xfrm>
          <a:prstGeom prst="rect">
            <a:avLst/>
          </a:prstGeom>
        </p:spPr>
        <p:txBody>
          <a:bodyPr wrap="square">
            <a:spAutoFit/>
          </a:bodyPr>
          <a:lstStyle/>
          <a:p>
            <a:pPr algn="just"/>
            <a:endParaRPr lang="en-US" sz="2400" dirty="0">
              <a:solidFill>
                <a:srgbClr val="464646"/>
              </a:solidFill>
              <a:latin typeface="Times New Roman" panose="02020603050405020304" pitchFamily="18" charset="0"/>
              <a:ea typeface="Calibri" panose="020F0502020204030204" pitchFamily="34" charset="0"/>
              <a:cs typeface="Times New Roman" panose="02020603050405020304" pitchFamily="18" charset="0"/>
            </a:endParaRPr>
          </a:p>
          <a:p>
            <a:pPr algn="just"/>
            <a:r>
              <a:rPr lang="en-US" sz="2400" dirty="0">
                <a:solidFill>
                  <a:srgbClr val="464646"/>
                </a:solidFill>
                <a:latin typeface="Times New Roman" panose="02020603050405020304" pitchFamily="18" charset="0"/>
                <a:ea typeface="Calibri" panose="020F0502020204030204" pitchFamily="34" charset="0"/>
                <a:cs typeface="Times New Roman" panose="02020603050405020304" pitchFamily="18" charset="0"/>
              </a:rPr>
              <a:t>A work package, as you learned above, is a deliverable at the lowest level of a WBS.</a:t>
            </a:r>
          </a:p>
          <a:p>
            <a:pPr algn="just"/>
            <a:r>
              <a:rPr lang="en-US" sz="2400" dirty="0">
                <a:latin typeface="Times New Roman" panose="02020603050405020304" pitchFamily="18" charset="0"/>
                <a:cs typeface="Times New Roman" panose="02020603050405020304" pitchFamily="18" charset="0"/>
              </a:rPr>
              <a:t>Your goal is to pick a major deliverable, then identify all the work necessary to complete it. </a:t>
            </a:r>
          </a:p>
          <a:p>
            <a:pPr algn="just"/>
            <a:r>
              <a:rPr lang="en-US" sz="2400" dirty="0"/>
              <a:t>complete it. </a:t>
            </a:r>
          </a:p>
          <a:p>
            <a:pPr algn="just"/>
            <a:endParaRPr lang="en-US" sz="2400" dirty="0"/>
          </a:p>
          <a:p>
            <a:pPr algn="just"/>
            <a:r>
              <a:rPr lang="en-US" sz="2400" dirty="0"/>
              <a:t>This work package must be:</a:t>
            </a:r>
          </a:p>
          <a:p>
            <a:pPr algn="just"/>
            <a:r>
              <a:rPr lang="en-US" sz="2400" b="1" dirty="0"/>
              <a:t> Independent</a:t>
            </a:r>
            <a:r>
              <a:rPr lang="en-US" sz="2400" dirty="0"/>
              <a:t> </a:t>
            </a:r>
          </a:p>
          <a:p>
            <a:pPr algn="just"/>
            <a:r>
              <a:rPr lang="en-US" sz="2400" b="1" dirty="0"/>
              <a:t>Definable</a:t>
            </a:r>
            <a:endParaRPr lang="en-US" sz="2400" dirty="0"/>
          </a:p>
          <a:p>
            <a:pPr algn="just"/>
            <a:r>
              <a:rPr lang="en-US" sz="2400" b="1" dirty="0"/>
              <a:t>Manageable</a:t>
            </a:r>
            <a:endParaRPr lang="en-US" sz="2400" dirty="0"/>
          </a:p>
          <a:p>
            <a:pPr algn="just"/>
            <a:r>
              <a:rPr lang="en-US" sz="2400" b="1" dirty="0"/>
              <a:t>Adaptable</a:t>
            </a:r>
            <a:endParaRPr lang="en-US" sz="2400" dirty="0"/>
          </a:p>
          <a:p>
            <a:pPr algn="just"/>
            <a:r>
              <a:rPr lang="en-US" sz="2400" b="1" dirty="0"/>
              <a:t> </a:t>
            </a:r>
          </a:p>
          <a:p>
            <a:pPr lvl="0"/>
            <a:r>
              <a:rPr lang="en-US" sz="2400" b="1" dirty="0"/>
              <a:t>8/80 rule</a:t>
            </a:r>
          </a:p>
          <a:p>
            <a:pPr lvl="0"/>
            <a:r>
              <a:rPr lang="en-US" sz="2400" b="1" dirty="0"/>
              <a:t>Reporting period</a:t>
            </a:r>
            <a:endParaRPr lang="en-US" sz="2400" dirty="0"/>
          </a:p>
          <a:p>
            <a:pPr lvl="0"/>
            <a:r>
              <a:rPr lang="en-US" sz="2400" dirty="0"/>
              <a:t> </a:t>
            </a:r>
            <a:r>
              <a:rPr lang="en-US" sz="2400" b="1" dirty="0"/>
              <a:t>Use nouns: </a:t>
            </a:r>
            <a:endParaRPr lang="en-US" sz="2400" dirty="0"/>
          </a:p>
          <a:p>
            <a:pPr algn="just"/>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3643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57400" y="381001"/>
            <a:ext cx="6858000" cy="2716513"/>
          </a:xfrm>
          <a:prstGeom prst="rect">
            <a:avLst/>
          </a:prstGeom>
        </p:spPr>
        <p:txBody>
          <a:bodyPr wrap="square">
            <a:spAutoFit/>
          </a:bodyPr>
          <a:lstStyle/>
          <a:p>
            <a:pPr algn="just">
              <a:lnSpc>
                <a:spcPct val="107000"/>
              </a:lnSpc>
              <a:spcBef>
                <a:spcPts val="200"/>
              </a:spcBef>
            </a:pPr>
            <a:r>
              <a:rPr lang="en-US" sz="2400" b="1" dirty="0">
                <a:solidFill>
                  <a:srgbClr val="1F4D78"/>
                </a:solidFill>
                <a:latin typeface="Times New Roman" panose="02020603050405020304" pitchFamily="18" charset="0"/>
                <a:ea typeface="Times New Roman" panose="02020603050405020304" pitchFamily="18" charset="0"/>
                <a:cs typeface="Times New Roman" panose="02020603050405020304" pitchFamily="18" charset="0"/>
              </a:rPr>
              <a:t>. Use the Right WBS Format</a:t>
            </a:r>
          </a:p>
          <a:p>
            <a:pPr algn="just">
              <a:lnSpc>
                <a:spcPct val="107000"/>
              </a:lnSpc>
              <a:spcBef>
                <a:spcPts val="200"/>
              </a:spcBef>
            </a:pPr>
            <a:endParaRPr lang="en-US" sz="2400" b="1" dirty="0">
              <a:solidFill>
                <a:srgbClr val="1F4D78"/>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ts val="1875"/>
              </a:lnSpc>
              <a:spcAft>
                <a:spcPts val="750"/>
              </a:spcAft>
            </a:pPr>
            <a:r>
              <a:rPr lang="en-US" sz="2400" dirty="0">
                <a:solidFill>
                  <a:srgbClr val="464646"/>
                </a:solidFill>
                <a:latin typeface="Times New Roman" panose="02020603050405020304" pitchFamily="18" charset="0"/>
                <a:ea typeface="Times New Roman" panose="02020603050405020304" pitchFamily="18" charset="0"/>
                <a:cs typeface="Times New Roman" panose="02020603050405020304" pitchFamily="18" charset="0"/>
              </a:rPr>
              <a:t>Once you have all the work packages and WBS dictionary, it’s time to create the WBS.</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ts val="1875"/>
              </a:lnSpc>
              <a:spcAft>
                <a:spcPts val="750"/>
              </a:spcAft>
            </a:pPr>
            <a:r>
              <a:rPr lang="en-US" sz="2400" dirty="0">
                <a:solidFill>
                  <a:srgbClr val="464646"/>
                </a:solidFill>
                <a:latin typeface="Times New Roman" panose="02020603050405020304" pitchFamily="18" charset="0"/>
                <a:ea typeface="Times New Roman" panose="02020603050405020304" pitchFamily="18" charset="0"/>
                <a:cs typeface="Times New Roman" panose="02020603050405020304" pitchFamily="18" charset="0"/>
              </a:rPr>
              <a:t>There are several WBS formats you can follow. The simplest way to do this is to create text-based hierarchical groupings. By convention, you use numbers and decimal points to indicate the level of the element.</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3" name="Picture 2" descr="https://lh5.googleusercontent.com/DKphb-Kws6mQt_QRsk0SjhhljkUmj0cZqiZ1JCaowtPJ3cmbUM2wvzpElB_aSYMUpffMOP2h4l8KYqfv9YskcxPkktxMEX9gx2usUqR5gdBX07V327sO4gtggPbslOCLqcZhAmsH"/>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23487" y="3114719"/>
            <a:ext cx="2857500" cy="3133681"/>
          </a:xfrm>
          <a:prstGeom prst="rect">
            <a:avLst/>
          </a:prstGeom>
          <a:noFill/>
          <a:ln>
            <a:noFill/>
          </a:ln>
        </p:spPr>
      </p:pic>
      <p:pic>
        <p:nvPicPr>
          <p:cNvPr id="4" name="Picture 3" descr="https://lh6.googleusercontent.com/kAgmBR42oKIFFds9QLiR93gLBYSHurXDensFphBPPFSUskfTYnMN109dX-pyjuF9YAnIqmhA1J5xru4X2nSQVLokshyudSVsvAuNYpO1lYzk4XSXw_bCPl7zyRTOsI9qKpOcvDN4"/>
          <p:cNvPicPr/>
          <p:nvPr/>
        </p:nvPicPr>
        <p:blipFill>
          <a:blip r:embed="rId3">
            <a:extLst>
              <a:ext uri="{28A0092B-C50C-407E-A947-70E740481C1C}">
                <a14:useLocalDpi xmlns:a14="http://schemas.microsoft.com/office/drawing/2010/main" val="0"/>
              </a:ext>
            </a:extLst>
          </a:blip>
          <a:srcRect/>
          <a:stretch>
            <a:fillRect/>
          </a:stretch>
        </p:blipFill>
        <p:spPr bwMode="auto">
          <a:xfrm>
            <a:off x="2057400" y="3657600"/>
            <a:ext cx="3837940" cy="2590799"/>
          </a:xfrm>
          <a:prstGeom prst="rect">
            <a:avLst/>
          </a:prstGeom>
          <a:noFill/>
          <a:ln>
            <a:noFill/>
          </a:ln>
        </p:spPr>
      </p:pic>
    </p:spTree>
    <p:extLst>
      <p:ext uri="{BB962C8B-B14F-4D97-AF65-F5344CB8AC3E}">
        <p14:creationId xmlns:p14="http://schemas.microsoft.com/office/powerpoint/2010/main" val="24060949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7897" y="619121"/>
            <a:ext cx="4886915" cy="369332"/>
          </a:xfrm>
          <a:prstGeom prst="rect">
            <a:avLst/>
          </a:prstGeom>
        </p:spPr>
        <p:txBody>
          <a:bodyPr wrap="none">
            <a:spAutoFit/>
          </a:bodyPr>
          <a:lstStyle/>
          <a:p>
            <a:r>
              <a:rPr lang="en-GB" dirty="0">
                <a:solidFill>
                  <a:srgbClr val="2F3845"/>
                </a:solidFill>
                <a:latin typeface="-apple-system"/>
              </a:rPr>
              <a:t>Deliverable-Based Work Breakdown Structure</a:t>
            </a:r>
            <a:endParaRPr lang="en-GB" b="0" i="0" dirty="0">
              <a:solidFill>
                <a:srgbClr val="2F3845"/>
              </a:solidFill>
              <a:effectLst/>
              <a:latin typeface="-apple-system"/>
            </a:endParaRPr>
          </a:p>
        </p:txBody>
      </p:sp>
      <p:pic>
        <p:nvPicPr>
          <p:cNvPr id="3" name="Picture 2"/>
          <p:cNvPicPr>
            <a:picLocks noChangeAspect="1"/>
          </p:cNvPicPr>
          <p:nvPr/>
        </p:nvPicPr>
        <p:blipFill>
          <a:blip r:embed="rId2"/>
          <a:stretch>
            <a:fillRect/>
          </a:stretch>
        </p:blipFill>
        <p:spPr>
          <a:xfrm>
            <a:off x="1361921" y="1744457"/>
            <a:ext cx="7019925" cy="4371975"/>
          </a:xfrm>
          <a:prstGeom prst="rect">
            <a:avLst/>
          </a:prstGeom>
        </p:spPr>
      </p:pic>
    </p:spTree>
    <p:extLst>
      <p:ext uri="{BB962C8B-B14F-4D97-AF65-F5344CB8AC3E}">
        <p14:creationId xmlns:p14="http://schemas.microsoft.com/office/powerpoint/2010/main" val="18383072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8753" y="427392"/>
            <a:ext cx="4386778" cy="369332"/>
          </a:xfrm>
          <a:prstGeom prst="rect">
            <a:avLst/>
          </a:prstGeom>
        </p:spPr>
        <p:txBody>
          <a:bodyPr wrap="none">
            <a:spAutoFit/>
          </a:bodyPr>
          <a:lstStyle/>
          <a:p>
            <a:r>
              <a:rPr lang="en-GB" dirty="0">
                <a:solidFill>
                  <a:srgbClr val="2F3845"/>
                </a:solidFill>
                <a:latin typeface="-apple-system"/>
              </a:rPr>
              <a:t>Phase-Based Work Breakdown Structure</a:t>
            </a:r>
            <a:endParaRPr lang="en-GB" b="0" i="0" dirty="0">
              <a:solidFill>
                <a:srgbClr val="2F3845"/>
              </a:solidFill>
              <a:effectLst/>
              <a:latin typeface="-apple-system"/>
            </a:endParaRPr>
          </a:p>
        </p:txBody>
      </p:sp>
      <p:pic>
        <p:nvPicPr>
          <p:cNvPr id="3" name="Picture 2"/>
          <p:cNvPicPr>
            <a:picLocks noChangeAspect="1"/>
          </p:cNvPicPr>
          <p:nvPr/>
        </p:nvPicPr>
        <p:blipFill>
          <a:blip r:embed="rId2"/>
          <a:stretch>
            <a:fillRect/>
          </a:stretch>
        </p:blipFill>
        <p:spPr>
          <a:xfrm>
            <a:off x="318753" y="1455020"/>
            <a:ext cx="9422376" cy="4119870"/>
          </a:xfrm>
          <a:prstGeom prst="rect">
            <a:avLst/>
          </a:prstGeom>
        </p:spPr>
      </p:pic>
    </p:spTree>
    <p:extLst>
      <p:ext uri="{BB962C8B-B14F-4D97-AF65-F5344CB8AC3E}">
        <p14:creationId xmlns:p14="http://schemas.microsoft.com/office/powerpoint/2010/main" val="538077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5433" y="708952"/>
            <a:ext cx="2319866" cy="461665"/>
          </a:xfrm>
          <a:prstGeom prst="rect">
            <a:avLst/>
          </a:prstGeom>
        </p:spPr>
        <p:txBody>
          <a:bodyPr wrap="none">
            <a:spAutoFit/>
          </a:bodyPr>
          <a:lstStyle/>
          <a:p>
            <a:r>
              <a:rPr lang="en-GB" dirty="0"/>
              <a:t> </a:t>
            </a:r>
            <a:r>
              <a:rPr lang="en-GB" sz="2400" dirty="0">
                <a:solidFill>
                  <a:schemeClr val="accent1">
                    <a:lumMod val="50000"/>
                  </a:schemeClr>
                </a:solidFill>
                <a:latin typeface="Times New Roman" panose="02020603050405020304" pitchFamily="18" charset="0"/>
                <a:cs typeface="Times New Roman" panose="02020603050405020304" pitchFamily="18" charset="0"/>
              </a:rPr>
              <a:t>WBS dictionary </a:t>
            </a:r>
          </a:p>
        </p:txBody>
      </p:sp>
      <p:sp>
        <p:nvSpPr>
          <p:cNvPr id="3" name="Rectangle 2"/>
          <p:cNvSpPr/>
          <p:nvPr/>
        </p:nvSpPr>
        <p:spPr>
          <a:xfrm>
            <a:off x="575432" y="1332499"/>
            <a:ext cx="8928785" cy="1938992"/>
          </a:xfrm>
          <a:prstGeom prst="rect">
            <a:avLst/>
          </a:prstGeom>
        </p:spPr>
        <p:txBody>
          <a:bodyPr wrap="square">
            <a:spAutoFit/>
          </a:bodyPr>
          <a:lstStyle/>
          <a:p>
            <a:r>
              <a:rPr lang="en-GB" sz="2400" dirty="0">
                <a:solidFill>
                  <a:schemeClr val="accent1"/>
                </a:solidFill>
                <a:latin typeface="Times New Roman" panose="02020603050405020304" pitchFamily="18" charset="0"/>
                <a:cs typeface="Times New Roman" panose="02020603050405020304" pitchFamily="18" charset="0"/>
              </a:rPr>
              <a:t>The WBS dictionary is an important output of the Create WBS process—the WBS wouldn’t be nearly as useful without it.</a:t>
            </a:r>
          </a:p>
          <a:p>
            <a:endParaRPr lang="en-GB" sz="2400" dirty="0">
              <a:solidFill>
                <a:schemeClr val="accent1"/>
              </a:solidFill>
              <a:latin typeface="Times New Roman" panose="02020603050405020304" pitchFamily="18" charset="0"/>
              <a:cs typeface="Times New Roman" panose="02020603050405020304" pitchFamily="18" charset="0"/>
            </a:endParaRPr>
          </a:p>
          <a:p>
            <a:r>
              <a:rPr lang="en-GB" sz="2400" dirty="0">
                <a:solidFill>
                  <a:schemeClr val="accent1"/>
                </a:solidFill>
                <a:latin typeface="Times New Roman" panose="02020603050405020304" pitchFamily="18" charset="0"/>
                <a:cs typeface="Times New Roman" panose="02020603050405020304" pitchFamily="18" charset="0"/>
              </a:rPr>
              <a:t>The WBS dictionary contains the details of every work package. It’s a separate output of the Create WBS process</a:t>
            </a:r>
          </a:p>
        </p:txBody>
      </p:sp>
    </p:spTree>
    <p:extLst>
      <p:ext uri="{BB962C8B-B14F-4D97-AF65-F5344CB8AC3E}">
        <p14:creationId xmlns:p14="http://schemas.microsoft.com/office/powerpoint/2010/main" val="2292366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p:nvPr/>
        </p:nvSpPr>
        <p:spPr bwMode="auto">
          <a:xfrm>
            <a:off x="1676400" y="304800"/>
            <a:ext cx="8686800" cy="457200"/>
          </a:xfrm>
          <a:prstGeom prst="rect">
            <a:avLst/>
          </a:prstGeom>
          <a:noFill/>
          <a:ln w="9525">
            <a:noFill/>
            <a:miter lim="800000"/>
          </a:ln>
        </p:spPr>
        <p:txBody>
          <a:bodyPr vert="horz" wrap="square" lIns="91440" tIns="45720" rIns="91440" bIns="45720" numCol="1" anchor="ctr" anchorCtr="0" compatLnSpc="1"/>
          <a:lstStyle/>
          <a:p>
            <a:pPr lvl="0" algn="ctr" eaLnBrk="0" hangingPunct="0"/>
            <a:endParaRPr lang="en-US" sz="30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j-lt"/>
              <a:ea typeface="+mj-ea"/>
              <a:cs typeface="+mj-cs"/>
            </a:endParaRPr>
          </a:p>
        </p:txBody>
      </p:sp>
      <p:sp>
        <p:nvSpPr>
          <p:cNvPr id="9" name="Subtitle 5"/>
          <p:cNvSpPr txBox="1"/>
          <p:nvPr/>
        </p:nvSpPr>
        <p:spPr bwMode="auto">
          <a:xfrm>
            <a:off x="1752600" y="1828800"/>
            <a:ext cx="8610600" cy="4800600"/>
          </a:xfrm>
          <a:prstGeom prst="rect">
            <a:avLst/>
          </a:prstGeom>
          <a:noFill/>
          <a:ln w="9525">
            <a:noFill/>
            <a:miter lim="800000"/>
          </a:ln>
        </p:spPr>
        <p:txBody>
          <a:bodyPr vert="horz" wrap="square" lIns="91440" tIns="45720" rIns="91440" bIns="45720" numCol="1" anchor="t" anchorCtr="0" compatLnSpc="1"/>
          <a:lstStyle/>
          <a:p>
            <a:pPr algn="just" eaLnBrk="0" fontAlgn="base" hangingPunct="0">
              <a:spcBef>
                <a:spcPct val="20000"/>
              </a:spcBef>
              <a:spcAft>
                <a:spcPct val="0"/>
              </a:spcAft>
              <a:defRPr/>
            </a:pPr>
            <a:r>
              <a:rPr lang="en-US" sz="3200" dirty="0">
                <a:latin typeface="+mj-lt"/>
                <a:ea typeface="+mj-ea"/>
                <a:cs typeface="+mj-cs"/>
              </a:rPr>
              <a:t> </a:t>
            </a:r>
          </a:p>
          <a:p>
            <a:pPr algn="just" eaLnBrk="0" fontAlgn="base" hangingPunct="0">
              <a:spcBef>
                <a:spcPct val="20000"/>
              </a:spcBef>
              <a:spcAft>
                <a:spcPct val="0"/>
              </a:spcAft>
              <a:defRPr/>
            </a:pPr>
            <a:endParaRPr lang="en-US" sz="3200" dirty="0">
              <a:latin typeface="+mj-lt"/>
              <a:ea typeface="+mj-ea"/>
              <a:cs typeface="+mj-cs"/>
            </a:endParaRPr>
          </a:p>
        </p:txBody>
      </p:sp>
      <p:sp>
        <p:nvSpPr>
          <p:cNvPr id="4" name="Rectangle 3"/>
          <p:cNvSpPr/>
          <p:nvPr/>
        </p:nvSpPr>
        <p:spPr>
          <a:xfrm>
            <a:off x="2819400" y="3886200"/>
            <a:ext cx="5562600" cy="369332"/>
          </a:xfrm>
          <a:prstGeom prst="rect">
            <a:avLst/>
          </a:prstGeom>
        </p:spPr>
        <p:txBody>
          <a:bodyPr wrap="square">
            <a:spAutoFit/>
          </a:bodyPr>
          <a:lstStyle/>
          <a:p>
            <a:pPr>
              <a:defRPr/>
            </a:pPr>
            <a:r>
              <a:rPr lang="en-US" dirty="0"/>
              <a:t>. </a:t>
            </a:r>
          </a:p>
        </p:txBody>
      </p:sp>
      <p:pic>
        <p:nvPicPr>
          <p:cNvPr id="6" name="Content Placeholder 3" descr="Scope BL.JPG"/>
          <p:cNvPicPr>
            <a:picLocks noChangeAspect="1"/>
          </p:cNvPicPr>
          <p:nvPr/>
        </p:nvPicPr>
        <p:blipFill>
          <a:blip r:embed="rId2" cstate="print"/>
          <a:stretch>
            <a:fillRect/>
          </a:stretch>
        </p:blipFill>
        <p:spPr bwMode="auto">
          <a:xfrm>
            <a:off x="1524000" y="0"/>
            <a:ext cx="9144000" cy="2151860"/>
          </a:xfrm>
          <a:prstGeom prst="rect">
            <a:avLst/>
          </a:prstGeom>
          <a:noFill/>
          <a:ln w="9525">
            <a:noFill/>
            <a:miter lim="800000"/>
            <a:headEnd/>
            <a:tailEnd/>
          </a:ln>
        </p:spPr>
      </p:pic>
      <p:pic>
        <p:nvPicPr>
          <p:cNvPr id="2050" name="Picture 2" descr="C:\Users\Habib\Desktop\Sep 25 Class\Fundamentals of PM\WBS dic.JPG"/>
          <p:cNvPicPr>
            <a:picLocks noChangeAspect="1" noChangeArrowheads="1"/>
          </p:cNvPicPr>
          <p:nvPr/>
        </p:nvPicPr>
        <p:blipFill>
          <a:blip r:embed="rId3" cstate="print"/>
          <a:srcRect/>
          <a:stretch>
            <a:fillRect/>
          </a:stretch>
        </p:blipFill>
        <p:spPr bwMode="auto">
          <a:xfrm>
            <a:off x="1524000" y="2216728"/>
            <a:ext cx="9144000" cy="4641273"/>
          </a:xfrm>
          <a:prstGeom prst="rect">
            <a:avLst/>
          </a:prstGeom>
          <a:noFill/>
        </p:spPr>
      </p:pic>
    </p:spTree>
    <p:extLst>
      <p:ext uri="{BB962C8B-B14F-4D97-AF65-F5344CB8AC3E}">
        <p14:creationId xmlns:p14="http://schemas.microsoft.com/office/powerpoint/2010/main" val="33578249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15962"/>
          </a:xfrm>
        </p:spPr>
        <p:txBody>
          <a:bodyPr/>
          <a:lstStyle/>
          <a:p>
            <a:r>
              <a:rPr lang="en-US" dirty="0">
                <a:solidFill>
                  <a:srgbClr val="FF0000"/>
                </a:solidFill>
              </a:rPr>
              <a:t>WBS DICTIONARY TEMPLATE</a:t>
            </a:r>
          </a:p>
        </p:txBody>
      </p:sp>
      <p:pic>
        <p:nvPicPr>
          <p:cNvPr id="4" name="Content Placeholder 3" descr="WBS DIC temp.JPG"/>
          <p:cNvPicPr>
            <a:picLocks noGrp="1" noChangeAspect="1"/>
          </p:cNvPicPr>
          <p:nvPr>
            <p:ph idx="1"/>
          </p:nvPr>
        </p:nvPicPr>
        <p:blipFill>
          <a:blip r:embed="rId2" cstate="print"/>
          <a:stretch>
            <a:fillRect/>
          </a:stretch>
        </p:blipFill>
        <p:spPr>
          <a:xfrm>
            <a:off x="2209800" y="1219200"/>
            <a:ext cx="6096000" cy="5029200"/>
          </a:xfrm>
        </p:spPr>
      </p:pic>
    </p:spTree>
    <p:extLst>
      <p:ext uri="{BB962C8B-B14F-4D97-AF65-F5344CB8AC3E}">
        <p14:creationId xmlns:p14="http://schemas.microsoft.com/office/powerpoint/2010/main" val="24594913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25238" y="645535"/>
            <a:ext cx="7810932" cy="5464320"/>
          </a:xfrm>
          <a:prstGeom prst="rect">
            <a:avLst/>
          </a:prstGeom>
        </p:spPr>
      </p:pic>
    </p:spTree>
    <p:extLst>
      <p:ext uri="{BB962C8B-B14F-4D97-AF65-F5344CB8AC3E}">
        <p14:creationId xmlns:p14="http://schemas.microsoft.com/office/powerpoint/2010/main" val="38279902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10. Project Schedule Planning – Project Manage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1559" y="587353"/>
            <a:ext cx="7449754" cy="50853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28379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55964" y="642937"/>
            <a:ext cx="8411873" cy="6048808"/>
          </a:xfrm>
          <a:prstGeom prst="rect">
            <a:avLst/>
          </a:prstGeom>
        </p:spPr>
      </p:pic>
    </p:spTree>
    <p:extLst>
      <p:ext uri="{BB962C8B-B14F-4D97-AF65-F5344CB8AC3E}">
        <p14:creationId xmlns:p14="http://schemas.microsoft.com/office/powerpoint/2010/main" val="4289568887"/>
      </p:ext>
    </p:extLst>
  </p:cSld>
  <p:clrMapOvr>
    <a:masterClrMapping/>
  </p:clrMapOvr>
</p:sld>
</file>

<file path=ppt/theme/theme1.xml><?xml version="1.0" encoding="utf-8"?>
<a:theme xmlns:a="http://schemas.openxmlformats.org/drawingml/2006/main" name="Face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278</TotalTime>
  <Words>2751</Words>
  <Application>Microsoft Office PowerPoint</Application>
  <PresentationFormat>Widescreen</PresentationFormat>
  <Paragraphs>306</Paragraphs>
  <Slides>46</Slides>
  <Notes>2</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46</vt:i4>
      </vt:variant>
    </vt:vector>
  </HeadingPairs>
  <TitlesOfParts>
    <vt:vector size="59" baseType="lpstr">
      <vt:lpstr>-apple-system</vt:lpstr>
      <vt:lpstr>Arial</vt:lpstr>
      <vt:lpstr>Calibri</vt:lpstr>
      <vt:lpstr>Calibri Light</vt:lpstr>
      <vt:lpstr>Georgia</vt:lpstr>
      <vt:lpstr>inherit</vt:lpstr>
      <vt:lpstr>Symbol</vt:lpstr>
      <vt:lpstr>Times New Roman</vt:lpstr>
      <vt:lpstr>Trebuchet MS</vt:lpstr>
      <vt:lpstr>Wingdings</vt:lpstr>
      <vt:lpstr>Wingdings 3</vt:lpstr>
      <vt:lpstr>Facet</vt:lpstr>
      <vt:lpstr>1_Office Theme</vt:lpstr>
      <vt:lpstr>PowerPoint Presentation</vt:lpstr>
      <vt:lpstr>PowerPoint Presentation</vt:lpstr>
      <vt:lpstr>BUSINESS CASE</vt:lpstr>
      <vt:lpstr>         BUSINESS CASE EXERCISE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What Is An SOW?</vt:lpstr>
      <vt:lpstr>   Why is a Clear and Concise  SOW Important ?</vt:lpstr>
      <vt:lpstr>STATEMENT OF WORK   PROCESS OVERVIEW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WBS DICTIONARY TEMPLATE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Bahria</dc:creator>
  <cp:lastModifiedBy>sajid mahmood BUKC</cp:lastModifiedBy>
  <cp:revision>79</cp:revision>
  <dcterms:created xsi:type="dcterms:W3CDTF">2020-09-17T07:57:00Z</dcterms:created>
  <dcterms:modified xsi:type="dcterms:W3CDTF">2025-03-01T22:13:28Z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CB87B20DD82647989696BA3F7FA22A39</vt:lpwstr>
  </property>
  <property fmtid="{D5CDD505-2E9C-101B-9397-08002B2CF9AE}" pid="3" name="KSOProductBuildVer">
    <vt:lpwstr>1033-11.2.0.11210</vt:lpwstr>
  </property>
</Properties>
</file>