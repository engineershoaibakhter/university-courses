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452" r:id="rId3"/>
    <p:sldId id="467" r:id="rId4"/>
    <p:sldId id="468" r:id="rId5"/>
    <p:sldId id="470" r:id="rId6"/>
    <p:sldId id="472" r:id="rId7"/>
    <p:sldId id="473" r:id="rId8"/>
    <p:sldId id="453" r:id="rId9"/>
    <p:sldId id="474" r:id="rId10"/>
    <p:sldId id="477" r:id="rId11"/>
    <p:sldId id="476" r:id="rId12"/>
    <p:sldId id="456" r:id="rId13"/>
    <p:sldId id="483" r:id="rId14"/>
    <p:sldId id="458" r:id="rId15"/>
    <p:sldId id="475" r:id="rId16"/>
    <p:sldId id="459" r:id="rId17"/>
    <p:sldId id="461" r:id="rId18"/>
    <p:sldId id="462" r:id="rId19"/>
    <p:sldId id="478" r:id="rId20"/>
    <p:sldId id="479" r:id="rId21"/>
    <p:sldId id="480" r:id="rId22"/>
    <p:sldId id="481" r:id="rId23"/>
    <p:sldId id="48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E1D"/>
    <a:srgbClr val="008000"/>
    <a:srgbClr val="D68B1C"/>
    <a:srgbClr val="D09622"/>
    <a:srgbClr val="157FFF"/>
    <a:srgbClr val="F7E28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64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FEF12B-7DAB-4457-AC60-EAA0DAD6BCF4}" type="datetimeFigureOut">
              <a:rPr lang="en-US" smtClean="0"/>
              <a:pPr/>
              <a:t>3/16/2025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434123-F2F4-4EED-A50E-42F1E7A18F5F}" type="slidenum">
              <a:rPr lang="en-US" smtClean="0"/>
              <a:pPr/>
              <a:t>‹#›</a:t>
            </a:fld>
            <a:endParaRPr lang="en-US"/>
          </a:p>
        </p:txBody>
      </p:sp>
    </p:spTree>
    <p:extLst>
      <p:ext uri="{BB962C8B-B14F-4D97-AF65-F5344CB8AC3E}">
        <p14:creationId xmlns:p14="http://schemas.microsoft.com/office/powerpoint/2010/main" val="422743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2207360"/>
            <a:ext cx="77724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434130" y="4039820"/>
            <a:ext cx="64008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4375" y="527605"/>
            <a:ext cx="8229600" cy="610820"/>
          </a:xfrm>
        </p:spPr>
        <p:txBody>
          <a:bodyPr>
            <a:normAutofit/>
          </a:bodyPr>
          <a:lstStyle>
            <a:lvl1pPr algn="r">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754374" y="1443835"/>
            <a:ext cx="7482545"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23310" y="527605"/>
            <a:ext cx="7016195" cy="684885"/>
          </a:xfrm>
        </p:spPr>
        <p:txBody>
          <a:bodyPr>
            <a:normAutofit/>
          </a:bodyPr>
          <a:lstStyle>
            <a:lvl1pPr algn="l">
              <a:defRPr sz="3600">
                <a:solidFill>
                  <a:srgbClr val="00B0F0"/>
                </a:solidFill>
              </a:defRPr>
            </a:lvl1pPr>
          </a:lstStyle>
          <a:p>
            <a:r>
              <a:rPr lang="en-US" dirty="0"/>
              <a:t>Click to edit Master title style</a:t>
            </a:r>
          </a:p>
        </p:txBody>
      </p:sp>
      <p:sp>
        <p:nvSpPr>
          <p:cNvPr id="3" name="Content Placeholder 2"/>
          <p:cNvSpPr>
            <a:spLocks noGrp="1"/>
          </p:cNvSpPr>
          <p:nvPr>
            <p:ph idx="1"/>
          </p:nvPr>
        </p:nvSpPr>
        <p:spPr>
          <a:xfrm>
            <a:off x="1823310" y="1443835"/>
            <a:ext cx="7016195"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56010" y="527605"/>
            <a:ext cx="6244435" cy="532180"/>
          </a:xfrm>
        </p:spPr>
        <p:txBody>
          <a:bodyPr>
            <a:normAutofit/>
          </a:bodyPr>
          <a:lstStyle>
            <a:lvl1pPr algn="r">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601671" y="1596540"/>
            <a:ext cx="3817624"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1671" y="2226403"/>
            <a:ext cx="3817624"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705" y="1596540"/>
            <a:ext cx="3970330"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724705" y="2226403"/>
            <a:ext cx="3970330"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3/16/2025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3/16/2025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9050" y="5389653"/>
            <a:ext cx="3044950" cy="1443835"/>
          </a:xfrm>
        </p:spPr>
        <p:txBody>
          <a:bodyPr>
            <a:noAutofit/>
          </a:bodyPr>
          <a:lstStyle/>
          <a:p>
            <a:pPr algn="ctr"/>
            <a:r>
              <a:rPr lang="en-US" sz="2000" b="1" i="1" dirty="0">
                <a:solidFill>
                  <a:schemeClr val="bg1">
                    <a:lumMod val="95000"/>
                  </a:schemeClr>
                </a:solidFill>
                <a:latin typeface="Georgia" pitchFamily="18" charset="0"/>
              </a:rPr>
              <a:t>LECTURE # 7</a:t>
            </a:r>
          </a:p>
        </p:txBody>
      </p:sp>
      <p:sp>
        <p:nvSpPr>
          <p:cNvPr id="48132" name="AutoShape 4" descr="Image result for mumbai dabbawala">
            <a:hlinkClick r:id="rId3"/>
          </p:cNvPr>
          <p:cNvSpPr>
            <a:spLocks noChangeAspect="1" noChangeArrowheads="1"/>
          </p:cNvSpPr>
          <p:nvPr/>
        </p:nvSpPr>
        <p:spPr bwMode="auto">
          <a:xfrm>
            <a:off x="117475" y="-1668463"/>
            <a:ext cx="6143625" cy="348615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3" name="Rectangle 12"/>
          <p:cNvSpPr/>
          <p:nvPr/>
        </p:nvSpPr>
        <p:spPr>
          <a:xfrm>
            <a:off x="2808312" y="2348880"/>
            <a:ext cx="6516216" cy="1446550"/>
          </a:xfrm>
          <a:prstGeom prst="rect">
            <a:avLst/>
          </a:prstGeom>
        </p:spPr>
        <p:txBody>
          <a:bodyPr wrap="square">
            <a:spAutoFit/>
          </a:bodyPr>
          <a:lstStyle/>
          <a:p>
            <a:pPr algn="ctr"/>
            <a:r>
              <a:rPr lang="en-US" sz="4400" b="1" dirty="0"/>
              <a:t>Project Management Principles and Practices</a:t>
            </a:r>
          </a:p>
        </p:txBody>
      </p:sp>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4387" y="1714488"/>
            <a:ext cx="2468880"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920370"/>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655A8E-8C07-48D9-83D9-CE564CE54210}"/>
              </a:ext>
            </a:extLst>
          </p:cNvPr>
          <p:cNvSpPr>
            <a:spLocks noGrp="1"/>
          </p:cNvSpPr>
          <p:nvPr>
            <p:ph type="ctrTitle"/>
          </p:nvPr>
        </p:nvSpPr>
        <p:spPr>
          <a:xfrm>
            <a:off x="3491880" y="260648"/>
            <a:ext cx="5468144" cy="763525"/>
          </a:xfrm>
        </p:spPr>
        <p:txBody>
          <a:bodyPr>
            <a:normAutofit/>
          </a:bodyPr>
          <a:lstStyle/>
          <a:p>
            <a:pPr algn="ctr"/>
            <a:r>
              <a:rPr lang="en-US" b="1" dirty="0">
                <a:solidFill>
                  <a:schemeClr val="tx1"/>
                </a:solidFill>
              </a:rPr>
              <a:t>Project Stakeholders</a:t>
            </a:r>
          </a:p>
        </p:txBody>
      </p:sp>
      <p:pic>
        <p:nvPicPr>
          <p:cNvPr id="5122" name="Picture 2" descr="What is a Stakeholder in Project Management? | Plani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212202">
            <a:off x="180880" y="1761055"/>
            <a:ext cx="2789681" cy="139199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Four Reasons Why You Struggle to Engage Stakeholders - Project Risk Coa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636911"/>
            <a:ext cx="6264696" cy="3855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951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3807" y="527605"/>
            <a:ext cx="6140167" cy="610820"/>
          </a:xfrm>
        </p:spPr>
        <p:txBody>
          <a:bodyPr>
            <a:noAutofit/>
          </a:bodyPr>
          <a:lstStyle/>
          <a:p>
            <a:pPr algn="ctr"/>
            <a:r>
              <a:rPr lang="en-US" b="1" dirty="0">
                <a:solidFill>
                  <a:schemeClr val="tx1"/>
                </a:solidFill>
              </a:rPr>
              <a:t>STAKEHOLDERS</a:t>
            </a:r>
          </a:p>
        </p:txBody>
      </p:sp>
      <p:sp>
        <p:nvSpPr>
          <p:cNvPr id="3" name="Content Placeholder 2"/>
          <p:cNvSpPr>
            <a:spLocks noGrp="1"/>
          </p:cNvSpPr>
          <p:nvPr>
            <p:ph idx="1"/>
          </p:nvPr>
        </p:nvSpPr>
        <p:spPr>
          <a:xfrm>
            <a:off x="323528" y="1371827"/>
            <a:ext cx="8424936" cy="5153517"/>
          </a:xfrm>
        </p:spPr>
        <p:txBody>
          <a:bodyPr>
            <a:normAutofit lnSpcReduction="10000"/>
          </a:bodyPr>
          <a:lstStyle/>
          <a:p>
            <a:r>
              <a:rPr lang="en-US" sz="2400" dirty="0"/>
              <a:t>A stakeholder is anybody who has interest in your project.</a:t>
            </a:r>
          </a:p>
          <a:p>
            <a:endParaRPr lang="en-US" sz="2400" dirty="0"/>
          </a:p>
          <a:p>
            <a:r>
              <a:rPr lang="en-US" sz="2400" dirty="0"/>
              <a:t>According to the Project Management Institute, project stakeholders are defined as:</a:t>
            </a:r>
          </a:p>
          <a:p>
            <a:pPr marL="0" indent="0">
              <a:buNone/>
            </a:pPr>
            <a:r>
              <a:rPr lang="en-US" sz="2400" dirty="0"/>
              <a:t>“Individuals and organizations who are actively involved in the project, or whose interests may be positively or negatively affected as a result of project execution or successful project completion.”</a:t>
            </a:r>
          </a:p>
          <a:p>
            <a:endParaRPr lang="en-US" sz="2400" dirty="0"/>
          </a:p>
          <a:p>
            <a:r>
              <a:rPr lang="en-US" sz="2400" dirty="0"/>
              <a:t>According to the PMBOK Guide, “A stakeholder is an individual, group, or organization who may affect, be affected by or perceive itself to be affected by a decision, activity, or outcome of a project.”</a:t>
            </a:r>
          </a:p>
        </p:txBody>
      </p:sp>
    </p:spTree>
    <p:extLst>
      <p:ext uri="{BB962C8B-B14F-4D97-AF65-F5344CB8AC3E}">
        <p14:creationId xmlns:p14="http://schemas.microsoft.com/office/powerpoint/2010/main" val="982989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4361" y="260648"/>
            <a:ext cx="5996151" cy="610820"/>
          </a:xfrm>
        </p:spPr>
        <p:txBody>
          <a:bodyPr>
            <a:normAutofit/>
          </a:bodyPr>
          <a:lstStyle/>
          <a:p>
            <a:pPr algn="ctr"/>
            <a:r>
              <a:rPr lang="en-US" sz="2800" dirty="0">
                <a:solidFill>
                  <a:schemeClr val="tx1"/>
                </a:solidFill>
              </a:rPr>
              <a:t>WHY STAKE HOLDERS ARE IMPORTANT?</a:t>
            </a:r>
          </a:p>
        </p:txBody>
      </p:sp>
      <p:sp>
        <p:nvSpPr>
          <p:cNvPr id="3" name="Content Placeholder 2"/>
          <p:cNvSpPr>
            <a:spLocks noGrp="1"/>
          </p:cNvSpPr>
          <p:nvPr>
            <p:ph idx="1"/>
          </p:nvPr>
        </p:nvSpPr>
        <p:spPr>
          <a:xfrm>
            <a:off x="107504" y="1268760"/>
            <a:ext cx="8856984" cy="5040560"/>
          </a:xfrm>
        </p:spPr>
        <p:txBody>
          <a:bodyPr>
            <a:noAutofit/>
          </a:bodyPr>
          <a:lstStyle/>
          <a:p>
            <a:r>
              <a:rPr lang="en-US" sz="1200" b="1" dirty="0"/>
              <a:t>1. Providing Expertise</a:t>
            </a:r>
            <a:br>
              <a:rPr lang="en-US" sz="1200" dirty="0"/>
            </a:br>
            <a:r>
              <a:rPr lang="en-US" sz="1200" dirty="0"/>
              <a:t>Stakeholders are a wealth of knowledge about current processes, historical information, and industry insight. Many times these team members will have been at the company or on the project longer than the project manager or project team. It’s important to involve all key stakeholders when gathering and documenting requirements to avoid missing major deliverables of the project. Project managers, or others who are in charge of deliverables, may not be experts on every project. Key stakeholders can provide requirements or constraints based on information from their industry that will be important to have when understanding project constraints and risks. </a:t>
            </a:r>
            <a:br>
              <a:rPr lang="en-US" sz="1200" dirty="0"/>
            </a:br>
            <a:br>
              <a:rPr lang="en-US" sz="1200" dirty="0"/>
            </a:br>
            <a:r>
              <a:rPr lang="en-US" sz="1200" b="1" dirty="0"/>
              <a:t>2. Reducing and Uncovering Risk</a:t>
            </a:r>
            <a:br>
              <a:rPr lang="en-US" sz="1200" dirty="0"/>
            </a:br>
            <a:r>
              <a:rPr lang="en-US" sz="1200" dirty="0"/>
              <a:t>The more you engage and involve stakeholders, the more you will reduce and uncover risks on your project. When discussing initial requirements, project needs, and constraints, stakeholders may bring up issues or concerns about meeting those things. Uncovering risks and then discussing a plan to mitigate them before issues arise will dramatically increase the success of your project. Involving knowledgeable stakeholders during this process will help. </a:t>
            </a:r>
            <a:br>
              <a:rPr lang="en-US" sz="1200" dirty="0"/>
            </a:br>
            <a:br>
              <a:rPr lang="en-US" sz="1200" dirty="0"/>
            </a:br>
            <a:r>
              <a:rPr lang="en-US" sz="1200" b="1" dirty="0"/>
              <a:t>3. Increasing Project Success</a:t>
            </a:r>
            <a:br>
              <a:rPr lang="en-US" sz="1200" dirty="0"/>
            </a:br>
            <a:r>
              <a:rPr lang="en-US" sz="1200" dirty="0"/>
              <a:t>By gathering and reviewing project requirements with stakeholders, you will get their “buy-in,” which will in turn help increase project success. If you can’t meet stakeholders’ needs, due to conflicting needs or priorities, set expectations early in the project life cycle. This will help you manage the relationship throughout the project instead of there being surprises at the end. Stakeholders should always be aware of the project scope, key milestones, and when they will be expected to review any deliverables prior to final acceptance. </a:t>
            </a:r>
            <a:br>
              <a:rPr lang="en-US" sz="1200" dirty="0"/>
            </a:br>
            <a:br>
              <a:rPr lang="en-US" sz="1200" dirty="0"/>
            </a:br>
            <a:r>
              <a:rPr lang="en-US" sz="1200" b="1" dirty="0"/>
              <a:t>4. Granting Project Acceptance</a:t>
            </a:r>
            <a:br>
              <a:rPr lang="en-US" sz="1200" dirty="0"/>
            </a:br>
            <a:r>
              <a:rPr lang="en-US" sz="1200" dirty="0"/>
              <a:t>The more regularly you engage and involve stakeholders from the start, the more likely you will have a positive project conclusion. By the end of the project, the team members should have already been aware of delivery expectations, risks, and how to mitigate the risks. They also should have reviewed draft deliverables along the way. This process should help avoid any surprises at the end of your project. The final acceptance is just their final stamp of approval during the project closure phase. </a:t>
            </a:r>
          </a:p>
        </p:txBody>
      </p:sp>
    </p:spTree>
    <p:extLst>
      <p:ext uri="{BB962C8B-B14F-4D97-AF65-F5344CB8AC3E}">
        <p14:creationId xmlns:p14="http://schemas.microsoft.com/office/powerpoint/2010/main" val="252831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4" name="AutoShape 2" descr="Stakeholder Maps - Keep the Important People Happy | Interaction Design  Foundation (IxDF)"/>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descr="D:\bahria 2019\FOPM\Sumaiya\Lecture 5\New folder\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3" y="1752600"/>
            <a:ext cx="6351553" cy="39086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07975" y="5949280"/>
            <a:ext cx="8440489" cy="584775"/>
          </a:xfrm>
          <a:prstGeom prst="rect">
            <a:avLst/>
          </a:prstGeom>
          <a:noFill/>
        </p:spPr>
        <p:txBody>
          <a:bodyPr wrap="square" rtlCol="0">
            <a:spAutoFit/>
          </a:bodyPr>
          <a:lstStyle/>
          <a:p>
            <a:pPr algn="ctr"/>
            <a:r>
              <a:rPr lang="en-US" sz="3200" b="1" dirty="0">
                <a:solidFill>
                  <a:srgbClr val="FF0000"/>
                </a:solidFill>
              </a:rPr>
              <a:t>CAN YOU IDENTIFY ANY OTHER STAKEHOLDERS?</a:t>
            </a:r>
          </a:p>
        </p:txBody>
      </p:sp>
    </p:spTree>
    <p:extLst>
      <p:ext uri="{BB962C8B-B14F-4D97-AF65-F5344CB8AC3E}">
        <p14:creationId xmlns:p14="http://schemas.microsoft.com/office/powerpoint/2010/main" val="3111413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STAKEHOLDER MANAGEMENT</a:t>
            </a:r>
          </a:p>
        </p:txBody>
      </p:sp>
      <p:pic>
        <p:nvPicPr>
          <p:cNvPr id="2050" name="Picture 2" descr="D:\bahria 2019\FOPM\Sumaiya\Lecture 5\New folder\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88840"/>
            <a:ext cx="8496944"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615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4" name="Hexagon 3"/>
          <p:cNvSpPr/>
          <p:nvPr/>
        </p:nvSpPr>
        <p:spPr>
          <a:xfrm>
            <a:off x="1331639" y="3019583"/>
            <a:ext cx="1558693" cy="985481"/>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exagon 4"/>
          <p:cNvSpPr/>
          <p:nvPr/>
        </p:nvSpPr>
        <p:spPr>
          <a:xfrm>
            <a:off x="5580112" y="3140968"/>
            <a:ext cx="1800200" cy="985481"/>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p:cNvSpPr/>
          <p:nvPr/>
        </p:nvSpPr>
        <p:spPr>
          <a:xfrm>
            <a:off x="1331638" y="4328758"/>
            <a:ext cx="1700119" cy="972450"/>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exagon 6"/>
          <p:cNvSpPr/>
          <p:nvPr/>
        </p:nvSpPr>
        <p:spPr>
          <a:xfrm>
            <a:off x="5796136" y="4387735"/>
            <a:ext cx="1678149" cy="985481"/>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D:\bahria 2019\FOPM\Sumaiya\Lecture 5\New folder\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5445224"/>
            <a:ext cx="4828011" cy="1656184"/>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D:\bahria 2019\FOPM\Sumaiya\Lecture 5\New folder\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093490"/>
            <a:ext cx="4427985" cy="175944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bahria 2019\FOPM\Sumaiya\Lecture 5\New folder\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1143904"/>
            <a:ext cx="4283968" cy="1853047"/>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D:\bahria 2019\FOPM\Sumaiya\Lecture 5\New folder\5.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9" y="5329958"/>
            <a:ext cx="4137331" cy="169944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403648" y="3204265"/>
            <a:ext cx="1440160" cy="584775"/>
          </a:xfrm>
          <a:prstGeom prst="rect">
            <a:avLst/>
          </a:prstGeom>
          <a:noFill/>
        </p:spPr>
        <p:txBody>
          <a:bodyPr wrap="square" rtlCol="0">
            <a:spAutoFit/>
          </a:bodyPr>
          <a:lstStyle/>
          <a:p>
            <a:pPr algn="ctr"/>
            <a:r>
              <a:rPr lang="en-US" sz="1600" b="1" dirty="0">
                <a:solidFill>
                  <a:schemeClr val="bg1"/>
                </a:solidFill>
              </a:rPr>
              <a:t>1- IDENTIFY STAKEHOLDER</a:t>
            </a:r>
          </a:p>
        </p:txBody>
      </p:sp>
      <p:sp>
        <p:nvSpPr>
          <p:cNvPr id="15" name="TextBox 14"/>
          <p:cNvSpPr txBox="1"/>
          <p:nvPr/>
        </p:nvSpPr>
        <p:spPr>
          <a:xfrm>
            <a:off x="5760132" y="3140968"/>
            <a:ext cx="1440160" cy="830997"/>
          </a:xfrm>
          <a:prstGeom prst="rect">
            <a:avLst/>
          </a:prstGeom>
          <a:noFill/>
        </p:spPr>
        <p:txBody>
          <a:bodyPr wrap="square" rtlCol="0">
            <a:spAutoFit/>
          </a:bodyPr>
          <a:lstStyle/>
          <a:p>
            <a:pPr algn="ctr"/>
            <a:r>
              <a:rPr lang="en-US" sz="1600" b="1" dirty="0">
                <a:solidFill>
                  <a:schemeClr val="bg1"/>
                </a:solidFill>
              </a:rPr>
              <a:t>2- PLAN STAKEHOLDER</a:t>
            </a:r>
          </a:p>
          <a:p>
            <a:pPr algn="ctr"/>
            <a:r>
              <a:rPr lang="en-US" sz="1600" b="1" dirty="0">
                <a:solidFill>
                  <a:schemeClr val="bg1"/>
                </a:solidFill>
              </a:rPr>
              <a:t>ENGAGEMENT</a:t>
            </a:r>
          </a:p>
        </p:txBody>
      </p:sp>
      <p:sp>
        <p:nvSpPr>
          <p:cNvPr id="18" name="TextBox 17"/>
          <p:cNvSpPr txBox="1"/>
          <p:nvPr/>
        </p:nvSpPr>
        <p:spPr>
          <a:xfrm>
            <a:off x="5915130" y="4464975"/>
            <a:ext cx="1440160" cy="830997"/>
          </a:xfrm>
          <a:prstGeom prst="rect">
            <a:avLst/>
          </a:prstGeom>
          <a:noFill/>
        </p:spPr>
        <p:txBody>
          <a:bodyPr wrap="square" rtlCol="0">
            <a:spAutoFit/>
          </a:bodyPr>
          <a:lstStyle/>
          <a:p>
            <a:pPr algn="ctr"/>
            <a:r>
              <a:rPr lang="en-US" sz="1600" b="1" dirty="0">
                <a:solidFill>
                  <a:schemeClr val="bg1"/>
                </a:solidFill>
              </a:rPr>
              <a:t>3- MANAGE</a:t>
            </a:r>
          </a:p>
          <a:p>
            <a:pPr algn="ctr"/>
            <a:r>
              <a:rPr lang="en-US" sz="1600" b="1" dirty="0">
                <a:solidFill>
                  <a:schemeClr val="bg1"/>
                </a:solidFill>
              </a:rPr>
              <a:t>STAKEHOLDER</a:t>
            </a:r>
          </a:p>
          <a:p>
            <a:pPr algn="ctr"/>
            <a:r>
              <a:rPr lang="en-US" sz="1600" b="1" dirty="0">
                <a:solidFill>
                  <a:schemeClr val="bg1"/>
                </a:solidFill>
              </a:rPr>
              <a:t>ENGAGEMENT</a:t>
            </a:r>
          </a:p>
        </p:txBody>
      </p:sp>
      <p:sp>
        <p:nvSpPr>
          <p:cNvPr id="19" name="TextBox 18"/>
          <p:cNvSpPr txBox="1"/>
          <p:nvPr/>
        </p:nvSpPr>
        <p:spPr>
          <a:xfrm>
            <a:off x="1493911" y="4398203"/>
            <a:ext cx="1440160" cy="830997"/>
          </a:xfrm>
          <a:prstGeom prst="rect">
            <a:avLst/>
          </a:prstGeom>
          <a:noFill/>
        </p:spPr>
        <p:txBody>
          <a:bodyPr wrap="square" rtlCol="0">
            <a:spAutoFit/>
          </a:bodyPr>
          <a:lstStyle/>
          <a:p>
            <a:pPr algn="ctr"/>
            <a:r>
              <a:rPr lang="en-US" sz="1600" b="1" dirty="0">
                <a:solidFill>
                  <a:schemeClr val="bg1"/>
                </a:solidFill>
              </a:rPr>
              <a:t>4- MANAGE</a:t>
            </a:r>
          </a:p>
          <a:p>
            <a:pPr algn="ctr"/>
            <a:r>
              <a:rPr lang="en-US" sz="1600" b="1" dirty="0">
                <a:solidFill>
                  <a:schemeClr val="bg1"/>
                </a:solidFill>
              </a:rPr>
              <a:t>STAKEHOLDER</a:t>
            </a:r>
          </a:p>
          <a:p>
            <a:pPr algn="ctr"/>
            <a:r>
              <a:rPr lang="en-US" sz="1600" b="1" dirty="0">
                <a:solidFill>
                  <a:schemeClr val="bg1"/>
                </a:solidFill>
              </a:rPr>
              <a:t>ENGAGEMENT</a:t>
            </a:r>
          </a:p>
        </p:txBody>
      </p:sp>
    </p:spTree>
    <p:extLst>
      <p:ext uri="{BB962C8B-B14F-4D97-AF65-F5344CB8AC3E}">
        <p14:creationId xmlns:p14="http://schemas.microsoft.com/office/powerpoint/2010/main" val="1155415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51806CBF-C870-4472-A232-EE5C0FCE1D87}"/>
              </a:ext>
            </a:extLst>
          </p:cNvPr>
          <p:cNvSpPr>
            <a:spLocks noGrp="1" noChangeArrowheads="1"/>
          </p:cNvSpPr>
          <p:nvPr>
            <p:ph type="body" idx="1"/>
          </p:nvPr>
        </p:nvSpPr>
        <p:spPr>
          <a:xfrm>
            <a:off x="0" y="1443834"/>
            <a:ext cx="8820472" cy="5414165"/>
          </a:xfrm>
        </p:spPr>
        <p:txBody>
          <a:bodyPr>
            <a:normAutofit fontScale="77500" lnSpcReduction="20000"/>
          </a:bodyPr>
          <a:lstStyle/>
          <a:p>
            <a:pPr eaLnBrk="1" hangingPunct="1"/>
            <a:r>
              <a:rPr lang="en-US" altLang="en-US" dirty="0"/>
              <a:t>Project Management Maxims:</a:t>
            </a:r>
          </a:p>
          <a:p>
            <a:pPr lvl="1" eaLnBrk="1" hangingPunct="1"/>
            <a:r>
              <a:rPr lang="en-US" altLang="en-US" dirty="0"/>
              <a:t>You can’t do it all and get it all done.</a:t>
            </a:r>
          </a:p>
          <a:p>
            <a:pPr lvl="2" eaLnBrk="1" hangingPunct="1"/>
            <a:r>
              <a:rPr lang="en-US" altLang="en-US" dirty="0"/>
              <a:t>Projects usually involve a vast web of relationships.</a:t>
            </a:r>
          </a:p>
          <a:p>
            <a:pPr lvl="1" eaLnBrk="1" hangingPunct="1"/>
            <a:r>
              <a:rPr lang="en-US" altLang="en-US" dirty="0"/>
              <a:t>Hands-on work is not the same as leading.</a:t>
            </a:r>
          </a:p>
          <a:p>
            <a:pPr lvl="2" eaLnBrk="1" hangingPunct="1"/>
            <a:r>
              <a:rPr lang="en-US" altLang="en-US" dirty="0"/>
              <a:t>More pressure and more involvement can reduce your effectiveness as a leader.</a:t>
            </a:r>
          </a:p>
          <a:p>
            <a:pPr lvl="1" eaLnBrk="1" hangingPunct="1"/>
            <a:r>
              <a:rPr lang="en-US" altLang="en-US" dirty="0"/>
              <a:t>What’s important to you likely isn’t as important to someone else.</a:t>
            </a:r>
          </a:p>
          <a:p>
            <a:pPr lvl="2" eaLnBrk="1" hangingPunct="1"/>
            <a:r>
              <a:rPr lang="en-US" altLang="en-US" dirty="0"/>
              <a:t>Different groups have different stakes (responsibilities, agendas, and priorities) in the outcome of a project.</a:t>
            </a:r>
          </a:p>
          <a:p>
            <a:pPr lvl="1" eaLnBrk="1" hangingPunct="1"/>
            <a:r>
              <a:rPr lang="en-US" altLang="en-US" dirty="0"/>
              <a:t>Remember: Project Management is tough, exciting, and rewarding</a:t>
            </a:r>
            <a:r>
              <a:rPr lang="en-US" altLang="en-US" dirty="0">
                <a:cs typeface="Arial" panose="020B0604020202020204" pitchFamily="34" charset="0"/>
              </a:rPr>
              <a:t>—endeavor to persevere.</a:t>
            </a:r>
          </a:p>
          <a:p>
            <a:pPr lvl="1"/>
            <a:r>
              <a:rPr lang="en-US" dirty="0"/>
              <a:t>To successfully complete a project, a manager needs not only to have a command of project estimation techniques, but to create positive relationship with stakeholders. Only when stakeholders’ expectations and agreed objectives are met, a project can be considered successful.</a:t>
            </a:r>
          </a:p>
          <a:p>
            <a:pPr lvl="1"/>
            <a:r>
              <a:rPr lang="en-US" dirty="0"/>
              <a:t>Even successfully completed goals within budget frames can be considered a failure because a key stakeholder may not be satisfied.</a:t>
            </a:r>
            <a:endParaRPr lang="en-US" altLang="en-US" dirty="0">
              <a:cs typeface="Arial" panose="020B0604020202020204" pitchFamily="34" charset="0"/>
            </a:endParaRPr>
          </a:p>
        </p:txBody>
      </p:sp>
      <p:sp>
        <p:nvSpPr>
          <p:cNvPr id="4" name="object 4">
            <a:extLst>
              <a:ext uri="{FF2B5EF4-FFF2-40B4-BE49-F238E27FC236}">
                <a16:creationId xmlns:a16="http://schemas.microsoft.com/office/drawing/2014/main" id="{34CFAD35-090D-437C-BA66-5D4A8FFAFEDC}"/>
              </a:ext>
            </a:extLst>
          </p:cNvPr>
          <p:cNvSpPr txBox="1">
            <a:spLocks/>
          </p:cNvSpPr>
          <p:nvPr/>
        </p:nvSpPr>
        <p:spPr>
          <a:xfrm>
            <a:off x="1887016" y="460266"/>
            <a:ext cx="8229600" cy="592470"/>
          </a:xfrm>
          <a:prstGeom prst="rect">
            <a:avLst/>
          </a:prstGeom>
          <a:solidFill>
            <a:srgbClr val="7F7F7F">
              <a:alpha val="50000"/>
            </a:srgbClr>
          </a:solidFill>
          <a:ln w="9344">
            <a:solidFill>
              <a:srgbClr val="4C4C4C"/>
            </a:solidFill>
          </a:ln>
        </p:spPr>
        <p:txBody>
          <a:bodyPr vert="horz" wrap="square" lIns="0" tIns="99060" rIns="0" bIns="0" rtlCol="0" anchor="ctr">
            <a:sp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11143">
              <a:spcBef>
                <a:spcPts val="780"/>
              </a:spcBef>
            </a:pPr>
            <a:r>
              <a:rPr lang="en-US" sz="3200" spc="-5" dirty="0">
                <a:solidFill>
                  <a:srgbClr val="F7F7F7"/>
                </a:solidFill>
              </a:rPr>
              <a:t>Managing Project Stakeholders</a:t>
            </a:r>
            <a:endParaRPr lang="en-US" sz="3200" dirty="0"/>
          </a:p>
        </p:txBody>
      </p:sp>
    </p:spTree>
    <p:extLst>
      <p:ext uri="{BB962C8B-B14F-4D97-AF65-F5344CB8AC3E}">
        <p14:creationId xmlns:p14="http://schemas.microsoft.com/office/powerpoint/2010/main" val="2826550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3887" y="260648"/>
            <a:ext cx="5420087" cy="610820"/>
          </a:xfrm>
        </p:spPr>
        <p:txBody>
          <a:bodyPr>
            <a:noAutofit/>
          </a:bodyPr>
          <a:lstStyle/>
          <a:p>
            <a:pPr algn="ctr"/>
            <a:r>
              <a:rPr lang="en-US" sz="4000" dirty="0">
                <a:solidFill>
                  <a:schemeClr val="tx1"/>
                </a:solidFill>
              </a:rPr>
              <a:t>IDENTIFY STAKEHOLDERS</a:t>
            </a:r>
          </a:p>
        </p:txBody>
      </p:sp>
      <p:sp>
        <p:nvSpPr>
          <p:cNvPr id="4" name="TextBox 3"/>
          <p:cNvSpPr txBox="1"/>
          <p:nvPr/>
        </p:nvSpPr>
        <p:spPr>
          <a:xfrm>
            <a:off x="251520" y="2119496"/>
            <a:ext cx="8712968" cy="2677656"/>
          </a:xfrm>
          <a:prstGeom prst="rect">
            <a:avLst/>
          </a:prstGeom>
          <a:noFill/>
        </p:spPr>
        <p:txBody>
          <a:bodyPr wrap="square" rtlCol="0">
            <a:spAutoFit/>
          </a:bodyPr>
          <a:lstStyle/>
          <a:p>
            <a:pPr algn="ctr"/>
            <a:r>
              <a:rPr lang="en-US" sz="2800" dirty="0"/>
              <a:t>Identify Stakeholders is the process of identify people, groups, or organizations that may impact or be impacted by your project. This process collects relevant information about your stakeholders and monitors their interests. Identifying and analyzing your stakeholders can minimize change resistors and lead to project success.</a:t>
            </a:r>
          </a:p>
        </p:txBody>
      </p:sp>
    </p:spTree>
    <p:extLst>
      <p:ext uri="{BB962C8B-B14F-4D97-AF65-F5344CB8AC3E}">
        <p14:creationId xmlns:p14="http://schemas.microsoft.com/office/powerpoint/2010/main" val="3591642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1879" y="527605"/>
            <a:ext cx="5492095" cy="610820"/>
          </a:xfrm>
        </p:spPr>
        <p:txBody>
          <a:bodyPr>
            <a:noAutofit/>
          </a:bodyPr>
          <a:lstStyle/>
          <a:p>
            <a:pPr algn="ctr"/>
            <a:r>
              <a:rPr lang="en-US" b="1" dirty="0">
                <a:solidFill>
                  <a:schemeClr val="tx1"/>
                </a:solidFill>
              </a:rPr>
              <a:t>STAKEHOLDER ANALYSIS</a:t>
            </a:r>
          </a:p>
        </p:txBody>
      </p:sp>
      <p:sp>
        <p:nvSpPr>
          <p:cNvPr id="3" name="Content Placeholder 2"/>
          <p:cNvSpPr>
            <a:spLocks noGrp="1"/>
          </p:cNvSpPr>
          <p:nvPr>
            <p:ph idx="1"/>
          </p:nvPr>
        </p:nvSpPr>
        <p:spPr>
          <a:xfrm>
            <a:off x="350729" y="1584154"/>
            <a:ext cx="8397735" cy="4581150"/>
          </a:xfrm>
        </p:spPr>
        <p:txBody>
          <a:bodyPr>
            <a:normAutofit lnSpcReduction="10000"/>
          </a:bodyPr>
          <a:lstStyle/>
          <a:p>
            <a:r>
              <a:rPr lang="en-US" sz="2400" dirty="0"/>
              <a:t>This is part of the Identify Stakeholders process. But it is a substantial and important task. Big enough to merit its own stage in most methodologies</a:t>
            </a:r>
          </a:p>
          <a:p>
            <a:endParaRPr lang="en-US" sz="2400" dirty="0"/>
          </a:p>
          <a:p>
            <a:r>
              <a:rPr lang="en-US" sz="2400" dirty="0"/>
              <a:t>It’s a tool to identify :</a:t>
            </a:r>
          </a:p>
          <a:p>
            <a:pPr marL="457200" indent="-457200">
              <a:buFont typeface="+mj-lt"/>
              <a:buAutoNum type="arabicPeriod"/>
            </a:pPr>
            <a:r>
              <a:rPr lang="en-US" sz="2400" dirty="0"/>
              <a:t>Stakeholder position in organization</a:t>
            </a:r>
          </a:p>
          <a:p>
            <a:pPr marL="457200" indent="-457200">
              <a:buFont typeface="+mj-lt"/>
              <a:buAutoNum type="arabicPeriod"/>
            </a:pPr>
            <a:r>
              <a:rPr lang="en-US" sz="2400" dirty="0"/>
              <a:t>Role on the project</a:t>
            </a:r>
          </a:p>
          <a:p>
            <a:pPr marL="457200" indent="-457200">
              <a:buFont typeface="+mj-lt"/>
              <a:buAutoNum type="arabicPeriod"/>
            </a:pPr>
            <a:r>
              <a:rPr lang="en-US" sz="2400" dirty="0"/>
              <a:t>Stakes (Interest, Rights, Ownership, Knowledge, Contribution)</a:t>
            </a:r>
          </a:p>
          <a:p>
            <a:pPr marL="457200" indent="-457200">
              <a:buFont typeface="+mj-lt"/>
              <a:buAutoNum type="arabicPeriod"/>
            </a:pPr>
            <a:r>
              <a:rPr lang="en-US" sz="2400" dirty="0"/>
              <a:t>Expectations</a:t>
            </a:r>
          </a:p>
          <a:p>
            <a:pPr marL="457200" indent="-457200">
              <a:buFont typeface="+mj-lt"/>
              <a:buAutoNum type="arabicPeriod"/>
            </a:pPr>
            <a:r>
              <a:rPr lang="en-US" sz="2400" dirty="0"/>
              <a:t>Attitude (their level of support for the project)</a:t>
            </a:r>
          </a:p>
          <a:p>
            <a:pPr marL="457200" indent="-457200">
              <a:buFont typeface="+mj-lt"/>
              <a:buAutoNum type="arabicPeriod"/>
            </a:pPr>
            <a:r>
              <a:rPr lang="en-US" sz="2400" dirty="0"/>
              <a:t>Interest in information about the project</a:t>
            </a:r>
          </a:p>
        </p:txBody>
      </p:sp>
    </p:spTree>
    <p:extLst>
      <p:ext uri="{BB962C8B-B14F-4D97-AF65-F5344CB8AC3E}">
        <p14:creationId xmlns:p14="http://schemas.microsoft.com/office/powerpoint/2010/main" val="2906678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STAKEHOLDER ANALYSIS-Methodologies</a:t>
            </a:r>
          </a:p>
        </p:txBody>
      </p:sp>
      <p:pic>
        <p:nvPicPr>
          <p:cNvPr id="4" name="Picture 2" descr="D:\bahria 2019\FOPM\Sumaiya\Lecture 5\New folder\7.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412776"/>
            <a:ext cx="9144000" cy="460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324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4907-E8D0-46ED-89CA-F27A06DD630F}"/>
              </a:ext>
            </a:extLst>
          </p:cNvPr>
          <p:cNvSpPr>
            <a:spLocks noGrp="1"/>
          </p:cNvSpPr>
          <p:nvPr>
            <p:ph type="title"/>
          </p:nvPr>
        </p:nvSpPr>
        <p:spPr>
          <a:xfrm>
            <a:off x="3491880" y="44624"/>
            <a:ext cx="5194920" cy="1143000"/>
          </a:xfrm>
        </p:spPr>
        <p:txBody>
          <a:bodyPr>
            <a:noAutofit/>
          </a:bodyPr>
          <a:lstStyle/>
          <a:p>
            <a:r>
              <a:rPr lang="en-US" sz="3200" b="1" dirty="0"/>
              <a:t>Stakeholder Analysis</a:t>
            </a:r>
            <a:br>
              <a:rPr lang="en-US" sz="3200" b="1" dirty="0"/>
            </a:br>
            <a:r>
              <a:rPr lang="en-US" sz="3200" b="1" dirty="0"/>
              <a:t>Classification Models</a:t>
            </a:r>
          </a:p>
        </p:txBody>
      </p:sp>
      <p:sp>
        <p:nvSpPr>
          <p:cNvPr id="8" name="AutoShape 2" descr="Project Stakeholder Management, it's Definition and Analys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4" descr="Project Stakeholder Management, it's Definition and Analysi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6" descr="2*2 grid project stakeholder managemen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2*2 grid project stakeholder management"/>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194" name="Picture 2" descr="D:\bahria 2019\FOPM\Sumaiya\Lecture 5\New folder\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12" y="1844824"/>
            <a:ext cx="9396536" cy="468052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2267744" y="1199654"/>
            <a:ext cx="2736304" cy="1077218"/>
          </a:xfrm>
          <a:prstGeom prst="rect">
            <a:avLst/>
          </a:prstGeom>
          <a:noFill/>
        </p:spPr>
        <p:txBody>
          <a:bodyPr wrap="square" rtlCol="0">
            <a:spAutoFit/>
          </a:bodyPr>
          <a:lstStyle/>
          <a:p>
            <a:r>
              <a:rPr lang="en-US" sz="1600" dirty="0"/>
              <a:t>Do not load them with detailed information from day to day. Simply </a:t>
            </a:r>
            <a:r>
              <a:rPr lang="en-US" sz="1600" b="1" dirty="0"/>
              <a:t>keep them satisfied</a:t>
            </a:r>
            <a:r>
              <a:rPr lang="en-US" sz="1600" dirty="0"/>
              <a:t>.</a:t>
            </a:r>
          </a:p>
        </p:txBody>
      </p:sp>
      <p:sp>
        <p:nvSpPr>
          <p:cNvPr id="14" name="TextBox 13"/>
          <p:cNvSpPr txBox="1"/>
          <p:nvPr/>
        </p:nvSpPr>
        <p:spPr>
          <a:xfrm>
            <a:off x="5578380" y="1124744"/>
            <a:ext cx="3746148" cy="1077218"/>
          </a:xfrm>
          <a:prstGeom prst="rect">
            <a:avLst/>
          </a:prstGeom>
          <a:noFill/>
        </p:spPr>
        <p:txBody>
          <a:bodyPr wrap="square" rtlCol="0">
            <a:spAutoFit/>
          </a:bodyPr>
          <a:lstStyle/>
          <a:p>
            <a:r>
              <a:rPr lang="en-US" sz="1600" dirty="0"/>
              <a:t>This group needs consultation, communication and engagement on a regular basis. It’s very important to </a:t>
            </a:r>
            <a:r>
              <a:rPr lang="en-US" sz="1600" b="1" dirty="0"/>
              <a:t>deal with them closely</a:t>
            </a:r>
            <a:r>
              <a:rPr lang="en-US" sz="1600" dirty="0"/>
              <a:t>.</a:t>
            </a:r>
          </a:p>
        </p:txBody>
      </p:sp>
      <p:sp>
        <p:nvSpPr>
          <p:cNvPr id="15" name="TextBox 14"/>
          <p:cNvSpPr txBox="1"/>
          <p:nvPr/>
        </p:nvSpPr>
        <p:spPr>
          <a:xfrm>
            <a:off x="2195736" y="5805264"/>
            <a:ext cx="2592288" cy="1077218"/>
          </a:xfrm>
          <a:prstGeom prst="rect">
            <a:avLst/>
          </a:prstGeom>
          <a:noFill/>
        </p:spPr>
        <p:txBody>
          <a:bodyPr wrap="square" rtlCol="0">
            <a:spAutoFit/>
          </a:bodyPr>
          <a:lstStyle/>
          <a:p>
            <a:r>
              <a:rPr lang="en-US" sz="1600" dirty="0"/>
              <a:t>They are supposed </a:t>
            </a:r>
            <a:r>
              <a:rPr lang="en-US" sz="1600" b="1" dirty="0"/>
              <a:t>to be monitored</a:t>
            </a:r>
            <a:r>
              <a:rPr lang="en-US" sz="1600" dirty="0"/>
              <a:t>. Communicate with them, but without excessive details.</a:t>
            </a:r>
          </a:p>
        </p:txBody>
      </p:sp>
      <p:sp>
        <p:nvSpPr>
          <p:cNvPr id="16" name="TextBox 15"/>
          <p:cNvSpPr txBox="1"/>
          <p:nvPr/>
        </p:nvSpPr>
        <p:spPr>
          <a:xfrm>
            <a:off x="6948263" y="4797152"/>
            <a:ext cx="2283667" cy="1815882"/>
          </a:xfrm>
          <a:prstGeom prst="rect">
            <a:avLst/>
          </a:prstGeom>
          <a:noFill/>
        </p:spPr>
        <p:txBody>
          <a:bodyPr wrap="square" rtlCol="0">
            <a:spAutoFit/>
          </a:bodyPr>
          <a:lstStyle/>
          <a:p>
            <a:pPr fontAlgn="base"/>
            <a:r>
              <a:rPr lang="en-US" sz="1600" dirty="0"/>
              <a:t>Due to their high level of interest need to know about any changes or, say, progress of a project. So, </a:t>
            </a:r>
            <a:r>
              <a:rPr lang="en-US" sz="1600" b="1" dirty="0"/>
              <a:t>keep them informed</a:t>
            </a:r>
            <a:r>
              <a:rPr lang="en-US" sz="1600" dirty="0"/>
              <a:t>.</a:t>
            </a:r>
          </a:p>
          <a:p>
            <a:br>
              <a:rPr lang="en-US" sz="1600" dirty="0"/>
            </a:br>
            <a:endParaRPr lang="en-US" sz="1600" dirty="0"/>
          </a:p>
        </p:txBody>
      </p:sp>
    </p:spTree>
    <p:extLst>
      <p:ext uri="{BB962C8B-B14F-4D97-AF65-F5344CB8AC3E}">
        <p14:creationId xmlns:p14="http://schemas.microsoft.com/office/powerpoint/2010/main" val="381718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100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100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0-#ppt_w/2"/>
                                          </p:val>
                                        </p:tav>
                                        <p:tav tm="100000">
                                          <p:val>
                                            <p:strVal val="#ppt_x"/>
                                          </p:val>
                                        </p:tav>
                                      </p:tavLst>
                                    </p:anim>
                                    <p:anim calcmode="lin" valueType="num">
                                      <p:cBhvr additive="base">
                                        <p:cTn id="1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100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100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algn="ctr"/>
            <a:r>
              <a:rPr lang="en-US" dirty="0"/>
              <a:t>Scenario Answer</a:t>
            </a:r>
          </a:p>
        </p:txBody>
      </p:sp>
      <p:sp>
        <p:nvSpPr>
          <p:cNvPr id="6" name="Content Placeholder 5"/>
          <p:cNvSpPr>
            <a:spLocks noGrp="1"/>
          </p:cNvSpPr>
          <p:nvPr>
            <p:ph idx="1"/>
          </p:nvPr>
        </p:nvSpPr>
        <p:spPr/>
        <p:txBody>
          <a:bodyPr>
            <a:noAutofit/>
          </a:bodyPr>
          <a:lstStyle/>
          <a:p>
            <a:r>
              <a:rPr lang="en-US" sz="1800" b="1" dirty="0"/>
              <a:t>Keep Satisfied</a:t>
            </a:r>
            <a:r>
              <a:rPr lang="en-US" sz="1800" dirty="0"/>
              <a:t>: The CEO (Alice) and the Major Investor (Eve) fall into this category. They have high power and are low interested in the project's success. Regular updates and assurance of positive progress are crucial to keeping them satisfied.</a:t>
            </a:r>
          </a:p>
          <a:p>
            <a:r>
              <a:rPr lang="en-US" sz="1800" b="1" dirty="0"/>
              <a:t>Monitor</a:t>
            </a:r>
            <a:r>
              <a:rPr lang="en-US" sz="1800" dirty="0"/>
              <a:t>: The Legal Consultant (Frank) falls into this category. While he has low interest in the technical details, his expertise is essential for avoiding legal issues. Regular monitoring of his work is required to ensure legal compliance.</a:t>
            </a:r>
          </a:p>
          <a:p>
            <a:r>
              <a:rPr lang="en-US" sz="1800" b="1" dirty="0"/>
              <a:t>Manage Closely</a:t>
            </a:r>
            <a:r>
              <a:rPr lang="en-US" sz="1800" dirty="0"/>
              <a:t>: The Project Manager (Bob), Lead Developer (Charlie), and Customer Representative (Grace) fall into this category. They have varying levels of power and are highly interested in the project's success. Close management is necessary to ensure their involvement and satisfaction with the project's progress.</a:t>
            </a:r>
          </a:p>
          <a:p>
            <a:r>
              <a:rPr lang="en-US" sz="1800" b="1" dirty="0"/>
              <a:t>Keep Informed</a:t>
            </a:r>
            <a:r>
              <a:rPr lang="en-US" sz="1800" dirty="0"/>
              <a:t>: The Marketing Manager (David) falls into this category. He has moderate power and is highly interested in the project's success. Keeping him informed about the project's progress is essential to ensure that marketing strategies align with the project's timeline.</a:t>
            </a:r>
          </a:p>
          <a:p>
            <a:pPr marL="0" indent="0">
              <a:buNone/>
            </a:pPr>
            <a:endParaRPr lang="en-US" sz="1800" dirty="0"/>
          </a:p>
        </p:txBody>
      </p:sp>
    </p:spTree>
    <p:extLst>
      <p:ext uri="{BB962C8B-B14F-4D97-AF65-F5344CB8AC3E}">
        <p14:creationId xmlns:p14="http://schemas.microsoft.com/office/powerpoint/2010/main" val="2089637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33F6-FC9C-4F8F-A2CE-D86B28C1B5D1}"/>
              </a:ext>
            </a:extLst>
          </p:cNvPr>
          <p:cNvSpPr>
            <a:spLocks noGrp="1"/>
          </p:cNvSpPr>
          <p:nvPr>
            <p:ph type="title"/>
          </p:nvPr>
        </p:nvSpPr>
        <p:spPr>
          <a:xfrm>
            <a:off x="3491879" y="527605"/>
            <a:ext cx="5492095" cy="610820"/>
          </a:xfrm>
        </p:spPr>
        <p:txBody>
          <a:bodyPr>
            <a:normAutofit fontScale="90000"/>
          </a:bodyPr>
          <a:lstStyle/>
          <a:p>
            <a:pPr algn="ctr"/>
            <a:r>
              <a:rPr lang="en-US" b="1" dirty="0">
                <a:solidFill>
                  <a:schemeClr val="tx1"/>
                </a:solidFill>
              </a:rPr>
              <a:t>Salience</a:t>
            </a:r>
            <a:r>
              <a:rPr lang="en-US" b="1" dirty="0"/>
              <a:t> </a:t>
            </a:r>
            <a:r>
              <a:rPr lang="en-US" b="1" dirty="0">
                <a:solidFill>
                  <a:schemeClr val="tx1"/>
                </a:solidFill>
              </a:rPr>
              <a:t>Model</a:t>
            </a:r>
          </a:p>
        </p:txBody>
      </p:sp>
      <p:sp>
        <p:nvSpPr>
          <p:cNvPr id="3" name="Content Placeholder 2">
            <a:extLst>
              <a:ext uri="{FF2B5EF4-FFF2-40B4-BE49-F238E27FC236}">
                <a16:creationId xmlns:a16="http://schemas.microsoft.com/office/drawing/2014/main" id="{F3D9DA4C-5D9A-40AF-90EB-503D2124E9B1}"/>
              </a:ext>
            </a:extLst>
          </p:cNvPr>
          <p:cNvSpPr>
            <a:spLocks noGrp="1"/>
          </p:cNvSpPr>
          <p:nvPr>
            <p:ph idx="1"/>
          </p:nvPr>
        </p:nvSpPr>
        <p:spPr/>
        <p:txBody>
          <a:bodyPr>
            <a:normAutofit fontScale="92500" lnSpcReduction="20000"/>
          </a:bodyPr>
          <a:lstStyle/>
          <a:p>
            <a:r>
              <a:rPr lang="en-US" sz="2400" dirty="0"/>
              <a:t>The stakeholder salience model was proposed by Ronald K. Mitchell, Bradley R. </a:t>
            </a:r>
            <a:r>
              <a:rPr lang="en-US" sz="2400" dirty="0" err="1"/>
              <a:t>Agle</a:t>
            </a:r>
            <a:r>
              <a:rPr lang="en-US" sz="2400" dirty="0"/>
              <a:t> and Donna J. Wood in 1997. </a:t>
            </a:r>
          </a:p>
          <a:p>
            <a:endParaRPr lang="en-US" sz="2400" dirty="0"/>
          </a:p>
          <a:p>
            <a:r>
              <a:rPr lang="en-US" sz="2400" dirty="0"/>
              <a:t>The term salience means “the quality of being particularly noticeable, important or prominent”, and so stakeholder salience means the importance you give to your stakeholders. </a:t>
            </a:r>
          </a:p>
          <a:p>
            <a:endParaRPr lang="en-US" sz="2400" dirty="0"/>
          </a:p>
          <a:p>
            <a:r>
              <a:rPr lang="en-US" sz="2400" dirty="0"/>
              <a:t>Stakeholder salience can be defined as the “degree to which managers give priority to competing stakeholders’ claims in their decision-making process”.</a:t>
            </a:r>
          </a:p>
          <a:p>
            <a:endParaRPr lang="en-US" sz="2400" dirty="0"/>
          </a:p>
          <a:p>
            <a:r>
              <a:rPr lang="en-US" sz="2400" dirty="0"/>
              <a:t>Depending on the presence or absence of one or several attributes, three classes of stakeholders may be distinguished.</a:t>
            </a:r>
          </a:p>
        </p:txBody>
      </p:sp>
    </p:spTree>
    <p:extLst>
      <p:ext uri="{BB962C8B-B14F-4D97-AF65-F5344CB8AC3E}">
        <p14:creationId xmlns:p14="http://schemas.microsoft.com/office/powerpoint/2010/main" val="2633141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9871" y="225892"/>
            <a:ext cx="5564103" cy="610820"/>
          </a:xfrm>
        </p:spPr>
        <p:txBody>
          <a:bodyPr>
            <a:normAutofit fontScale="90000"/>
          </a:bodyPr>
          <a:lstStyle/>
          <a:p>
            <a:pPr algn="ctr"/>
            <a:r>
              <a:rPr lang="en-US" b="1" dirty="0">
                <a:solidFill>
                  <a:schemeClr val="tx1"/>
                </a:solidFill>
              </a:rPr>
              <a:t>Salience Model- </a:t>
            </a:r>
            <a:br>
              <a:rPr lang="en-US" b="1" dirty="0">
                <a:solidFill>
                  <a:schemeClr val="tx1"/>
                </a:solidFill>
              </a:rPr>
            </a:br>
            <a:r>
              <a:rPr lang="en-US" b="1" dirty="0">
                <a:solidFill>
                  <a:schemeClr val="tx1"/>
                </a:solidFill>
              </a:rPr>
              <a:t>Stakeholders 3 Attributes</a:t>
            </a:r>
          </a:p>
        </p:txBody>
      </p:sp>
      <p:sp>
        <p:nvSpPr>
          <p:cNvPr id="3" name="Content Placeholder 2"/>
          <p:cNvSpPr>
            <a:spLocks noGrp="1"/>
          </p:cNvSpPr>
          <p:nvPr>
            <p:ph idx="1"/>
          </p:nvPr>
        </p:nvSpPr>
        <p:spPr>
          <a:xfrm>
            <a:off x="395536" y="1443834"/>
            <a:ext cx="8496944" cy="5009501"/>
          </a:xfrm>
        </p:spPr>
        <p:txBody>
          <a:bodyPr>
            <a:normAutofit fontScale="92500" lnSpcReduction="20000"/>
          </a:bodyPr>
          <a:lstStyle/>
          <a:p>
            <a:pPr marL="0" indent="0">
              <a:buNone/>
            </a:pPr>
            <a:r>
              <a:rPr lang="en-US" b="1" dirty="0"/>
              <a:t>1- Power</a:t>
            </a:r>
          </a:p>
          <a:p>
            <a:r>
              <a:rPr lang="en-US" dirty="0"/>
              <a:t>Power is the authority or influence of the stakeholder on your project or its objectives. </a:t>
            </a:r>
          </a:p>
          <a:p>
            <a:r>
              <a:rPr lang="en-US" dirty="0"/>
              <a:t>Focus on stakeholders with high power. These stakeholders are fewer in number.</a:t>
            </a:r>
          </a:p>
          <a:p>
            <a:pPr marL="0" indent="0">
              <a:buNone/>
            </a:pPr>
            <a:r>
              <a:rPr lang="en-US" b="1" dirty="0"/>
              <a:t>2- Legitimacy</a:t>
            </a:r>
          </a:p>
          <a:p>
            <a:r>
              <a:rPr lang="en-US" dirty="0"/>
              <a:t>Legitimacy is how genuinely involved a stakeholder is with your project. You should not spend your time on a stakeholder who doesn’t have a legitimate interest. </a:t>
            </a:r>
          </a:p>
          <a:p>
            <a:r>
              <a:rPr lang="en-US" dirty="0"/>
              <a:t>Pay attention to stakeholders with legitimate claims.</a:t>
            </a:r>
          </a:p>
          <a:p>
            <a:pPr marL="0" indent="0">
              <a:buNone/>
            </a:pPr>
            <a:r>
              <a:rPr lang="en-US" b="1" dirty="0"/>
              <a:t>3- Urgency</a:t>
            </a:r>
          </a:p>
          <a:p>
            <a:r>
              <a:rPr lang="en-US" dirty="0"/>
              <a:t>Urgency is the degree to which stakeholder requirements call for immediate attention. </a:t>
            </a:r>
          </a:p>
          <a:p>
            <a:endParaRPr lang="en-US" dirty="0"/>
          </a:p>
        </p:txBody>
      </p:sp>
    </p:spTree>
    <p:extLst>
      <p:ext uri="{BB962C8B-B14F-4D97-AF65-F5344CB8AC3E}">
        <p14:creationId xmlns:p14="http://schemas.microsoft.com/office/powerpoint/2010/main" val="3047108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C33F6-FC9C-4F8F-A2CE-D86B28C1B5D1}"/>
              </a:ext>
            </a:extLst>
          </p:cNvPr>
          <p:cNvSpPr>
            <a:spLocks noGrp="1"/>
          </p:cNvSpPr>
          <p:nvPr>
            <p:ph type="title"/>
          </p:nvPr>
        </p:nvSpPr>
        <p:spPr>
          <a:xfrm>
            <a:off x="1670992" y="197768"/>
            <a:ext cx="8229600" cy="1143000"/>
          </a:xfrm>
        </p:spPr>
        <p:txBody>
          <a:bodyPr>
            <a:normAutofit/>
          </a:bodyPr>
          <a:lstStyle/>
          <a:p>
            <a:r>
              <a:rPr lang="en-US" sz="3600" dirty="0"/>
              <a:t>         Salience Model- Low Priority</a:t>
            </a:r>
          </a:p>
        </p:txBody>
      </p:sp>
      <p:pic>
        <p:nvPicPr>
          <p:cNvPr id="6" name="Picture 5">
            <a:extLst>
              <a:ext uri="{FF2B5EF4-FFF2-40B4-BE49-F238E27FC236}">
                <a16:creationId xmlns:a16="http://schemas.microsoft.com/office/drawing/2014/main" id="{49AF67A1-1482-4F45-BFC9-AC236D2F50E5}"/>
              </a:ext>
            </a:extLst>
          </p:cNvPr>
          <p:cNvPicPr>
            <a:picLocks noChangeAspect="1"/>
          </p:cNvPicPr>
          <p:nvPr/>
        </p:nvPicPr>
        <p:blipFill>
          <a:blip r:embed="rId2"/>
          <a:stretch>
            <a:fillRect/>
          </a:stretch>
        </p:blipFill>
        <p:spPr>
          <a:xfrm>
            <a:off x="827584" y="1128226"/>
            <a:ext cx="7920880" cy="5314569"/>
          </a:xfrm>
          <a:prstGeom prst="rect">
            <a:avLst/>
          </a:prstGeom>
        </p:spPr>
      </p:pic>
      <p:sp>
        <p:nvSpPr>
          <p:cNvPr id="3" name="TextBox 2"/>
          <p:cNvSpPr txBox="1"/>
          <p:nvPr/>
        </p:nvSpPr>
        <p:spPr>
          <a:xfrm>
            <a:off x="35496" y="1179329"/>
            <a:ext cx="3254818" cy="1600438"/>
          </a:xfrm>
          <a:prstGeom prst="rect">
            <a:avLst/>
          </a:prstGeom>
          <a:noFill/>
        </p:spPr>
        <p:txBody>
          <a:bodyPr wrap="square" rtlCol="0">
            <a:spAutoFit/>
          </a:bodyPr>
          <a:lstStyle/>
          <a:p>
            <a:pPr marL="0" lvl="1"/>
            <a:r>
              <a:rPr lang="en-US" sz="1400" b="1" dirty="0"/>
              <a:t>Dormant</a:t>
            </a:r>
            <a:r>
              <a:rPr lang="en-US" sz="1400" dirty="0"/>
              <a:t> – they are perceived as having power, but no legitimacy and no urgent claims and this results in a lack or low level of interactivity and involvement.</a:t>
            </a:r>
          </a:p>
          <a:p>
            <a:pPr marL="0" lvl="1"/>
            <a:r>
              <a:rPr lang="en-US" sz="1400" dirty="0" err="1"/>
              <a:t>Eg</a:t>
            </a:r>
            <a:r>
              <a:rPr lang="en-US" sz="1400" dirty="0"/>
              <a:t>: Top Management</a:t>
            </a:r>
          </a:p>
          <a:p>
            <a:pPr marL="0" lvl="1"/>
            <a:r>
              <a:rPr lang="en-US" sz="1400" dirty="0"/>
              <a:t>(Monitor)</a:t>
            </a:r>
          </a:p>
          <a:p>
            <a:endParaRPr lang="en-US" sz="1400" dirty="0"/>
          </a:p>
        </p:txBody>
      </p:sp>
      <p:sp>
        <p:nvSpPr>
          <p:cNvPr id="7" name="TextBox 6"/>
          <p:cNvSpPr txBox="1"/>
          <p:nvPr/>
        </p:nvSpPr>
        <p:spPr>
          <a:xfrm>
            <a:off x="4644008" y="1196752"/>
            <a:ext cx="4248472" cy="1569660"/>
          </a:xfrm>
          <a:prstGeom prst="rect">
            <a:avLst/>
          </a:prstGeom>
          <a:noFill/>
        </p:spPr>
        <p:txBody>
          <a:bodyPr wrap="square" rtlCol="0">
            <a:spAutoFit/>
          </a:bodyPr>
          <a:lstStyle/>
          <a:p>
            <a:pPr marL="0" lvl="1"/>
            <a:r>
              <a:rPr lang="en-US" sz="1200" b="1" dirty="0"/>
              <a:t>Discretionary</a:t>
            </a:r>
            <a:r>
              <a:rPr lang="en-US" sz="1200" dirty="0"/>
              <a:t> – they are perceived with legitimacy, but without power and urgent claims. Some managers choose, however, to closely manage them especially if the acquisition of a type of power is possible. They may be courted for alliances by </a:t>
            </a:r>
            <a:r>
              <a:rPr lang="en-US" sz="1200" i="1" dirty="0"/>
              <a:t>Dangerous</a:t>
            </a:r>
            <a:r>
              <a:rPr lang="en-US" sz="1200" dirty="0"/>
              <a:t> stakeholders because the latter have no “legitimacy”. Monitor ( Min Effort)</a:t>
            </a:r>
          </a:p>
          <a:p>
            <a:pPr marL="0" lvl="1"/>
            <a:r>
              <a:rPr lang="en-US" sz="1200" dirty="0" err="1"/>
              <a:t>Eg</a:t>
            </a:r>
            <a:r>
              <a:rPr lang="en-US" sz="1200" dirty="0"/>
              <a:t>: NGO, Charitable Organizations</a:t>
            </a:r>
          </a:p>
          <a:p>
            <a:endParaRPr lang="en-US" sz="1200" dirty="0"/>
          </a:p>
        </p:txBody>
      </p:sp>
      <p:sp>
        <p:nvSpPr>
          <p:cNvPr id="4" name="Content Placeholder 3">
            <a:extLst>
              <a:ext uri="{FF2B5EF4-FFF2-40B4-BE49-F238E27FC236}">
                <a16:creationId xmlns:a16="http://schemas.microsoft.com/office/drawing/2014/main" id="{F2B95090-7991-4F80-A6C0-597C15690E2D}"/>
              </a:ext>
            </a:extLst>
          </p:cNvPr>
          <p:cNvSpPr>
            <a:spLocks noGrp="1"/>
          </p:cNvSpPr>
          <p:nvPr>
            <p:ph sz="half" idx="1"/>
          </p:nvPr>
        </p:nvSpPr>
        <p:spPr>
          <a:xfrm>
            <a:off x="-546720" y="5550105"/>
            <a:ext cx="4038600" cy="892690"/>
          </a:xfrm>
        </p:spPr>
        <p:txBody>
          <a:bodyPr>
            <a:normAutofit fontScale="77500" lnSpcReduction="20000"/>
          </a:bodyPr>
          <a:lstStyle/>
          <a:p>
            <a:pPr lvl="1">
              <a:buFont typeface="Courier New" panose="02070309020205020404" pitchFamily="49" charset="0"/>
              <a:buChar char="o"/>
            </a:pPr>
            <a:r>
              <a:rPr lang="en-US" sz="1400" b="1" dirty="0"/>
              <a:t>Demanding</a:t>
            </a:r>
            <a:r>
              <a:rPr lang="en-US" sz="1400" dirty="0"/>
              <a:t> – they are perceived as having urgent claims and no power and no legitimacy. They are synonymous to the mosquito buzz. :)</a:t>
            </a:r>
          </a:p>
          <a:p>
            <a:pPr lvl="1">
              <a:buFont typeface="Courier New" panose="02070309020205020404" pitchFamily="49" charset="0"/>
              <a:buChar char="o"/>
            </a:pPr>
            <a:r>
              <a:rPr lang="en-US" sz="1400" dirty="0" err="1"/>
              <a:t>Eg</a:t>
            </a:r>
            <a:r>
              <a:rPr lang="en-US" sz="1400" dirty="0"/>
              <a:t>: Public Place- </a:t>
            </a:r>
            <a:r>
              <a:rPr lang="en-US" sz="1400" dirty="0" err="1"/>
              <a:t>Neighbourhood</a:t>
            </a:r>
            <a:endParaRPr lang="en-US" sz="1400" dirty="0"/>
          </a:p>
          <a:p>
            <a:pPr lvl="1">
              <a:buFont typeface="Courier New" panose="02070309020205020404" pitchFamily="49" charset="0"/>
              <a:buChar char="o"/>
            </a:pPr>
            <a:r>
              <a:rPr lang="en-US" sz="1400" dirty="0"/>
              <a:t>Keep informed</a:t>
            </a:r>
          </a:p>
        </p:txBody>
      </p:sp>
      <p:cxnSp>
        <p:nvCxnSpPr>
          <p:cNvPr id="8" name="Straight Connector 7"/>
          <p:cNvCxnSpPr/>
          <p:nvPr/>
        </p:nvCxnSpPr>
        <p:spPr>
          <a:xfrm>
            <a:off x="2843808" y="2060848"/>
            <a:ext cx="107074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580112" y="2708920"/>
            <a:ext cx="1440160"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717282" y="5949280"/>
            <a:ext cx="143078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570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5736" y="53752"/>
            <a:ext cx="8229600" cy="1143000"/>
          </a:xfrm>
        </p:spPr>
        <p:txBody>
          <a:bodyPr>
            <a:normAutofit fontScale="90000"/>
          </a:bodyPr>
          <a:lstStyle/>
          <a:p>
            <a:r>
              <a:rPr lang="en-US" sz="4000" dirty="0"/>
              <a:t> Salience Model- </a:t>
            </a:r>
            <a:br>
              <a:rPr lang="en-US" sz="4000" dirty="0"/>
            </a:br>
            <a:r>
              <a:rPr lang="en-US" sz="4000" dirty="0"/>
              <a:t>Moderate Priority</a:t>
            </a:r>
          </a:p>
        </p:txBody>
      </p:sp>
      <p:pic>
        <p:nvPicPr>
          <p:cNvPr id="5" name="Picture 4">
            <a:extLst>
              <a:ext uri="{FF2B5EF4-FFF2-40B4-BE49-F238E27FC236}">
                <a16:creationId xmlns:a16="http://schemas.microsoft.com/office/drawing/2014/main" id="{49AF67A1-1482-4F45-BFC9-AC236D2F50E5}"/>
              </a:ext>
            </a:extLst>
          </p:cNvPr>
          <p:cNvPicPr>
            <a:picLocks noChangeAspect="1"/>
          </p:cNvPicPr>
          <p:nvPr/>
        </p:nvPicPr>
        <p:blipFill>
          <a:blip r:embed="rId2"/>
          <a:stretch>
            <a:fillRect/>
          </a:stretch>
        </p:blipFill>
        <p:spPr>
          <a:xfrm>
            <a:off x="827584" y="1354791"/>
            <a:ext cx="7920880" cy="5314569"/>
          </a:xfrm>
          <a:prstGeom prst="rect">
            <a:avLst/>
          </a:prstGeom>
        </p:spPr>
      </p:pic>
      <p:sp>
        <p:nvSpPr>
          <p:cNvPr id="6" name="TextBox 5"/>
          <p:cNvSpPr txBox="1"/>
          <p:nvPr/>
        </p:nvSpPr>
        <p:spPr>
          <a:xfrm>
            <a:off x="4211960" y="1412776"/>
            <a:ext cx="4536504" cy="1384995"/>
          </a:xfrm>
          <a:prstGeom prst="rect">
            <a:avLst/>
          </a:prstGeom>
          <a:noFill/>
        </p:spPr>
        <p:txBody>
          <a:bodyPr wrap="square" rtlCol="0">
            <a:spAutoFit/>
          </a:bodyPr>
          <a:lstStyle/>
          <a:p>
            <a:r>
              <a:rPr lang="en-US" sz="1400" b="1" dirty="0"/>
              <a:t>Dominant</a:t>
            </a:r>
            <a:r>
              <a:rPr lang="en-US" sz="1400" dirty="0"/>
              <a:t> – one of the two types of stakeholders perceived as having both power, and legitimacy. Unlike the “definitive” type, </a:t>
            </a:r>
            <a:r>
              <a:rPr lang="en-US" sz="1400" i="1" dirty="0"/>
              <a:t>dominants</a:t>
            </a:r>
            <a:r>
              <a:rPr lang="en-US" sz="1400" dirty="0"/>
              <a:t> have no urgent claims. Such groups or individuals can be found often in mature companies</a:t>
            </a:r>
          </a:p>
          <a:p>
            <a:r>
              <a:rPr lang="en-US" sz="1400" dirty="0" err="1"/>
              <a:t>EG:constructing</a:t>
            </a:r>
            <a:r>
              <a:rPr lang="en-US" sz="1400" dirty="0"/>
              <a:t> a building </a:t>
            </a:r>
            <a:r>
              <a:rPr lang="en-US" sz="1400" dirty="0" err="1"/>
              <a:t>projct</a:t>
            </a:r>
            <a:r>
              <a:rPr lang="en-US" sz="1400" dirty="0"/>
              <a:t>- local authorities</a:t>
            </a:r>
          </a:p>
          <a:p>
            <a:r>
              <a:rPr lang="en-US" sz="1400" dirty="0" err="1"/>
              <a:t>Sol:Keep</a:t>
            </a:r>
            <a:r>
              <a:rPr lang="en-US" sz="1400" dirty="0"/>
              <a:t> Informed!</a:t>
            </a:r>
          </a:p>
        </p:txBody>
      </p:sp>
      <p:sp>
        <p:nvSpPr>
          <p:cNvPr id="7" name="TextBox 6"/>
          <p:cNvSpPr txBox="1"/>
          <p:nvPr/>
        </p:nvSpPr>
        <p:spPr>
          <a:xfrm>
            <a:off x="827584" y="3422030"/>
            <a:ext cx="3096344" cy="1785104"/>
          </a:xfrm>
          <a:prstGeom prst="rect">
            <a:avLst/>
          </a:prstGeom>
          <a:noFill/>
        </p:spPr>
        <p:txBody>
          <a:bodyPr wrap="square" rtlCol="0">
            <a:spAutoFit/>
          </a:bodyPr>
          <a:lstStyle/>
          <a:p>
            <a:pPr marL="0" lvl="1"/>
            <a:r>
              <a:rPr lang="en-US" sz="1200" b="1" dirty="0"/>
              <a:t>Dangerous</a:t>
            </a:r>
            <a:r>
              <a:rPr lang="en-US" sz="1200" dirty="0"/>
              <a:t> – they are indeed dangerous. They are perceived as having power and urgent claims. They have no legitimacy. And then they tend to use, first of all, coercive power. </a:t>
            </a:r>
          </a:p>
          <a:p>
            <a:pPr marL="0" lvl="1"/>
            <a:r>
              <a:rPr lang="en-US" sz="1200" dirty="0"/>
              <a:t>They can even become aggressive.</a:t>
            </a:r>
          </a:p>
          <a:p>
            <a:pPr marL="0" lvl="1"/>
            <a:r>
              <a:rPr lang="en-US" sz="1200" dirty="0" err="1"/>
              <a:t>Eg</a:t>
            </a:r>
            <a:r>
              <a:rPr lang="en-US" sz="1200" dirty="0"/>
              <a:t>: remote area of a third world country, and in this case, a group of local terrorists</a:t>
            </a:r>
          </a:p>
          <a:p>
            <a:pPr marL="0" lvl="1"/>
            <a:r>
              <a:rPr lang="en-US" sz="1200" dirty="0"/>
              <a:t>SOL: Keep Satisfied!</a:t>
            </a:r>
          </a:p>
          <a:p>
            <a:endParaRPr lang="en-US" sz="1400" dirty="0"/>
          </a:p>
        </p:txBody>
      </p:sp>
      <p:sp>
        <p:nvSpPr>
          <p:cNvPr id="8" name="TextBox 7"/>
          <p:cNvSpPr txBox="1"/>
          <p:nvPr/>
        </p:nvSpPr>
        <p:spPr>
          <a:xfrm>
            <a:off x="5544616" y="4499412"/>
            <a:ext cx="3707904" cy="2708434"/>
          </a:xfrm>
          <a:prstGeom prst="rect">
            <a:avLst/>
          </a:prstGeom>
          <a:noFill/>
        </p:spPr>
        <p:txBody>
          <a:bodyPr wrap="square" rtlCol="0">
            <a:spAutoFit/>
          </a:bodyPr>
          <a:lstStyle/>
          <a:p>
            <a:pPr marL="0" lvl="1"/>
            <a:r>
              <a:rPr lang="en-US" sz="1400" b="1" dirty="0"/>
              <a:t>Dependent</a:t>
            </a:r>
            <a:r>
              <a:rPr lang="en-US" sz="1400" dirty="0"/>
              <a:t> – they are perceived as having legitimacy and urgency, but no power. They are pursued for coalitions by the </a:t>
            </a:r>
            <a:r>
              <a:rPr lang="en-US" sz="1400" i="1" dirty="0"/>
              <a:t>Dangerous</a:t>
            </a:r>
            <a:r>
              <a:rPr lang="en-US" sz="1400" dirty="0"/>
              <a:t> stakeholders until the latter manage to also acquire “legitimacy”. “</a:t>
            </a:r>
            <a:r>
              <a:rPr lang="en-US" sz="1400" dirty="0" err="1"/>
              <a:t>Dependants</a:t>
            </a:r>
            <a:r>
              <a:rPr lang="en-US" sz="1400" dirty="0"/>
              <a:t>”, however, seek alliances with the “dominants” to use their power to enforce their own urgent claims.</a:t>
            </a:r>
          </a:p>
          <a:p>
            <a:pPr marL="0" lvl="1"/>
            <a:r>
              <a:rPr lang="en-US" sz="1400" dirty="0" err="1"/>
              <a:t>Eg</a:t>
            </a:r>
            <a:r>
              <a:rPr lang="en-US" sz="1400" dirty="0"/>
              <a:t>; construction work in a public place, local residents</a:t>
            </a:r>
          </a:p>
          <a:p>
            <a:pPr marL="0" lvl="1"/>
            <a:r>
              <a:rPr lang="en-US" sz="1400" dirty="0"/>
              <a:t>Sol: Manage closely!</a:t>
            </a:r>
          </a:p>
          <a:p>
            <a:endParaRPr lang="en-US" sz="1600" dirty="0"/>
          </a:p>
        </p:txBody>
      </p:sp>
      <p:cxnSp>
        <p:nvCxnSpPr>
          <p:cNvPr id="9" name="Straight Connector 8"/>
          <p:cNvCxnSpPr/>
          <p:nvPr/>
        </p:nvCxnSpPr>
        <p:spPr>
          <a:xfrm>
            <a:off x="4283968" y="3128442"/>
            <a:ext cx="107074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41426" y="4365104"/>
            <a:ext cx="107074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994703" y="4565337"/>
            <a:ext cx="107074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284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2195736" y="53752"/>
            <a:ext cx="8229600" cy="1143000"/>
          </a:xfrm>
          <a:prstGeom prst="rect">
            <a:avLst/>
          </a:prstGeom>
        </p:spPr>
        <p:txBody>
          <a:bodyPr vert="horz" lIns="91440" tIns="45720" rIns="91440" bIns="45720" rtlCol="0" anchor="ct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4000" dirty="0"/>
              <a:t> Salience Model- </a:t>
            </a:r>
            <a:br>
              <a:rPr lang="en-US" sz="4000" dirty="0"/>
            </a:br>
            <a:r>
              <a:rPr lang="en-US" sz="4000" dirty="0"/>
              <a:t>Highest Priority</a:t>
            </a:r>
          </a:p>
        </p:txBody>
      </p:sp>
      <p:pic>
        <p:nvPicPr>
          <p:cNvPr id="6" name="Picture 5">
            <a:extLst>
              <a:ext uri="{FF2B5EF4-FFF2-40B4-BE49-F238E27FC236}">
                <a16:creationId xmlns:a16="http://schemas.microsoft.com/office/drawing/2014/main" id="{49AF67A1-1482-4F45-BFC9-AC236D2F50E5}"/>
              </a:ext>
            </a:extLst>
          </p:cNvPr>
          <p:cNvPicPr>
            <a:picLocks noChangeAspect="1"/>
          </p:cNvPicPr>
          <p:nvPr/>
        </p:nvPicPr>
        <p:blipFill>
          <a:blip r:embed="rId2"/>
          <a:stretch>
            <a:fillRect/>
          </a:stretch>
        </p:blipFill>
        <p:spPr>
          <a:xfrm>
            <a:off x="827584" y="1354791"/>
            <a:ext cx="7920880" cy="5314569"/>
          </a:xfrm>
          <a:prstGeom prst="rect">
            <a:avLst/>
          </a:prstGeom>
        </p:spPr>
      </p:pic>
      <p:sp>
        <p:nvSpPr>
          <p:cNvPr id="7" name="TextBox 6"/>
          <p:cNvSpPr txBox="1"/>
          <p:nvPr/>
        </p:nvSpPr>
        <p:spPr>
          <a:xfrm>
            <a:off x="6238528" y="3812847"/>
            <a:ext cx="2725960" cy="1754326"/>
          </a:xfrm>
          <a:prstGeom prst="rect">
            <a:avLst/>
          </a:prstGeom>
          <a:noFill/>
        </p:spPr>
        <p:txBody>
          <a:bodyPr wrap="square" rtlCol="0">
            <a:spAutoFit/>
          </a:bodyPr>
          <a:lstStyle/>
          <a:p>
            <a:r>
              <a:rPr lang="en-US" b="1" dirty="0"/>
              <a:t>Definitive stakeholders </a:t>
            </a:r>
            <a:r>
              <a:rPr lang="en-US" dirty="0"/>
              <a:t>having all 3 attributes, treated with high priority</a:t>
            </a:r>
          </a:p>
          <a:p>
            <a:r>
              <a:rPr lang="en-US" dirty="0" err="1"/>
              <a:t>Eg</a:t>
            </a:r>
            <a:r>
              <a:rPr lang="en-US" dirty="0"/>
              <a:t>:  top management of your organization </a:t>
            </a:r>
          </a:p>
          <a:p>
            <a:r>
              <a:rPr lang="en-US" dirty="0"/>
              <a:t>    Sol: Manage Closely!</a:t>
            </a:r>
          </a:p>
        </p:txBody>
      </p:sp>
      <p:cxnSp>
        <p:nvCxnSpPr>
          <p:cNvPr id="9" name="Straight Connector 8"/>
          <p:cNvCxnSpPr/>
          <p:nvPr/>
        </p:nvCxnSpPr>
        <p:spPr>
          <a:xfrm>
            <a:off x="4283968" y="3920530"/>
            <a:ext cx="1070742" cy="0"/>
          </a:xfrm>
          <a:prstGeom prst="line">
            <a:avLst/>
          </a:prstGeom>
          <a:ln w="349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97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3888" y="-27384"/>
            <a:ext cx="5122912" cy="1143000"/>
          </a:xfrm>
        </p:spPr>
        <p:txBody>
          <a:bodyPr>
            <a:normAutofit fontScale="90000"/>
          </a:bodyPr>
          <a:lstStyle/>
          <a:p>
            <a:r>
              <a:rPr lang="en-US" b="1" dirty="0"/>
              <a:t>Stakeholder- Register</a:t>
            </a:r>
          </a:p>
        </p:txBody>
      </p:sp>
      <p:sp>
        <p:nvSpPr>
          <p:cNvPr id="4" name="Content Placeholder 3"/>
          <p:cNvSpPr>
            <a:spLocks noGrp="1"/>
          </p:cNvSpPr>
          <p:nvPr>
            <p:ph sz="half" idx="2"/>
          </p:nvPr>
        </p:nvSpPr>
        <p:spPr/>
        <p:txBody>
          <a:bodyPr/>
          <a:lstStyle/>
          <a:p>
            <a:endParaRPr lang="en-US"/>
          </a:p>
        </p:txBody>
      </p:sp>
      <p:pic>
        <p:nvPicPr>
          <p:cNvPr id="7170" name="Picture 2" descr="D:\bahria 2019\FOPM\Sumaiya\Lecture 5\New folder\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268760"/>
            <a:ext cx="8784976" cy="54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977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STAKEHOLDER</a:t>
            </a:r>
          </a:p>
        </p:txBody>
      </p:sp>
      <p:sp>
        <p:nvSpPr>
          <p:cNvPr id="3" name="Content Placeholder 2"/>
          <p:cNvSpPr>
            <a:spLocks noGrp="1"/>
          </p:cNvSpPr>
          <p:nvPr>
            <p:ph sz="half" idx="1"/>
          </p:nvPr>
        </p:nvSpPr>
        <p:spPr>
          <a:xfrm>
            <a:off x="323528" y="1412776"/>
            <a:ext cx="8424936" cy="5040560"/>
          </a:xfrm>
        </p:spPr>
        <p:txBody>
          <a:bodyPr>
            <a:normAutofit fontScale="85000" lnSpcReduction="20000"/>
          </a:bodyPr>
          <a:lstStyle/>
          <a:p>
            <a:r>
              <a:rPr lang="en-US" b="1" dirty="0"/>
              <a:t>Plan Stakeholder Engagement</a:t>
            </a:r>
            <a:r>
              <a:rPr lang="en-US" dirty="0"/>
              <a:t> is the process of developing strategies to increase stakeholder interest and engagement on your project. The goal is to increase project supporters and minimize resistors throughout the entire project lifecycle.</a:t>
            </a:r>
          </a:p>
          <a:p>
            <a:endParaRPr lang="en-US" dirty="0"/>
          </a:p>
          <a:p>
            <a:pPr fontAlgn="base"/>
            <a:r>
              <a:rPr lang="en-US" dirty="0"/>
              <a:t>There are 5 levels of stakeholder engagement:</a:t>
            </a:r>
          </a:p>
          <a:p>
            <a:pPr marL="514350" indent="-514350" fontAlgn="base">
              <a:buFont typeface="+mj-lt"/>
              <a:buAutoNum type="arabicPeriod"/>
            </a:pPr>
            <a:r>
              <a:rPr lang="en-US" dirty="0"/>
              <a:t>Unaware</a:t>
            </a:r>
          </a:p>
          <a:p>
            <a:pPr marL="514350" indent="-514350" fontAlgn="base">
              <a:buFont typeface="+mj-lt"/>
              <a:buAutoNum type="arabicPeriod"/>
            </a:pPr>
            <a:r>
              <a:rPr lang="en-US" dirty="0"/>
              <a:t>Resistant</a:t>
            </a:r>
          </a:p>
          <a:p>
            <a:pPr marL="514350" indent="-514350" fontAlgn="base">
              <a:buFont typeface="+mj-lt"/>
              <a:buAutoNum type="arabicPeriod"/>
            </a:pPr>
            <a:r>
              <a:rPr lang="en-US" dirty="0"/>
              <a:t>Neutral</a:t>
            </a:r>
          </a:p>
          <a:p>
            <a:pPr marL="514350" indent="-514350" fontAlgn="base">
              <a:buFont typeface="+mj-lt"/>
              <a:buAutoNum type="arabicPeriod"/>
            </a:pPr>
            <a:r>
              <a:rPr lang="en-US" dirty="0"/>
              <a:t>Supportive</a:t>
            </a:r>
          </a:p>
          <a:p>
            <a:pPr marL="514350" indent="-514350" fontAlgn="base">
              <a:buFont typeface="+mj-lt"/>
              <a:buAutoNum type="arabicPeriod"/>
            </a:pPr>
            <a:r>
              <a:rPr lang="en-US" dirty="0"/>
              <a:t>Leading</a:t>
            </a:r>
          </a:p>
          <a:p>
            <a:pPr fontAlgn="base"/>
            <a:r>
              <a:rPr lang="en-US" b="1" dirty="0"/>
              <a:t>Stakeholder engagement assessment matrix</a:t>
            </a:r>
            <a:r>
              <a:rPr lang="en-US" dirty="0"/>
              <a:t> is used to map a stakeholder’s current engagement level and his/her desired engagement level.</a:t>
            </a:r>
          </a:p>
          <a:p>
            <a:endParaRPr lang="en-US" dirty="0"/>
          </a:p>
        </p:txBody>
      </p:sp>
    </p:spTree>
    <p:extLst>
      <p:ext uri="{BB962C8B-B14F-4D97-AF65-F5344CB8AC3E}">
        <p14:creationId xmlns:p14="http://schemas.microsoft.com/office/powerpoint/2010/main" val="2505011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5552" y="44624"/>
            <a:ext cx="5194920" cy="1143000"/>
          </a:xfrm>
        </p:spPr>
        <p:txBody>
          <a:bodyPr>
            <a:normAutofit fontScale="90000"/>
          </a:bodyPr>
          <a:lstStyle/>
          <a:p>
            <a:r>
              <a:rPr lang="en-US" dirty="0"/>
              <a:t>STAKEHOLDER MATRIX</a:t>
            </a:r>
          </a:p>
        </p:txBody>
      </p:sp>
      <p:pic>
        <p:nvPicPr>
          <p:cNvPr id="6146" name="Picture 2" descr="D:\bahria 2019\FOPM\Sumaiya\Lecture 5\New folder\9.pn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611560" y="1124744"/>
            <a:ext cx="8640960" cy="1993914"/>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D:\bahria 2019\FOPM\Sumaiya\Lecture 5\New folder\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2996952"/>
            <a:ext cx="9167812" cy="2987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6017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1880" y="44624"/>
            <a:ext cx="5194920" cy="1143000"/>
          </a:xfrm>
        </p:spPr>
        <p:txBody>
          <a:bodyPr>
            <a:normAutofit fontScale="90000"/>
          </a:bodyPr>
          <a:lstStyle/>
          <a:p>
            <a:r>
              <a:rPr lang="en-US" sz="3600" b="1" dirty="0"/>
              <a:t>Manage Stakeholder Engagement</a:t>
            </a:r>
          </a:p>
        </p:txBody>
      </p:sp>
      <p:sp>
        <p:nvSpPr>
          <p:cNvPr id="4" name="Content Placeholder 3"/>
          <p:cNvSpPr>
            <a:spLocks noGrp="1"/>
          </p:cNvSpPr>
          <p:nvPr>
            <p:ph sz="half" idx="2"/>
          </p:nvPr>
        </p:nvSpPr>
        <p:spPr>
          <a:xfrm>
            <a:off x="35496" y="1196752"/>
            <a:ext cx="8748464" cy="5256584"/>
          </a:xfrm>
        </p:spPr>
        <p:txBody>
          <a:bodyPr>
            <a:noAutofit/>
          </a:bodyPr>
          <a:lstStyle/>
          <a:p>
            <a:pPr fontAlgn="base"/>
            <a:r>
              <a:rPr lang="en-US" sz="2400" dirty="0"/>
              <a:t>Manage Stakeholder Engagement is the process of communicating and working with stakeholders to meet their expectations. This process involves engagement stakeholders, addressing their concerns, and clarifying issues.</a:t>
            </a:r>
          </a:p>
          <a:p>
            <a:pPr fontAlgn="base"/>
            <a:endParaRPr lang="en-US" sz="2400" dirty="0"/>
          </a:p>
          <a:p>
            <a:pPr fontAlgn="base"/>
            <a:r>
              <a:rPr lang="en-US" sz="2400" dirty="0"/>
              <a:t>When the stakeholders feel their concerns have been heard and addressed, their support for the project will increase.</a:t>
            </a:r>
          </a:p>
          <a:p>
            <a:pPr fontAlgn="base"/>
            <a:endParaRPr lang="en-US" sz="2400" dirty="0"/>
          </a:p>
          <a:p>
            <a:pPr fontAlgn="base"/>
            <a:r>
              <a:rPr lang="en-US" sz="2400" dirty="0"/>
              <a:t>The stakeholders’ influence on the project is highest during initiation and gets progressively lower as the project progresses.</a:t>
            </a:r>
          </a:p>
          <a:p>
            <a:pPr fontAlgn="base"/>
            <a:endParaRPr lang="en-US" sz="2400" dirty="0"/>
          </a:p>
          <a:p>
            <a:pPr fontAlgn="base"/>
            <a:r>
              <a:rPr lang="en-US" sz="2400" dirty="0"/>
              <a:t>To be successful on this process, you, the project manager, need to have strong interpersonal skills, such as conflict resolution and active listening.</a:t>
            </a:r>
          </a:p>
          <a:p>
            <a:endParaRPr lang="en-US" sz="2400" dirty="0"/>
          </a:p>
        </p:txBody>
      </p:sp>
    </p:spTree>
    <p:extLst>
      <p:ext uri="{BB962C8B-B14F-4D97-AF65-F5344CB8AC3E}">
        <p14:creationId xmlns:p14="http://schemas.microsoft.com/office/powerpoint/2010/main" val="2535768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5856" y="-27384"/>
            <a:ext cx="5760640" cy="1143000"/>
          </a:xfrm>
        </p:spPr>
        <p:txBody>
          <a:bodyPr>
            <a:normAutofit fontScale="90000"/>
          </a:bodyPr>
          <a:lstStyle/>
          <a:p>
            <a:r>
              <a:rPr lang="en-US" b="1" dirty="0"/>
              <a:t>Monitor Stakeholder Engagement</a:t>
            </a:r>
          </a:p>
        </p:txBody>
      </p:sp>
      <p:sp>
        <p:nvSpPr>
          <p:cNvPr id="5" name="Rectangle 4"/>
          <p:cNvSpPr/>
          <p:nvPr/>
        </p:nvSpPr>
        <p:spPr>
          <a:xfrm>
            <a:off x="395536" y="1772816"/>
            <a:ext cx="8280920" cy="2308324"/>
          </a:xfrm>
          <a:prstGeom prst="rect">
            <a:avLst/>
          </a:prstGeom>
        </p:spPr>
        <p:txBody>
          <a:bodyPr wrap="square">
            <a:spAutoFit/>
          </a:bodyPr>
          <a:lstStyle/>
          <a:p>
            <a:r>
              <a:rPr lang="en-US" sz="3600" dirty="0"/>
              <a:t>Monitor Stakeholder Engagement is the process of monitoring overall project stakeholder relationships and adjustment strategies for engagement accordingly.</a:t>
            </a:r>
          </a:p>
        </p:txBody>
      </p:sp>
    </p:spTree>
    <p:extLst>
      <p:ext uri="{BB962C8B-B14F-4D97-AF65-F5344CB8AC3E}">
        <p14:creationId xmlns:p14="http://schemas.microsoft.com/office/powerpoint/2010/main" val="466881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5146</TotalTime>
  <Words>1874</Words>
  <Application>Microsoft Office PowerPoint</Application>
  <PresentationFormat>On-screen Show (4:3)</PresentationFormat>
  <Paragraphs>121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Courier New</vt:lpstr>
      <vt:lpstr>Georgia</vt:lpstr>
      <vt:lpstr>Office Theme</vt:lpstr>
      <vt:lpstr>PowerPoint Presentation</vt:lpstr>
      <vt:lpstr>Project Stakeholders</vt:lpstr>
      <vt:lpstr>STAKEHOLDERS</vt:lpstr>
      <vt:lpstr>WHY STAKE HOLDERS ARE IMPORTANT?</vt:lpstr>
      <vt:lpstr>PowerPoint Presentation</vt:lpstr>
      <vt:lpstr>STAKEHOLDER MANAGEMENT</vt:lpstr>
      <vt:lpstr>PowerPoint Presentation</vt:lpstr>
      <vt:lpstr>PowerPoint Presentation</vt:lpstr>
      <vt:lpstr>IDENTIFY STAKEHOLDERS</vt:lpstr>
      <vt:lpstr>STAKEHOLDER ANALYSIS</vt:lpstr>
      <vt:lpstr>STAKEHOLDER ANALYSIS-Methodologies</vt:lpstr>
      <vt:lpstr>Stakeholder Analysis Classification Models</vt:lpstr>
      <vt:lpstr>Scenario Answer</vt:lpstr>
      <vt:lpstr>Salience Model</vt:lpstr>
      <vt:lpstr>Salience Model-  Stakeholders 3 Attributes</vt:lpstr>
      <vt:lpstr>         Salience Model- Low Priority</vt:lpstr>
      <vt:lpstr> Salience Model-  Moderate Priority</vt:lpstr>
      <vt:lpstr>PowerPoint Presentation</vt:lpstr>
      <vt:lpstr>Stakeholder- Register</vt:lpstr>
      <vt:lpstr>PLAN STAKEHOLDER</vt:lpstr>
      <vt:lpstr>STAKEHOLDER MATRIX</vt:lpstr>
      <vt:lpstr>Manage Stakeholder Engagement</vt:lpstr>
      <vt:lpstr>Monitor Stakeholder Engagement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sajid mahmood BUKC</cp:lastModifiedBy>
  <cp:revision>342</cp:revision>
  <dcterms:created xsi:type="dcterms:W3CDTF">2013-08-21T19:17:07Z</dcterms:created>
  <dcterms:modified xsi:type="dcterms:W3CDTF">2025-03-16T07:18:45Z</dcterms:modified>
</cp:coreProperties>
</file>