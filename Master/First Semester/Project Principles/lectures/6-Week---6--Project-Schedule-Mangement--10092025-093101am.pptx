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84" r:id="rId3"/>
    <p:sldId id="285" r:id="rId4"/>
    <p:sldId id="286" r:id="rId5"/>
    <p:sldId id="287"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1" r:id="rId20"/>
    <p:sldId id="356" r:id="rId21"/>
    <p:sldId id="302" r:id="rId22"/>
    <p:sldId id="329" r:id="rId23"/>
    <p:sldId id="327" r:id="rId24"/>
    <p:sldId id="303" r:id="rId25"/>
    <p:sldId id="304" r:id="rId26"/>
    <p:sldId id="305" r:id="rId27"/>
    <p:sldId id="306" r:id="rId28"/>
    <p:sldId id="307" r:id="rId29"/>
    <p:sldId id="308" r:id="rId30"/>
    <p:sldId id="309" r:id="rId31"/>
    <p:sldId id="310" r:id="rId32"/>
    <p:sldId id="311" r:id="rId33"/>
    <p:sldId id="312" r:id="rId34"/>
    <p:sldId id="313" r:id="rId35"/>
    <p:sldId id="335" r:id="rId36"/>
    <p:sldId id="330" r:id="rId37"/>
    <p:sldId id="314" r:id="rId38"/>
    <p:sldId id="315" r:id="rId39"/>
    <p:sldId id="334" r:id="rId40"/>
    <p:sldId id="357" r:id="rId41"/>
    <p:sldId id="317" r:id="rId42"/>
    <p:sldId id="318" r:id="rId43"/>
    <p:sldId id="316" r:id="rId44"/>
    <p:sldId id="319" r:id="rId45"/>
    <p:sldId id="320" r:id="rId46"/>
    <p:sldId id="336" r:id="rId47"/>
    <p:sldId id="321" r:id="rId48"/>
    <p:sldId id="337" r:id="rId49"/>
    <p:sldId id="339" r:id="rId50"/>
    <p:sldId id="351" r:id="rId51"/>
    <p:sldId id="350" r:id="rId52"/>
    <p:sldId id="353" r:id="rId53"/>
    <p:sldId id="352" r:id="rId54"/>
    <p:sldId id="354" r:id="rId55"/>
    <p:sldId id="348" r:id="rId56"/>
    <p:sldId id="338" r:id="rId57"/>
    <p:sldId id="355" r:id="rId58"/>
    <p:sldId id="358"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E1D"/>
    <a:srgbClr val="008000"/>
    <a:srgbClr val="D68B1C"/>
    <a:srgbClr val="D09622"/>
    <a:srgbClr val="157FFF"/>
    <a:srgbClr val="F7E28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86" d="100"/>
          <a:sy n="86" d="100"/>
        </p:scale>
        <p:origin x="153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FEF12B-7DAB-4457-AC60-EAA0DAD6BCF4}" type="datetimeFigureOut">
              <a:rPr lang="en-US" smtClean="0"/>
              <a:pPr/>
              <a:t>3/30/2024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434123-F2F4-4EED-A50E-42F1E7A18F5F}" type="slidenum">
              <a:rPr lang="en-US" smtClean="0"/>
              <a:pPr/>
              <a:t>‹#›</a:t>
            </a:fld>
            <a:endParaRPr lang="en-US"/>
          </a:p>
        </p:txBody>
      </p:sp>
    </p:spTree>
    <p:extLst>
      <p:ext uri="{BB962C8B-B14F-4D97-AF65-F5344CB8AC3E}">
        <p14:creationId xmlns:p14="http://schemas.microsoft.com/office/powerpoint/2010/main" val="422743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9785" y="2207360"/>
            <a:ext cx="7772400" cy="763525"/>
          </a:xfrm>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2434130" y="4039820"/>
            <a:ext cx="6400800" cy="1068935"/>
          </a:xfrm>
        </p:spPr>
        <p:txBody>
          <a:bodyPr>
            <a:normAutofit/>
          </a:bodyPr>
          <a:lstStyle>
            <a:lvl1pPr marL="0" indent="0" algn="r">
              <a:buNone/>
              <a:defRPr sz="2800">
                <a:solidFill>
                  <a:srgbClr val="00B0F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a:t>
            </a:r>
          </a:p>
          <a:p>
            <a:r>
              <a:rPr lang="en-US" dirty="0" smtClean="0"/>
              <a:t>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4375" y="527605"/>
            <a:ext cx="8229600" cy="610820"/>
          </a:xfrm>
        </p:spPr>
        <p:txBody>
          <a:bodyPr>
            <a:normAutofit/>
          </a:bodyPr>
          <a:lstStyle>
            <a:lvl1pPr algn="r">
              <a:defRPr sz="3600">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754374" y="1443835"/>
            <a:ext cx="7482545" cy="458115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23310" y="527605"/>
            <a:ext cx="7016195" cy="684885"/>
          </a:xfrm>
        </p:spPr>
        <p:txBody>
          <a:bodyPr>
            <a:normAutofit/>
          </a:bodyPr>
          <a:lstStyle>
            <a:lvl1pPr algn="l">
              <a:defRPr sz="3600">
                <a:solidFill>
                  <a:srgbClr val="00B0F0"/>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823310" y="1443835"/>
            <a:ext cx="7016195" cy="427574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074F12-AA26-4AC8-9962-C36BB8F32554}" type="datetimeFigureOut">
              <a:rPr lang="en-US" smtClean="0"/>
              <a:pPr/>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56010" y="527605"/>
            <a:ext cx="6244435" cy="532180"/>
          </a:xfrm>
        </p:spPr>
        <p:txBody>
          <a:bodyPr>
            <a:normAutofit/>
          </a:bodyPr>
          <a:lstStyle>
            <a:lvl1pPr algn="r">
              <a:defRPr sz="3600">
                <a:solidFill>
                  <a:schemeClr val="bg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01671" y="1596540"/>
            <a:ext cx="3817624" cy="639762"/>
          </a:xfrm>
        </p:spPr>
        <p:txBody>
          <a:bodyPr anchor="b"/>
          <a:lstStyle>
            <a:lvl1pPr marL="0" indent="0">
              <a:buNone/>
              <a:defRPr sz="2400" b="1" baseline="0">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1671" y="2226403"/>
            <a:ext cx="3817624"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724705" y="1596540"/>
            <a:ext cx="3970330" cy="639762"/>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724705" y="2226403"/>
            <a:ext cx="3970330"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3/30/2024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3/30/2024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3/30/2024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3/30/2024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url?sa=i&amp;rct=j&amp;q=&amp;esrc=s&amp;source=images&amp;cd=&amp;ved=2ahUKEwj88pfQpqffAhUN-YUKHZMyAOMQjRx6BAgBEAU&amp;url=http://lighthouseinsights.in/creative-promotions-by-brands-and-the-dabbawalas-of-mumbai.html/&amp;psig=AOvVaw3-BZvvl3V8nvlV1CStVCF1&amp;ust=1545151058237242" TargetMode="External"/><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s://programsuccess.wordpress.com/?attachment_id=948"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8130" name="AutoShape 2" descr="Image result for mumbai dabbawala">
            <a:hlinkClick r:id="rId3"/>
          </p:cNvPr>
          <p:cNvSpPr>
            <a:spLocks noChangeAspect="1" noChangeArrowheads="1"/>
          </p:cNvSpPr>
          <p:nvPr/>
        </p:nvSpPr>
        <p:spPr bwMode="auto">
          <a:xfrm>
            <a:off x="117475" y="-1668463"/>
            <a:ext cx="6143625" cy="34861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48132" name="AutoShape 4" descr="Image result for mumbai dabbawala">
            <a:hlinkClick r:id="rId3"/>
          </p:cNvPr>
          <p:cNvSpPr>
            <a:spLocks noChangeAspect="1" noChangeArrowheads="1"/>
          </p:cNvSpPr>
          <p:nvPr/>
        </p:nvSpPr>
        <p:spPr bwMode="auto">
          <a:xfrm>
            <a:off x="117475" y="-1668463"/>
            <a:ext cx="6143625" cy="34861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4387" y="1714488"/>
            <a:ext cx="2468880"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8" descr="Slideheader01"/>
          <p:cNvSpPr>
            <a:spLocks noGrp="1" noChangeArrowheads="1"/>
          </p:cNvSpPr>
          <p:nvPr>
            <p:ph type="ctrTitle"/>
          </p:nvPr>
        </p:nvSpPr>
        <p:spPr>
          <a:xfrm>
            <a:off x="2627785" y="2179885"/>
            <a:ext cx="6515482" cy="1321123"/>
          </a:xfrm>
          <a:noFill/>
          <a:extLst>
            <a:ext uri="{909E8E84-426E-40DD-AFC4-6F175D3DCCD1}">
              <a14:hiddenFill xmlns:a14="http://schemas.microsoft.com/office/drawing/2010/main">
                <a:blipFill dpi="0" rotWithShape="1">
                  <a:blip r:embed="rId5"/>
                  <a:srcRect/>
                  <a:stretch>
                    <a:fillRect/>
                  </a:stretch>
                </a:blipFill>
              </a14:hiddenFill>
            </a:ext>
          </a:extLst>
        </p:spPr>
        <p:txBody>
          <a:bodyPr>
            <a:noAutofit/>
          </a:bodyPr>
          <a:lstStyle/>
          <a:p>
            <a:pPr indent="0" algn="ctr" eaLnBrk="1" hangingPunct="1"/>
            <a:r>
              <a:rPr lang="en-US" sz="3200" b="1" dirty="0" smtClean="0">
                <a:solidFill>
                  <a:schemeClr val="tx1"/>
                </a:solidFill>
              </a:rPr>
              <a:t>SCEDULE MANAGEMENT</a:t>
            </a:r>
          </a:p>
        </p:txBody>
      </p:sp>
      <p:pic>
        <p:nvPicPr>
          <p:cNvPr id="9" name="Picture 8" descr="D:\bahria 2019\FOPM\Sumaiya\Lecture 7\Prep\Intro.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00261" y="5373216"/>
            <a:ext cx="4843006" cy="1493645"/>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p:nvPr>
        </p:nvSpPr>
        <p:spPr>
          <a:xfrm>
            <a:off x="4047330" y="5873597"/>
            <a:ext cx="3044950" cy="1443835"/>
          </a:xfrm>
        </p:spPr>
        <p:txBody>
          <a:bodyPr>
            <a:noAutofit/>
          </a:bodyPr>
          <a:lstStyle/>
          <a:p>
            <a:pPr algn="ctr"/>
            <a:r>
              <a:rPr lang="en-US" sz="2000" b="1" i="1" dirty="0" smtClean="0">
                <a:solidFill>
                  <a:schemeClr val="bg1">
                    <a:lumMod val="95000"/>
                  </a:schemeClr>
                </a:solidFill>
                <a:latin typeface="Georgia" pitchFamily="18" charset="0"/>
              </a:rPr>
              <a:t>LECTURE # 8</a:t>
            </a:r>
          </a:p>
          <a:p>
            <a:pPr algn="ctr"/>
            <a:endParaRPr lang="en-US" sz="2000" b="1" i="1" dirty="0" smtClean="0">
              <a:solidFill>
                <a:schemeClr val="bg1">
                  <a:lumMod val="95000"/>
                </a:schemeClr>
              </a:solidFill>
              <a:latin typeface="Georgia" pitchFamily="18" charset="0"/>
            </a:endParaRPr>
          </a:p>
        </p:txBody>
      </p:sp>
    </p:spTree>
    <p:extLst>
      <p:ext uri="{BB962C8B-B14F-4D97-AF65-F5344CB8AC3E}">
        <p14:creationId xmlns:p14="http://schemas.microsoft.com/office/powerpoint/2010/main" val="363920370"/>
      </p:ext>
    </p:extLst>
  </p:cSld>
  <p:clrMapOvr>
    <a:masterClrMapping/>
  </p:clrMapOvr>
  <p:transition spd="slow">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30-01-12.JPG"/>
          <p:cNvPicPr>
            <a:picLocks noGrp="1" noChangeAspect="1"/>
          </p:cNvPicPr>
          <p:nvPr>
            <p:ph idx="1"/>
          </p:nvPr>
        </p:nvPicPr>
        <p:blipFill>
          <a:blip r:embed="rId2" cstate="print"/>
          <a:stretch>
            <a:fillRect/>
          </a:stretch>
        </p:blipFill>
        <p:spPr>
          <a:xfrm>
            <a:off x="0" y="1124744"/>
            <a:ext cx="9144000" cy="5790764"/>
          </a:xfrm>
        </p:spPr>
      </p:pic>
    </p:spTree>
    <p:extLst>
      <p:ext uri="{BB962C8B-B14F-4D97-AF65-F5344CB8AC3E}">
        <p14:creationId xmlns:p14="http://schemas.microsoft.com/office/powerpoint/2010/main" val="7197847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1840" y="-120426"/>
            <a:ext cx="6228184" cy="1173162"/>
          </a:xfrm>
        </p:spPr>
        <p:txBody>
          <a:bodyPr>
            <a:normAutofit/>
          </a:bodyPr>
          <a:lstStyle/>
          <a:p>
            <a:pPr algn="ctr"/>
            <a:r>
              <a:rPr lang="en-US" sz="2400" dirty="0"/>
              <a:t>HAVE YOU EVER NOTICED YOUR MOST PRODUCTIVE TIME AT WORKPLACE IN A DAY?</a:t>
            </a:r>
          </a:p>
        </p:txBody>
      </p:sp>
      <p:pic>
        <p:nvPicPr>
          <p:cNvPr id="6146" name="Picture 2" descr="C:\Users\Habib\Desktop\Sep 18 Class\Scheduling\graph.jpg"/>
          <p:cNvPicPr>
            <a:picLocks noChangeAspect="1" noChangeArrowheads="1"/>
          </p:cNvPicPr>
          <p:nvPr/>
        </p:nvPicPr>
        <p:blipFill>
          <a:blip r:embed="rId2" cstate="print"/>
          <a:srcRect/>
          <a:stretch>
            <a:fillRect/>
          </a:stretch>
        </p:blipFill>
        <p:spPr bwMode="auto">
          <a:xfrm>
            <a:off x="1143000" y="1828800"/>
            <a:ext cx="6856413" cy="3886200"/>
          </a:xfrm>
          <a:prstGeom prst="rect">
            <a:avLst/>
          </a:prstGeom>
          <a:noFill/>
        </p:spPr>
      </p:pic>
    </p:spTree>
    <p:extLst>
      <p:ext uri="{BB962C8B-B14F-4D97-AF65-F5344CB8AC3E}">
        <p14:creationId xmlns:p14="http://schemas.microsoft.com/office/powerpoint/2010/main" val="1383591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275855" y="260648"/>
            <a:ext cx="5708119" cy="610820"/>
          </a:xfrm>
        </p:spPr>
        <p:txBody>
          <a:bodyPr>
            <a:noAutofit/>
          </a:bodyPr>
          <a:lstStyle/>
          <a:p>
            <a:pPr algn="ctr"/>
            <a:r>
              <a:rPr lang="en-US" sz="4400" dirty="0"/>
              <a:t> TIME ROBBERS</a:t>
            </a:r>
          </a:p>
        </p:txBody>
      </p:sp>
      <p:sp>
        <p:nvSpPr>
          <p:cNvPr id="3" name="Content Placeholder 2"/>
          <p:cNvSpPr>
            <a:spLocks noGrp="1"/>
          </p:cNvSpPr>
          <p:nvPr>
            <p:ph idx="1"/>
          </p:nvPr>
        </p:nvSpPr>
        <p:spPr>
          <a:xfrm>
            <a:off x="0" y="1524000"/>
            <a:ext cx="5410200" cy="5334000"/>
          </a:xfrm>
        </p:spPr>
        <p:txBody>
          <a:bodyPr/>
          <a:lstStyle/>
          <a:p>
            <a:pPr algn="just">
              <a:buNone/>
            </a:pPr>
            <a:r>
              <a:rPr lang="en-US" dirty="0">
                <a:solidFill>
                  <a:srgbClr val="495764"/>
                </a:solidFill>
                <a:latin typeface="Calibri" pitchFamily="34" charset="0"/>
                <a:ea typeface="Times New Roman" pitchFamily="18" charset="0"/>
                <a:cs typeface="Calibri" pitchFamily="34" charset="0"/>
              </a:rPr>
              <a:t>	A "time robber" is something which distracts us from doing important tasks which have more value in projects with limited time. </a:t>
            </a:r>
          </a:p>
          <a:p>
            <a:pPr algn="just">
              <a:buNone/>
            </a:pPr>
            <a:r>
              <a:rPr lang="en-US" dirty="0">
                <a:solidFill>
                  <a:srgbClr val="495764"/>
                </a:solidFill>
                <a:latin typeface="Calibri" pitchFamily="34" charset="0"/>
                <a:ea typeface="Times New Roman" pitchFamily="18" charset="0"/>
                <a:cs typeface="Calibri" pitchFamily="34" charset="0"/>
              </a:rPr>
              <a:t>	The "time robbers" cause us to consume large chunks of time in relatively unproductive, low-value activities.</a:t>
            </a:r>
            <a:endParaRPr lang="en-US" dirty="0"/>
          </a:p>
        </p:txBody>
      </p:sp>
      <p:pic>
        <p:nvPicPr>
          <p:cNvPr id="1026" name="Picture 2" descr="C:\Users\Habib\Desktop\Sep 18 Class\Scheduling\iStock_000015666827XSmall3.jpg"/>
          <p:cNvPicPr>
            <a:picLocks noChangeAspect="1" noChangeArrowheads="1"/>
          </p:cNvPicPr>
          <p:nvPr/>
        </p:nvPicPr>
        <p:blipFill>
          <a:blip r:embed="rId2" cstate="print"/>
          <a:srcRect/>
          <a:stretch>
            <a:fillRect/>
          </a:stretch>
        </p:blipFill>
        <p:spPr bwMode="auto">
          <a:xfrm>
            <a:off x="6019800" y="1981200"/>
            <a:ext cx="2762250" cy="4343400"/>
          </a:xfrm>
          <a:prstGeom prst="rect">
            <a:avLst/>
          </a:prstGeom>
          <a:noFill/>
        </p:spPr>
      </p:pic>
    </p:spTree>
    <p:extLst>
      <p:ext uri="{BB962C8B-B14F-4D97-AF65-F5344CB8AC3E}">
        <p14:creationId xmlns:p14="http://schemas.microsoft.com/office/powerpoint/2010/main" val="26479639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dirty="0"/>
          </a:p>
        </p:txBody>
      </p:sp>
      <p:pic>
        <p:nvPicPr>
          <p:cNvPr id="2050" name="Picture 2" descr="C:\Users\Habib\Desktop\Sep 18 Class\Scheduling\TR1.JPG"/>
          <p:cNvPicPr>
            <a:picLocks noGrp="1" noChangeAspect="1" noChangeArrowheads="1"/>
          </p:cNvPicPr>
          <p:nvPr>
            <p:ph idx="1"/>
          </p:nvPr>
        </p:nvPicPr>
        <p:blipFill>
          <a:blip r:embed="rId2" cstate="print"/>
          <a:srcRect/>
          <a:stretch>
            <a:fillRect/>
          </a:stretch>
        </p:blipFill>
        <p:spPr bwMode="auto">
          <a:xfrm>
            <a:off x="0" y="0"/>
            <a:ext cx="9144000" cy="6858000"/>
          </a:xfrm>
          <a:prstGeom prst="rect">
            <a:avLst/>
          </a:prstGeom>
          <a:noFill/>
        </p:spPr>
      </p:pic>
    </p:spTree>
    <p:extLst>
      <p:ext uri="{BB962C8B-B14F-4D97-AF65-F5344CB8AC3E}">
        <p14:creationId xmlns:p14="http://schemas.microsoft.com/office/powerpoint/2010/main" val="29134954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dirty="0"/>
          </a:p>
        </p:txBody>
      </p:sp>
      <p:pic>
        <p:nvPicPr>
          <p:cNvPr id="3074" name="Picture 2" descr="C:\Users\Habib\Desktop\Sep 18 Class\Scheduling\IE time robbers.jpg"/>
          <p:cNvPicPr>
            <a:picLocks noGrp="1" noChangeAspect="1" noChangeArrowheads="1"/>
          </p:cNvPicPr>
          <p:nvPr>
            <p:ph idx="1"/>
          </p:nvPr>
        </p:nvPicPr>
        <p:blipFill>
          <a:blip r:embed="rId2" cstate="print"/>
          <a:srcRect/>
          <a:stretch>
            <a:fillRect/>
          </a:stretch>
        </p:blipFill>
        <p:spPr bwMode="auto">
          <a:xfrm>
            <a:off x="0" y="0"/>
            <a:ext cx="9144000" cy="6934200"/>
          </a:xfrm>
          <a:prstGeom prst="rect">
            <a:avLst/>
          </a:prstGeom>
          <a:noFill/>
        </p:spPr>
      </p:pic>
    </p:spTree>
    <p:extLst>
      <p:ext uri="{BB962C8B-B14F-4D97-AF65-F5344CB8AC3E}">
        <p14:creationId xmlns:p14="http://schemas.microsoft.com/office/powerpoint/2010/main" val="17661496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491880" y="244475"/>
            <a:ext cx="5652120" cy="898525"/>
          </a:xfrm>
        </p:spPr>
        <p:txBody>
          <a:bodyPr>
            <a:normAutofit fontScale="90000"/>
          </a:bodyPr>
          <a:lstStyle/>
          <a:p>
            <a:pPr algn="ctr"/>
            <a:r>
              <a:rPr lang="en-US" sz="3600" dirty="0"/>
              <a:t>ON TIME PROJECT COMPLETION-</a:t>
            </a:r>
            <a:r>
              <a:rPr lang="en-US" sz="3600" dirty="0">
                <a:solidFill>
                  <a:srgbClr val="FF0000"/>
                </a:solidFill>
              </a:rPr>
              <a:t> </a:t>
            </a:r>
            <a:r>
              <a:rPr lang="en-US" sz="3600" b="1" dirty="0">
                <a:solidFill>
                  <a:srgbClr val="FFC000"/>
                </a:solidFill>
              </a:rPr>
              <a:t>A Challenge</a:t>
            </a:r>
            <a:endParaRPr lang="en-US" b="1" dirty="0">
              <a:solidFill>
                <a:srgbClr val="FFC000"/>
              </a:solidFill>
            </a:endParaRPr>
          </a:p>
        </p:txBody>
      </p:sp>
      <p:sp>
        <p:nvSpPr>
          <p:cNvPr id="15363" name="Rectangle 3"/>
          <p:cNvSpPr>
            <a:spLocks noGrp="1" noChangeArrowheads="1"/>
          </p:cNvSpPr>
          <p:nvPr>
            <p:ph idx="1"/>
          </p:nvPr>
        </p:nvSpPr>
        <p:spPr>
          <a:xfrm>
            <a:off x="0" y="1371600"/>
            <a:ext cx="9144000" cy="4114800"/>
          </a:xfrm>
        </p:spPr>
        <p:txBody>
          <a:bodyPr>
            <a:normAutofit lnSpcReduction="10000"/>
          </a:bodyPr>
          <a:lstStyle/>
          <a:p>
            <a:pPr algn="just"/>
            <a:r>
              <a:rPr lang="en-US" sz="3600" dirty="0">
                <a:solidFill>
                  <a:srgbClr val="002060"/>
                </a:solidFill>
              </a:rPr>
              <a:t>Managers often cite delivering projects on time as one of their biggest challenges.</a:t>
            </a:r>
          </a:p>
          <a:p>
            <a:pPr algn="just"/>
            <a:r>
              <a:rPr lang="en-US" sz="3600" dirty="0">
                <a:solidFill>
                  <a:srgbClr val="002060"/>
                </a:solidFill>
              </a:rPr>
              <a:t>Time has the least amount of flexibility; it passes no matter what happens on a project.</a:t>
            </a:r>
          </a:p>
          <a:p>
            <a:pPr algn="just"/>
            <a:r>
              <a:rPr lang="en-US" sz="3600" dirty="0">
                <a:solidFill>
                  <a:srgbClr val="002060"/>
                </a:solidFill>
              </a:rPr>
              <a:t>Schedule issues are the main reason for conflicts on projects, especially during the second half of projects.</a:t>
            </a:r>
          </a:p>
        </p:txBody>
      </p:sp>
      <p:sp>
        <p:nvSpPr>
          <p:cNvPr id="4" name="Rectangle 2"/>
          <p:cNvSpPr>
            <a:spLocks noChangeArrowheads="1"/>
          </p:cNvSpPr>
          <p:nvPr/>
        </p:nvSpPr>
        <p:spPr bwMode="auto">
          <a:xfrm>
            <a:off x="196999" y="5439489"/>
            <a:ext cx="8947001"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C00000"/>
                </a:solidFill>
                <a:effectLst/>
                <a:latin typeface="Calibri" pitchFamily="34" charset="0"/>
                <a:ea typeface="Times New Roman" pitchFamily="18" charset="0"/>
                <a:cs typeface="Calibri" pitchFamily="34" charset="0"/>
              </a:rPr>
              <a:t>However if Project Manager keeps his/ her eyes open and be aware of what activities are actually contributing delays in project completion, many of these parasitic losses of time can be managed.</a:t>
            </a:r>
            <a:endParaRPr kumimoji="0" lang="en-US" sz="3600" b="1" i="0" u="none" strike="noStrike" cap="none" normalizeH="0" baseline="0" dirty="0">
              <a:ln>
                <a:noFill/>
              </a:ln>
              <a:solidFill>
                <a:srgbClr val="C00000"/>
              </a:solidFill>
              <a:effectLst/>
              <a:latin typeface="Arial" pitchFamily="34" charset="0"/>
              <a:cs typeface="Arial" pitchFamily="34" charset="0"/>
            </a:endParaRPr>
          </a:p>
        </p:txBody>
      </p:sp>
    </p:spTree>
    <p:extLst>
      <p:ext uri="{BB962C8B-B14F-4D97-AF65-F5344CB8AC3E}">
        <p14:creationId xmlns:p14="http://schemas.microsoft.com/office/powerpoint/2010/main" val="42499726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3203848" y="304800"/>
            <a:ext cx="5940152" cy="457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eaLnBrk="0" hangingPunct="0"/>
            <a:r>
              <a:rPr lang="en-US" sz="3600" b="1" dirty="0" smtClean="0">
                <a:ln w="1905"/>
                <a:solidFill>
                  <a:schemeClr val="bg1"/>
                </a:solidFill>
                <a:effectLst>
                  <a:innerShdw blurRad="69850" dist="43180" dir="5400000">
                    <a:srgbClr val="000000">
                      <a:alpha val="65000"/>
                    </a:srgbClr>
                  </a:innerShdw>
                </a:effectLst>
              </a:rPr>
              <a:t>SCHEDULE </a:t>
            </a:r>
            <a:r>
              <a:rPr lang="en-US" sz="3600" b="1" dirty="0">
                <a:ln w="1905"/>
                <a:solidFill>
                  <a:schemeClr val="bg1"/>
                </a:solidFill>
                <a:effectLst>
                  <a:innerShdw blurRad="69850" dist="43180" dir="5400000">
                    <a:srgbClr val="000000">
                      <a:alpha val="65000"/>
                    </a:srgbClr>
                  </a:innerShdw>
                </a:effectLst>
              </a:rPr>
              <a:t>MANAGEMENT</a:t>
            </a:r>
            <a:endParaRPr kumimoji="0" lang="en-US" sz="3200" b="1" i="0" u="none" strike="noStrike" kern="1200" cap="none" spc="0" normalizeH="0" baseline="0" noProof="0" dirty="0">
              <a:ln w="1905"/>
              <a:solidFill>
                <a:schemeClr val="bg1"/>
              </a:solidFill>
              <a:effectLst>
                <a:innerShdw blurRad="69850" dist="43180" dir="5400000">
                  <a:srgbClr val="000000">
                    <a:alpha val="65000"/>
                  </a:srgbClr>
                </a:innerShdw>
              </a:effectLst>
              <a:uLnTx/>
              <a:uFillTx/>
              <a:latin typeface="+mj-lt"/>
              <a:ea typeface="+mj-ea"/>
              <a:cs typeface="+mj-cs"/>
            </a:endParaRPr>
          </a:p>
        </p:txBody>
      </p:sp>
      <p:sp>
        <p:nvSpPr>
          <p:cNvPr id="9" name="Subtitle 5"/>
          <p:cNvSpPr txBox="1">
            <a:spLocks/>
          </p:cNvSpPr>
          <p:nvPr/>
        </p:nvSpPr>
        <p:spPr bwMode="auto">
          <a:xfrm>
            <a:off x="228600" y="1268760"/>
            <a:ext cx="8686800" cy="52844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eaLnBrk="0" hangingPunct="0">
              <a:spcBef>
                <a:spcPct val="20000"/>
              </a:spcBef>
              <a:defRPr/>
            </a:pPr>
            <a:r>
              <a:rPr lang="en-US" sz="2800" dirty="0">
                <a:solidFill>
                  <a:srgbClr val="0070C0"/>
                </a:solidFill>
                <a:latin typeface="+mn-lt"/>
              </a:rPr>
              <a:t>The role of a project manager is like that of an orchestra's conductor:</a:t>
            </a:r>
          </a:p>
          <a:p>
            <a:pPr algn="just" eaLnBrk="0" hangingPunct="0">
              <a:spcBef>
                <a:spcPct val="20000"/>
              </a:spcBef>
              <a:defRPr/>
            </a:pPr>
            <a:r>
              <a:rPr lang="en-US" sz="2800" dirty="0">
                <a:solidFill>
                  <a:srgbClr val="0070C0"/>
                </a:solidFill>
                <a:latin typeface="+mn-lt"/>
              </a:rPr>
              <a:t>to harmoniously bring all the elements of a project together so project completion can be achieved. Time management for a project manager is like the conductor's baton. It's the simple focal point </a:t>
            </a:r>
            <a:r>
              <a:rPr lang="en-US" sz="2800" b="1" i="1" dirty="0">
                <a:solidFill>
                  <a:srgbClr val="C00000"/>
                </a:solidFill>
                <a:latin typeface="+mn-lt"/>
              </a:rPr>
              <a:t>that keeps all other processes moving.</a:t>
            </a:r>
          </a:p>
          <a:p>
            <a:pPr algn="just" eaLnBrk="0" hangingPunct="0">
              <a:spcBef>
                <a:spcPct val="20000"/>
              </a:spcBef>
              <a:defRPr/>
            </a:pPr>
            <a:endParaRPr lang="en-US" sz="2800" dirty="0">
              <a:solidFill>
                <a:srgbClr val="0070C0"/>
              </a:solidFill>
              <a:latin typeface="+mn-lt"/>
            </a:endParaRPr>
          </a:p>
        </p:txBody>
      </p:sp>
      <p:pic>
        <p:nvPicPr>
          <p:cNvPr id="4" name="Content Placeholder 3" descr="TimeManagement">
            <a:hlinkClick r:id="rId2"/>
          </p:cNvPr>
          <p:cNvPicPr>
            <a:picLocks/>
          </p:cNvPicPr>
          <p:nvPr/>
        </p:nvPicPr>
        <p:blipFill>
          <a:blip r:embed="rId3" cstate="print"/>
          <a:srcRect/>
          <a:stretch>
            <a:fillRect/>
          </a:stretch>
        </p:blipFill>
        <p:spPr bwMode="auto">
          <a:xfrm>
            <a:off x="3494112" y="3933056"/>
            <a:ext cx="3886200" cy="2971800"/>
          </a:xfrm>
          <a:prstGeom prst="rect">
            <a:avLst/>
          </a:prstGeom>
          <a:noFill/>
          <a:ln w="9525">
            <a:noFill/>
            <a:miter lim="800000"/>
            <a:headEnd/>
            <a:tailEnd/>
          </a:ln>
        </p:spPr>
      </p:pic>
    </p:spTree>
    <p:extLst>
      <p:ext uri="{BB962C8B-B14F-4D97-AF65-F5344CB8AC3E}">
        <p14:creationId xmlns:p14="http://schemas.microsoft.com/office/powerpoint/2010/main" val="1315377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5856" y="297900"/>
            <a:ext cx="5636111" cy="610820"/>
          </a:xfrm>
        </p:spPr>
        <p:txBody>
          <a:bodyPr>
            <a:normAutofit fontScale="90000"/>
          </a:bodyPr>
          <a:lstStyle/>
          <a:p>
            <a:pPr algn="ctr"/>
            <a:r>
              <a:rPr lang="en-US" dirty="0" smtClean="0"/>
              <a:t>SCHEDULE MANAGEMENT</a:t>
            </a:r>
            <a:endParaRPr lang="en-US" dirty="0"/>
          </a:p>
        </p:txBody>
      </p:sp>
      <p:sp>
        <p:nvSpPr>
          <p:cNvPr id="3" name="Content Placeholder 2"/>
          <p:cNvSpPr>
            <a:spLocks noGrp="1"/>
          </p:cNvSpPr>
          <p:nvPr>
            <p:ph idx="1"/>
          </p:nvPr>
        </p:nvSpPr>
        <p:spPr/>
        <p:txBody>
          <a:bodyPr>
            <a:normAutofit lnSpcReduction="10000"/>
          </a:bodyPr>
          <a:lstStyle/>
          <a:p>
            <a:r>
              <a:rPr lang="en-US" dirty="0"/>
              <a:t>Project Schedule Management includes the processes required to manage the timely completion of the </a:t>
            </a:r>
            <a:r>
              <a:rPr lang="en-US" dirty="0" smtClean="0"/>
              <a:t>project.</a:t>
            </a:r>
          </a:p>
          <a:p>
            <a:pPr marL="0" indent="0">
              <a:buNone/>
            </a:pPr>
            <a:endParaRPr lang="en-US" dirty="0" smtClean="0"/>
          </a:p>
          <a:p>
            <a:r>
              <a:rPr lang="en-US" dirty="0"/>
              <a:t>Project scheduling provides a detailed plan that represents how and when the project will deliver the products, services, and results defined in the project scope and serves as a tool for communication, managing stakeholders’ expectations, and as a basis for performance reporting. </a:t>
            </a:r>
          </a:p>
        </p:txBody>
      </p:sp>
    </p:spTree>
    <p:extLst>
      <p:ext uri="{BB962C8B-B14F-4D97-AF65-F5344CB8AC3E}">
        <p14:creationId xmlns:p14="http://schemas.microsoft.com/office/powerpoint/2010/main" val="3798835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1026" name="Picture 2" descr="Schedule Management - The Basics | PMC Loun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4744"/>
            <a:ext cx="9144000" cy="54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152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PLAN SCHEDULE MANAGEMENT </a:t>
            </a:r>
          </a:p>
        </p:txBody>
      </p:sp>
      <p:sp>
        <p:nvSpPr>
          <p:cNvPr id="3" name="Content Placeholder 2"/>
          <p:cNvSpPr>
            <a:spLocks noGrp="1"/>
          </p:cNvSpPr>
          <p:nvPr>
            <p:ph idx="1"/>
          </p:nvPr>
        </p:nvSpPr>
        <p:spPr>
          <a:xfrm>
            <a:off x="179512" y="1443835"/>
            <a:ext cx="8784976" cy="4581150"/>
          </a:xfrm>
        </p:spPr>
        <p:txBody>
          <a:bodyPr>
            <a:normAutofit/>
          </a:bodyPr>
          <a:lstStyle/>
          <a:p>
            <a:r>
              <a:rPr lang="en-US" sz="2400" dirty="0"/>
              <a:t>Plan Schedule Management is the process of establishing the policies, procedures, and documentation for planning, developing, managing, executing, and controlling the project schedule. </a:t>
            </a:r>
            <a:endParaRPr lang="en-US" sz="2400" dirty="0" smtClean="0"/>
          </a:p>
          <a:p>
            <a:pPr marL="0" indent="0">
              <a:buNone/>
            </a:pPr>
            <a:endParaRPr lang="en-US" sz="2400" dirty="0" smtClean="0"/>
          </a:p>
          <a:p>
            <a:r>
              <a:rPr lang="en-US" sz="2400" dirty="0" smtClean="0"/>
              <a:t>The </a:t>
            </a:r>
            <a:r>
              <a:rPr lang="en-US" sz="2400" dirty="0"/>
              <a:t>key benefit </a:t>
            </a:r>
            <a:r>
              <a:rPr lang="en-US" sz="2400" dirty="0" smtClean="0"/>
              <a:t>of this </a:t>
            </a:r>
            <a:r>
              <a:rPr lang="en-US" sz="2400" dirty="0"/>
              <a:t>process is that it provides guidance and direction on how the project schedule will be managed throughout the project</a:t>
            </a:r>
          </a:p>
        </p:txBody>
      </p:sp>
    </p:spTree>
    <p:extLst>
      <p:ext uri="{BB962C8B-B14F-4D97-AF65-F5344CB8AC3E}">
        <p14:creationId xmlns:p14="http://schemas.microsoft.com/office/powerpoint/2010/main" val="2941672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2050" name="Picture 2" descr="D:\bahria 2019\FOPM\Sumaiya\Lecture 7\Prep\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268760"/>
            <a:ext cx="8856984" cy="5224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236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INPUTS</a:t>
            </a:r>
            <a:endParaRPr lang="en-US" dirty="0"/>
          </a:p>
        </p:txBody>
      </p:sp>
      <p:sp>
        <p:nvSpPr>
          <p:cNvPr id="3" name="Content Placeholder 2"/>
          <p:cNvSpPr>
            <a:spLocks noGrp="1"/>
          </p:cNvSpPr>
          <p:nvPr>
            <p:ph idx="1"/>
          </p:nvPr>
        </p:nvSpPr>
        <p:spPr>
          <a:xfrm>
            <a:off x="323528" y="1443834"/>
            <a:ext cx="8424936" cy="4865485"/>
          </a:xfrm>
        </p:spPr>
        <p:txBody>
          <a:bodyPr>
            <a:normAutofit fontScale="85000" lnSpcReduction="20000"/>
          </a:bodyPr>
          <a:lstStyle/>
          <a:p>
            <a:pPr marL="0" indent="0">
              <a:buNone/>
            </a:pPr>
            <a:r>
              <a:rPr lang="en-US" dirty="0" smtClean="0"/>
              <a:t>1- PROJECT </a:t>
            </a:r>
            <a:r>
              <a:rPr lang="en-US" dirty="0"/>
              <a:t>CHARTER </a:t>
            </a:r>
          </a:p>
          <a:p>
            <a:pPr marL="0" indent="0">
              <a:buNone/>
            </a:pPr>
            <a:r>
              <a:rPr lang="en-US" dirty="0" smtClean="0"/>
              <a:t>2-PROJECT </a:t>
            </a:r>
            <a:r>
              <a:rPr lang="en-US" dirty="0"/>
              <a:t>MANAGEMENT PLAN </a:t>
            </a:r>
            <a:endParaRPr lang="en-US" dirty="0" smtClean="0"/>
          </a:p>
          <a:p>
            <a:r>
              <a:rPr lang="en-US" dirty="0" smtClean="0"/>
              <a:t>Scope </a:t>
            </a:r>
            <a:r>
              <a:rPr lang="en-US" dirty="0"/>
              <a:t>management plan. </a:t>
            </a:r>
            <a:endParaRPr lang="en-US" dirty="0" smtClean="0"/>
          </a:p>
          <a:p>
            <a:r>
              <a:rPr lang="en-US" dirty="0" smtClean="0"/>
              <a:t>Development approach</a:t>
            </a:r>
          </a:p>
          <a:p>
            <a:pPr marL="0" indent="0">
              <a:buNone/>
            </a:pPr>
            <a:r>
              <a:rPr lang="en-US" dirty="0" smtClean="0"/>
              <a:t>3- ENTERPRISE </a:t>
            </a:r>
            <a:r>
              <a:rPr lang="en-US" dirty="0"/>
              <a:t>ENVIRONMENTALFACTORS </a:t>
            </a:r>
            <a:r>
              <a:rPr lang="en-US" dirty="0" smtClean="0"/>
              <a:t>:The </a:t>
            </a:r>
            <a:r>
              <a:rPr lang="en-US" dirty="0"/>
              <a:t>enterprise environmental factors that can influence the Plan Schedule Management process include but are not limited to: Organizational culture and structure</a:t>
            </a:r>
            <a:r>
              <a:rPr lang="en-US" dirty="0" smtClean="0"/>
              <a:t>, </a:t>
            </a:r>
            <a:r>
              <a:rPr lang="en-US" dirty="0"/>
              <a:t>Team resource availability and skills and physical resource availability, Scheduling </a:t>
            </a:r>
            <a:r>
              <a:rPr lang="en-US" dirty="0" smtClean="0"/>
              <a:t>software and so on.</a:t>
            </a:r>
          </a:p>
          <a:p>
            <a:pPr marL="0" indent="0">
              <a:buNone/>
            </a:pPr>
            <a:r>
              <a:rPr lang="en-US" dirty="0" smtClean="0"/>
              <a:t>4- ORGANIZATIONALPROCESS </a:t>
            </a:r>
            <a:r>
              <a:rPr lang="en-US" dirty="0"/>
              <a:t>ASSETS The organizational process assets that can influence the Plan Schedule Management process include but are not limited to: Historical information and lessons learned </a:t>
            </a:r>
            <a:r>
              <a:rPr lang="en-US" dirty="0" smtClean="0"/>
              <a:t>repositories; </a:t>
            </a:r>
            <a:r>
              <a:rPr lang="en-US" dirty="0"/>
              <a:t>Templates and </a:t>
            </a:r>
            <a:r>
              <a:rPr lang="en-US" dirty="0" smtClean="0"/>
              <a:t>forms and so on.</a:t>
            </a:r>
            <a:endParaRPr lang="en-US" dirty="0"/>
          </a:p>
        </p:txBody>
      </p:sp>
    </p:spTree>
    <p:extLst>
      <p:ext uri="{BB962C8B-B14F-4D97-AF65-F5344CB8AC3E}">
        <p14:creationId xmlns:p14="http://schemas.microsoft.com/office/powerpoint/2010/main" val="1455626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871" y="527605"/>
            <a:ext cx="5564103" cy="610820"/>
          </a:xfrm>
        </p:spPr>
        <p:txBody>
          <a:bodyPr>
            <a:normAutofit fontScale="90000"/>
          </a:bodyPr>
          <a:lstStyle/>
          <a:p>
            <a:pPr algn="ctr"/>
            <a:r>
              <a:rPr lang="en-US" dirty="0"/>
              <a:t>TOOLS AND TECHNIQUES</a:t>
            </a:r>
          </a:p>
        </p:txBody>
      </p:sp>
      <p:sp>
        <p:nvSpPr>
          <p:cNvPr id="3" name="Content Placeholder 2"/>
          <p:cNvSpPr>
            <a:spLocks noGrp="1"/>
          </p:cNvSpPr>
          <p:nvPr>
            <p:ph idx="1"/>
          </p:nvPr>
        </p:nvSpPr>
        <p:spPr>
          <a:xfrm>
            <a:off x="395536" y="1443834"/>
            <a:ext cx="8208912" cy="5225525"/>
          </a:xfrm>
        </p:spPr>
        <p:txBody>
          <a:bodyPr>
            <a:normAutofit fontScale="70000" lnSpcReduction="20000"/>
          </a:bodyPr>
          <a:lstStyle/>
          <a:p>
            <a:pPr marL="0" indent="0">
              <a:buNone/>
            </a:pPr>
            <a:r>
              <a:rPr lang="en-US" dirty="0" smtClean="0"/>
              <a:t>1- EXPERT </a:t>
            </a:r>
            <a:r>
              <a:rPr lang="en-US" dirty="0"/>
              <a:t>JUDGMENT </a:t>
            </a:r>
            <a:endParaRPr lang="en-US" dirty="0" smtClean="0"/>
          </a:p>
          <a:p>
            <a:pPr marL="0" indent="0">
              <a:buNone/>
            </a:pPr>
            <a:r>
              <a:rPr lang="en-US" dirty="0" smtClean="0"/>
              <a:t>Expertise </a:t>
            </a:r>
            <a:r>
              <a:rPr lang="en-US" dirty="0"/>
              <a:t>should be considered from individuals or groups with specialized knowledge or training in previous, similar </a:t>
            </a:r>
            <a:r>
              <a:rPr lang="en-US" dirty="0" smtClean="0"/>
              <a:t>projects</a:t>
            </a:r>
          </a:p>
          <a:p>
            <a:pPr marL="0" indent="0">
              <a:buNone/>
            </a:pPr>
            <a:endParaRPr lang="en-US" dirty="0" smtClean="0"/>
          </a:p>
          <a:p>
            <a:pPr marL="0" indent="0">
              <a:buNone/>
            </a:pPr>
            <a:r>
              <a:rPr lang="en-US" dirty="0" smtClean="0"/>
              <a:t>2- DATA </a:t>
            </a:r>
            <a:r>
              <a:rPr lang="en-US" dirty="0"/>
              <a:t>ANALYSIS </a:t>
            </a:r>
            <a:endParaRPr lang="en-US" dirty="0" smtClean="0"/>
          </a:p>
          <a:p>
            <a:pPr marL="0" indent="0">
              <a:buNone/>
            </a:pPr>
            <a:r>
              <a:rPr lang="en-US" dirty="0" smtClean="0"/>
              <a:t>A </a:t>
            </a:r>
            <a:r>
              <a:rPr lang="en-US" dirty="0"/>
              <a:t>data analysis technique that can be used for this process includes but is not limited to</a:t>
            </a:r>
            <a:r>
              <a:rPr lang="en-US" u="sng" dirty="0">
                <a:solidFill>
                  <a:srgbClr val="C00000"/>
                </a:solidFill>
              </a:rPr>
              <a:t> alternatives analysis</a:t>
            </a:r>
            <a:r>
              <a:rPr lang="en-US" dirty="0"/>
              <a:t>. Alternatives analysis can include determining which schedule methodology to use, or how to combine various methods on the project. It can also include determining how detailed the schedule needs to be, the duration of waves for rolling wave planning, and how often it should be reviewed and updated. </a:t>
            </a:r>
            <a:endParaRPr lang="en-US" dirty="0" smtClean="0"/>
          </a:p>
          <a:p>
            <a:pPr marL="0" indent="0">
              <a:buNone/>
            </a:pPr>
            <a:endParaRPr lang="en-US" dirty="0" smtClean="0"/>
          </a:p>
          <a:p>
            <a:pPr marL="0" indent="0">
              <a:buNone/>
            </a:pPr>
            <a:r>
              <a:rPr lang="en-US" dirty="0" smtClean="0"/>
              <a:t>3- MEETINGS </a:t>
            </a:r>
            <a:r>
              <a:rPr lang="en-US" dirty="0"/>
              <a:t>Project teams may hold planning meetings to develop the schedule management plan. Participants at these meetings may include the project manager, the project sponsor, selected project team members, selected stakeholders, anyone with responsibility for schedule planning or execution, and others as needed.</a:t>
            </a:r>
          </a:p>
        </p:txBody>
      </p:sp>
    </p:spTree>
    <p:extLst>
      <p:ext uri="{BB962C8B-B14F-4D97-AF65-F5344CB8AC3E}">
        <p14:creationId xmlns:p14="http://schemas.microsoft.com/office/powerpoint/2010/main" val="567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OUTPUT</a:t>
            </a:r>
            <a:endParaRPr lang="en-US" dirty="0"/>
          </a:p>
        </p:txBody>
      </p:sp>
      <p:sp>
        <p:nvSpPr>
          <p:cNvPr id="3" name="Content Placeholder 2"/>
          <p:cNvSpPr>
            <a:spLocks noGrp="1"/>
          </p:cNvSpPr>
          <p:nvPr>
            <p:ph idx="1"/>
          </p:nvPr>
        </p:nvSpPr>
        <p:spPr>
          <a:xfrm>
            <a:off x="251520" y="1268760"/>
            <a:ext cx="8712968" cy="5256584"/>
          </a:xfrm>
        </p:spPr>
        <p:txBody>
          <a:bodyPr>
            <a:noAutofit/>
          </a:bodyPr>
          <a:lstStyle/>
          <a:p>
            <a:pPr marL="0" indent="0">
              <a:buNone/>
            </a:pPr>
            <a:r>
              <a:rPr lang="en-US" sz="2000" b="1" dirty="0"/>
              <a:t>SCHEDULE MANAGEMENT </a:t>
            </a:r>
            <a:r>
              <a:rPr lang="en-US" sz="2000" b="1" dirty="0" smtClean="0"/>
              <a:t>PLAN</a:t>
            </a:r>
          </a:p>
          <a:p>
            <a:r>
              <a:rPr lang="en-US" sz="1600" b="1" dirty="0"/>
              <a:t>Project schedule model development</a:t>
            </a:r>
            <a:r>
              <a:rPr lang="en-US" sz="1600" dirty="0"/>
              <a:t>. The scheduling methodology and the scheduling tool to be used in the development of the project schedule model are specified. </a:t>
            </a:r>
            <a:endParaRPr lang="en-US" sz="1600" dirty="0" smtClean="0"/>
          </a:p>
          <a:p>
            <a:r>
              <a:rPr lang="en-US" sz="1600" b="1" dirty="0" smtClean="0"/>
              <a:t>Release </a:t>
            </a:r>
            <a:r>
              <a:rPr lang="en-US" sz="1600" b="1" dirty="0"/>
              <a:t>and iteration length.</a:t>
            </a:r>
            <a:r>
              <a:rPr lang="en-US" sz="1600" dirty="0"/>
              <a:t> When using an adaptive life cycle, the time-boxed periods for releases, waves, and iterations are specified. </a:t>
            </a:r>
            <a:endParaRPr lang="en-US" sz="1600" dirty="0" smtClean="0"/>
          </a:p>
          <a:p>
            <a:r>
              <a:rPr lang="en-US" sz="1600" b="1" dirty="0" smtClean="0"/>
              <a:t>Level </a:t>
            </a:r>
            <a:r>
              <a:rPr lang="en-US" sz="1600" b="1" dirty="0"/>
              <a:t>of accuracy.</a:t>
            </a:r>
            <a:r>
              <a:rPr lang="en-US" sz="1600" dirty="0"/>
              <a:t> The level of accuracy specifies the acceptable range used in determining realistic activity duration estimates and may include an amount for contingencies</a:t>
            </a:r>
            <a:r>
              <a:rPr lang="en-US" sz="1600" dirty="0" smtClean="0"/>
              <a:t>.</a:t>
            </a:r>
            <a:endParaRPr lang="en-US" sz="1600" b="1" dirty="0" smtClean="0"/>
          </a:p>
          <a:p>
            <a:r>
              <a:rPr lang="en-US" sz="1600" b="1" dirty="0" smtClean="0"/>
              <a:t>Units </a:t>
            </a:r>
            <a:r>
              <a:rPr lang="en-US" sz="1600" b="1" dirty="0"/>
              <a:t>of measure. </a:t>
            </a:r>
            <a:r>
              <a:rPr lang="en-US" sz="1600" dirty="0"/>
              <a:t>Each unit of measurement (such as staff hours, staff days, or weeks for time measures, or meters, liters, tons, kilometers, or cubic yards for quantity measures) is defined for each of the resources. </a:t>
            </a:r>
            <a:endParaRPr lang="en-US" sz="1600" dirty="0" smtClean="0"/>
          </a:p>
          <a:p>
            <a:r>
              <a:rPr lang="en-US" sz="1600" b="1" dirty="0" smtClean="0"/>
              <a:t>Organizational </a:t>
            </a:r>
            <a:r>
              <a:rPr lang="en-US" sz="1600" b="1" dirty="0"/>
              <a:t>procedures links. </a:t>
            </a:r>
            <a:r>
              <a:rPr lang="en-US" sz="1600" dirty="0"/>
              <a:t>The work breakdown structure (WBS</a:t>
            </a:r>
            <a:r>
              <a:rPr lang="en-US" sz="1600" dirty="0" smtClean="0"/>
              <a:t>) </a:t>
            </a:r>
            <a:r>
              <a:rPr lang="en-US" sz="1600" dirty="0"/>
              <a:t>provides the framework for the schedule management plan, allowing for consistency with the estimates and resulting schedules. </a:t>
            </a:r>
            <a:endParaRPr lang="en-US" sz="1600" dirty="0" smtClean="0"/>
          </a:p>
          <a:p>
            <a:r>
              <a:rPr lang="en-US" sz="1600" b="1" dirty="0" smtClean="0"/>
              <a:t>Project </a:t>
            </a:r>
            <a:r>
              <a:rPr lang="en-US" sz="1600" b="1" dirty="0"/>
              <a:t>schedule model maintenance.</a:t>
            </a:r>
            <a:r>
              <a:rPr lang="en-US" sz="1600" dirty="0"/>
              <a:t> The process used to update the status and record progress of the project in the schedule model during the execution of the project is defined. </a:t>
            </a:r>
            <a:endParaRPr lang="en-US" sz="1600" b="1" dirty="0" smtClean="0"/>
          </a:p>
          <a:p>
            <a:r>
              <a:rPr lang="en-US" sz="1600" b="1" dirty="0" smtClean="0"/>
              <a:t>Control </a:t>
            </a:r>
            <a:r>
              <a:rPr lang="en-US" sz="1600" b="1" dirty="0"/>
              <a:t>thresholds.</a:t>
            </a:r>
            <a:r>
              <a:rPr lang="en-US" sz="1600" dirty="0"/>
              <a:t> Variance thresholds for monitoring schedule performance may be specified to indicate an agreed-upon amount of variation to be allowed before some action needs to be taken. </a:t>
            </a:r>
            <a:endParaRPr lang="en-US" sz="1600" dirty="0" smtClean="0"/>
          </a:p>
          <a:p>
            <a:r>
              <a:rPr lang="en-US" sz="1600" b="1" dirty="0" smtClean="0"/>
              <a:t>Rules </a:t>
            </a:r>
            <a:r>
              <a:rPr lang="en-US" sz="1600" b="1" dirty="0"/>
              <a:t>of performance measurement</a:t>
            </a:r>
            <a:r>
              <a:rPr lang="en-US" sz="1600" b="1" dirty="0" smtClean="0"/>
              <a:t>.</a:t>
            </a:r>
            <a:r>
              <a:rPr lang="en-US" sz="1600" dirty="0" smtClean="0"/>
              <a:t> Earned value management (EVM) rules or other physical measurement rules of performance measurement are set. </a:t>
            </a:r>
          </a:p>
          <a:p>
            <a:r>
              <a:rPr lang="en-US" sz="1600" b="1" dirty="0" smtClean="0"/>
              <a:t>Reporting </a:t>
            </a:r>
            <a:r>
              <a:rPr lang="en-US" sz="1600" b="1" dirty="0"/>
              <a:t>formats.</a:t>
            </a:r>
          </a:p>
        </p:txBody>
      </p:sp>
    </p:spTree>
    <p:extLst>
      <p:ext uri="{BB962C8B-B14F-4D97-AF65-F5344CB8AC3E}">
        <p14:creationId xmlns:p14="http://schemas.microsoft.com/office/powerpoint/2010/main" val="1392146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8377" y="260648"/>
            <a:ext cx="5636111" cy="610820"/>
          </a:xfrm>
        </p:spPr>
        <p:txBody>
          <a:bodyPr>
            <a:normAutofit fontScale="90000"/>
          </a:bodyPr>
          <a:lstStyle/>
          <a:p>
            <a:pPr algn="ctr"/>
            <a:r>
              <a:rPr lang="en-US" dirty="0"/>
              <a:t>2- DEFINE ACTIVITIES</a:t>
            </a:r>
          </a:p>
        </p:txBody>
      </p:sp>
      <p:sp>
        <p:nvSpPr>
          <p:cNvPr id="3" name="Content Placeholder 2"/>
          <p:cNvSpPr>
            <a:spLocks noGrp="1"/>
          </p:cNvSpPr>
          <p:nvPr>
            <p:ph idx="1"/>
          </p:nvPr>
        </p:nvSpPr>
        <p:spPr>
          <a:xfrm>
            <a:off x="395536" y="1443835"/>
            <a:ext cx="6264697" cy="4581150"/>
          </a:xfrm>
        </p:spPr>
        <p:txBody>
          <a:bodyPr>
            <a:normAutofit/>
          </a:bodyPr>
          <a:lstStyle/>
          <a:p>
            <a:endParaRPr lang="en-US" sz="2400" dirty="0" smtClean="0"/>
          </a:p>
          <a:p>
            <a:r>
              <a:rPr lang="en-US" sz="2400" dirty="0" smtClean="0"/>
              <a:t>Define </a:t>
            </a:r>
            <a:r>
              <a:rPr lang="en-US" sz="2400" dirty="0"/>
              <a:t>Activities is the process of identifying and documenting the specific actions to be performed to produce the project </a:t>
            </a:r>
            <a:r>
              <a:rPr lang="en-US" sz="2400" dirty="0" smtClean="0"/>
              <a:t>deliverables.</a:t>
            </a:r>
          </a:p>
          <a:p>
            <a:endParaRPr lang="en-US" sz="2400" dirty="0"/>
          </a:p>
          <a:p>
            <a:r>
              <a:rPr lang="en-US" sz="2400" dirty="0" smtClean="0"/>
              <a:t>The </a:t>
            </a:r>
            <a:r>
              <a:rPr lang="en-US" sz="2400" dirty="0"/>
              <a:t>key benefit of this process is that it decomposes work packages into schedule activities that provide a basis for estimating, scheduling, executing, monitoring, and controlling the project work</a:t>
            </a:r>
          </a:p>
        </p:txBody>
      </p:sp>
      <p:pic>
        <p:nvPicPr>
          <p:cNvPr id="13314" name="Picture 2" descr="D:\bahria 2019\FOPM\Sumaiya\Lecture 7\Prep\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9900" y="1340768"/>
            <a:ext cx="2324100" cy="5517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584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6.2 Define Activities - A Guide to the Project Management Body of Knowledge  (PMBOK® Guide), Fifth Edition [Boo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412776"/>
            <a:ext cx="8964487" cy="518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117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INPUT </a:t>
            </a:r>
            <a:endParaRPr lang="en-US" dirty="0"/>
          </a:p>
        </p:txBody>
      </p:sp>
      <p:sp>
        <p:nvSpPr>
          <p:cNvPr id="3" name="Content Placeholder 2"/>
          <p:cNvSpPr>
            <a:spLocks noGrp="1"/>
          </p:cNvSpPr>
          <p:nvPr>
            <p:ph idx="1"/>
          </p:nvPr>
        </p:nvSpPr>
        <p:spPr/>
        <p:txBody>
          <a:bodyPr>
            <a:normAutofit fontScale="85000" lnSpcReduction="20000"/>
          </a:bodyPr>
          <a:lstStyle/>
          <a:p>
            <a:r>
              <a:rPr lang="en-US" dirty="0"/>
              <a:t>1 PROJECT MANAGEMENT </a:t>
            </a:r>
            <a:r>
              <a:rPr lang="en-US" dirty="0" smtClean="0"/>
              <a:t>PLAN</a:t>
            </a:r>
          </a:p>
          <a:p>
            <a:r>
              <a:rPr lang="en-US" dirty="0" smtClean="0"/>
              <a:t>Schedule </a:t>
            </a:r>
            <a:r>
              <a:rPr lang="en-US" dirty="0"/>
              <a:t>management plan. </a:t>
            </a:r>
            <a:endParaRPr lang="en-US" dirty="0" smtClean="0"/>
          </a:p>
          <a:p>
            <a:r>
              <a:rPr lang="en-US" dirty="0" smtClean="0"/>
              <a:t>Scope </a:t>
            </a:r>
            <a:r>
              <a:rPr lang="en-US" dirty="0"/>
              <a:t>baseline</a:t>
            </a:r>
            <a:r>
              <a:rPr lang="en-US" dirty="0" smtClean="0"/>
              <a:t>.</a:t>
            </a:r>
          </a:p>
          <a:p>
            <a:r>
              <a:rPr lang="en-US" dirty="0" smtClean="0"/>
              <a:t> ENTERPRISE </a:t>
            </a:r>
            <a:r>
              <a:rPr lang="en-US" dirty="0"/>
              <a:t>ENVIRONMENTALFACTORS </a:t>
            </a:r>
            <a:endParaRPr lang="en-US" dirty="0" smtClean="0"/>
          </a:p>
          <a:p>
            <a:r>
              <a:rPr lang="en-US" dirty="0" smtClean="0"/>
              <a:t>Organizational </a:t>
            </a:r>
            <a:r>
              <a:rPr lang="en-US" dirty="0"/>
              <a:t>cultures and structure, Published commercial information from commercial </a:t>
            </a:r>
            <a:r>
              <a:rPr lang="en-US" dirty="0" smtClean="0"/>
              <a:t>databases and so on.</a:t>
            </a:r>
          </a:p>
          <a:p>
            <a:r>
              <a:rPr lang="en-US" dirty="0" smtClean="0"/>
              <a:t> </a:t>
            </a:r>
            <a:r>
              <a:rPr lang="en-US" dirty="0"/>
              <a:t>ORGANIZATIONALPROCESS ASSETS </a:t>
            </a:r>
            <a:endParaRPr lang="en-US" dirty="0" smtClean="0"/>
          </a:p>
          <a:p>
            <a:pPr marL="0" indent="0">
              <a:buNone/>
            </a:pPr>
            <a:r>
              <a:rPr lang="en-US" dirty="0" smtClean="0"/>
              <a:t> </a:t>
            </a:r>
            <a:r>
              <a:rPr lang="en-US" dirty="0"/>
              <a:t>Lessons </a:t>
            </a:r>
            <a:r>
              <a:rPr lang="en-US" dirty="0" smtClean="0"/>
              <a:t>learned</a:t>
            </a:r>
          </a:p>
          <a:p>
            <a:pPr marL="0" indent="0">
              <a:buNone/>
            </a:pPr>
            <a:r>
              <a:rPr lang="en-US" dirty="0" smtClean="0"/>
              <a:t> Historical information</a:t>
            </a:r>
          </a:p>
          <a:p>
            <a:pPr marL="0" indent="0">
              <a:buNone/>
            </a:pPr>
            <a:r>
              <a:rPr lang="en-US" dirty="0" smtClean="0"/>
              <a:t>Standardized processes</a:t>
            </a:r>
          </a:p>
          <a:p>
            <a:pPr marL="0" indent="0">
              <a:buNone/>
            </a:pPr>
            <a:r>
              <a:rPr lang="en-US" dirty="0" smtClean="0"/>
              <a:t>Templates and so on</a:t>
            </a:r>
            <a:endParaRPr lang="en-US" dirty="0"/>
          </a:p>
        </p:txBody>
      </p:sp>
    </p:spTree>
    <p:extLst>
      <p:ext uri="{BB962C8B-B14F-4D97-AF65-F5344CB8AC3E}">
        <p14:creationId xmlns:p14="http://schemas.microsoft.com/office/powerpoint/2010/main" val="42300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871" y="332656"/>
            <a:ext cx="5564103" cy="610820"/>
          </a:xfrm>
        </p:spPr>
        <p:txBody>
          <a:bodyPr>
            <a:normAutofit fontScale="90000"/>
          </a:bodyPr>
          <a:lstStyle/>
          <a:p>
            <a:pPr algn="ctr"/>
            <a:r>
              <a:rPr lang="en-US" dirty="0" smtClean="0"/>
              <a:t>TOOLS &amp; TECHNIQUES</a:t>
            </a:r>
            <a:endParaRPr lang="en-US" dirty="0"/>
          </a:p>
        </p:txBody>
      </p:sp>
      <p:sp>
        <p:nvSpPr>
          <p:cNvPr id="3" name="Content Placeholder 2"/>
          <p:cNvSpPr>
            <a:spLocks noGrp="1"/>
          </p:cNvSpPr>
          <p:nvPr>
            <p:ph idx="1"/>
          </p:nvPr>
        </p:nvSpPr>
        <p:spPr>
          <a:xfrm>
            <a:off x="395536" y="1196752"/>
            <a:ext cx="8424936" cy="5081509"/>
          </a:xfrm>
        </p:spPr>
        <p:txBody>
          <a:bodyPr>
            <a:noAutofit/>
          </a:bodyPr>
          <a:lstStyle/>
          <a:p>
            <a:pPr marL="0" indent="0">
              <a:buNone/>
            </a:pPr>
            <a:r>
              <a:rPr lang="en-US" sz="2000" dirty="0" smtClean="0"/>
              <a:t>1-  </a:t>
            </a:r>
            <a:r>
              <a:rPr lang="en-US" sz="2000" dirty="0"/>
              <a:t>EXPERT </a:t>
            </a:r>
            <a:r>
              <a:rPr lang="en-US" sz="2000" dirty="0" smtClean="0"/>
              <a:t>JUDGMENT</a:t>
            </a:r>
          </a:p>
          <a:p>
            <a:pPr marL="0" indent="0">
              <a:buNone/>
            </a:pPr>
            <a:r>
              <a:rPr lang="en-US" sz="2000" dirty="0" smtClean="0"/>
              <a:t> </a:t>
            </a:r>
            <a:r>
              <a:rPr lang="en-US" sz="2000" dirty="0"/>
              <a:t>Expertise should be considered from individuals or groups with </a:t>
            </a:r>
            <a:r>
              <a:rPr lang="en-US" sz="2000" dirty="0" smtClean="0"/>
              <a:t>specialized </a:t>
            </a:r>
            <a:r>
              <a:rPr lang="en-US" sz="2000" dirty="0"/>
              <a:t>knowledge of similar past projects and the work being </a:t>
            </a:r>
            <a:r>
              <a:rPr lang="en-US" sz="2000" dirty="0" smtClean="0"/>
              <a:t>performed.</a:t>
            </a:r>
          </a:p>
          <a:p>
            <a:pPr marL="0" indent="0">
              <a:buNone/>
            </a:pPr>
            <a:endParaRPr lang="en-US" sz="2000" dirty="0" smtClean="0"/>
          </a:p>
          <a:p>
            <a:pPr marL="0" indent="0">
              <a:buNone/>
            </a:pPr>
            <a:r>
              <a:rPr lang="en-US" sz="2000" dirty="0" smtClean="0"/>
              <a:t>2-  </a:t>
            </a:r>
            <a:r>
              <a:rPr lang="en-US" sz="2000" dirty="0"/>
              <a:t>DECOMPOSITION </a:t>
            </a:r>
            <a:endParaRPr lang="en-US" sz="2000" dirty="0" smtClean="0"/>
          </a:p>
          <a:p>
            <a:pPr marL="0" indent="0">
              <a:buNone/>
            </a:pPr>
            <a:r>
              <a:rPr lang="en-US" sz="2000" dirty="0" smtClean="0"/>
              <a:t>Decomposition </a:t>
            </a:r>
            <a:r>
              <a:rPr lang="en-US" sz="2000" dirty="0"/>
              <a:t>is a technique used for dividing and subdividing the project scope and project deliverables into smaller, more manageable parts. </a:t>
            </a:r>
            <a:endParaRPr lang="en-US" sz="2000" dirty="0" smtClean="0"/>
          </a:p>
          <a:p>
            <a:pPr marL="0" indent="0">
              <a:buNone/>
            </a:pPr>
            <a:endParaRPr lang="en-US" sz="2000" dirty="0" smtClean="0"/>
          </a:p>
          <a:p>
            <a:pPr marL="0" indent="0">
              <a:buNone/>
            </a:pPr>
            <a:r>
              <a:rPr lang="en-US" sz="2000" dirty="0" smtClean="0"/>
              <a:t>3- </a:t>
            </a:r>
            <a:r>
              <a:rPr lang="en-US" sz="2000" dirty="0"/>
              <a:t>ROLLING WAVE PLANNING </a:t>
            </a:r>
            <a:endParaRPr lang="en-US" sz="2000" dirty="0" smtClean="0"/>
          </a:p>
          <a:p>
            <a:pPr marL="0" indent="0">
              <a:buNone/>
            </a:pPr>
            <a:r>
              <a:rPr lang="en-US" sz="2000" dirty="0" smtClean="0"/>
              <a:t>Rolling </a:t>
            </a:r>
            <a:r>
              <a:rPr lang="en-US" sz="2000" dirty="0"/>
              <a:t>wave planning is an iterative planning technique in which the work to be accomplished in the near term is planned in detail, while work further in the future is planned at a higher </a:t>
            </a:r>
            <a:r>
              <a:rPr lang="en-US" sz="2000" dirty="0" smtClean="0"/>
              <a:t>level</a:t>
            </a:r>
          </a:p>
          <a:p>
            <a:pPr marL="0" indent="0">
              <a:buNone/>
            </a:pPr>
            <a:endParaRPr lang="en-US" sz="2000" dirty="0" smtClean="0"/>
          </a:p>
          <a:p>
            <a:pPr marL="0" indent="0">
              <a:buNone/>
            </a:pPr>
            <a:r>
              <a:rPr lang="en-US" sz="2000" dirty="0" smtClean="0"/>
              <a:t>4- MEETINGS</a:t>
            </a:r>
          </a:p>
          <a:p>
            <a:pPr marL="0" indent="0">
              <a:buNone/>
            </a:pPr>
            <a:r>
              <a:rPr lang="en-US" sz="2000" dirty="0" smtClean="0"/>
              <a:t> </a:t>
            </a:r>
            <a:r>
              <a:rPr lang="en-US" sz="2000" dirty="0"/>
              <a:t>Meetings may be face-to-face, virtual, formal, or informal</a:t>
            </a:r>
          </a:p>
        </p:txBody>
      </p:sp>
    </p:spTree>
    <p:extLst>
      <p:ext uri="{BB962C8B-B14F-4D97-AF65-F5344CB8AC3E}">
        <p14:creationId xmlns:p14="http://schemas.microsoft.com/office/powerpoint/2010/main" val="372197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olling wave planning - Mission Contr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466472"/>
            <a:ext cx="8309480" cy="4986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09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OUTPUT</a:t>
            </a:r>
            <a:endParaRPr lang="en-US" dirty="0"/>
          </a:p>
        </p:txBody>
      </p:sp>
      <p:sp>
        <p:nvSpPr>
          <p:cNvPr id="3" name="Content Placeholder 2"/>
          <p:cNvSpPr>
            <a:spLocks noGrp="1"/>
          </p:cNvSpPr>
          <p:nvPr>
            <p:ph idx="1"/>
          </p:nvPr>
        </p:nvSpPr>
        <p:spPr>
          <a:xfrm>
            <a:off x="323528" y="1443835"/>
            <a:ext cx="8424936" cy="4581150"/>
          </a:xfrm>
        </p:spPr>
        <p:txBody>
          <a:bodyPr>
            <a:noAutofit/>
          </a:bodyPr>
          <a:lstStyle/>
          <a:p>
            <a:pPr marL="0" indent="0">
              <a:buNone/>
            </a:pPr>
            <a:r>
              <a:rPr lang="en-US" sz="1600" b="1" dirty="0" smtClean="0"/>
              <a:t>1 </a:t>
            </a:r>
            <a:r>
              <a:rPr lang="en-US" sz="1600" b="1" dirty="0"/>
              <a:t>ACTIVITY LIST</a:t>
            </a:r>
            <a:r>
              <a:rPr lang="en-US" sz="1600" dirty="0"/>
              <a:t> The activity list includes the schedule activities required on the project. </a:t>
            </a:r>
            <a:endParaRPr lang="en-US" sz="1600" dirty="0" smtClean="0"/>
          </a:p>
          <a:p>
            <a:endParaRPr lang="en-US" sz="1600" dirty="0" smtClean="0"/>
          </a:p>
          <a:p>
            <a:pPr marL="0" indent="0">
              <a:buNone/>
            </a:pPr>
            <a:r>
              <a:rPr lang="en-US" sz="1600" b="1" dirty="0" smtClean="0"/>
              <a:t>2- </a:t>
            </a:r>
            <a:r>
              <a:rPr lang="en-US" sz="1600" b="1" dirty="0"/>
              <a:t>ACTIVITY ATTRIBUTES</a:t>
            </a:r>
            <a:r>
              <a:rPr lang="en-US" sz="1600" dirty="0"/>
              <a:t> Activity attributes extend the description of the </a:t>
            </a:r>
            <a:r>
              <a:rPr lang="en-US" sz="1600" dirty="0">
                <a:solidFill>
                  <a:srgbClr val="C00000"/>
                </a:solidFill>
              </a:rPr>
              <a:t>activity by identifying multiple components associated</a:t>
            </a:r>
            <a:r>
              <a:rPr lang="en-US" sz="1600" dirty="0"/>
              <a:t> with each activity. The components for each activity evolve over time. During the initial stages of the project, they include the unique activity identifier (ID), WBS ID, and activity label or name. When completed, they may include activity descriptions, predecessor activities, successor activities, logical relationships, leads and </a:t>
            </a:r>
            <a:r>
              <a:rPr lang="en-US" sz="1600" dirty="0" smtClean="0"/>
              <a:t>lags, </a:t>
            </a:r>
            <a:r>
              <a:rPr lang="en-US" sz="1600" dirty="0"/>
              <a:t>resource requirements, imposed dates, constraints, and assumptions. </a:t>
            </a:r>
            <a:endParaRPr lang="en-US" sz="1600" dirty="0" smtClean="0"/>
          </a:p>
          <a:p>
            <a:endParaRPr lang="en-US" sz="1600" dirty="0" smtClean="0"/>
          </a:p>
          <a:p>
            <a:pPr marL="0" indent="0">
              <a:buNone/>
            </a:pPr>
            <a:r>
              <a:rPr lang="en-US" sz="1600" b="1" dirty="0" smtClean="0"/>
              <a:t>3 </a:t>
            </a:r>
            <a:r>
              <a:rPr lang="en-US" sz="1600" b="1" dirty="0"/>
              <a:t>MILESTONE LIST </a:t>
            </a:r>
            <a:endParaRPr lang="en-US" sz="1600" b="1" dirty="0" smtClean="0"/>
          </a:p>
          <a:p>
            <a:pPr marL="0" indent="0">
              <a:buNone/>
            </a:pPr>
            <a:endParaRPr lang="en-US" sz="1600" dirty="0" smtClean="0"/>
          </a:p>
          <a:p>
            <a:pPr marL="0" indent="0">
              <a:buNone/>
            </a:pPr>
            <a:r>
              <a:rPr lang="en-US" sz="1600" b="1" dirty="0" smtClean="0"/>
              <a:t>4- CHANGE REQUESTS</a:t>
            </a:r>
          </a:p>
          <a:p>
            <a:pPr marL="0" indent="0">
              <a:buNone/>
            </a:pPr>
            <a:r>
              <a:rPr lang="en-US" sz="1600" dirty="0" smtClean="0"/>
              <a:t> </a:t>
            </a:r>
            <a:r>
              <a:rPr lang="en-US" sz="1600" dirty="0"/>
              <a:t>Once the project has been </a:t>
            </a:r>
            <a:r>
              <a:rPr lang="en-US" sz="1600" dirty="0" smtClean="0"/>
              <a:t>baseline, </a:t>
            </a:r>
            <a:r>
              <a:rPr lang="en-US" sz="1600" dirty="0"/>
              <a:t>the progressive elaboration of deliverables into activities may reveal work that was not initially part of the project baselines. This may result in a change request</a:t>
            </a:r>
            <a:r>
              <a:rPr lang="en-US" sz="1600" dirty="0" smtClean="0"/>
              <a:t>.</a:t>
            </a:r>
          </a:p>
          <a:p>
            <a:pPr marL="0" indent="0">
              <a:buNone/>
            </a:pPr>
            <a:r>
              <a:rPr lang="en-US" sz="1600" dirty="0" smtClean="0"/>
              <a:t> </a:t>
            </a:r>
          </a:p>
          <a:p>
            <a:pPr marL="0" indent="0">
              <a:buNone/>
            </a:pPr>
            <a:r>
              <a:rPr lang="en-US" sz="1600" b="1" dirty="0" smtClean="0"/>
              <a:t>5- PROJECT </a:t>
            </a:r>
            <a:r>
              <a:rPr lang="en-US" sz="1600" b="1" dirty="0"/>
              <a:t>MANAGEMENT PLAN UPDATES </a:t>
            </a:r>
            <a:endParaRPr lang="en-US" sz="1600" b="1" dirty="0" smtClean="0"/>
          </a:p>
          <a:p>
            <a:r>
              <a:rPr lang="en-US" sz="1600" dirty="0" smtClean="0"/>
              <a:t> </a:t>
            </a:r>
            <a:r>
              <a:rPr lang="en-US" sz="1600" dirty="0"/>
              <a:t>Schedule </a:t>
            </a:r>
            <a:r>
              <a:rPr lang="en-US" sz="1600" dirty="0" smtClean="0"/>
              <a:t>baseline</a:t>
            </a:r>
          </a:p>
          <a:p>
            <a:r>
              <a:rPr lang="en-US" sz="1600" dirty="0" smtClean="0"/>
              <a:t>Cost </a:t>
            </a:r>
            <a:r>
              <a:rPr lang="en-US" sz="1600" dirty="0"/>
              <a:t>baseline.</a:t>
            </a:r>
          </a:p>
        </p:txBody>
      </p:sp>
    </p:spTree>
    <p:extLst>
      <p:ext uri="{BB962C8B-B14F-4D97-AF65-F5344CB8AC3E}">
        <p14:creationId xmlns:p14="http://schemas.microsoft.com/office/powerpoint/2010/main" val="2298273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endParaRPr lang="en-US"/>
          </a:p>
        </p:txBody>
      </p:sp>
      <p:pic>
        <p:nvPicPr>
          <p:cNvPr id="4" name="Content Placeholder 3" descr="act1.JPG"/>
          <p:cNvPicPr>
            <a:picLocks noGrp="1" noChangeAspect="1"/>
          </p:cNvPicPr>
          <p:nvPr>
            <p:ph idx="1"/>
          </p:nvPr>
        </p:nvPicPr>
        <p:blipFill>
          <a:blip r:embed="rId2" cstate="print"/>
          <a:stretch>
            <a:fillRect/>
          </a:stretch>
        </p:blipFill>
        <p:spPr>
          <a:xfrm>
            <a:off x="0" y="0"/>
            <a:ext cx="9144000" cy="6858000"/>
          </a:xfrm>
        </p:spPr>
      </p:pic>
    </p:spTree>
    <p:extLst>
      <p:ext uri="{BB962C8B-B14F-4D97-AF65-F5344CB8AC3E}">
        <p14:creationId xmlns:p14="http://schemas.microsoft.com/office/powerpoint/2010/main" val="2219942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944562"/>
          </a:xfrm>
        </p:spPr>
        <p:txBody>
          <a:bodyPr>
            <a:normAutofit fontScale="90000"/>
          </a:bodyPr>
          <a:lstStyle/>
          <a:p>
            <a:r>
              <a:rPr lang="en-US" sz="3600" b="1" dirty="0">
                <a:solidFill>
                  <a:srgbClr val="FF0000"/>
                </a:solidFill>
              </a:rPr>
              <a:t/>
            </a:r>
            <a:br>
              <a:rPr lang="en-US" sz="3600" b="1" dirty="0">
                <a:solidFill>
                  <a:srgbClr val="FF0000"/>
                </a:solidFill>
              </a:rPr>
            </a:br>
            <a:r>
              <a:rPr lang="en-US" sz="3600" b="1" u="sng" dirty="0">
                <a:solidFill>
                  <a:srgbClr val="FF0000"/>
                </a:solidFill>
              </a:rPr>
              <a:t>3 DIFFERENT ACTIVITY LISTS FOR ONE WBS</a:t>
            </a:r>
            <a:r>
              <a:rPr lang="en-US" sz="3600" dirty="0">
                <a:solidFill>
                  <a:srgbClr val="FF0000"/>
                </a:solidFill>
              </a:rPr>
              <a:t/>
            </a:r>
            <a:br>
              <a:rPr lang="en-US" sz="3600" dirty="0">
                <a:solidFill>
                  <a:srgbClr val="FF0000"/>
                </a:solidFill>
              </a:rPr>
            </a:br>
            <a:endParaRPr lang="en-US" sz="3600" dirty="0">
              <a:solidFill>
                <a:srgbClr val="FF0000"/>
              </a:solidFill>
            </a:endParaRPr>
          </a:p>
        </p:txBody>
      </p:sp>
      <p:sp>
        <p:nvSpPr>
          <p:cNvPr id="3" name="Content Placeholder 2"/>
          <p:cNvSpPr>
            <a:spLocks noGrp="1"/>
          </p:cNvSpPr>
          <p:nvPr>
            <p:ph idx="1"/>
          </p:nvPr>
        </p:nvSpPr>
        <p:spPr>
          <a:xfrm>
            <a:off x="457200" y="1371600"/>
            <a:ext cx="8229600" cy="5029200"/>
          </a:xfrm>
        </p:spPr>
        <p:txBody>
          <a:bodyPr>
            <a:normAutofit lnSpcReduction="10000"/>
          </a:bodyPr>
          <a:lstStyle/>
          <a:p>
            <a:pPr marL="514350" indent="-514350" algn="just">
              <a:buFont typeface="+mj-lt"/>
              <a:buAutoNum type="arabicPeriod"/>
            </a:pPr>
            <a:r>
              <a:rPr lang="en-US" sz="3600" dirty="0">
                <a:solidFill>
                  <a:srgbClr val="033EC1"/>
                </a:solidFill>
                <a:latin typeface="+mj-lt"/>
              </a:rPr>
              <a:t>There is always more than one way to do  a job. We just see </a:t>
            </a:r>
            <a:r>
              <a:rPr lang="en-US" sz="3600" dirty="0" smtClean="0">
                <a:solidFill>
                  <a:srgbClr val="033EC1"/>
                </a:solidFill>
                <a:latin typeface="+mj-lt"/>
              </a:rPr>
              <a:t>two </a:t>
            </a:r>
            <a:r>
              <a:rPr lang="en-US" sz="3600" dirty="0">
                <a:solidFill>
                  <a:srgbClr val="033EC1"/>
                </a:solidFill>
                <a:latin typeface="+mj-lt"/>
              </a:rPr>
              <a:t>different ways of doing the same project; three different activity lists. </a:t>
            </a:r>
          </a:p>
          <a:p>
            <a:pPr marL="742950" indent="-742950" algn="just">
              <a:buFont typeface="+mj-lt"/>
              <a:buAutoNum type="arabicPeriod"/>
            </a:pPr>
            <a:r>
              <a:rPr lang="en-US" sz="3600" dirty="0">
                <a:solidFill>
                  <a:srgbClr val="033EC1"/>
                </a:solidFill>
                <a:latin typeface="+mj-lt"/>
              </a:rPr>
              <a:t>And you can see that each one would have a different </a:t>
            </a:r>
            <a:r>
              <a:rPr lang="en-US" sz="3600" dirty="0">
                <a:solidFill>
                  <a:srgbClr val="FF0000"/>
                </a:solidFill>
                <a:latin typeface="+mj-lt"/>
              </a:rPr>
              <a:t>schedule,</a:t>
            </a:r>
            <a:r>
              <a:rPr lang="en-US" sz="3600" dirty="0">
                <a:solidFill>
                  <a:srgbClr val="033EC1"/>
                </a:solidFill>
                <a:latin typeface="+mj-lt"/>
              </a:rPr>
              <a:t> a different </a:t>
            </a:r>
            <a:r>
              <a:rPr lang="en-US" sz="3600" dirty="0">
                <a:solidFill>
                  <a:srgbClr val="FF0000"/>
                </a:solidFill>
                <a:latin typeface="+mj-lt"/>
              </a:rPr>
              <a:t>budget</a:t>
            </a:r>
            <a:r>
              <a:rPr lang="en-US" sz="3600" dirty="0">
                <a:solidFill>
                  <a:srgbClr val="033EC1"/>
                </a:solidFill>
                <a:latin typeface="+mj-lt"/>
              </a:rPr>
              <a:t> and last but not the least a different </a:t>
            </a:r>
            <a:r>
              <a:rPr lang="en-US" sz="3600" dirty="0">
                <a:solidFill>
                  <a:srgbClr val="FF0000"/>
                </a:solidFill>
                <a:latin typeface="+mj-lt"/>
              </a:rPr>
              <a:t>monitoring</a:t>
            </a:r>
            <a:r>
              <a:rPr lang="en-US" sz="3600" dirty="0">
                <a:solidFill>
                  <a:srgbClr val="033EC1"/>
                </a:solidFill>
                <a:latin typeface="+mj-lt"/>
              </a:rPr>
              <a:t> mechanism as well.</a:t>
            </a:r>
          </a:p>
        </p:txBody>
      </p:sp>
    </p:spTree>
    <p:extLst>
      <p:ext uri="{BB962C8B-B14F-4D97-AF65-F5344CB8AC3E}">
        <p14:creationId xmlns:p14="http://schemas.microsoft.com/office/powerpoint/2010/main" val="2663869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872" y="332656"/>
            <a:ext cx="5492095" cy="610820"/>
          </a:xfrm>
        </p:spPr>
        <p:txBody>
          <a:bodyPr>
            <a:normAutofit fontScale="90000"/>
          </a:bodyPr>
          <a:lstStyle/>
          <a:p>
            <a:pPr algn="ctr"/>
            <a:r>
              <a:rPr lang="en-US" dirty="0"/>
              <a:t>SEQUENCE ACTIVITIES </a:t>
            </a:r>
          </a:p>
        </p:txBody>
      </p:sp>
      <p:sp>
        <p:nvSpPr>
          <p:cNvPr id="3" name="Content Placeholder 2"/>
          <p:cNvSpPr>
            <a:spLocks noGrp="1"/>
          </p:cNvSpPr>
          <p:nvPr>
            <p:ph idx="1"/>
          </p:nvPr>
        </p:nvSpPr>
        <p:spPr>
          <a:xfrm>
            <a:off x="179513" y="1443835"/>
            <a:ext cx="6336704" cy="4581150"/>
          </a:xfrm>
        </p:spPr>
        <p:txBody>
          <a:bodyPr>
            <a:normAutofit lnSpcReduction="10000"/>
          </a:bodyPr>
          <a:lstStyle/>
          <a:p>
            <a:endParaRPr lang="en-US" dirty="0" smtClean="0"/>
          </a:p>
          <a:p>
            <a:r>
              <a:rPr lang="en-US" dirty="0" smtClean="0"/>
              <a:t>Sequence </a:t>
            </a:r>
            <a:r>
              <a:rPr lang="en-US" dirty="0"/>
              <a:t>Activities is the process of identifying and documenting relationships among the project activities. </a:t>
            </a:r>
            <a:endParaRPr lang="en-US" dirty="0" smtClean="0"/>
          </a:p>
          <a:p>
            <a:endParaRPr lang="en-US" dirty="0" smtClean="0"/>
          </a:p>
          <a:p>
            <a:r>
              <a:rPr lang="en-US" dirty="0" smtClean="0"/>
              <a:t>The </a:t>
            </a:r>
            <a:r>
              <a:rPr lang="en-US" dirty="0"/>
              <a:t>key benefit of this process is that it defines the logical sequence of work to obtain the greatest efficiency given all project </a:t>
            </a:r>
            <a:r>
              <a:rPr lang="en-US" dirty="0" smtClean="0"/>
              <a:t>constraints</a:t>
            </a:r>
          </a:p>
        </p:txBody>
      </p:sp>
      <p:pic>
        <p:nvPicPr>
          <p:cNvPr id="4" name="Picture 3" descr="http://4.bp.blogspot.com/-W-F8e51LfA4/UBYsk8myDcI/AAAAAAAADGs/Nq3mgPsc6eg/s1600/sequence-191.jpeg"/>
          <p:cNvPicPr>
            <a:picLocks noChangeAspect="1" noChangeArrowheads="1"/>
          </p:cNvPicPr>
          <p:nvPr/>
        </p:nvPicPr>
        <p:blipFill>
          <a:blip r:embed="rId2" cstate="print"/>
          <a:srcRect/>
          <a:stretch>
            <a:fillRect/>
          </a:stretch>
        </p:blipFill>
        <p:spPr bwMode="auto">
          <a:xfrm>
            <a:off x="6516216" y="1268760"/>
            <a:ext cx="2627784" cy="5443736"/>
          </a:xfrm>
          <a:prstGeom prst="rect">
            <a:avLst/>
          </a:prstGeom>
          <a:noFill/>
        </p:spPr>
      </p:pic>
    </p:spTree>
    <p:extLst>
      <p:ext uri="{BB962C8B-B14F-4D97-AF65-F5344CB8AC3E}">
        <p14:creationId xmlns:p14="http://schemas.microsoft.com/office/powerpoint/2010/main" val="2044999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4098" name="Picture 2" descr="D:\bahria 2019\FOPM\Sumaiya\Lecture 7\Prep\Sequenc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0979" y="1556792"/>
            <a:ext cx="8713509" cy="48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263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INPUT</a:t>
            </a:r>
            <a:endParaRPr lang="en-US" dirty="0"/>
          </a:p>
        </p:txBody>
      </p:sp>
      <p:sp>
        <p:nvSpPr>
          <p:cNvPr id="3" name="Content Placeholder 2"/>
          <p:cNvSpPr>
            <a:spLocks noGrp="1"/>
          </p:cNvSpPr>
          <p:nvPr>
            <p:ph idx="1"/>
          </p:nvPr>
        </p:nvSpPr>
        <p:spPr>
          <a:xfrm>
            <a:off x="395536" y="1443834"/>
            <a:ext cx="8424936" cy="5009501"/>
          </a:xfrm>
        </p:spPr>
        <p:txBody>
          <a:bodyPr>
            <a:normAutofit fontScale="77500" lnSpcReduction="20000"/>
          </a:bodyPr>
          <a:lstStyle/>
          <a:p>
            <a:pPr marL="0" indent="0">
              <a:buNone/>
            </a:pPr>
            <a:r>
              <a:rPr lang="en-US" dirty="0"/>
              <a:t>PROJECT MANAGEMENT PLAN </a:t>
            </a:r>
            <a:endParaRPr lang="en-US" dirty="0" smtClean="0"/>
          </a:p>
          <a:p>
            <a:r>
              <a:rPr lang="en-US" dirty="0" smtClean="0"/>
              <a:t>Schedule </a:t>
            </a:r>
            <a:r>
              <a:rPr lang="en-US" dirty="0"/>
              <a:t>management plan</a:t>
            </a:r>
            <a:r>
              <a:rPr lang="en-US" dirty="0" smtClean="0"/>
              <a:t>.</a:t>
            </a:r>
          </a:p>
          <a:p>
            <a:r>
              <a:rPr lang="en-US" dirty="0" smtClean="0"/>
              <a:t> </a:t>
            </a:r>
            <a:r>
              <a:rPr lang="en-US" dirty="0"/>
              <a:t>Scope </a:t>
            </a:r>
            <a:r>
              <a:rPr lang="en-US" dirty="0" smtClean="0"/>
              <a:t>baseline</a:t>
            </a:r>
          </a:p>
          <a:p>
            <a:pPr marL="0" indent="0">
              <a:buNone/>
            </a:pPr>
            <a:r>
              <a:rPr lang="en-US" dirty="0" smtClean="0"/>
              <a:t>PROJECT </a:t>
            </a:r>
            <a:r>
              <a:rPr lang="en-US" dirty="0"/>
              <a:t>DOCUMENTS </a:t>
            </a:r>
            <a:endParaRPr lang="en-US" dirty="0" smtClean="0"/>
          </a:p>
          <a:p>
            <a:r>
              <a:rPr lang="en-US" dirty="0" smtClean="0"/>
              <a:t> </a:t>
            </a:r>
            <a:r>
              <a:rPr lang="en-US" dirty="0"/>
              <a:t>Activity attributes. </a:t>
            </a:r>
            <a:endParaRPr lang="en-US" dirty="0" smtClean="0"/>
          </a:p>
          <a:p>
            <a:r>
              <a:rPr lang="en-US" dirty="0" smtClean="0"/>
              <a:t>Activity </a:t>
            </a:r>
            <a:r>
              <a:rPr lang="en-US" dirty="0"/>
              <a:t>list. </a:t>
            </a:r>
            <a:endParaRPr lang="en-US" dirty="0" smtClean="0"/>
          </a:p>
          <a:p>
            <a:r>
              <a:rPr lang="en-US" dirty="0" smtClean="0"/>
              <a:t>Assumption log</a:t>
            </a:r>
          </a:p>
          <a:p>
            <a:r>
              <a:rPr lang="en-US" dirty="0" smtClean="0"/>
              <a:t> </a:t>
            </a:r>
            <a:r>
              <a:rPr lang="en-US" dirty="0"/>
              <a:t>Milestone </a:t>
            </a:r>
            <a:r>
              <a:rPr lang="en-US" dirty="0" smtClean="0"/>
              <a:t>list</a:t>
            </a:r>
          </a:p>
          <a:p>
            <a:endParaRPr lang="en-US" dirty="0" smtClean="0"/>
          </a:p>
          <a:p>
            <a:pPr marL="0" indent="0">
              <a:buNone/>
            </a:pPr>
            <a:r>
              <a:rPr lang="en-US" dirty="0" smtClean="0"/>
              <a:t>ENTERPRISE ENVIRONMENTALFACTORS</a:t>
            </a:r>
          </a:p>
          <a:p>
            <a:pPr marL="0" indent="0">
              <a:buNone/>
            </a:pPr>
            <a:r>
              <a:rPr lang="en-US" dirty="0" smtClean="0"/>
              <a:t> Government </a:t>
            </a:r>
            <a:r>
              <a:rPr lang="en-US" dirty="0"/>
              <a:t>or industry </a:t>
            </a:r>
            <a:r>
              <a:rPr lang="en-US" dirty="0" err="1" smtClean="0"/>
              <a:t>standards,Project</a:t>
            </a:r>
            <a:r>
              <a:rPr lang="en-US" dirty="0" smtClean="0"/>
              <a:t> management information system (PMIS) and so on.</a:t>
            </a:r>
          </a:p>
          <a:p>
            <a:pPr marL="0" indent="0">
              <a:buNone/>
            </a:pPr>
            <a:endParaRPr lang="en-US" dirty="0" smtClean="0"/>
          </a:p>
          <a:p>
            <a:pPr marL="0" indent="0">
              <a:buNone/>
            </a:pPr>
            <a:r>
              <a:rPr lang="en-US" dirty="0" smtClean="0"/>
              <a:t>ORGANIZATIONALPROCESS </a:t>
            </a:r>
            <a:r>
              <a:rPr lang="en-US" dirty="0"/>
              <a:t>ASSETS </a:t>
            </a:r>
            <a:endParaRPr lang="en-US" dirty="0" smtClean="0"/>
          </a:p>
          <a:p>
            <a:pPr marL="0" indent="0">
              <a:buNone/>
            </a:pPr>
            <a:r>
              <a:rPr lang="en-US" dirty="0" smtClean="0"/>
              <a:t>Templates, Lessons </a:t>
            </a:r>
            <a:r>
              <a:rPr lang="en-US" dirty="0"/>
              <a:t>learned </a:t>
            </a:r>
            <a:r>
              <a:rPr lang="en-US" dirty="0" smtClean="0"/>
              <a:t>repository, historical </a:t>
            </a:r>
            <a:r>
              <a:rPr lang="en-US" dirty="0"/>
              <a:t>information </a:t>
            </a:r>
            <a:r>
              <a:rPr lang="en-US" dirty="0" smtClean="0"/>
              <a:t>and so on.</a:t>
            </a:r>
            <a:endParaRPr lang="en-US" dirty="0"/>
          </a:p>
        </p:txBody>
      </p:sp>
    </p:spTree>
    <p:extLst>
      <p:ext uri="{BB962C8B-B14F-4D97-AF65-F5344CB8AC3E}">
        <p14:creationId xmlns:p14="http://schemas.microsoft.com/office/powerpoint/2010/main" val="918305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TOOLS AND TECHNIQUES </a:t>
            </a:r>
          </a:p>
        </p:txBody>
      </p:sp>
      <p:sp>
        <p:nvSpPr>
          <p:cNvPr id="3" name="Content Placeholder 2"/>
          <p:cNvSpPr>
            <a:spLocks noGrp="1"/>
          </p:cNvSpPr>
          <p:nvPr>
            <p:ph idx="1"/>
          </p:nvPr>
        </p:nvSpPr>
        <p:spPr/>
        <p:txBody>
          <a:bodyPr/>
          <a:lstStyle/>
          <a:p>
            <a:r>
              <a:rPr lang="en-US" dirty="0"/>
              <a:t>PRECEDENCE DIAGRAMMING </a:t>
            </a:r>
            <a:r>
              <a:rPr lang="en-US" dirty="0" smtClean="0"/>
              <a:t>METHOD</a:t>
            </a:r>
          </a:p>
          <a:p>
            <a:pPr marL="0" indent="0">
              <a:buNone/>
            </a:pPr>
            <a:r>
              <a:rPr lang="en-US" dirty="0" smtClean="0"/>
              <a:t>It </a:t>
            </a:r>
            <a:r>
              <a:rPr lang="en-US" dirty="0"/>
              <a:t>is a technique used for constructing a schedule model in which activities are represented by nodes and are graphically linked by one or more logical relationships to show the sequence in which the activities are to be performed. </a:t>
            </a:r>
          </a:p>
        </p:txBody>
      </p:sp>
    </p:spTree>
    <p:extLst>
      <p:ext uri="{BB962C8B-B14F-4D97-AF65-F5344CB8AC3E}">
        <p14:creationId xmlns:p14="http://schemas.microsoft.com/office/powerpoint/2010/main" val="4106384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fontScale="70000" lnSpcReduction="20000"/>
          </a:bodyPr>
          <a:lstStyle/>
          <a:p>
            <a:pPr marL="0" indent="0">
              <a:buNone/>
            </a:pPr>
            <a:endParaRPr lang="en-US" dirty="0"/>
          </a:p>
          <a:p>
            <a:pPr marL="0" indent="0">
              <a:buNone/>
            </a:pPr>
            <a:r>
              <a:rPr lang="en-US" dirty="0"/>
              <a:t>PDM includes four types of dependencies or logical relationships.</a:t>
            </a:r>
          </a:p>
          <a:p>
            <a:pPr marL="0" indent="0">
              <a:buNone/>
            </a:pPr>
            <a:r>
              <a:rPr lang="en-US" dirty="0"/>
              <a:t>Finish-to-start (FS</a:t>
            </a:r>
            <a:r>
              <a:rPr lang="en-US" dirty="0" smtClean="0"/>
              <a:t>)- (95%). </a:t>
            </a:r>
            <a:r>
              <a:rPr lang="en-US" dirty="0"/>
              <a:t>A logical relationship in which a successor activity cannot start until a predecessor activity has finished</a:t>
            </a:r>
            <a:r>
              <a:rPr lang="en-US" dirty="0" smtClean="0"/>
              <a:t>.</a:t>
            </a:r>
          </a:p>
          <a:p>
            <a:pPr marL="0" indent="0">
              <a:buNone/>
            </a:pPr>
            <a:endParaRPr lang="en-US" dirty="0" smtClean="0"/>
          </a:p>
          <a:p>
            <a:pPr marL="0" indent="0">
              <a:buNone/>
            </a:pPr>
            <a:r>
              <a:rPr lang="en-US" dirty="0" smtClean="0"/>
              <a:t>Finish-to-finish </a:t>
            </a:r>
            <a:r>
              <a:rPr lang="en-US" dirty="0"/>
              <a:t>(FF). A logical relationship in which a successor activity cannot finish until a predecessor activity has </a:t>
            </a:r>
            <a:r>
              <a:rPr lang="en-US" dirty="0" smtClean="0"/>
              <a:t>finished</a:t>
            </a:r>
          </a:p>
          <a:p>
            <a:pPr marL="0" indent="0">
              <a:buNone/>
            </a:pPr>
            <a:endParaRPr lang="en-US" dirty="0"/>
          </a:p>
          <a:p>
            <a:pPr marL="0" indent="0">
              <a:buNone/>
            </a:pPr>
            <a:r>
              <a:rPr lang="en-US" dirty="0" smtClean="0"/>
              <a:t>Start-to-start </a:t>
            </a:r>
            <a:r>
              <a:rPr lang="en-US" dirty="0"/>
              <a:t>(SS). A logical relationship in which a successor activity cannot start until a predecessor activity has started. </a:t>
            </a:r>
            <a:endParaRPr lang="en-US" dirty="0" smtClean="0"/>
          </a:p>
          <a:p>
            <a:pPr marL="0" indent="0">
              <a:buNone/>
            </a:pPr>
            <a:endParaRPr lang="en-US" dirty="0"/>
          </a:p>
          <a:p>
            <a:pPr marL="0" indent="0">
              <a:buNone/>
            </a:pPr>
            <a:r>
              <a:rPr lang="en-US" dirty="0" smtClean="0"/>
              <a:t>Start-to-finish </a:t>
            </a:r>
            <a:r>
              <a:rPr lang="en-US" dirty="0"/>
              <a:t>(SF). A logical relationship in which a successor activity cannot finish until a predecessor activity has started. </a:t>
            </a:r>
          </a:p>
        </p:txBody>
      </p:sp>
    </p:spTree>
    <p:extLst>
      <p:ext uri="{BB962C8B-B14F-4D97-AF65-F5344CB8AC3E}">
        <p14:creationId xmlns:p14="http://schemas.microsoft.com/office/powerpoint/2010/main" val="42867715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FS Relationship</a:t>
            </a:r>
            <a:endParaRPr lang="en-US" dirty="0"/>
          </a:p>
        </p:txBody>
      </p:sp>
      <p:sp>
        <p:nvSpPr>
          <p:cNvPr id="3" name="Content Placeholder 2"/>
          <p:cNvSpPr>
            <a:spLocks noGrp="1"/>
          </p:cNvSpPr>
          <p:nvPr>
            <p:ph idx="1"/>
          </p:nvPr>
        </p:nvSpPr>
        <p:spPr/>
        <p:txBody>
          <a:bodyPr/>
          <a:lstStyle/>
          <a:p>
            <a:endParaRPr lang="en-US" dirty="0" smtClean="0"/>
          </a:p>
          <a:p>
            <a:r>
              <a:rPr lang="en-US" dirty="0"/>
              <a:t> </a:t>
            </a:r>
            <a:r>
              <a:rPr lang="en-US" dirty="0" smtClean="0"/>
              <a:t>For example installing </a:t>
            </a:r>
            <a:r>
              <a:rPr lang="en-US" dirty="0"/>
              <a:t>the operating system on a PC </a:t>
            </a:r>
            <a:r>
              <a:rPr lang="en-US" dirty="0" smtClean="0"/>
              <a:t>cannot </a:t>
            </a:r>
            <a:r>
              <a:rPr lang="en-US" dirty="0"/>
              <a:t>start until the PC hardware is </a:t>
            </a:r>
            <a:r>
              <a:rPr lang="en-US" dirty="0" smtClean="0"/>
              <a:t>assembled. </a:t>
            </a:r>
          </a:p>
          <a:p>
            <a:endParaRPr lang="en-US" dirty="0" smtClean="0"/>
          </a:p>
          <a:p>
            <a:r>
              <a:rPr lang="en-US" dirty="0" smtClean="0"/>
              <a:t>An </a:t>
            </a:r>
            <a:r>
              <a:rPr lang="en-US" dirty="0"/>
              <a:t>example of FS relationships is car washing. We wash the car, dry the </a:t>
            </a:r>
            <a:r>
              <a:rPr lang="en-US" dirty="0" smtClean="0"/>
              <a:t>car</a:t>
            </a:r>
          </a:p>
          <a:p>
            <a:endParaRPr lang="en-US" dirty="0"/>
          </a:p>
        </p:txBody>
      </p:sp>
      <p:pic>
        <p:nvPicPr>
          <p:cNvPr id="5122" name="Picture 2" descr="D:\bahria 2019\FOPM\Sumaiya\Lecture 7\Prep\eg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0" y="5229969"/>
            <a:ext cx="1905000" cy="100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1652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5855" y="527605"/>
            <a:ext cx="5708119" cy="610820"/>
          </a:xfrm>
        </p:spPr>
        <p:txBody>
          <a:bodyPr>
            <a:normAutofit fontScale="90000"/>
          </a:bodyPr>
          <a:lstStyle/>
          <a:p>
            <a:pPr algn="ctr"/>
            <a:r>
              <a:rPr lang="en-US" dirty="0"/>
              <a:t>Finish-to-finish (FF)</a:t>
            </a:r>
          </a:p>
        </p:txBody>
      </p:sp>
      <p:sp>
        <p:nvSpPr>
          <p:cNvPr id="3" name="Content Placeholder 2"/>
          <p:cNvSpPr>
            <a:spLocks noGrp="1"/>
          </p:cNvSpPr>
          <p:nvPr>
            <p:ph idx="1"/>
          </p:nvPr>
        </p:nvSpPr>
        <p:spPr/>
        <p:txBody>
          <a:bodyPr/>
          <a:lstStyle/>
          <a:p>
            <a:r>
              <a:rPr lang="en-US" dirty="0"/>
              <a:t>broadcast of a football match cannot finish until the match is finished</a:t>
            </a:r>
            <a:r>
              <a:rPr lang="en-US" dirty="0" smtClean="0"/>
              <a:t>.</a:t>
            </a:r>
          </a:p>
          <a:p>
            <a:r>
              <a:rPr lang="en-US" dirty="0" smtClean="0"/>
              <a:t>,writing </a:t>
            </a:r>
            <a:r>
              <a:rPr lang="en-US" dirty="0"/>
              <a:t>a document </a:t>
            </a:r>
            <a:r>
              <a:rPr lang="en-US" dirty="0" smtClean="0"/>
              <a:t>is </a:t>
            </a:r>
            <a:r>
              <a:rPr lang="en-US" dirty="0"/>
              <a:t>required to finish before editing the document </a:t>
            </a:r>
            <a:r>
              <a:rPr lang="en-US" dirty="0" smtClean="0"/>
              <a:t>can </a:t>
            </a:r>
            <a:r>
              <a:rPr lang="en-US" dirty="0"/>
              <a:t>finish. </a:t>
            </a:r>
          </a:p>
          <a:p>
            <a:endParaRPr lang="en-US" dirty="0"/>
          </a:p>
        </p:txBody>
      </p:sp>
    </p:spTree>
    <p:extLst>
      <p:ext uri="{BB962C8B-B14F-4D97-AF65-F5344CB8AC3E}">
        <p14:creationId xmlns:p14="http://schemas.microsoft.com/office/powerpoint/2010/main" val="17264687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3847" y="332656"/>
            <a:ext cx="5780127" cy="610820"/>
          </a:xfrm>
        </p:spPr>
        <p:txBody>
          <a:bodyPr>
            <a:normAutofit fontScale="90000"/>
          </a:bodyPr>
          <a:lstStyle/>
          <a:p>
            <a:pPr algn="ctr"/>
            <a:r>
              <a:rPr lang="en-US" dirty="0"/>
              <a:t>Start-to-start (SS)</a:t>
            </a:r>
          </a:p>
        </p:txBody>
      </p:sp>
      <p:sp>
        <p:nvSpPr>
          <p:cNvPr id="3" name="Content Placeholder 2"/>
          <p:cNvSpPr>
            <a:spLocks noGrp="1"/>
          </p:cNvSpPr>
          <p:nvPr>
            <p:ph idx="1"/>
          </p:nvPr>
        </p:nvSpPr>
        <p:spPr/>
        <p:txBody>
          <a:bodyPr/>
          <a:lstStyle/>
          <a:p>
            <a:r>
              <a:rPr lang="en-US" dirty="0"/>
              <a:t>For example, level concrete (successor) cannot begin until pour foundation (predecessor) begins. </a:t>
            </a:r>
          </a:p>
          <a:p>
            <a:endParaRPr lang="en-US" dirty="0"/>
          </a:p>
        </p:txBody>
      </p:sp>
    </p:spTree>
    <p:extLst>
      <p:ext uri="{BB962C8B-B14F-4D97-AF65-F5344CB8AC3E}">
        <p14:creationId xmlns:p14="http://schemas.microsoft.com/office/powerpoint/2010/main" val="28872543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7863" y="332656"/>
            <a:ext cx="5636111" cy="610820"/>
          </a:xfrm>
        </p:spPr>
        <p:txBody>
          <a:bodyPr>
            <a:normAutofit fontScale="90000"/>
          </a:bodyPr>
          <a:lstStyle/>
          <a:p>
            <a:pPr algn="ctr"/>
            <a:r>
              <a:rPr lang="en-US" dirty="0"/>
              <a:t>Start-to-finish (SF).</a:t>
            </a:r>
          </a:p>
        </p:txBody>
      </p:sp>
      <p:sp>
        <p:nvSpPr>
          <p:cNvPr id="3" name="Content Placeholder 2"/>
          <p:cNvSpPr>
            <a:spLocks noGrp="1"/>
          </p:cNvSpPr>
          <p:nvPr>
            <p:ph idx="1"/>
          </p:nvPr>
        </p:nvSpPr>
        <p:spPr/>
        <p:txBody>
          <a:bodyPr/>
          <a:lstStyle/>
          <a:p>
            <a:r>
              <a:rPr lang="en-US" dirty="0"/>
              <a:t>For example, a new accounts payable system (successor) has to start before the old accounts payable system can be shut down (predecessor).</a:t>
            </a:r>
          </a:p>
          <a:p>
            <a:endParaRPr lang="en-US" dirty="0"/>
          </a:p>
        </p:txBody>
      </p:sp>
    </p:spTree>
    <p:extLst>
      <p:ext uri="{BB962C8B-B14F-4D97-AF65-F5344CB8AC3E}">
        <p14:creationId xmlns:p14="http://schemas.microsoft.com/office/powerpoint/2010/main" val="146558741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6146" name="Picture 2" descr="D:\bahria 2019\FOPM\Sumaiya\Lecture 7\Prep\relationship.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7875" y="2086539"/>
            <a:ext cx="5915851" cy="3296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7075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871" y="332656"/>
            <a:ext cx="5564103" cy="610820"/>
          </a:xfrm>
        </p:spPr>
        <p:txBody>
          <a:bodyPr>
            <a:normAutofit fontScale="90000"/>
          </a:bodyPr>
          <a:lstStyle/>
          <a:p>
            <a:pPr algn="ctr"/>
            <a:r>
              <a:rPr lang="en-US" dirty="0" smtClean="0"/>
              <a:t>LEADS </a:t>
            </a:r>
            <a:r>
              <a:rPr lang="en-US" dirty="0"/>
              <a:t>AND LAGS</a:t>
            </a:r>
          </a:p>
        </p:txBody>
      </p:sp>
      <p:sp>
        <p:nvSpPr>
          <p:cNvPr id="3" name="Content Placeholder 2"/>
          <p:cNvSpPr>
            <a:spLocks noGrp="1"/>
          </p:cNvSpPr>
          <p:nvPr>
            <p:ph idx="1"/>
          </p:nvPr>
        </p:nvSpPr>
        <p:spPr>
          <a:xfrm>
            <a:off x="323528" y="1443835"/>
            <a:ext cx="8496944" cy="4581150"/>
          </a:xfrm>
        </p:spPr>
        <p:txBody>
          <a:bodyPr>
            <a:normAutofit/>
          </a:bodyPr>
          <a:lstStyle/>
          <a:p>
            <a:r>
              <a:rPr lang="en-US" sz="2400" dirty="0"/>
              <a:t>A lead is the amount of time a successor activity can be advanced with respect to a predecessor </a:t>
            </a:r>
            <a:r>
              <a:rPr lang="en-US" sz="2400" dirty="0" smtClean="0"/>
              <a:t>activity. Letting an activity begin and conduct in parallel with the predecessor.</a:t>
            </a:r>
          </a:p>
          <a:p>
            <a:endParaRPr lang="en-US" sz="2400" dirty="0"/>
          </a:p>
          <a:p>
            <a:r>
              <a:rPr lang="en-US" sz="2400" dirty="0"/>
              <a:t>A lag is the amount of time a successor activity will be delayed with respect to a predecessor activity</a:t>
            </a:r>
            <a:r>
              <a:rPr lang="en-US" sz="2400" dirty="0" smtClean="0"/>
              <a:t>. It is the waiting time between two activities.</a:t>
            </a:r>
            <a:endParaRPr lang="en-US" sz="2400" dirty="0"/>
          </a:p>
        </p:txBody>
      </p:sp>
      <p:pic>
        <p:nvPicPr>
          <p:cNvPr id="11267" name="Picture 3" descr="D:\bahria 2019\FOPM\Sumaiya\Lecture 7\Prep\Lead la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4149080"/>
            <a:ext cx="7704856" cy="238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4139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10242" name="Picture 2" descr="D:\bahria 2019\FOPM\Sumaiya\Lecture 7\Prep\Lea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15" y="1196752"/>
            <a:ext cx="9100291" cy="5256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5836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descr="D:\bahria 2019\FOPM\Sumaiya\Lecture 7\Prep\LA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6752"/>
            <a:ext cx="9180512" cy="5832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604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7170" name="Picture 2" descr="D:\bahria 2019\FOPM\Sumaiya\Lecture 7\Prep\Network Dia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1196752"/>
            <a:ext cx="8021238" cy="5661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43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60648"/>
            <a:ext cx="8229600" cy="610820"/>
          </a:xfrm>
        </p:spPr>
        <p:txBody>
          <a:bodyPr>
            <a:normAutofit fontScale="90000"/>
          </a:bodyPr>
          <a:lstStyle/>
          <a:p>
            <a:pPr algn="ctr"/>
            <a:r>
              <a:rPr lang="en-US" dirty="0" smtClean="0"/>
              <a:t>OUTPUT</a:t>
            </a:r>
            <a:endParaRPr lang="en-US" dirty="0"/>
          </a:p>
        </p:txBody>
      </p:sp>
      <p:sp>
        <p:nvSpPr>
          <p:cNvPr id="3" name="Content Placeholder 2"/>
          <p:cNvSpPr>
            <a:spLocks noGrp="1"/>
          </p:cNvSpPr>
          <p:nvPr>
            <p:ph idx="1"/>
          </p:nvPr>
        </p:nvSpPr>
        <p:spPr>
          <a:xfrm>
            <a:off x="754374" y="1340768"/>
            <a:ext cx="7482545" cy="5517232"/>
          </a:xfrm>
        </p:spPr>
        <p:txBody>
          <a:bodyPr>
            <a:normAutofit fontScale="85000" lnSpcReduction="10000"/>
          </a:bodyPr>
          <a:lstStyle/>
          <a:p>
            <a:pPr marL="0" indent="0">
              <a:buNone/>
            </a:pPr>
            <a:r>
              <a:rPr lang="en-US" dirty="0" smtClean="0"/>
              <a:t>1- PROJECT </a:t>
            </a:r>
            <a:r>
              <a:rPr lang="en-US" dirty="0"/>
              <a:t>SCHEDULE NETWORK </a:t>
            </a:r>
            <a:r>
              <a:rPr lang="en-US" dirty="0" smtClean="0"/>
              <a:t>DIAGRAMS</a:t>
            </a:r>
          </a:p>
          <a:p>
            <a:pPr marL="0" indent="0">
              <a:buNone/>
            </a:pPr>
            <a:r>
              <a:rPr lang="en-US" dirty="0" smtClean="0"/>
              <a:t> </a:t>
            </a:r>
            <a:r>
              <a:rPr lang="en-US" dirty="0"/>
              <a:t>A project schedule network diagram is a graphical representation of the logical relationships, also referred to as dependencies, among the project schedule </a:t>
            </a:r>
            <a:r>
              <a:rPr lang="en-US" dirty="0" smtClean="0"/>
              <a:t>activities. A </a:t>
            </a:r>
            <a:r>
              <a:rPr lang="en-US" dirty="0"/>
              <a:t>project schedule network diagram is produced manually or by using project management software</a:t>
            </a:r>
            <a:r>
              <a:rPr lang="en-US" dirty="0" smtClean="0"/>
              <a:t>.</a:t>
            </a:r>
          </a:p>
          <a:p>
            <a:pPr marL="0" indent="0">
              <a:buNone/>
            </a:pPr>
            <a:endParaRPr lang="en-US" dirty="0" smtClean="0"/>
          </a:p>
          <a:p>
            <a:pPr marL="0" indent="0">
              <a:buNone/>
            </a:pPr>
            <a:endParaRPr lang="en-US" dirty="0" smtClean="0"/>
          </a:p>
          <a:p>
            <a:pPr marL="0" indent="0">
              <a:buNone/>
            </a:pPr>
            <a:r>
              <a:rPr lang="en-US" dirty="0" smtClean="0"/>
              <a:t>2- PROJECT </a:t>
            </a:r>
            <a:r>
              <a:rPr lang="en-US" dirty="0"/>
              <a:t>DOCUMENTS </a:t>
            </a:r>
            <a:r>
              <a:rPr lang="en-US" dirty="0" smtClean="0"/>
              <a:t>UPDATES</a:t>
            </a:r>
          </a:p>
          <a:p>
            <a:r>
              <a:rPr lang="en-US" dirty="0" smtClean="0"/>
              <a:t> </a:t>
            </a:r>
            <a:r>
              <a:rPr lang="en-US" dirty="0"/>
              <a:t>Activity attributes. </a:t>
            </a:r>
            <a:endParaRPr lang="en-US" dirty="0" smtClean="0"/>
          </a:p>
          <a:p>
            <a:r>
              <a:rPr lang="en-US" dirty="0" smtClean="0"/>
              <a:t>Activity </a:t>
            </a:r>
            <a:r>
              <a:rPr lang="en-US" dirty="0"/>
              <a:t>list. </a:t>
            </a:r>
            <a:endParaRPr lang="en-US" dirty="0" smtClean="0"/>
          </a:p>
          <a:p>
            <a:r>
              <a:rPr lang="en-US" dirty="0" smtClean="0"/>
              <a:t>Assumption </a:t>
            </a:r>
            <a:r>
              <a:rPr lang="en-US" dirty="0"/>
              <a:t>log</a:t>
            </a:r>
            <a:r>
              <a:rPr lang="en-US" dirty="0" smtClean="0"/>
              <a:t>.</a:t>
            </a:r>
          </a:p>
          <a:p>
            <a:r>
              <a:rPr lang="en-US" dirty="0" smtClean="0"/>
              <a:t> Assumptions </a:t>
            </a:r>
            <a:r>
              <a:rPr lang="en-US" dirty="0"/>
              <a:t>and </a:t>
            </a:r>
            <a:r>
              <a:rPr lang="en-US" dirty="0" smtClean="0"/>
              <a:t>constraints</a:t>
            </a:r>
          </a:p>
          <a:p>
            <a:r>
              <a:rPr lang="en-US" dirty="0" smtClean="0"/>
              <a:t> </a:t>
            </a:r>
            <a:r>
              <a:rPr lang="en-US" dirty="0"/>
              <a:t>Milestone list.</a:t>
            </a:r>
          </a:p>
        </p:txBody>
      </p:sp>
      <p:pic>
        <p:nvPicPr>
          <p:cNvPr id="4" name="Content Placeholder 10" descr="NWD.JPG"/>
          <p:cNvPicPr>
            <a:picLocks noChangeAspect="1"/>
          </p:cNvPicPr>
          <p:nvPr/>
        </p:nvPicPr>
        <p:blipFill>
          <a:blip r:embed="rId2" cstate="print"/>
          <a:stretch>
            <a:fillRect/>
          </a:stretch>
        </p:blipFill>
        <p:spPr>
          <a:xfrm>
            <a:off x="5876800" y="3140968"/>
            <a:ext cx="3087688" cy="1204112"/>
          </a:xfrm>
          <a:prstGeom prst="rect">
            <a:avLst/>
          </a:prstGeom>
        </p:spPr>
      </p:pic>
    </p:spTree>
    <p:extLst>
      <p:ext uri="{BB962C8B-B14F-4D97-AF65-F5344CB8AC3E}">
        <p14:creationId xmlns:p14="http://schemas.microsoft.com/office/powerpoint/2010/main" val="34240413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r="48992"/>
          <a:stretch/>
        </p:blipFill>
        <p:spPr>
          <a:xfrm>
            <a:off x="179512" y="1234498"/>
            <a:ext cx="7560840" cy="5153181"/>
          </a:xfrm>
          <a:prstGeom prst="rect">
            <a:avLst/>
          </a:prstGeom>
        </p:spPr>
      </p:pic>
      <p:sp>
        <p:nvSpPr>
          <p:cNvPr id="3" name="Title 2"/>
          <p:cNvSpPr>
            <a:spLocks noGrp="1"/>
          </p:cNvSpPr>
          <p:nvPr>
            <p:ph type="title"/>
          </p:nvPr>
        </p:nvSpPr>
        <p:spPr/>
        <p:txBody>
          <a:bodyPr>
            <a:normAutofit fontScale="90000"/>
          </a:bodyPr>
          <a:lstStyle/>
          <a:p>
            <a:pPr algn="ctr"/>
            <a:r>
              <a:rPr lang="en-US" dirty="0" smtClean="0"/>
              <a:t>Class Exercise</a:t>
            </a:r>
            <a:endParaRPr lang="en-US" dirty="0"/>
          </a:p>
        </p:txBody>
      </p:sp>
    </p:spTree>
    <p:extLst>
      <p:ext uri="{BB962C8B-B14F-4D97-AF65-F5344CB8AC3E}">
        <p14:creationId xmlns:p14="http://schemas.microsoft.com/office/powerpoint/2010/main" val="2859539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512" y="1234498"/>
            <a:ext cx="7764338" cy="5153181"/>
          </a:xfrm>
          <a:prstGeom prst="rect">
            <a:avLst/>
          </a:prstGeom>
        </p:spPr>
      </p:pic>
    </p:spTree>
    <p:extLst>
      <p:ext uri="{BB962C8B-B14F-4D97-AF65-F5344CB8AC3E}">
        <p14:creationId xmlns:p14="http://schemas.microsoft.com/office/powerpoint/2010/main" val="2714359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ESTIMATE ACTIVITY DURATIONS</a:t>
            </a:r>
          </a:p>
        </p:txBody>
      </p:sp>
      <p:sp>
        <p:nvSpPr>
          <p:cNvPr id="3" name="Content Placeholder 2"/>
          <p:cNvSpPr>
            <a:spLocks noGrp="1"/>
          </p:cNvSpPr>
          <p:nvPr>
            <p:ph idx="1"/>
          </p:nvPr>
        </p:nvSpPr>
        <p:spPr/>
        <p:txBody>
          <a:bodyPr/>
          <a:lstStyle/>
          <a:p>
            <a:r>
              <a:rPr lang="en-US" dirty="0"/>
              <a:t>Estimate Activity Durations is the process of estimating the number of work periods needed to complete individual activities with estimated resources. </a:t>
            </a:r>
            <a:endParaRPr lang="en-US" dirty="0" smtClean="0"/>
          </a:p>
          <a:p>
            <a:endParaRPr lang="en-US" dirty="0"/>
          </a:p>
          <a:p>
            <a:r>
              <a:rPr lang="en-US" dirty="0" smtClean="0"/>
              <a:t>The </a:t>
            </a:r>
            <a:r>
              <a:rPr lang="en-US" dirty="0"/>
              <a:t>key benefit of this process is that it provides the amount of time each activity will take to complete</a:t>
            </a:r>
          </a:p>
        </p:txBody>
      </p:sp>
    </p:spTree>
    <p:extLst>
      <p:ext uri="{BB962C8B-B14F-4D97-AF65-F5344CB8AC3E}">
        <p14:creationId xmlns:p14="http://schemas.microsoft.com/office/powerpoint/2010/main" val="2457233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D:\bahria 2019\FOPM\Sumaiya\Lecture 8\CPM-prep\Untitl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886" y="1484784"/>
            <a:ext cx="8212137"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4472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smtClean="0"/>
              <a:t>1- PROJECT </a:t>
            </a:r>
            <a:r>
              <a:rPr lang="en-US" dirty="0"/>
              <a:t>MANAGEMENT PLAN </a:t>
            </a:r>
            <a:endParaRPr lang="en-US" dirty="0" smtClean="0"/>
          </a:p>
          <a:p>
            <a:r>
              <a:rPr lang="en-US" dirty="0" smtClean="0"/>
              <a:t>The </a:t>
            </a:r>
            <a:r>
              <a:rPr lang="en-US" dirty="0"/>
              <a:t>schedule management plan </a:t>
            </a:r>
            <a:endParaRPr lang="en-US" dirty="0" smtClean="0"/>
          </a:p>
          <a:p>
            <a:r>
              <a:rPr lang="en-US" dirty="0" smtClean="0"/>
              <a:t>Scope </a:t>
            </a:r>
            <a:r>
              <a:rPr lang="en-US" dirty="0"/>
              <a:t>baseline. </a:t>
            </a:r>
            <a:endParaRPr lang="en-US" dirty="0" smtClean="0"/>
          </a:p>
          <a:p>
            <a:pPr marL="0" indent="0">
              <a:buNone/>
            </a:pPr>
            <a:r>
              <a:rPr lang="en-US" dirty="0" smtClean="0"/>
              <a:t>2-PROJECT DOCUMENTS</a:t>
            </a:r>
          </a:p>
          <a:p>
            <a:pPr marL="0" indent="0">
              <a:buNone/>
            </a:pPr>
            <a:r>
              <a:rPr lang="en-US" dirty="0" smtClean="0"/>
              <a:t>3-EEF </a:t>
            </a:r>
          </a:p>
          <a:p>
            <a:pPr marL="0" indent="0">
              <a:buNone/>
            </a:pPr>
            <a:r>
              <a:rPr lang="en-US" dirty="0" smtClean="0"/>
              <a:t>4-OPAs</a:t>
            </a:r>
            <a:endParaRPr lang="en-US" dirty="0"/>
          </a:p>
        </p:txBody>
      </p:sp>
    </p:spTree>
    <p:extLst>
      <p:ext uri="{BB962C8B-B14F-4D97-AF65-F5344CB8AC3E}">
        <p14:creationId xmlns:p14="http://schemas.microsoft.com/office/powerpoint/2010/main" val="13444237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TOOLS AND TECHNIQUES</a:t>
            </a:r>
          </a:p>
        </p:txBody>
      </p:sp>
      <p:sp>
        <p:nvSpPr>
          <p:cNvPr id="3" name="Content Placeholder 2"/>
          <p:cNvSpPr>
            <a:spLocks noGrp="1"/>
          </p:cNvSpPr>
          <p:nvPr>
            <p:ph idx="1"/>
          </p:nvPr>
        </p:nvSpPr>
        <p:spPr>
          <a:xfrm>
            <a:off x="251520" y="1268760"/>
            <a:ext cx="8784976" cy="5256583"/>
          </a:xfrm>
        </p:spPr>
        <p:txBody>
          <a:bodyPr>
            <a:noAutofit/>
          </a:bodyPr>
          <a:lstStyle/>
          <a:p>
            <a:pPr marL="0" indent="0">
              <a:buNone/>
            </a:pPr>
            <a:r>
              <a:rPr lang="en-US" sz="1800" b="1" dirty="0" smtClean="0"/>
              <a:t>1- EXPERT </a:t>
            </a:r>
            <a:r>
              <a:rPr lang="en-US" sz="1800" b="1" dirty="0"/>
              <a:t>JUDGMENT </a:t>
            </a:r>
            <a:endParaRPr lang="en-US" sz="1800" b="1" dirty="0" smtClean="0"/>
          </a:p>
          <a:p>
            <a:pPr marL="0" indent="0">
              <a:buNone/>
            </a:pPr>
            <a:r>
              <a:rPr lang="en-US" sz="1800" dirty="0" smtClean="0"/>
              <a:t>Expertise </a:t>
            </a:r>
            <a:r>
              <a:rPr lang="en-US" sz="1800" dirty="0"/>
              <a:t>should be considered from individuals or groups with specialized knowledge or </a:t>
            </a:r>
            <a:r>
              <a:rPr lang="en-US" sz="1800" dirty="0" smtClean="0"/>
              <a:t>training</a:t>
            </a:r>
          </a:p>
          <a:p>
            <a:pPr marL="0" indent="0">
              <a:buNone/>
            </a:pPr>
            <a:endParaRPr lang="en-US" sz="900" b="1" dirty="0" smtClean="0"/>
          </a:p>
          <a:p>
            <a:pPr marL="0" indent="0">
              <a:buNone/>
            </a:pPr>
            <a:r>
              <a:rPr lang="en-US" sz="1800" b="1" dirty="0" smtClean="0"/>
              <a:t>2- </a:t>
            </a:r>
            <a:r>
              <a:rPr lang="en-US" sz="1800" b="1" dirty="0"/>
              <a:t>ANALOGOUS </a:t>
            </a:r>
            <a:r>
              <a:rPr lang="en-US" sz="1800" b="1" dirty="0" smtClean="0"/>
              <a:t>ESTIMATING</a:t>
            </a:r>
            <a:r>
              <a:rPr lang="en-US" sz="1800" dirty="0" smtClean="0"/>
              <a:t> Analogous </a:t>
            </a:r>
            <a:r>
              <a:rPr lang="en-US" sz="1800" dirty="0"/>
              <a:t>estimating is a technique for estimating the duration or cost of an activity or a project using historical data from a similar activity or </a:t>
            </a:r>
            <a:r>
              <a:rPr lang="en-US" sz="1800" dirty="0" smtClean="0"/>
              <a:t>project.</a:t>
            </a:r>
          </a:p>
          <a:p>
            <a:pPr marL="0" indent="0">
              <a:buNone/>
            </a:pPr>
            <a:endParaRPr lang="en-US" sz="800" b="1" dirty="0" smtClean="0"/>
          </a:p>
          <a:p>
            <a:pPr marL="0" indent="0">
              <a:buNone/>
            </a:pPr>
            <a:r>
              <a:rPr lang="en-US" sz="1800" b="1" dirty="0" smtClean="0"/>
              <a:t>3-PARAMETRIC </a:t>
            </a:r>
            <a:r>
              <a:rPr lang="en-US" sz="1800" b="1" dirty="0"/>
              <a:t>ESTIMATING </a:t>
            </a:r>
            <a:r>
              <a:rPr lang="en-US" sz="1800" dirty="0"/>
              <a:t>Parametric estimating is an estimating technique in which an algorithm is used to calculate cost or duration based on historical data and project parameters. Parametric estimating uses a statistical relationship between historical data and other variables (e.g., square footage in construction) to calculate an estimate for activity parameters, such as cost, budget, and </a:t>
            </a:r>
            <a:r>
              <a:rPr lang="en-US" sz="1800" dirty="0" smtClean="0"/>
              <a:t>duration.</a:t>
            </a:r>
          </a:p>
          <a:p>
            <a:pPr marL="0" indent="0">
              <a:buNone/>
            </a:pPr>
            <a:endParaRPr lang="en-US" sz="900" b="1" dirty="0" smtClean="0"/>
          </a:p>
          <a:p>
            <a:pPr marL="0" indent="0">
              <a:buNone/>
            </a:pPr>
            <a:r>
              <a:rPr lang="en-US" sz="1800" b="1" dirty="0" smtClean="0"/>
              <a:t>4-DATA </a:t>
            </a:r>
            <a:r>
              <a:rPr lang="en-US" sz="1800" b="1" dirty="0"/>
              <a:t>ANALYSIS</a:t>
            </a:r>
          </a:p>
          <a:p>
            <a:pPr marL="0" indent="0">
              <a:buNone/>
            </a:pPr>
            <a:endParaRPr lang="en-US" sz="1100" b="1" dirty="0" smtClean="0"/>
          </a:p>
          <a:p>
            <a:pPr marL="0" indent="0">
              <a:buNone/>
            </a:pPr>
            <a:r>
              <a:rPr lang="en-US" sz="1800" b="1" dirty="0" smtClean="0"/>
              <a:t>5-DECISION </a:t>
            </a:r>
            <a:r>
              <a:rPr lang="en-US" sz="1800" b="1" dirty="0"/>
              <a:t>MAKING-</a:t>
            </a:r>
            <a:r>
              <a:rPr lang="en-US" sz="1800" dirty="0"/>
              <a:t>Fist of five</a:t>
            </a:r>
          </a:p>
          <a:p>
            <a:pPr marL="0" indent="0">
              <a:buNone/>
            </a:pPr>
            <a:endParaRPr lang="en-US" sz="1200" b="1" dirty="0" smtClean="0"/>
          </a:p>
          <a:p>
            <a:pPr marL="0" indent="0">
              <a:buNone/>
            </a:pPr>
            <a:r>
              <a:rPr lang="en-US" sz="1800" b="1" dirty="0" smtClean="0"/>
              <a:t>6-Meeting</a:t>
            </a:r>
            <a:endParaRPr lang="en-US" sz="1800" b="1" dirty="0"/>
          </a:p>
          <a:p>
            <a:pPr marL="0" indent="0">
              <a:buNone/>
            </a:pPr>
            <a:endParaRPr lang="en-US" sz="1800" dirty="0"/>
          </a:p>
        </p:txBody>
      </p:sp>
    </p:spTree>
    <p:extLst>
      <p:ext uri="{BB962C8B-B14F-4D97-AF65-F5344CB8AC3E}">
        <p14:creationId xmlns:p14="http://schemas.microsoft.com/office/powerpoint/2010/main" val="38339851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THREE-POINT ESTIMATING The accuracy of single-point duration estimates may be improved by considering estimation uncertainty and risk. </a:t>
            </a:r>
            <a:endParaRPr lang="en-US" dirty="0" smtClean="0"/>
          </a:p>
          <a:p>
            <a:r>
              <a:rPr lang="en-US" dirty="0" smtClean="0"/>
              <a:t>Using </a:t>
            </a:r>
            <a:r>
              <a:rPr lang="en-US" dirty="0"/>
              <a:t>three-point estimates helps define an approximate range for an activity's duration: </a:t>
            </a:r>
            <a:endParaRPr lang="en-US" dirty="0" smtClean="0"/>
          </a:p>
          <a:p>
            <a:r>
              <a:rPr lang="en-US" dirty="0" smtClean="0"/>
              <a:t>Most </a:t>
            </a:r>
            <a:r>
              <a:rPr lang="en-US" dirty="0"/>
              <a:t>likely (</a:t>
            </a:r>
            <a:r>
              <a:rPr lang="en-US" dirty="0" err="1" smtClean="0"/>
              <a:t>tM</a:t>
            </a:r>
            <a:r>
              <a:rPr lang="en-US" dirty="0" smtClean="0"/>
              <a:t>) based on reality Optimistic </a:t>
            </a:r>
            <a:r>
              <a:rPr lang="en-US" dirty="0"/>
              <a:t>(</a:t>
            </a:r>
            <a:r>
              <a:rPr lang="en-US" dirty="0" err="1"/>
              <a:t>tO</a:t>
            </a:r>
            <a:r>
              <a:rPr lang="en-US" dirty="0"/>
              <a:t>). </a:t>
            </a:r>
            <a:r>
              <a:rPr lang="en-US" dirty="0" smtClean="0"/>
              <a:t>best-case scenario Pessimistic </a:t>
            </a:r>
            <a:r>
              <a:rPr lang="en-US" dirty="0"/>
              <a:t>(</a:t>
            </a:r>
            <a:r>
              <a:rPr lang="en-US" dirty="0" err="1"/>
              <a:t>tP</a:t>
            </a:r>
            <a:r>
              <a:rPr lang="en-US" dirty="0"/>
              <a:t>). </a:t>
            </a:r>
            <a:r>
              <a:rPr lang="en-US" dirty="0" smtClean="0"/>
              <a:t>worst-case </a:t>
            </a:r>
            <a:r>
              <a:rPr lang="en-US" dirty="0"/>
              <a:t>scenario </a:t>
            </a:r>
            <a:endParaRPr lang="en-US" dirty="0" smtClean="0"/>
          </a:p>
          <a:p>
            <a:r>
              <a:rPr lang="en-US" dirty="0" smtClean="0"/>
              <a:t>Depending </a:t>
            </a:r>
            <a:r>
              <a:rPr lang="en-US" dirty="0"/>
              <a:t>on the assumed distribution of values within the range of the three estimates, the expected duration, </a:t>
            </a:r>
            <a:r>
              <a:rPr lang="en-US" dirty="0" err="1"/>
              <a:t>tE</a:t>
            </a:r>
            <a:r>
              <a:rPr lang="en-US" dirty="0"/>
              <a:t>, can be calculated. One commonly used formula is triangular distribution: </a:t>
            </a:r>
            <a:r>
              <a:rPr lang="en-US" dirty="0" err="1"/>
              <a:t>tE</a:t>
            </a:r>
            <a:r>
              <a:rPr lang="en-US" dirty="0"/>
              <a:t> = (</a:t>
            </a:r>
            <a:r>
              <a:rPr lang="en-US" dirty="0" err="1"/>
              <a:t>tO</a:t>
            </a:r>
            <a:r>
              <a:rPr lang="en-US" dirty="0"/>
              <a:t> + </a:t>
            </a:r>
            <a:r>
              <a:rPr lang="en-US" dirty="0" err="1"/>
              <a:t>tM</a:t>
            </a:r>
            <a:r>
              <a:rPr lang="en-US" dirty="0"/>
              <a:t> + </a:t>
            </a:r>
            <a:r>
              <a:rPr lang="en-US" dirty="0" err="1"/>
              <a:t>tP</a:t>
            </a:r>
            <a:r>
              <a:rPr lang="en-US" dirty="0"/>
              <a:t>) / 3.</a:t>
            </a:r>
          </a:p>
        </p:txBody>
      </p:sp>
    </p:spTree>
    <p:extLst>
      <p:ext uri="{BB962C8B-B14F-4D97-AF65-F5344CB8AC3E}">
        <p14:creationId xmlns:p14="http://schemas.microsoft.com/office/powerpoint/2010/main" val="21196116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12290" name="Picture 2" descr="D:\bahria 2019\FOPM\Sumaiya\Lecture 7\Prep\Parametr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56792"/>
            <a:ext cx="9144000"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55747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936" y="225892"/>
            <a:ext cx="8229600" cy="610820"/>
          </a:xfrm>
        </p:spPr>
        <p:txBody>
          <a:bodyPr>
            <a:normAutofit fontScale="90000"/>
          </a:bodyPr>
          <a:lstStyle/>
          <a:p>
            <a:pPr algn="ctr"/>
            <a:r>
              <a:rPr lang="en-US" dirty="0" smtClean="0"/>
              <a:t> OUTPUTS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1- DURATION </a:t>
            </a:r>
            <a:r>
              <a:rPr lang="en-US" dirty="0"/>
              <a:t>ESTIMATES </a:t>
            </a:r>
            <a:endParaRPr lang="en-US" dirty="0" smtClean="0"/>
          </a:p>
          <a:p>
            <a:pPr marL="0" indent="0">
              <a:buNone/>
            </a:pPr>
            <a:r>
              <a:rPr lang="en-US" dirty="0" smtClean="0"/>
              <a:t>2-BASIS </a:t>
            </a:r>
            <a:r>
              <a:rPr lang="en-US" dirty="0"/>
              <a:t>OF </a:t>
            </a:r>
            <a:r>
              <a:rPr lang="en-US" dirty="0" smtClean="0"/>
              <a:t>ESTIMATES. </a:t>
            </a:r>
            <a:r>
              <a:rPr lang="en-US" dirty="0"/>
              <a:t>Supporting detail for duration estimates may include</a:t>
            </a:r>
            <a:r>
              <a:rPr lang="en-US" dirty="0" smtClean="0"/>
              <a:t>:</a:t>
            </a:r>
          </a:p>
          <a:p>
            <a:r>
              <a:rPr lang="en-US" dirty="0" smtClean="0"/>
              <a:t> </a:t>
            </a:r>
            <a:r>
              <a:rPr lang="en-US" dirty="0"/>
              <a:t>Documentation of the basis of the estimate (i.e., how it was developed</a:t>
            </a:r>
            <a:r>
              <a:rPr lang="en-US" dirty="0" smtClean="0"/>
              <a:t>)</a:t>
            </a:r>
          </a:p>
          <a:p>
            <a:r>
              <a:rPr lang="en-US" dirty="0" smtClean="0"/>
              <a:t> </a:t>
            </a:r>
            <a:r>
              <a:rPr lang="en-US" dirty="0"/>
              <a:t>Documentation of all assumptions </a:t>
            </a:r>
            <a:r>
              <a:rPr lang="en-US" dirty="0" smtClean="0"/>
              <a:t>made</a:t>
            </a:r>
          </a:p>
          <a:p>
            <a:r>
              <a:rPr lang="en-US" dirty="0" smtClean="0"/>
              <a:t>Documentation </a:t>
            </a:r>
            <a:r>
              <a:rPr lang="en-US" dirty="0"/>
              <a:t>of any known </a:t>
            </a:r>
            <a:r>
              <a:rPr lang="en-US" dirty="0" smtClean="0"/>
              <a:t>constraints</a:t>
            </a:r>
          </a:p>
          <a:p>
            <a:r>
              <a:rPr lang="en-US" dirty="0" smtClean="0"/>
              <a:t>Indication </a:t>
            </a:r>
            <a:r>
              <a:rPr lang="en-US" dirty="0"/>
              <a:t>of the range of possible estimates (e.g., ±10%) to indicate that the duration is estimated between a range of </a:t>
            </a:r>
            <a:r>
              <a:rPr lang="en-US" dirty="0" smtClean="0"/>
              <a:t>values)and so on</a:t>
            </a:r>
          </a:p>
          <a:p>
            <a:pPr marL="0" indent="0">
              <a:buNone/>
            </a:pPr>
            <a:r>
              <a:rPr lang="en-US" dirty="0" smtClean="0"/>
              <a:t>3- PROJECT UPDATES </a:t>
            </a:r>
            <a:endParaRPr lang="en-US" dirty="0"/>
          </a:p>
        </p:txBody>
      </p:sp>
    </p:spTree>
    <p:extLst>
      <p:ext uri="{BB962C8B-B14F-4D97-AF65-F5344CB8AC3E}">
        <p14:creationId xmlns:p14="http://schemas.microsoft.com/office/powerpoint/2010/main" val="263081413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3887" y="332656"/>
            <a:ext cx="5420087" cy="610820"/>
          </a:xfrm>
        </p:spPr>
        <p:txBody>
          <a:bodyPr>
            <a:normAutofit fontScale="90000"/>
          </a:bodyPr>
          <a:lstStyle/>
          <a:p>
            <a:pPr algn="ctr"/>
            <a:r>
              <a:rPr lang="en-US" dirty="0" smtClean="0"/>
              <a:t>DEVELOP SCHEDULE</a:t>
            </a:r>
            <a:endParaRPr lang="en-US" dirty="0"/>
          </a:p>
        </p:txBody>
      </p:sp>
      <p:sp>
        <p:nvSpPr>
          <p:cNvPr id="3" name="Content Placeholder 2"/>
          <p:cNvSpPr>
            <a:spLocks noGrp="1"/>
          </p:cNvSpPr>
          <p:nvPr>
            <p:ph idx="1"/>
          </p:nvPr>
        </p:nvSpPr>
        <p:spPr/>
        <p:txBody>
          <a:bodyPr/>
          <a:lstStyle/>
          <a:p>
            <a:r>
              <a:rPr lang="en-US" dirty="0"/>
              <a:t>Develop Schedule is the process of analyzing activity sequences, durations, resource requirements, and schedule constraints to create a schedule model for project execution and monitoring and </a:t>
            </a:r>
            <a:r>
              <a:rPr lang="en-US" dirty="0" smtClean="0"/>
              <a:t>controlling</a:t>
            </a:r>
          </a:p>
          <a:p>
            <a:endParaRPr lang="en-US" dirty="0" smtClean="0"/>
          </a:p>
          <a:p>
            <a:r>
              <a:rPr lang="en-US" dirty="0" smtClean="0"/>
              <a:t> </a:t>
            </a:r>
            <a:r>
              <a:rPr lang="en-US" dirty="0"/>
              <a:t>The key benefit of this process is that it generates a schedule model with planned dates for completing project activities</a:t>
            </a:r>
          </a:p>
        </p:txBody>
      </p:sp>
    </p:spTree>
    <p:extLst>
      <p:ext uri="{BB962C8B-B14F-4D97-AF65-F5344CB8AC3E}">
        <p14:creationId xmlns:p14="http://schemas.microsoft.com/office/powerpoint/2010/main" val="10513938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2050" name="Picture 2" descr="D:\bahria 2019\FOPM\Sumaiya\Lecture 8\CPM-prep\D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4063" y="1480490"/>
            <a:ext cx="7483475" cy="4508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7269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7480" y="44624"/>
            <a:ext cx="5987008" cy="1143000"/>
          </a:xfrm>
        </p:spPr>
        <p:txBody>
          <a:bodyPr>
            <a:normAutofit/>
          </a:bodyPr>
          <a:lstStyle/>
          <a:p>
            <a:r>
              <a:rPr lang="en-US" sz="3600" b="1" dirty="0" smtClean="0"/>
              <a:t>CRITICAL PATH METHOD</a:t>
            </a:r>
            <a:endParaRPr lang="en-US" sz="3600" b="1" dirty="0"/>
          </a:p>
        </p:txBody>
      </p:sp>
      <p:sp>
        <p:nvSpPr>
          <p:cNvPr id="3" name="Content Placeholder 2"/>
          <p:cNvSpPr>
            <a:spLocks noGrp="1"/>
          </p:cNvSpPr>
          <p:nvPr>
            <p:ph sz="half" idx="1"/>
          </p:nvPr>
        </p:nvSpPr>
        <p:spPr>
          <a:xfrm>
            <a:off x="457200" y="1600200"/>
            <a:ext cx="8147248" cy="4525963"/>
          </a:xfrm>
        </p:spPr>
        <p:txBody>
          <a:bodyPr>
            <a:normAutofit lnSpcReduction="10000"/>
          </a:bodyPr>
          <a:lstStyle/>
          <a:p>
            <a:r>
              <a:rPr lang="en-US" dirty="0"/>
              <a:t>The critical path method (CPM) is a step-by-step </a:t>
            </a:r>
            <a:r>
              <a:rPr lang="en-US" u="sng" dirty="0"/>
              <a:t>project management</a:t>
            </a:r>
            <a:r>
              <a:rPr lang="en-US" dirty="0"/>
              <a:t> technique for process planning that defines critical and non-critical tasks with the goal of preventing time-frame </a:t>
            </a:r>
            <a:r>
              <a:rPr lang="en-US" dirty="0" smtClean="0"/>
              <a:t>problems</a:t>
            </a:r>
          </a:p>
          <a:p>
            <a:endParaRPr lang="en-US" dirty="0" smtClean="0"/>
          </a:p>
          <a:p>
            <a:r>
              <a:rPr lang="en-US" dirty="0" smtClean="0"/>
              <a:t>This </a:t>
            </a:r>
            <a:r>
              <a:rPr lang="en-US" dirty="0"/>
              <a:t>schedule network analysis technique calculates the early start, early finish, late start, and late finish dates for all activities without regard for any resource limitations by performing a forward and backward pass analysis through the schedule network</a:t>
            </a:r>
          </a:p>
        </p:txBody>
      </p:sp>
    </p:spTree>
    <p:extLst>
      <p:ext uri="{BB962C8B-B14F-4D97-AF65-F5344CB8AC3E}">
        <p14:creationId xmlns:p14="http://schemas.microsoft.com/office/powerpoint/2010/main" val="28887750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endParaRPr lang="en-US"/>
          </a:p>
        </p:txBody>
      </p:sp>
      <p:grpSp>
        <p:nvGrpSpPr>
          <p:cNvPr id="22" name="Group 21"/>
          <p:cNvGrpSpPr/>
          <p:nvPr/>
        </p:nvGrpSpPr>
        <p:grpSpPr>
          <a:xfrm>
            <a:off x="3275856" y="1844824"/>
            <a:ext cx="2097416" cy="1800200"/>
            <a:chOff x="323528" y="1484784"/>
            <a:chExt cx="2097416" cy="1800200"/>
          </a:xfrm>
        </p:grpSpPr>
        <p:grpSp>
          <p:nvGrpSpPr>
            <p:cNvPr id="12" name="Group 11"/>
            <p:cNvGrpSpPr/>
            <p:nvPr/>
          </p:nvGrpSpPr>
          <p:grpSpPr>
            <a:xfrm>
              <a:off x="323528" y="1484784"/>
              <a:ext cx="2088232" cy="1800200"/>
              <a:chOff x="323528" y="1484784"/>
              <a:chExt cx="2088232" cy="1800200"/>
            </a:xfrm>
          </p:grpSpPr>
          <p:sp>
            <p:nvSpPr>
              <p:cNvPr id="5" name="Rectangle 4"/>
              <p:cNvSpPr/>
              <p:nvPr/>
            </p:nvSpPr>
            <p:spPr>
              <a:xfrm>
                <a:off x="323528" y="1484784"/>
                <a:ext cx="2088232"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971600" y="1639833"/>
              <a:ext cx="792088" cy="276999"/>
            </a:xfrm>
            <a:prstGeom prst="rect">
              <a:avLst/>
            </a:prstGeom>
            <a:noFill/>
          </p:spPr>
          <p:txBody>
            <a:bodyPr wrap="square" rtlCol="0">
              <a:spAutoFit/>
            </a:bodyPr>
            <a:lstStyle/>
            <a:p>
              <a:r>
                <a:rPr lang="en-US" sz="1200" b="1" dirty="0" smtClean="0"/>
                <a:t>ACTIVITY</a:t>
              </a:r>
              <a:endParaRPr lang="en-US" sz="1200" b="1" dirty="0"/>
            </a:p>
          </p:txBody>
        </p:sp>
        <p:sp>
          <p:nvSpPr>
            <p:cNvPr id="15" name="TextBox 14"/>
            <p:cNvSpPr txBox="1"/>
            <p:nvPr/>
          </p:nvSpPr>
          <p:spPr>
            <a:xfrm>
              <a:off x="323528" y="1556792"/>
              <a:ext cx="648072" cy="369332"/>
            </a:xfrm>
            <a:prstGeom prst="rect">
              <a:avLst/>
            </a:prstGeom>
            <a:noFill/>
          </p:spPr>
          <p:txBody>
            <a:bodyPr wrap="square" rtlCol="0">
              <a:spAutoFit/>
            </a:bodyPr>
            <a:lstStyle/>
            <a:p>
              <a:pPr algn="ctr"/>
              <a:r>
                <a:rPr lang="en-US" b="1" dirty="0" smtClean="0"/>
                <a:t>ES</a:t>
              </a:r>
              <a:endParaRPr lang="en-US" b="1" dirty="0"/>
            </a:p>
          </p:txBody>
        </p:sp>
        <p:sp>
          <p:nvSpPr>
            <p:cNvPr id="16" name="TextBox 15"/>
            <p:cNvSpPr txBox="1"/>
            <p:nvPr/>
          </p:nvSpPr>
          <p:spPr>
            <a:xfrm>
              <a:off x="323528" y="2902049"/>
              <a:ext cx="648072" cy="369332"/>
            </a:xfrm>
            <a:prstGeom prst="rect">
              <a:avLst/>
            </a:prstGeom>
            <a:noFill/>
          </p:spPr>
          <p:txBody>
            <a:bodyPr wrap="square" rtlCol="0">
              <a:spAutoFit/>
            </a:bodyPr>
            <a:lstStyle/>
            <a:p>
              <a:pPr algn="ctr"/>
              <a:r>
                <a:rPr lang="en-US" b="1" dirty="0" smtClean="0"/>
                <a:t>LS</a:t>
              </a:r>
              <a:endParaRPr lang="en-US" b="1" dirty="0"/>
            </a:p>
          </p:txBody>
        </p:sp>
        <p:sp>
          <p:nvSpPr>
            <p:cNvPr id="17" name="TextBox 16"/>
            <p:cNvSpPr txBox="1"/>
            <p:nvPr/>
          </p:nvSpPr>
          <p:spPr>
            <a:xfrm>
              <a:off x="1772872" y="1593666"/>
              <a:ext cx="648072" cy="369332"/>
            </a:xfrm>
            <a:prstGeom prst="rect">
              <a:avLst/>
            </a:prstGeom>
            <a:noFill/>
          </p:spPr>
          <p:txBody>
            <a:bodyPr wrap="square" rtlCol="0">
              <a:spAutoFit/>
            </a:bodyPr>
            <a:lstStyle/>
            <a:p>
              <a:pPr algn="ctr"/>
              <a:r>
                <a:rPr lang="en-US" b="1" dirty="0" smtClean="0"/>
                <a:t>EF</a:t>
              </a:r>
              <a:endParaRPr lang="en-US" b="1" dirty="0"/>
            </a:p>
          </p:txBody>
        </p:sp>
        <p:sp>
          <p:nvSpPr>
            <p:cNvPr id="18" name="TextBox 17"/>
            <p:cNvSpPr txBox="1"/>
            <p:nvPr/>
          </p:nvSpPr>
          <p:spPr>
            <a:xfrm>
              <a:off x="1763688" y="2852936"/>
              <a:ext cx="648072" cy="369332"/>
            </a:xfrm>
            <a:prstGeom prst="rect">
              <a:avLst/>
            </a:prstGeom>
            <a:noFill/>
          </p:spPr>
          <p:txBody>
            <a:bodyPr wrap="square" rtlCol="0">
              <a:spAutoFit/>
            </a:bodyPr>
            <a:lstStyle/>
            <a:p>
              <a:pPr algn="ctr"/>
              <a:r>
                <a:rPr lang="en-US" b="1" dirty="0" smtClean="0"/>
                <a:t>LF</a:t>
              </a:r>
              <a:endParaRPr lang="en-US" b="1" dirty="0"/>
            </a:p>
          </p:txBody>
        </p:sp>
        <p:sp>
          <p:nvSpPr>
            <p:cNvPr id="19" name="TextBox 18"/>
            <p:cNvSpPr txBox="1"/>
            <p:nvPr/>
          </p:nvSpPr>
          <p:spPr>
            <a:xfrm>
              <a:off x="971600" y="2902049"/>
              <a:ext cx="1008112" cy="253916"/>
            </a:xfrm>
            <a:prstGeom prst="rect">
              <a:avLst/>
            </a:prstGeom>
            <a:noFill/>
          </p:spPr>
          <p:txBody>
            <a:bodyPr wrap="square" rtlCol="0">
              <a:spAutoFit/>
            </a:bodyPr>
            <a:lstStyle/>
            <a:p>
              <a:r>
                <a:rPr lang="en-US" sz="1050" b="1" dirty="0" smtClean="0"/>
                <a:t>DURATION</a:t>
              </a:r>
              <a:endParaRPr lang="en-US" sz="1050" b="1" dirty="0"/>
            </a:p>
          </p:txBody>
        </p:sp>
        <p:sp>
          <p:nvSpPr>
            <p:cNvPr id="20" name="TextBox 19"/>
            <p:cNvSpPr txBox="1"/>
            <p:nvPr/>
          </p:nvSpPr>
          <p:spPr>
            <a:xfrm>
              <a:off x="323528" y="2204864"/>
              <a:ext cx="648072" cy="523220"/>
            </a:xfrm>
            <a:prstGeom prst="rect">
              <a:avLst/>
            </a:prstGeom>
            <a:noFill/>
          </p:spPr>
          <p:txBody>
            <a:bodyPr wrap="square" rtlCol="0">
              <a:spAutoFit/>
            </a:bodyPr>
            <a:lstStyle/>
            <a:p>
              <a:r>
                <a:rPr lang="en-US" sz="1400" b="1" dirty="0" smtClean="0"/>
                <a:t>FOAT/ SLACK</a:t>
              </a:r>
              <a:endParaRPr lang="en-US" sz="1400" b="1" dirty="0"/>
            </a:p>
          </p:txBody>
        </p:sp>
        <p:sp>
          <p:nvSpPr>
            <p:cNvPr id="21" name="TextBox 20"/>
            <p:cNvSpPr txBox="1"/>
            <p:nvPr/>
          </p:nvSpPr>
          <p:spPr>
            <a:xfrm>
              <a:off x="1763688" y="2185700"/>
              <a:ext cx="648072" cy="523220"/>
            </a:xfrm>
            <a:prstGeom prst="rect">
              <a:avLst/>
            </a:prstGeom>
            <a:noFill/>
          </p:spPr>
          <p:txBody>
            <a:bodyPr wrap="square" rtlCol="0">
              <a:spAutoFit/>
            </a:bodyPr>
            <a:lstStyle/>
            <a:p>
              <a:r>
                <a:rPr lang="en-US" sz="1400" b="1" dirty="0" smtClean="0"/>
                <a:t>FOAT/ SLACK</a:t>
              </a:r>
              <a:endParaRPr lang="en-US" sz="1400" b="1" dirty="0"/>
            </a:p>
          </p:txBody>
        </p:sp>
      </p:grpSp>
      <p:sp>
        <p:nvSpPr>
          <p:cNvPr id="24" name="TextBox 23"/>
          <p:cNvSpPr txBox="1"/>
          <p:nvPr/>
        </p:nvSpPr>
        <p:spPr>
          <a:xfrm>
            <a:off x="755576" y="3296202"/>
            <a:ext cx="2448272" cy="369332"/>
          </a:xfrm>
          <a:prstGeom prst="rect">
            <a:avLst/>
          </a:prstGeom>
          <a:noFill/>
        </p:spPr>
        <p:txBody>
          <a:bodyPr wrap="square" rtlCol="0">
            <a:spAutoFit/>
          </a:bodyPr>
          <a:lstStyle/>
          <a:p>
            <a:r>
              <a:rPr lang="en-US" b="1" dirty="0" smtClean="0"/>
              <a:t>LATE START</a:t>
            </a:r>
            <a:endParaRPr lang="en-US" b="1" dirty="0"/>
          </a:p>
        </p:txBody>
      </p:sp>
      <p:sp>
        <p:nvSpPr>
          <p:cNvPr id="25" name="TextBox 24"/>
          <p:cNvSpPr txBox="1"/>
          <p:nvPr/>
        </p:nvSpPr>
        <p:spPr>
          <a:xfrm>
            <a:off x="755576" y="1835532"/>
            <a:ext cx="2448272" cy="369332"/>
          </a:xfrm>
          <a:prstGeom prst="rect">
            <a:avLst/>
          </a:prstGeom>
          <a:noFill/>
        </p:spPr>
        <p:txBody>
          <a:bodyPr wrap="square" rtlCol="0">
            <a:spAutoFit/>
          </a:bodyPr>
          <a:lstStyle/>
          <a:p>
            <a:r>
              <a:rPr lang="en-US" b="1" dirty="0" smtClean="0"/>
              <a:t>EARLY START</a:t>
            </a:r>
            <a:endParaRPr lang="en-US" b="1" dirty="0"/>
          </a:p>
        </p:txBody>
      </p:sp>
      <p:sp>
        <p:nvSpPr>
          <p:cNvPr id="26" name="TextBox 25"/>
          <p:cNvSpPr txBox="1"/>
          <p:nvPr/>
        </p:nvSpPr>
        <p:spPr>
          <a:xfrm>
            <a:off x="6444208" y="1810394"/>
            <a:ext cx="2448272" cy="369332"/>
          </a:xfrm>
          <a:prstGeom prst="rect">
            <a:avLst/>
          </a:prstGeom>
          <a:noFill/>
        </p:spPr>
        <p:txBody>
          <a:bodyPr wrap="square" rtlCol="0">
            <a:spAutoFit/>
          </a:bodyPr>
          <a:lstStyle/>
          <a:p>
            <a:r>
              <a:rPr lang="en-US" b="1" dirty="0" smtClean="0"/>
              <a:t>EARLY FINISH</a:t>
            </a:r>
            <a:endParaRPr lang="en-US" b="1" dirty="0"/>
          </a:p>
        </p:txBody>
      </p:sp>
      <p:sp>
        <p:nvSpPr>
          <p:cNvPr id="27" name="TextBox 26"/>
          <p:cNvSpPr txBox="1"/>
          <p:nvPr/>
        </p:nvSpPr>
        <p:spPr>
          <a:xfrm>
            <a:off x="6536526" y="3146673"/>
            <a:ext cx="2448272" cy="369332"/>
          </a:xfrm>
          <a:prstGeom prst="rect">
            <a:avLst/>
          </a:prstGeom>
          <a:noFill/>
        </p:spPr>
        <p:txBody>
          <a:bodyPr wrap="square" rtlCol="0">
            <a:spAutoFit/>
          </a:bodyPr>
          <a:lstStyle/>
          <a:p>
            <a:r>
              <a:rPr lang="en-US" b="1" dirty="0" smtClean="0"/>
              <a:t>LATE FINISH</a:t>
            </a:r>
            <a:endParaRPr lang="en-US" b="1" dirty="0"/>
          </a:p>
        </p:txBody>
      </p:sp>
      <p:cxnSp>
        <p:nvCxnSpPr>
          <p:cNvPr id="29" name="Straight Arrow Connector 28"/>
          <p:cNvCxnSpPr/>
          <p:nvPr/>
        </p:nvCxnSpPr>
        <p:spPr>
          <a:xfrm flipH="1">
            <a:off x="2051720" y="2070140"/>
            <a:ext cx="1224136"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373272" y="1987193"/>
            <a:ext cx="107972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5373272" y="3389047"/>
            <a:ext cx="1151328" cy="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6" idx="1"/>
          </p:cNvCxnSpPr>
          <p:nvPr/>
        </p:nvCxnSpPr>
        <p:spPr>
          <a:xfrm flipH="1">
            <a:off x="2123728" y="3446755"/>
            <a:ext cx="1152128"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42956" y="3933056"/>
            <a:ext cx="8964488" cy="3139321"/>
          </a:xfrm>
          <a:prstGeom prst="rect">
            <a:avLst/>
          </a:prstGeom>
        </p:spPr>
        <p:txBody>
          <a:bodyPr wrap="square">
            <a:spAutoFit/>
          </a:bodyPr>
          <a:lstStyle/>
          <a:p>
            <a:r>
              <a:rPr lang="en-US" b="1" dirty="0"/>
              <a:t>Early Start</a:t>
            </a:r>
            <a:r>
              <a:rPr lang="en-US" dirty="0"/>
              <a:t> – The earliest time that an activity can start according to the logical constraints.</a:t>
            </a:r>
            <a:br>
              <a:rPr lang="en-US" dirty="0"/>
            </a:br>
            <a:r>
              <a:rPr lang="en-US" b="1" dirty="0" smtClean="0"/>
              <a:t>Duration</a:t>
            </a:r>
            <a:r>
              <a:rPr lang="en-US" dirty="0"/>
              <a:t> – The estimated time to undertake the activity.</a:t>
            </a:r>
            <a:br>
              <a:rPr lang="en-US" dirty="0"/>
            </a:br>
            <a:r>
              <a:rPr lang="en-US" b="1" dirty="0" smtClean="0"/>
              <a:t>Early </a:t>
            </a:r>
            <a:r>
              <a:rPr lang="en-US" b="1" dirty="0"/>
              <a:t>Finish</a:t>
            </a:r>
            <a:r>
              <a:rPr lang="en-US" dirty="0"/>
              <a:t> – The earliest time that an activity can finish according to logical constraints</a:t>
            </a:r>
            <a:r>
              <a:rPr lang="en-US" dirty="0" smtClean="0"/>
              <a:t>.</a:t>
            </a:r>
          </a:p>
          <a:p>
            <a:r>
              <a:rPr lang="en-US" b="1" dirty="0"/>
              <a:t>Early Start + Duration = Early Finish</a:t>
            </a:r>
            <a:r>
              <a:rPr lang="en-US" dirty="0"/>
              <a:t/>
            </a:r>
            <a:br>
              <a:rPr lang="en-US" dirty="0"/>
            </a:br>
            <a:r>
              <a:rPr lang="en-US" b="1" dirty="0" smtClean="0"/>
              <a:t>Late </a:t>
            </a:r>
            <a:r>
              <a:rPr lang="en-US" b="1" dirty="0"/>
              <a:t>Start</a:t>
            </a:r>
            <a:r>
              <a:rPr lang="en-US" dirty="0"/>
              <a:t> – The latest time that an activity can start according to logical constraints and without affecting the overall project duration.</a:t>
            </a:r>
            <a:br>
              <a:rPr lang="en-US" dirty="0"/>
            </a:br>
            <a:r>
              <a:rPr lang="en-US" b="1" dirty="0"/>
              <a:t>Late Finish</a:t>
            </a:r>
            <a:r>
              <a:rPr lang="en-US" dirty="0"/>
              <a:t> – The latest time that an activity can finish according to logical constraints and without affecting the overall project duration.</a:t>
            </a:r>
            <a:r>
              <a:rPr lang="en-US" b="1" dirty="0"/>
              <a:t> Late Finish – Duration = Late Start</a:t>
            </a:r>
            <a:r>
              <a:rPr lang="en-US" dirty="0"/>
              <a:t/>
            </a:r>
            <a:br>
              <a:rPr lang="en-US" dirty="0"/>
            </a:br>
            <a:r>
              <a:rPr lang="en-US" b="1" dirty="0" smtClean="0"/>
              <a:t>Float</a:t>
            </a:r>
            <a:r>
              <a:rPr lang="en-US" dirty="0"/>
              <a:t> – The time by which an activity may be delayed without affecting the overall project duration</a:t>
            </a:r>
            <a:r>
              <a:rPr lang="en-US" dirty="0" smtClean="0"/>
              <a:t>. </a:t>
            </a:r>
            <a:r>
              <a:rPr lang="en-US" b="1" dirty="0"/>
              <a:t>Latest </a:t>
            </a:r>
            <a:r>
              <a:rPr lang="en-US" b="1" dirty="0" smtClean="0"/>
              <a:t>Finish/Start </a:t>
            </a:r>
            <a:r>
              <a:rPr lang="en-US" b="1" dirty="0"/>
              <a:t>– Earliest </a:t>
            </a:r>
            <a:r>
              <a:rPr lang="en-US" b="1" dirty="0" smtClean="0"/>
              <a:t>Finish/Start </a:t>
            </a:r>
            <a:r>
              <a:rPr lang="en-US" b="1" dirty="0"/>
              <a:t>= Float</a:t>
            </a:r>
            <a:r>
              <a:rPr lang="en-US" dirty="0"/>
              <a:t/>
            </a:r>
            <a:br>
              <a:rPr lang="en-US" dirty="0"/>
            </a:br>
            <a:endParaRPr lang="en-US" dirty="0"/>
          </a:p>
        </p:txBody>
      </p:sp>
    </p:spTree>
    <p:extLst>
      <p:ext uri="{BB962C8B-B14F-4D97-AF65-F5344CB8AC3E}">
        <p14:creationId xmlns:p14="http://schemas.microsoft.com/office/powerpoint/2010/main" val="103006187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872" y="116632"/>
            <a:ext cx="5266928" cy="1143000"/>
          </a:xfrm>
        </p:spPr>
        <p:txBody>
          <a:bodyPr>
            <a:normAutofit/>
          </a:bodyPr>
          <a:lstStyle/>
          <a:p>
            <a:r>
              <a:rPr lang="en-US" sz="2800" dirty="0" smtClean="0"/>
              <a:t>CRITICAL PATH METHOD</a:t>
            </a:r>
            <a:endParaRPr lang="en-US" sz="2800" dirty="0"/>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2002620507"/>
              </p:ext>
            </p:extLst>
          </p:nvPr>
        </p:nvGraphicFramePr>
        <p:xfrm>
          <a:off x="457200" y="1824910"/>
          <a:ext cx="8003232" cy="3548306"/>
        </p:xfrm>
        <a:graphic>
          <a:graphicData uri="http://schemas.openxmlformats.org/drawingml/2006/table">
            <a:tbl>
              <a:tblPr firstRow="1" bandRow="1">
                <a:tableStyleId>{5C22544A-7EE6-4342-B048-85BDC9FD1C3A}</a:tableStyleId>
              </a:tblPr>
              <a:tblGrid>
                <a:gridCol w="2667744">
                  <a:extLst>
                    <a:ext uri="{9D8B030D-6E8A-4147-A177-3AD203B41FA5}">
                      <a16:colId xmlns:a16="http://schemas.microsoft.com/office/drawing/2014/main" val="20000"/>
                    </a:ext>
                  </a:extLst>
                </a:gridCol>
                <a:gridCol w="2667744">
                  <a:extLst>
                    <a:ext uri="{9D8B030D-6E8A-4147-A177-3AD203B41FA5}">
                      <a16:colId xmlns:a16="http://schemas.microsoft.com/office/drawing/2014/main" val="20001"/>
                    </a:ext>
                  </a:extLst>
                </a:gridCol>
                <a:gridCol w="2667744">
                  <a:extLst>
                    <a:ext uri="{9D8B030D-6E8A-4147-A177-3AD203B41FA5}">
                      <a16:colId xmlns:a16="http://schemas.microsoft.com/office/drawing/2014/main" val="20002"/>
                    </a:ext>
                  </a:extLst>
                </a:gridCol>
              </a:tblGrid>
              <a:tr h="622226">
                <a:tc>
                  <a:txBody>
                    <a:bodyPr/>
                    <a:lstStyle/>
                    <a:p>
                      <a:r>
                        <a:rPr lang="en-US" dirty="0" smtClean="0"/>
                        <a:t>ACTIVITY</a:t>
                      </a:r>
                      <a:endParaRPr lang="en-US" dirty="0"/>
                    </a:p>
                  </a:txBody>
                  <a:tcPr/>
                </a:tc>
                <a:tc>
                  <a:txBody>
                    <a:bodyPr/>
                    <a:lstStyle/>
                    <a:p>
                      <a:r>
                        <a:rPr lang="en-US" dirty="0" smtClean="0"/>
                        <a:t>PREDECESSOR</a:t>
                      </a:r>
                      <a:endParaRPr lang="en-US" dirty="0"/>
                    </a:p>
                  </a:txBody>
                  <a:tcPr/>
                </a:tc>
                <a:tc>
                  <a:txBody>
                    <a:bodyPr/>
                    <a:lstStyle/>
                    <a:p>
                      <a:r>
                        <a:rPr lang="en-US" dirty="0" smtClean="0"/>
                        <a:t>DURATION</a:t>
                      </a:r>
                      <a:endParaRPr lang="en-US" dirty="0"/>
                    </a:p>
                  </a:txBody>
                  <a:tcPr/>
                </a:tc>
                <a:extLst>
                  <a:ext uri="{0D108BD9-81ED-4DB2-BD59-A6C34878D82A}">
                    <a16:rowId xmlns:a16="http://schemas.microsoft.com/office/drawing/2014/main" val="10000"/>
                  </a:ext>
                </a:extLst>
              </a:tr>
              <a:tr h="360496">
                <a:tc>
                  <a:txBody>
                    <a:bodyPr/>
                    <a:lstStyle/>
                    <a:p>
                      <a:r>
                        <a:rPr lang="en-US" dirty="0" smtClean="0"/>
                        <a:t>A</a:t>
                      </a:r>
                      <a:endParaRPr lang="en-US" dirty="0"/>
                    </a:p>
                  </a:txBody>
                  <a:tcPr/>
                </a:tc>
                <a:tc>
                  <a:txBody>
                    <a:bodyPr/>
                    <a:lstStyle/>
                    <a:p>
                      <a:r>
                        <a:rPr lang="en-US" dirty="0" smtClean="0"/>
                        <a:t>-</a:t>
                      </a:r>
                      <a:endParaRPr lang="en-US" dirty="0"/>
                    </a:p>
                  </a:txBody>
                  <a:tcPr/>
                </a:tc>
                <a:tc>
                  <a:txBody>
                    <a:bodyPr/>
                    <a:lstStyle/>
                    <a:p>
                      <a:r>
                        <a:rPr lang="en-US" dirty="0" smtClean="0"/>
                        <a:t>3</a:t>
                      </a:r>
                      <a:endParaRPr lang="en-US" dirty="0"/>
                    </a:p>
                  </a:txBody>
                  <a:tcPr/>
                </a:tc>
                <a:extLst>
                  <a:ext uri="{0D108BD9-81ED-4DB2-BD59-A6C34878D82A}">
                    <a16:rowId xmlns:a16="http://schemas.microsoft.com/office/drawing/2014/main" val="10001"/>
                  </a:ext>
                </a:extLst>
              </a:tr>
              <a:tr h="360496">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4</a:t>
                      </a:r>
                      <a:endParaRPr lang="en-US" dirty="0"/>
                    </a:p>
                  </a:txBody>
                  <a:tcPr/>
                </a:tc>
                <a:extLst>
                  <a:ext uri="{0D108BD9-81ED-4DB2-BD59-A6C34878D82A}">
                    <a16:rowId xmlns:a16="http://schemas.microsoft.com/office/drawing/2014/main" val="10002"/>
                  </a:ext>
                </a:extLst>
              </a:tr>
              <a:tr h="360496">
                <a:tc>
                  <a:txBody>
                    <a:bodyPr/>
                    <a:lstStyle/>
                    <a:p>
                      <a:r>
                        <a:rPr lang="en-US" dirty="0" smtClean="0"/>
                        <a:t>C</a:t>
                      </a:r>
                      <a:endParaRPr lang="en-US" dirty="0"/>
                    </a:p>
                  </a:txBody>
                  <a:tcPr/>
                </a:tc>
                <a:tc>
                  <a:txBody>
                    <a:bodyPr/>
                    <a:lstStyle/>
                    <a:p>
                      <a:r>
                        <a:rPr lang="en-US" dirty="0" smtClean="0"/>
                        <a:t>A</a:t>
                      </a:r>
                      <a:endParaRPr lang="en-US" dirty="0"/>
                    </a:p>
                  </a:txBody>
                  <a:tcPr/>
                </a:tc>
                <a:tc>
                  <a:txBody>
                    <a:bodyPr/>
                    <a:lstStyle/>
                    <a:p>
                      <a:r>
                        <a:rPr lang="en-US" dirty="0" smtClean="0"/>
                        <a:t>2</a:t>
                      </a:r>
                      <a:endParaRPr lang="en-US" dirty="0"/>
                    </a:p>
                  </a:txBody>
                  <a:tcPr/>
                </a:tc>
                <a:extLst>
                  <a:ext uri="{0D108BD9-81ED-4DB2-BD59-A6C34878D82A}">
                    <a16:rowId xmlns:a16="http://schemas.microsoft.com/office/drawing/2014/main" val="10003"/>
                  </a:ext>
                </a:extLst>
              </a:tr>
              <a:tr h="360496">
                <a:tc>
                  <a:txBody>
                    <a:bodyPr/>
                    <a:lstStyle/>
                    <a:p>
                      <a:r>
                        <a:rPr lang="en-US" dirty="0" smtClean="0"/>
                        <a:t>D</a:t>
                      </a:r>
                      <a:endParaRPr lang="en-US" dirty="0"/>
                    </a:p>
                  </a:txBody>
                  <a:tcPr/>
                </a:tc>
                <a:tc>
                  <a:txBody>
                    <a:bodyPr/>
                    <a:lstStyle/>
                    <a:p>
                      <a:r>
                        <a:rPr lang="en-US" dirty="0" smtClean="0"/>
                        <a:t>B</a:t>
                      </a:r>
                      <a:endParaRPr lang="en-US" dirty="0"/>
                    </a:p>
                  </a:txBody>
                  <a:tcPr/>
                </a:tc>
                <a:tc>
                  <a:txBody>
                    <a:bodyPr/>
                    <a:lstStyle/>
                    <a:p>
                      <a:r>
                        <a:rPr lang="en-US" dirty="0" smtClean="0"/>
                        <a:t>5</a:t>
                      </a:r>
                      <a:endParaRPr lang="en-US" dirty="0"/>
                    </a:p>
                  </a:txBody>
                  <a:tcPr/>
                </a:tc>
                <a:extLst>
                  <a:ext uri="{0D108BD9-81ED-4DB2-BD59-A6C34878D82A}">
                    <a16:rowId xmlns:a16="http://schemas.microsoft.com/office/drawing/2014/main" val="10004"/>
                  </a:ext>
                </a:extLst>
              </a:tr>
              <a:tr h="360496">
                <a:tc>
                  <a:txBody>
                    <a:bodyPr/>
                    <a:lstStyle/>
                    <a:p>
                      <a:r>
                        <a:rPr lang="en-US" dirty="0" smtClean="0"/>
                        <a:t>E</a:t>
                      </a:r>
                      <a:endParaRPr lang="en-US" dirty="0"/>
                    </a:p>
                  </a:txBody>
                  <a:tcPr/>
                </a:tc>
                <a:tc>
                  <a:txBody>
                    <a:bodyPr/>
                    <a:lstStyle/>
                    <a:p>
                      <a:r>
                        <a:rPr lang="en-US" dirty="0" smtClean="0"/>
                        <a:t>C</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5"/>
                  </a:ext>
                </a:extLst>
              </a:tr>
              <a:tr h="360496">
                <a:tc>
                  <a:txBody>
                    <a:bodyPr/>
                    <a:lstStyle/>
                    <a:p>
                      <a:r>
                        <a:rPr lang="en-US" dirty="0" smtClean="0"/>
                        <a:t>F</a:t>
                      </a:r>
                      <a:endParaRPr lang="en-US" dirty="0"/>
                    </a:p>
                  </a:txBody>
                  <a:tcPr/>
                </a:tc>
                <a:tc>
                  <a:txBody>
                    <a:bodyPr/>
                    <a:lstStyle/>
                    <a:p>
                      <a:r>
                        <a:rPr lang="en-US" dirty="0" smtClean="0"/>
                        <a:t>C</a:t>
                      </a:r>
                      <a:endParaRPr lang="en-US" dirty="0"/>
                    </a:p>
                  </a:txBody>
                  <a:tcPr/>
                </a:tc>
                <a:tc>
                  <a:txBody>
                    <a:bodyPr/>
                    <a:lstStyle/>
                    <a:p>
                      <a:r>
                        <a:rPr lang="en-US" dirty="0" smtClean="0"/>
                        <a:t>2</a:t>
                      </a:r>
                      <a:endParaRPr lang="en-US" dirty="0"/>
                    </a:p>
                  </a:txBody>
                  <a:tcPr/>
                </a:tc>
                <a:extLst>
                  <a:ext uri="{0D108BD9-81ED-4DB2-BD59-A6C34878D82A}">
                    <a16:rowId xmlns:a16="http://schemas.microsoft.com/office/drawing/2014/main" val="10006"/>
                  </a:ext>
                </a:extLst>
              </a:tr>
              <a:tr h="360496">
                <a:tc>
                  <a:txBody>
                    <a:bodyPr/>
                    <a:lstStyle/>
                    <a:p>
                      <a:r>
                        <a:rPr lang="en-US" dirty="0" smtClean="0"/>
                        <a:t>G</a:t>
                      </a:r>
                      <a:endParaRPr lang="en-US" dirty="0"/>
                    </a:p>
                  </a:txBody>
                  <a:tcPr/>
                </a:tc>
                <a:tc>
                  <a:txBody>
                    <a:bodyPr/>
                    <a:lstStyle/>
                    <a:p>
                      <a:r>
                        <a:rPr lang="en-US" dirty="0" smtClean="0"/>
                        <a:t>D,E</a:t>
                      </a:r>
                      <a:endParaRPr lang="en-US" dirty="0"/>
                    </a:p>
                  </a:txBody>
                  <a:tcPr/>
                </a:tc>
                <a:tc>
                  <a:txBody>
                    <a:bodyPr/>
                    <a:lstStyle/>
                    <a:p>
                      <a:r>
                        <a:rPr lang="en-US" dirty="0" smtClean="0"/>
                        <a:t>4</a:t>
                      </a:r>
                      <a:endParaRPr lang="en-US" dirty="0"/>
                    </a:p>
                  </a:txBody>
                  <a:tcPr/>
                </a:tc>
                <a:extLst>
                  <a:ext uri="{0D108BD9-81ED-4DB2-BD59-A6C34878D82A}">
                    <a16:rowId xmlns:a16="http://schemas.microsoft.com/office/drawing/2014/main" val="10007"/>
                  </a:ext>
                </a:extLst>
              </a:tr>
              <a:tr h="360496">
                <a:tc>
                  <a:txBody>
                    <a:bodyPr/>
                    <a:lstStyle/>
                    <a:p>
                      <a:r>
                        <a:rPr lang="en-US" dirty="0" smtClean="0"/>
                        <a:t>H</a:t>
                      </a:r>
                      <a:endParaRPr lang="en-US" dirty="0"/>
                    </a:p>
                  </a:txBody>
                  <a:tcPr/>
                </a:tc>
                <a:tc>
                  <a:txBody>
                    <a:bodyPr/>
                    <a:lstStyle/>
                    <a:p>
                      <a:r>
                        <a:rPr lang="en-US" dirty="0" smtClean="0"/>
                        <a:t>F,G</a:t>
                      </a:r>
                      <a:endParaRPr lang="en-US" dirty="0"/>
                    </a:p>
                  </a:txBody>
                  <a:tcPr/>
                </a:tc>
                <a:tc>
                  <a:txBody>
                    <a:bodyPr/>
                    <a:lstStyle/>
                    <a:p>
                      <a:r>
                        <a:rPr lang="en-US" dirty="0" smtClean="0"/>
                        <a:t>3</a:t>
                      </a:r>
                      <a:endParaRPr lang="en-US"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3390414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7824" y="44624"/>
            <a:ext cx="5228975" cy="1143000"/>
          </a:xfrm>
        </p:spPr>
        <p:txBody>
          <a:bodyPr/>
          <a:lstStyle/>
          <a:p>
            <a:r>
              <a:rPr lang="en-US" dirty="0" smtClean="0"/>
              <a:t>CPM</a:t>
            </a:r>
            <a:endParaRPr lang="en-US" dirty="0"/>
          </a:p>
        </p:txBody>
      </p:sp>
      <p:grpSp>
        <p:nvGrpSpPr>
          <p:cNvPr id="5" name="Group 4"/>
          <p:cNvGrpSpPr/>
          <p:nvPr/>
        </p:nvGrpSpPr>
        <p:grpSpPr>
          <a:xfrm>
            <a:off x="1449939" y="4476144"/>
            <a:ext cx="1177845" cy="1393750"/>
            <a:chOff x="323528" y="1484784"/>
            <a:chExt cx="2097416" cy="1928230"/>
          </a:xfrm>
        </p:grpSpPr>
        <p:grpSp>
          <p:nvGrpSpPr>
            <p:cNvPr id="6" name="Group 5"/>
            <p:cNvGrpSpPr/>
            <p:nvPr/>
          </p:nvGrpSpPr>
          <p:grpSpPr>
            <a:xfrm>
              <a:off x="323528" y="1484784"/>
              <a:ext cx="2088232" cy="1800200"/>
              <a:chOff x="323528" y="1484784"/>
              <a:chExt cx="2088232" cy="1800200"/>
            </a:xfrm>
          </p:grpSpPr>
          <p:sp>
            <p:nvSpPr>
              <p:cNvPr id="15" name="Rectangle 14"/>
              <p:cNvSpPr/>
              <p:nvPr/>
            </p:nvSpPr>
            <p:spPr>
              <a:xfrm>
                <a:off x="323528" y="1484784"/>
                <a:ext cx="2088232"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971601" y="1639832"/>
              <a:ext cx="792089" cy="383224"/>
            </a:xfrm>
            <a:prstGeom prst="rect">
              <a:avLst/>
            </a:prstGeom>
            <a:noFill/>
          </p:spPr>
          <p:txBody>
            <a:bodyPr wrap="square" rtlCol="0">
              <a:spAutoFit/>
            </a:bodyPr>
            <a:lstStyle/>
            <a:p>
              <a:pPr algn="ctr"/>
              <a:endParaRPr lang="en-US" sz="1200" b="1" dirty="0"/>
            </a:p>
          </p:txBody>
        </p:sp>
        <p:sp>
          <p:nvSpPr>
            <p:cNvPr id="8" name="TextBox 7"/>
            <p:cNvSpPr txBox="1"/>
            <p:nvPr/>
          </p:nvSpPr>
          <p:spPr>
            <a:xfrm>
              <a:off x="323528" y="1556792"/>
              <a:ext cx="648073" cy="510965"/>
            </a:xfrm>
            <a:prstGeom prst="rect">
              <a:avLst/>
            </a:prstGeom>
            <a:noFill/>
          </p:spPr>
          <p:txBody>
            <a:bodyPr wrap="square" rtlCol="0">
              <a:spAutoFit/>
            </a:bodyPr>
            <a:lstStyle/>
            <a:p>
              <a:pPr algn="ctr"/>
              <a:endParaRPr lang="en-US" b="1" dirty="0"/>
            </a:p>
          </p:txBody>
        </p:sp>
        <p:sp>
          <p:nvSpPr>
            <p:cNvPr id="9" name="TextBox 8"/>
            <p:cNvSpPr txBox="1"/>
            <p:nvPr/>
          </p:nvSpPr>
          <p:spPr>
            <a:xfrm>
              <a:off x="323528" y="2902049"/>
              <a:ext cx="648073" cy="510965"/>
            </a:xfrm>
            <a:prstGeom prst="rect">
              <a:avLst/>
            </a:prstGeom>
            <a:noFill/>
          </p:spPr>
          <p:txBody>
            <a:bodyPr wrap="square" rtlCol="0">
              <a:spAutoFit/>
            </a:bodyPr>
            <a:lstStyle/>
            <a:p>
              <a:pPr algn="ctr"/>
              <a:endParaRPr lang="en-US" b="1" dirty="0"/>
            </a:p>
          </p:txBody>
        </p:sp>
        <p:sp>
          <p:nvSpPr>
            <p:cNvPr id="10" name="TextBox 9"/>
            <p:cNvSpPr txBox="1"/>
            <p:nvPr/>
          </p:nvSpPr>
          <p:spPr>
            <a:xfrm>
              <a:off x="1772871" y="1593666"/>
              <a:ext cx="648073" cy="510965"/>
            </a:xfrm>
            <a:prstGeom prst="rect">
              <a:avLst/>
            </a:prstGeom>
            <a:noFill/>
          </p:spPr>
          <p:txBody>
            <a:bodyPr wrap="square" rtlCol="0">
              <a:spAutoFit/>
            </a:bodyPr>
            <a:lstStyle/>
            <a:p>
              <a:pPr algn="ctr"/>
              <a:endParaRPr lang="en-US" b="1" dirty="0"/>
            </a:p>
          </p:txBody>
        </p:sp>
        <p:sp>
          <p:nvSpPr>
            <p:cNvPr id="11" name="TextBox 10"/>
            <p:cNvSpPr txBox="1"/>
            <p:nvPr/>
          </p:nvSpPr>
          <p:spPr>
            <a:xfrm>
              <a:off x="1763688" y="2852936"/>
              <a:ext cx="648073" cy="483843"/>
            </a:xfrm>
            <a:prstGeom prst="rect">
              <a:avLst/>
            </a:prstGeom>
            <a:noFill/>
          </p:spPr>
          <p:txBody>
            <a:bodyPr wrap="square" rtlCol="0">
              <a:spAutoFit/>
            </a:bodyPr>
            <a:lstStyle/>
            <a:p>
              <a:pPr algn="ctr"/>
              <a:endParaRPr lang="en-US" b="1" dirty="0"/>
            </a:p>
          </p:txBody>
        </p:sp>
        <p:sp>
          <p:nvSpPr>
            <p:cNvPr id="13" name="TextBox 12"/>
            <p:cNvSpPr txBox="1"/>
            <p:nvPr/>
          </p:nvSpPr>
          <p:spPr>
            <a:xfrm>
              <a:off x="1149673" y="2748162"/>
              <a:ext cx="648073" cy="425804"/>
            </a:xfrm>
            <a:prstGeom prst="rect">
              <a:avLst/>
            </a:prstGeom>
            <a:noFill/>
          </p:spPr>
          <p:txBody>
            <a:bodyPr wrap="square" rtlCol="0">
              <a:spAutoFit/>
            </a:bodyPr>
            <a:lstStyle/>
            <a:p>
              <a:endParaRPr lang="en-US" sz="1400" b="1" dirty="0"/>
            </a:p>
          </p:txBody>
        </p:sp>
        <p:sp>
          <p:nvSpPr>
            <p:cNvPr id="14" name="TextBox 13"/>
            <p:cNvSpPr txBox="1"/>
            <p:nvPr/>
          </p:nvSpPr>
          <p:spPr>
            <a:xfrm>
              <a:off x="1763688" y="2185700"/>
              <a:ext cx="648073" cy="425804"/>
            </a:xfrm>
            <a:prstGeom prst="rect">
              <a:avLst/>
            </a:prstGeom>
            <a:noFill/>
          </p:spPr>
          <p:txBody>
            <a:bodyPr wrap="square" rtlCol="0">
              <a:spAutoFit/>
            </a:bodyPr>
            <a:lstStyle/>
            <a:p>
              <a:endParaRPr lang="en-US" sz="1400" b="1" dirty="0"/>
            </a:p>
          </p:txBody>
        </p:sp>
      </p:grpSp>
      <p:grpSp>
        <p:nvGrpSpPr>
          <p:cNvPr id="48" name="Group 47"/>
          <p:cNvGrpSpPr/>
          <p:nvPr/>
        </p:nvGrpSpPr>
        <p:grpSpPr>
          <a:xfrm>
            <a:off x="3995936" y="4431118"/>
            <a:ext cx="1177845" cy="1393750"/>
            <a:chOff x="323528" y="1484784"/>
            <a:chExt cx="2097416" cy="1928230"/>
          </a:xfrm>
        </p:grpSpPr>
        <p:grpSp>
          <p:nvGrpSpPr>
            <p:cNvPr id="49" name="Group 48"/>
            <p:cNvGrpSpPr/>
            <p:nvPr/>
          </p:nvGrpSpPr>
          <p:grpSpPr>
            <a:xfrm>
              <a:off x="323528" y="1484784"/>
              <a:ext cx="2088232" cy="1800200"/>
              <a:chOff x="323528" y="1484784"/>
              <a:chExt cx="2088232" cy="1800200"/>
            </a:xfrm>
          </p:grpSpPr>
          <p:sp>
            <p:nvSpPr>
              <p:cNvPr id="57" name="Rectangle 56"/>
              <p:cNvSpPr/>
              <p:nvPr/>
            </p:nvSpPr>
            <p:spPr>
              <a:xfrm>
                <a:off x="323528" y="1484784"/>
                <a:ext cx="2088232"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TextBox 49"/>
            <p:cNvSpPr txBox="1"/>
            <p:nvPr/>
          </p:nvSpPr>
          <p:spPr>
            <a:xfrm>
              <a:off x="971601" y="1639832"/>
              <a:ext cx="792089" cy="383224"/>
            </a:xfrm>
            <a:prstGeom prst="rect">
              <a:avLst/>
            </a:prstGeom>
            <a:noFill/>
          </p:spPr>
          <p:txBody>
            <a:bodyPr wrap="square" rtlCol="0">
              <a:spAutoFit/>
            </a:bodyPr>
            <a:lstStyle/>
            <a:p>
              <a:pPr algn="ctr"/>
              <a:endParaRPr lang="en-US" sz="1200" b="1" dirty="0"/>
            </a:p>
          </p:txBody>
        </p:sp>
        <p:sp>
          <p:nvSpPr>
            <p:cNvPr id="51" name="TextBox 50"/>
            <p:cNvSpPr txBox="1"/>
            <p:nvPr/>
          </p:nvSpPr>
          <p:spPr>
            <a:xfrm>
              <a:off x="323528" y="1556792"/>
              <a:ext cx="648073" cy="510965"/>
            </a:xfrm>
            <a:prstGeom prst="rect">
              <a:avLst/>
            </a:prstGeom>
            <a:noFill/>
          </p:spPr>
          <p:txBody>
            <a:bodyPr wrap="square" rtlCol="0">
              <a:spAutoFit/>
            </a:bodyPr>
            <a:lstStyle/>
            <a:p>
              <a:pPr algn="ctr"/>
              <a:endParaRPr lang="en-US" b="1" dirty="0"/>
            </a:p>
          </p:txBody>
        </p:sp>
        <p:sp>
          <p:nvSpPr>
            <p:cNvPr id="52" name="TextBox 51"/>
            <p:cNvSpPr txBox="1"/>
            <p:nvPr/>
          </p:nvSpPr>
          <p:spPr>
            <a:xfrm>
              <a:off x="323528" y="2902049"/>
              <a:ext cx="648073" cy="510965"/>
            </a:xfrm>
            <a:prstGeom prst="rect">
              <a:avLst/>
            </a:prstGeom>
            <a:noFill/>
          </p:spPr>
          <p:txBody>
            <a:bodyPr wrap="square" rtlCol="0">
              <a:spAutoFit/>
            </a:bodyPr>
            <a:lstStyle/>
            <a:p>
              <a:pPr algn="ctr"/>
              <a:endParaRPr lang="en-US" b="1" dirty="0"/>
            </a:p>
          </p:txBody>
        </p:sp>
        <p:sp>
          <p:nvSpPr>
            <p:cNvPr id="53" name="TextBox 52"/>
            <p:cNvSpPr txBox="1"/>
            <p:nvPr/>
          </p:nvSpPr>
          <p:spPr>
            <a:xfrm>
              <a:off x="1772871" y="1593666"/>
              <a:ext cx="648073" cy="510965"/>
            </a:xfrm>
            <a:prstGeom prst="rect">
              <a:avLst/>
            </a:prstGeom>
            <a:noFill/>
          </p:spPr>
          <p:txBody>
            <a:bodyPr wrap="square" rtlCol="0">
              <a:spAutoFit/>
            </a:bodyPr>
            <a:lstStyle/>
            <a:p>
              <a:pPr algn="ctr"/>
              <a:endParaRPr lang="en-US" b="1" dirty="0"/>
            </a:p>
          </p:txBody>
        </p:sp>
        <p:sp>
          <p:nvSpPr>
            <p:cNvPr id="54" name="TextBox 53"/>
            <p:cNvSpPr txBox="1"/>
            <p:nvPr/>
          </p:nvSpPr>
          <p:spPr>
            <a:xfrm>
              <a:off x="1763688" y="2852936"/>
              <a:ext cx="648073" cy="483843"/>
            </a:xfrm>
            <a:prstGeom prst="rect">
              <a:avLst/>
            </a:prstGeom>
            <a:noFill/>
          </p:spPr>
          <p:txBody>
            <a:bodyPr wrap="square" rtlCol="0">
              <a:spAutoFit/>
            </a:bodyPr>
            <a:lstStyle/>
            <a:p>
              <a:pPr algn="ctr"/>
              <a:endParaRPr lang="en-US" b="1" dirty="0"/>
            </a:p>
          </p:txBody>
        </p:sp>
        <p:sp>
          <p:nvSpPr>
            <p:cNvPr id="55" name="TextBox 54"/>
            <p:cNvSpPr txBox="1"/>
            <p:nvPr/>
          </p:nvSpPr>
          <p:spPr>
            <a:xfrm>
              <a:off x="1149673" y="2748162"/>
              <a:ext cx="648073" cy="425804"/>
            </a:xfrm>
            <a:prstGeom prst="rect">
              <a:avLst/>
            </a:prstGeom>
            <a:noFill/>
          </p:spPr>
          <p:txBody>
            <a:bodyPr wrap="square" rtlCol="0">
              <a:spAutoFit/>
            </a:bodyPr>
            <a:lstStyle/>
            <a:p>
              <a:endParaRPr lang="en-US" sz="1400" b="1" dirty="0"/>
            </a:p>
          </p:txBody>
        </p:sp>
        <p:sp>
          <p:nvSpPr>
            <p:cNvPr id="56" name="TextBox 55"/>
            <p:cNvSpPr txBox="1"/>
            <p:nvPr/>
          </p:nvSpPr>
          <p:spPr>
            <a:xfrm>
              <a:off x="1763688" y="2185700"/>
              <a:ext cx="648073" cy="425804"/>
            </a:xfrm>
            <a:prstGeom prst="rect">
              <a:avLst/>
            </a:prstGeom>
            <a:noFill/>
          </p:spPr>
          <p:txBody>
            <a:bodyPr wrap="square" rtlCol="0">
              <a:spAutoFit/>
            </a:bodyPr>
            <a:lstStyle/>
            <a:p>
              <a:endParaRPr lang="en-US" sz="1400" b="1" dirty="0"/>
            </a:p>
          </p:txBody>
        </p:sp>
      </p:grpSp>
      <p:grpSp>
        <p:nvGrpSpPr>
          <p:cNvPr id="62" name="Group 61"/>
          <p:cNvGrpSpPr/>
          <p:nvPr/>
        </p:nvGrpSpPr>
        <p:grpSpPr>
          <a:xfrm>
            <a:off x="3275856" y="1838830"/>
            <a:ext cx="1177845" cy="1393750"/>
            <a:chOff x="323528" y="1484784"/>
            <a:chExt cx="2097416" cy="1928230"/>
          </a:xfrm>
        </p:grpSpPr>
        <p:grpSp>
          <p:nvGrpSpPr>
            <p:cNvPr id="63" name="Group 62"/>
            <p:cNvGrpSpPr/>
            <p:nvPr/>
          </p:nvGrpSpPr>
          <p:grpSpPr>
            <a:xfrm>
              <a:off x="323528" y="1484784"/>
              <a:ext cx="2088233" cy="1800200"/>
              <a:chOff x="323528" y="1484784"/>
              <a:chExt cx="2088233" cy="1800200"/>
            </a:xfrm>
          </p:grpSpPr>
          <p:sp>
            <p:nvSpPr>
              <p:cNvPr id="71" name="Rectangle 70"/>
              <p:cNvSpPr/>
              <p:nvPr/>
            </p:nvSpPr>
            <p:spPr>
              <a:xfrm>
                <a:off x="323528" y="1484784"/>
                <a:ext cx="2088233"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TextBox 63"/>
            <p:cNvSpPr txBox="1"/>
            <p:nvPr/>
          </p:nvSpPr>
          <p:spPr>
            <a:xfrm>
              <a:off x="971601" y="1639832"/>
              <a:ext cx="792089" cy="383224"/>
            </a:xfrm>
            <a:prstGeom prst="rect">
              <a:avLst/>
            </a:prstGeom>
            <a:noFill/>
          </p:spPr>
          <p:txBody>
            <a:bodyPr wrap="square" rtlCol="0">
              <a:spAutoFit/>
            </a:bodyPr>
            <a:lstStyle/>
            <a:p>
              <a:pPr algn="ctr"/>
              <a:endParaRPr lang="en-US" sz="1200" b="1" dirty="0"/>
            </a:p>
          </p:txBody>
        </p:sp>
        <p:sp>
          <p:nvSpPr>
            <p:cNvPr id="65" name="TextBox 64"/>
            <p:cNvSpPr txBox="1"/>
            <p:nvPr/>
          </p:nvSpPr>
          <p:spPr>
            <a:xfrm>
              <a:off x="323528" y="1556792"/>
              <a:ext cx="648073" cy="510965"/>
            </a:xfrm>
            <a:prstGeom prst="rect">
              <a:avLst/>
            </a:prstGeom>
            <a:noFill/>
          </p:spPr>
          <p:txBody>
            <a:bodyPr wrap="square" rtlCol="0">
              <a:spAutoFit/>
            </a:bodyPr>
            <a:lstStyle/>
            <a:p>
              <a:pPr algn="ctr"/>
              <a:endParaRPr lang="en-US" b="1" dirty="0"/>
            </a:p>
          </p:txBody>
        </p:sp>
        <p:sp>
          <p:nvSpPr>
            <p:cNvPr id="66" name="TextBox 65"/>
            <p:cNvSpPr txBox="1"/>
            <p:nvPr/>
          </p:nvSpPr>
          <p:spPr>
            <a:xfrm>
              <a:off x="323528" y="2902049"/>
              <a:ext cx="648073" cy="510965"/>
            </a:xfrm>
            <a:prstGeom prst="rect">
              <a:avLst/>
            </a:prstGeom>
            <a:noFill/>
          </p:spPr>
          <p:txBody>
            <a:bodyPr wrap="square" rtlCol="0">
              <a:spAutoFit/>
            </a:bodyPr>
            <a:lstStyle/>
            <a:p>
              <a:pPr algn="ctr"/>
              <a:endParaRPr lang="en-US" b="1" dirty="0"/>
            </a:p>
          </p:txBody>
        </p:sp>
        <p:sp>
          <p:nvSpPr>
            <p:cNvPr id="67" name="TextBox 66"/>
            <p:cNvSpPr txBox="1"/>
            <p:nvPr/>
          </p:nvSpPr>
          <p:spPr>
            <a:xfrm>
              <a:off x="1772871" y="1593666"/>
              <a:ext cx="648073" cy="510965"/>
            </a:xfrm>
            <a:prstGeom prst="rect">
              <a:avLst/>
            </a:prstGeom>
            <a:noFill/>
          </p:spPr>
          <p:txBody>
            <a:bodyPr wrap="square" rtlCol="0">
              <a:spAutoFit/>
            </a:bodyPr>
            <a:lstStyle/>
            <a:p>
              <a:pPr algn="ctr"/>
              <a:endParaRPr lang="en-US" b="1" dirty="0"/>
            </a:p>
          </p:txBody>
        </p:sp>
        <p:sp>
          <p:nvSpPr>
            <p:cNvPr id="68" name="TextBox 67"/>
            <p:cNvSpPr txBox="1"/>
            <p:nvPr/>
          </p:nvSpPr>
          <p:spPr>
            <a:xfrm>
              <a:off x="1763688" y="2852936"/>
              <a:ext cx="648073" cy="483843"/>
            </a:xfrm>
            <a:prstGeom prst="rect">
              <a:avLst/>
            </a:prstGeom>
            <a:noFill/>
          </p:spPr>
          <p:txBody>
            <a:bodyPr wrap="square" rtlCol="0">
              <a:spAutoFit/>
            </a:bodyPr>
            <a:lstStyle/>
            <a:p>
              <a:pPr algn="ctr"/>
              <a:endParaRPr lang="en-US" b="1" dirty="0"/>
            </a:p>
          </p:txBody>
        </p:sp>
        <p:sp>
          <p:nvSpPr>
            <p:cNvPr id="69" name="TextBox 68"/>
            <p:cNvSpPr txBox="1"/>
            <p:nvPr/>
          </p:nvSpPr>
          <p:spPr>
            <a:xfrm>
              <a:off x="1149673" y="2748162"/>
              <a:ext cx="648073" cy="425804"/>
            </a:xfrm>
            <a:prstGeom prst="rect">
              <a:avLst/>
            </a:prstGeom>
            <a:noFill/>
          </p:spPr>
          <p:txBody>
            <a:bodyPr wrap="square" rtlCol="0">
              <a:spAutoFit/>
            </a:bodyPr>
            <a:lstStyle/>
            <a:p>
              <a:endParaRPr lang="en-US" sz="1400" b="1" dirty="0"/>
            </a:p>
          </p:txBody>
        </p:sp>
        <p:sp>
          <p:nvSpPr>
            <p:cNvPr id="70" name="TextBox 69"/>
            <p:cNvSpPr txBox="1"/>
            <p:nvPr/>
          </p:nvSpPr>
          <p:spPr>
            <a:xfrm>
              <a:off x="1763688" y="2185700"/>
              <a:ext cx="648073" cy="425804"/>
            </a:xfrm>
            <a:prstGeom prst="rect">
              <a:avLst/>
            </a:prstGeom>
            <a:noFill/>
          </p:spPr>
          <p:txBody>
            <a:bodyPr wrap="square" rtlCol="0">
              <a:spAutoFit/>
            </a:bodyPr>
            <a:lstStyle/>
            <a:p>
              <a:endParaRPr lang="en-US" sz="1400" b="1" dirty="0"/>
            </a:p>
          </p:txBody>
        </p:sp>
      </p:grpSp>
      <p:grpSp>
        <p:nvGrpSpPr>
          <p:cNvPr id="76" name="Group 75"/>
          <p:cNvGrpSpPr/>
          <p:nvPr/>
        </p:nvGrpSpPr>
        <p:grpSpPr>
          <a:xfrm>
            <a:off x="5724128" y="4909652"/>
            <a:ext cx="1177845" cy="1393750"/>
            <a:chOff x="323528" y="1484784"/>
            <a:chExt cx="2097416" cy="1928230"/>
          </a:xfrm>
        </p:grpSpPr>
        <p:grpSp>
          <p:nvGrpSpPr>
            <p:cNvPr id="77" name="Group 76"/>
            <p:cNvGrpSpPr/>
            <p:nvPr/>
          </p:nvGrpSpPr>
          <p:grpSpPr>
            <a:xfrm>
              <a:off x="323528" y="1484784"/>
              <a:ext cx="2088232" cy="1800200"/>
              <a:chOff x="323528" y="1484784"/>
              <a:chExt cx="2088232" cy="1800200"/>
            </a:xfrm>
          </p:grpSpPr>
          <p:sp>
            <p:nvSpPr>
              <p:cNvPr id="85" name="Rectangle 84"/>
              <p:cNvSpPr/>
              <p:nvPr/>
            </p:nvSpPr>
            <p:spPr>
              <a:xfrm>
                <a:off x="323528" y="1484784"/>
                <a:ext cx="2088232"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8" name="TextBox 77"/>
            <p:cNvSpPr txBox="1"/>
            <p:nvPr/>
          </p:nvSpPr>
          <p:spPr>
            <a:xfrm>
              <a:off x="971601" y="1639832"/>
              <a:ext cx="792089" cy="383224"/>
            </a:xfrm>
            <a:prstGeom prst="rect">
              <a:avLst/>
            </a:prstGeom>
            <a:noFill/>
          </p:spPr>
          <p:txBody>
            <a:bodyPr wrap="square" rtlCol="0">
              <a:spAutoFit/>
            </a:bodyPr>
            <a:lstStyle/>
            <a:p>
              <a:pPr algn="ctr"/>
              <a:endParaRPr lang="en-US" sz="1200" b="1" dirty="0"/>
            </a:p>
          </p:txBody>
        </p:sp>
        <p:sp>
          <p:nvSpPr>
            <p:cNvPr id="79" name="TextBox 78"/>
            <p:cNvSpPr txBox="1"/>
            <p:nvPr/>
          </p:nvSpPr>
          <p:spPr>
            <a:xfrm>
              <a:off x="323528" y="1556792"/>
              <a:ext cx="648073" cy="510965"/>
            </a:xfrm>
            <a:prstGeom prst="rect">
              <a:avLst/>
            </a:prstGeom>
            <a:noFill/>
          </p:spPr>
          <p:txBody>
            <a:bodyPr wrap="square" rtlCol="0">
              <a:spAutoFit/>
            </a:bodyPr>
            <a:lstStyle/>
            <a:p>
              <a:pPr algn="ctr"/>
              <a:endParaRPr lang="en-US" b="1" dirty="0"/>
            </a:p>
          </p:txBody>
        </p:sp>
        <p:sp>
          <p:nvSpPr>
            <p:cNvPr id="80" name="TextBox 79"/>
            <p:cNvSpPr txBox="1"/>
            <p:nvPr/>
          </p:nvSpPr>
          <p:spPr>
            <a:xfrm>
              <a:off x="323528" y="2902049"/>
              <a:ext cx="648073" cy="510965"/>
            </a:xfrm>
            <a:prstGeom prst="rect">
              <a:avLst/>
            </a:prstGeom>
            <a:noFill/>
          </p:spPr>
          <p:txBody>
            <a:bodyPr wrap="square" rtlCol="0">
              <a:spAutoFit/>
            </a:bodyPr>
            <a:lstStyle/>
            <a:p>
              <a:pPr algn="ctr"/>
              <a:endParaRPr lang="en-US" b="1" dirty="0"/>
            </a:p>
          </p:txBody>
        </p:sp>
        <p:sp>
          <p:nvSpPr>
            <p:cNvPr id="81" name="TextBox 80"/>
            <p:cNvSpPr txBox="1"/>
            <p:nvPr/>
          </p:nvSpPr>
          <p:spPr>
            <a:xfrm>
              <a:off x="1772871" y="1593666"/>
              <a:ext cx="648073" cy="510965"/>
            </a:xfrm>
            <a:prstGeom prst="rect">
              <a:avLst/>
            </a:prstGeom>
            <a:noFill/>
          </p:spPr>
          <p:txBody>
            <a:bodyPr wrap="square" rtlCol="0">
              <a:spAutoFit/>
            </a:bodyPr>
            <a:lstStyle/>
            <a:p>
              <a:pPr algn="ctr"/>
              <a:endParaRPr lang="en-US" b="1" dirty="0"/>
            </a:p>
          </p:txBody>
        </p:sp>
        <p:sp>
          <p:nvSpPr>
            <p:cNvPr id="82" name="TextBox 81"/>
            <p:cNvSpPr txBox="1"/>
            <p:nvPr/>
          </p:nvSpPr>
          <p:spPr>
            <a:xfrm>
              <a:off x="1763688" y="2852936"/>
              <a:ext cx="648073" cy="483843"/>
            </a:xfrm>
            <a:prstGeom prst="rect">
              <a:avLst/>
            </a:prstGeom>
            <a:noFill/>
          </p:spPr>
          <p:txBody>
            <a:bodyPr wrap="square" rtlCol="0">
              <a:spAutoFit/>
            </a:bodyPr>
            <a:lstStyle/>
            <a:p>
              <a:pPr algn="ctr"/>
              <a:endParaRPr lang="en-US" b="1" dirty="0"/>
            </a:p>
          </p:txBody>
        </p:sp>
        <p:sp>
          <p:nvSpPr>
            <p:cNvPr id="83" name="TextBox 82"/>
            <p:cNvSpPr txBox="1"/>
            <p:nvPr/>
          </p:nvSpPr>
          <p:spPr>
            <a:xfrm>
              <a:off x="1149673" y="2748162"/>
              <a:ext cx="648073" cy="425804"/>
            </a:xfrm>
            <a:prstGeom prst="rect">
              <a:avLst/>
            </a:prstGeom>
            <a:noFill/>
          </p:spPr>
          <p:txBody>
            <a:bodyPr wrap="square" rtlCol="0">
              <a:spAutoFit/>
            </a:bodyPr>
            <a:lstStyle/>
            <a:p>
              <a:endParaRPr lang="en-US" sz="1400" b="1" dirty="0"/>
            </a:p>
          </p:txBody>
        </p:sp>
        <p:sp>
          <p:nvSpPr>
            <p:cNvPr id="84" name="TextBox 83"/>
            <p:cNvSpPr txBox="1"/>
            <p:nvPr/>
          </p:nvSpPr>
          <p:spPr>
            <a:xfrm>
              <a:off x="1763688" y="2185700"/>
              <a:ext cx="648073" cy="425804"/>
            </a:xfrm>
            <a:prstGeom prst="rect">
              <a:avLst/>
            </a:prstGeom>
            <a:noFill/>
          </p:spPr>
          <p:txBody>
            <a:bodyPr wrap="square" rtlCol="0">
              <a:spAutoFit/>
            </a:bodyPr>
            <a:lstStyle/>
            <a:p>
              <a:endParaRPr lang="en-US" sz="1400" b="1" dirty="0"/>
            </a:p>
          </p:txBody>
        </p:sp>
      </p:grpSp>
      <p:grpSp>
        <p:nvGrpSpPr>
          <p:cNvPr id="90" name="Group 89"/>
          <p:cNvGrpSpPr/>
          <p:nvPr/>
        </p:nvGrpSpPr>
        <p:grpSpPr>
          <a:xfrm>
            <a:off x="5626403" y="3350998"/>
            <a:ext cx="1177845" cy="1393750"/>
            <a:chOff x="323528" y="1484784"/>
            <a:chExt cx="2097416" cy="1928230"/>
          </a:xfrm>
        </p:grpSpPr>
        <p:grpSp>
          <p:nvGrpSpPr>
            <p:cNvPr id="91" name="Group 90"/>
            <p:cNvGrpSpPr/>
            <p:nvPr/>
          </p:nvGrpSpPr>
          <p:grpSpPr>
            <a:xfrm>
              <a:off x="323528" y="1484784"/>
              <a:ext cx="2088232" cy="1800200"/>
              <a:chOff x="323528" y="1484784"/>
              <a:chExt cx="2088232" cy="1800200"/>
            </a:xfrm>
          </p:grpSpPr>
          <p:sp>
            <p:nvSpPr>
              <p:cNvPr id="99" name="Rectangle 98"/>
              <p:cNvSpPr/>
              <p:nvPr/>
            </p:nvSpPr>
            <p:spPr>
              <a:xfrm>
                <a:off x="323528" y="1484784"/>
                <a:ext cx="2088232"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Connector 99"/>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2" name="TextBox 91"/>
            <p:cNvSpPr txBox="1"/>
            <p:nvPr/>
          </p:nvSpPr>
          <p:spPr>
            <a:xfrm>
              <a:off x="971601" y="1639832"/>
              <a:ext cx="792089" cy="383224"/>
            </a:xfrm>
            <a:prstGeom prst="rect">
              <a:avLst/>
            </a:prstGeom>
            <a:noFill/>
          </p:spPr>
          <p:txBody>
            <a:bodyPr wrap="square" rtlCol="0">
              <a:spAutoFit/>
            </a:bodyPr>
            <a:lstStyle/>
            <a:p>
              <a:pPr algn="ctr"/>
              <a:endParaRPr lang="en-US" sz="1200" b="1" dirty="0"/>
            </a:p>
          </p:txBody>
        </p:sp>
        <p:sp>
          <p:nvSpPr>
            <p:cNvPr id="93" name="TextBox 92"/>
            <p:cNvSpPr txBox="1"/>
            <p:nvPr/>
          </p:nvSpPr>
          <p:spPr>
            <a:xfrm>
              <a:off x="323528" y="1556792"/>
              <a:ext cx="648073" cy="510965"/>
            </a:xfrm>
            <a:prstGeom prst="rect">
              <a:avLst/>
            </a:prstGeom>
            <a:noFill/>
          </p:spPr>
          <p:txBody>
            <a:bodyPr wrap="square" rtlCol="0">
              <a:spAutoFit/>
            </a:bodyPr>
            <a:lstStyle/>
            <a:p>
              <a:pPr algn="ctr"/>
              <a:endParaRPr lang="en-US" b="1" dirty="0"/>
            </a:p>
          </p:txBody>
        </p:sp>
        <p:sp>
          <p:nvSpPr>
            <p:cNvPr id="94" name="TextBox 93"/>
            <p:cNvSpPr txBox="1"/>
            <p:nvPr/>
          </p:nvSpPr>
          <p:spPr>
            <a:xfrm>
              <a:off x="323528" y="2902049"/>
              <a:ext cx="648073" cy="510965"/>
            </a:xfrm>
            <a:prstGeom prst="rect">
              <a:avLst/>
            </a:prstGeom>
            <a:noFill/>
          </p:spPr>
          <p:txBody>
            <a:bodyPr wrap="square" rtlCol="0">
              <a:spAutoFit/>
            </a:bodyPr>
            <a:lstStyle/>
            <a:p>
              <a:pPr algn="ctr"/>
              <a:endParaRPr lang="en-US" b="1" dirty="0"/>
            </a:p>
          </p:txBody>
        </p:sp>
        <p:sp>
          <p:nvSpPr>
            <p:cNvPr id="95" name="TextBox 94"/>
            <p:cNvSpPr txBox="1"/>
            <p:nvPr/>
          </p:nvSpPr>
          <p:spPr>
            <a:xfrm>
              <a:off x="1772871" y="1593666"/>
              <a:ext cx="648073" cy="510965"/>
            </a:xfrm>
            <a:prstGeom prst="rect">
              <a:avLst/>
            </a:prstGeom>
            <a:noFill/>
          </p:spPr>
          <p:txBody>
            <a:bodyPr wrap="square" rtlCol="0">
              <a:spAutoFit/>
            </a:bodyPr>
            <a:lstStyle/>
            <a:p>
              <a:pPr algn="ctr"/>
              <a:endParaRPr lang="en-US" b="1" dirty="0"/>
            </a:p>
          </p:txBody>
        </p:sp>
        <p:sp>
          <p:nvSpPr>
            <p:cNvPr id="96" name="TextBox 95"/>
            <p:cNvSpPr txBox="1"/>
            <p:nvPr/>
          </p:nvSpPr>
          <p:spPr>
            <a:xfrm>
              <a:off x="1763688" y="2852936"/>
              <a:ext cx="648073" cy="483843"/>
            </a:xfrm>
            <a:prstGeom prst="rect">
              <a:avLst/>
            </a:prstGeom>
            <a:noFill/>
          </p:spPr>
          <p:txBody>
            <a:bodyPr wrap="square" rtlCol="0">
              <a:spAutoFit/>
            </a:bodyPr>
            <a:lstStyle/>
            <a:p>
              <a:pPr algn="ctr"/>
              <a:endParaRPr lang="en-US" b="1" dirty="0"/>
            </a:p>
          </p:txBody>
        </p:sp>
        <p:sp>
          <p:nvSpPr>
            <p:cNvPr id="97" name="TextBox 96"/>
            <p:cNvSpPr txBox="1"/>
            <p:nvPr/>
          </p:nvSpPr>
          <p:spPr>
            <a:xfrm>
              <a:off x="1149673" y="2748162"/>
              <a:ext cx="648073" cy="425804"/>
            </a:xfrm>
            <a:prstGeom prst="rect">
              <a:avLst/>
            </a:prstGeom>
            <a:noFill/>
          </p:spPr>
          <p:txBody>
            <a:bodyPr wrap="square" rtlCol="0">
              <a:spAutoFit/>
            </a:bodyPr>
            <a:lstStyle/>
            <a:p>
              <a:endParaRPr lang="en-US" sz="1400" b="1" dirty="0"/>
            </a:p>
          </p:txBody>
        </p:sp>
        <p:sp>
          <p:nvSpPr>
            <p:cNvPr id="98" name="TextBox 97"/>
            <p:cNvSpPr txBox="1"/>
            <p:nvPr/>
          </p:nvSpPr>
          <p:spPr>
            <a:xfrm>
              <a:off x="1763688" y="2185700"/>
              <a:ext cx="648073" cy="425804"/>
            </a:xfrm>
            <a:prstGeom prst="rect">
              <a:avLst/>
            </a:prstGeom>
            <a:noFill/>
          </p:spPr>
          <p:txBody>
            <a:bodyPr wrap="square" rtlCol="0">
              <a:spAutoFit/>
            </a:bodyPr>
            <a:lstStyle/>
            <a:p>
              <a:endParaRPr lang="en-US" sz="1400" b="1" dirty="0"/>
            </a:p>
          </p:txBody>
        </p:sp>
      </p:grpSp>
      <p:grpSp>
        <p:nvGrpSpPr>
          <p:cNvPr id="104" name="Group 103"/>
          <p:cNvGrpSpPr/>
          <p:nvPr/>
        </p:nvGrpSpPr>
        <p:grpSpPr>
          <a:xfrm>
            <a:off x="5644809" y="1764633"/>
            <a:ext cx="1177845" cy="1393750"/>
            <a:chOff x="323528" y="1484784"/>
            <a:chExt cx="2097416" cy="1928230"/>
          </a:xfrm>
        </p:grpSpPr>
        <p:grpSp>
          <p:nvGrpSpPr>
            <p:cNvPr id="105" name="Group 104"/>
            <p:cNvGrpSpPr/>
            <p:nvPr/>
          </p:nvGrpSpPr>
          <p:grpSpPr>
            <a:xfrm>
              <a:off x="323528" y="1484784"/>
              <a:ext cx="2088232" cy="1800200"/>
              <a:chOff x="323528" y="1484784"/>
              <a:chExt cx="2088232" cy="1800200"/>
            </a:xfrm>
          </p:grpSpPr>
          <p:sp>
            <p:nvSpPr>
              <p:cNvPr id="113" name="Rectangle 112"/>
              <p:cNvSpPr/>
              <p:nvPr/>
            </p:nvSpPr>
            <p:spPr>
              <a:xfrm>
                <a:off x="323528" y="1484784"/>
                <a:ext cx="2088232"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Connector 113"/>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6" name="TextBox 105"/>
            <p:cNvSpPr txBox="1"/>
            <p:nvPr/>
          </p:nvSpPr>
          <p:spPr>
            <a:xfrm>
              <a:off x="971601" y="1639832"/>
              <a:ext cx="792089" cy="383224"/>
            </a:xfrm>
            <a:prstGeom prst="rect">
              <a:avLst/>
            </a:prstGeom>
            <a:noFill/>
          </p:spPr>
          <p:txBody>
            <a:bodyPr wrap="square" rtlCol="0">
              <a:spAutoFit/>
            </a:bodyPr>
            <a:lstStyle/>
            <a:p>
              <a:pPr algn="ctr"/>
              <a:endParaRPr lang="en-US" sz="1200" b="1" dirty="0"/>
            </a:p>
          </p:txBody>
        </p:sp>
        <p:sp>
          <p:nvSpPr>
            <p:cNvPr id="107" name="TextBox 106"/>
            <p:cNvSpPr txBox="1"/>
            <p:nvPr/>
          </p:nvSpPr>
          <p:spPr>
            <a:xfrm>
              <a:off x="323528" y="1556792"/>
              <a:ext cx="648073" cy="510965"/>
            </a:xfrm>
            <a:prstGeom prst="rect">
              <a:avLst/>
            </a:prstGeom>
            <a:noFill/>
          </p:spPr>
          <p:txBody>
            <a:bodyPr wrap="square" rtlCol="0">
              <a:spAutoFit/>
            </a:bodyPr>
            <a:lstStyle/>
            <a:p>
              <a:pPr algn="ctr"/>
              <a:endParaRPr lang="en-US" b="1" dirty="0"/>
            </a:p>
          </p:txBody>
        </p:sp>
        <p:sp>
          <p:nvSpPr>
            <p:cNvPr id="108" name="TextBox 107"/>
            <p:cNvSpPr txBox="1"/>
            <p:nvPr/>
          </p:nvSpPr>
          <p:spPr>
            <a:xfrm>
              <a:off x="323528" y="2902049"/>
              <a:ext cx="648073" cy="510965"/>
            </a:xfrm>
            <a:prstGeom prst="rect">
              <a:avLst/>
            </a:prstGeom>
            <a:noFill/>
          </p:spPr>
          <p:txBody>
            <a:bodyPr wrap="square" rtlCol="0">
              <a:spAutoFit/>
            </a:bodyPr>
            <a:lstStyle/>
            <a:p>
              <a:pPr algn="ctr"/>
              <a:endParaRPr lang="en-US" b="1" dirty="0"/>
            </a:p>
          </p:txBody>
        </p:sp>
        <p:sp>
          <p:nvSpPr>
            <p:cNvPr id="109" name="TextBox 108"/>
            <p:cNvSpPr txBox="1"/>
            <p:nvPr/>
          </p:nvSpPr>
          <p:spPr>
            <a:xfrm>
              <a:off x="1772871" y="1593666"/>
              <a:ext cx="648073" cy="510965"/>
            </a:xfrm>
            <a:prstGeom prst="rect">
              <a:avLst/>
            </a:prstGeom>
            <a:noFill/>
          </p:spPr>
          <p:txBody>
            <a:bodyPr wrap="square" rtlCol="0">
              <a:spAutoFit/>
            </a:bodyPr>
            <a:lstStyle/>
            <a:p>
              <a:pPr algn="ctr"/>
              <a:endParaRPr lang="en-US" b="1" dirty="0"/>
            </a:p>
          </p:txBody>
        </p:sp>
        <p:sp>
          <p:nvSpPr>
            <p:cNvPr id="110" name="TextBox 109"/>
            <p:cNvSpPr txBox="1"/>
            <p:nvPr/>
          </p:nvSpPr>
          <p:spPr>
            <a:xfrm>
              <a:off x="1763688" y="2852936"/>
              <a:ext cx="648073" cy="483843"/>
            </a:xfrm>
            <a:prstGeom prst="rect">
              <a:avLst/>
            </a:prstGeom>
            <a:noFill/>
          </p:spPr>
          <p:txBody>
            <a:bodyPr wrap="square" rtlCol="0">
              <a:spAutoFit/>
            </a:bodyPr>
            <a:lstStyle/>
            <a:p>
              <a:pPr algn="ctr"/>
              <a:endParaRPr lang="en-US" b="1" dirty="0"/>
            </a:p>
          </p:txBody>
        </p:sp>
        <p:sp>
          <p:nvSpPr>
            <p:cNvPr id="111" name="TextBox 110"/>
            <p:cNvSpPr txBox="1"/>
            <p:nvPr/>
          </p:nvSpPr>
          <p:spPr>
            <a:xfrm>
              <a:off x="1149673" y="2748162"/>
              <a:ext cx="648073" cy="425804"/>
            </a:xfrm>
            <a:prstGeom prst="rect">
              <a:avLst/>
            </a:prstGeom>
            <a:noFill/>
          </p:spPr>
          <p:txBody>
            <a:bodyPr wrap="square" rtlCol="0">
              <a:spAutoFit/>
            </a:bodyPr>
            <a:lstStyle/>
            <a:p>
              <a:endParaRPr lang="en-US" sz="1400" b="1" dirty="0"/>
            </a:p>
          </p:txBody>
        </p:sp>
      </p:grpSp>
      <p:grpSp>
        <p:nvGrpSpPr>
          <p:cNvPr id="118" name="Group 117"/>
          <p:cNvGrpSpPr/>
          <p:nvPr/>
        </p:nvGrpSpPr>
        <p:grpSpPr>
          <a:xfrm>
            <a:off x="7308304" y="1746099"/>
            <a:ext cx="1177845" cy="1393750"/>
            <a:chOff x="323528" y="1484784"/>
            <a:chExt cx="2097416" cy="1928230"/>
          </a:xfrm>
        </p:grpSpPr>
        <p:grpSp>
          <p:nvGrpSpPr>
            <p:cNvPr id="119" name="Group 118"/>
            <p:cNvGrpSpPr/>
            <p:nvPr/>
          </p:nvGrpSpPr>
          <p:grpSpPr>
            <a:xfrm>
              <a:off x="323528" y="1484784"/>
              <a:ext cx="2088232" cy="1800200"/>
              <a:chOff x="323528" y="1484784"/>
              <a:chExt cx="2088232" cy="1800200"/>
            </a:xfrm>
          </p:grpSpPr>
          <p:sp>
            <p:nvSpPr>
              <p:cNvPr id="127" name="Rectangle 126"/>
              <p:cNvSpPr/>
              <p:nvPr/>
            </p:nvSpPr>
            <p:spPr>
              <a:xfrm>
                <a:off x="323528" y="1484784"/>
                <a:ext cx="2088232"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0" name="TextBox 119"/>
            <p:cNvSpPr txBox="1"/>
            <p:nvPr/>
          </p:nvSpPr>
          <p:spPr>
            <a:xfrm>
              <a:off x="971601" y="1639832"/>
              <a:ext cx="792089" cy="383224"/>
            </a:xfrm>
            <a:prstGeom prst="rect">
              <a:avLst/>
            </a:prstGeom>
            <a:noFill/>
          </p:spPr>
          <p:txBody>
            <a:bodyPr wrap="square" rtlCol="0">
              <a:spAutoFit/>
            </a:bodyPr>
            <a:lstStyle/>
            <a:p>
              <a:pPr algn="ctr"/>
              <a:endParaRPr lang="en-US" sz="1200" b="1" dirty="0"/>
            </a:p>
          </p:txBody>
        </p:sp>
        <p:sp>
          <p:nvSpPr>
            <p:cNvPr id="121" name="TextBox 120"/>
            <p:cNvSpPr txBox="1"/>
            <p:nvPr/>
          </p:nvSpPr>
          <p:spPr>
            <a:xfrm>
              <a:off x="323528" y="1556792"/>
              <a:ext cx="648073" cy="510965"/>
            </a:xfrm>
            <a:prstGeom prst="rect">
              <a:avLst/>
            </a:prstGeom>
            <a:noFill/>
          </p:spPr>
          <p:txBody>
            <a:bodyPr wrap="square" rtlCol="0">
              <a:spAutoFit/>
            </a:bodyPr>
            <a:lstStyle/>
            <a:p>
              <a:pPr algn="ctr"/>
              <a:endParaRPr lang="en-US" b="1" dirty="0"/>
            </a:p>
          </p:txBody>
        </p:sp>
        <p:sp>
          <p:nvSpPr>
            <p:cNvPr id="122" name="TextBox 121"/>
            <p:cNvSpPr txBox="1"/>
            <p:nvPr/>
          </p:nvSpPr>
          <p:spPr>
            <a:xfrm>
              <a:off x="323528" y="2902049"/>
              <a:ext cx="648073" cy="510965"/>
            </a:xfrm>
            <a:prstGeom prst="rect">
              <a:avLst/>
            </a:prstGeom>
            <a:noFill/>
          </p:spPr>
          <p:txBody>
            <a:bodyPr wrap="square" rtlCol="0">
              <a:spAutoFit/>
            </a:bodyPr>
            <a:lstStyle/>
            <a:p>
              <a:pPr algn="ctr"/>
              <a:endParaRPr lang="en-US" b="1" dirty="0"/>
            </a:p>
          </p:txBody>
        </p:sp>
        <p:sp>
          <p:nvSpPr>
            <p:cNvPr id="123" name="TextBox 122"/>
            <p:cNvSpPr txBox="1"/>
            <p:nvPr/>
          </p:nvSpPr>
          <p:spPr>
            <a:xfrm>
              <a:off x="1772871" y="1593666"/>
              <a:ext cx="648073" cy="510965"/>
            </a:xfrm>
            <a:prstGeom prst="rect">
              <a:avLst/>
            </a:prstGeom>
            <a:noFill/>
          </p:spPr>
          <p:txBody>
            <a:bodyPr wrap="square" rtlCol="0">
              <a:spAutoFit/>
            </a:bodyPr>
            <a:lstStyle/>
            <a:p>
              <a:pPr algn="ctr"/>
              <a:endParaRPr lang="en-US" b="1" dirty="0"/>
            </a:p>
          </p:txBody>
        </p:sp>
        <p:sp>
          <p:nvSpPr>
            <p:cNvPr id="124" name="TextBox 123"/>
            <p:cNvSpPr txBox="1"/>
            <p:nvPr/>
          </p:nvSpPr>
          <p:spPr>
            <a:xfrm>
              <a:off x="1763688" y="2852936"/>
              <a:ext cx="648073" cy="483843"/>
            </a:xfrm>
            <a:prstGeom prst="rect">
              <a:avLst/>
            </a:prstGeom>
            <a:noFill/>
          </p:spPr>
          <p:txBody>
            <a:bodyPr wrap="square" rtlCol="0">
              <a:spAutoFit/>
            </a:bodyPr>
            <a:lstStyle/>
            <a:p>
              <a:pPr algn="ctr"/>
              <a:endParaRPr lang="en-US" b="1" dirty="0"/>
            </a:p>
          </p:txBody>
        </p:sp>
        <p:sp>
          <p:nvSpPr>
            <p:cNvPr id="125" name="TextBox 124"/>
            <p:cNvSpPr txBox="1"/>
            <p:nvPr/>
          </p:nvSpPr>
          <p:spPr>
            <a:xfrm>
              <a:off x="1149673" y="2748162"/>
              <a:ext cx="648073" cy="425804"/>
            </a:xfrm>
            <a:prstGeom prst="rect">
              <a:avLst/>
            </a:prstGeom>
            <a:noFill/>
          </p:spPr>
          <p:txBody>
            <a:bodyPr wrap="square" rtlCol="0">
              <a:spAutoFit/>
            </a:bodyPr>
            <a:lstStyle/>
            <a:p>
              <a:endParaRPr lang="en-US" sz="1400" b="1" dirty="0"/>
            </a:p>
          </p:txBody>
        </p:sp>
        <p:sp>
          <p:nvSpPr>
            <p:cNvPr id="126" name="TextBox 125"/>
            <p:cNvSpPr txBox="1"/>
            <p:nvPr/>
          </p:nvSpPr>
          <p:spPr>
            <a:xfrm>
              <a:off x="1763688" y="2185700"/>
              <a:ext cx="648073" cy="425804"/>
            </a:xfrm>
            <a:prstGeom prst="rect">
              <a:avLst/>
            </a:prstGeom>
            <a:noFill/>
          </p:spPr>
          <p:txBody>
            <a:bodyPr wrap="square" rtlCol="0">
              <a:spAutoFit/>
            </a:bodyPr>
            <a:lstStyle/>
            <a:p>
              <a:endParaRPr lang="en-US" sz="1400" b="1" dirty="0"/>
            </a:p>
          </p:txBody>
        </p:sp>
      </p:grpSp>
      <p:grpSp>
        <p:nvGrpSpPr>
          <p:cNvPr id="132" name="Group 131"/>
          <p:cNvGrpSpPr/>
          <p:nvPr/>
        </p:nvGrpSpPr>
        <p:grpSpPr>
          <a:xfrm>
            <a:off x="7740352" y="3723141"/>
            <a:ext cx="1177845" cy="1393750"/>
            <a:chOff x="323528" y="1484784"/>
            <a:chExt cx="2097416" cy="1928230"/>
          </a:xfrm>
        </p:grpSpPr>
        <p:grpSp>
          <p:nvGrpSpPr>
            <p:cNvPr id="133" name="Group 132"/>
            <p:cNvGrpSpPr/>
            <p:nvPr/>
          </p:nvGrpSpPr>
          <p:grpSpPr>
            <a:xfrm>
              <a:off x="323528" y="1484784"/>
              <a:ext cx="2088232" cy="1800200"/>
              <a:chOff x="323528" y="1484784"/>
              <a:chExt cx="2088232" cy="1800200"/>
            </a:xfrm>
          </p:grpSpPr>
          <p:sp>
            <p:nvSpPr>
              <p:cNvPr id="141" name="Rectangle 140"/>
              <p:cNvSpPr/>
              <p:nvPr/>
            </p:nvSpPr>
            <p:spPr>
              <a:xfrm>
                <a:off x="323528" y="1484784"/>
                <a:ext cx="2088232"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141"/>
              <p:cNvCxnSpPr/>
              <p:nvPr/>
            </p:nvCxnSpPr>
            <p:spPr>
              <a:xfrm>
                <a:off x="971600"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323528" y="198884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323528" y="2708920"/>
                <a:ext cx="208823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1763688" y="1484784"/>
                <a:ext cx="0" cy="1800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4" name="TextBox 133"/>
            <p:cNvSpPr txBox="1"/>
            <p:nvPr/>
          </p:nvSpPr>
          <p:spPr>
            <a:xfrm>
              <a:off x="971601" y="1639832"/>
              <a:ext cx="792089" cy="383224"/>
            </a:xfrm>
            <a:prstGeom prst="rect">
              <a:avLst/>
            </a:prstGeom>
            <a:noFill/>
          </p:spPr>
          <p:txBody>
            <a:bodyPr wrap="square" rtlCol="0">
              <a:spAutoFit/>
            </a:bodyPr>
            <a:lstStyle/>
            <a:p>
              <a:pPr algn="ctr"/>
              <a:endParaRPr lang="en-US" sz="1200" b="1" dirty="0"/>
            </a:p>
          </p:txBody>
        </p:sp>
        <p:sp>
          <p:nvSpPr>
            <p:cNvPr id="135" name="TextBox 134"/>
            <p:cNvSpPr txBox="1"/>
            <p:nvPr/>
          </p:nvSpPr>
          <p:spPr>
            <a:xfrm>
              <a:off x="323528" y="1556792"/>
              <a:ext cx="648073" cy="510965"/>
            </a:xfrm>
            <a:prstGeom prst="rect">
              <a:avLst/>
            </a:prstGeom>
            <a:noFill/>
          </p:spPr>
          <p:txBody>
            <a:bodyPr wrap="square" rtlCol="0">
              <a:spAutoFit/>
            </a:bodyPr>
            <a:lstStyle/>
            <a:p>
              <a:pPr algn="ctr"/>
              <a:endParaRPr lang="en-US" b="1" dirty="0"/>
            </a:p>
          </p:txBody>
        </p:sp>
        <p:sp>
          <p:nvSpPr>
            <p:cNvPr id="136" name="TextBox 135"/>
            <p:cNvSpPr txBox="1"/>
            <p:nvPr/>
          </p:nvSpPr>
          <p:spPr>
            <a:xfrm>
              <a:off x="323528" y="2902049"/>
              <a:ext cx="648073" cy="510965"/>
            </a:xfrm>
            <a:prstGeom prst="rect">
              <a:avLst/>
            </a:prstGeom>
            <a:noFill/>
          </p:spPr>
          <p:txBody>
            <a:bodyPr wrap="square" rtlCol="0">
              <a:spAutoFit/>
            </a:bodyPr>
            <a:lstStyle/>
            <a:p>
              <a:pPr algn="ctr"/>
              <a:endParaRPr lang="en-US" b="1" dirty="0"/>
            </a:p>
          </p:txBody>
        </p:sp>
        <p:sp>
          <p:nvSpPr>
            <p:cNvPr id="137" name="TextBox 136"/>
            <p:cNvSpPr txBox="1"/>
            <p:nvPr/>
          </p:nvSpPr>
          <p:spPr>
            <a:xfrm>
              <a:off x="1772871" y="1593666"/>
              <a:ext cx="648073" cy="510965"/>
            </a:xfrm>
            <a:prstGeom prst="rect">
              <a:avLst/>
            </a:prstGeom>
            <a:noFill/>
          </p:spPr>
          <p:txBody>
            <a:bodyPr wrap="square" rtlCol="0">
              <a:spAutoFit/>
            </a:bodyPr>
            <a:lstStyle/>
            <a:p>
              <a:pPr algn="ctr"/>
              <a:endParaRPr lang="en-US" b="1" dirty="0"/>
            </a:p>
          </p:txBody>
        </p:sp>
        <p:sp>
          <p:nvSpPr>
            <p:cNvPr id="138" name="TextBox 137"/>
            <p:cNvSpPr txBox="1"/>
            <p:nvPr/>
          </p:nvSpPr>
          <p:spPr>
            <a:xfrm>
              <a:off x="1763688" y="2852936"/>
              <a:ext cx="648073" cy="483843"/>
            </a:xfrm>
            <a:prstGeom prst="rect">
              <a:avLst/>
            </a:prstGeom>
            <a:noFill/>
          </p:spPr>
          <p:txBody>
            <a:bodyPr wrap="square" rtlCol="0">
              <a:spAutoFit/>
            </a:bodyPr>
            <a:lstStyle/>
            <a:p>
              <a:pPr algn="ctr"/>
              <a:endParaRPr lang="en-US" b="1" dirty="0"/>
            </a:p>
          </p:txBody>
        </p:sp>
        <p:sp>
          <p:nvSpPr>
            <p:cNvPr id="139" name="TextBox 138"/>
            <p:cNvSpPr txBox="1"/>
            <p:nvPr/>
          </p:nvSpPr>
          <p:spPr>
            <a:xfrm>
              <a:off x="1149673" y="2748162"/>
              <a:ext cx="648073" cy="425804"/>
            </a:xfrm>
            <a:prstGeom prst="rect">
              <a:avLst/>
            </a:prstGeom>
            <a:noFill/>
          </p:spPr>
          <p:txBody>
            <a:bodyPr wrap="square" rtlCol="0">
              <a:spAutoFit/>
            </a:bodyPr>
            <a:lstStyle/>
            <a:p>
              <a:endParaRPr lang="en-US" sz="1400" b="1" dirty="0"/>
            </a:p>
          </p:txBody>
        </p:sp>
        <p:sp>
          <p:nvSpPr>
            <p:cNvPr id="140" name="TextBox 139"/>
            <p:cNvSpPr txBox="1"/>
            <p:nvPr/>
          </p:nvSpPr>
          <p:spPr>
            <a:xfrm>
              <a:off x="1763688" y="2185700"/>
              <a:ext cx="648073" cy="425804"/>
            </a:xfrm>
            <a:prstGeom prst="rect">
              <a:avLst/>
            </a:prstGeom>
            <a:noFill/>
          </p:spPr>
          <p:txBody>
            <a:bodyPr wrap="square" rtlCol="0">
              <a:spAutoFit/>
            </a:bodyPr>
            <a:lstStyle/>
            <a:p>
              <a:endParaRPr lang="en-US" sz="1400" b="1" dirty="0"/>
            </a:p>
          </p:txBody>
        </p:sp>
      </p:grpSp>
      <p:cxnSp>
        <p:nvCxnSpPr>
          <p:cNvPr id="154" name="Straight Arrow Connector 153"/>
          <p:cNvCxnSpPr/>
          <p:nvPr/>
        </p:nvCxnSpPr>
        <p:spPr>
          <a:xfrm flipV="1">
            <a:off x="2627784" y="5416284"/>
            <a:ext cx="1368152" cy="132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endCxn id="113" idx="1"/>
          </p:cNvCxnSpPr>
          <p:nvPr/>
        </p:nvCxnSpPr>
        <p:spPr>
          <a:xfrm flipV="1">
            <a:off x="4459874" y="2415237"/>
            <a:ext cx="1184935" cy="116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a:endCxn id="127" idx="1"/>
          </p:cNvCxnSpPr>
          <p:nvPr/>
        </p:nvCxnSpPr>
        <p:spPr>
          <a:xfrm>
            <a:off x="6832119" y="2391590"/>
            <a:ext cx="476185" cy="51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124" idx="2"/>
            <a:endCxn id="141" idx="0"/>
          </p:cNvCxnSpPr>
          <p:nvPr/>
        </p:nvCxnSpPr>
        <p:spPr>
          <a:xfrm>
            <a:off x="8299023" y="3084745"/>
            <a:ext cx="27673" cy="6383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5" name="Oval 184"/>
          <p:cNvSpPr/>
          <p:nvPr/>
        </p:nvSpPr>
        <p:spPr>
          <a:xfrm>
            <a:off x="35496" y="4703056"/>
            <a:ext cx="936104" cy="8589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a:off x="7976936" y="5934070"/>
            <a:ext cx="936104" cy="85894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0" name="Straight Arrow Connector 189"/>
          <p:cNvCxnSpPr>
            <a:endCxn id="186" idx="0"/>
          </p:cNvCxnSpPr>
          <p:nvPr/>
        </p:nvCxnSpPr>
        <p:spPr>
          <a:xfrm>
            <a:off x="8414979" y="5052253"/>
            <a:ext cx="30009" cy="8818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5" name="Elbow Connector 194"/>
          <p:cNvCxnSpPr>
            <a:stCxn id="57" idx="0"/>
          </p:cNvCxnSpPr>
          <p:nvPr/>
        </p:nvCxnSpPr>
        <p:spPr>
          <a:xfrm rot="5400000" flipH="1" flipV="1">
            <a:off x="4755653" y="3541963"/>
            <a:ext cx="715782" cy="1062529"/>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7" name="Elbow Connector 196"/>
          <p:cNvCxnSpPr>
            <a:stCxn id="15" idx="3"/>
          </p:cNvCxnSpPr>
          <p:nvPr/>
        </p:nvCxnSpPr>
        <p:spPr>
          <a:xfrm flipV="1">
            <a:off x="2622627" y="3157779"/>
            <a:ext cx="1229293" cy="1968969"/>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2" name="Elbow Connector 201"/>
          <p:cNvCxnSpPr>
            <a:stCxn id="98" idx="3"/>
          </p:cNvCxnSpPr>
          <p:nvPr/>
        </p:nvCxnSpPr>
        <p:spPr>
          <a:xfrm flipV="1">
            <a:off x="6799091" y="3027547"/>
            <a:ext cx="691182" cy="983971"/>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8" name="Elbow Connector 207"/>
          <p:cNvCxnSpPr>
            <a:endCxn id="136" idx="2"/>
          </p:cNvCxnSpPr>
          <p:nvPr/>
        </p:nvCxnSpPr>
        <p:spPr>
          <a:xfrm flipV="1">
            <a:off x="6901973" y="5116891"/>
            <a:ext cx="1020348" cy="66046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a:stCxn id="185" idx="6"/>
            <a:endCxn id="15" idx="1"/>
          </p:cNvCxnSpPr>
          <p:nvPr/>
        </p:nvCxnSpPr>
        <p:spPr>
          <a:xfrm flipV="1">
            <a:off x="971600" y="5126748"/>
            <a:ext cx="478339" cy="57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26" name="Picture 2" descr="D:\bahria 2019\FOPM\Sumaiya\Lecture 8\CPM-prep\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25" y="1371941"/>
            <a:ext cx="3187448" cy="2578112"/>
          </a:xfrm>
          <a:prstGeom prst="rect">
            <a:avLst/>
          </a:prstGeom>
          <a:noFill/>
          <a:extLst>
            <a:ext uri="{909E8E84-426E-40DD-AFC4-6F175D3DCCD1}">
              <a14:hiddenFill xmlns:a14="http://schemas.microsoft.com/office/drawing/2010/main">
                <a:solidFill>
                  <a:srgbClr val="FFFFFF"/>
                </a:solidFill>
              </a14:hiddenFill>
            </a:ext>
          </a:extLst>
        </p:spPr>
      </p:pic>
      <p:cxnSp>
        <p:nvCxnSpPr>
          <p:cNvPr id="215" name="Elbow Connector 214"/>
          <p:cNvCxnSpPr/>
          <p:nvPr/>
        </p:nvCxnSpPr>
        <p:spPr>
          <a:xfrm rot="16200000" flipH="1">
            <a:off x="4959999" y="5329167"/>
            <a:ext cx="386410" cy="1141848"/>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52099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7864" y="44624"/>
            <a:ext cx="5338936" cy="1143000"/>
          </a:xfrm>
        </p:spPr>
        <p:txBody>
          <a:bodyPr/>
          <a:lstStyle/>
          <a:p>
            <a:r>
              <a:rPr lang="en-US" dirty="0" smtClean="0"/>
              <a:t>CRITICAL PATH</a:t>
            </a:r>
            <a:endParaRPr lang="en-US" dirty="0"/>
          </a:p>
        </p:txBody>
      </p:sp>
      <p:sp>
        <p:nvSpPr>
          <p:cNvPr id="3" name="Content Placeholder 2"/>
          <p:cNvSpPr>
            <a:spLocks noGrp="1"/>
          </p:cNvSpPr>
          <p:nvPr>
            <p:ph sz="half" idx="1"/>
          </p:nvPr>
        </p:nvSpPr>
        <p:spPr>
          <a:xfrm>
            <a:off x="457200" y="1600200"/>
            <a:ext cx="8219256" cy="4525963"/>
          </a:xfrm>
        </p:spPr>
        <p:txBody>
          <a:bodyPr/>
          <a:lstStyle/>
          <a:p>
            <a:pPr marL="0" indent="0">
              <a:buNone/>
            </a:pPr>
            <a:endParaRPr lang="en-US" dirty="0" smtClean="0"/>
          </a:p>
          <a:p>
            <a:pPr marL="0" indent="0">
              <a:buNone/>
            </a:pPr>
            <a:endParaRPr lang="en-US" dirty="0"/>
          </a:p>
          <a:p>
            <a:pPr marL="0" indent="0">
              <a:buNone/>
            </a:pPr>
            <a:r>
              <a:rPr lang="en-US" dirty="0" smtClean="0"/>
              <a:t>The </a:t>
            </a:r>
            <a:r>
              <a:rPr lang="en-US" dirty="0"/>
              <a:t>critical path is the longest sequence of activities in a project plan which must be completed on time for the project to complete on due </a:t>
            </a:r>
            <a:r>
              <a:rPr lang="en-US" dirty="0" smtClean="0"/>
              <a:t>date.</a:t>
            </a:r>
            <a:endParaRPr lang="en-US" dirty="0"/>
          </a:p>
        </p:txBody>
      </p:sp>
    </p:spTree>
    <p:extLst>
      <p:ext uri="{BB962C8B-B14F-4D97-AF65-F5344CB8AC3E}">
        <p14:creationId xmlns:p14="http://schemas.microsoft.com/office/powerpoint/2010/main" val="240722236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268760"/>
            <a:ext cx="6840760" cy="5072608"/>
          </a:xfrm>
          <a:prstGeom prst="rect">
            <a:avLst/>
          </a:prstGeom>
        </p:spPr>
      </p:pic>
      <p:sp>
        <p:nvSpPr>
          <p:cNvPr id="3" name="TextBox 2"/>
          <p:cNvSpPr txBox="1"/>
          <p:nvPr/>
        </p:nvSpPr>
        <p:spPr>
          <a:xfrm>
            <a:off x="304800" y="304800"/>
            <a:ext cx="6553200" cy="369332"/>
          </a:xfrm>
          <a:prstGeom prst="rect">
            <a:avLst/>
          </a:prstGeom>
          <a:noFill/>
        </p:spPr>
        <p:txBody>
          <a:bodyPr wrap="square" rtlCol="0">
            <a:spAutoFit/>
          </a:bodyPr>
          <a:lstStyle/>
          <a:p>
            <a:r>
              <a:rPr lang="en-US" dirty="0"/>
              <a:t>Exercise!</a:t>
            </a:r>
          </a:p>
        </p:txBody>
      </p:sp>
    </p:spTree>
    <p:extLst>
      <p:ext uri="{BB962C8B-B14F-4D97-AF65-F5344CB8AC3E}">
        <p14:creationId xmlns:p14="http://schemas.microsoft.com/office/powerpoint/2010/main" val="392183627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CONTROL SCHEDULE</a:t>
            </a:r>
            <a:endParaRPr lang="en-US" dirty="0"/>
          </a:p>
        </p:txBody>
      </p:sp>
      <p:sp>
        <p:nvSpPr>
          <p:cNvPr id="3" name="Content Placeholder 2"/>
          <p:cNvSpPr>
            <a:spLocks noGrp="1"/>
          </p:cNvSpPr>
          <p:nvPr>
            <p:ph idx="1"/>
          </p:nvPr>
        </p:nvSpPr>
        <p:spPr/>
        <p:txBody>
          <a:bodyPr/>
          <a:lstStyle/>
          <a:p>
            <a:r>
              <a:rPr lang="en-US" dirty="0"/>
              <a:t>Control Schedule is the process of monitoring the status of the project to update the project schedule and managing changes to the schedule baseline</a:t>
            </a:r>
            <a:r>
              <a:rPr lang="en-US" dirty="0" smtClean="0"/>
              <a:t>.</a:t>
            </a:r>
          </a:p>
          <a:p>
            <a:r>
              <a:rPr lang="en-US" dirty="0" smtClean="0"/>
              <a:t> </a:t>
            </a:r>
            <a:r>
              <a:rPr lang="en-US" dirty="0"/>
              <a:t>The key benefit of this process is that the schedule baseline is maintained throughout the project. </a:t>
            </a:r>
          </a:p>
        </p:txBody>
      </p:sp>
    </p:spTree>
    <p:extLst>
      <p:ext uri="{BB962C8B-B14F-4D97-AF65-F5344CB8AC3E}">
        <p14:creationId xmlns:p14="http://schemas.microsoft.com/office/powerpoint/2010/main" val="136464478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2050" name="Picture 2" descr="D:\bahria 2019\FOPM\Sumaiya\Lecture 8\CPM-prep\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3" y="1532767"/>
            <a:ext cx="8352927" cy="4488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72874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Resource Leveling and Crashing</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smtClean="0"/>
              <a:t>Fast Tracking</a:t>
            </a:r>
            <a:r>
              <a:rPr lang="en-US" dirty="0" smtClean="0"/>
              <a:t>:</a:t>
            </a:r>
            <a:endParaRPr lang="en-US" dirty="0" smtClean="0"/>
          </a:p>
          <a:p>
            <a:pPr lvl="1" algn="just"/>
            <a:r>
              <a:rPr lang="en-US" sz="2300" dirty="0"/>
              <a:t>a method of accelerating a project to deliver the end product sooner. Fast-tracking in project management is a schedule compression technique often used alongside the crashing technique</a:t>
            </a:r>
            <a:r>
              <a:rPr lang="en-US" sz="2300" dirty="0" smtClean="0"/>
              <a:t>.</a:t>
            </a:r>
          </a:p>
          <a:p>
            <a:pPr algn="just"/>
            <a:r>
              <a:rPr lang="en-US" b="1" dirty="0" smtClean="0"/>
              <a:t>Crashing:</a:t>
            </a:r>
          </a:p>
          <a:p>
            <a:pPr lvl="1" algn="just"/>
            <a:r>
              <a:rPr lang="en-US" sz="2300" dirty="0" smtClean="0"/>
              <a:t>Crashing </a:t>
            </a:r>
            <a:r>
              <a:rPr lang="en-US" sz="2300" dirty="0"/>
              <a:t>is a technique of reducing the project's duration by adding more resources or increasing their productivity to the critical path tasks. Crashing aims to shorten the critical path by decreasing the time required to complete the tasks. However, crashing usually involves additional costs, such as paying for overtime, hiring, or outsourcing. Therefore, crashing should be used only when the benefits of finishing the project earlier outweigh the costs of adding more resources.</a:t>
            </a:r>
            <a:endParaRPr lang="en-US" sz="2300" b="1" dirty="0"/>
          </a:p>
          <a:p>
            <a:endParaRPr lang="en-US" dirty="0"/>
          </a:p>
        </p:txBody>
      </p:sp>
    </p:spTree>
    <p:extLst>
      <p:ext uri="{BB962C8B-B14F-4D97-AF65-F5344CB8AC3E}">
        <p14:creationId xmlns:p14="http://schemas.microsoft.com/office/powerpoint/2010/main" val="1417192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6224</TotalTime>
  <Words>2372</Words>
  <Application>Microsoft Office PowerPoint</Application>
  <PresentationFormat>On-screen Show (4:3)</PresentationFormat>
  <Paragraphs>251</Paragraphs>
  <Slides>58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Georgia</vt:lpstr>
      <vt:lpstr>Times New Roman</vt:lpstr>
      <vt:lpstr>Office Theme</vt:lpstr>
      <vt:lpstr>SCEDULE MANAGEMENT</vt:lpstr>
      <vt:lpstr>PowerPoint Presentation</vt:lpstr>
      <vt:lpstr>HAVE YOU EVER NOTICED YOUR MOST PRODUCTIVE TIME AT WORKPLACE IN A DAY?</vt:lpstr>
      <vt:lpstr> TIME ROBBERS</vt:lpstr>
      <vt:lpstr>PowerPoint Presentation</vt:lpstr>
      <vt:lpstr>PowerPoint Presentation</vt:lpstr>
      <vt:lpstr>ON TIME PROJECT COMPLETION- A Challenge</vt:lpstr>
      <vt:lpstr>PowerPoint Presentation</vt:lpstr>
      <vt:lpstr>SCHEDULE MANAGEMENT</vt:lpstr>
      <vt:lpstr>PowerPoint Presentation</vt:lpstr>
      <vt:lpstr>PLAN SCHEDULE MANAGEMENT </vt:lpstr>
      <vt:lpstr>PowerPoint Presentation</vt:lpstr>
      <vt:lpstr>INPUTS</vt:lpstr>
      <vt:lpstr>TOOLS AND TECHNIQUES</vt:lpstr>
      <vt:lpstr>OUTPUT</vt:lpstr>
      <vt:lpstr>2- DEFINE ACTIVITIES</vt:lpstr>
      <vt:lpstr>PowerPoint Presentation</vt:lpstr>
      <vt:lpstr>INPUT </vt:lpstr>
      <vt:lpstr>TOOLS &amp; TECHNIQUES</vt:lpstr>
      <vt:lpstr>PowerPoint Presentation</vt:lpstr>
      <vt:lpstr>OUTPUT</vt:lpstr>
      <vt:lpstr>PowerPoint Presentation</vt:lpstr>
      <vt:lpstr> 3 DIFFERENT ACTIVITY LISTS FOR ONE WBS </vt:lpstr>
      <vt:lpstr>SEQUENCE ACTIVITIES </vt:lpstr>
      <vt:lpstr>PowerPoint Presentation</vt:lpstr>
      <vt:lpstr>INPUT</vt:lpstr>
      <vt:lpstr>TOOLS AND TECHNIQUES </vt:lpstr>
      <vt:lpstr>PowerPoint Presentation</vt:lpstr>
      <vt:lpstr>FS Relationship</vt:lpstr>
      <vt:lpstr>Finish-to-finish (FF)</vt:lpstr>
      <vt:lpstr>Start-to-start (SS)</vt:lpstr>
      <vt:lpstr>Start-to-finish (SF).</vt:lpstr>
      <vt:lpstr>PowerPoint Presentation</vt:lpstr>
      <vt:lpstr>LEADS AND LAGS</vt:lpstr>
      <vt:lpstr>PowerPoint Presentation</vt:lpstr>
      <vt:lpstr>PowerPoint Presentation</vt:lpstr>
      <vt:lpstr>PowerPoint Presentation</vt:lpstr>
      <vt:lpstr>OUTPUT</vt:lpstr>
      <vt:lpstr>Class Exercise</vt:lpstr>
      <vt:lpstr>PowerPoint Presentation</vt:lpstr>
      <vt:lpstr>ESTIMATE ACTIVITY DURATIONS</vt:lpstr>
      <vt:lpstr>PowerPoint Presentation</vt:lpstr>
      <vt:lpstr>PowerPoint Presentation</vt:lpstr>
      <vt:lpstr>TOOLS AND TECHNIQUES</vt:lpstr>
      <vt:lpstr>PowerPoint Presentation</vt:lpstr>
      <vt:lpstr>PowerPoint Presentation</vt:lpstr>
      <vt:lpstr> OUTPUTS</vt:lpstr>
      <vt:lpstr>DEVELOP SCHEDULE</vt:lpstr>
      <vt:lpstr>PowerPoint Presentation</vt:lpstr>
      <vt:lpstr>CRITICAL PATH METHOD</vt:lpstr>
      <vt:lpstr>PowerPoint Presentation</vt:lpstr>
      <vt:lpstr>CRITICAL PATH METHOD</vt:lpstr>
      <vt:lpstr>CPM</vt:lpstr>
      <vt:lpstr>CRITICAL PATH</vt:lpstr>
      <vt:lpstr>PowerPoint Presentation</vt:lpstr>
      <vt:lpstr>CONTROL SCHEDULE</vt:lpstr>
      <vt:lpstr>PowerPoint Presentation</vt:lpstr>
      <vt:lpstr>Resource Leveling and Crashing</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Bahria</cp:lastModifiedBy>
  <cp:revision>393</cp:revision>
  <dcterms:created xsi:type="dcterms:W3CDTF">2013-08-21T19:17:07Z</dcterms:created>
  <dcterms:modified xsi:type="dcterms:W3CDTF">2024-03-30T08:04:27Z</dcterms:modified>
</cp:coreProperties>
</file>