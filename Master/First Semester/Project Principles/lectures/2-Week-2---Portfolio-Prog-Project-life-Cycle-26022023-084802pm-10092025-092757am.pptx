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71" r:id="rId2"/>
    <p:sldId id="273" r:id="rId3"/>
    <p:sldId id="309" r:id="rId4"/>
    <p:sldId id="274" r:id="rId5"/>
    <p:sldId id="296" r:id="rId6"/>
    <p:sldId id="277" r:id="rId7"/>
    <p:sldId id="257" r:id="rId8"/>
    <p:sldId id="310" r:id="rId9"/>
    <p:sldId id="311" r:id="rId10"/>
    <p:sldId id="308" r:id="rId11"/>
    <p:sldId id="261" r:id="rId12"/>
    <p:sldId id="259" r:id="rId13"/>
    <p:sldId id="260" r:id="rId14"/>
    <p:sldId id="275" r:id="rId15"/>
    <p:sldId id="276" r:id="rId16"/>
    <p:sldId id="280" r:id="rId17"/>
    <p:sldId id="284" r:id="rId18"/>
    <p:sldId id="289" r:id="rId19"/>
    <p:sldId id="282" r:id="rId20"/>
    <p:sldId id="288" r:id="rId21"/>
    <p:sldId id="298" r:id="rId22"/>
    <p:sldId id="297" r:id="rId23"/>
    <p:sldId id="294" r:id="rId24"/>
    <p:sldId id="295" r:id="rId25"/>
    <p:sldId id="304" r:id="rId26"/>
    <p:sldId id="299" r:id="rId27"/>
    <p:sldId id="300" r:id="rId28"/>
    <p:sldId id="290" r:id="rId29"/>
    <p:sldId id="291" r:id="rId30"/>
    <p:sldId id="302" r:id="rId31"/>
    <p:sldId id="307" r:id="rId32"/>
    <p:sldId id="303" r:id="rId33"/>
    <p:sldId id="293" r:id="rId34"/>
    <p:sldId id="305" r:id="rId35"/>
    <p:sldId id="306"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00" autoAdjust="0"/>
    <p:restoredTop sz="94660"/>
  </p:normalViewPr>
  <p:slideViewPr>
    <p:cSldViewPr>
      <p:cViewPr varScale="1">
        <p:scale>
          <a:sx n="82" d="100"/>
          <a:sy n="82" d="100"/>
        </p:scale>
        <p:origin x="179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04B560-F023-434F-BC01-724E7A1D0629}" type="datetimeFigureOut">
              <a:rPr lang="en-GB" smtClean="0"/>
              <a:t>15/02/2025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14E126-2B17-4439-9BAB-6D4F3565CBF7}" type="slidenum">
              <a:rPr lang="en-GB" smtClean="0"/>
              <a:t>‹#›</a:t>
            </a:fld>
            <a:endParaRPr lang="en-GB"/>
          </a:p>
        </p:txBody>
      </p:sp>
    </p:spTree>
    <p:extLst>
      <p:ext uri="{BB962C8B-B14F-4D97-AF65-F5344CB8AC3E}">
        <p14:creationId xmlns:p14="http://schemas.microsoft.com/office/powerpoint/2010/main" val="333891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B9FA95E-F24F-49C4-B085-0959CD6CA459}" type="slidenum">
              <a:rPr lang="en-GB" smtClean="0"/>
              <a:t>13</a:t>
            </a:fld>
            <a:endParaRPr lang="en-GB"/>
          </a:p>
        </p:txBody>
      </p:sp>
      <p:sp>
        <p:nvSpPr>
          <p:cNvPr id="5" name="Header Placeholder 4"/>
          <p:cNvSpPr>
            <a:spLocks noGrp="1"/>
          </p:cNvSpPr>
          <p:nvPr>
            <p:ph type="hdr" sz="quarter" idx="11"/>
          </p:nvPr>
        </p:nvSpPr>
        <p:spPr/>
        <p:txBody>
          <a:bodyPr/>
          <a:lstStyle/>
          <a:p>
            <a:r>
              <a:rPr lang="en-GB"/>
              <a:t>Ayaz</a:t>
            </a:r>
          </a:p>
        </p:txBody>
      </p:sp>
    </p:spTree>
    <p:extLst>
      <p:ext uri="{BB962C8B-B14F-4D97-AF65-F5344CB8AC3E}">
        <p14:creationId xmlns:p14="http://schemas.microsoft.com/office/powerpoint/2010/main" val="3590728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idx="10"/>
          </p:nvPr>
        </p:nvSpPr>
        <p:spPr/>
        <p:txBody>
          <a:bodyPr/>
          <a:lstStyle/>
          <a:p>
            <a:r>
              <a:rPr lang="en-GB">
                <a:solidFill>
                  <a:prstClr val="black"/>
                </a:solidFill>
              </a:rPr>
              <a:t>Ayaz</a:t>
            </a:r>
          </a:p>
        </p:txBody>
      </p:sp>
      <p:sp>
        <p:nvSpPr>
          <p:cNvPr id="5" name="Slide Number Placeholder 4"/>
          <p:cNvSpPr>
            <a:spLocks noGrp="1"/>
          </p:cNvSpPr>
          <p:nvPr>
            <p:ph type="sldNum" sz="quarter" idx="11"/>
          </p:nvPr>
        </p:nvSpPr>
        <p:spPr/>
        <p:txBody>
          <a:bodyPr/>
          <a:lstStyle/>
          <a:p>
            <a:fld id="{8B9FA95E-F24F-49C4-B085-0959CD6CA459}" type="slidenum">
              <a:rPr lang="en-GB">
                <a:solidFill>
                  <a:prstClr val="black"/>
                </a:solidFill>
              </a:rPr>
              <a:pPr/>
              <a:t>17</a:t>
            </a:fld>
            <a:endParaRPr lang="en-GB">
              <a:solidFill>
                <a:prstClr val="black"/>
              </a:solidFill>
            </a:endParaRPr>
          </a:p>
        </p:txBody>
      </p:sp>
    </p:spTree>
    <p:extLst>
      <p:ext uri="{BB962C8B-B14F-4D97-AF65-F5344CB8AC3E}">
        <p14:creationId xmlns:p14="http://schemas.microsoft.com/office/powerpoint/2010/main" val="3253846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idx="10"/>
          </p:nvPr>
        </p:nvSpPr>
        <p:spPr/>
        <p:txBody>
          <a:bodyPr/>
          <a:lstStyle/>
          <a:p>
            <a:r>
              <a:rPr lang="en-GB">
                <a:solidFill>
                  <a:prstClr val="black"/>
                </a:solidFill>
              </a:rPr>
              <a:t>Ayaz</a:t>
            </a:r>
          </a:p>
        </p:txBody>
      </p:sp>
      <p:sp>
        <p:nvSpPr>
          <p:cNvPr id="5" name="Slide Number Placeholder 4"/>
          <p:cNvSpPr>
            <a:spLocks noGrp="1"/>
          </p:cNvSpPr>
          <p:nvPr>
            <p:ph type="sldNum" sz="quarter" idx="11"/>
          </p:nvPr>
        </p:nvSpPr>
        <p:spPr/>
        <p:txBody>
          <a:bodyPr/>
          <a:lstStyle/>
          <a:p>
            <a:fld id="{8B9FA95E-F24F-49C4-B085-0959CD6CA459}" type="slidenum">
              <a:rPr lang="en-GB">
                <a:solidFill>
                  <a:prstClr val="black"/>
                </a:solidFill>
              </a:rPr>
              <a:pPr/>
              <a:t>19</a:t>
            </a:fld>
            <a:endParaRPr lang="en-GB">
              <a:solidFill>
                <a:prstClr val="black"/>
              </a:solidFill>
            </a:endParaRPr>
          </a:p>
        </p:txBody>
      </p:sp>
    </p:spTree>
    <p:extLst>
      <p:ext uri="{BB962C8B-B14F-4D97-AF65-F5344CB8AC3E}">
        <p14:creationId xmlns:p14="http://schemas.microsoft.com/office/powerpoint/2010/main" val="3253846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981A5B5-0FBF-4AA1-8EC1-A258509B8C5F}" type="datetimeFigureOut">
              <a:rPr lang="en-GB" smtClean="0"/>
              <a:t>15/02/2025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3709760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981A5B5-0FBF-4AA1-8EC1-A258509B8C5F}" type="datetimeFigureOut">
              <a:rPr lang="en-GB" smtClean="0"/>
              <a:t>15/02/2025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62013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81A5B5-0FBF-4AA1-8EC1-A258509B8C5F}" type="datetimeFigureOut">
              <a:rPr lang="en-GB" smtClean="0"/>
              <a:t>15/02/2025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31992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981A5B5-0FBF-4AA1-8EC1-A258509B8C5F}" type="datetimeFigureOut">
              <a:rPr lang="en-GB" smtClean="0"/>
              <a:t>15/02/2025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194944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981A5B5-0FBF-4AA1-8EC1-A258509B8C5F}" type="datetimeFigureOut">
              <a:rPr lang="en-GB" smtClean="0"/>
              <a:t>15/02/2025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2156292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981A5B5-0FBF-4AA1-8EC1-A258509B8C5F}" type="datetimeFigureOut">
              <a:rPr lang="en-GB" smtClean="0"/>
              <a:t>15/02/2025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3669931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81A5B5-0FBF-4AA1-8EC1-A258509B8C5F}" type="datetimeFigureOut">
              <a:rPr lang="en-GB" smtClean="0"/>
              <a:t>15/02/2025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1668581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81A5B5-0FBF-4AA1-8EC1-A258509B8C5F}" type="datetimeFigureOut">
              <a:rPr lang="en-GB" smtClean="0"/>
              <a:t>15/02/2025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954061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81A5B5-0FBF-4AA1-8EC1-A258509B8C5F}" type="datetimeFigureOut">
              <a:rPr lang="en-GB" smtClean="0"/>
              <a:t>15/02/2025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2609544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981A5B5-0FBF-4AA1-8EC1-A258509B8C5F}" type="datetimeFigureOut">
              <a:rPr lang="en-GB" smtClean="0"/>
              <a:t>15/02/2025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3690052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981A5B5-0FBF-4AA1-8EC1-A258509B8C5F}" type="datetimeFigureOut">
              <a:rPr lang="en-GB" smtClean="0"/>
              <a:t>15/02/2025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1D489E4-103E-40AD-A0BD-F46B939E1001}" type="slidenum">
              <a:rPr lang="en-GB" smtClean="0"/>
              <a:t>‹#›</a:t>
            </a:fld>
            <a:endParaRPr lang="en-GB"/>
          </a:p>
        </p:txBody>
      </p:sp>
    </p:spTree>
    <p:extLst>
      <p:ext uri="{BB962C8B-B14F-4D97-AF65-F5344CB8AC3E}">
        <p14:creationId xmlns:p14="http://schemas.microsoft.com/office/powerpoint/2010/main" val="435019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81A5B5-0FBF-4AA1-8EC1-A258509B8C5F}" type="datetimeFigureOut">
              <a:rPr lang="en-GB" smtClean="0"/>
              <a:t>15/02/2025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D489E4-103E-40AD-A0BD-F46B939E1001}" type="slidenum">
              <a:rPr lang="en-GB" smtClean="0"/>
              <a:t>‹#›</a:t>
            </a:fld>
            <a:endParaRPr lang="en-GB"/>
          </a:p>
        </p:txBody>
      </p:sp>
    </p:spTree>
    <p:extLst>
      <p:ext uri="{BB962C8B-B14F-4D97-AF65-F5344CB8AC3E}">
        <p14:creationId xmlns:p14="http://schemas.microsoft.com/office/powerpoint/2010/main" val="12330515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hyperlink" Target="http://www.3foldtraining.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www.3foldtraining.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www.3foldtraining.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www.3foldtraining.com/"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www.3foldtraining.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www.3foldtraining.co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www.3foldtraining.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533400" y="4419600"/>
            <a:ext cx="5029200" cy="381515"/>
          </a:xfrm>
          <a:prstGeom prst="rect">
            <a:avLst/>
          </a:prstGeom>
        </p:spPr>
        <p:txBody>
          <a:bodyPr vert="horz" wrap="square" lIns="0" tIns="12065" rIns="0" bIns="0" rtlCol="0">
            <a:spAutoFit/>
          </a:bodyPr>
          <a:lstStyle/>
          <a:p>
            <a:pPr marL="12700">
              <a:lnSpc>
                <a:spcPct val="100000"/>
              </a:lnSpc>
              <a:spcBef>
                <a:spcPts val="95"/>
              </a:spcBef>
            </a:pPr>
            <a:r>
              <a:rPr lang="en-GB" sz="2400" b="1" i="1" spc="-5" dirty="0">
                <a:latin typeface="Arial"/>
                <a:cs typeface="Arial"/>
              </a:rPr>
              <a:t>MS in Project Management</a:t>
            </a:r>
            <a:endParaRPr sz="2400" dirty="0">
              <a:latin typeface="Arial"/>
              <a:cs typeface="Arial"/>
            </a:endParaRPr>
          </a:p>
        </p:txBody>
      </p:sp>
      <p:sp>
        <p:nvSpPr>
          <p:cNvPr id="5" name="object 5"/>
          <p:cNvSpPr txBox="1">
            <a:spLocks noGrp="1"/>
          </p:cNvSpPr>
          <p:nvPr>
            <p:ph type="title"/>
          </p:nvPr>
        </p:nvSpPr>
        <p:spPr>
          <a:xfrm>
            <a:off x="762000" y="1295400"/>
            <a:ext cx="7922260" cy="1637884"/>
          </a:xfrm>
          <a:prstGeom prst="rect">
            <a:avLst/>
          </a:prstGeom>
        </p:spPr>
        <p:txBody>
          <a:bodyPr vert="horz" wrap="square" lIns="0" tIns="12700" rIns="0" bIns="0" rtlCol="0">
            <a:spAutoFit/>
          </a:bodyPr>
          <a:lstStyle/>
          <a:p>
            <a:pPr marL="12700" marR="5080">
              <a:lnSpc>
                <a:spcPct val="110000"/>
              </a:lnSpc>
              <a:spcBef>
                <a:spcPts val="100"/>
              </a:spcBef>
            </a:pPr>
            <a:br>
              <a:rPr lang="en-GB" sz="3200" spc="-5" dirty="0">
                <a:solidFill>
                  <a:srgbClr val="FFFFFF"/>
                </a:solidFill>
              </a:rPr>
            </a:br>
            <a:br>
              <a:rPr lang="en-GB" sz="3200" spc="-5" dirty="0">
                <a:solidFill>
                  <a:srgbClr val="FFFFFF"/>
                </a:solidFill>
              </a:rPr>
            </a:br>
            <a:endParaRPr sz="32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036" y="2667000"/>
            <a:ext cx="5396825" cy="1523809"/>
          </a:xfrm>
          <a:prstGeom prst="rect">
            <a:avLst/>
          </a:prstGeom>
        </p:spPr>
      </p:pic>
      <p:sp>
        <p:nvSpPr>
          <p:cNvPr id="10" name="TextBox 9"/>
          <p:cNvSpPr txBox="1"/>
          <p:nvPr/>
        </p:nvSpPr>
        <p:spPr>
          <a:xfrm>
            <a:off x="1559491" y="685800"/>
            <a:ext cx="5841304" cy="1138773"/>
          </a:xfrm>
          <a:prstGeom prst="rect">
            <a:avLst/>
          </a:prstGeom>
          <a:noFill/>
        </p:spPr>
        <p:txBody>
          <a:bodyPr wrap="square" rtlCol="0">
            <a:spAutoFit/>
          </a:bodyPr>
          <a:lstStyle/>
          <a:p>
            <a:pPr algn="ctr"/>
            <a:r>
              <a:rPr lang="ur-PK" sz="3200" dirty="0"/>
              <a:t>بِسْمِؔ اللّٰہِ الرَّحْمٰنِ الرَّحِیْمِ</a:t>
            </a:r>
            <a:endParaRPr lang="ur-PK" sz="3600" dirty="0"/>
          </a:p>
          <a:p>
            <a:pPr algn="ctr"/>
            <a:r>
              <a:rPr lang="ur-PK" sz="3600" dirty="0"/>
              <a:t> </a:t>
            </a:r>
            <a:r>
              <a:rPr lang="ur-PK" sz="3200" dirty="0"/>
              <a:t>نَحْمَدُہٗ وَنُصَلِّیْ عَلٰی رَسُولِہِ الْکَرِیْم</a:t>
            </a:r>
            <a:endParaRPr lang="en-GB" sz="3200" dirty="0"/>
          </a:p>
        </p:txBody>
      </p:sp>
    </p:spTree>
    <p:extLst>
      <p:ext uri="{BB962C8B-B14F-4D97-AF65-F5344CB8AC3E}">
        <p14:creationId xmlns:p14="http://schemas.microsoft.com/office/powerpoint/2010/main" val="872258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626968" cy="1138138"/>
          </a:xfrm>
        </p:spPr>
        <p:txBody>
          <a:bodyPr>
            <a:normAutofit fontScale="90000"/>
          </a:bodyPr>
          <a:lstStyle/>
          <a:p>
            <a:pPr algn="l"/>
            <a:r>
              <a:rPr lang="en-GB" dirty="0"/>
              <a:t>Week 2</a:t>
            </a:r>
            <a:br>
              <a:rPr lang="en-GB" dirty="0"/>
            </a:br>
            <a:endParaRPr lang="en-GB" dirty="0"/>
          </a:p>
        </p:txBody>
      </p:sp>
      <p:sp>
        <p:nvSpPr>
          <p:cNvPr id="3" name="TextBox 2"/>
          <p:cNvSpPr txBox="1"/>
          <p:nvPr/>
        </p:nvSpPr>
        <p:spPr>
          <a:xfrm>
            <a:off x="0" y="1556792"/>
            <a:ext cx="9144000" cy="156966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GB" sz="2400" dirty="0"/>
              <a:t>PROJECT, PROGRAM, PORTFOLIO, AND OPERATIONS MANAGEMENT</a:t>
            </a:r>
          </a:p>
          <a:p>
            <a:pPr marL="285750" indent="-285750">
              <a:lnSpc>
                <a:spcPct val="200000"/>
              </a:lnSpc>
              <a:buFont typeface="Arial" panose="020B0604020202020204" pitchFamily="34" charset="0"/>
              <a:buChar char="•"/>
            </a:pPr>
            <a:r>
              <a:rPr lang="en-GB" sz="2400" dirty="0"/>
              <a:t>PROJECT LIFE CYCLE AND FEW OTHER COMPONENTS </a:t>
            </a:r>
          </a:p>
        </p:txBody>
      </p:sp>
    </p:spTree>
    <p:extLst>
      <p:ext uri="{BB962C8B-B14F-4D97-AF65-F5344CB8AC3E}">
        <p14:creationId xmlns:p14="http://schemas.microsoft.com/office/powerpoint/2010/main" val="137557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Vision and Mission</a:t>
            </a:r>
          </a:p>
        </p:txBody>
      </p:sp>
      <p:sp>
        <p:nvSpPr>
          <p:cNvPr id="3" name="Content Placeholder 2"/>
          <p:cNvSpPr>
            <a:spLocks noGrp="1"/>
          </p:cNvSpPr>
          <p:nvPr>
            <p:ph idx="1"/>
          </p:nvPr>
        </p:nvSpPr>
        <p:spPr>
          <a:xfrm>
            <a:off x="251520" y="1418361"/>
            <a:ext cx="8640960" cy="4314896"/>
          </a:xfrm>
        </p:spPr>
        <p:txBody>
          <a:bodyPr/>
          <a:lstStyle/>
          <a:p>
            <a:r>
              <a:rPr lang="en-US" dirty="0"/>
              <a:t>A </a:t>
            </a:r>
            <a:r>
              <a:rPr lang="en-US" b="1" dirty="0">
                <a:solidFill>
                  <a:srgbClr val="FFFF00"/>
                </a:solidFill>
              </a:rPr>
              <a:t>mission</a:t>
            </a:r>
            <a:r>
              <a:rPr lang="en-US" dirty="0"/>
              <a:t> statement defines the organization's business, its objectives, and how it will reach these objectives. </a:t>
            </a:r>
          </a:p>
          <a:p>
            <a:r>
              <a:rPr lang="en-US" dirty="0"/>
              <a:t>A </a:t>
            </a:r>
            <a:r>
              <a:rPr lang="en-US" b="1" dirty="0">
                <a:solidFill>
                  <a:srgbClr val="FFFF00"/>
                </a:solidFill>
              </a:rPr>
              <a:t>vision</a:t>
            </a:r>
            <a:r>
              <a:rPr lang="en-US" dirty="0"/>
              <a:t> statement details where the organization aspires to go. Why does your company exist? What do you hope to accomplish in the next several years?</a:t>
            </a:r>
          </a:p>
        </p:txBody>
      </p:sp>
    </p:spTree>
    <p:extLst>
      <p:ext uri="{BB962C8B-B14F-4D97-AF65-F5344CB8AC3E}">
        <p14:creationId xmlns:p14="http://schemas.microsoft.com/office/powerpoint/2010/main" val="4256861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Vision and Strategic Objectives</a:t>
            </a:r>
          </a:p>
        </p:txBody>
      </p:sp>
      <p:sp>
        <p:nvSpPr>
          <p:cNvPr id="3" name="TextBox 2"/>
          <p:cNvSpPr txBox="1"/>
          <p:nvPr/>
        </p:nvSpPr>
        <p:spPr>
          <a:xfrm>
            <a:off x="539553" y="2132856"/>
            <a:ext cx="8424936" cy="1908215"/>
          </a:xfrm>
          <a:prstGeom prst="rect">
            <a:avLst/>
          </a:prstGeom>
          <a:noFill/>
        </p:spPr>
        <p:txBody>
          <a:bodyPr wrap="square" rtlCol="0">
            <a:spAutoFit/>
          </a:bodyPr>
          <a:lstStyle/>
          <a:p>
            <a:pPr marL="342900" indent="-342900">
              <a:buFont typeface="Arial" panose="020B0604020202020204" pitchFamily="34" charset="0"/>
              <a:buChar char="•"/>
            </a:pPr>
            <a:r>
              <a:rPr lang="en-GB" sz="2400" dirty="0"/>
              <a:t>A </a:t>
            </a:r>
            <a:r>
              <a:rPr lang="en-GB" sz="2800" b="1" dirty="0"/>
              <a:t>Vision statement </a:t>
            </a:r>
            <a:r>
              <a:rPr lang="en-GB" sz="2400" dirty="0"/>
              <a:t>describes Organization’s desired position for their business in future. </a:t>
            </a:r>
          </a:p>
          <a:p>
            <a:pPr marL="342900" indent="-342900">
              <a:buFont typeface="Arial" panose="020B0604020202020204" pitchFamily="34" charset="0"/>
              <a:buChar char="•"/>
            </a:pPr>
            <a:r>
              <a:rPr lang="en-GB" sz="2400" dirty="0"/>
              <a:t>Where they want to be in future</a:t>
            </a:r>
          </a:p>
          <a:p>
            <a:pPr marL="342900" indent="-342900">
              <a:buFont typeface="Arial" panose="020B0604020202020204" pitchFamily="34" charset="0"/>
              <a:buChar char="•"/>
            </a:pPr>
            <a:r>
              <a:rPr lang="en-GB" sz="2400" dirty="0"/>
              <a:t>Its all about Long term Goals</a:t>
            </a:r>
          </a:p>
          <a:p>
            <a:endParaRPr lang="en-GB" dirty="0"/>
          </a:p>
        </p:txBody>
      </p:sp>
    </p:spTree>
    <p:extLst>
      <p:ext uri="{BB962C8B-B14F-4D97-AF65-F5344CB8AC3E}">
        <p14:creationId xmlns:p14="http://schemas.microsoft.com/office/powerpoint/2010/main" val="3535098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916832"/>
            <a:ext cx="8229600" cy="1143000"/>
          </a:xfrm>
        </p:spPr>
        <p:txBody>
          <a:bodyPr>
            <a:normAutofit fontScale="90000"/>
          </a:bodyPr>
          <a:lstStyle/>
          <a:p>
            <a:pPr algn="l"/>
            <a:r>
              <a:rPr lang="en-GB" b="1" i="1" cap="all" dirty="0"/>
              <a:t>vision statements examples</a:t>
            </a:r>
            <a:br>
              <a:rPr lang="en-GB" b="1" i="1" cap="all" dirty="0"/>
            </a:br>
            <a:br>
              <a:rPr lang="en-GB" b="1" i="1" cap="all" dirty="0"/>
            </a:br>
            <a:r>
              <a:rPr lang="en-GB" b="1" i="1" cap="all" dirty="0"/>
              <a:t>PEPSICO</a:t>
            </a:r>
            <a:br>
              <a:rPr lang="en-GB" sz="3100" b="1" i="1" cap="all" dirty="0"/>
            </a:br>
            <a:r>
              <a:rPr lang="en-GB" sz="3100" b="1" i="1" cap="all" dirty="0"/>
              <a:t>BE THE GLOBAL LEADER IN CONVENIENT FOODS AND BEVERAGES BY WINNING WITH PURPOSE</a:t>
            </a:r>
            <a:br>
              <a:rPr lang="en-GB" cap="all" dirty="0"/>
            </a:br>
            <a:endParaRPr lang="en-GB" dirty="0"/>
          </a:p>
        </p:txBody>
      </p:sp>
      <p:sp>
        <p:nvSpPr>
          <p:cNvPr id="3" name="Title 1"/>
          <p:cNvSpPr txBox="1">
            <a:spLocks/>
          </p:cNvSpPr>
          <p:nvPr/>
        </p:nvSpPr>
        <p:spPr>
          <a:xfrm>
            <a:off x="741900" y="4077072"/>
            <a:ext cx="7862548" cy="1656184"/>
          </a:xfrm>
          <a:prstGeom prst="rect">
            <a:avLst/>
          </a:prstGeom>
        </p:spPr>
        <p:txBody>
          <a:bodyPr vert="horz" lIns="91440" tIns="45720" rIns="91440" bIns="45720" rtlCol="0" anchor="ctr">
            <a:normAutofit fontScale="7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5700" b="1" i="1" cap="all" dirty="0"/>
              <a:t>MEEZAN </a:t>
            </a:r>
            <a:r>
              <a:rPr lang="en-GB" sz="5700" b="1" i="1" cap="all" dirty="0" err="1"/>
              <a:t>bANK</a:t>
            </a:r>
            <a:endParaRPr lang="en-GB" sz="5700" b="1" i="1" cap="all" dirty="0"/>
          </a:p>
          <a:p>
            <a:pPr algn="l"/>
            <a:r>
              <a:rPr lang="en-GB" sz="4000" b="1" i="1" cap="all" dirty="0"/>
              <a:t>Establish Islamic banking as banking of first choice</a:t>
            </a:r>
            <a:br>
              <a:rPr lang="en-GB" cap="all" dirty="0"/>
            </a:br>
            <a:endParaRPr lang="en-GB" dirty="0"/>
          </a:p>
        </p:txBody>
      </p:sp>
    </p:spTree>
    <p:extLst>
      <p:ext uri="{BB962C8B-B14F-4D97-AF65-F5344CB8AC3E}">
        <p14:creationId xmlns:p14="http://schemas.microsoft.com/office/powerpoint/2010/main" val="1557338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Examples of Strategic Objectives</a:t>
            </a:r>
          </a:p>
        </p:txBody>
      </p:sp>
      <p:sp>
        <p:nvSpPr>
          <p:cNvPr id="4" name="Title 1"/>
          <p:cNvSpPr txBox="1">
            <a:spLocks/>
          </p:cNvSpPr>
          <p:nvPr/>
        </p:nvSpPr>
        <p:spPr>
          <a:xfrm>
            <a:off x="467544" y="1772816"/>
            <a:ext cx="8229600" cy="4248472"/>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lgn="l">
              <a:buFont typeface="Arial" panose="020B0604020202020204" pitchFamily="34" charset="0"/>
              <a:buChar char="•"/>
            </a:pPr>
            <a:r>
              <a:rPr lang="en-GB" sz="2800" dirty="0"/>
              <a:t>Enter new markets</a:t>
            </a:r>
          </a:p>
          <a:p>
            <a:pPr marL="457200" indent="-457200" algn="l">
              <a:buFont typeface="Arial" panose="020B0604020202020204" pitchFamily="34" charset="0"/>
              <a:buChar char="•"/>
            </a:pPr>
            <a:r>
              <a:rPr lang="en-GB" sz="2800" dirty="0"/>
              <a:t>Create and launch new product</a:t>
            </a:r>
          </a:p>
          <a:p>
            <a:pPr marL="457200" indent="-457200" algn="l">
              <a:buFont typeface="Arial" panose="020B0604020202020204" pitchFamily="34" charset="0"/>
              <a:buChar char="•"/>
            </a:pPr>
            <a:r>
              <a:rPr lang="en-GB" sz="2800" dirty="0"/>
              <a:t>Company’s sales growth</a:t>
            </a:r>
          </a:p>
          <a:p>
            <a:pPr marL="457200" indent="-457200" algn="l">
              <a:buFont typeface="Arial" panose="020B0604020202020204" pitchFamily="34" charset="0"/>
              <a:buChar char="•"/>
            </a:pPr>
            <a:r>
              <a:rPr lang="en-GB" sz="2800" dirty="0"/>
              <a:t>Gain market position</a:t>
            </a:r>
          </a:p>
          <a:p>
            <a:pPr marL="457200" indent="-457200" algn="l">
              <a:buFont typeface="Arial" panose="020B0604020202020204" pitchFamily="34" charset="0"/>
              <a:buChar char="•"/>
            </a:pPr>
            <a:r>
              <a:rPr lang="en-GB" sz="2800" dirty="0"/>
              <a:t>Return on Assets/Investment</a:t>
            </a:r>
          </a:p>
          <a:p>
            <a:pPr marL="457200" indent="-457200" algn="l">
              <a:buFont typeface="Arial" panose="020B0604020202020204" pitchFamily="34" charset="0"/>
              <a:buChar char="•"/>
            </a:pPr>
            <a:r>
              <a:rPr lang="en-GB" sz="2800" dirty="0"/>
              <a:t>Shareholders dividend</a:t>
            </a:r>
          </a:p>
          <a:p>
            <a:pPr marL="457200" indent="-457200" algn="l">
              <a:buFont typeface="Arial" panose="020B0604020202020204" pitchFamily="34" charset="0"/>
              <a:buChar char="•"/>
            </a:pPr>
            <a:endParaRPr lang="en-GB" sz="2800" dirty="0"/>
          </a:p>
          <a:p>
            <a:pPr marL="457200" indent="-457200" algn="l">
              <a:buFont typeface="Arial" panose="020B0604020202020204" pitchFamily="34" charset="0"/>
              <a:buChar char="•"/>
            </a:pPr>
            <a:endParaRPr lang="en-GB" sz="2800" dirty="0"/>
          </a:p>
          <a:p>
            <a:pPr marL="457200" indent="-457200" algn="l">
              <a:buFont typeface="Arial" panose="020B0604020202020204" pitchFamily="34" charset="0"/>
              <a:buChar char="•"/>
            </a:pPr>
            <a:endParaRPr lang="en-GB" sz="2800" dirty="0"/>
          </a:p>
          <a:p>
            <a:pPr algn="l"/>
            <a:r>
              <a:rPr lang="en-GB" sz="3000" b="1" dirty="0"/>
              <a:t>KPIs examples for ‘Enter new Market’</a:t>
            </a:r>
          </a:p>
          <a:p>
            <a:pPr marL="457200" indent="-457200" algn="l">
              <a:buFont typeface="Arial" panose="020B0604020202020204" pitchFamily="34" charset="0"/>
              <a:buChar char="•"/>
            </a:pPr>
            <a:r>
              <a:rPr lang="en-GB" sz="2800" dirty="0"/>
              <a:t>Enter X, Y, Z markets by Date</a:t>
            </a:r>
          </a:p>
          <a:p>
            <a:pPr marL="457200" indent="-457200" algn="l">
              <a:buFont typeface="Arial" panose="020B0604020202020204" pitchFamily="34" charset="0"/>
              <a:buChar char="•"/>
            </a:pPr>
            <a:r>
              <a:rPr lang="en-GB" sz="2800" dirty="0"/>
              <a:t>20 total regional markets by date.</a:t>
            </a:r>
          </a:p>
          <a:p>
            <a:pPr marL="457200" indent="-457200" algn="l">
              <a:buFont typeface="Arial" panose="020B0604020202020204" pitchFamily="34" charset="0"/>
              <a:buChar char="•"/>
            </a:pPr>
            <a:r>
              <a:rPr lang="en-GB" sz="2800" dirty="0"/>
              <a:t>20% market share in each new market.</a:t>
            </a:r>
          </a:p>
        </p:txBody>
      </p:sp>
    </p:spTree>
    <p:extLst>
      <p:ext uri="{BB962C8B-B14F-4D97-AF65-F5344CB8AC3E}">
        <p14:creationId xmlns:p14="http://schemas.microsoft.com/office/powerpoint/2010/main" val="909861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5505" y="991264"/>
            <a:ext cx="7863840" cy="873957"/>
          </a:xfrm>
          <a:prstGeom prst="rect">
            <a:avLst/>
          </a:prstGeom>
        </p:spPr>
        <p:txBody>
          <a:bodyPr vert="horz" wrap="square" lIns="0" tIns="12065" rIns="0" bIns="0" rtlCol="0">
            <a:spAutoFit/>
          </a:bodyPr>
          <a:lstStyle/>
          <a:p>
            <a:pPr marL="12700" algn="l">
              <a:lnSpc>
                <a:spcPct val="100000"/>
              </a:lnSpc>
              <a:spcBef>
                <a:spcPts val="95"/>
              </a:spcBef>
            </a:pPr>
            <a:r>
              <a:rPr sz="2800" b="1" spc="-10" dirty="0"/>
              <a:t>The Relationships </a:t>
            </a:r>
            <a:r>
              <a:rPr sz="2800" b="1" spc="-5" dirty="0"/>
              <a:t>among </a:t>
            </a:r>
            <a:r>
              <a:rPr sz="2800" b="1" spc="-10" dirty="0"/>
              <a:t>Portfolios, </a:t>
            </a:r>
            <a:r>
              <a:rPr sz="2800" b="1" spc="-15" dirty="0"/>
              <a:t>Programs, </a:t>
            </a:r>
            <a:r>
              <a:rPr sz="2800" b="1" spc="-5" dirty="0"/>
              <a:t>and</a:t>
            </a:r>
            <a:r>
              <a:rPr sz="2800" b="1" spc="125" dirty="0"/>
              <a:t> </a:t>
            </a:r>
            <a:r>
              <a:rPr sz="2800" b="1" spc="-10" dirty="0"/>
              <a:t>Projects</a:t>
            </a:r>
            <a:endParaRPr sz="2800" b="1" dirty="0"/>
          </a:p>
        </p:txBody>
      </p:sp>
      <p:sp>
        <p:nvSpPr>
          <p:cNvPr id="4" name="object 4"/>
          <p:cNvSpPr txBox="1"/>
          <p:nvPr/>
        </p:nvSpPr>
        <p:spPr>
          <a:xfrm>
            <a:off x="1658492" y="6499580"/>
            <a:ext cx="5838190" cy="348615"/>
          </a:xfrm>
          <a:prstGeom prst="rect">
            <a:avLst/>
          </a:prstGeom>
        </p:spPr>
        <p:txBody>
          <a:bodyPr vert="horz" wrap="square" lIns="0" tIns="0" rIns="0" bIns="0" rtlCol="0">
            <a:spAutoFit/>
          </a:bodyPr>
          <a:lstStyle/>
          <a:p>
            <a:pPr algn="ctr">
              <a:lnSpc>
                <a:spcPts val="910"/>
              </a:lnSpc>
            </a:pPr>
            <a:r>
              <a:rPr sz="850" b="1" spc="-5" dirty="0">
                <a:solidFill>
                  <a:srgbClr val="FFFFFF"/>
                </a:solidFill>
                <a:latin typeface="Calibri"/>
                <a:cs typeface="Calibri"/>
              </a:rPr>
              <a:t>PMI, PMP, PMBOK </a:t>
            </a:r>
            <a:r>
              <a:rPr sz="850" b="1" dirty="0">
                <a:solidFill>
                  <a:srgbClr val="FFFFFF"/>
                </a:solidFill>
                <a:latin typeface="Calibri"/>
                <a:cs typeface="Calibri"/>
              </a:rPr>
              <a:t>and the </a:t>
            </a:r>
            <a:r>
              <a:rPr sz="850" b="1" spc="-5" dirty="0">
                <a:solidFill>
                  <a:srgbClr val="FFFFFF"/>
                </a:solidFill>
                <a:latin typeface="Calibri"/>
                <a:cs typeface="Calibri"/>
              </a:rPr>
              <a:t>PMI Registered Education Provider logo are registered </a:t>
            </a:r>
            <a:r>
              <a:rPr sz="850" b="1" dirty="0">
                <a:solidFill>
                  <a:srgbClr val="FFFFFF"/>
                </a:solidFill>
                <a:latin typeface="Calibri"/>
                <a:cs typeface="Calibri"/>
              </a:rPr>
              <a:t>marks </a:t>
            </a:r>
            <a:r>
              <a:rPr sz="850" b="1" spc="-5" dirty="0">
                <a:solidFill>
                  <a:srgbClr val="FFFFFF"/>
                </a:solidFill>
                <a:latin typeface="Calibri"/>
                <a:cs typeface="Calibri"/>
              </a:rPr>
              <a:t>of </a:t>
            </a:r>
            <a:r>
              <a:rPr sz="850" b="1" dirty="0">
                <a:solidFill>
                  <a:srgbClr val="FFFFFF"/>
                </a:solidFill>
                <a:latin typeface="Calibri"/>
                <a:cs typeface="Calibri"/>
              </a:rPr>
              <a:t>the </a:t>
            </a:r>
            <a:r>
              <a:rPr sz="850" b="1" spc="-5" dirty="0">
                <a:solidFill>
                  <a:srgbClr val="FFFFFF"/>
                </a:solidFill>
                <a:latin typeface="Calibri"/>
                <a:cs typeface="Calibri"/>
              </a:rPr>
              <a:t>Project Management Institute,</a:t>
            </a:r>
            <a:r>
              <a:rPr sz="850" b="1" spc="-70" dirty="0">
                <a:solidFill>
                  <a:srgbClr val="FFFFFF"/>
                </a:solidFill>
                <a:latin typeface="Calibri"/>
                <a:cs typeface="Calibri"/>
              </a:rPr>
              <a:t> </a:t>
            </a:r>
            <a:r>
              <a:rPr sz="850" b="1" dirty="0">
                <a:solidFill>
                  <a:srgbClr val="FFFFFF"/>
                </a:solidFill>
                <a:latin typeface="Calibri"/>
                <a:cs typeface="Calibri"/>
              </a:rPr>
              <a:t>Inc.</a:t>
            </a:r>
            <a:endParaRPr sz="850">
              <a:latin typeface="Calibri"/>
              <a:cs typeface="Calibri"/>
            </a:endParaRPr>
          </a:p>
          <a:p>
            <a:pPr marR="1905" algn="ctr">
              <a:lnSpc>
                <a:spcPct val="100000"/>
              </a:lnSpc>
              <a:spcBef>
                <a:spcPts val="359"/>
              </a:spcBef>
            </a:pPr>
            <a:r>
              <a:rPr sz="1100" dirty="0">
                <a:solidFill>
                  <a:srgbClr val="404040"/>
                </a:solidFill>
                <a:latin typeface="Calibri"/>
                <a:cs typeface="Calibri"/>
              </a:rPr>
              <a:t>© </a:t>
            </a:r>
            <a:r>
              <a:rPr sz="1100" spc="-5" dirty="0">
                <a:solidFill>
                  <a:srgbClr val="404040"/>
                </a:solidFill>
                <a:latin typeface="Calibri"/>
                <a:cs typeface="Calibri"/>
              </a:rPr>
              <a:t>All rights</a:t>
            </a:r>
            <a:r>
              <a:rPr sz="1100" spc="-30" dirty="0">
                <a:solidFill>
                  <a:srgbClr val="404040"/>
                </a:solidFill>
                <a:latin typeface="Calibri"/>
                <a:cs typeface="Calibri"/>
              </a:rPr>
              <a:t> </a:t>
            </a:r>
            <a:r>
              <a:rPr sz="1100" dirty="0">
                <a:solidFill>
                  <a:srgbClr val="404040"/>
                </a:solidFill>
                <a:latin typeface="Calibri"/>
                <a:cs typeface="Calibri"/>
              </a:rPr>
              <a:t>reserved</a:t>
            </a:r>
            <a:endParaRPr sz="1100">
              <a:latin typeface="Calibri"/>
              <a:cs typeface="Calibri"/>
            </a:endParaRPr>
          </a:p>
        </p:txBody>
      </p:sp>
      <p:sp>
        <p:nvSpPr>
          <p:cNvPr id="5" name="object 5"/>
          <p:cNvSpPr txBox="1"/>
          <p:nvPr/>
        </p:nvSpPr>
        <p:spPr>
          <a:xfrm>
            <a:off x="78739" y="6682537"/>
            <a:ext cx="1372235" cy="165735"/>
          </a:xfrm>
          <a:prstGeom prst="rect">
            <a:avLst/>
          </a:prstGeom>
        </p:spPr>
        <p:txBody>
          <a:bodyPr vert="horz" wrap="square" lIns="0" tIns="0" rIns="0" bIns="0" rtlCol="0">
            <a:spAutoFit/>
          </a:bodyPr>
          <a:lstStyle/>
          <a:p>
            <a:pPr marL="12700">
              <a:lnSpc>
                <a:spcPts val="1150"/>
              </a:lnSpc>
            </a:pPr>
            <a:r>
              <a:rPr sz="1100" spc="-5" dirty="0">
                <a:solidFill>
                  <a:srgbClr val="404040"/>
                </a:solidFill>
                <a:latin typeface="Calibri"/>
                <a:cs typeface="Calibri"/>
                <a:hlinkClick r:id="rId2"/>
              </a:rPr>
              <a:t>www.3foldtraining.com</a:t>
            </a:r>
            <a:endParaRPr sz="1100">
              <a:latin typeface="Calibri"/>
              <a:cs typeface="Calibri"/>
            </a:endParaRP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latin typeface="Calibri"/>
                <a:cs typeface="Calibri"/>
              </a:rPr>
              <a:t>7</a:t>
            </a:fld>
            <a:endParaRPr sz="1100">
              <a:latin typeface="Calibri"/>
              <a:cs typeface="Calibri"/>
            </a:endParaRPr>
          </a:p>
        </p:txBody>
      </p:sp>
      <p:sp>
        <p:nvSpPr>
          <p:cNvPr id="3" name="object 3"/>
          <p:cNvSpPr txBox="1"/>
          <p:nvPr/>
        </p:nvSpPr>
        <p:spPr>
          <a:xfrm>
            <a:off x="459740" y="1994626"/>
            <a:ext cx="7534909" cy="2846933"/>
          </a:xfrm>
          <a:prstGeom prst="rect">
            <a:avLst/>
          </a:prstGeom>
        </p:spPr>
        <p:txBody>
          <a:bodyPr vert="horz" wrap="square" lIns="0" tIns="88900" rIns="0" bIns="0" rtlCol="0">
            <a:spAutoFit/>
          </a:bodyPr>
          <a:lstStyle/>
          <a:p>
            <a:pPr marL="355600" indent="-342900">
              <a:lnSpc>
                <a:spcPct val="100000"/>
              </a:lnSpc>
              <a:spcBef>
                <a:spcPts val="700"/>
              </a:spcBef>
              <a:buFont typeface="Wingdings"/>
              <a:buChar char=""/>
              <a:tabLst>
                <a:tab pos="354965" algn="l"/>
                <a:tab pos="355600" algn="l"/>
              </a:tabLst>
            </a:pPr>
            <a:r>
              <a:rPr sz="2400" b="1" spc="-10" dirty="0">
                <a:latin typeface="Calibri"/>
                <a:cs typeface="Calibri"/>
              </a:rPr>
              <a:t>Programs:</a:t>
            </a:r>
            <a:endParaRPr sz="2400" dirty="0">
              <a:latin typeface="Calibri"/>
              <a:cs typeface="Calibri"/>
            </a:endParaRPr>
          </a:p>
          <a:p>
            <a:pPr marL="756285" lvl="1" indent="-286385">
              <a:lnSpc>
                <a:spcPct val="100000"/>
              </a:lnSpc>
              <a:spcBef>
                <a:spcPts val="550"/>
              </a:spcBef>
              <a:buFont typeface="Arial"/>
              <a:buChar char="•"/>
              <a:tabLst>
                <a:tab pos="756285" algn="l"/>
                <a:tab pos="756920" algn="l"/>
              </a:tabLst>
            </a:pPr>
            <a:r>
              <a:rPr sz="2200" spc="-30" dirty="0">
                <a:latin typeface="Calibri"/>
                <a:cs typeface="Calibri"/>
              </a:rPr>
              <a:t>Refers </a:t>
            </a:r>
            <a:r>
              <a:rPr sz="2200" spc="-20" dirty="0">
                <a:latin typeface="Calibri"/>
                <a:cs typeface="Calibri"/>
              </a:rPr>
              <a:t>to </a:t>
            </a:r>
            <a:r>
              <a:rPr sz="2200" spc="-15" dirty="0">
                <a:latin typeface="Calibri"/>
                <a:cs typeface="Calibri"/>
              </a:rPr>
              <a:t>group </a:t>
            </a:r>
            <a:r>
              <a:rPr sz="2200" dirty="0">
                <a:latin typeface="Calibri"/>
                <a:cs typeface="Calibri"/>
              </a:rPr>
              <a:t>of </a:t>
            </a:r>
            <a:r>
              <a:rPr sz="2200" spc="-10" dirty="0">
                <a:latin typeface="Calibri"/>
                <a:cs typeface="Calibri"/>
              </a:rPr>
              <a:t>Projects </a:t>
            </a:r>
            <a:r>
              <a:rPr sz="2200" spc="-5" dirty="0">
                <a:latin typeface="Calibri"/>
                <a:cs typeface="Calibri"/>
              </a:rPr>
              <a:t>or</a:t>
            </a:r>
            <a:r>
              <a:rPr sz="2200" spc="90" dirty="0">
                <a:latin typeface="Calibri"/>
                <a:cs typeface="Calibri"/>
              </a:rPr>
              <a:t> </a:t>
            </a:r>
            <a:r>
              <a:rPr sz="2200" spc="-10" dirty="0">
                <a:latin typeface="Calibri"/>
                <a:cs typeface="Calibri"/>
              </a:rPr>
              <a:t>Subprojects</a:t>
            </a:r>
            <a:endParaRPr sz="2200" dirty="0">
              <a:latin typeface="Calibri"/>
              <a:cs typeface="Calibri"/>
            </a:endParaRPr>
          </a:p>
          <a:p>
            <a:pPr marL="355600" indent="-342900">
              <a:lnSpc>
                <a:spcPct val="100000"/>
              </a:lnSpc>
              <a:spcBef>
                <a:spcPts val="560"/>
              </a:spcBef>
              <a:buFont typeface="Wingdings"/>
              <a:buChar char=""/>
              <a:tabLst>
                <a:tab pos="354965" algn="l"/>
                <a:tab pos="355600" algn="l"/>
              </a:tabLst>
            </a:pPr>
            <a:r>
              <a:rPr sz="2400" b="1" spc="-10" dirty="0">
                <a:latin typeface="Calibri"/>
                <a:cs typeface="Calibri"/>
              </a:rPr>
              <a:t>Portfolio:</a:t>
            </a:r>
            <a:endParaRPr sz="2400" dirty="0">
              <a:latin typeface="Calibri"/>
              <a:cs typeface="Calibri"/>
            </a:endParaRPr>
          </a:p>
          <a:p>
            <a:pPr marL="756285" lvl="1" indent="-286385">
              <a:lnSpc>
                <a:spcPct val="100000"/>
              </a:lnSpc>
              <a:spcBef>
                <a:spcPts val="545"/>
              </a:spcBef>
              <a:buFont typeface="Arial"/>
              <a:buChar char="•"/>
              <a:tabLst>
                <a:tab pos="756285" algn="l"/>
                <a:tab pos="756920" algn="l"/>
              </a:tabLst>
            </a:pPr>
            <a:r>
              <a:rPr sz="2200" spc="-5" dirty="0">
                <a:latin typeface="Calibri"/>
                <a:cs typeface="Calibri"/>
              </a:rPr>
              <a:t>Collection of </a:t>
            </a:r>
            <a:r>
              <a:rPr sz="2200" spc="-15" dirty="0">
                <a:latin typeface="Calibri"/>
                <a:cs typeface="Calibri"/>
              </a:rPr>
              <a:t>Programs, </a:t>
            </a:r>
            <a:r>
              <a:rPr sz="2200" spc="-10" dirty="0">
                <a:latin typeface="Calibri"/>
                <a:cs typeface="Calibri"/>
              </a:rPr>
              <a:t>Projects, sub</a:t>
            </a:r>
            <a:r>
              <a:rPr sz="2200" spc="30" dirty="0">
                <a:latin typeface="Calibri"/>
                <a:cs typeface="Calibri"/>
              </a:rPr>
              <a:t> </a:t>
            </a:r>
            <a:r>
              <a:rPr sz="2200" spc="-10" dirty="0">
                <a:latin typeface="Calibri"/>
                <a:cs typeface="Calibri"/>
              </a:rPr>
              <a:t>portfolios</a:t>
            </a:r>
            <a:endParaRPr sz="2200" dirty="0">
              <a:latin typeface="Calibri"/>
              <a:cs typeface="Calibri"/>
            </a:endParaRPr>
          </a:p>
          <a:p>
            <a:pPr marL="355600" marR="5080" indent="-342900">
              <a:lnSpc>
                <a:spcPct val="100000"/>
              </a:lnSpc>
              <a:spcBef>
                <a:spcPts val="550"/>
              </a:spcBef>
              <a:buFont typeface="Wingdings"/>
              <a:buChar char=""/>
              <a:tabLst>
                <a:tab pos="354965" algn="l"/>
                <a:tab pos="355600" algn="l"/>
              </a:tabLst>
            </a:pPr>
            <a:r>
              <a:rPr sz="2400" b="1" spc="-10" dirty="0">
                <a:latin typeface="Calibri"/>
                <a:cs typeface="Calibri"/>
              </a:rPr>
              <a:t>Organizational </a:t>
            </a:r>
            <a:r>
              <a:rPr sz="2400" b="1" spc="-5" dirty="0">
                <a:latin typeface="Calibri"/>
                <a:cs typeface="Calibri"/>
              </a:rPr>
              <a:t>planning </a:t>
            </a:r>
            <a:r>
              <a:rPr sz="2200" dirty="0">
                <a:latin typeface="Calibri"/>
                <a:cs typeface="Calibri"/>
              </a:rPr>
              <a:t>impacts the </a:t>
            </a:r>
            <a:r>
              <a:rPr sz="2200" spc="-10" dirty="0">
                <a:latin typeface="Calibri"/>
                <a:cs typeface="Calibri"/>
              </a:rPr>
              <a:t>projects by </a:t>
            </a:r>
            <a:r>
              <a:rPr sz="2200" dirty="0">
                <a:latin typeface="Calibri"/>
                <a:cs typeface="Calibri"/>
              </a:rPr>
              <a:t>means </a:t>
            </a:r>
            <a:r>
              <a:rPr sz="2200" spc="-5" dirty="0">
                <a:latin typeface="Calibri"/>
                <a:cs typeface="Calibri"/>
              </a:rPr>
              <a:t>of  </a:t>
            </a:r>
            <a:r>
              <a:rPr sz="2200" spc="-10" dirty="0">
                <a:latin typeface="Calibri"/>
                <a:cs typeface="Calibri"/>
              </a:rPr>
              <a:t>project prioritization </a:t>
            </a:r>
            <a:r>
              <a:rPr sz="2200" spc="-5" dirty="0">
                <a:latin typeface="Calibri"/>
                <a:cs typeface="Calibri"/>
              </a:rPr>
              <a:t>based on </a:t>
            </a:r>
            <a:r>
              <a:rPr sz="2200" dirty="0">
                <a:latin typeface="Calibri"/>
                <a:cs typeface="Calibri"/>
              </a:rPr>
              <a:t>risk, </a:t>
            </a:r>
            <a:r>
              <a:rPr sz="2200" spc="-5" dirty="0">
                <a:latin typeface="Calibri"/>
                <a:cs typeface="Calibri"/>
              </a:rPr>
              <a:t>funding and other  </a:t>
            </a:r>
            <a:r>
              <a:rPr sz="2200" spc="-10" dirty="0">
                <a:latin typeface="Calibri"/>
                <a:cs typeface="Calibri"/>
              </a:rPr>
              <a:t>considerations</a:t>
            </a:r>
            <a:endParaRPr sz="2200" dirty="0">
              <a:latin typeface="Calibri"/>
              <a:cs typeface="Calibri"/>
            </a:endParaRPr>
          </a:p>
        </p:txBody>
      </p:sp>
    </p:spTree>
    <p:extLst>
      <p:ext uri="{BB962C8B-B14F-4D97-AF65-F5344CB8AC3E}">
        <p14:creationId xmlns:p14="http://schemas.microsoft.com/office/powerpoint/2010/main" val="3587132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rotWithShape="1">
          <a:blip r:embed="rId2"/>
          <a:srcRect l="7003" t="20601" r="34408" b="19000"/>
          <a:stretch/>
        </p:blipFill>
        <p:spPr>
          <a:xfrm>
            <a:off x="35496" y="116632"/>
            <a:ext cx="8928992" cy="6689898"/>
          </a:xfrm>
          <a:prstGeom prst="rect">
            <a:avLst/>
          </a:prstGeom>
        </p:spPr>
      </p:pic>
    </p:spTree>
    <p:extLst>
      <p:ext uri="{BB962C8B-B14F-4D97-AF65-F5344CB8AC3E}">
        <p14:creationId xmlns:p14="http://schemas.microsoft.com/office/powerpoint/2010/main" val="1992568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p:cNvPicPr>
            <a:picLocks noChangeAspect="1"/>
          </p:cNvPicPr>
          <p:nvPr/>
        </p:nvPicPr>
        <p:blipFill rotWithShape="1">
          <a:blip r:embed="rId2"/>
          <a:srcRect l="10396" t="27719" r="34323" b="20201"/>
          <a:stretch/>
        </p:blipFill>
        <p:spPr>
          <a:xfrm>
            <a:off x="0" y="0"/>
            <a:ext cx="9113585" cy="6741368"/>
          </a:xfrm>
          <a:prstGeom prst="rect">
            <a:avLst/>
          </a:prstGeom>
        </p:spPr>
      </p:pic>
    </p:spTree>
    <p:extLst>
      <p:ext uri="{BB962C8B-B14F-4D97-AF65-F5344CB8AC3E}">
        <p14:creationId xmlns:p14="http://schemas.microsoft.com/office/powerpoint/2010/main" val="236816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9552" y="332656"/>
            <a:ext cx="8349410" cy="5903033"/>
          </a:xfrm>
          <a:prstGeom prst="rect">
            <a:avLst/>
          </a:prstGeom>
        </p:spPr>
      </p:pic>
    </p:spTree>
    <p:extLst>
      <p:ext uri="{BB962C8B-B14F-4D97-AF65-F5344CB8AC3E}">
        <p14:creationId xmlns:p14="http://schemas.microsoft.com/office/powerpoint/2010/main" val="2370659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958926"/>
            <a:ext cx="4684132" cy="627736"/>
          </a:xfrm>
          <a:prstGeom prst="rect">
            <a:avLst/>
          </a:prstGeom>
        </p:spPr>
        <p:txBody>
          <a:bodyPr vert="horz" wrap="square" lIns="0" tIns="12065" rIns="0" bIns="0" rtlCol="0">
            <a:spAutoFit/>
          </a:bodyPr>
          <a:lstStyle/>
          <a:p>
            <a:pPr marL="12700" algn="l">
              <a:lnSpc>
                <a:spcPct val="100000"/>
              </a:lnSpc>
              <a:spcBef>
                <a:spcPts val="95"/>
              </a:spcBef>
            </a:pPr>
            <a:r>
              <a:rPr sz="4000" spc="-15" dirty="0"/>
              <a:t>Portfolio</a:t>
            </a:r>
            <a:r>
              <a:rPr sz="4000" spc="-25" dirty="0"/>
              <a:t> </a:t>
            </a:r>
            <a:r>
              <a:rPr sz="4000" spc="-15" dirty="0"/>
              <a:t>Management</a:t>
            </a:r>
          </a:p>
        </p:txBody>
      </p:sp>
      <p:sp>
        <p:nvSpPr>
          <p:cNvPr id="4" name="object 4"/>
          <p:cNvSpPr txBox="1"/>
          <p:nvPr/>
        </p:nvSpPr>
        <p:spPr>
          <a:xfrm>
            <a:off x="1658492" y="6499580"/>
            <a:ext cx="5838190" cy="348615"/>
          </a:xfrm>
          <a:prstGeom prst="rect">
            <a:avLst/>
          </a:prstGeom>
        </p:spPr>
        <p:txBody>
          <a:bodyPr vert="horz" wrap="square" lIns="0" tIns="0" rIns="0" bIns="0" rtlCol="0">
            <a:spAutoFit/>
          </a:bodyPr>
          <a:lstStyle/>
          <a:p>
            <a:pPr algn="ctr">
              <a:lnSpc>
                <a:spcPts val="910"/>
              </a:lnSpc>
            </a:pPr>
            <a:r>
              <a:rPr sz="850" b="1" spc="-5" dirty="0">
                <a:solidFill>
                  <a:srgbClr val="FFFFFF"/>
                </a:solidFill>
                <a:latin typeface="Calibri"/>
                <a:cs typeface="Calibri"/>
              </a:rPr>
              <a:t>PMI, PMP, PMBOK </a:t>
            </a:r>
            <a:r>
              <a:rPr sz="850" b="1" dirty="0">
                <a:solidFill>
                  <a:srgbClr val="FFFFFF"/>
                </a:solidFill>
                <a:latin typeface="Calibri"/>
                <a:cs typeface="Calibri"/>
              </a:rPr>
              <a:t>and the </a:t>
            </a:r>
            <a:r>
              <a:rPr sz="850" b="1" spc="-5" dirty="0">
                <a:solidFill>
                  <a:srgbClr val="FFFFFF"/>
                </a:solidFill>
                <a:latin typeface="Calibri"/>
                <a:cs typeface="Calibri"/>
              </a:rPr>
              <a:t>PMI Registered Education Provider logo are registered </a:t>
            </a:r>
            <a:r>
              <a:rPr sz="850" b="1" dirty="0">
                <a:solidFill>
                  <a:srgbClr val="FFFFFF"/>
                </a:solidFill>
                <a:latin typeface="Calibri"/>
                <a:cs typeface="Calibri"/>
              </a:rPr>
              <a:t>marks </a:t>
            </a:r>
            <a:r>
              <a:rPr sz="850" b="1" spc="-5" dirty="0">
                <a:solidFill>
                  <a:srgbClr val="FFFFFF"/>
                </a:solidFill>
                <a:latin typeface="Calibri"/>
                <a:cs typeface="Calibri"/>
              </a:rPr>
              <a:t>of </a:t>
            </a:r>
            <a:r>
              <a:rPr sz="850" b="1" dirty="0">
                <a:solidFill>
                  <a:srgbClr val="FFFFFF"/>
                </a:solidFill>
                <a:latin typeface="Calibri"/>
                <a:cs typeface="Calibri"/>
              </a:rPr>
              <a:t>the </a:t>
            </a:r>
            <a:r>
              <a:rPr sz="850" b="1" spc="-5" dirty="0">
                <a:solidFill>
                  <a:srgbClr val="FFFFFF"/>
                </a:solidFill>
                <a:latin typeface="Calibri"/>
                <a:cs typeface="Calibri"/>
              </a:rPr>
              <a:t>Project Management Institute,</a:t>
            </a:r>
            <a:r>
              <a:rPr sz="850" b="1" spc="-70" dirty="0">
                <a:solidFill>
                  <a:srgbClr val="FFFFFF"/>
                </a:solidFill>
                <a:latin typeface="Calibri"/>
                <a:cs typeface="Calibri"/>
              </a:rPr>
              <a:t> </a:t>
            </a:r>
            <a:r>
              <a:rPr sz="850" b="1" dirty="0">
                <a:solidFill>
                  <a:srgbClr val="FFFFFF"/>
                </a:solidFill>
                <a:latin typeface="Calibri"/>
                <a:cs typeface="Calibri"/>
              </a:rPr>
              <a:t>Inc.</a:t>
            </a:r>
            <a:endParaRPr sz="850">
              <a:latin typeface="Calibri"/>
              <a:cs typeface="Calibri"/>
            </a:endParaRPr>
          </a:p>
          <a:p>
            <a:pPr marR="1905" algn="ctr">
              <a:lnSpc>
                <a:spcPct val="100000"/>
              </a:lnSpc>
              <a:spcBef>
                <a:spcPts val="359"/>
              </a:spcBef>
            </a:pPr>
            <a:r>
              <a:rPr sz="1100" dirty="0">
                <a:solidFill>
                  <a:srgbClr val="404040"/>
                </a:solidFill>
                <a:latin typeface="Calibri"/>
                <a:cs typeface="Calibri"/>
              </a:rPr>
              <a:t>© </a:t>
            </a:r>
            <a:r>
              <a:rPr sz="1100" spc="-5" dirty="0">
                <a:solidFill>
                  <a:srgbClr val="404040"/>
                </a:solidFill>
                <a:latin typeface="Calibri"/>
                <a:cs typeface="Calibri"/>
              </a:rPr>
              <a:t>All rights</a:t>
            </a:r>
            <a:r>
              <a:rPr sz="1100" spc="-30" dirty="0">
                <a:solidFill>
                  <a:srgbClr val="404040"/>
                </a:solidFill>
                <a:latin typeface="Calibri"/>
                <a:cs typeface="Calibri"/>
              </a:rPr>
              <a:t> </a:t>
            </a:r>
            <a:r>
              <a:rPr sz="1100" dirty="0">
                <a:solidFill>
                  <a:srgbClr val="404040"/>
                </a:solidFill>
                <a:latin typeface="Calibri"/>
                <a:cs typeface="Calibri"/>
              </a:rPr>
              <a:t>reserved</a:t>
            </a:r>
            <a:endParaRPr sz="1100">
              <a:latin typeface="Calibri"/>
              <a:cs typeface="Calibri"/>
            </a:endParaRP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latin typeface="Calibri"/>
                <a:cs typeface="Calibri"/>
              </a:rPr>
              <a:t>11</a:t>
            </a:fld>
            <a:endParaRPr sz="1100">
              <a:latin typeface="Calibri"/>
              <a:cs typeface="Calibri"/>
            </a:endParaRPr>
          </a:p>
        </p:txBody>
      </p:sp>
      <p:sp>
        <p:nvSpPr>
          <p:cNvPr id="3" name="object 3"/>
          <p:cNvSpPr txBox="1"/>
          <p:nvPr/>
        </p:nvSpPr>
        <p:spPr>
          <a:xfrm>
            <a:off x="459740" y="1766138"/>
            <a:ext cx="7973059" cy="3567643"/>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4965" algn="l"/>
                <a:tab pos="355600" algn="l"/>
              </a:tabLst>
            </a:pPr>
            <a:r>
              <a:rPr sz="2400" dirty="0">
                <a:latin typeface="Calibri"/>
                <a:cs typeface="Calibri"/>
              </a:rPr>
              <a:t>A </a:t>
            </a:r>
            <a:r>
              <a:rPr sz="2400" spc="-10" dirty="0">
                <a:latin typeface="Calibri"/>
                <a:cs typeface="Calibri"/>
              </a:rPr>
              <a:t>portfolio can </a:t>
            </a:r>
            <a:r>
              <a:rPr sz="2400" spc="-5" dirty="0">
                <a:latin typeface="Calibri"/>
                <a:cs typeface="Calibri"/>
              </a:rPr>
              <a:t>be </a:t>
            </a:r>
            <a:r>
              <a:rPr sz="2400" spc="-10" dirty="0">
                <a:latin typeface="Calibri"/>
                <a:cs typeface="Calibri"/>
              </a:rPr>
              <a:t>generally </a:t>
            </a:r>
            <a:r>
              <a:rPr sz="2400" spc="-5" dirty="0">
                <a:latin typeface="Calibri"/>
                <a:cs typeface="Calibri"/>
              </a:rPr>
              <a:t>described as </a:t>
            </a:r>
            <a:r>
              <a:rPr sz="2400" dirty="0">
                <a:latin typeface="Calibri"/>
                <a:cs typeface="Calibri"/>
              </a:rPr>
              <a:t>a </a:t>
            </a:r>
            <a:r>
              <a:rPr sz="2400" spc="-15" dirty="0">
                <a:latin typeface="Calibri"/>
                <a:cs typeface="Calibri"/>
              </a:rPr>
              <a:t>group </a:t>
            </a:r>
            <a:r>
              <a:rPr sz="2400" spc="-10" dirty="0">
                <a:latin typeface="Calibri"/>
                <a:cs typeface="Calibri"/>
              </a:rPr>
              <a:t>of </a:t>
            </a:r>
            <a:r>
              <a:rPr sz="2400" spc="-20" dirty="0">
                <a:latin typeface="Calibri"/>
                <a:cs typeface="Calibri"/>
              </a:rPr>
              <a:t>program </a:t>
            </a:r>
            <a:r>
              <a:rPr sz="2400" dirty="0">
                <a:latin typeface="Calibri"/>
                <a:cs typeface="Calibri"/>
              </a:rPr>
              <a:t>,  </a:t>
            </a:r>
            <a:r>
              <a:rPr sz="2400" spc="-10" dirty="0">
                <a:latin typeface="Calibri"/>
                <a:cs typeface="Calibri"/>
              </a:rPr>
              <a:t>projects, </a:t>
            </a:r>
            <a:r>
              <a:rPr sz="2400" spc="-5" dirty="0">
                <a:latin typeface="Calibri"/>
                <a:cs typeface="Calibri"/>
              </a:rPr>
              <a:t>sub </a:t>
            </a:r>
            <a:r>
              <a:rPr sz="2400" spc="-10" dirty="0">
                <a:latin typeface="Calibri"/>
                <a:cs typeface="Calibri"/>
              </a:rPr>
              <a:t>portfolios grouped together </a:t>
            </a:r>
            <a:r>
              <a:rPr sz="2400" spc="-15" dirty="0">
                <a:latin typeface="Calibri"/>
                <a:cs typeface="Calibri"/>
              </a:rPr>
              <a:t>to </a:t>
            </a:r>
            <a:r>
              <a:rPr sz="2400" spc="-5" dirty="0">
                <a:latin typeface="Calibri"/>
                <a:cs typeface="Calibri"/>
              </a:rPr>
              <a:t>achieve specific  </a:t>
            </a:r>
            <a:r>
              <a:rPr sz="2400" spc="-15" dirty="0">
                <a:latin typeface="Calibri"/>
                <a:cs typeface="Calibri"/>
              </a:rPr>
              <a:t>strategic </a:t>
            </a:r>
            <a:r>
              <a:rPr sz="2400" spc="-5" dirty="0">
                <a:latin typeface="Calibri"/>
                <a:cs typeface="Calibri"/>
              </a:rPr>
              <a:t>business</a:t>
            </a:r>
            <a:r>
              <a:rPr sz="2400" spc="-30" dirty="0">
                <a:latin typeface="Calibri"/>
                <a:cs typeface="Calibri"/>
              </a:rPr>
              <a:t> </a:t>
            </a:r>
            <a:r>
              <a:rPr sz="2400" spc="-10" dirty="0">
                <a:latin typeface="Calibri"/>
                <a:cs typeface="Calibri"/>
              </a:rPr>
              <a:t>goal.</a:t>
            </a:r>
            <a:endParaRPr sz="2400" dirty="0">
              <a:latin typeface="Calibri"/>
              <a:cs typeface="Calibri"/>
            </a:endParaRPr>
          </a:p>
          <a:p>
            <a:pPr marL="355600" indent="-342900">
              <a:lnSpc>
                <a:spcPct val="100000"/>
              </a:lnSpc>
              <a:spcBef>
                <a:spcPts val="580"/>
              </a:spcBef>
              <a:buFont typeface="Wingdings"/>
              <a:buChar char=""/>
              <a:tabLst>
                <a:tab pos="354965" algn="l"/>
                <a:tab pos="355600" algn="l"/>
              </a:tabLst>
            </a:pPr>
            <a:r>
              <a:rPr sz="2400" spc="-10" dirty="0">
                <a:latin typeface="Calibri"/>
                <a:cs typeface="Calibri"/>
              </a:rPr>
              <a:t>They </a:t>
            </a:r>
            <a:r>
              <a:rPr sz="2400" spc="-20" dirty="0">
                <a:latin typeface="Calibri"/>
                <a:cs typeface="Calibri"/>
              </a:rPr>
              <a:t>may </a:t>
            </a:r>
            <a:r>
              <a:rPr sz="2400" spc="-5" dirty="0">
                <a:latin typeface="Calibri"/>
                <a:cs typeface="Calibri"/>
              </a:rPr>
              <a:t>not be </a:t>
            </a:r>
            <a:r>
              <a:rPr sz="2400" spc="-15" dirty="0">
                <a:latin typeface="Calibri"/>
                <a:cs typeface="Calibri"/>
              </a:rPr>
              <a:t>related to </a:t>
            </a:r>
            <a:r>
              <a:rPr sz="2400" dirty="0">
                <a:latin typeface="Calibri"/>
                <a:cs typeface="Calibri"/>
              </a:rPr>
              <a:t>each</a:t>
            </a:r>
            <a:r>
              <a:rPr sz="2400" spc="0" dirty="0">
                <a:latin typeface="Calibri"/>
                <a:cs typeface="Calibri"/>
              </a:rPr>
              <a:t> </a:t>
            </a:r>
            <a:r>
              <a:rPr sz="2400" spc="-5" dirty="0">
                <a:latin typeface="Calibri"/>
                <a:cs typeface="Calibri"/>
              </a:rPr>
              <a:t>other</a:t>
            </a:r>
            <a:endParaRPr sz="2400" dirty="0">
              <a:latin typeface="Calibri"/>
              <a:cs typeface="Calibri"/>
            </a:endParaRPr>
          </a:p>
          <a:p>
            <a:pPr marL="355600" marR="506730" indent="-342900">
              <a:lnSpc>
                <a:spcPct val="100000"/>
              </a:lnSpc>
              <a:spcBef>
                <a:spcPts val="575"/>
              </a:spcBef>
              <a:buFont typeface="Wingdings"/>
              <a:buChar char=""/>
              <a:tabLst>
                <a:tab pos="354965" algn="l"/>
                <a:tab pos="355600" algn="l"/>
              </a:tabLst>
            </a:pPr>
            <a:r>
              <a:rPr sz="2400" spc="-5" dirty="0">
                <a:latin typeface="Calibri"/>
                <a:cs typeface="Calibri"/>
              </a:rPr>
              <a:t>Only </a:t>
            </a:r>
            <a:r>
              <a:rPr sz="2400" spc="-10" dirty="0">
                <a:latin typeface="Calibri"/>
                <a:cs typeface="Calibri"/>
              </a:rPr>
              <a:t>reason </a:t>
            </a:r>
            <a:r>
              <a:rPr sz="2400" spc="-20" dirty="0">
                <a:latin typeface="Calibri"/>
                <a:cs typeface="Calibri"/>
              </a:rPr>
              <a:t>for </a:t>
            </a:r>
            <a:r>
              <a:rPr sz="2400" spc="-10" dirty="0">
                <a:latin typeface="Calibri"/>
                <a:cs typeface="Calibri"/>
              </a:rPr>
              <a:t>grouping </a:t>
            </a:r>
            <a:r>
              <a:rPr sz="2400" dirty="0">
                <a:latin typeface="Calibri"/>
                <a:cs typeface="Calibri"/>
              </a:rPr>
              <a:t>them </a:t>
            </a:r>
            <a:r>
              <a:rPr sz="2400" spc="-10" dirty="0">
                <a:latin typeface="Calibri"/>
                <a:cs typeface="Calibri"/>
              </a:rPr>
              <a:t>together </a:t>
            </a:r>
            <a:r>
              <a:rPr sz="2400" dirty="0">
                <a:latin typeface="Calibri"/>
                <a:cs typeface="Calibri"/>
              </a:rPr>
              <a:t>is </a:t>
            </a:r>
            <a:r>
              <a:rPr sz="2400" spc="-15" dirty="0">
                <a:latin typeface="Calibri"/>
                <a:cs typeface="Calibri"/>
              </a:rPr>
              <a:t>to </a:t>
            </a:r>
            <a:r>
              <a:rPr sz="2400" spc="-5" dirty="0">
                <a:latin typeface="Calibri"/>
                <a:cs typeface="Calibri"/>
              </a:rPr>
              <a:t>achieve </a:t>
            </a:r>
            <a:r>
              <a:rPr sz="2400" spc="-10" dirty="0">
                <a:latin typeface="Calibri"/>
                <a:cs typeface="Calibri"/>
              </a:rPr>
              <a:t>that  </a:t>
            </a:r>
            <a:r>
              <a:rPr sz="2400" spc="-5" dirty="0">
                <a:latin typeface="Calibri"/>
                <a:cs typeface="Calibri"/>
              </a:rPr>
              <a:t>business</a:t>
            </a:r>
            <a:r>
              <a:rPr sz="2400" spc="-10" dirty="0">
                <a:latin typeface="Calibri"/>
                <a:cs typeface="Calibri"/>
              </a:rPr>
              <a:t> goal</a:t>
            </a:r>
            <a:endParaRPr sz="2400" dirty="0">
              <a:latin typeface="Calibri"/>
              <a:cs typeface="Calibri"/>
            </a:endParaRPr>
          </a:p>
          <a:p>
            <a:pPr marL="355600" marR="83820" indent="-342900">
              <a:lnSpc>
                <a:spcPct val="100000"/>
              </a:lnSpc>
              <a:spcBef>
                <a:spcPts val="580"/>
              </a:spcBef>
              <a:buFont typeface="Wingdings"/>
              <a:buChar char=""/>
              <a:tabLst>
                <a:tab pos="354965" algn="l"/>
                <a:tab pos="355600" algn="l"/>
              </a:tabLst>
            </a:pPr>
            <a:r>
              <a:rPr sz="2400" dirty="0">
                <a:latin typeface="Calibri"/>
                <a:cs typeface="Calibri"/>
              </a:rPr>
              <a:t>A </a:t>
            </a:r>
            <a:r>
              <a:rPr sz="2400" spc="-10" dirty="0">
                <a:latin typeface="Calibri"/>
                <a:cs typeface="Calibri"/>
              </a:rPr>
              <a:t>portfolio </a:t>
            </a:r>
            <a:r>
              <a:rPr sz="2400" spc="-5" dirty="0">
                <a:latin typeface="Calibri"/>
                <a:cs typeface="Calibri"/>
              </a:rPr>
              <a:t>describes </a:t>
            </a:r>
            <a:r>
              <a:rPr sz="2400" dirty="0">
                <a:latin typeface="Calibri"/>
                <a:cs typeface="Calibri"/>
              </a:rPr>
              <a:t>the </a:t>
            </a:r>
            <a:r>
              <a:rPr sz="2400" spc="-10" dirty="0">
                <a:latin typeface="Calibri"/>
                <a:cs typeface="Calibri"/>
              </a:rPr>
              <a:t>collection </a:t>
            </a:r>
            <a:r>
              <a:rPr sz="2400" spc="-5" dirty="0">
                <a:latin typeface="Calibri"/>
                <a:cs typeface="Calibri"/>
              </a:rPr>
              <a:t>of </a:t>
            </a:r>
            <a:r>
              <a:rPr sz="2400" spc="-15" dirty="0">
                <a:latin typeface="Calibri"/>
                <a:cs typeface="Calibri"/>
              </a:rPr>
              <a:t>investment </a:t>
            </a:r>
            <a:r>
              <a:rPr sz="2400" dirty="0">
                <a:latin typeface="Calibri"/>
                <a:cs typeface="Calibri"/>
              </a:rPr>
              <a:t>in the </a:t>
            </a:r>
            <a:r>
              <a:rPr sz="2400" spc="-20" dirty="0">
                <a:latin typeface="Calibri"/>
                <a:cs typeface="Calibri"/>
              </a:rPr>
              <a:t>form  </a:t>
            </a:r>
            <a:r>
              <a:rPr sz="2400" spc="-5" dirty="0">
                <a:latin typeface="Calibri"/>
                <a:cs typeface="Calibri"/>
              </a:rPr>
              <a:t>of </a:t>
            </a:r>
            <a:r>
              <a:rPr sz="2400" spc="-10" dirty="0">
                <a:latin typeface="Calibri"/>
                <a:cs typeface="Calibri"/>
              </a:rPr>
              <a:t>projects </a:t>
            </a:r>
            <a:r>
              <a:rPr sz="2400" spc="-5" dirty="0">
                <a:latin typeface="Calibri"/>
                <a:cs typeface="Calibri"/>
              </a:rPr>
              <a:t>and </a:t>
            </a:r>
            <a:r>
              <a:rPr sz="2400" spc="-15" dirty="0">
                <a:latin typeface="Calibri"/>
                <a:cs typeface="Calibri"/>
              </a:rPr>
              <a:t>programs </a:t>
            </a:r>
            <a:r>
              <a:rPr sz="2400" dirty="0">
                <a:latin typeface="Calibri"/>
                <a:cs typeface="Calibri"/>
              </a:rPr>
              <a:t>in which the </a:t>
            </a:r>
            <a:r>
              <a:rPr sz="2400" spc="-15" dirty="0">
                <a:latin typeface="Calibri"/>
                <a:cs typeface="Calibri"/>
              </a:rPr>
              <a:t>organization invests  </a:t>
            </a:r>
            <a:r>
              <a:rPr sz="2400" dirty="0">
                <a:latin typeface="Calibri"/>
                <a:cs typeface="Calibri"/>
              </a:rPr>
              <a:t>the</a:t>
            </a:r>
            <a:r>
              <a:rPr sz="2400" spc="-5" dirty="0">
                <a:latin typeface="Calibri"/>
                <a:cs typeface="Calibri"/>
              </a:rPr>
              <a:t> </a:t>
            </a:r>
            <a:r>
              <a:rPr sz="2400" spc="-10" dirty="0">
                <a:latin typeface="Calibri"/>
                <a:cs typeface="Calibri"/>
              </a:rPr>
              <a:t>capital</a:t>
            </a:r>
            <a:endParaRPr lang="en-GB" sz="2400" spc="-10" dirty="0">
              <a:latin typeface="Calibri"/>
              <a:cs typeface="Calibri"/>
            </a:endParaRPr>
          </a:p>
        </p:txBody>
      </p:sp>
    </p:spTree>
    <p:extLst>
      <p:ext uri="{BB962C8B-B14F-4D97-AF65-F5344CB8AC3E}">
        <p14:creationId xmlns:p14="http://schemas.microsoft.com/office/powerpoint/2010/main" val="2105111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775748"/>
            <a:ext cx="6484332" cy="689291"/>
          </a:xfrm>
          <a:prstGeom prst="rect">
            <a:avLst/>
          </a:prstGeom>
        </p:spPr>
        <p:txBody>
          <a:bodyPr vert="horz" wrap="square" lIns="0" tIns="12065" rIns="0" bIns="0" rtlCol="0">
            <a:spAutoFit/>
          </a:bodyPr>
          <a:lstStyle/>
          <a:p>
            <a:pPr marL="12700" algn="l">
              <a:lnSpc>
                <a:spcPct val="100000"/>
              </a:lnSpc>
              <a:spcBef>
                <a:spcPts val="95"/>
              </a:spcBef>
            </a:pPr>
            <a:r>
              <a:rPr spc="-20" dirty="0"/>
              <a:t>Program </a:t>
            </a:r>
            <a:r>
              <a:rPr spc="-15" dirty="0"/>
              <a:t>Management</a:t>
            </a: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latin typeface="Calibri"/>
                <a:cs typeface="Calibri"/>
              </a:rPr>
              <a:t>12</a:t>
            </a:fld>
            <a:endParaRPr sz="1100">
              <a:latin typeface="Calibri"/>
              <a:cs typeface="Calibri"/>
            </a:endParaRPr>
          </a:p>
        </p:txBody>
      </p:sp>
      <p:sp>
        <p:nvSpPr>
          <p:cNvPr id="3" name="object 3"/>
          <p:cNvSpPr txBox="1"/>
          <p:nvPr/>
        </p:nvSpPr>
        <p:spPr>
          <a:xfrm>
            <a:off x="535940" y="1540574"/>
            <a:ext cx="7868920" cy="5195653"/>
          </a:xfrm>
          <a:prstGeom prst="rect">
            <a:avLst/>
          </a:prstGeom>
        </p:spPr>
        <p:txBody>
          <a:bodyPr vert="horz" wrap="square" lIns="0" tIns="85725" rIns="0" bIns="0" rtlCol="0">
            <a:spAutoFit/>
          </a:bodyPr>
          <a:lstStyle/>
          <a:p>
            <a:pPr marL="355600" indent="-342900">
              <a:lnSpc>
                <a:spcPct val="100000"/>
              </a:lnSpc>
              <a:spcBef>
                <a:spcPts val="675"/>
              </a:spcBef>
              <a:buFont typeface="Wingdings"/>
              <a:buChar char=""/>
              <a:tabLst>
                <a:tab pos="355600" algn="l"/>
                <a:tab pos="356235" algn="l"/>
              </a:tabLst>
            </a:pPr>
            <a:r>
              <a:rPr sz="2400" spc="-15" dirty="0">
                <a:latin typeface="Calibri"/>
                <a:cs typeface="Calibri"/>
              </a:rPr>
              <a:t>Program </a:t>
            </a:r>
            <a:r>
              <a:rPr sz="2400" dirty="0">
                <a:latin typeface="Calibri"/>
                <a:cs typeface="Calibri"/>
              </a:rPr>
              <a:t>is a </a:t>
            </a:r>
            <a:r>
              <a:rPr sz="2400" spc="-10" dirty="0">
                <a:latin typeface="Calibri"/>
                <a:cs typeface="Calibri"/>
              </a:rPr>
              <a:t>group of </a:t>
            </a:r>
            <a:r>
              <a:rPr sz="2400" spc="-15" dirty="0">
                <a:latin typeface="Calibri"/>
                <a:cs typeface="Calibri"/>
              </a:rPr>
              <a:t>related </a:t>
            </a:r>
            <a:r>
              <a:rPr sz="2400" spc="-10" dirty="0">
                <a:latin typeface="Calibri"/>
                <a:cs typeface="Calibri"/>
              </a:rPr>
              <a:t>projects,</a:t>
            </a:r>
            <a:r>
              <a:rPr sz="2400" spc="-35" dirty="0">
                <a:latin typeface="Calibri"/>
                <a:cs typeface="Calibri"/>
              </a:rPr>
              <a:t> </a:t>
            </a:r>
            <a:r>
              <a:rPr sz="2400" spc="-10" dirty="0">
                <a:latin typeface="Calibri"/>
                <a:cs typeface="Calibri"/>
              </a:rPr>
              <a:t>subprograms.</a:t>
            </a:r>
            <a:endParaRPr sz="2400" dirty="0">
              <a:latin typeface="Calibri"/>
              <a:cs typeface="Calibri"/>
            </a:endParaRPr>
          </a:p>
          <a:p>
            <a:pPr marL="355600" marR="5080" indent="-342900">
              <a:lnSpc>
                <a:spcPct val="100000"/>
              </a:lnSpc>
              <a:spcBef>
                <a:spcPts val="580"/>
              </a:spcBef>
              <a:buFont typeface="Wingdings"/>
              <a:buChar char=""/>
              <a:tabLst>
                <a:tab pos="355600" algn="l"/>
                <a:tab pos="356235" algn="l"/>
              </a:tabLst>
            </a:pPr>
            <a:r>
              <a:rPr sz="2400" spc="-10" dirty="0">
                <a:latin typeface="Calibri"/>
                <a:cs typeface="Calibri"/>
              </a:rPr>
              <a:t>Projects </a:t>
            </a:r>
            <a:r>
              <a:rPr sz="2400" dirty="0">
                <a:latin typeface="Calibri"/>
                <a:cs typeface="Calibri"/>
              </a:rPr>
              <a:t>in a </a:t>
            </a:r>
            <a:r>
              <a:rPr sz="2400" spc="-15" dirty="0">
                <a:latin typeface="Calibri"/>
                <a:cs typeface="Calibri"/>
              </a:rPr>
              <a:t>program are </a:t>
            </a:r>
            <a:r>
              <a:rPr sz="2400" spc="-5" dirty="0">
                <a:latin typeface="Calibri"/>
                <a:cs typeface="Calibri"/>
              </a:rPr>
              <a:t>managed </a:t>
            </a:r>
            <a:r>
              <a:rPr sz="2400" dirty="0">
                <a:latin typeface="Calibri"/>
                <a:cs typeface="Calibri"/>
              </a:rPr>
              <a:t>in a </a:t>
            </a:r>
            <a:r>
              <a:rPr sz="2400" spc="-15" dirty="0">
                <a:latin typeface="Calibri"/>
                <a:cs typeface="Calibri"/>
              </a:rPr>
              <a:t>coordinated </a:t>
            </a:r>
            <a:r>
              <a:rPr sz="2400" spc="-25" dirty="0">
                <a:latin typeface="Calibri"/>
                <a:cs typeface="Calibri"/>
              </a:rPr>
              <a:t>way </a:t>
            </a:r>
            <a:r>
              <a:rPr sz="2400" spc="-15" dirty="0">
                <a:latin typeface="Calibri"/>
                <a:cs typeface="Calibri"/>
              </a:rPr>
              <a:t>to  maximize </a:t>
            </a:r>
            <a:r>
              <a:rPr sz="2400" dirty="0">
                <a:latin typeface="Calibri"/>
                <a:cs typeface="Calibri"/>
              </a:rPr>
              <a:t>the </a:t>
            </a:r>
            <a:r>
              <a:rPr sz="2400" spc="-10" dirty="0">
                <a:latin typeface="Calibri"/>
                <a:cs typeface="Calibri"/>
              </a:rPr>
              <a:t>benefits </a:t>
            </a:r>
            <a:r>
              <a:rPr sz="2400" dirty="0">
                <a:latin typeface="Calibri"/>
                <a:cs typeface="Calibri"/>
              </a:rPr>
              <a:t>which will </a:t>
            </a:r>
            <a:r>
              <a:rPr sz="2400" spc="-5" dirty="0">
                <a:latin typeface="Calibri"/>
                <a:cs typeface="Calibri"/>
              </a:rPr>
              <a:t>not be </a:t>
            </a:r>
            <a:r>
              <a:rPr sz="2400" spc="-10" dirty="0">
                <a:latin typeface="Calibri"/>
                <a:cs typeface="Calibri"/>
              </a:rPr>
              <a:t>available </a:t>
            </a:r>
            <a:r>
              <a:rPr sz="2400" dirty="0">
                <a:latin typeface="Calibri"/>
                <a:cs typeface="Calibri"/>
              </a:rPr>
              <a:t>if </a:t>
            </a:r>
            <a:r>
              <a:rPr sz="2400" spc="-5" dirty="0">
                <a:latin typeface="Calibri"/>
                <a:cs typeface="Calibri"/>
              </a:rPr>
              <a:t>managed  </a:t>
            </a:r>
            <a:r>
              <a:rPr sz="2400" spc="-15" dirty="0">
                <a:latin typeface="Calibri"/>
                <a:cs typeface="Calibri"/>
              </a:rPr>
              <a:t>individually.</a:t>
            </a:r>
            <a:endParaRPr sz="2400" dirty="0">
              <a:latin typeface="Calibri"/>
              <a:cs typeface="Calibri"/>
            </a:endParaRPr>
          </a:p>
          <a:p>
            <a:pPr marL="355600" marR="21590" indent="-342900" algn="just">
              <a:lnSpc>
                <a:spcPct val="100000"/>
              </a:lnSpc>
              <a:spcBef>
                <a:spcPts val="575"/>
              </a:spcBef>
              <a:buFont typeface="Wingdings"/>
              <a:buChar char=""/>
              <a:tabLst>
                <a:tab pos="356235" algn="l"/>
              </a:tabLst>
            </a:pPr>
            <a:r>
              <a:rPr sz="2400" spc="-5" dirty="0">
                <a:latin typeface="Calibri"/>
                <a:cs typeface="Calibri"/>
              </a:rPr>
              <a:t>Some </a:t>
            </a:r>
            <a:r>
              <a:rPr sz="2400" spc="-10" dirty="0">
                <a:latin typeface="Calibri"/>
                <a:cs typeface="Calibri"/>
              </a:rPr>
              <a:t>work </a:t>
            </a:r>
            <a:r>
              <a:rPr sz="2400" dirty="0">
                <a:latin typeface="Calibri"/>
                <a:cs typeface="Calibri"/>
              </a:rPr>
              <a:t>in the </a:t>
            </a:r>
            <a:r>
              <a:rPr sz="2400" spc="-15" dirty="0">
                <a:latin typeface="Calibri"/>
                <a:cs typeface="Calibri"/>
              </a:rPr>
              <a:t>programs </a:t>
            </a:r>
            <a:r>
              <a:rPr sz="2400" spc="-5" dirty="0">
                <a:latin typeface="Calibri"/>
                <a:cs typeface="Calibri"/>
              </a:rPr>
              <a:t>might not </a:t>
            </a:r>
            <a:r>
              <a:rPr sz="2400" spc="-15" dirty="0">
                <a:latin typeface="Calibri"/>
                <a:cs typeface="Calibri"/>
              </a:rPr>
              <a:t>fall </a:t>
            </a:r>
            <a:r>
              <a:rPr sz="2400" spc="-5" dirty="0">
                <a:latin typeface="Calibri"/>
                <a:cs typeface="Calibri"/>
              </a:rPr>
              <a:t>under </a:t>
            </a:r>
            <a:r>
              <a:rPr sz="2400" spc="-20" dirty="0">
                <a:latin typeface="Calibri"/>
                <a:cs typeface="Calibri"/>
              </a:rPr>
              <a:t>any </a:t>
            </a:r>
            <a:r>
              <a:rPr sz="2400" spc="-15" dirty="0">
                <a:latin typeface="Calibri"/>
                <a:cs typeface="Calibri"/>
              </a:rPr>
              <a:t>discrete  </a:t>
            </a:r>
            <a:r>
              <a:rPr sz="2400" spc="-10" dirty="0">
                <a:latin typeface="Calibri"/>
                <a:cs typeface="Calibri"/>
              </a:rPr>
              <a:t>projects, </a:t>
            </a:r>
            <a:r>
              <a:rPr sz="2400" spc="-5" dirty="0">
                <a:latin typeface="Calibri"/>
                <a:cs typeface="Calibri"/>
              </a:rPr>
              <a:t>but </a:t>
            </a:r>
            <a:r>
              <a:rPr sz="2400" dirty="0">
                <a:latin typeface="Calibri"/>
                <a:cs typeface="Calibri"/>
              </a:rPr>
              <a:t>it </a:t>
            </a:r>
            <a:r>
              <a:rPr sz="2400" spc="-5" dirty="0">
                <a:latin typeface="Calibri"/>
                <a:cs typeface="Calibri"/>
              </a:rPr>
              <a:t>might be necessary </a:t>
            </a:r>
            <a:r>
              <a:rPr sz="2400" spc="-15" dirty="0">
                <a:latin typeface="Calibri"/>
                <a:cs typeface="Calibri"/>
              </a:rPr>
              <a:t>to </a:t>
            </a:r>
            <a:r>
              <a:rPr sz="2400" spc="-10" dirty="0">
                <a:latin typeface="Calibri"/>
                <a:cs typeface="Calibri"/>
              </a:rPr>
              <a:t>complete </a:t>
            </a:r>
            <a:r>
              <a:rPr sz="2400" dirty="0">
                <a:latin typeface="Calibri"/>
                <a:cs typeface="Calibri"/>
              </a:rPr>
              <a:t>the </a:t>
            </a:r>
            <a:r>
              <a:rPr sz="2400" spc="-20" dirty="0">
                <a:latin typeface="Calibri"/>
                <a:cs typeface="Calibri"/>
              </a:rPr>
              <a:t>program  successfully.</a:t>
            </a:r>
            <a:endParaRPr sz="2400" dirty="0">
              <a:latin typeface="Calibri"/>
              <a:cs typeface="Calibri"/>
            </a:endParaRPr>
          </a:p>
          <a:p>
            <a:pPr marL="355600" marR="440055" indent="-342900">
              <a:lnSpc>
                <a:spcPct val="100000"/>
              </a:lnSpc>
              <a:spcBef>
                <a:spcPts val="580"/>
              </a:spcBef>
              <a:buFont typeface="Wingdings"/>
              <a:buChar char=""/>
              <a:tabLst>
                <a:tab pos="355600" algn="l"/>
                <a:tab pos="356235" algn="l"/>
              </a:tabLst>
            </a:pPr>
            <a:r>
              <a:rPr sz="2400" spc="-15" dirty="0">
                <a:latin typeface="Calibri"/>
                <a:cs typeface="Calibri"/>
              </a:rPr>
              <a:t>Program </a:t>
            </a:r>
            <a:r>
              <a:rPr sz="2400" spc="-5" dirty="0">
                <a:latin typeface="Calibri"/>
                <a:cs typeface="Calibri"/>
              </a:rPr>
              <a:t>management manages </a:t>
            </a:r>
            <a:r>
              <a:rPr sz="2400" dirty="0">
                <a:latin typeface="Calibri"/>
                <a:cs typeface="Calibri"/>
              </a:rPr>
              <a:t>the </a:t>
            </a:r>
            <a:r>
              <a:rPr sz="2400" spc="-10" dirty="0">
                <a:latin typeface="Calibri"/>
                <a:cs typeface="Calibri"/>
              </a:rPr>
              <a:t>project  interdependencies </a:t>
            </a:r>
            <a:r>
              <a:rPr sz="2400" spc="-5" dirty="0">
                <a:latin typeface="Calibri"/>
                <a:cs typeface="Calibri"/>
              </a:rPr>
              <a:t>and help </a:t>
            </a:r>
            <a:r>
              <a:rPr sz="2400" spc="-10" dirty="0">
                <a:latin typeface="Calibri"/>
                <a:cs typeface="Calibri"/>
              </a:rPr>
              <a:t>resolve resource </a:t>
            </a:r>
            <a:r>
              <a:rPr sz="2400" spc="-15" dirty="0">
                <a:latin typeface="Calibri"/>
                <a:cs typeface="Calibri"/>
              </a:rPr>
              <a:t>constraints,  </a:t>
            </a:r>
            <a:r>
              <a:rPr sz="2400" dirty="0">
                <a:latin typeface="Calibri"/>
                <a:cs typeface="Calibri"/>
              </a:rPr>
              <a:t>issues, </a:t>
            </a:r>
            <a:r>
              <a:rPr sz="2400" spc="-10" dirty="0">
                <a:latin typeface="Calibri"/>
                <a:cs typeface="Calibri"/>
              </a:rPr>
              <a:t>conflicts, etc., </a:t>
            </a:r>
            <a:r>
              <a:rPr sz="2400" spc="-114" dirty="0">
                <a:latin typeface="Calibri"/>
                <a:cs typeface="Calibri"/>
              </a:rPr>
              <a:t>To </a:t>
            </a:r>
            <a:r>
              <a:rPr sz="2400" spc="-5" dirty="0">
                <a:latin typeface="Calibri"/>
                <a:cs typeface="Calibri"/>
              </a:rPr>
              <a:t>achieve </a:t>
            </a:r>
            <a:r>
              <a:rPr sz="2400" spc="-30" dirty="0">
                <a:latin typeface="Calibri"/>
                <a:cs typeface="Calibri"/>
              </a:rPr>
              <a:t>program’s </a:t>
            </a:r>
            <a:r>
              <a:rPr sz="2400" spc="-15" dirty="0">
                <a:latin typeface="Calibri"/>
                <a:cs typeface="Calibri"/>
              </a:rPr>
              <a:t>strategic  </a:t>
            </a:r>
            <a:r>
              <a:rPr sz="2400" spc="-5" dirty="0">
                <a:latin typeface="Calibri"/>
                <a:cs typeface="Calibri"/>
              </a:rPr>
              <a:t>objectives.</a:t>
            </a:r>
            <a:endParaRPr lang="en-GB" sz="2400" spc="-5" dirty="0">
              <a:latin typeface="Calibri"/>
              <a:cs typeface="Calibri"/>
            </a:endParaRPr>
          </a:p>
          <a:p>
            <a:pPr marL="355600" marR="440055" indent="-342900">
              <a:lnSpc>
                <a:spcPct val="100000"/>
              </a:lnSpc>
              <a:spcBef>
                <a:spcPts val="580"/>
              </a:spcBef>
              <a:buFont typeface="Wingdings"/>
              <a:buChar char=""/>
              <a:tabLst>
                <a:tab pos="355600" algn="l"/>
                <a:tab pos="356235" algn="l"/>
              </a:tabLst>
            </a:pPr>
            <a:r>
              <a:rPr lang="en-GB" sz="2400" spc="-5" dirty="0">
                <a:latin typeface="Calibri"/>
                <a:cs typeface="Calibri"/>
              </a:rPr>
              <a:t>Managing Program risks, change requests, budget, benefits realization</a:t>
            </a:r>
            <a:endParaRPr sz="2400" dirty="0">
              <a:latin typeface="Calibri"/>
              <a:cs typeface="Calibri"/>
            </a:endParaRPr>
          </a:p>
        </p:txBody>
      </p:sp>
    </p:spTree>
    <p:extLst>
      <p:ext uri="{BB962C8B-B14F-4D97-AF65-F5344CB8AC3E}">
        <p14:creationId xmlns:p14="http://schemas.microsoft.com/office/powerpoint/2010/main" val="530461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06526"/>
            <a:ext cx="5764252" cy="627736"/>
          </a:xfrm>
          <a:prstGeom prst="rect">
            <a:avLst/>
          </a:prstGeom>
        </p:spPr>
        <p:txBody>
          <a:bodyPr vert="horz" wrap="square" lIns="0" tIns="12065" rIns="0" bIns="0" rtlCol="0">
            <a:spAutoFit/>
          </a:bodyPr>
          <a:lstStyle/>
          <a:p>
            <a:pPr marL="12700" algn="l">
              <a:lnSpc>
                <a:spcPct val="100000"/>
              </a:lnSpc>
              <a:spcBef>
                <a:spcPts val="95"/>
              </a:spcBef>
            </a:pPr>
            <a:r>
              <a:rPr sz="4000" spc="-20" dirty="0"/>
              <a:t>Program </a:t>
            </a:r>
            <a:r>
              <a:rPr sz="4000" spc="-15" dirty="0"/>
              <a:t>Management</a:t>
            </a:r>
          </a:p>
        </p:txBody>
      </p:sp>
      <p:sp>
        <p:nvSpPr>
          <p:cNvPr id="4" name="object 4"/>
          <p:cNvSpPr txBox="1"/>
          <p:nvPr/>
        </p:nvSpPr>
        <p:spPr>
          <a:xfrm>
            <a:off x="1658492" y="6499580"/>
            <a:ext cx="5838190" cy="348615"/>
          </a:xfrm>
          <a:prstGeom prst="rect">
            <a:avLst/>
          </a:prstGeom>
        </p:spPr>
        <p:txBody>
          <a:bodyPr vert="horz" wrap="square" lIns="0" tIns="0" rIns="0" bIns="0" rtlCol="0">
            <a:spAutoFit/>
          </a:bodyPr>
          <a:lstStyle/>
          <a:p>
            <a:pPr algn="ctr">
              <a:lnSpc>
                <a:spcPts val="910"/>
              </a:lnSpc>
            </a:pPr>
            <a:r>
              <a:rPr sz="850" b="1" spc="-5" dirty="0">
                <a:solidFill>
                  <a:srgbClr val="FFFFFF"/>
                </a:solidFill>
                <a:latin typeface="Calibri"/>
                <a:cs typeface="Calibri"/>
              </a:rPr>
              <a:t>PMI, PMP, PMBOK </a:t>
            </a:r>
            <a:r>
              <a:rPr sz="850" b="1" dirty="0">
                <a:solidFill>
                  <a:srgbClr val="FFFFFF"/>
                </a:solidFill>
                <a:latin typeface="Calibri"/>
                <a:cs typeface="Calibri"/>
              </a:rPr>
              <a:t>and the </a:t>
            </a:r>
            <a:r>
              <a:rPr sz="850" b="1" spc="-5" dirty="0">
                <a:solidFill>
                  <a:srgbClr val="FFFFFF"/>
                </a:solidFill>
                <a:latin typeface="Calibri"/>
                <a:cs typeface="Calibri"/>
              </a:rPr>
              <a:t>PMI Registered Education Provider logo are registered </a:t>
            </a:r>
            <a:r>
              <a:rPr sz="850" b="1" dirty="0">
                <a:solidFill>
                  <a:srgbClr val="FFFFFF"/>
                </a:solidFill>
                <a:latin typeface="Calibri"/>
                <a:cs typeface="Calibri"/>
              </a:rPr>
              <a:t>marks </a:t>
            </a:r>
            <a:r>
              <a:rPr sz="850" b="1" spc="-5" dirty="0">
                <a:solidFill>
                  <a:srgbClr val="FFFFFF"/>
                </a:solidFill>
                <a:latin typeface="Calibri"/>
                <a:cs typeface="Calibri"/>
              </a:rPr>
              <a:t>of </a:t>
            </a:r>
            <a:r>
              <a:rPr sz="850" b="1" dirty="0">
                <a:solidFill>
                  <a:srgbClr val="FFFFFF"/>
                </a:solidFill>
                <a:latin typeface="Calibri"/>
                <a:cs typeface="Calibri"/>
              </a:rPr>
              <a:t>the </a:t>
            </a:r>
            <a:r>
              <a:rPr sz="850" b="1" spc="-5" dirty="0">
                <a:solidFill>
                  <a:srgbClr val="FFFFFF"/>
                </a:solidFill>
                <a:latin typeface="Calibri"/>
                <a:cs typeface="Calibri"/>
              </a:rPr>
              <a:t>Project Management Institute,</a:t>
            </a:r>
            <a:r>
              <a:rPr sz="850" b="1" spc="-70" dirty="0">
                <a:solidFill>
                  <a:srgbClr val="FFFFFF"/>
                </a:solidFill>
                <a:latin typeface="Calibri"/>
                <a:cs typeface="Calibri"/>
              </a:rPr>
              <a:t> </a:t>
            </a:r>
            <a:r>
              <a:rPr sz="850" b="1" dirty="0">
                <a:solidFill>
                  <a:srgbClr val="FFFFFF"/>
                </a:solidFill>
                <a:latin typeface="Calibri"/>
                <a:cs typeface="Calibri"/>
              </a:rPr>
              <a:t>Inc.</a:t>
            </a:r>
            <a:endParaRPr sz="850">
              <a:latin typeface="Calibri"/>
              <a:cs typeface="Calibri"/>
            </a:endParaRPr>
          </a:p>
          <a:p>
            <a:pPr marR="1905" algn="ctr">
              <a:lnSpc>
                <a:spcPct val="100000"/>
              </a:lnSpc>
              <a:spcBef>
                <a:spcPts val="359"/>
              </a:spcBef>
            </a:pPr>
            <a:r>
              <a:rPr sz="1100" dirty="0">
                <a:solidFill>
                  <a:srgbClr val="404040"/>
                </a:solidFill>
                <a:latin typeface="Calibri"/>
                <a:cs typeface="Calibri"/>
              </a:rPr>
              <a:t>© </a:t>
            </a:r>
            <a:r>
              <a:rPr sz="1100" spc="-5" dirty="0">
                <a:solidFill>
                  <a:srgbClr val="404040"/>
                </a:solidFill>
                <a:latin typeface="Calibri"/>
                <a:cs typeface="Calibri"/>
              </a:rPr>
              <a:t>All rights</a:t>
            </a:r>
            <a:r>
              <a:rPr sz="1100" spc="-30" dirty="0">
                <a:solidFill>
                  <a:srgbClr val="404040"/>
                </a:solidFill>
                <a:latin typeface="Calibri"/>
                <a:cs typeface="Calibri"/>
              </a:rPr>
              <a:t> </a:t>
            </a:r>
            <a:r>
              <a:rPr sz="1100" dirty="0">
                <a:solidFill>
                  <a:srgbClr val="404040"/>
                </a:solidFill>
                <a:latin typeface="Calibri"/>
                <a:cs typeface="Calibri"/>
              </a:rPr>
              <a:t>reserved</a:t>
            </a:r>
            <a:endParaRPr sz="1100">
              <a:latin typeface="Calibri"/>
              <a:cs typeface="Calibri"/>
            </a:endParaRP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latin typeface="Calibri"/>
                <a:cs typeface="Calibri"/>
              </a:rPr>
              <a:t>13</a:t>
            </a:fld>
            <a:endParaRPr sz="1100">
              <a:latin typeface="Calibri"/>
              <a:cs typeface="Calibri"/>
            </a:endParaRPr>
          </a:p>
        </p:txBody>
      </p:sp>
      <p:sp>
        <p:nvSpPr>
          <p:cNvPr id="3" name="object 3"/>
          <p:cNvSpPr txBox="1"/>
          <p:nvPr/>
        </p:nvSpPr>
        <p:spPr>
          <a:xfrm>
            <a:off x="535940" y="1689938"/>
            <a:ext cx="7880984" cy="3464560"/>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5600" algn="l"/>
                <a:tab pos="356235" algn="l"/>
              </a:tabLst>
            </a:pPr>
            <a:r>
              <a:rPr sz="2400" dirty="0">
                <a:latin typeface="Calibri"/>
                <a:cs typeface="Calibri"/>
              </a:rPr>
              <a:t>A </a:t>
            </a:r>
            <a:r>
              <a:rPr sz="2400" spc="-15" dirty="0">
                <a:latin typeface="Calibri"/>
                <a:cs typeface="Calibri"/>
              </a:rPr>
              <a:t>example </a:t>
            </a:r>
            <a:r>
              <a:rPr sz="2400" spc="-5" dirty="0">
                <a:latin typeface="Calibri"/>
                <a:cs typeface="Calibri"/>
              </a:rPr>
              <a:t>of </a:t>
            </a:r>
            <a:r>
              <a:rPr sz="2400" spc="-15" dirty="0">
                <a:latin typeface="Calibri"/>
                <a:cs typeface="Calibri"/>
              </a:rPr>
              <a:t>program </a:t>
            </a:r>
            <a:r>
              <a:rPr sz="2400" spc="-10" dirty="0">
                <a:latin typeface="Calibri"/>
                <a:cs typeface="Calibri"/>
              </a:rPr>
              <a:t>would </a:t>
            </a:r>
            <a:r>
              <a:rPr sz="2400" spc="-5" dirty="0">
                <a:latin typeface="Calibri"/>
                <a:cs typeface="Calibri"/>
              </a:rPr>
              <a:t>be </a:t>
            </a:r>
            <a:r>
              <a:rPr sz="2400" dirty="0">
                <a:latin typeface="Calibri"/>
                <a:cs typeface="Calibri"/>
              </a:rPr>
              <a:t>a </a:t>
            </a:r>
            <a:r>
              <a:rPr sz="2400" spc="-10" dirty="0">
                <a:latin typeface="Calibri"/>
                <a:cs typeface="Calibri"/>
              </a:rPr>
              <a:t>new</a:t>
            </a:r>
            <a:r>
              <a:rPr sz="2400" spc="-20" dirty="0">
                <a:latin typeface="Calibri"/>
                <a:cs typeface="Calibri"/>
              </a:rPr>
              <a:t> </a:t>
            </a:r>
            <a:r>
              <a:rPr sz="2400" spc="-10" dirty="0">
                <a:latin typeface="Calibri"/>
                <a:cs typeface="Calibri"/>
              </a:rPr>
              <a:t>communication</a:t>
            </a:r>
            <a:endParaRPr sz="2400" dirty="0">
              <a:latin typeface="Calibri"/>
              <a:cs typeface="Calibri"/>
            </a:endParaRPr>
          </a:p>
          <a:p>
            <a:pPr marL="355600">
              <a:lnSpc>
                <a:spcPct val="100000"/>
              </a:lnSpc>
            </a:pPr>
            <a:r>
              <a:rPr sz="2400" spc="-10" dirty="0">
                <a:latin typeface="Calibri"/>
                <a:cs typeface="Calibri"/>
              </a:rPr>
              <a:t>satellite</a:t>
            </a:r>
            <a:r>
              <a:rPr sz="2400" spc="-25" dirty="0">
                <a:latin typeface="Calibri"/>
                <a:cs typeface="Calibri"/>
              </a:rPr>
              <a:t> system</a:t>
            </a:r>
            <a:endParaRPr sz="2400" dirty="0">
              <a:latin typeface="Calibri"/>
              <a:cs typeface="Calibri"/>
            </a:endParaRPr>
          </a:p>
          <a:p>
            <a:pPr marL="355600" marR="167640" indent="-342900">
              <a:lnSpc>
                <a:spcPct val="100000"/>
              </a:lnSpc>
              <a:spcBef>
                <a:spcPts val="575"/>
              </a:spcBef>
              <a:buFont typeface="Wingdings"/>
              <a:buChar char=""/>
              <a:tabLst>
                <a:tab pos="355600" algn="l"/>
                <a:tab pos="356235" algn="l"/>
              </a:tabLst>
            </a:pPr>
            <a:r>
              <a:rPr sz="2400" dirty="0">
                <a:latin typeface="Calibri"/>
                <a:cs typeface="Calibri"/>
              </a:rPr>
              <a:t>Under this </a:t>
            </a:r>
            <a:r>
              <a:rPr sz="2400" spc="-20" dirty="0">
                <a:latin typeface="Calibri"/>
                <a:cs typeface="Calibri"/>
              </a:rPr>
              <a:t>program </a:t>
            </a:r>
            <a:r>
              <a:rPr sz="2400" spc="-10" dirty="0">
                <a:latin typeface="Calibri"/>
                <a:cs typeface="Calibri"/>
              </a:rPr>
              <a:t>there are projects </a:t>
            </a:r>
            <a:r>
              <a:rPr sz="2400" spc="-5" dirty="0">
                <a:latin typeface="Calibri"/>
                <a:cs typeface="Calibri"/>
              </a:rPr>
              <a:t>such as </a:t>
            </a:r>
            <a:r>
              <a:rPr sz="2400" spc="-10" dirty="0">
                <a:latin typeface="Calibri"/>
                <a:cs typeface="Calibri"/>
              </a:rPr>
              <a:t>project </a:t>
            </a:r>
            <a:r>
              <a:rPr sz="2400" spc="-20" dirty="0">
                <a:latin typeface="Calibri"/>
                <a:cs typeface="Calibri"/>
              </a:rPr>
              <a:t>for  </a:t>
            </a:r>
            <a:r>
              <a:rPr sz="2400" spc="-5" dirty="0">
                <a:latin typeface="Calibri"/>
                <a:cs typeface="Calibri"/>
              </a:rPr>
              <a:t>design of </a:t>
            </a:r>
            <a:r>
              <a:rPr sz="2400" spc="-10" dirty="0">
                <a:latin typeface="Calibri"/>
                <a:cs typeface="Calibri"/>
              </a:rPr>
              <a:t>satellite </a:t>
            </a:r>
            <a:r>
              <a:rPr sz="2400" dirty="0">
                <a:latin typeface="Calibri"/>
                <a:cs typeface="Calibri"/>
              </a:rPr>
              <a:t>, </a:t>
            </a:r>
            <a:r>
              <a:rPr sz="2400" spc="-10" dirty="0">
                <a:latin typeface="Calibri"/>
                <a:cs typeface="Calibri"/>
              </a:rPr>
              <a:t>project </a:t>
            </a:r>
            <a:r>
              <a:rPr sz="2400" spc="-20" dirty="0">
                <a:latin typeface="Calibri"/>
                <a:cs typeface="Calibri"/>
              </a:rPr>
              <a:t>for </a:t>
            </a:r>
            <a:r>
              <a:rPr sz="2400" spc="-5" dirty="0">
                <a:latin typeface="Calibri"/>
                <a:cs typeface="Calibri"/>
              </a:rPr>
              <a:t>constructing </a:t>
            </a:r>
            <a:r>
              <a:rPr sz="2400" spc="-10" dirty="0">
                <a:latin typeface="Calibri"/>
                <a:cs typeface="Calibri"/>
              </a:rPr>
              <a:t>ground </a:t>
            </a:r>
            <a:r>
              <a:rPr sz="2400" spc="-15" dirty="0">
                <a:latin typeface="Calibri"/>
                <a:cs typeface="Calibri"/>
              </a:rPr>
              <a:t>stations,  </a:t>
            </a:r>
            <a:r>
              <a:rPr sz="2400" spc="-10" dirty="0">
                <a:latin typeface="Calibri"/>
                <a:cs typeface="Calibri"/>
              </a:rPr>
              <a:t>project </a:t>
            </a:r>
            <a:r>
              <a:rPr sz="2400" spc="-20" dirty="0">
                <a:latin typeface="Calibri"/>
                <a:cs typeface="Calibri"/>
              </a:rPr>
              <a:t>for </a:t>
            </a:r>
            <a:r>
              <a:rPr sz="2400" spc="-15" dirty="0">
                <a:latin typeface="Calibri"/>
                <a:cs typeface="Calibri"/>
              </a:rPr>
              <a:t>integration </a:t>
            </a:r>
            <a:r>
              <a:rPr sz="2400" spc="-5" dirty="0">
                <a:latin typeface="Calibri"/>
                <a:cs typeface="Calibri"/>
              </a:rPr>
              <a:t>of </a:t>
            </a:r>
            <a:r>
              <a:rPr sz="2400" spc="-20" dirty="0">
                <a:latin typeface="Calibri"/>
                <a:cs typeface="Calibri"/>
              </a:rPr>
              <a:t>system, </a:t>
            </a:r>
            <a:r>
              <a:rPr sz="2400" spc="-5" dirty="0">
                <a:latin typeface="Calibri"/>
                <a:cs typeface="Calibri"/>
              </a:rPr>
              <a:t>and </a:t>
            </a:r>
            <a:r>
              <a:rPr sz="2400" spc="-10" dirty="0">
                <a:latin typeface="Calibri"/>
                <a:cs typeface="Calibri"/>
              </a:rPr>
              <a:t>project </a:t>
            </a:r>
            <a:r>
              <a:rPr sz="2400" spc="-15" dirty="0">
                <a:latin typeface="Calibri"/>
                <a:cs typeface="Calibri"/>
              </a:rPr>
              <a:t>to </a:t>
            </a:r>
            <a:r>
              <a:rPr sz="2400" dirty="0">
                <a:latin typeface="Calibri"/>
                <a:cs typeface="Calibri"/>
              </a:rPr>
              <a:t>launch  </a:t>
            </a:r>
            <a:r>
              <a:rPr sz="2400" spc="-10" dirty="0">
                <a:latin typeface="Calibri"/>
                <a:cs typeface="Calibri"/>
              </a:rPr>
              <a:t>satellite.</a:t>
            </a:r>
            <a:endParaRPr sz="2400" dirty="0">
              <a:latin typeface="Calibri"/>
              <a:cs typeface="Calibri"/>
            </a:endParaRPr>
          </a:p>
          <a:p>
            <a:pPr marL="355600" marR="5080" indent="-342900">
              <a:lnSpc>
                <a:spcPct val="100000"/>
              </a:lnSpc>
              <a:spcBef>
                <a:spcPts val="585"/>
              </a:spcBef>
              <a:buFont typeface="Wingdings"/>
              <a:buChar char=""/>
              <a:tabLst>
                <a:tab pos="424180" algn="l"/>
                <a:tab pos="424815" algn="l"/>
              </a:tabLst>
            </a:pPr>
            <a:r>
              <a:rPr sz="2400" spc="-15" dirty="0">
                <a:latin typeface="Calibri"/>
                <a:cs typeface="Calibri"/>
              </a:rPr>
              <a:t>Each </a:t>
            </a:r>
            <a:r>
              <a:rPr sz="2400" spc="-10" dirty="0">
                <a:latin typeface="Calibri"/>
                <a:cs typeface="Calibri"/>
              </a:rPr>
              <a:t>project </a:t>
            </a:r>
            <a:r>
              <a:rPr sz="2400" spc="-5" dirty="0">
                <a:latin typeface="Calibri"/>
                <a:cs typeface="Calibri"/>
              </a:rPr>
              <a:t>under </a:t>
            </a:r>
            <a:r>
              <a:rPr sz="2400" dirty="0">
                <a:latin typeface="Calibri"/>
                <a:cs typeface="Calibri"/>
              </a:rPr>
              <a:t>the </a:t>
            </a:r>
            <a:r>
              <a:rPr sz="2400" spc="-15" dirty="0">
                <a:latin typeface="Calibri"/>
                <a:cs typeface="Calibri"/>
              </a:rPr>
              <a:t>program </a:t>
            </a:r>
            <a:r>
              <a:rPr sz="2400" spc="-5" dirty="0">
                <a:latin typeface="Calibri"/>
                <a:cs typeface="Calibri"/>
              </a:rPr>
              <a:t>has </a:t>
            </a:r>
            <a:r>
              <a:rPr sz="2400" dirty="0">
                <a:latin typeface="Calibri"/>
                <a:cs typeface="Calibri"/>
              </a:rPr>
              <a:t>its </a:t>
            </a:r>
            <a:r>
              <a:rPr sz="2400" spc="-10" dirty="0">
                <a:latin typeface="Calibri"/>
                <a:cs typeface="Calibri"/>
              </a:rPr>
              <a:t>own goals </a:t>
            </a:r>
            <a:r>
              <a:rPr sz="2400" spc="-5" dirty="0">
                <a:latin typeface="Calibri"/>
                <a:cs typeface="Calibri"/>
              </a:rPr>
              <a:t>and  </a:t>
            </a:r>
            <a:r>
              <a:rPr sz="2400" spc="-10" dirty="0">
                <a:latin typeface="Calibri"/>
                <a:cs typeface="Calibri"/>
              </a:rPr>
              <a:t>objectives that </a:t>
            </a:r>
            <a:r>
              <a:rPr sz="2400" spc="-15" dirty="0">
                <a:latin typeface="Calibri"/>
                <a:cs typeface="Calibri"/>
              </a:rPr>
              <a:t>are </a:t>
            </a:r>
            <a:r>
              <a:rPr sz="2400" dirty="0">
                <a:latin typeface="Calibri"/>
                <a:cs typeface="Calibri"/>
              </a:rPr>
              <a:t>in </a:t>
            </a:r>
            <a:r>
              <a:rPr sz="2400" spc="-5" dirty="0">
                <a:latin typeface="Calibri"/>
                <a:cs typeface="Calibri"/>
              </a:rPr>
              <a:t>alignment </a:t>
            </a:r>
            <a:r>
              <a:rPr sz="2400" dirty="0">
                <a:latin typeface="Calibri"/>
                <a:cs typeface="Calibri"/>
              </a:rPr>
              <a:t>with the </a:t>
            </a:r>
            <a:r>
              <a:rPr sz="2400" spc="-5" dirty="0">
                <a:latin typeface="Calibri"/>
                <a:cs typeface="Calibri"/>
              </a:rPr>
              <a:t>mission of </a:t>
            </a:r>
            <a:r>
              <a:rPr sz="2400" spc="-10" dirty="0">
                <a:latin typeface="Calibri"/>
                <a:cs typeface="Calibri"/>
              </a:rPr>
              <a:t>installing  </a:t>
            </a:r>
            <a:r>
              <a:rPr sz="2400" spc="-5" dirty="0">
                <a:latin typeface="Calibri"/>
                <a:cs typeface="Calibri"/>
              </a:rPr>
              <a:t>new </a:t>
            </a:r>
            <a:r>
              <a:rPr sz="2400" spc="-10" dirty="0">
                <a:latin typeface="Calibri"/>
                <a:cs typeface="Calibri"/>
              </a:rPr>
              <a:t>communication satellite</a:t>
            </a:r>
            <a:r>
              <a:rPr sz="2400" spc="-45" dirty="0">
                <a:latin typeface="Calibri"/>
                <a:cs typeface="Calibri"/>
              </a:rPr>
              <a:t> </a:t>
            </a:r>
            <a:r>
              <a:rPr sz="2400" spc="-25" dirty="0">
                <a:latin typeface="Calibri"/>
                <a:cs typeface="Calibri"/>
              </a:rPr>
              <a:t>system</a:t>
            </a:r>
            <a:endParaRPr sz="2400" dirty="0">
              <a:latin typeface="Calibri"/>
              <a:cs typeface="Calibri"/>
            </a:endParaRPr>
          </a:p>
        </p:txBody>
      </p:sp>
    </p:spTree>
    <p:extLst>
      <p:ext uri="{BB962C8B-B14F-4D97-AF65-F5344CB8AC3E}">
        <p14:creationId xmlns:p14="http://schemas.microsoft.com/office/powerpoint/2010/main" val="1046156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b="1" dirty="0"/>
              <a:t>Program and project</a:t>
            </a:r>
            <a:r>
              <a:rPr lang="en-GB" dirty="0"/>
              <a:t> management focus on doing programs and projects the “right” way; and</a:t>
            </a:r>
          </a:p>
          <a:p>
            <a:r>
              <a:rPr lang="en-GB" b="1" dirty="0"/>
              <a:t>Portfolio management</a:t>
            </a:r>
            <a:r>
              <a:rPr lang="en-GB" dirty="0"/>
              <a:t> focuses on doing the “right” programs and projects.</a:t>
            </a:r>
          </a:p>
          <a:p>
            <a:r>
              <a:rPr lang="en-GB" dirty="0"/>
              <a:t> </a:t>
            </a:r>
          </a:p>
          <a:p>
            <a:endParaRPr lang="en-GB" dirty="0"/>
          </a:p>
        </p:txBody>
      </p:sp>
    </p:spTree>
    <p:extLst>
      <p:ext uri="{BB962C8B-B14F-4D97-AF65-F5344CB8AC3E}">
        <p14:creationId xmlns:p14="http://schemas.microsoft.com/office/powerpoint/2010/main" val="819414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36" y="476672"/>
            <a:ext cx="8376563" cy="5752104"/>
          </a:xfrm>
        </p:spPr>
      </p:pic>
    </p:spTree>
    <p:extLst>
      <p:ext uri="{BB962C8B-B14F-4D97-AF65-F5344CB8AC3E}">
        <p14:creationId xmlns:p14="http://schemas.microsoft.com/office/powerpoint/2010/main" val="4045936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142103"/>
            <a:ext cx="7636460" cy="566181"/>
          </a:xfrm>
          <a:prstGeom prst="rect">
            <a:avLst/>
          </a:prstGeom>
        </p:spPr>
        <p:txBody>
          <a:bodyPr vert="horz" wrap="square" lIns="0" tIns="12065" rIns="0" bIns="0" rtlCol="0">
            <a:spAutoFit/>
          </a:bodyPr>
          <a:lstStyle/>
          <a:p>
            <a:pPr marL="12700" algn="l">
              <a:lnSpc>
                <a:spcPct val="100000"/>
              </a:lnSpc>
              <a:spcBef>
                <a:spcPts val="95"/>
              </a:spcBef>
            </a:pPr>
            <a:r>
              <a:rPr sz="3600" b="1" spc="-15" dirty="0"/>
              <a:t>Operations </a:t>
            </a:r>
            <a:r>
              <a:rPr sz="3600" b="1" spc="-5" dirty="0"/>
              <a:t>&amp; </a:t>
            </a:r>
            <a:r>
              <a:rPr sz="3600" b="1" spc="-10" dirty="0"/>
              <a:t>Project</a:t>
            </a:r>
            <a:r>
              <a:rPr sz="3600" b="1" spc="35" dirty="0"/>
              <a:t> </a:t>
            </a:r>
            <a:r>
              <a:rPr sz="3600" b="1" spc="-15" dirty="0"/>
              <a:t>Management</a:t>
            </a:r>
          </a:p>
        </p:txBody>
      </p:sp>
      <p:sp>
        <p:nvSpPr>
          <p:cNvPr id="4" name="object 4"/>
          <p:cNvSpPr txBox="1"/>
          <p:nvPr/>
        </p:nvSpPr>
        <p:spPr>
          <a:xfrm>
            <a:off x="1658492" y="6499580"/>
            <a:ext cx="5838190" cy="348615"/>
          </a:xfrm>
          <a:prstGeom prst="rect">
            <a:avLst/>
          </a:prstGeom>
        </p:spPr>
        <p:txBody>
          <a:bodyPr vert="horz" wrap="square" lIns="0" tIns="0" rIns="0" bIns="0" rtlCol="0">
            <a:spAutoFit/>
          </a:bodyPr>
          <a:lstStyle/>
          <a:p>
            <a:pPr algn="ctr">
              <a:lnSpc>
                <a:spcPts val="910"/>
              </a:lnSpc>
            </a:pPr>
            <a:r>
              <a:rPr sz="850" b="1" spc="-5" dirty="0">
                <a:solidFill>
                  <a:srgbClr val="FFFFFF"/>
                </a:solidFill>
                <a:latin typeface="Calibri"/>
                <a:cs typeface="Calibri"/>
              </a:rPr>
              <a:t>PMI, PMP, PMBOK </a:t>
            </a:r>
            <a:r>
              <a:rPr sz="850" b="1" dirty="0">
                <a:solidFill>
                  <a:srgbClr val="FFFFFF"/>
                </a:solidFill>
                <a:latin typeface="Calibri"/>
                <a:cs typeface="Calibri"/>
              </a:rPr>
              <a:t>and the </a:t>
            </a:r>
            <a:r>
              <a:rPr sz="850" b="1" spc="-5" dirty="0">
                <a:solidFill>
                  <a:srgbClr val="FFFFFF"/>
                </a:solidFill>
                <a:latin typeface="Calibri"/>
                <a:cs typeface="Calibri"/>
              </a:rPr>
              <a:t>PMI Registered Education Provider logo are registered </a:t>
            </a:r>
            <a:r>
              <a:rPr sz="850" b="1" dirty="0">
                <a:solidFill>
                  <a:srgbClr val="FFFFFF"/>
                </a:solidFill>
                <a:latin typeface="Calibri"/>
                <a:cs typeface="Calibri"/>
              </a:rPr>
              <a:t>marks </a:t>
            </a:r>
            <a:r>
              <a:rPr sz="850" b="1" spc="-5" dirty="0">
                <a:solidFill>
                  <a:srgbClr val="FFFFFF"/>
                </a:solidFill>
                <a:latin typeface="Calibri"/>
                <a:cs typeface="Calibri"/>
              </a:rPr>
              <a:t>of </a:t>
            </a:r>
            <a:r>
              <a:rPr sz="850" b="1" dirty="0">
                <a:solidFill>
                  <a:srgbClr val="FFFFFF"/>
                </a:solidFill>
                <a:latin typeface="Calibri"/>
                <a:cs typeface="Calibri"/>
              </a:rPr>
              <a:t>the </a:t>
            </a:r>
            <a:r>
              <a:rPr sz="850" b="1" spc="-5" dirty="0">
                <a:solidFill>
                  <a:srgbClr val="FFFFFF"/>
                </a:solidFill>
                <a:latin typeface="Calibri"/>
                <a:cs typeface="Calibri"/>
              </a:rPr>
              <a:t>Project Management Institute,</a:t>
            </a:r>
            <a:r>
              <a:rPr sz="850" b="1" spc="-70" dirty="0">
                <a:solidFill>
                  <a:srgbClr val="FFFFFF"/>
                </a:solidFill>
                <a:latin typeface="Calibri"/>
                <a:cs typeface="Calibri"/>
              </a:rPr>
              <a:t> </a:t>
            </a:r>
            <a:r>
              <a:rPr sz="850" b="1" dirty="0">
                <a:solidFill>
                  <a:srgbClr val="FFFFFF"/>
                </a:solidFill>
                <a:latin typeface="Calibri"/>
                <a:cs typeface="Calibri"/>
              </a:rPr>
              <a:t>Inc.</a:t>
            </a:r>
            <a:endParaRPr sz="850">
              <a:latin typeface="Calibri"/>
              <a:cs typeface="Calibri"/>
            </a:endParaRPr>
          </a:p>
          <a:p>
            <a:pPr marR="1905" algn="ctr">
              <a:lnSpc>
                <a:spcPct val="100000"/>
              </a:lnSpc>
              <a:spcBef>
                <a:spcPts val="359"/>
              </a:spcBef>
            </a:pPr>
            <a:r>
              <a:rPr sz="1100" dirty="0">
                <a:solidFill>
                  <a:srgbClr val="404040"/>
                </a:solidFill>
                <a:latin typeface="Calibri"/>
                <a:cs typeface="Calibri"/>
              </a:rPr>
              <a:t>© </a:t>
            </a:r>
            <a:r>
              <a:rPr sz="1100" spc="-5" dirty="0">
                <a:solidFill>
                  <a:srgbClr val="404040"/>
                </a:solidFill>
                <a:latin typeface="Calibri"/>
                <a:cs typeface="Calibri"/>
              </a:rPr>
              <a:t>All rights</a:t>
            </a:r>
            <a:r>
              <a:rPr sz="1100" spc="-30" dirty="0">
                <a:solidFill>
                  <a:srgbClr val="404040"/>
                </a:solidFill>
                <a:latin typeface="Calibri"/>
                <a:cs typeface="Calibri"/>
              </a:rPr>
              <a:t> </a:t>
            </a:r>
            <a:r>
              <a:rPr sz="1100" dirty="0">
                <a:solidFill>
                  <a:srgbClr val="404040"/>
                </a:solidFill>
                <a:latin typeface="Calibri"/>
                <a:cs typeface="Calibri"/>
              </a:rPr>
              <a:t>reserved</a:t>
            </a:r>
            <a:endParaRPr sz="1100">
              <a:latin typeface="Calibri"/>
              <a:cs typeface="Calibri"/>
            </a:endParaRPr>
          </a:p>
        </p:txBody>
      </p:sp>
      <p:sp>
        <p:nvSpPr>
          <p:cNvPr id="5" name="object 5"/>
          <p:cNvSpPr txBox="1"/>
          <p:nvPr/>
        </p:nvSpPr>
        <p:spPr>
          <a:xfrm>
            <a:off x="78739" y="6682537"/>
            <a:ext cx="1372235" cy="165735"/>
          </a:xfrm>
          <a:prstGeom prst="rect">
            <a:avLst/>
          </a:prstGeom>
        </p:spPr>
        <p:txBody>
          <a:bodyPr vert="horz" wrap="square" lIns="0" tIns="0" rIns="0" bIns="0" rtlCol="0">
            <a:spAutoFit/>
          </a:bodyPr>
          <a:lstStyle/>
          <a:p>
            <a:pPr marL="12700">
              <a:lnSpc>
                <a:spcPts val="1150"/>
              </a:lnSpc>
            </a:pPr>
            <a:r>
              <a:rPr sz="1100" spc="-5" dirty="0">
                <a:solidFill>
                  <a:srgbClr val="404040"/>
                </a:solidFill>
                <a:latin typeface="Calibri"/>
                <a:cs typeface="Calibri"/>
                <a:hlinkClick r:id="rId2"/>
              </a:rPr>
              <a:t>www.3foldtraining.com</a:t>
            </a:r>
            <a:endParaRPr sz="1100">
              <a:latin typeface="Calibri"/>
              <a:cs typeface="Calibri"/>
            </a:endParaRP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latin typeface="Calibri"/>
                <a:cs typeface="Calibri"/>
              </a:rPr>
              <a:t>16</a:t>
            </a:fld>
            <a:endParaRPr sz="1100">
              <a:latin typeface="Calibri"/>
              <a:cs typeface="Calibri"/>
            </a:endParaRPr>
          </a:p>
        </p:txBody>
      </p:sp>
      <p:sp>
        <p:nvSpPr>
          <p:cNvPr id="3" name="object 3"/>
          <p:cNvSpPr txBox="1"/>
          <p:nvPr/>
        </p:nvSpPr>
        <p:spPr>
          <a:xfrm>
            <a:off x="612140" y="2147026"/>
            <a:ext cx="7353300" cy="3554819"/>
          </a:xfrm>
          <a:prstGeom prst="rect">
            <a:avLst/>
          </a:prstGeom>
        </p:spPr>
        <p:txBody>
          <a:bodyPr vert="horz" wrap="square" lIns="0" tIns="88900" rIns="0" bIns="0" rtlCol="0">
            <a:spAutoFit/>
          </a:bodyPr>
          <a:lstStyle/>
          <a:p>
            <a:pPr marL="355600" indent="-342900">
              <a:lnSpc>
                <a:spcPct val="100000"/>
              </a:lnSpc>
              <a:spcBef>
                <a:spcPts val="100"/>
              </a:spcBef>
              <a:buFont typeface="Wingdings"/>
              <a:buChar char=""/>
              <a:tabLst>
                <a:tab pos="355600" algn="l"/>
                <a:tab pos="356235" algn="l"/>
              </a:tabLst>
            </a:pPr>
            <a:r>
              <a:rPr lang="en-GB" sz="2400" b="1" spc="-10" dirty="0">
                <a:latin typeface="Calibri"/>
                <a:cs typeface="Calibri"/>
              </a:rPr>
              <a:t>Operations Management </a:t>
            </a:r>
            <a:r>
              <a:rPr lang="en-GB" sz="2400" spc="-5" dirty="0">
                <a:cs typeface="Calibri"/>
              </a:rPr>
              <a:t>manages </a:t>
            </a:r>
            <a:r>
              <a:rPr lang="en-GB" sz="2400" spc="-10" dirty="0">
                <a:cs typeface="Calibri"/>
              </a:rPr>
              <a:t>ongoing production</a:t>
            </a:r>
            <a:r>
              <a:rPr lang="en-GB" sz="2400" spc="-30" dirty="0">
                <a:cs typeface="Calibri"/>
              </a:rPr>
              <a:t> </a:t>
            </a:r>
            <a:r>
              <a:rPr lang="en-GB" sz="2400" spc="-5" dirty="0">
                <a:cs typeface="Calibri"/>
              </a:rPr>
              <a:t>of</a:t>
            </a:r>
            <a:r>
              <a:rPr lang="en-GB" sz="2400" dirty="0">
                <a:cs typeface="Calibri"/>
              </a:rPr>
              <a:t> </a:t>
            </a:r>
            <a:r>
              <a:rPr lang="en-GB" sz="2400" spc="-10" dirty="0">
                <a:cs typeface="Calibri"/>
              </a:rPr>
              <a:t>goods </a:t>
            </a:r>
            <a:r>
              <a:rPr lang="en-GB" sz="2400" spc="-5" dirty="0">
                <a:cs typeface="Calibri"/>
              </a:rPr>
              <a:t>and </a:t>
            </a:r>
            <a:r>
              <a:rPr lang="en-GB" sz="2400" spc="-10" dirty="0">
                <a:cs typeface="Calibri"/>
              </a:rPr>
              <a:t>or</a:t>
            </a:r>
            <a:r>
              <a:rPr lang="en-GB" sz="2400" dirty="0">
                <a:cs typeface="Calibri"/>
              </a:rPr>
              <a:t> services </a:t>
            </a:r>
          </a:p>
          <a:p>
            <a:pPr marL="355600" indent="-342900">
              <a:lnSpc>
                <a:spcPct val="100000"/>
              </a:lnSpc>
              <a:spcBef>
                <a:spcPts val="100"/>
              </a:spcBef>
              <a:buFont typeface="Wingdings"/>
              <a:buChar char=""/>
              <a:tabLst>
                <a:tab pos="355600" algn="l"/>
                <a:tab pos="356235" algn="l"/>
              </a:tabLst>
            </a:pPr>
            <a:endParaRPr lang="en-GB" sz="2400" b="1" spc="-10" dirty="0">
              <a:latin typeface="Calibri"/>
              <a:cs typeface="Calibri"/>
            </a:endParaRPr>
          </a:p>
          <a:p>
            <a:pPr marL="355600" indent="-342900">
              <a:lnSpc>
                <a:spcPct val="100000"/>
              </a:lnSpc>
              <a:spcBef>
                <a:spcPts val="100"/>
              </a:spcBef>
              <a:buFont typeface="Wingdings"/>
              <a:buChar char=""/>
              <a:tabLst>
                <a:tab pos="355600" algn="l"/>
                <a:tab pos="356235" algn="l"/>
              </a:tabLst>
            </a:pPr>
            <a:r>
              <a:rPr sz="2400" b="1" spc="-10" dirty="0">
                <a:latin typeface="Calibri"/>
                <a:cs typeface="Calibri"/>
              </a:rPr>
              <a:t>Projects</a:t>
            </a:r>
            <a:r>
              <a:rPr sz="2400" spc="-10" dirty="0">
                <a:latin typeface="Calibri"/>
                <a:cs typeface="Calibri"/>
              </a:rPr>
              <a:t> can </a:t>
            </a:r>
            <a:r>
              <a:rPr sz="2400" spc="-15" dirty="0">
                <a:latin typeface="Calibri"/>
                <a:cs typeface="Calibri"/>
              </a:rPr>
              <a:t>intersect </a:t>
            </a:r>
            <a:r>
              <a:rPr sz="2400" dirty="0">
                <a:latin typeface="Calibri"/>
                <a:cs typeface="Calibri"/>
              </a:rPr>
              <a:t>with </a:t>
            </a:r>
            <a:r>
              <a:rPr sz="2400" spc="-10" dirty="0">
                <a:latin typeface="Calibri"/>
                <a:cs typeface="Calibri"/>
              </a:rPr>
              <a:t>operations </a:t>
            </a:r>
            <a:r>
              <a:rPr sz="2400" spc="-15" dirty="0">
                <a:latin typeface="Calibri"/>
                <a:cs typeface="Calibri"/>
              </a:rPr>
              <a:t>at </a:t>
            </a:r>
            <a:r>
              <a:rPr sz="2400" spc="-10" dirty="0">
                <a:latin typeface="Calibri"/>
                <a:cs typeface="Calibri"/>
              </a:rPr>
              <a:t>various</a:t>
            </a:r>
            <a:r>
              <a:rPr sz="2400" spc="-25" dirty="0">
                <a:latin typeface="Calibri"/>
                <a:cs typeface="Calibri"/>
              </a:rPr>
              <a:t> </a:t>
            </a:r>
            <a:r>
              <a:rPr sz="2400" spc="-10" dirty="0">
                <a:latin typeface="Calibri"/>
                <a:cs typeface="Calibri"/>
              </a:rPr>
              <a:t>points</a:t>
            </a:r>
            <a:endParaRPr sz="2400" dirty="0">
              <a:latin typeface="Calibri"/>
              <a:cs typeface="Calibri"/>
            </a:endParaRPr>
          </a:p>
          <a:p>
            <a:pPr marL="756285" indent="-286385">
              <a:lnSpc>
                <a:spcPct val="100000"/>
              </a:lnSpc>
              <a:spcBef>
                <a:spcPts val="550"/>
              </a:spcBef>
              <a:buFont typeface="Arial"/>
              <a:buChar char="•"/>
              <a:tabLst>
                <a:tab pos="756285" algn="l"/>
                <a:tab pos="756920" algn="l"/>
              </a:tabLst>
            </a:pPr>
            <a:r>
              <a:rPr sz="2200" spc="-10" dirty="0">
                <a:latin typeface="Calibri"/>
                <a:cs typeface="Calibri"/>
              </a:rPr>
              <a:t>During </a:t>
            </a:r>
            <a:r>
              <a:rPr sz="2200" spc="-5" dirty="0">
                <a:latin typeface="Calibri"/>
                <a:cs typeface="Calibri"/>
              </a:rPr>
              <a:t>closeout phase</a:t>
            </a:r>
            <a:endParaRPr sz="2200" dirty="0">
              <a:latin typeface="Calibri"/>
              <a:cs typeface="Calibri"/>
            </a:endParaRPr>
          </a:p>
          <a:p>
            <a:pPr marL="756285" indent="-286385">
              <a:lnSpc>
                <a:spcPct val="100000"/>
              </a:lnSpc>
              <a:spcBef>
                <a:spcPts val="530"/>
              </a:spcBef>
              <a:buFont typeface="Arial"/>
              <a:buChar char="•"/>
              <a:tabLst>
                <a:tab pos="756285" algn="l"/>
                <a:tab pos="756920" algn="l"/>
              </a:tabLst>
            </a:pPr>
            <a:r>
              <a:rPr sz="2200" spc="-5" dirty="0">
                <a:latin typeface="Calibri"/>
                <a:cs typeface="Calibri"/>
              </a:rPr>
              <a:t>When </a:t>
            </a:r>
            <a:r>
              <a:rPr sz="2200" spc="-10" dirty="0">
                <a:latin typeface="Calibri"/>
                <a:cs typeface="Calibri"/>
              </a:rPr>
              <a:t>developing </a:t>
            </a:r>
            <a:r>
              <a:rPr sz="2200" spc="-5" dirty="0">
                <a:latin typeface="Calibri"/>
                <a:cs typeface="Calibri"/>
              </a:rPr>
              <a:t>a </a:t>
            </a:r>
            <a:r>
              <a:rPr sz="2200" spc="-10" dirty="0">
                <a:latin typeface="Calibri"/>
                <a:cs typeface="Calibri"/>
              </a:rPr>
              <a:t>new </a:t>
            </a:r>
            <a:r>
              <a:rPr sz="2200" spc="-15" dirty="0">
                <a:latin typeface="Calibri"/>
                <a:cs typeface="Calibri"/>
              </a:rPr>
              <a:t>product, upgrading </a:t>
            </a:r>
            <a:r>
              <a:rPr sz="2200" spc="-5" dirty="0">
                <a:latin typeface="Calibri"/>
                <a:cs typeface="Calibri"/>
              </a:rPr>
              <a:t>a </a:t>
            </a:r>
            <a:r>
              <a:rPr sz="2200" spc="-15" dirty="0">
                <a:latin typeface="Calibri"/>
                <a:cs typeface="Calibri"/>
              </a:rPr>
              <a:t>product,</a:t>
            </a:r>
            <a:r>
              <a:rPr sz="2200" spc="125" dirty="0">
                <a:latin typeface="Calibri"/>
                <a:cs typeface="Calibri"/>
              </a:rPr>
              <a:t> </a:t>
            </a:r>
            <a:r>
              <a:rPr sz="2200" spc="-20" dirty="0" err="1">
                <a:latin typeface="Calibri"/>
                <a:cs typeface="Calibri"/>
              </a:rPr>
              <a:t>etc</a:t>
            </a:r>
            <a:endParaRPr lang="en-GB" sz="2200" spc="-20" dirty="0">
              <a:latin typeface="Calibri"/>
              <a:cs typeface="Calibri"/>
            </a:endParaRPr>
          </a:p>
          <a:p>
            <a:pPr marL="469900">
              <a:lnSpc>
                <a:spcPct val="100000"/>
              </a:lnSpc>
              <a:spcBef>
                <a:spcPts val="530"/>
              </a:spcBef>
              <a:tabLst>
                <a:tab pos="756285" algn="l"/>
                <a:tab pos="756920" algn="l"/>
              </a:tabLst>
            </a:pPr>
            <a:endParaRPr lang="en-GB" sz="2200" spc="-20" dirty="0">
              <a:latin typeface="Calibri"/>
              <a:cs typeface="Calibri"/>
            </a:endParaRPr>
          </a:p>
          <a:p>
            <a:pPr marL="469900">
              <a:lnSpc>
                <a:spcPct val="100000"/>
              </a:lnSpc>
              <a:spcBef>
                <a:spcPts val="530"/>
              </a:spcBef>
              <a:tabLst>
                <a:tab pos="756285" algn="l"/>
                <a:tab pos="756920" algn="l"/>
              </a:tabLst>
            </a:pPr>
            <a:r>
              <a:rPr lang="en-GB" sz="2200" spc="-20" dirty="0">
                <a:latin typeface="Calibri"/>
                <a:cs typeface="Calibri"/>
              </a:rPr>
              <a:t>This interaction mainly includes knowledge transfer from Project team to operation team.</a:t>
            </a:r>
            <a:endParaRPr sz="2200" dirty="0">
              <a:latin typeface="Calibri"/>
              <a:cs typeface="Calibri"/>
            </a:endParaRPr>
          </a:p>
        </p:txBody>
      </p:sp>
    </p:spTree>
    <p:extLst>
      <p:ext uri="{BB962C8B-B14F-4D97-AF65-F5344CB8AC3E}">
        <p14:creationId xmlns:p14="http://schemas.microsoft.com/office/powerpoint/2010/main" val="2480347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930910"/>
            <a:ext cx="7969884" cy="3071995"/>
          </a:xfrm>
          <a:prstGeom prst="rect">
            <a:avLst/>
          </a:prstGeom>
        </p:spPr>
        <p:txBody>
          <a:bodyPr vert="horz" wrap="square" lIns="0" tIns="12065" rIns="0" bIns="0" rtlCol="0">
            <a:spAutoFit/>
          </a:bodyPr>
          <a:lstStyle/>
          <a:p>
            <a:pPr marL="12700" marR="116839">
              <a:spcBef>
                <a:spcPts val="95"/>
              </a:spcBef>
            </a:pPr>
            <a:r>
              <a:rPr sz="2200" b="1" spc="-15" dirty="0">
                <a:cs typeface="Calibri"/>
              </a:rPr>
              <a:t>Relationship </a:t>
            </a:r>
            <a:r>
              <a:rPr sz="2200" b="1" spc="-5" dirty="0">
                <a:cs typeface="Calibri"/>
              </a:rPr>
              <a:t>Among </a:t>
            </a:r>
            <a:r>
              <a:rPr sz="2200" b="1" spc="-15" dirty="0">
                <a:cs typeface="Calibri"/>
              </a:rPr>
              <a:t>Portfolio Management, Program Management,  </a:t>
            </a:r>
            <a:r>
              <a:rPr sz="2200" b="1" spc="-10" dirty="0">
                <a:cs typeface="Calibri"/>
              </a:rPr>
              <a:t>and </a:t>
            </a:r>
            <a:r>
              <a:rPr sz="2200" b="1" spc="-15" dirty="0">
                <a:cs typeface="Calibri"/>
              </a:rPr>
              <a:t>organizational </a:t>
            </a:r>
            <a:r>
              <a:rPr sz="2200" b="1" spc="-10" dirty="0">
                <a:cs typeface="Calibri"/>
              </a:rPr>
              <a:t>Project</a:t>
            </a:r>
            <a:r>
              <a:rPr sz="2200" b="1" spc="100" dirty="0">
                <a:cs typeface="Calibri"/>
              </a:rPr>
              <a:t> </a:t>
            </a:r>
            <a:r>
              <a:rPr sz="2200" b="1" spc="-15" dirty="0">
                <a:cs typeface="Calibri"/>
              </a:rPr>
              <a:t>Management</a:t>
            </a:r>
            <a:endParaRPr sz="2200" dirty="0">
              <a:cs typeface="Calibri"/>
            </a:endParaRPr>
          </a:p>
          <a:p>
            <a:pPr marL="431800" indent="-342900">
              <a:spcBef>
                <a:spcPts val="1900"/>
              </a:spcBef>
              <a:buFont typeface="Wingdings"/>
              <a:buChar char=""/>
              <a:tabLst>
                <a:tab pos="431165" algn="l"/>
                <a:tab pos="431800" algn="l"/>
              </a:tabLst>
            </a:pPr>
            <a:r>
              <a:rPr sz="2400" spc="-15" dirty="0">
                <a:cs typeface="Calibri"/>
              </a:rPr>
              <a:t>Organizational </a:t>
            </a:r>
            <a:r>
              <a:rPr sz="2400" spc="-10" dirty="0">
                <a:cs typeface="Calibri"/>
              </a:rPr>
              <a:t>Project </a:t>
            </a:r>
            <a:r>
              <a:rPr sz="2400" spc="-5" dirty="0">
                <a:cs typeface="Calibri"/>
              </a:rPr>
              <a:t>Management</a:t>
            </a:r>
            <a:r>
              <a:rPr sz="2400" spc="-25" dirty="0">
                <a:cs typeface="Calibri"/>
              </a:rPr>
              <a:t> </a:t>
            </a:r>
            <a:r>
              <a:rPr sz="2400" spc="-5" dirty="0">
                <a:cs typeface="Calibri"/>
              </a:rPr>
              <a:t>(OPM):</a:t>
            </a:r>
            <a:endParaRPr sz="2400" dirty="0">
              <a:cs typeface="Calibri"/>
            </a:endParaRPr>
          </a:p>
          <a:p>
            <a:pPr marL="832485" marR="5080" indent="-287020">
              <a:spcBef>
                <a:spcPts val="550"/>
              </a:spcBef>
            </a:pPr>
            <a:r>
              <a:rPr sz="2200" spc="-5" dirty="0">
                <a:cs typeface="Calibri"/>
              </a:rPr>
              <a:t>“ </a:t>
            </a:r>
            <a:r>
              <a:rPr sz="2200" spc="-10" dirty="0">
                <a:cs typeface="Calibri"/>
              </a:rPr>
              <a:t>OPM </a:t>
            </a:r>
            <a:r>
              <a:rPr sz="2200" spc="-5" dirty="0">
                <a:cs typeface="Calibri"/>
              </a:rPr>
              <a:t>is </a:t>
            </a:r>
            <a:r>
              <a:rPr sz="2200" spc="-20" dirty="0">
                <a:cs typeface="Calibri"/>
              </a:rPr>
              <a:t>strategy </a:t>
            </a:r>
            <a:r>
              <a:rPr sz="2200" spc="-15" dirty="0">
                <a:cs typeface="Calibri"/>
              </a:rPr>
              <a:t>execution framework </a:t>
            </a:r>
            <a:r>
              <a:rPr sz="2200" spc="-5" dirty="0">
                <a:cs typeface="Calibri"/>
              </a:rPr>
              <a:t>utilizing </a:t>
            </a:r>
            <a:r>
              <a:rPr sz="2200" spc="-15" dirty="0">
                <a:cs typeface="Calibri"/>
              </a:rPr>
              <a:t>project, </a:t>
            </a:r>
            <a:r>
              <a:rPr sz="2200" spc="-20" dirty="0">
                <a:cs typeface="Calibri"/>
              </a:rPr>
              <a:t>program,  </a:t>
            </a:r>
            <a:r>
              <a:rPr sz="2200" spc="-10" dirty="0">
                <a:cs typeface="Calibri"/>
              </a:rPr>
              <a:t>and portfolio management </a:t>
            </a:r>
            <a:r>
              <a:rPr sz="2200" spc="-5" dirty="0">
                <a:cs typeface="Calibri"/>
              </a:rPr>
              <a:t>as </a:t>
            </a:r>
            <a:r>
              <a:rPr sz="2200" spc="-10" dirty="0">
                <a:cs typeface="Calibri"/>
              </a:rPr>
              <a:t>well </a:t>
            </a:r>
            <a:r>
              <a:rPr sz="2200" spc="-5" dirty="0">
                <a:cs typeface="Calibri"/>
              </a:rPr>
              <a:t>as </a:t>
            </a:r>
            <a:r>
              <a:rPr sz="2200" spc="-15" dirty="0">
                <a:cs typeface="Calibri"/>
              </a:rPr>
              <a:t>organizational </a:t>
            </a:r>
            <a:r>
              <a:rPr sz="2200" spc="-5" dirty="0">
                <a:cs typeface="Calibri"/>
              </a:rPr>
              <a:t>enabling  </a:t>
            </a:r>
            <a:r>
              <a:rPr sz="2200" spc="-10" dirty="0">
                <a:cs typeface="Calibri"/>
              </a:rPr>
              <a:t>practices </a:t>
            </a:r>
            <a:r>
              <a:rPr sz="2200" spc="-20" dirty="0">
                <a:cs typeface="Calibri"/>
              </a:rPr>
              <a:t>to </a:t>
            </a:r>
            <a:r>
              <a:rPr sz="2200" spc="-15" dirty="0">
                <a:cs typeface="Calibri"/>
              </a:rPr>
              <a:t>consistently </a:t>
            </a:r>
            <a:r>
              <a:rPr sz="2200" spc="-5" dirty="0">
                <a:cs typeface="Calibri"/>
              </a:rPr>
              <a:t>and </a:t>
            </a:r>
            <a:r>
              <a:rPr sz="2200" spc="-10" dirty="0">
                <a:cs typeface="Calibri"/>
              </a:rPr>
              <a:t>predictably deliver </a:t>
            </a:r>
            <a:r>
              <a:rPr sz="2200" spc="-15" dirty="0">
                <a:cs typeface="Calibri"/>
              </a:rPr>
              <a:t>organizational  </a:t>
            </a:r>
            <a:r>
              <a:rPr sz="2200" spc="-20" dirty="0">
                <a:cs typeface="Calibri"/>
              </a:rPr>
              <a:t>strategy </a:t>
            </a:r>
            <a:r>
              <a:rPr sz="2200" spc="-10" dirty="0">
                <a:cs typeface="Calibri"/>
              </a:rPr>
              <a:t>producing </a:t>
            </a:r>
            <a:r>
              <a:rPr sz="2200" spc="-20" dirty="0">
                <a:cs typeface="Calibri"/>
              </a:rPr>
              <a:t>better </a:t>
            </a:r>
            <a:r>
              <a:rPr sz="2200" spc="-10" dirty="0">
                <a:cs typeface="Calibri"/>
              </a:rPr>
              <a:t>performance, </a:t>
            </a:r>
            <a:r>
              <a:rPr sz="2200" spc="-20" dirty="0">
                <a:cs typeface="Calibri"/>
              </a:rPr>
              <a:t>better </a:t>
            </a:r>
            <a:r>
              <a:rPr sz="2200" spc="-5" dirty="0">
                <a:cs typeface="Calibri"/>
              </a:rPr>
              <a:t>results, </a:t>
            </a:r>
            <a:r>
              <a:rPr sz="2200" spc="-10" dirty="0">
                <a:cs typeface="Calibri"/>
              </a:rPr>
              <a:t>and  sustainable competitive</a:t>
            </a:r>
            <a:r>
              <a:rPr sz="2200" spc="10" dirty="0">
                <a:cs typeface="Calibri"/>
              </a:rPr>
              <a:t> </a:t>
            </a:r>
            <a:r>
              <a:rPr sz="2200" spc="-15" dirty="0">
                <a:cs typeface="Calibri"/>
              </a:rPr>
              <a:t>advantage”</a:t>
            </a:r>
            <a:endParaRPr sz="2200" dirty="0">
              <a:cs typeface="Calibri"/>
            </a:endParaRPr>
          </a:p>
        </p:txBody>
      </p:sp>
      <p:sp>
        <p:nvSpPr>
          <p:cNvPr id="5" name="object 5"/>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solidFill>
                  <a:prstClr val="black"/>
                </a:solidFill>
                <a:cs typeface="Calibri"/>
              </a:rPr>
              <a:pPr marL="25400">
                <a:lnSpc>
                  <a:spcPts val="1150"/>
                </a:lnSpc>
              </a:pPr>
              <a:t>17</a:t>
            </a:fld>
            <a:endParaRPr sz="1100">
              <a:solidFill>
                <a:prstClr val="black"/>
              </a:solidFill>
              <a:cs typeface="Calibri"/>
            </a:endParaRPr>
          </a:p>
        </p:txBody>
      </p:sp>
    </p:spTree>
    <p:extLst>
      <p:ext uri="{BB962C8B-B14F-4D97-AF65-F5344CB8AC3E}">
        <p14:creationId xmlns:p14="http://schemas.microsoft.com/office/powerpoint/2010/main" val="385221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548680"/>
            <a:ext cx="7677390" cy="5650977"/>
          </a:xfrm>
          <a:prstGeom prst="rect">
            <a:avLst/>
          </a:prstGeom>
        </p:spPr>
      </p:pic>
    </p:spTree>
    <p:extLst>
      <p:ext uri="{BB962C8B-B14F-4D97-AF65-F5344CB8AC3E}">
        <p14:creationId xmlns:p14="http://schemas.microsoft.com/office/powerpoint/2010/main" val="2369622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930910"/>
            <a:ext cx="7969884" cy="3472104"/>
          </a:xfrm>
          <a:prstGeom prst="rect">
            <a:avLst/>
          </a:prstGeom>
        </p:spPr>
        <p:txBody>
          <a:bodyPr vert="horz" wrap="square" lIns="0" tIns="12065" rIns="0" bIns="0" rtlCol="0">
            <a:spAutoFit/>
          </a:bodyPr>
          <a:lstStyle/>
          <a:p>
            <a:pPr marL="431800" indent="-342900">
              <a:spcBef>
                <a:spcPts val="1900"/>
              </a:spcBef>
              <a:buFont typeface="Wingdings"/>
              <a:buChar char=""/>
              <a:tabLst>
                <a:tab pos="431165" algn="l"/>
                <a:tab pos="431800" algn="l"/>
              </a:tabLst>
            </a:pPr>
            <a:r>
              <a:rPr lang="en-GB" sz="3200" spc="-15" dirty="0">
                <a:cs typeface="Calibri"/>
              </a:rPr>
              <a:t>Group Activity</a:t>
            </a:r>
          </a:p>
          <a:p>
            <a:pPr marL="431800" indent="-342900">
              <a:spcBef>
                <a:spcPts val="1900"/>
              </a:spcBef>
              <a:buFont typeface="Wingdings"/>
              <a:buChar char=""/>
              <a:tabLst>
                <a:tab pos="431165" algn="l"/>
                <a:tab pos="431800" algn="l"/>
              </a:tabLst>
            </a:pPr>
            <a:endParaRPr sz="3200" dirty="0">
              <a:cs typeface="Calibri"/>
            </a:endParaRPr>
          </a:p>
          <a:p>
            <a:pPr marL="832485" marR="5080" indent="-287020" algn="just">
              <a:spcBef>
                <a:spcPts val="550"/>
              </a:spcBef>
            </a:pPr>
            <a:r>
              <a:rPr lang="en-GB" sz="2800" spc="-5" dirty="0">
                <a:cs typeface="Calibri"/>
              </a:rPr>
              <a:t> </a:t>
            </a:r>
            <a:r>
              <a:rPr lang="en-US" sz="2800" dirty="0"/>
              <a:t>Imagine you are the Minister of Education responsible for managing the education portfolio. Propose several programs and projects to help achieve the government's vision of increasing the literacy rate to 90% by 2030</a:t>
            </a:r>
            <a:endParaRPr lang="en-GB" sz="2800" spc="-5" dirty="0">
              <a:cs typeface="Calibri"/>
            </a:endParaRPr>
          </a:p>
        </p:txBody>
      </p:sp>
      <p:sp>
        <p:nvSpPr>
          <p:cNvPr id="5" name="object 5"/>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solidFill>
                  <a:prstClr val="black"/>
                </a:solidFill>
                <a:cs typeface="Calibri"/>
              </a:rPr>
              <a:pPr marL="25400">
                <a:lnSpc>
                  <a:spcPts val="1150"/>
                </a:lnSpc>
              </a:pPr>
              <a:t>19</a:t>
            </a:fld>
            <a:endParaRPr sz="1100">
              <a:solidFill>
                <a:prstClr val="black"/>
              </a:solidFill>
              <a:cs typeface="Calibri"/>
            </a:endParaRPr>
          </a:p>
        </p:txBody>
      </p:sp>
    </p:spTree>
    <p:extLst>
      <p:ext uri="{BB962C8B-B14F-4D97-AF65-F5344CB8AC3E}">
        <p14:creationId xmlns:p14="http://schemas.microsoft.com/office/powerpoint/2010/main" val="1861524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142103"/>
            <a:ext cx="7636460" cy="566181"/>
          </a:xfrm>
          <a:prstGeom prst="rect">
            <a:avLst/>
          </a:prstGeom>
        </p:spPr>
        <p:txBody>
          <a:bodyPr vert="horz" wrap="square" lIns="0" tIns="12065" rIns="0" bIns="0" rtlCol="0">
            <a:spAutoFit/>
          </a:bodyPr>
          <a:lstStyle/>
          <a:p>
            <a:pPr marL="12700" algn="l">
              <a:lnSpc>
                <a:spcPct val="100000"/>
              </a:lnSpc>
              <a:spcBef>
                <a:spcPts val="95"/>
              </a:spcBef>
            </a:pPr>
            <a:r>
              <a:rPr lang="en-GB" sz="3600" b="1" spc="-15" dirty="0"/>
              <a:t>Project Life cycle and other Components</a:t>
            </a:r>
            <a:endParaRPr sz="3600" b="1" spc="-15" dirty="0"/>
          </a:p>
        </p:txBody>
      </p:sp>
      <p:sp>
        <p:nvSpPr>
          <p:cNvPr id="4" name="object 4"/>
          <p:cNvSpPr txBox="1"/>
          <p:nvPr/>
        </p:nvSpPr>
        <p:spPr>
          <a:xfrm>
            <a:off x="1658492" y="6499580"/>
            <a:ext cx="5838190" cy="348615"/>
          </a:xfrm>
          <a:prstGeom prst="rect">
            <a:avLst/>
          </a:prstGeom>
        </p:spPr>
        <p:txBody>
          <a:bodyPr vert="horz" wrap="square" lIns="0" tIns="0" rIns="0" bIns="0" rtlCol="0">
            <a:spAutoFit/>
          </a:bodyPr>
          <a:lstStyle/>
          <a:p>
            <a:pPr algn="ctr">
              <a:lnSpc>
                <a:spcPts val="910"/>
              </a:lnSpc>
            </a:pPr>
            <a:r>
              <a:rPr sz="850" b="1" spc="-5" dirty="0">
                <a:solidFill>
                  <a:srgbClr val="FFFFFF"/>
                </a:solidFill>
                <a:latin typeface="Calibri"/>
                <a:cs typeface="Calibri"/>
              </a:rPr>
              <a:t>PMI, PMP, PMBOK </a:t>
            </a:r>
            <a:r>
              <a:rPr sz="850" b="1" dirty="0">
                <a:solidFill>
                  <a:srgbClr val="FFFFFF"/>
                </a:solidFill>
                <a:latin typeface="Calibri"/>
                <a:cs typeface="Calibri"/>
              </a:rPr>
              <a:t>and the </a:t>
            </a:r>
            <a:r>
              <a:rPr sz="850" b="1" spc="-5" dirty="0">
                <a:solidFill>
                  <a:srgbClr val="FFFFFF"/>
                </a:solidFill>
                <a:latin typeface="Calibri"/>
                <a:cs typeface="Calibri"/>
              </a:rPr>
              <a:t>PMI Registered Education Provider logo are registered </a:t>
            </a:r>
            <a:r>
              <a:rPr sz="850" b="1" dirty="0">
                <a:solidFill>
                  <a:srgbClr val="FFFFFF"/>
                </a:solidFill>
                <a:latin typeface="Calibri"/>
                <a:cs typeface="Calibri"/>
              </a:rPr>
              <a:t>marks </a:t>
            </a:r>
            <a:r>
              <a:rPr sz="850" b="1" spc="-5" dirty="0">
                <a:solidFill>
                  <a:srgbClr val="FFFFFF"/>
                </a:solidFill>
                <a:latin typeface="Calibri"/>
                <a:cs typeface="Calibri"/>
              </a:rPr>
              <a:t>of </a:t>
            </a:r>
            <a:r>
              <a:rPr sz="850" b="1" dirty="0">
                <a:solidFill>
                  <a:srgbClr val="FFFFFF"/>
                </a:solidFill>
                <a:latin typeface="Calibri"/>
                <a:cs typeface="Calibri"/>
              </a:rPr>
              <a:t>the </a:t>
            </a:r>
            <a:r>
              <a:rPr sz="850" b="1" spc="-5" dirty="0">
                <a:solidFill>
                  <a:srgbClr val="FFFFFF"/>
                </a:solidFill>
                <a:latin typeface="Calibri"/>
                <a:cs typeface="Calibri"/>
              </a:rPr>
              <a:t>Project Management Institute,</a:t>
            </a:r>
            <a:r>
              <a:rPr sz="850" b="1" spc="-70" dirty="0">
                <a:solidFill>
                  <a:srgbClr val="FFFFFF"/>
                </a:solidFill>
                <a:latin typeface="Calibri"/>
                <a:cs typeface="Calibri"/>
              </a:rPr>
              <a:t> </a:t>
            </a:r>
            <a:r>
              <a:rPr sz="850" b="1" dirty="0">
                <a:solidFill>
                  <a:srgbClr val="FFFFFF"/>
                </a:solidFill>
                <a:latin typeface="Calibri"/>
                <a:cs typeface="Calibri"/>
              </a:rPr>
              <a:t>Inc.</a:t>
            </a:r>
            <a:endParaRPr sz="850">
              <a:latin typeface="Calibri"/>
              <a:cs typeface="Calibri"/>
            </a:endParaRPr>
          </a:p>
          <a:p>
            <a:pPr marR="1905" algn="ctr">
              <a:lnSpc>
                <a:spcPct val="100000"/>
              </a:lnSpc>
              <a:spcBef>
                <a:spcPts val="359"/>
              </a:spcBef>
            </a:pPr>
            <a:r>
              <a:rPr sz="1100" dirty="0">
                <a:solidFill>
                  <a:srgbClr val="404040"/>
                </a:solidFill>
                <a:latin typeface="Calibri"/>
                <a:cs typeface="Calibri"/>
              </a:rPr>
              <a:t>© </a:t>
            </a:r>
            <a:r>
              <a:rPr sz="1100" spc="-5" dirty="0">
                <a:solidFill>
                  <a:srgbClr val="404040"/>
                </a:solidFill>
                <a:latin typeface="Calibri"/>
                <a:cs typeface="Calibri"/>
              </a:rPr>
              <a:t>All rights</a:t>
            </a:r>
            <a:r>
              <a:rPr sz="1100" spc="-30" dirty="0">
                <a:solidFill>
                  <a:srgbClr val="404040"/>
                </a:solidFill>
                <a:latin typeface="Calibri"/>
                <a:cs typeface="Calibri"/>
              </a:rPr>
              <a:t> </a:t>
            </a:r>
            <a:r>
              <a:rPr sz="1100" dirty="0">
                <a:solidFill>
                  <a:srgbClr val="404040"/>
                </a:solidFill>
                <a:latin typeface="Calibri"/>
                <a:cs typeface="Calibri"/>
              </a:rPr>
              <a:t>reserved</a:t>
            </a:r>
            <a:endParaRPr sz="1100">
              <a:latin typeface="Calibri"/>
              <a:cs typeface="Calibri"/>
            </a:endParaRPr>
          </a:p>
        </p:txBody>
      </p:sp>
      <p:sp>
        <p:nvSpPr>
          <p:cNvPr id="5" name="object 5"/>
          <p:cNvSpPr txBox="1"/>
          <p:nvPr/>
        </p:nvSpPr>
        <p:spPr>
          <a:xfrm>
            <a:off x="78739" y="6682537"/>
            <a:ext cx="1372235" cy="165735"/>
          </a:xfrm>
          <a:prstGeom prst="rect">
            <a:avLst/>
          </a:prstGeom>
        </p:spPr>
        <p:txBody>
          <a:bodyPr vert="horz" wrap="square" lIns="0" tIns="0" rIns="0" bIns="0" rtlCol="0">
            <a:spAutoFit/>
          </a:bodyPr>
          <a:lstStyle/>
          <a:p>
            <a:pPr marL="12700">
              <a:lnSpc>
                <a:spcPts val="1150"/>
              </a:lnSpc>
            </a:pPr>
            <a:r>
              <a:rPr sz="1100" spc="-5" dirty="0">
                <a:solidFill>
                  <a:srgbClr val="404040"/>
                </a:solidFill>
                <a:latin typeface="Calibri"/>
                <a:cs typeface="Calibri"/>
                <a:hlinkClick r:id="rId2"/>
              </a:rPr>
              <a:t>www.3foldtraining.com</a:t>
            </a:r>
            <a:endParaRPr sz="1100">
              <a:latin typeface="Calibri"/>
              <a:cs typeface="Calibri"/>
            </a:endParaRP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latin typeface="Calibri"/>
                <a:cs typeface="Calibri"/>
              </a:rPr>
              <a:t>20</a:t>
            </a:fld>
            <a:endParaRPr sz="1100">
              <a:latin typeface="Calibri"/>
              <a:cs typeface="Calibri"/>
            </a:endParaRPr>
          </a:p>
        </p:txBody>
      </p:sp>
      <p:sp>
        <p:nvSpPr>
          <p:cNvPr id="3" name="object 3"/>
          <p:cNvSpPr txBox="1"/>
          <p:nvPr/>
        </p:nvSpPr>
        <p:spPr>
          <a:xfrm>
            <a:off x="179512" y="2147026"/>
            <a:ext cx="8568952" cy="4401205"/>
          </a:xfrm>
          <a:prstGeom prst="rect">
            <a:avLst/>
          </a:prstGeom>
        </p:spPr>
        <p:txBody>
          <a:bodyPr vert="horz" wrap="square" lIns="0" tIns="88900" rIns="0" bIns="0" rtlCol="0">
            <a:spAutoFit/>
          </a:bodyPr>
          <a:lstStyle/>
          <a:p>
            <a:pPr marL="355600" indent="-342900">
              <a:lnSpc>
                <a:spcPct val="100000"/>
              </a:lnSpc>
              <a:spcBef>
                <a:spcPts val="100"/>
              </a:spcBef>
              <a:buFont typeface="Wingdings"/>
              <a:buChar char=""/>
              <a:tabLst>
                <a:tab pos="355600" algn="l"/>
                <a:tab pos="356235" algn="l"/>
              </a:tabLst>
            </a:pPr>
            <a:r>
              <a:rPr lang="en-GB" sz="2800" b="1" dirty="0"/>
              <a:t>Project Life Cycle: </a:t>
            </a:r>
          </a:p>
          <a:p>
            <a:pPr marL="12700">
              <a:lnSpc>
                <a:spcPct val="100000"/>
              </a:lnSpc>
              <a:spcBef>
                <a:spcPts val="100"/>
              </a:spcBef>
              <a:tabLst>
                <a:tab pos="355600" algn="l"/>
                <a:tab pos="356235" algn="l"/>
              </a:tabLst>
            </a:pPr>
            <a:endParaRPr lang="en-GB" sz="2800" dirty="0"/>
          </a:p>
          <a:p>
            <a:pPr marL="927100" lvl="1" indent="-457200">
              <a:spcBef>
                <a:spcPts val="100"/>
              </a:spcBef>
              <a:buFont typeface="Arial" panose="020B0604020202020204" pitchFamily="34" charset="0"/>
              <a:buChar char="•"/>
              <a:tabLst>
                <a:tab pos="355600" algn="l"/>
                <a:tab pos="356235" algn="l"/>
              </a:tabLst>
            </a:pPr>
            <a:r>
              <a:rPr lang="en-GB" sz="2800" dirty="0"/>
              <a:t>The series of phases that a project passes through from its start to its completion. </a:t>
            </a:r>
          </a:p>
          <a:p>
            <a:pPr marL="927100" lvl="1" indent="-457200">
              <a:spcBef>
                <a:spcPts val="100"/>
              </a:spcBef>
              <a:buFont typeface="Arial" panose="020B0604020202020204" pitchFamily="34" charset="0"/>
              <a:buChar char="•"/>
              <a:tabLst>
                <a:tab pos="355600" algn="l"/>
                <a:tab pos="356235" algn="l"/>
              </a:tabLst>
            </a:pPr>
            <a:r>
              <a:rPr lang="en-GB" sz="2800" dirty="0"/>
              <a:t>The project life cycle can be determined or shaped by the unique aspects of the organization, industry, or technology employed.</a:t>
            </a:r>
          </a:p>
          <a:p>
            <a:pPr marL="927100" lvl="1" indent="-457200">
              <a:spcBef>
                <a:spcPts val="100"/>
              </a:spcBef>
              <a:buFont typeface="Arial" panose="020B0604020202020204" pitchFamily="34" charset="0"/>
              <a:buChar char="•"/>
              <a:tabLst>
                <a:tab pos="355600" algn="l"/>
                <a:tab pos="356235" algn="l"/>
              </a:tabLst>
            </a:pPr>
            <a:r>
              <a:rPr lang="en-GB" sz="2800" dirty="0">
                <a:latin typeface="Calibri"/>
                <a:cs typeface="Calibri"/>
              </a:rPr>
              <a:t>Project Life cycle usually includes product development cycle</a:t>
            </a:r>
            <a:endParaRPr lang="en-GB" sz="2400" dirty="0">
              <a:latin typeface="Calibri"/>
              <a:cs typeface="Calibri"/>
            </a:endParaRPr>
          </a:p>
          <a:p>
            <a:pPr marL="469900" lvl="1">
              <a:spcBef>
                <a:spcPts val="100"/>
              </a:spcBef>
              <a:tabLst>
                <a:tab pos="355600" algn="l"/>
                <a:tab pos="356235" algn="l"/>
              </a:tabLst>
            </a:pPr>
            <a:endParaRPr lang="en-GB" sz="2400" dirty="0">
              <a:cs typeface="Calibri"/>
            </a:endParaRPr>
          </a:p>
        </p:txBody>
      </p:sp>
    </p:spTree>
    <p:extLst>
      <p:ext uri="{BB962C8B-B14F-4D97-AF65-F5344CB8AC3E}">
        <p14:creationId xmlns:p14="http://schemas.microsoft.com/office/powerpoint/2010/main" val="3668685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0" indent="0">
              <a:buNone/>
            </a:pPr>
            <a:r>
              <a:rPr lang="en-GB" sz="3600" b="1" dirty="0"/>
              <a:t>Project phase </a:t>
            </a:r>
          </a:p>
          <a:p>
            <a:r>
              <a:rPr lang="en-GB" dirty="0"/>
              <a:t>A project phase is a collection of logically related project activities that culminates in the completion of one or more deliverables.</a:t>
            </a:r>
          </a:p>
          <a:p>
            <a:r>
              <a:rPr lang="en-GB" dirty="0"/>
              <a:t>The phase structure allows the project to be segmented into logical subsets for ease of management, planning and control.</a:t>
            </a:r>
          </a:p>
        </p:txBody>
      </p:sp>
    </p:spTree>
    <p:extLst>
      <p:ext uri="{BB962C8B-B14F-4D97-AF65-F5344CB8AC3E}">
        <p14:creationId xmlns:p14="http://schemas.microsoft.com/office/powerpoint/2010/main" val="1534927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dirty="0"/>
              <a:t>All projects can be mapped to the following generic life cycle structure:</a:t>
            </a:r>
          </a:p>
          <a:p>
            <a:pPr marL="400050" lvl="1" indent="0">
              <a:buNone/>
            </a:pPr>
            <a:r>
              <a:rPr lang="en-GB" dirty="0"/>
              <a:t>• Starting the project,</a:t>
            </a:r>
          </a:p>
          <a:p>
            <a:pPr marL="400050" lvl="1" indent="0">
              <a:buNone/>
            </a:pPr>
            <a:r>
              <a:rPr lang="en-GB" dirty="0"/>
              <a:t>• Organizing and preparing,</a:t>
            </a:r>
          </a:p>
          <a:p>
            <a:pPr marL="400050" lvl="1" indent="0">
              <a:buNone/>
            </a:pPr>
            <a:r>
              <a:rPr lang="en-GB" dirty="0"/>
              <a:t>• Carrying out the project work, and</a:t>
            </a:r>
          </a:p>
          <a:p>
            <a:pPr marL="400050" lvl="1" indent="0">
              <a:buNone/>
            </a:pPr>
            <a:r>
              <a:rPr lang="en-GB" dirty="0"/>
              <a:t>• Closing the project</a:t>
            </a:r>
          </a:p>
          <a:p>
            <a:pPr marL="400050" lvl="1" indent="0">
              <a:buNone/>
            </a:pPr>
            <a:endParaRPr lang="en-GB" dirty="0"/>
          </a:p>
        </p:txBody>
      </p:sp>
    </p:spTree>
    <p:extLst>
      <p:ext uri="{BB962C8B-B14F-4D97-AF65-F5344CB8AC3E}">
        <p14:creationId xmlns:p14="http://schemas.microsoft.com/office/powerpoint/2010/main" val="411645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A generic Project life cycle structure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9552" y="1340768"/>
            <a:ext cx="8352928" cy="4755131"/>
          </a:xfrm>
        </p:spPr>
      </p:pic>
    </p:spTree>
    <p:extLst>
      <p:ext uri="{BB962C8B-B14F-4D97-AF65-F5344CB8AC3E}">
        <p14:creationId xmlns:p14="http://schemas.microsoft.com/office/powerpoint/2010/main" val="1433271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Impact of Variable Based on Project Time</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3568" y="1700808"/>
            <a:ext cx="7953657" cy="4540707"/>
          </a:xfrm>
        </p:spPr>
      </p:pic>
    </p:spTree>
    <p:extLst>
      <p:ext uri="{BB962C8B-B14F-4D97-AF65-F5344CB8AC3E}">
        <p14:creationId xmlns:p14="http://schemas.microsoft.com/office/powerpoint/2010/main" val="2928549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342900" lvl="1" indent="-342900">
              <a:buFont typeface="Arial" panose="020B0604020202020204" pitchFamily="34" charset="0"/>
              <a:buChar char="•"/>
            </a:pPr>
            <a:r>
              <a:rPr lang="en-GB" dirty="0"/>
              <a:t>What is your project’s life cycle? How are you dividing your project phases?</a:t>
            </a:r>
          </a:p>
          <a:p>
            <a:endParaRPr lang="en-GB" dirty="0"/>
          </a:p>
        </p:txBody>
      </p:sp>
    </p:spTree>
    <p:extLst>
      <p:ext uri="{BB962C8B-B14F-4D97-AF65-F5344CB8AC3E}">
        <p14:creationId xmlns:p14="http://schemas.microsoft.com/office/powerpoint/2010/main" val="2916049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764704"/>
            <a:ext cx="8568952" cy="5400600"/>
          </a:xfrm>
        </p:spPr>
        <p:txBody>
          <a:bodyPr>
            <a:normAutofit lnSpcReduction="10000"/>
          </a:bodyPr>
          <a:lstStyle/>
          <a:p>
            <a:pPr marL="0" indent="0">
              <a:buNone/>
            </a:pPr>
            <a:r>
              <a:rPr lang="en-GB" dirty="0"/>
              <a:t>Regardless of the number of phases comprising a project, all phases have similar characteristics:</a:t>
            </a:r>
          </a:p>
          <a:p>
            <a:pPr marL="0" indent="0">
              <a:buNone/>
            </a:pPr>
            <a:endParaRPr lang="en-GB" dirty="0"/>
          </a:p>
          <a:p>
            <a:r>
              <a:rPr lang="en-GB" dirty="0"/>
              <a:t>The work has a distinct focus that differs from any other phase. </a:t>
            </a:r>
          </a:p>
          <a:p>
            <a:r>
              <a:rPr lang="en-GB" dirty="0"/>
              <a:t>Achieving the primary deliverable or objective of the phase requires controls or processes unique to the phase or its activities.</a:t>
            </a:r>
          </a:p>
          <a:p>
            <a:r>
              <a:rPr lang="en-GB" dirty="0"/>
              <a:t>The closure of a phase ends with some form of transfer or hand-off of the work product produced as the phase deliverable.</a:t>
            </a:r>
          </a:p>
        </p:txBody>
      </p:sp>
    </p:spTree>
    <p:extLst>
      <p:ext uri="{BB962C8B-B14F-4D97-AF65-F5344CB8AC3E}">
        <p14:creationId xmlns:p14="http://schemas.microsoft.com/office/powerpoint/2010/main" val="1657400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GB" sz="3600" b="1" dirty="0"/>
              <a:t>Phase-to-Phase Relationships</a:t>
            </a:r>
            <a:endParaRPr lang="en-GB" sz="3600" dirty="0"/>
          </a:p>
        </p:txBody>
      </p:sp>
      <p:sp>
        <p:nvSpPr>
          <p:cNvPr id="3" name="Content Placeholder 2"/>
          <p:cNvSpPr>
            <a:spLocks noGrp="1"/>
          </p:cNvSpPr>
          <p:nvPr>
            <p:ph idx="1"/>
          </p:nvPr>
        </p:nvSpPr>
        <p:spPr>
          <a:xfrm>
            <a:off x="457200" y="1600200"/>
            <a:ext cx="8686800" cy="4925144"/>
          </a:xfrm>
        </p:spPr>
        <p:txBody>
          <a:bodyPr>
            <a:normAutofit fontScale="92500" lnSpcReduction="10000"/>
          </a:bodyPr>
          <a:lstStyle/>
          <a:p>
            <a:r>
              <a:rPr lang="en-GB" b="1" dirty="0"/>
              <a:t>Sequential relationship</a:t>
            </a:r>
          </a:p>
          <a:p>
            <a:pPr marL="0" indent="0">
              <a:buNone/>
            </a:pPr>
            <a:r>
              <a:rPr lang="en-GB" dirty="0"/>
              <a:t>In a sequential process, a downstream phase (</a:t>
            </a:r>
            <a:r>
              <a:rPr lang="en-GB" dirty="0" err="1"/>
              <a:t>eg</a:t>
            </a:r>
            <a:r>
              <a:rPr lang="en-GB" dirty="0"/>
              <a:t> construction) starts when an upstream one (</a:t>
            </a:r>
            <a:r>
              <a:rPr lang="en-GB" dirty="0" err="1"/>
              <a:t>eg</a:t>
            </a:r>
            <a:r>
              <a:rPr lang="en-GB" dirty="0"/>
              <a:t> design) ends.</a:t>
            </a:r>
          </a:p>
          <a:p>
            <a:pPr marL="0" indent="0">
              <a:buNone/>
            </a:pPr>
            <a:endParaRPr lang="en-GB" dirty="0"/>
          </a:p>
          <a:p>
            <a:r>
              <a:rPr lang="en-GB" b="1" dirty="0"/>
              <a:t>Overlapping or concurrent process </a:t>
            </a:r>
          </a:p>
          <a:p>
            <a:pPr marL="0" indent="0">
              <a:buNone/>
            </a:pPr>
            <a:r>
              <a:rPr lang="en-GB" dirty="0"/>
              <a:t>Here a downstream phase starts before an upstream one is completed. While this approach provides opportunities to compress the time taken to complete the schedule, it may increase uncertainty</a:t>
            </a:r>
          </a:p>
        </p:txBody>
      </p:sp>
    </p:spTree>
    <p:extLst>
      <p:ext uri="{BB962C8B-B14F-4D97-AF65-F5344CB8AC3E}">
        <p14:creationId xmlns:p14="http://schemas.microsoft.com/office/powerpoint/2010/main" val="3289263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658492" y="6499580"/>
            <a:ext cx="5838190" cy="348615"/>
          </a:xfrm>
          <a:prstGeom prst="rect">
            <a:avLst/>
          </a:prstGeom>
        </p:spPr>
        <p:txBody>
          <a:bodyPr vert="horz" wrap="square" lIns="0" tIns="0" rIns="0" bIns="0" rtlCol="0">
            <a:spAutoFit/>
          </a:bodyPr>
          <a:lstStyle/>
          <a:p>
            <a:pPr algn="ctr">
              <a:lnSpc>
                <a:spcPts val="910"/>
              </a:lnSpc>
            </a:pPr>
            <a:r>
              <a:rPr sz="850" b="1" spc="-5" dirty="0">
                <a:solidFill>
                  <a:srgbClr val="FFFFFF"/>
                </a:solidFill>
                <a:latin typeface="Calibri"/>
                <a:cs typeface="Calibri"/>
              </a:rPr>
              <a:t>PMI, PMP, PMBOK </a:t>
            </a:r>
            <a:r>
              <a:rPr sz="850" b="1" dirty="0">
                <a:solidFill>
                  <a:srgbClr val="FFFFFF"/>
                </a:solidFill>
                <a:latin typeface="Calibri"/>
                <a:cs typeface="Calibri"/>
              </a:rPr>
              <a:t>and the </a:t>
            </a:r>
            <a:r>
              <a:rPr sz="850" b="1" spc="-5" dirty="0">
                <a:solidFill>
                  <a:srgbClr val="FFFFFF"/>
                </a:solidFill>
                <a:latin typeface="Calibri"/>
                <a:cs typeface="Calibri"/>
              </a:rPr>
              <a:t>PMI Registered Education Provider logo are registered </a:t>
            </a:r>
            <a:r>
              <a:rPr sz="850" b="1" dirty="0">
                <a:solidFill>
                  <a:srgbClr val="FFFFFF"/>
                </a:solidFill>
                <a:latin typeface="Calibri"/>
                <a:cs typeface="Calibri"/>
              </a:rPr>
              <a:t>marks </a:t>
            </a:r>
            <a:r>
              <a:rPr sz="850" b="1" spc="-5" dirty="0">
                <a:solidFill>
                  <a:srgbClr val="FFFFFF"/>
                </a:solidFill>
                <a:latin typeface="Calibri"/>
                <a:cs typeface="Calibri"/>
              </a:rPr>
              <a:t>of </a:t>
            </a:r>
            <a:r>
              <a:rPr sz="850" b="1" dirty="0">
                <a:solidFill>
                  <a:srgbClr val="FFFFFF"/>
                </a:solidFill>
                <a:latin typeface="Calibri"/>
                <a:cs typeface="Calibri"/>
              </a:rPr>
              <a:t>the </a:t>
            </a:r>
            <a:r>
              <a:rPr sz="850" b="1" spc="-5" dirty="0">
                <a:solidFill>
                  <a:srgbClr val="FFFFFF"/>
                </a:solidFill>
                <a:latin typeface="Calibri"/>
                <a:cs typeface="Calibri"/>
              </a:rPr>
              <a:t>Project Management Institute,</a:t>
            </a:r>
            <a:r>
              <a:rPr sz="850" b="1" spc="-70" dirty="0">
                <a:solidFill>
                  <a:srgbClr val="FFFFFF"/>
                </a:solidFill>
                <a:latin typeface="Calibri"/>
                <a:cs typeface="Calibri"/>
              </a:rPr>
              <a:t> </a:t>
            </a:r>
            <a:r>
              <a:rPr sz="850" b="1" dirty="0">
                <a:solidFill>
                  <a:srgbClr val="FFFFFF"/>
                </a:solidFill>
                <a:latin typeface="Calibri"/>
                <a:cs typeface="Calibri"/>
              </a:rPr>
              <a:t>Inc.</a:t>
            </a:r>
            <a:endParaRPr sz="850">
              <a:latin typeface="Calibri"/>
              <a:cs typeface="Calibri"/>
            </a:endParaRPr>
          </a:p>
          <a:p>
            <a:pPr marR="1905" algn="ctr">
              <a:lnSpc>
                <a:spcPct val="100000"/>
              </a:lnSpc>
              <a:spcBef>
                <a:spcPts val="359"/>
              </a:spcBef>
            </a:pPr>
            <a:r>
              <a:rPr sz="1100" dirty="0">
                <a:solidFill>
                  <a:srgbClr val="404040"/>
                </a:solidFill>
                <a:latin typeface="Calibri"/>
                <a:cs typeface="Calibri"/>
              </a:rPr>
              <a:t>© </a:t>
            </a:r>
            <a:r>
              <a:rPr sz="1100" spc="-5" dirty="0">
                <a:solidFill>
                  <a:srgbClr val="404040"/>
                </a:solidFill>
                <a:latin typeface="Calibri"/>
                <a:cs typeface="Calibri"/>
              </a:rPr>
              <a:t>All rights</a:t>
            </a:r>
            <a:r>
              <a:rPr sz="1100" spc="-30" dirty="0">
                <a:solidFill>
                  <a:srgbClr val="404040"/>
                </a:solidFill>
                <a:latin typeface="Calibri"/>
                <a:cs typeface="Calibri"/>
              </a:rPr>
              <a:t> </a:t>
            </a:r>
            <a:r>
              <a:rPr sz="1100" dirty="0">
                <a:solidFill>
                  <a:srgbClr val="404040"/>
                </a:solidFill>
                <a:latin typeface="Calibri"/>
                <a:cs typeface="Calibri"/>
              </a:rPr>
              <a:t>reserved</a:t>
            </a:r>
            <a:endParaRPr sz="1100">
              <a:latin typeface="Calibri"/>
              <a:cs typeface="Calibri"/>
            </a:endParaRPr>
          </a:p>
        </p:txBody>
      </p:sp>
      <p:sp>
        <p:nvSpPr>
          <p:cNvPr id="5" name="object 5"/>
          <p:cNvSpPr txBox="1"/>
          <p:nvPr/>
        </p:nvSpPr>
        <p:spPr>
          <a:xfrm>
            <a:off x="78739" y="6682537"/>
            <a:ext cx="1372235" cy="165735"/>
          </a:xfrm>
          <a:prstGeom prst="rect">
            <a:avLst/>
          </a:prstGeom>
        </p:spPr>
        <p:txBody>
          <a:bodyPr vert="horz" wrap="square" lIns="0" tIns="0" rIns="0" bIns="0" rtlCol="0">
            <a:spAutoFit/>
          </a:bodyPr>
          <a:lstStyle/>
          <a:p>
            <a:pPr marL="12700">
              <a:lnSpc>
                <a:spcPts val="1150"/>
              </a:lnSpc>
            </a:pPr>
            <a:r>
              <a:rPr sz="1100" spc="-5" dirty="0">
                <a:solidFill>
                  <a:srgbClr val="404040"/>
                </a:solidFill>
                <a:latin typeface="Calibri"/>
                <a:cs typeface="Calibri"/>
                <a:hlinkClick r:id="rId2"/>
              </a:rPr>
              <a:t>www.3foldtraining.com</a:t>
            </a:r>
            <a:endParaRPr sz="1100">
              <a:latin typeface="Calibri"/>
              <a:cs typeface="Calibri"/>
            </a:endParaRP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latin typeface="Calibri"/>
                <a:cs typeface="Calibri"/>
              </a:rPr>
              <a:t>28</a:t>
            </a:fld>
            <a:endParaRPr sz="1100">
              <a:latin typeface="Calibri"/>
              <a:cs typeface="Calibri"/>
            </a:endParaRPr>
          </a:p>
        </p:txBody>
      </p:sp>
      <p:sp>
        <p:nvSpPr>
          <p:cNvPr id="3" name="object 3"/>
          <p:cNvSpPr txBox="1"/>
          <p:nvPr/>
        </p:nvSpPr>
        <p:spPr>
          <a:xfrm>
            <a:off x="612140" y="2147026"/>
            <a:ext cx="7353300" cy="3131627"/>
          </a:xfrm>
          <a:prstGeom prst="rect">
            <a:avLst/>
          </a:prstGeom>
        </p:spPr>
        <p:txBody>
          <a:bodyPr vert="horz" wrap="square" lIns="0" tIns="88900" rIns="0" bIns="0" rtlCol="0">
            <a:spAutoFit/>
          </a:bodyPr>
          <a:lstStyle/>
          <a:p>
            <a:pPr marL="355600" indent="-342900">
              <a:lnSpc>
                <a:spcPct val="100000"/>
              </a:lnSpc>
              <a:spcBef>
                <a:spcPts val="100"/>
              </a:spcBef>
              <a:buFont typeface="Wingdings"/>
              <a:buChar char=""/>
              <a:tabLst>
                <a:tab pos="355600" algn="l"/>
                <a:tab pos="356235" algn="l"/>
              </a:tabLst>
            </a:pPr>
            <a:r>
              <a:rPr lang="en-GB" sz="2800" b="1" dirty="0"/>
              <a:t>Predictive Life Cycle: </a:t>
            </a:r>
          </a:p>
          <a:p>
            <a:pPr marL="12700">
              <a:lnSpc>
                <a:spcPct val="100000"/>
              </a:lnSpc>
              <a:spcBef>
                <a:spcPts val="100"/>
              </a:spcBef>
              <a:tabLst>
                <a:tab pos="355600" algn="l"/>
                <a:tab pos="356235" algn="l"/>
              </a:tabLst>
            </a:pPr>
            <a:endParaRPr lang="en-GB" sz="2800" dirty="0"/>
          </a:p>
          <a:p>
            <a:pPr marL="469900" lvl="1">
              <a:spcBef>
                <a:spcPts val="100"/>
              </a:spcBef>
              <a:tabLst>
                <a:tab pos="355600" algn="l"/>
                <a:tab pos="356235" algn="l"/>
              </a:tabLst>
            </a:pPr>
            <a:r>
              <a:rPr lang="en-GB" sz="2800" dirty="0"/>
              <a:t>In a predictive life cycle, the project scope, time, and cost are determined in the early phases of the life cycle. Any changes to the scope are carefully managed </a:t>
            </a:r>
            <a:r>
              <a:rPr lang="en-GB" sz="2800" dirty="0" err="1"/>
              <a:t>e.g</a:t>
            </a:r>
            <a:r>
              <a:rPr lang="en-GB" sz="2800" dirty="0"/>
              <a:t> general construction projects.</a:t>
            </a:r>
            <a:endParaRPr lang="en-GB" sz="2400" dirty="0">
              <a:cs typeface="Calibri"/>
            </a:endParaRPr>
          </a:p>
        </p:txBody>
      </p:sp>
      <p:sp>
        <p:nvSpPr>
          <p:cNvPr id="7" name="Title 6"/>
          <p:cNvSpPr>
            <a:spLocks noGrp="1"/>
          </p:cNvSpPr>
          <p:nvPr>
            <p:ph type="title"/>
          </p:nvPr>
        </p:nvSpPr>
        <p:spPr/>
        <p:txBody>
          <a:bodyPr/>
          <a:lstStyle/>
          <a:p>
            <a:r>
              <a:rPr lang="en-GB" b="1" dirty="0"/>
              <a:t>Project Life Cycle</a:t>
            </a:r>
            <a:endParaRPr lang="en-GB" dirty="0"/>
          </a:p>
        </p:txBody>
      </p:sp>
    </p:spTree>
    <p:extLst>
      <p:ext uri="{BB962C8B-B14F-4D97-AF65-F5344CB8AC3E}">
        <p14:creationId xmlns:p14="http://schemas.microsoft.com/office/powerpoint/2010/main" val="708973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658492" y="6499580"/>
            <a:ext cx="5838190" cy="348615"/>
          </a:xfrm>
          <a:prstGeom prst="rect">
            <a:avLst/>
          </a:prstGeom>
        </p:spPr>
        <p:txBody>
          <a:bodyPr vert="horz" wrap="square" lIns="0" tIns="0" rIns="0" bIns="0" rtlCol="0">
            <a:spAutoFit/>
          </a:bodyPr>
          <a:lstStyle/>
          <a:p>
            <a:pPr algn="ctr">
              <a:lnSpc>
                <a:spcPts val="910"/>
              </a:lnSpc>
            </a:pPr>
            <a:r>
              <a:rPr sz="850" b="1" spc="-5" dirty="0">
                <a:solidFill>
                  <a:srgbClr val="FFFFFF"/>
                </a:solidFill>
                <a:latin typeface="Calibri"/>
                <a:cs typeface="Calibri"/>
              </a:rPr>
              <a:t>PMI, PMP, PMBOK </a:t>
            </a:r>
            <a:r>
              <a:rPr sz="850" b="1" dirty="0">
                <a:solidFill>
                  <a:srgbClr val="FFFFFF"/>
                </a:solidFill>
                <a:latin typeface="Calibri"/>
                <a:cs typeface="Calibri"/>
              </a:rPr>
              <a:t>and the </a:t>
            </a:r>
            <a:r>
              <a:rPr sz="850" b="1" spc="-5" dirty="0">
                <a:solidFill>
                  <a:srgbClr val="FFFFFF"/>
                </a:solidFill>
                <a:latin typeface="Calibri"/>
                <a:cs typeface="Calibri"/>
              </a:rPr>
              <a:t>PMI Registered Education Provider logo are registered </a:t>
            </a:r>
            <a:r>
              <a:rPr sz="850" b="1" dirty="0">
                <a:solidFill>
                  <a:srgbClr val="FFFFFF"/>
                </a:solidFill>
                <a:latin typeface="Calibri"/>
                <a:cs typeface="Calibri"/>
              </a:rPr>
              <a:t>marks </a:t>
            </a:r>
            <a:r>
              <a:rPr sz="850" b="1" spc="-5" dirty="0">
                <a:solidFill>
                  <a:srgbClr val="FFFFFF"/>
                </a:solidFill>
                <a:latin typeface="Calibri"/>
                <a:cs typeface="Calibri"/>
              </a:rPr>
              <a:t>of </a:t>
            </a:r>
            <a:r>
              <a:rPr sz="850" b="1" dirty="0">
                <a:solidFill>
                  <a:srgbClr val="FFFFFF"/>
                </a:solidFill>
                <a:latin typeface="Calibri"/>
                <a:cs typeface="Calibri"/>
              </a:rPr>
              <a:t>the </a:t>
            </a:r>
            <a:r>
              <a:rPr sz="850" b="1" spc="-5" dirty="0">
                <a:solidFill>
                  <a:srgbClr val="FFFFFF"/>
                </a:solidFill>
                <a:latin typeface="Calibri"/>
                <a:cs typeface="Calibri"/>
              </a:rPr>
              <a:t>Project Management Institute,</a:t>
            </a:r>
            <a:r>
              <a:rPr sz="850" b="1" spc="-70" dirty="0">
                <a:solidFill>
                  <a:srgbClr val="FFFFFF"/>
                </a:solidFill>
                <a:latin typeface="Calibri"/>
                <a:cs typeface="Calibri"/>
              </a:rPr>
              <a:t> </a:t>
            </a:r>
            <a:r>
              <a:rPr sz="850" b="1" dirty="0">
                <a:solidFill>
                  <a:srgbClr val="FFFFFF"/>
                </a:solidFill>
                <a:latin typeface="Calibri"/>
                <a:cs typeface="Calibri"/>
              </a:rPr>
              <a:t>Inc.</a:t>
            </a:r>
            <a:endParaRPr sz="850">
              <a:latin typeface="Calibri"/>
              <a:cs typeface="Calibri"/>
            </a:endParaRPr>
          </a:p>
          <a:p>
            <a:pPr marR="1905" algn="ctr">
              <a:lnSpc>
                <a:spcPct val="100000"/>
              </a:lnSpc>
              <a:spcBef>
                <a:spcPts val="359"/>
              </a:spcBef>
            </a:pPr>
            <a:r>
              <a:rPr sz="1100" dirty="0">
                <a:solidFill>
                  <a:srgbClr val="404040"/>
                </a:solidFill>
                <a:latin typeface="Calibri"/>
                <a:cs typeface="Calibri"/>
              </a:rPr>
              <a:t>© </a:t>
            </a:r>
            <a:r>
              <a:rPr sz="1100" spc="-5" dirty="0">
                <a:solidFill>
                  <a:srgbClr val="404040"/>
                </a:solidFill>
                <a:latin typeface="Calibri"/>
                <a:cs typeface="Calibri"/>
              </a:rPr>
              <a:t>All rights</a:t>
            </a:r>
            <a:r>
              <a:rPr sz="1100" spc="-30" dirty="0">
                <a:solidFill>
                  <a:srgbClr val="404040"/>
                </a:solidFill>
                <a:latin typeface="Calibri"/>
                <a:cs typeface="Calibri"/>
              </a:rPr>
              <a:t> </a:t>
            </a:r>
            <a:r>
              <a:rPr sz="1100" dirty="0">
                <a:solidFill>
                  <a:srgbClr val="404040"/>
                </a:solidFill>
                <a:latin typeface="Calibri"/>
                <a:cs typeface="Calibri"/>
              </a:rPr>
              <a:t>reserved</a:t>
            </a:r>
            <a:endParaRPr sz="1100">
              <a:latin typeface="Calibri"/>
              <a:cs typeface="Calibri"/>
            </a:endParaRPr>
          </a:p>
        </p:txBody>
      </p:sp>
      <p:sp>
        <p:nvSpPr>
          <p:cNvPr id="5" name="object 5"/>
          <p:cNvSpPr txBox="1"/>
          <p:nvPr/>
        </p:nvSpPr>
        <p:spPr>
          <a:xfrm>
            <a:off x="78739" y="6682537"/>
            <a:ext cx="1372235" cy="165735"/>
          </a:xfrm>
          <a:prstGeom prst="rect">
            <a:avLst/>
          </a:prstGeom>
        </p:spPr>
        <p:txBody>
          <a:bodyPr vert="horz" wrap="square" lIns="0" tIns="0" rIns="0" bIns="0" rtlCol="0">
            <a:spAutoFit/>
          </a:bodyPr>
          <a:lstStyle/>
          <a:p>
            <a:pPr marL="12700">
              <a:lnSpc>
                <a:spcPts val="1150"/>
              </a:lnSpc>
            </a:pPr>
            <a:r>
              <a:rPr sz="1100" spc="-5" dirty="0">
                <a:solidFill>
                  <a:srgbClr val="404040"/>
                </a:solidFill>
                <a:latin typeface="Calibri"/>
                <a:cs typeface="Calibri"/>
                <a:hlinkClick r:id="rId2"/>
              </a:rPr>
              <a:t>www.3foldtraining.com</a:t>
            </a:r>
            <a:endParaRPr sz="1100">
              <a:latin typeface="Calibri"/>
              <a:cs typeface="Calibri"/>
            </a:endParaRP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latin typeface="Calibri"/>
                <a:cs typeface="Calibri"/>
              </a:rPr>
              <a:t>29</a:t>
            </a:fld>
            <a:endParaRPr sz="1100">
              <a:latin typeface="Calibri"/>
              <a:cs typeface="Calibri"/>
            </a:endParaRPr>
          </a:p>
        </p:txBody>
      </p:sp>
      <p:sp>
        <p:nvSpPr>
          <p:cNvPr id="3" name="object 3"/>
          <p:cNvSpPr txBox="1"/>
          <p:nvPr/>
        </p:nvSpPr>
        <p:spPr>
          <a:xfrm>
            <a:off x="73884" y="458044"/>
            <a:ext cx="8962612" cy="4006225"/>
          </a:xfrm>
          <a:prstGeom prst="rect">
            <a:avLst/>
          </a:prstGeom>
        </p:spPr>
        <p:txBody>
          <a:bodyPr vert="horz" wrap="square" lIns="0" tIns="88900" rIns="0" bIns="0" rtlCol="0">
            <a:spAutoFit/>
          </a:bodyPr>
          <a:lstStyle/>
          <a:p>
            <a:pPr marL="355600" indent="-342900">
              <a:lnSpc>
                <a:spcPct val="100000"/>
              </a:lnSpc>
              <a:spcBef>
                <a:spcPts val="100"/>
              </a:spcBef>
              <a:buFont typeface="Wingdings"/>
              <a:buChar char=""/>
              <a:tabLst>
                <a:tab pos="355600" algn="l"/>
                <a:tab pos="356235" algn="l"/>
              </a:tabLst>
            </a:pPr>
            <a:r>
              <a:rPr lang="en-GB" sz="2800" b="1" dirty="0"/>
              <a:t>Iterative Life Cycle: </a:t>
            </a:r>
          </a:p>
          <a:p>
            <a:pPr marL="12700">
              <a:lnSpc>
                <a:spcPct val="100000"/>
              </a:lnSpc>
              <a:spcBef>
                <a:spcPts val="100"/>
              </a:spcBef>
              <a:tabLst>
                <a:tab pos="355600" algn="l"/>
                <a:tab pos="356235" algn="l"/>
              </a:tabLst>
            </a:pPr>
            <a:endParaRPr lang="en-GB" sz="2800" dirty="0"/>
          </a:p>
          <a:p>
            <a:pPr marL="469900" lvl="1">
              <a:spcBef>
                <a:spcPts val="100"/>
              </a:spcBef>
              <a:tabLst>
                <a:tab pos="355600" algn="l"/>
                <a:tab pos="356235" algn="l"/>
              </a:tabLst>
            </a:pPr>
            <a:r>
              <a:rPr lang="en-GB" sz="2800" dirty="0"/>
              <a:t>In an iterative life cycle, the project scope is generally determined early in the project life cycle, but time</a:t>
            </a:r>
          </a:p>
          <a:p>
            <a:pPr marL="469900" lvl="1">
              <a:spcBef>
                <a:spcPts val="100"/>
              </a:spcBef>
              <a:tabLst>
                <a:tab pos="355600" algn="l"/>
                <a:tab pos="356235" algn="l"/>
              </a:tabLst>
            </a:pPr>
            <a:r>
              <a:rPr lang="en-GB" sz="2800" dirty="0"/>
              <a:t>and cost estimates are routinely modified as the project team’s understanding of the product increases. Iterations develop the product through a series of repeated cycles, while increments successively add to the functionality of the product. e.g. Large and complex projects. </a:t>
            </a:r>
            <a:endParaRPr lang="en-GB" sz="2400" dirty="0">
              <a:cs typeface="Calibri"/>
            </a:endParaRPr>
          </a:p>
        </p:txBody>
      </p:sp>
    </p:spTree>
    <p:extLst>
      <p:ext uri="{BB962C8B-B14F-4D97-AF65-F5344CB8AC3E}">
        <p14:creationId xmlns:p14="http://schemas.microsoft.com/office/powerpoint/2010/main" val="1841557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658492" y="6499580"/>
            <a:ext cx="5838190" cy="348615"/>
          </a:xfrm>
          <a:prstGeom prst="rect">
            <a:avLst/>
          </a:prstGeom>
        </p:spPr>
        <p:txBody>
          <a:bodyPr vert="horz" wrap="square" lIns="0" tIns="0" rIns="0" bIns="0" rtlCol="0">
            <a:spAutoFit/>
          </a:bodyPr>
          <a:lstStyle/>
          <a:p>
            <a:pPr algn="ctr">
              <a:lnSpc>
                <a:spcPts val="910"/>
              </a:lnSpc>
            </a:pPr>
            <a:r>
              <a:rPr sz="850" b="1" spc="-5" dirty="0">
                <a:solidFill>
                  <a:srgbClr val="FFFFFF"/>
                </a:solidFill>
                <a:cs typeface="Calibri"/>
              </a:rPr>
              <a:t>PMI, PMP, PMBOK </a:t>
            </a:r>
            <a:r>
              <a:rPr sz="850" b="1" dirty="0">
                <a:solidFill>
                  <a:srgbClr val="FFFFFF"/>
                </a:solidFill>
                <a:cs typeface="Calibri"/>
              </a:rPr>
              <a:t>and the </a:t>
            </a:r>
            <a:r>
              <a:rPr sz="850" b="1" spc="-5" dirty="0">
                <a:solidFill>
                  <a:srgbClr val="FFFFFF"/>
                </a:solidFill>
                <a:cs typeface="Calibri"/>
              </a:rPr>
              <a:t>PMI Registered Education Provider logo are registered </a:t>
            </a:r>
            <a:r>
              <a:rPr sz="850" b="1" dirty="0">
                <a:solidFill>
                  <a:srgbClr val="FFFFFF"/>
                </a:solidFill>
                <a:cs typeface="Calibri"/>
              </a:rPr>
              <a:t>marks </a:t>
            </a:r>
            <a:r>
              <a:rPr sz="850" b="1" spc="-5" dirty="0">
                <a:solidFill>
                  <a:srgbClr val="FFFFFF"/>
                </a:solidFill>
                <a:cs typeface="Calibri"/>
              </a:rPr>
              <a:t>of </a:t>
            </a:r>
            <a:r>
              <a:rPr sz="850" b="1" dirty="0">
                <a:solidFill>
                  <a:srgbClr val="FFFFFF"/>
                </a:solidFill>
                <a:cs typeface="Calibri"/>
              </a:rPr>
              <a:t>the </a:t>
            </a:r>
            <a:r>
              <a:rPr sz="850" b="1" spc="-5" dirty="0">
                <a:solidFill>
                  <a:srgbClr val="FFFFFF"/>
                </a:solidFill>
                <a:cs typeface="Calibri"/>
              </a:rPr>
              <a:t>Project Management Institute,</a:t>
            </a:r>
            <a:r>
              <a:rPr sz="850" b="1" spc="-70" dirty="0">
                <a:solidFill>
                  <a:srgbClr val="FFFFFF"/>
                </a:solidFill>
                <a:cs typeface="Calibri"/>
              </a:rPr>
              <a:t> </a:t>
            </a:r>
            <a:r>
              <a:rPr sz="850" b="1" dirty="0">
                <a:solidFill>
                  <a:srgbClr val="FFFFFF"/>
                </a:solidFill>
                <a:cs typeface="Calibri"/>
              </a:rPr>
              <a:t>Inc.</a:t>
            </a:r>
            <a:endParaRPr sz="850">
              <a:solidFill>
                <a:prstClr val="white"/>
              </a:solidFill>
              <a:cs typeface="Calibri"/>
            </a:endParaRPr>
          </a:p>
          <a:p>
            <a:pPr marR="1905" algn="ctr">
              <a:spcBef>
                <a:spcPts val="359"/>
              </a:spcBef>
            </a:pPr>
            <a:r>
              <a:rPr sz="1100" dirty="0">
                <a:solidFill>
                  <a:srgbClr val="404040"/>
                </a:solidFill>
                <a:cs typeface="Calibri"/>
              </a:rPr>
              <a:t>© </a:t>
            </a:r>
            <a:r>
              <a:rPr sz="1100" spc="-5" dirty="0">
                <a:solidFill>
                  <a:srgbClr val="404040"/>
                </a:solidFill>
                <a:cs typeface="Calibri"/>
              </a:rPr>
              <a:t>All rights</a:t>
            </a:r>
            <a:r>
              <a:rPr sz="1100" spc="-30" dirty="0">
                <a:solidFill>
                  <a:srgbClr val="404040"/>
                </a:solidFill>
                <a:cs typeface="Calibri"/>
              </a:rPr>
              <a:t> </a:t>
            </a:r>
            <a:r>
              <a:rPr sz="1100" dirty="0">
                <a:solidFill>
                  <a:srgbClr val="404040"/>
                </a:solidFill>
                <a:cs typeface="Calibri"/>
              </a:rPr>
              <a:t>reserved</a:t>
            </a:r>
            <a:endParaRPr sz="1100">
              <a:solidFill>
                <a:prstClr val="white"/>
              </a:solidFill>
              <a:cs typeface="Calibri"/>
            </a:endParaRPr>
          </a:p>
        </p:txBody>
      </p:sp>
      <p:sp>
        <p:nvSpPr>
          <p:cNvPr id="5" name="object 5"/>
          <p:cNvSpPr txBox="1"/>
          <p:nvPr/>
        </p:nvSpPr>
        <p:spPr>
          <a:xfrm>
            <a:off x="78739" y="6682537"/>
            <a:ext cx="1372235" cy="165735"/>
          </a:xfrm>
          <a:prstGeom prst="rect">
            <a:avLst/>
          </a:prstGeom>
        </p:spPr>
        <p:txBody>
          <a:bodyPr vert="horz" wrap="square" lIns="0" tIns="0" rIns="0" bIns="0" rtlCol="0">
            <a:spAutoFit/>
          </a:bodyPr>
          <a:lstStyle/>
          <a:p>
            <a:pPr marL="12700">
              <a:lnSpc>
                <a:spcPts val="1150"/>
              </a:lnSpc>
            </a:pPr>
            <a:r>
              <a:rPr sz="1100" spc="-5" dirty="0">
                <a:solidFill>
                  <a:srgbClr val="404040"/>
                </a:solidFill>
                <a:cs typeface="Calibri"/>
                <a:hlinkClick r:id="rId2"/>
              </a:rPr>
              <a:t>www.3foldtraining.com</a:t>
            </a:r>
            <a:endParaRPr sz="1100">
              <a:solidFill>
                <a:prstClr val="white"/>
              </a:solidFill>
              <a:cs typeface="Calibri"/>
            </a:endParaRP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solidFill>
                  <a:prstClr val="white"/>
                </a:solidFill>
                <a:cs typeface="Calibri"/>
              </a:rPr>
              <a:pPr marL="25400">
                <a:lnSpc>
                  <a:spcPts val="1150"/>
                </a:lnSpc>
              </a:pPr>
              <a:t>30</a:t>
            </a:fld>
            <a:endParaRPr sz="1100">
              <a:solidFill>
                <a:prstClr val="white"/>
              </a:solidFill>
              <a:cs typeface="Calibri"/>
            </a:endParaRPr>
          </a:p>
        </p:txBody>
      </p:sp>
      <p:sp>
        <p:nvSpPr>
          <p:cNvPr id="3" name="object 3"/>
          <p:cNvSpPr txBox="1"/>
          <p:nvPr/>
        </p:nvSpPr>
        <p:spPr>
          <a:xfrm>
            <a:off x="437417" y="476672"/>
            <a:ext cx="8280340" cy="4437112"/>
          </a:xfrm>
          <a:prstGeom prst="rect">
            <a:avLst/>
          </a:prstGeom>
        </p:spPr>
        <p:txBody>
          <a:bodyPr vert="horz" wrap="square" lIns="0" tIns="88900" rIns="0" bIns="0" rtlCol="0">
            <a:spAutoFit/>
          </a:bodyPr>
          <a:lstStyle/>
          <a:p>
            <a:pPr marL="355600" indent="-342900">
              <a:spcBef>
                <a:spcPts val="100"/>
              </a:spcBef>
              <a:buFont typeface="Wingdings"/>
              <a:buChar char=""/>
              <a:tabLst>
                <a:tab pos="355600" algn="l"/>
                <a:tab pos="356235" algn="l"/>
              </a:tabLst>
            </a:pPr>
            <a:r>
              <a:rPr lang="en-GB" sz="2800" b="1" dirty="0">
                <a:solidFill>
                  <a:prstClr val="white"/>
                </a:solidFill>
              </a:rPr>
              <a:t>Adaptive Life Cycle: </a:t>
            </a:r>
          </a:p>
          <a:p>
            <a:pPr marL="12700">
              <a:spcBef>
                <a:spcPts val="100"/>
              </a:spcBef>
              <a:tabLst>
                <a:tab pos="355600" algn="l"/>
                <a:tab pos="356235" algn="l"/>
              </a:tabLst>
            </a:pPr>
            <a:endParaRPr lang="en-GB" sz="2800" dirty="0">
              <a:solidFill>
                <a:prstClr val="white"/>
              </a:solidFill>
            </a:endParaRPr>
          </a:p>
          <a:p>
            <a:pPr marL="469900" lvl="1">
              <a:spcBef>
                <a:spcPts val="100"/>
              </a:spcBef>
              <a:tabLst>
                <a:tab pos="355600" algn="l"/>
                <a:tab pos="356235" algn="l"/>
              </a:tabLst>
            </a:pPr>
            <a:r>
              <a:rPr lang="en-GB" sz="2800" dirty="0">
                <a:solidFill>
                  <a:prstClr val="white"/>
                </a:solidFill>
              </a:rPr>
              <a:t>Adaptive life cycles are agile, iterative, or incremental. The detailed scope is defined and approved before the start of an iteration. Adaptive life cycles are also referred to as agile or change-driven life cycles. It is associated with ‘agile methodologies’ and is often used for novel, uncertain and fast-changing environments such as research and new product development..</a:t>
            </a:r>
            <a:endParaRPr lang="en-GB" sz="2400" dirty="0">
              <a:solidFill>
                <a:prstClr val="white"/>
              </a:solidFill>
              <a:cs typeface="Calibri"/>
            </a:endParaRPr>
          </a:p>
        </p:txBody>
      </p:sp>
    </p:spTree>
    <p:extLst>
      <p:ext uri="{BB962C8B-B14F-4D97-AF65-F5344CB8AC3E}">
        <p14:creationId xmlns:p14="http://schemas.microsoft.com/office/powerpoint/2010/main" val="127394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2" y="692696"/>
            <a:ext cx="8780019" cy="5400600"/>
          </a:xfrm>
        </p:spPr>
      </p:pic>
    </p:spTree>
    <p:extLst>
      <p:ext uri="{BB962C8B-B14F-4D97-AF65-F5344CB8AC3E}">
        <p14:creationId xmlns:p14="http://schemas.microsoft.com/office/powerpoint/2010/main" val="19173609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36" y="116632"/>
            <a:ext cx="8359909" cy="6597352"/>
          </a:xfrm>
        </p:spPr>
      </p:pic>
    </p:spTree>
    <p:extLst>
      <p:ext uri="{BB962C8B-B14F-4D97-AF65-F5344CB8AC3E}">
        <p14:creationId xmlns:p14="http://schemas.microsoft.com/office/powerpoint/2010/main" val="1569898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658492" y="6499580"/>
            <a:ext cx="5838190" cy="348615"/>
          </a:xfrm>
          <a:prstGeom prst="rect">
            <a:avLst/>
          </a:prstGeom>
        </p:spPr>
        <p:txBody>
          <a:bodyPr vert="horz" wrap="square" lIns="0" tIns="0" rIns="0" bIns="0" rtlCol="0">
            <a:spAutoFit/>
          </a:bodyPr>
          <a:lstStyle/>
          <a:p>
            <a:pPr algn="ctr">
              <a:lnSpc>
                <a:spcPts val="910"/>
              </a:lnSpc>
            </a:pPr>
            <a:r>
              <a:rPr sz="850" b="1" spc="-5" dirty="0">
                <a:solidFill>
                  <a:srgbClr val="FFFFFF"/>
                </a:solidFill>
                <a:latin typeface="Calibri"/>
                <a:cs typeface="Calibri"/>
              </a:rPr>
              <a:t>PMI, PMP, PMBOK </a:t>
            </a:r>
            <a:r>
              <a:rPr sz="850" b="1" dirty="0">
                <a:solidFill>
                  <a:srgbClr val="FFFFFF"/>
                </a:solidFill>
                <a:latin typeface="Calibri"/>
                <a:cs typeface="Calibri"/>
              </a:rPr>
              <a:t>and the </a:t>
            </a:r>
            <a:r>
              <a:rPr sz="850" b="1" spc="-5" dirty="0">
                <a:solidFill>
                  <a:srgbClr val="FFFFFF"/>
                </a:solidFill>
                <a:latin typeface="Calibri"/>
                <a:cs typeface="Calibri"/>
              </a:rPr>
              <a:t>PMI Registered Education Provider logo are registered </a:t>
            </a:r>
            <a:r>
              <a:rPr sz="850" b="1" dirty="0">
                <a:solidFill>
                  <a:srgbClr val="FFFFFF"/>
                </a:solidFill>
                <a:latin typeface="Calibri"/>
                <a:cs typeface="Calibri"/>
              </a:rPr>
              <a:t>marks </a:t>
            </a:r>
            <a:r>
              <a:rPr sz="850" b="1" spc="-5" dirty="0">
                <a:solidFill>
                  <a:srgbClr val="FFFFFF"/>
                </a:solidFill>
                <a:latin typeface="Calibri"/>
                <a:cs typeface="Calibri"/>
              </a:rPr>
              <a:t>of </a:t>
            </a:r>
            <a:r>
              <a:rPr sz="850" b="1" dirty="0">
                <a:solidFill>
                  <a:srgbClr val="FFFFFF"/>
                </a:solidFill>
                <a:latin typeface="Calibri"/>
                <a:cs typeface="Calibri"/>
              </a:rPr>
              <a:t>the </a:t>
            </a:r>
            <a:r>
              <a:rPr sz="850" b="1" spc="-5" dirty="0">
                <a:solidFill>
                  <a:srgbClr val="FFFFFF"/>
                </a:solidFill>
                <a:latin typeface="Calibri"/>
                <a:cs typeface="Calibri"/>
              </a:rPr>
              <a:t>Project Management Institute,</a:t>
            </a:r>
            <a:r>
              <a:rPr sz="850" b="1" spc="-70" dirty="0">
                <a:solidFill>
                  <a:srgbClr val="FFFFFF"/>
                </a:solidFill>
                <a:latin typeface="Calibri"/>
                <a:cs typeface="Calibri"/>
              </a:rPr>
              <a:t> </a:t>
            </a:r>
            <a:r>
              <a:rPr sz="850" b="1" dirty="0">
                <a:solidFill>
                  <a:srgbClr val="FFFFFF"/>
                </a:solidFill>
                <a:latin typeface="Calibri"/>
                <a:cs typeface="Calibri"/>
              </a:rPr>
              <a:t>Inc.</a:t>
            </a:r>
            <a:endParaRPr sz="850">
              <a:latin typeface="Calibri"/>
              <a:cs typeface="Calibri"/>
            </a:endParaRPr>
          </a:p>
          <a:p>
            <a:pPr marR="1905" algn="ctr">
              <a:lnSpc>
                <a:spcPct val="100000"/>
              </a:lnSpc>
              <a:spcBef>
                <a:spcPts val="359"/>
              </a:spcBef>
            </a:pPr>
            <a:r>
              <a:rPr sz="1100" dirty="0">
                <a:solidFill>
                  <a:srgbClr val="404040"/>
                </a:solidFill>
                <a:latin typeface="Calibri"/>
                <a:cs typeface="Calibri"/>
              </a:rPr>
              <a:t>© </a:t>
            </a:r>
            <a:r>
              <a:rPr sz="1100" spc="-5" dirty="0">
                <a:solidFill>
                  <a:srgbClr val="404040"/>
                </a:solidFill>
                <a:latin typeface="Calibri"/>
                <a:cs typeface="Calibri"/>
              </a:rPr>
              <a:t>All rights</a:t>
            </a:r>
            <a:r>
              <a:rPr sz="1100" spc="-30" dirty="0">
                <a:solidFill>
                  <a:srgbClr val="404040"/>
                </a:solidFill>
                <a:latin typeface="Calibri"/>
                <a:cs typeface="Calibri"/>
              </a:rPr>
              <a:t> </a:t>
            </a:r>
            <a:r>
              <a:rPr sz="1100" dirty="0">
                <a:solidFill>
                  <a:srgbClr val="404040"/>
                </a:solidFill>
                <a:latin typeface="Calibri"/>
                <a:cs typeface="Calibri"/>
              </a:rPr>
              <a:t>reserved</a:t>
            </a:r>
            <a:endParaRPr sz="1100">
              <a:latin typeface="Calibri"/>
              <a:cs typeface="Calibri"/>
            </a:endParaRPr>
          </a:p>
        </p:txBody>
      </p:sp>
      <p:sp>
        <p:nvSpPr>
          <p:cNvPr id="5" name="object 5"/>
          <p:cNvSpPr txBox="1"/>
          <p:nvPr/>
        </p:nvSpPr>
        <p:spPr>
          <a:xfrm>
            <a:off x="78739" y="6682537"/>
            <a:ext cx="1372235" cy="165735"/>
          </a:xfrm>
          <a:prstGeom prst="rect">
            <a:avLst/>
          </a:prstGeom>
        </p:spPr>
        <p:txBody>
          <a:bodyPr vert="horz" wrap="square" lIns="0" tIns="0" rIns="0" bIns="0" rtlCol="0">
            <a:spAutoFit/>
          </a:bodyPr>
          <a:lstStyle/>
          <a:p>
            <a:pPr marL="12700">
              <a:lnSpc>
                <a:spcPts val="1150"/>
              </a:lnSpc>
            </a:pPr>
            <a:r>
              <a:rPr sz="1100" spc="-5" dirty="0">
                <a:solidFill>
                  <a:srgbClr val="404040"/>
                </a:solidFill>
                <a:latin typeface="Calibri"/>
                <a:cs typeface="Calibri"/>
                <a:hlinkClick r:id="rId2"/>
              </a:rPr>
              <a:t>www.3foldtraining.com</a:t>
            </a:r>
            <a:endParaRPr sz="1100">
              <a:latin typeface="Calibri"/>
              <a:cs typeface="Calibri"/>
            </a:endParaRPr>
          </a:p>
        </p:txBody>
      </p:sp>
      <p:sp>
        <p:nvSpPr>
          <p:cNvPr id="6" name="object 6"/>
          <p:cNvSpPr txBox="1"/>
          <p:nvPr/>
        </p:nvSpPr>
        <p:spPr>
          <a:xfrm>
            <a:off x="8449309" y="6689852"/>
            <a:ext cx="194310" cy="165735"/>
          </a:xfrm>
          <a:prstGeom prst="rect">
            <a:avLst/>
          </a:prstGeom>
        </p:spPr>
        <p:txBody>
          <a:bodyPr vert="horz" wrap="square" lIns="0" tIns="0" rIns="0" bIns="0" rtlCol="0">
            <a:spAutoFit/>
          </a:bodyPr>
          <a:lstStyle/>
          <a:p>
            <a:pPr marL="25400">
              <a:lnSpc>
                <a:spcPts val="1150"/>
              </a:lnSpc>
            </a:pPr>
            <a:fld id="{81D60167-4931-47E6-BA6A-407CBD079E47}" type="slidenum">
              <a:rPr sz="1100" dirty="0">
                <a:latin typeface="Calibri"/>
                <a:cs typeface="Calibri"/>
              </a:rPr>
              <a:t>33</a:t>
            </a:fld>
            <a:endParaRPr sz="1100">
              <a:latin typeface="Calibri"/>
              <a:cs typeface="Calibri"/>
            </a:endParaRPr>
          </a:p>
        </p:txBody>
      </p:sp>
      <p:sp>
        <p:nvSpPr>
          <p:cNvPr id="3" name="object 3"/>
          <p:cNvSpPr txBox="1"/>
          <p:nvPr/>
        </p:nvSpPr>
        <p:spPr>
          <a:xfrm>
            <a:off x="612140" y="836712"/>
            <a:ext cx="8208332" cy="5383525"/>
          </a:xfrm>
          <a:prstGeom prst="rect">
            <a:avLst/>
          </a:prstGeom>
        </p:spPr>
        <p:txBody>
          <a:bodyPr vert="horz" wrap="square" lIns="0" tIns="88900" rIns="0" bIns="0" rtlCol="0">
            <a:spAutoFit/>
          </a:bodyPr>
          <a:lstStyle/>
          <a:p>
            <a:r>
              <a:rPr lang="en-GB" sz="3200" b="1" dirty="0"/>
              <a:t>PHASE GATE</a:t>
            </a:r>
          </a:p>
          <a:p>
            <a:endParaRPr lang="en-GB" sz="3200" b="1" dirty="0"/>
          </a:p>
          <a:p>
            <a:r>
              <a:rPr lang="en-GB" sz="2800" dirty="0"/>
              <a:t>A phase gate, is held at the end of a phase. The project’s performance is reviewed.</a:t>
            </a:r>
          </a:p>
          <a:p>
            <a:endParaRPr lang="en-GB" sz="2800" dirty="0">
              <a:cs typeface="Calibri"/>
            </a:endParaRPr>
          </a:p>
          <a:p>
            <a:r>
              <a:rPr lang="en-GB" sz="2800" dirty="0">
                <a:cs typeface="Calibri"/>
              </a:rPr>
              <a:t>A decision (e.g., go/no-go decision) is made as a result of this comparison to:</a:t>
            </a:r>
          </a:p>
          <a:p>
            <a:pPr marL="457200" indent="-457200">
              <a:buFont typeface="Arial" panose="020B0604020202020204" pitchFamily="34" charset="0"/>
              <a:buChar char="•"/>
            </a:pPr>
            <a:r>
              <a:rPr lang="en-GB" sz="2800" dirty="0">
                <a:cs typeface="Calibri"/>
              </a:rPr>
              <a:t>Continue to the next phase,</a:t>
            </a:r>
          </a:p>
          <a:p>
            <a:pPr marL="457200" indent="-457200">
              <a:buFont typeface="Arial" panose="020B0604020202020204" pitchFamily="34" charset="0"/>
              <a:buChar char="•"/>
            </a:pPr>
            <a:r>
              <a:rPr lang="en-GB" sz="2800" dirty="0">
                <a:cs typeface="Calibri"/>
              </a:rPr>
              <a:t>Continue to the next phase with modification,</a:t>
            </a:r>
          </a:p>
          <a:p>
            <a:pPr marL="457200" indent="-457200">
              <a:buFont typeface="Arial" panose="020B0604020202020204" pitchFamily="34" charset="0"/>
              <a:buChar char="•"/>
            </a:pPr>
            <a:r>
              <a:rPr lang="en-GB" sz="2800" dirty="0">
                <a:cs typeface="Calibri"/>
              </a:rPr>
              <a:t>End the project,</a:t>
            </a:r>
          </a:p>
          <a:p>
            <a:pPr marL="457200" indent="-457200">
              <a:buFont typeface="Arial" panose="020B0604020202020204" pitchFamily="34" charset="0"/>
              <a:buChar char="•"/>
            </a:pPr>
            <a:r>
              <a:rPr lang="en-GB" sz="2800" dirty="0">
                <a:cs typeface="Calibri"/>
              </a:rPr>
              <a:t>Remain in the phase, or</a:t>
            </a:r>
          </a:p>
          <a:p>
            <a:pPr marL="457200" indent="-457200">
              <a:buFont typeface="Arial" panose="020B0604020202020204" pitchFamily="34" charset="0"/>
              <a:buChar char="•"/>
            </a:pPr>
            <a:r>
              <a:rPr lang="en-GB" sz="2800" dirty="0">
                <a:cs typeface="Calibri"/>
              </a:rPr>
              <a:t>Repeat the phase or elements of it</a:t>
            </a:r>
          </a:p>
        </p:txBody>
      </p:sp>
    </p:spTree>
    <p:extLst>
      <p:ext uri="{BB962C8B-B14F-4D97-AF65-F5344CB8AC3E}">
        <p14:creationId xmlns:p14="http://schemas.microsoft.com/office/powerpoint/2010/main" val="11381723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579296" cy="5141168"/>
          </a:xfrm>
        </p:spPr>
        <p:txBody>
          <a:bodyPr>
            <a:normAutofit fontScale="92500" lnSpcReduction="10000"/>
          </a:bodyPr>
          <a:lstStyle/>
          <a:p>
            <a:pPr marL="0" indent="0">
              <a:buNone/>
            </a:pPr>
            <a:r>
              <a:rPr lang="en-GB" b="1" dirty="0"/>
              <a:t>PROJECT MANAGEMENT PROCESSES</a:t>
            </a:r>
          </a:p>
          <a:p>
            <a:pPr marL="0" indent="0">
              <a:buNone/>
            </a:pPr>
            <a:endParaRPr lang="en-GB" b="1" dirty="0"/>
          </a:p>
          <a:p>
            <a:r>
              <a:rPr lang="en-GB" dirty="0"/>
              <a:t>The project life cycle is managed by executing a series of project management activities known as project management processes.</a:t>
            </a:r>
          </a:p>
          <a:p>
            <a:r>
              <a:rPr lang="en-GB" dirty="0"/>
              <a:t>Every project management process produces one or more outputs from one or more inputs by using appropriate project management tools and techniques</a:t>
            </a:r>
          </a:p>
          <a:p>
            <a:r>
              <a:rPr lang="en-GB" dirty="0"/>
              <a:t>Examples Define Scope, Develop Project Charter etc. </a:t>
            </a:r>
          </a:p>
        </p:txBody>
      </p:sp>
    </p:spTree>
    <p:extLst>
      <p:ext uri="{BB962C8B-B14F-4D97-AF65-F5344CB8AC3E}">
        <p14:creationId xmlns:p14="http://schemas.microsoft.com/office/powerpoint/2010/main" val="18827295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140968"/>
            <a:ext cx="8229600" cy="1143000"/>
          </a:xfrm>
        </p:spPr>
        <p:txBody>
          <a:bodyPr>
            <a:normAutofit fontScale="90000"/>
          </a:bodyPr>
          <a:lstStyle/>
          <a:p>
            <a:r>
              <a:rPr lang="en-GB" sz="6700" dirty="0"/>
              <a:t>THE END</a:t>
            </a:r>
            <a:br>
              <a:rPr lang="en-GB" dirty="0"/>
            </a:br>
            <a:endParaRPr lang="en-GB" dirty="0"/>
          </a:p>
        </p:txBody>
      </p:sp>
    </p:spTree>
    <p:extLst>
      <p:ext uri="{BB962C8B-B14F-4D97-AF65-F5344CB8AC3E}">
        <p14:creationId xmlns:p14="http://schemas.microsoft.com/office/powerpoint/2010/main" val="1098404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4761</TotalTime>
  <Words>1574</Words>
  <Application>Microsoft Office PowerPoint</Application>
  <PresentationFormat>On-screen Show (4:3)</PresentationFormat>
  <Paragraphs>168</Paragraphs>
  <Slides>35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Wingdings</vt:lpstr>
      <vt:lpstr>Office Theme</vt:lpstr>
      <vt:lpstr>  </vt:lpstr>
      <vt:lpstr>Week 2 </vt:lpstr>
      <vt:lpstr>Vision and Mission</vt:lpstr>
      <vt:lpstr>Vision and Strategic Objectives</vt:lpstr>
      <vt:lpstr>vision statements examples  PEPSICO BE THE GLOBAL LEADER IN CONVENIENT FOODS AND BEVERAGES BY WINNING WITH PURPOSE </vt:lpstr>
      <vt:lpstr>Examples of Strategic Objectives</vt:lpstr>
      <vt:lpstr>The Relationships among Portfolios, Programs, and Projects</vt:lpstr>
      <vt:lpstr>PowerPoint Presentation</vt:lpstr>
      <vt:lpstr>PowerPoint Presentation</vt:lpstr>
      <vt:lpstr>PowerPoint Presentation</vt:lpstr>
      <vt:lpstr>Portfolio Management</vt:lpstr>
      <vt:lpstr>Program Management</vt:lpstr>
      <vt:lpstr>Program Management</vt:lpstr>
      <vt:lpstr>PowerPoint Presentation</vt:lpstr>
      <vt:lpstr>PowerPoint Presentation</vt:lpstr>
      <vt:lpstr>Operations &amp; Project Management</vt:lpstr>
      <vt:lpstr>PowerPoint Presentation</vt:lpstr>
      <vt:lpstr>PowerPoint Presentation</vt:lpstr>
      <vt:lpstr>PowerPoint Presentation</vt:lpstr>
      <vt:lpstr>Project Life cycle and other Components</vt:lpstr>
      <vt:lpstr>PowerPoint Presentation</vt:lpstr>
      <vt:lpstr>PowerPoint Presentation</vt:lpstr>
      <vt:lpstr>A generic Project life cycle structure</vt:lpstr>
      <vt:lpstr>Impact of Variable Based on Project Time</vt:lpstr>
      <vt:lpstr>PowerPoint Presentation</vt:lpstr>
      <vt:lpstr>PowerPoint Presentation</vt:lpstr>
      <vt:lpstr>Phase-to-Phase Relationships</vt:lpstr>
      <vt:lpstr>Project Life Cycle</vt:lpstr>
      <vt:lpstr>PowerPoint Presentation</vt:lpstr>
      <vt:lpstr>PowerPoint Presentation</vt:lpstr>
      <vt:lpstr>PowerPoint Presentation</vt:lpstr>
      <vt:lpstr>PowerPoint Presentation</vt:lpstr>
      <vt:lpstr>PowerPoint Presentation</vt:lpstr>
      <vt:lpstr>PowerPoint Presentation</vt:lpstr>
      <vt:lpstr>THE 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Consultant4</dc:creator>
  <cp:lastModifiedBy>sajid mahmood BUKC</cp:lastModifiedBy>
  <cp:revision>48</cp:revision>
  <dcterms:created xsi:type="dcterms:W3CDTF">2020-02-05T05:48:36Z</dcterms:created>
  <dcterms:modified xsi:type="dcterms:W3CDTF">2025-02-15T22:51:29Z</dcterms:modified>
</cp:coreProperties>
</file>