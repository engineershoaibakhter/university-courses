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77" r:id="rId3"/>
    <p:sldId id="290" r:id="rId4"/>
    <p:sldId id="278" r:id="rId5"/>
    <p:sldId id="279" r:id="rId6"/>
    <p:sldId id="280" r:id="rId7"/>
    <p:sldId id="281" r:id="rId8"/>
    <p:sldId id="282" r:id="rId9"/>
    <p:sldId id="283" r:id="rId10"/>
    <p:sldId id="284" r:id="rId11"/>
    <p:sldId id="285" r:id="rId12"/>
    <p:sldId id="286" r:id="rId13"/>
    <p:sldId id="287" r:id="rId14"/>
    <p:sldId id="288" r:id="rId15"/>
    <p:sldId id="289" r:id="rId16"/>
    <p:sldId id="258" r:id="rId17"/>
    <p:sldId id="259" r:id="rId18"/>
    <p:sldId id="291" r:id="rId19"/>
    <p:sldId id="260" r:id="rId20"/>
    <p:sldId id="270" r:id="rId21"/>
    <p:sldId id="274" r:id="rId22"/>
    <p:sldId id="269" r:id="rId23"/>
    <p:sldId id="273" r:id="rId24"/>
    <p:sldId id="292" r:id="rId25"/>
    <p:sldId id="272" r:id="rId26"/>
    <p:sldId id="262" r:id="rId27"/>
    <p:sldId id="264" r:id="rId28"/>
    <p:sldId id="275" r:id="rId29"/>
    <p:sldId id="266" r:id="rId30"/>
    <p:sldId id="267" r:id="rId31"/>
    <p:sldId id="276"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E1D"/>
    <a:srgbClr val="008000"/>
    <a:srgbClr val="D68B1C"/>
    <a:srgbClr val="D09622"/>
    <a:srgbClr val="157FFF"/>
    <a:srgbClr val="F7E289"/>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2" autoAdjust="0"/>
  </p:normalViewPr>
  <p:slideViewPr>
    <p:cSldViewPr>
      <p:cViewPr varScale="1">
        <p:scale>
          <a:sx n="86" d="100"/>
          <a:sy n="86" d="100"/>
        </p:scale>
        <p:origin x="1530"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FEF12B-7DAB-4457-AC60-EAA0DAD6BCF4}" type="datetimeFigureOut">
              <a:rPr lang="en-US" smtClean="0"/>
              <a:pPr/>
              <a:t>3/29/2024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434123-F2F4-4EED-A50E-42F1E7A18F5F}" type="slidenum">
              <a:rPr lang="en-US" smtClean="0"/>
              <a:pPr/>
              <a:t>‹#›</a:t>
            </a:fld>
            <a:endParaRPr lang="en-US"/>
          </a:p>
        </p:txBody>
      </p:sp>
    </p:spTree>
    <p:extLst>
      <p:ext uri="{BB962C8B-B14F-4D97-AF65-F5344CB8AC3E}">
        <p14:creationId xmlns:p14="http://schemas.microsoft.com/office/powerpoint/2010/main" val="422743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charset="0"/>
              </a:defRPr>
            </a:lvl1pPr>
            <a:lvl2pPr marL="742950" indent="-285750" eaLnBrk="0" hangingPunct="0">
              <a:defRPr sz="1000">
                <a:solidFill>
                  <a:schemeClr val="tx1"/>
                </a:solidFill>
                <a:latin typeface="Arial" charset="0"/>
              </a:defRPr>
            </a:lvl2pPr>
            <a:lvl3pPr marL="1143000" indent="-228600" eaLnBrk="0" hangingPunct="0">
              <a:defRPr sz="1000">
                <a:solidFill>
                  <a:schemeClr val="tx1"/>
                </a:solidFill>
                <a:latin typeface="Arial" charset="0"/>
              </a:defRPr>
            </a:lvl3pPr>
            <a:lvl4pPr marL="1600200" indent="-228600" eaLnBrk="0" hangingPunct="0">
              <a:defRPr sz="1000">
                <a:solidFill>
                  <a:schemeClr val="tx1"/>
                </a:solidFill>
                <a:latin typeface="Arial" charset="0"/>
              </a:defRPr>
            </a:lvl4pPr>
            <a:lvl5pPr marL="2057400" indent="-228600" eaLnBrk="0" hangingPunct="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eaLnBrk="1" hangingPunct="1">
              <a:defRPr/>
            </a:pPr>
            <a:fld id="{97A39A85-92C4-4208-A5A1-654128A72978}" type="slidenum">
              <a:rPr lang="en-US" sz="1200" smtClean="0">
                <a:latin typeface="Times New Roman" pitchFamily="18" charset="0"/>
              </a:rPr>
              <a:pPr eaLnBrk="1" hangingPunct="1">
                <a:defRPr/>
              </a:pPr>
              <a:t>16</a:t>
            </a:fld>
            <a:endParaRPr lang="en-US" sz="1200">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215771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charset="0"/>
              </a:defRPr>
            </a:lvl1pPr>
            <a:lvl2pPr marL="742950" indent="-285750" eaLnBrk="0" hangingPunct="0">
              <a:defRPr sz="1000">
                <a:solidFill>
                  <a:schemeClr val="tx1"/>
                </a:solidFill>
                <a:latin typeface="Arial" charset="0"/>
              </a:defRPr>
            </a:lvl2pPr>
            <a:lvl3pPr marL="1143000" indent="-228600" eaLnBrk="0" hangingPunct="0">
              <a:defRPr sz="1000">
                <a:solidFill>
                  <a:schemeClr val="tx1"/>
                </a:solidFill>
                <a:latin typeface="Arial" charset="0"/>
              </a:defRPr>
            </a:lvl3pPr>
            <a:lvl4pPr marL="1600200" indent="-228600" eaLnBrk="0" hangingPunct="0">
              <a:defRPr sz="1000">
                <a:solidFill>
                  <a:schemeClr val="tx1"/>
                </a:solidFill>
                <a:latin typeface="Arial" charset="0"/>
              </a:defRPr>
            </a:lvl4pPr>
            <a:lvl5pPr marL="2057400" indent="-228600" eaLnBrk="0" hangingPunct="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eaLnBrk="1" hangingPunct="1">
              <a:defRPr/>
            </a:pPr>
            <a:fld id="{7F0C8E0E-9983-430B-A6FE-62C85AAFF216}" type="slidenum">
              <a:rPr lang="en-US" sz="1200" smtClean="0">
                <a:latin typeface="Times New Roman" pitchFamily="18" charset="0"/>
              </a:rPr>
              <a:pPr eaLnBrk="1" hangingPunct="1">
                <a:defRPr/>
              </a:pPr>
              <a:t>17</a:t>
            </a:fld>
            <a:endParaRPr lang="en-US" sz="1200">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601194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charset="0"/>
              </a:defRPr>
            </a:lvl1pPr>
            <a:lvl2pPr marL="742950" indent="-285750" eaLnBrk="0" hangingPunct="0">
              <a:defRPr sz="1000">
                <a:solidFill>
                  <a:schemeClr val="tx1"/>
                </a:solidFill>
                <a:latin typeface="Arial" charset="0"/>
              </a:defRPr>
            </a:lvl2pPr>
            <a:lvl3pPr marL="1143000" indent="-228600" eaLnBrk="0" hangingPunct="0">
              <a:defRPr sz="1000">
                <a:solidFill>
                  <a:schemeClr val="tx1"/>
                </a:solidFill>
                <a:latin typeface="Arial" charset="0"/>
              </a:defRPr>
            </a:lvl3pPr>
            <a:lvl4pPr marL="1600200" indent="-228600" eaLnBrk="0" hangingPunct="0">
              <a:defRPr sz="1000">
                <a:solidFill>
                  <a:schemeClr val="tx1"/>
                </a:solidFill>
                <a:latin typeface="Arial" charset="0"/>
              </a:defRPr>
            </a:lvl4pPr>
            <a:lvl5pPr marL="2057400" indent="-228600" eaLnBrk="0" hangingPunct="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eaLnBrk="1" hangingPunct="1">
              <a:defRPr/>
            </a:pPr>
            <a:fld id="{6B1490D6-E4E1-4F03-8D43-360E3F722871}" type="slidenum">
              <a:rPr lang="en-US" sz="1200" smtClean="0">
                <a:latin typeface="Times New Roman" pitchFamily="18" charset="0"/>
              </a:rPr>
              <a:pPr eaLnBrk="1" hangingPunct="1">
                <a:defRPr/>
              </a:pPr>
              <a:t>19</a:t>
            </a:fld>
            <a:endParaRPr lang="en-US" sz="1200">
              <a:latin typeface="Times New Roman"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3139428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charset="0"/>
              </a:defRPr>
            </a:lvl1pPr>
            <a:lvl2pPr marL="742950" indent="-285750" eaLnBrk="0" hangingPunct="0">
              <a:defRPr sz="1000">
                <a:solidFill>
                  <a:schemeClr val="tx1"/>
                </a:solidFill>
                <a:latin typeface="Arial" charset="0"/>
              </a:defRPr>
            </a:lvl2pPr>
            <a:lvl3pPr marL="1143000" indent="-228600" eaLnBrk="0" hangingPunct="0">
              <a:defRPr sz="1000">
                <a:solidFill>
                  <a:schemeClr val="tx1"/>
                </a:solidFill>
                <a:latin typeface="Arial" charset="0"/>
              </a:defRPr>
            </a:lvl3pPr>
            <a:lvl4pPr marL="1600200" indent="-228600" eaLnBrk="0" hangingPunct="0">
              <a:defRPr sz="1000">
                <a:solidFill>
                  <a:schemeClr val="tx1"/>
                </a:solidFill>
                <a:latin typeface="Arial" charset="0"/>
              </a:defRPr>
            </a:lvl4pPr>
            <a:lvl5pPr marL="2057400" indent="-228600" eaLnBrk="0" hangingPunct="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eaLnBrk="1" hangingPunct="1">
              <a:defRPr/>
            </a:pPr>
            <a:fld id="{8BBEC1F3-D7AB-4D03-A0E8-C67D7D71DD76}" type="slidenum">
              <a:rPr lang="en-US" sz="1200" smtClean="0">
                <a:latin typeface="Times New Roman" pitchFamily="18" charset="0"/>
              </a:rPr>
              <a:pPr eaLnBrk="1" hangingPunct="1">
                <a:defRPr/>
              </a:pPr>
              <a:t>20</a:t>
            </a:fld>
            <a:endParaRPr lang="en-US" sz="1200">
              <a:latin typeface="Times New Roman"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2094531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charset="0"/>
              </a:defRPr>
            </a:lvl1pPr>
            <a:lvl2pPr marL="742950" indent="-285750" eaLnBrk="0" hangingPunct="0">
              <a:defRPr sz="1000">
                <a:solidFill>
                  <a:schemeClr val="tx1"/>
                </a:solidFill>
                <a:latin typeface="Arial" charset="0"/>
              </a:defRPr>
            </a:lvl2pPr>
            <a:lvl3pPr marL="1143000" indent="-228600" eaLnBrk="0" hangingPunct="0">
              <a:defRPr sz="1000">
                <a:solidFill>
                  <a:schemeClr val="tx1"/>
                </a:solidFill>
                <a:latin typeface="Arial" charset="0"/>
              </a:defRPr>
            </a:lvl3pPr>
            <a:lvl4pPr marL="1600200" indent="-228600" eaLnBrk="0" hangingPunct="0">
              <a:defRPr sz="1000">
                <a:solidFill>
                  <a:schemeClr val="tx1"/>
                </a:solidFill>
                <a:latin typeface="Arial" charset="0"/>
              </a:defRPr>
            </a:lvl4pPr>
            <a:lvl5pPr marL="2057400" indent="-228600" eaLnBrk="0" hangingPunct="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eaLnBrk="1" hangingPunct="1">
              <a:defRPr/>
            </a:pPr>
            <a:fld id="{FC946B28-401B-43E5-B53D-823CE12ACDEC}" type="slidenum">
              <a:rPr lang="en-US" sz="1200" smtClean="0">
                <a:latin typeface="Times New Roman" pitchFamily="18" charset="0"/>
              </a:rPr>
              <a:pPr eaLnBrk="1" hangingPunct="1">
                <a:defRPr/>
              </a:pPr>
              <a:t>26</a:t>
            </a:fld>
            <a:endParaRPr lang="en-US" sz="1200">
              <a:latin typeface="Times New Roman"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2394455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charset="0"/>
              </a:defRPr>
            </a:lvl1pPr>
            <a:lvl2pPr marL="742950" indent="-285750" eaLnBrk="0" hangingPunct="0">
              <a:defRPr sz="1000">
                <a:solidFill>
                  <a:schemeClr val="tx1"/>
                </a:solidFill>
                <a:latin typeface="Arial" charset="0"/>
              </a:defRPr>
            </a:lvl2pPr>
            <a:lvl3pPr marL="1143000" indent="-228600" eaLnBrk="0" hangingPunct="0">
              <a:defRPr sz="1000">
                <a:solidFill>
                  <a:schemeClr val="tx1"/>
                </a:solidFill>
                <a:latin typeface="Arial" charset="0"/>
              </a:defRPr>
            </a:lvl3pPr>
            <a:lvl4pPr marL="1600200" indent="-228600" eaLnBrk="0" hangingPunct="0">
              <a:defRPr sz="1000">
                <a:solidFill>
                  <a:schemeClr val="tx1"/>
                </a:solidFill>
                <a:latin typeface="Arial" charset="0"/>
              </a:defRPr>
            </a:lvl4pPr>
            <a:lvl5pPr marL="2057400" indent="-228600" eaLnBrk="0" hangingPunct="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eaLnBrk="1" hangingPunct="1">
              <a:defRPr/>
            </a:pPr>
            <a:fld id="{F60E1CE1-9D7B-4081-9972-8E6763750AD4}" type="slidenum">
              <a:rPr lang="en-US" sz="1200" smtClean="0">
                <a:latin typeface="Times New Roman" pitchFamily="18" charset="0"/>
              </a:rPr>
              <a:pPr eaLnBrk="1" hangingPunct="1">
                <a:defRPr/>
              </a:pPr>
              <a:t>27</a:t>
            </a:fld>
            <a:endParaRPr lang="en-US" sz="1200">
              <a:latin typeface="Times New Roman"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807969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charset="0"/>
              </a:defRPr>
            </a:lvl1pPr>
            <a:lvl2pPr marL="742950" indent="-285750" eaLnBrk="0" hangingPunct="0">
              <a:defRPr sz="1000">
                <a:solidFill>
                  <a:schemeClr val="tx1"/>
                </a:solidFill>
                <a:latin typeface="Arial" charset="0"/>
              </a:defRPr>
            </a:lvl2pPr>
            <a:lvl3pPr marL="1143000" indent="-228600" eaLnBrk="0" hangingPunct="0">
              <a:defRPr sz="1000">
                <a:solidFill>
                  <a:schemeClr val="tx1"/>
                </a:solidFill>
                <a:latin typeface="Arial" charset="0"/>
              </a:defRPr>
            </a:lvl3pPr>
            <a:lvl4pPr marL="1600200" indent="-228600" eaLnBrk="0" hangingPunct="0">
              <a:defRPr sz="1000">
                <a:solidFill>
                  <a:schemeClr val="tx1"/>
                </a:solidFill>
                <a:latin typeface="Arial" charset="0"/>
              </a:defRPr>
            </a:lvl4pPr>
            <a:lvl5pPr marL="2057400" indent="-228600" eaLnBrk="0" hangingPunct="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eaLnBrk="1" hangingPunct="1">
              <a:defRPr/>
            </a:pPr>
            <a:fld id="{DBD8CC28-9761-4A4A-BB2E-DCAC40F4E4A5}" type="slidenum">
              <a:rPr lang="en-US" sz="1200" smtClean="0">
                <a:latin typeface="Times New Roman" pitchFamily="18" charset="0"/>
              </a:rPr>
              <a:pPr eaLnBrk="1" hangingPunct="1">
                <a:defRPr/>
              </a:pPr>
              <a:t>29</a:t>
            </a:fld>
            <a:endParaRPr lang="en-US" sz="1200">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103954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charset="0"/>
              </a:defRPr>
            </a:lvl1pPr>
            <a:lvl2pPr marL="742950" indent="-285750" eaLnBrk="0" hangingPunct="0">
              <a:defRPr sz="1000">
                <a:solidFill>
                  <a:schemeClr val="tx1"/>
                </a:solidFill>
                <a:latin typeface="Arial" charset="0"/>
              </a:defRPr>
            </a:lvl2pPr>
            <a:lvl3pPr marL="1143000" indent="-228600" eaLnBrk="0" hangingPunct="0">
              <a:defRPr sz="1000">
                <a:solidFill>
                  <a:schemeClr val="tx1"/>
                </a:solidFill>
                <a:latin typeface="Arial" charset="0"/>
              </a:defRPr>
            </a:lvl3pPr>
            <a:lvl4pPr marL="1600200" indent="-228600" eaLnBrk="0" hangingPunct="0">
              <a:defRPr sz="1000">
                <a:solidFill>
                  <a:schemeClr val="tx1"/>
                </a:solidFill>
                <a:latin typeface="Arial" charset="0"/>
              </a:defRPr>
            </a:lvl4pPr>
            <a:lvl5pPr marL="2057400" indent="-228600" eaLnBrk="0" hangingPunct="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eaLnBrk="1" hangingPunct="1">
              <a:defRPr/>
            </a:pPr>
            <a:fld id="{5B96AD2C-8A8D-4F09-ABBC-650B9677936B}" type="slidenum">
              <a:rPr lang="en-US" sz="1200" smtClean="0">
                <a:latin typeface="Times New Roman" pitchFamily="18" charset="0"/>
              </a:rPr>
              <a:pPr eaLnBrk="1" hangingPunct="1">
                <a:defRPr/>
              </a:pPr>
              <a:t>30</a:t>
            </a:fld>
            <a:endParaRPr lang="en-US" sz="1200">
              <a:latin typeface="Times New Roman"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143901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9785" y="2207360"/>
            <a:ext cx="7772400" cy="763525"/>
          </a:xfrm>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2434130" y="4039820"/>
            <a:ext cx="6400800" cy="1068935"/>
          </a:xfrm>
        </p:spPr>
        <p:txBody>
          <a:bodyPr>
            <a:normAutofit/>
          </a:bodyPr>
          <a:lstStyle>
            <a:lvl1pPr marL="0" indent="0" algn="r">
              <a:buNone/>
              <a:defRPr sz="2800">
                <a:solidFill>
                  <a:srgbClr val="00B0F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a:t>
            </a:r>
          </a:p>
          <a:p>
            <a:r>
              <a:rPr lang="en-US" dirty="0" smtClean="0"/>
              <a:t>Master subtitle style</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4375" y="527605"/>
            <a:ext cx="8229600" cy="610820"/>
          </a:xfrm>
        </p:spPr>
        <p:txBody>
          <a:bodyPr>
            <a:normAutofit/>
          </a:bodyPr>
          <a:lstStyle>
            <a:lvl1pPr algn="r">
              <a:defRPr sz="3600">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754374" y="1443835"/>
            <a:ext cx="7482545" cy="4581150"/>
          </a:xfrm>
        </p:spPr>
        <p:txBody>
          <a:bodyPr/>
          <a:lstStyle>
            <a:lvl1pPr>
              <a:defRPr sz="2800">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823310" y="527605"/>
            <a:ext cx="7016195" cy="684885"/>
          </a:xfrm>
        </p:spPr>
        <p:txBody>
          <a:bodyPr>
            <a:normAutofit/>
          </a:bodyPr>
          <a:lstStyle>
            <a:lvl1pPr algn="l">
              <a:defRPr sz="3600">
                <a:solidFill>
                  <a:srgbClr val="00B0F0"/>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1823310" y="1443835"/>
            <a:ext cx="7016195" cy="4275740"/>
          </a:xfrm>
        </p:spPr>
        <p:txBody>
          <a:bodyPr/>
          <a:lstStyle>
            <a:lvl1pPr>
              <a:defRPr sz="2800">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3074F12-AA26-4AC8-9962-C36BB8F32554}" type="datetimeFigureOut">
              <a:rPr lang="en-US" smtClean="0"/>
              <a:pPr/>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756010" y="527605"/>
            <a:ext cx="6244435" cy="532180"/>
          </a:xfrm>
        </p:spPr>
        <p:txBody>
          <a:bodyPr>
            <a:normAutofit/>
          </a:bodyPr>
          <a:lstStyle>
            <a:lvl1pPr algn="r">
              <a:defRPr sz="3600">
                <a:solidFill>
                  <a:schemeClr val="bg1"/>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601671" y="1596540"/>
            <a:ext cx="3817624" cy="639762"/>
          </a:xfrm>
        </p:spPr>
        <p:txBody>
          <a:bodyPr anchor="b"/>
          <a:lstStyle>
            <a:lvl1pPr marL="0" indent="0">
              <a:buNone/>
              <a:defRPr sz="2400" b="1" baseline="0">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601671" y="2226403"/>
            <a:ext cx="3817624" cy="3035058"/>
          </a:xfrm>
        </p:spPr>
        <p:txBody>
          <a:bodyPr/>
          <a:lstStyle>
            <a:lvl1pPr>
              <a:defRPr sz="2400">
                <a:solidFill>
                  <a:schemeClr val="tx2">
                    <a:lumMod val="75000"/>
                  </a:schemeClr>
                </a:solidFill>
              </a:defRPr>
            </a:lvl1pPr>
            <a:lvl2pPr>
              <a:defRPr sz="2000">
                <a:solidFill>
                  <a:schemeClr val="tx2">
                    <a:lumMod val="75000"/>
                  </a:schemeClr>
                </a:solidFill>
              </a:defRPr>
            </a:lvl2pPr>
            <a:lvl3pPr>
              <a:defRPr sz="1800">
                <a:solidFill>
                  <a:schemeClr val="tx2">
                    <a:lumMod val="75000"/>
                  </a:schemeClr>
                </a:solidFill>
              </a:defRPr>
            </a:lvl3pPr>
            <a:lvl4pPr>
              <a:defRPr sz="1600">
                <a:solidFill>
                  <a:schemeClr val="tx2">
                    <a:lumMod val="75000"/>
                  </a:schemeClr>
                </a:solidFill>
              </a:defRPr>
            </a:lvl4pPr>
            <a:lvl5pP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724705" y="1596540"/>
            <a:ext cx="3970330" cy="639762"/>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724705" y="2226403"/>
            <a:ext cx="3970330" cy="3035058"/>
          </a:xfrm>
        </p:spPr>
        <p:txBody>
          <a:bodyPr/>
          <a:lstStyle>
            <a:lvl1pPr>
              <a:defRPr sz="2400">
                <a:solidFill>
                  <a:schemeClr val="tx2">
                    <a:lumMod val="75000"/>
                  </a:schemeClr>
                </a:solidFill>
              </a:defRPr>
            </a:lvl1pPr>
            <a:lvl2pPr>
              <a:defRPr sz="2000">
                <a:solidFill>
                  <a:schemeClr val="tx2">
                    <a:lumMod val="75000"/>
                  </a:schemeClr>
                </a:solidFill>
              </a:defRPr>
            </a:lvl2pPr>
            <a:lvl3pPr>
              <a:defRPr sz="1800">
                <a:solidFill>
                  <a:schemeClr val="tx2">
                    <a:lumMod val="75000"/>
                  </a:schemeClr>
                </a:solidFill>
              </a:defRPr>
            </a:lvl3pPr>
            <a:lvl4pPr>
              <a:defRPr sz="1600">
                <a:solidFill>
                  <a:schemeClr val="tx2">
                    <a:lumMod val="75000"/>
                  </a:schemeClr>
                </a:solidFill>
              </a:defRPr>
            </a:lvl4pPr>
            <a:lvl5pP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p>
            <a:fld id="{53074F12-AA26-4AC8-9962-C36BB8F32554}" type="datetimeFigureOut">
              <a:rPr lang="en-US" smtClean="0"/>
              <a:pPr/>
              <a:t>3/29/2024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3074F12-AA26-4AC8-9962-C36BB8F32554}" type="datetimeFigureOut">
              <a:rPr lang="en-US" smtClean="0"/>
              <a:pPr/>
              <a:t>3/29/2024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3/29/2024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3/29/2024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oogle.com/url?sa=i&amp;rct=j&amp;q=&amp;esrc=s&amp;source=images&amp;cd=&amp;ved=2ahUKEwj88pfQpqffAhUN-YUKHZMyAOMQjRx6BAgBEAU&amp;url=http://lighthouseinsights.in/creative-promotions-by-brands-and-the-dabbawalas-of-mumbai.html/&amp;psig=AOvVaw3-BZvvl3V8nvlV1CStVCF1&amp;ust=1545151058237242" TargetMode="External"/><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8130" name="AutoShape 2" descr="Image result for mumbai dabbawala">
            <a:hlinkClick r:id="rId3"/>
          </p:cNvPr>
          <p:cNvSpPr>
            <a:spLocks noChangeAspect="1" noChangeArrowheads="1"/>
          </p:cNvSpPr>
          <p:nvPr/>
        </p:nvSpPr>
        <p:spPr bwMode="auto">
          <a:xfrm>
            <a:off x="117475" y="-1668463"/>
            <a:ext cx="6143625" cy="34861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48132" name="AutoShape 4" descr="Image result for mumbai dabbawala">
            <a:hlinkClick r:id="rId3"/>
          </p:cNvPr>
          <p:cNvSpPr>
            <a:spLocks noChangeAspect="1" noChangeArrowheads="1"/>
          </p:cNvSpPr>
          <p:nvPr/>
        </p:nvSpPr>
        <p:spPr bwMode="auto">
          <a:xfrm>
            <a:off x="117475" y="-1668463"/>
            <a:ext cx="6143625" cy="34861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4387" y="1714488"/>
            <a:ext cx="2468880" cy="6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8" descr="Slideheader01"/>
          <p:cNvSpPr>
            <a:spLocks noGrp="1" noChangeArrowheads="1"/>
          </p:cNvSpPr>
          <p:nvPr>
            <p:ph type="ctrTitle"/>
          </p:nvPr>
        </p:nvSpPr>
        <p:spPr>
          <a:xfrm>
            <a:off x="2627785" y="2179885"/>
            <a:ext cx="6515482" cy="1321123"/>
          </a:xfrm>
          <a:noFill/>
          <a:extLst>
            <a:ext uri="{909E8E84-426E-40DD-AFC4-6F175D3DCCD1}">
              <a14:hiddenFill xmlns:a14="http://schemas.microsoft.com/office/drawing/2010/main">
                <a:blipFill dpi="0" rotWithShape="1">
                  <a:blip r:embed="rId5"/>
                  <a:srcRect/>
                  <a:stretch>
                    <a:fillRect/>
                  </a:stretch>
                </a:blipFill>
              </a14:hiddenFill>
            </a:ext>
          </a:extLst>
        </p:spPr>
        <p:txBody>
          <a:bodyPr>
            <a:noAutofit/>
          </a:bodyPr>
          <a:lstStyle/>
          <a:p>
            <a:pPr indent="0" algn="ctr" eaLnBrk="1" hangingPunct="1"/>
            <a:r>
              <a:rPr lang="en-US" sz="3200" b="1" dirty="0" smtClean="0">
                <a:solidFill>
                  <a:schemeClr val="tx1"/>
                </a:solidFill>
              </a:rPr>
              <a:t>Project Schedule Management</a:t>
            </a:r>
          </a:p>
        </p:txBody>
      </p:sp>
      <p:sp>
        <p:nvSpPr>
          <p:cNvPr id="3" name="Subtitle 2"/>
          <p:cNvSpPr>
            <a:spLocks noGrp="1"/>
          </p:cNvSpPr>
          <p:nvPr>
            <p:ph type="subTitle" idx="1"/>
          </p:nvPr>
        </p:nvSpPr>
        <p:spPr>
          <a:xfrm>
            <a:off x="6084168" y="5805264"/>
            <a:ext cx="3044950" cy="1443835"/>
          </a:xfrm>
        </p:spPr>
        <p:txBody>
          <a:bodyPr>
            <a:noAutofit/>
          </a:bodyPr>
          <a:lstStyle/>
          <a:p>
            <a:pPr algn="ctr"/>
            <a:r>
              <a:rPr lang="en-US" sz="2000" b="1" i="1" dirty="0" smtClean="0">
                <a:solidFill>
                  <a:schemeClr val="bg1">
                    <a:lumMod val="95000"/>
                  </a:schemeClr>
                </a:solidFill>
                <a:latin typeface="Georgia" pitchFamily="18" charset="0"/>
              </a:rPr>
              <a:t>LECTURE # 7</a:t>
            </a:r>
          </a:p>
          <a:p>
            <a:pPr algn="ctr"/>
            <a:endParaRPr lang="en-US" sz="2000" b="1" i="1" dirty="0" smtClean="0">
              <a:solidFill>
                <a:schemeClr val="bg1">
                  <a:lumMod val="95000"/>
                </a:schemeClr>
              </a:solidFill>
              <a:latin typeface="Georgia" pitchFamily="18" charset="0"/>
            </a:endParaRPr>
          </a:p>
        </p:txBody>
      </p:sp>
    </p:spTree>
    <p:extLst>
      <p:ext uri="{BB962C8B-B14F-4D97-AF65-F5344CB8AC3E}">
        <p14:creationId xmlns:p14="http://schemas.microsoft.com/office/powerpoint/2010/main" val="363920370"/>
      </p:ext>
    </p:extLst>
  </p:cSld>
  <p:clrMapOvr>
    <a:masterClrMapping/>
  </p:clrMapOvr>
  <p:transition spd="slow">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p:nvPr/>
        </p:nvPicPr>
        <p:blipFill>
          <a:blip r:embed="rId2"/>
          <a:stretch>
            <a:fillRect/>
          </a:stretch>
        </p:blipFill>
        <p:spPr>
          <a:xfrm>
            <a:off x="266" y="1268760"/>
            <a:ext cx="9143733" cy="5589240"/>
          </a:xfrm>
          <a:prstGeom prst="rect">
            <a:avLst/>
          </a:prstGeom>
        </p:spPr>
      </p:pic>
    </p:spTree>
    <p:extLst>
      <p:ext uri="{BB962C8B-B14F-4D97-AF65-F5344CB8AC3E}">
        <p14:creationId xmlns:p14="http://schemas.microsoft.com/office/powerpoint/2010/main" val="33419394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normAutofit lnSpcReduction="10000"/>
          </a:bodyPr>
          <a:lstStyle/>
          <a:p>
            <a:r>
              <a:rPr lang="en-US" dirty="0"/>
              <a:t>PERT stands for Program Evaluation Review Technique and it is the most common form of three-point estimation</a:t>
            </a:r>
            <a:r>
              <a:rPr lang="en-US" dirty="0" smtClean="0"/>
              <a:t>.</a:t>
            </a:r>
          </a:p>
          <a:p>
            <a:r>
              <a:rPr lang="en-US" dirty="0"/>
              <a:t>It was developed jointly by the U.S. Navy, Lockheed Martin and the consulting firm of Booz, Allen and Hamilton working on the Polaris nuclear submarine project during the 1950s. </a:t>
            </a:r>
            <a:endParaRPr lang="en-US" dirty="0" smtClean="0"/>
          </a:p>
          <a:p>
            <a:r>
              <a:rPr lang="en-US" dirty="0" smtClean="0"/>
              <a:t>PERT </a:t>
            </a:r>
            <a:r>
              <a:rPr lang="en-US" dirty="0"/>
              <a:t>is one of the most commonly used techniques used along with Critical Path Method (CPM) to estimate the minimum time needed to complete a project.</a:t>
            </a:r>
          </a:p>
        </p:txBody>
      </p:sp>
    </p:spTree>
    <p:extLst>
      <p:ext uri="{BB962C8B-B14F-4D97-AF65-F5344CB8AC3E}">
        <p14:creationId xmlns:p14="http://schemas.microsoft.com/office/powerpoint/2010/main" val="22370818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descr="D:\bahria 2019\FOPM\Sumaiya\Lecture 9\PREP\1.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24744"/>
            <a:ext cx="9262312" cy="5733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50692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p:nvPr/>
        </p:nvPicPr>
        <p:blipFill>
          <a:blip r:embed="rId2"/>
          <a:stretch>
            <a:fillRect/>
          </a:stretch>
        </p:blipFill>
        <p:spPr>
          <a:xfrm>
            <a:off x="0" y="1152128"/>
            <a:ext cx="9144000" cy="5733256"/>
          </a:xfrm>
          <a:prstGeom prst="rect">
            <a:avLst/>
          </a:prstGeom>
        </p:spPr>
      </p:pic>
    </p:spTree>
    <p:extLst>
      <p:ext uri="{BB962C8B-B14F-4D97-AF65-F5344CB8AC3E}">
        <p14:creationId xmlns:p14="http://schemas.microsoft.com/office/powerpoint/2010/main" val="41759443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p:nvPr/>
        </p:nvPicPr>
        <p:blipFill>
          <a:blip r:embed="rId2"/>
          <a:stretch>
            <a:fillRect/>
          </a:stretch>
        </p:blipFill>
        <p:spPr>
          <a:xfrm>
            <a:off x="0" y="1196752"/>
            <a:ext cx="9252520" cy="5688632"/>
          </a:xfrm>
          <a:prstGeom prst="rect">
            <a:avLst/>
          </a:prstGeom>
        </p:spPr>
      </p:pic>
    </p:spTree>
    <p:extLst>
      <p:ext uri="{BB962C8B-B14F-4D97-AF65-F5344CB8AC3E}">
        <p14:creationId xmlns:p14="http://schemas.microsoft.com/office/powerpoint/2010/main" val="14629445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3887" y="260648"/>
            <a:ext cx="5420087" cy="610820"/>
          </a:xfrm>
        </p:spPr>
        <p:txBody>
          <a:bodyPr>
            <a:normAutofit fontScale="90000"/>
          </a:bodyPr>
          <a:lstStyle/>
          <a:p>
            <a:pPr algn="ctr"/>
            <a:r>
              <a:rPr lang="en-US" dirty="0" smtClean="0"/>
              <a:t>EXAMPLE</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p:nvPr/>
        </p:nvPicPr>
        <p:blipFill>
          <a:blip r:embed="rId2"/>
          <a:stretch>
            <a:fillRect/>
          </a:stretch>
        </p:blipFill>
        <p:spPr>
          <a:xfrm>
            <a:off x="9444" y="1124744"/>
            <a:ext cx="9134556" cy="5976664"/>
          </a:xfrm>
          <a:prstGeom prst="rect">
            <a:avLst/>
          </a:prstGeom>
        </p:spPr>
      </p:pic>
    </p:spTree>
    <p:extLst>
      <p:ext uri="{BB962C8B-B14F-4D97-AF65-F5344CB8AC3E}">
        <p14:creationId xmlns:p14="http://schemas.microsoft.com/office/powerpoint/2010/main" val="28990487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p:nvPr/>
        </p:nvPicPr>
        <p:blipFill>
          <a:blip r:embed="rId2"/>
          <a:stretch>
            <a:fillRect/>
          </a:stretch>
        </p:blipFill>
        <p:spPr>
          <a:xfrm>
            <a:off x="0" y="1052736"/>
            <a:ext cx="9144000" cy="5805264"/>
          </a:xfrm>
          <a:prstGeom prst="rect">
            <a:avLst/>
          </a:prstGeom>
        </p:spPr>
      </p:pic>
    </p:spTree>
    <p:extLst>
      <p:ext uri="{BB962C8B-B14F-4D97-AF65-F5344CB8AC3E}">
        <p14:creationId xmlns:p14="http://schemas.microsoft.com/office/powerpoint/2010/main" val="27044527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p:nvPr/>
        </p:nvPicPr>
        <p:blipFill>
          <a:blip r:embed="rId2"/>
          <a:stretch>
            <a:fillRect/>
          </a:stretch>
        </p:blipFill>
        <p:spPr>
          <a:xfrm>
            <a:off x="-252536" y="1196752"/>
            <a:ext cx="9396536" cy="5661248"/>
          </a:xfrm>
          <a:prstGeom prst="rect">
            <a:avLst/>
          </a:prstGeom>
        </p:spPr>
      </p:pic>
    </p:spTree>
    <p:extLst>
      <p:ext uri="{BB962C8B-B14F-4D97-AF65-F5344CB8AC3E}">
        <p14:creationId xmlns:p14="http://schemas.microsoft.com/office/powerpoint/2010/main" val="4166637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p:nvPr/>
        </p:nvPicPr>
        <p:blipFill>
          <a:blip r:embed="rId2"/>
          <a:stretch>
            <a:fillRect/>
          </a:stretch>
        </p:blipFill>
        <p:spPr>
          <a:xfrm>
            <a:off x="0" y="1052736"/>
            <a:ext cx="9144000" cy="5805264"/>
          </a:xfrm>
          <a:prstGeom prst="rect">
            <a:avLst/>
          </a:prstGeom>
        </p:spPr>
      </p:pic>
    </p:spTree>
    <p:extLst>
      <p:ext uri="{BB962C8B-B14F-4D97-AF65-F5344CB8AC3E}">
        <p14:creationId xmlns:p14="http://schemas.microsoft.com/office/powerpoint/2010/main" val="24540522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p:nvPr/>
        </p:nvPicPr>
        <p:blipFill>
          <a:blip r:embed="rId2"/>
          <a:stretch>
            <a:fillRect/>
          </a:stretch>
        </p:blipFill>
        <p:spPr>
          <a:xfrm>
            <a:off x="0" y="1124744"/>
            <a:ext cx="9144000" cy="5733256"/>
          </a:xfrm>
          <a:prstGeom prst="rect">
            <a:avLst/>
          </a:prstGeom>
        </p:spPr>
      </p:pic>
    </p:spTree>
    <p:extLst>
      <p:ext uri="{BB962C8B-B14F-4D97-AF65-F5344CB8AC3E}">
        <p14:creationId xmlns:p14="http://schemas.microsoft.com/office/powerpoint/2010/main" val="29410321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p:nvPr/>
        </p:nvPicPr>
        <p:blipFill>
          <a:blip r:embed="rId2"/>
          <a:stretch>
            <a:fillRect/>
          </a:stretch>
        </p:blipFill>
        <p:spPr>
          <a:xfrm>
            <a:off x="-31282" y="1196752"/>
            <a:ext cx="9175282" cy="5661248"/>
          </a:xfrm>
          <a:prstGeom prst="rect">
            <a:avLst/>
          </a:prstGeom>
        </p:spPr>
      </p:pic>
    </p:spTree>
    <p:extLst>
      <p:ext uri="{BB962C8B-B14F-4D97-AF65-F5344CB8AC3E}">
        <p14:creationId xmlns:p14="http://schemas.microsoft.com/office/powerpoint/2010/main" val="39626663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p:nvPr/>
        </p:nvPicPr>
        <p:blipFill>
          <a:blip r:embed="rId2"/>
          <a:stretch>
            <a:fillRect/>
          </a:stretch>
        </p:blipFill>
        <p:spPr>
          <a:xfrm>
            <a:off x="0" y="1124744"/>
            <a:ext cx="9144000" cy="5733256"/>
          </a:xfrm>
          <a:prstGeom prst="rect">
            <a:avLst/>
          </a:prstGeom>
        </p:spPr>
      </p:pic>
    </p:spTree>
    <p:extLst>
      <p:ext uri="{BB962C8B-B14F-4D97-AF65-F5344CB8AC3E}">
        <p14:creationId xmlns:p14="http://schemas.microsoft.com/office/powerpoint/2010/main" val="31286755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p:nvPr/>
        </p:nvPicPr>
        <p:blipFill>
          <a:blip r:embed="rId2"/>
          <a:stretch>
            <a:fillRect/>
          </a:stretch>
        </p:blipFill>
        <p:spPr>
          <a:xfrm>
            <a:off x="-21404" y="768419"/>
            <a:ext cx="9036496" cy="6120680"/>
          </a:xfrm>
          <a:prstGeom prst="rect">
            <a:avLst/>
          </a:prstGeom>
        </p:spPr>
      </p:pic>
    </p:spTree>
    <p:extLst>
      <p:ext uri="{BB962C8B-B14F-4D97-AF65-F5344CB8AC3E}">
        <p14:creationId xmlns:p14="http://schemas.microsoft.com/office/powerpoint/2010/main" val="30104007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p:nvPr/>
        </p:nvPicPr>
        <p:blipFill>
          <a:blip r:embed="rId2"/>
          <a:stretch>
            <a:fillRect/>
          </a:stretch>
        </p:blipFill>
        <p:spPr>
          <a:xfrm>
            <a:off x="0" y="1196752"/>
            <a:ext cx="9108504" cy="5688632"/>
          </a:xfrm>
          <a:prstGeom prst="rect">
            <a:avLst/>
          </a:prstGeom>
        </p:spPr>
      </p:pic>
    </p:spTree>
    <p:extLst>
      <p:ext uri="{BB962C8B-B14F-4D97-AF65-F5344CB8AC3E}">
        <p14:creationId xmlns:p14="http://schemas.microsoft.com/office/powerpoint/2010/main" val="38052930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8" name="AutoShape 2"/>
          <p:cNvSpPr>
            <a:spLocks noGrp="1" noChangeArrowheads="1"/>
          </p:cNvSpPr>
          <p:nvPr>
            <p:ph type="ctrTitle" idx="4294967295"/>
          </p:nvPr>
        </p:nvSpPr>
        <p:spPr>
          <a:xfrm>
            <a:off x="5770563" y="1711325"/>
            <a:ext cx="2559050" cy="363538"/>
          </a:xfrm>
          <a:prstGeom prst="roundRect">
            <a:avLst>
              <a:gd name="adj" fmla="val 6421"/>
            </a:avLst>
          </a:prstGeom>
          <a:noFill/>
          <a:ln>
            <a:noFill/>
          </a:ln>
          <a:effectLst>
            <a:outerShdw dist="38100" dir="2700000" algn="tl" rotWithShape="0">
              <a:srgbClr val="000000">
                <a:alpha val="39998"/>
              </a:srgbClr>
            </a:outerShdw>
          </a:effectLst>
          <a:extLst>
            <a:ext uri="{909E8E84-426E-40DD-AFC4-6F175D3DCCD1}">
              <a14:hiddenFill xmlns:a14="http://schemas.microsoft.com/office/drawing/2010/main">
                <a:blipFill dpi="0" rotWithShape="1">
                  <a:blip r:embed="rId3"/>
                  <a:srcRect/>
                  <a:stretch>
                    <a:fillRect/>
                  </a:stretch>
                </a:blipFill>
              </a14:hiddenFill>
            </a:ext>
            <a:ext uri="{91240B29-F687-4F45-9708-019B960494DF}">
              <a14:hiddenLine xmlns:a14="http://schemas.microsoft.com/office/drawing/2010/main" w="9525">
                <a:solidFill>
                  <a:srgbClr val="4D4D4D"/>
                </a:solidFill>
                <a:round/>
                <a:headEnd/>
                <a:tailEnd/>
              </a14:hiddenLine>
            </a:ext>
          </a:extLst>
        </p:spPr>
        <p:txBody>
          <a:bodyPr tIns="45720" bIns="45720"/>
          <a:lstStyle/>
          <a:p>
            <a:pPr eaLnBrk="1" hangingPunct="1"/>
            <a:r>
              <a:rPr lang="en-US" sz="1600" b="1">
                <a:solidFill>
                  <a:srgbClr val="FFFFCC"/>
                </a:solidFill>
                <a:effectLst/>
              </a:rPr>
              <a:t>Appendix 7.1</a:t>
            </a:r>
          </a:p>
        </p:txBody>
      </p:sp>
      <p:sp>
        <p:nvSpPr>
          <p:cNvPr id="106499" name="Rectangle 3"/>
          <p:cNvSpPr>
            <a:spLocks noGrp="1" noChangeArrowheads="1"/>
          </p:cNvSpPr>
          <p:nvPr>
            <p:ph type="subTitle" idx="4294967295"/>
          </p:nvPr>
        </p:nvSpPr>
        <p:spPr>
          <a:xfrm>
            <a:off x="639763" y="1692275"/>
            <a:ext cx="8342312" cy="639763"/>
          </a:xfrm>
        </p:spPr>
        <p:txBody>
          <a:bodyPr anchor="ctr">
            <a:normAutofit lnSpcReduction="10000"/>
          </a:bodyPr>
          <a:lstStyle/>
          <a:p>
            <a:pPr marL="0" indent="0" eaLnBrk="1" hangingPunct="1">
              <a:buFontTx/>
              <a:buNone/>
            </a:pPr>
            <a:r>
              <a:rPr lang="en-US" sz="3600">
                <a:solidFill>
                  <a:schemeClr val="tx1"/>
                </a:solidFill>
              </a:rPr>
              <a:t>PERT and PERT Simulation</a:t>
            </a:r>
          </a:p>
        </p:txBody>
      </p:sp>
      <p:sp>
        <p:nvSpPr>
          <p:cNvPr id="3" name="Slide Number Placeholder 2"/>
          <p:cNvSpPr>
            <a:spLocks noGrp="1"/>
          </p:cNvSpPr>
          <p:nvPr>
            <p:ph type="sldNum" sz="quarter" idx="10"/>
          </p:nvPr>
        </p:nvSpPr>
        <p:spPr/>
        <p:txBody>
          <a:bodyPr/>
          <a:lstStyle/>
          <a:p>
            <a:pPr>
              <a:defRPr/>
            </a:pPr>
            <a:r>
              <a:rPr lang="en-US"/>
              <a:t>7</a:t>
            </a:r>
            <a:r>
              <a:rPr lang="en-US">
                <a:cs typeface="Times New Roman" panose="02020603050405020304" pitchFamily="18" charset="0"/>
              </a:rPr>
              <a:t>–</a:t>
            </a:r>
            <a:fld id="{72A379F6-2455-412C-B1CE-3890F9BD8EC3}" type="slidenum">
              <a:rPr lang="en-US"/>
              <a:pPr>
                <a:defRPr/>
              </a:pPr>
              <a:t>16</a:t>
            </a:fld>
            <a:endParaRPr lang="en-US"/>
          </a:p>
        </p:txBody>
      </p:sp>
      <p:pic>
        <p:nvPicPr>
          <p:cNvPr id="30725"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42900" y="736600"/>
            <a:ext cx="84582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0726" name="Straight Connector 6"/>
          <p:cNvCxnSpPr>
            <a:cxnSpLocks noChangeShapeType="1"/>
          </p:cNvCxnSpPr>
          <p:nvPr/>
        </p:nvCxnSpPr>
        <p:spPr bwMode="auto">
          <a:xfrm>
            <a:off x="639763" y="593725"/>
            <a:ext cx="0" cy="1920875"/>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124343554"/>
      </p:ext>
    </p:extLst>
  </p:cSld>
  <p:clrMapOvr>
    <a:masterClrMapping/>
  </p:clrMapOvr>
  <p:transition>
    <p:cut thruBlk="1"/>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06498"/>
                                        </p:tgtEl>
                                        <p:attrNameLst>
                                          <p:attrName>style.visibility</p:attrName>
                                        </p:attrNameLst>
                                      </p:cBhvr>
                                      <p:to>
                                        <p:strVal val="visible"/>
                                      </p:to>
                                    </p:set>
                                    <p:animEffect transition="in" filter="box(out)">
                                      <p:cBhvr>
                                        <p:cTn id="7" dur="500"/>
                                        <p:tgtEl>
                                          <p:spTgt spid="10649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6499">
                                            <p:txEl>
                                              <p:pRg st="0" end="0"/>
                                            </p:txEl>
                                          </p:spTgt>
                                        </p:tgtEl>
                                        <p:attrNameLst>
                                          <p:attrName>style.visibility</p:attrName>
                                        </p:attrNameLst>
                                      </p:cBhvr>
                                      <p:to>
                                        <p:strVal val="visible"/>
                                      </p:to>
                                    </p:set>
                                    <p:animEffect transition="in" filter="wipe(left)">
                                      <p:cBhvr>
                                        <p:cTn id="11" dur="1000"/>
                                        <p:tgtEl>
                                          <p:spTgt spid="1064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animBg="1" autoUpdateAnimBg="0"/>
      <p:bldP spid="106499"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r>
              <a:rPr lang="en-US"/>
              <a:t>7</a:t>
            </a:r>
            <a:r>
              <a:rPr lang="en-US">
                <a:cs typeface="Times New Roman" panose="02020603050405020304" pitchFamily="18" charset="0"/>
              </a:rPr>
              <a:t>–</a:t>
            </a:r>
            <a:fld id="{C3EBC9A8-4587-4F0C-A1A3-498A3D307683}" type="slidenum">
              <a:rPr lang="en-US"/>
              <a:pPr>
                <a:defRPr/>
              </a:pPr>
              <a:t>17</a:t>
            </a:fld>
            <a:endParaRPr lang="en-US"/>
          </a:p>
        </p:txBody>
      </p:sp>
      <p:sp>
        <p:nvSpPr>
          <p:cNvPr id="105474" name="AutoShape 2"/>
          <p:cNvSpPr>
            <a:spLocks noGrp="1" noChangeArrowheads="1"/>
          </p:cNvSpPr>
          <p:nvPr>
            <p:ph type="title"/>
          </p:nvPr>
        </p:nvSpPr>
        <p:spPr>
          <a:xfrm>
            <a:off x="490538" y="265113"/>
            <a:ext cx="8161337" cy="755650"/>
          </a:xfrm>
        </p:spPr>
        <p:txBody>
          <a:bodyPr/>
          <a:lstStyle/>
          <a:p>
            <a:pPr eaLnBrk="1" hangingPunct="1">
              <a:defRPr/>
            </a:pPr>
            <a:r>
              <a:rPr lang="en-US" sz="2800"/>
              <a:t>PERT—Program Evaluation Review Technique</a:t>
            </a:r>
          </a:p>
        </p:txBody>
      </p:sp>
      <p:sp>
        <p:nvSpPr>
          <p:cNvPr id="31748" name="Rectangle 3"/>
          <p:cNvSpPr>
            <a:spLocks noGrp="1" noChangeArrowheads="1"/>
          </p:cNvSpPr>
          <p:nvPr>
            <p:ph type="body" idx="1"/>
          </p:nvPr>
        </p:nvSpPr>
        <p:spPr>
          <a:xfrm>
            <a:off x="533400" y="1235075"/>
            <a:ext cx="8077200" cy="4678363"/>
          </a:xfrm>
        </p:spPr>
        <p:txBody>
          <a:bodyPr/>
          <a:lstStyle/>
          <a:p>
            <a:pPr eaLnBrk="1" hangingPunct="1">
              <a:spcBef>
                <a:spcPct val="35000"/>
              </a:spcBef>
            </a:pPr>
            <a:r>
              <a:rPr lang="en-US" dirty="0"/>
              <a:t>Assumes each activity duration has a range that statistically follows a beta distribution. </a:t>
            </a:r>
          </a:p>
          <a:p>
            <a:pPr eaLnBrk="1" hangingPunct="1">
              <a:spcBef>
                <a:spcPct val="35000"/>
              </a:spcBef>
            </a:pPr>
            <a:r>
              <a:rPr lang="en-US" dirty="0"/>
              <a:t>Uses three time estimates for each activity: optimistic, pessimistic, and a </a:t>
            </a:r>
            <a:r>
              <a:rPr lang="en-US" dirty="0" smtClean="0"/>
              <a:t>most likely </a:t>
            </a:r>
            <a:r>
              <a:rPr lang="en-US" dirty="0"/>
              <a:t>to represent activity durations.</a:t>
            </a:r>
          </a:p>
          <a:p>
            <a:pPr lvl="1" eaLnBrk="1" hangingPunct="1">
              <a:spcBef>
                <a:spcPct val="35000"/>
              </a:spcBef>
            </a:pPr>
            <a:r>
              <a:rPr lang="en-US" dirty="0"/>
              <a:t>Knowing the weighted average and variances for each activity allows the project planner to compute the probability of meeting different project durations.</a:t>
            </a:r>
          </a:p>
        </p:txBody>
      </p:sp>
    </p:spTree>
    <p:extLst>
      <p:ext uri="{BB962C8B-B14F-4D97-AF65-F5344CB8AC3E}">
        <p14:creationId xmlns:p14="http://schemas.microsoft.com/office/powerpoint/2010/main" val="30792329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PERT</a:t>
            </a:r>
            <a:endParaRPr lang="en-US" dirty="0"/>
          </a:p>
        </p:txBody>
      </p:sp>
      <p:sp>
        <p:nvSpPr>
          <p:cNvPr id="3" name="Content Placeholder 2"/>
          <p:cNvSpPr>
            <a:spLocks noGrp="1"/>
          </p:cNvSpPr>
          <p:nvPr>
            <p:ph idx="1"/>
          </p:nvPr>
        </p:nvSpPr>
        <p:spPr/>
        <p:txBody>
          <a:bodyPr>
            <a:normAutofit fontScale="70000" lnSpcReduction="20000"/>
          </a:bodyPr>
          <a:lstStyle/>
          <a:p>
            <a:r>
              <a:rPr lang="en-US" b="1" dirty="0"/>
              <a:t>1.Increased accuracy over one-point estimates</a:t>
            </a:r>
            <a:endParaRPr lang="en-US" dirty="0"/>
          </a:p>
          <a:p>
            <a:pPr lvl="1"/>
            <a:r>
              <a:rPr lang="en-US" dirty="0"/>
              <a:t>Usually, when asked to provide estimates, the team members think about a single number and pad it as much as they possibly can. They realize that the project manager may cut down on it. That is definitely not the way to get good estimates.</a:t>
            </a:r>
          </a:p>
          <a:p>
            <a:r>
              <a:rPr lang="en-US" b="1" dirty="0"/>
              <a:t>2. Better commitment from the project team members</a:t>
            </a:r>
            <a:endParaRPr lang="en-US" dirty="0"/>
          </a:p>
          <a:p>
            <a:pPr lvl="1"/>
            <a:r>
              <a:rPr lang="en-US" dirty="0"/>
              <a:t>Since the estimate is provided by the team members, they are much more accountable.</a:t>
            </a:r>
          </a:p>
          <a:p>
            <a:r>
              <a:rPr lang="en-US" b="1" dirty="0"/>
              <a:t>3. Realistic estimates</a:t>
            </a:r>
            <a:endParaRPr lang="en-US" dirty="0"/>
          </a:p>
          <a:p>
            <a:pPr lvl="1"/>
            <a:r>
              <a:rPr lang="en-US" dirty="0"/>
              <a:t>By estimating in a range, you are able to generate a more realistic estimate. This is a clear indication to the stakeholders and project sponsor that the estimates are not 100% accurate. There are risks that have been considered that may impact the amount of time and cost the task will take. This approach addresses some of the team members’ uncertainty that is associated with the estimation </a:t>
            </a:r>
            <a:r>
              <a:rPr lang="en-US" dirty="0" smtClean="0"/>
              <a:t>process</a:t>
            </a:r>
            <a:endParaRPr lang="en-US" dirty="0"/>
          </a:p>
        </p:txBody>
      </p:sp>
    </p:spTree>
    <p:extLst>
      <p:ext uri="{BB962C8B-B14F-4D97-AF65-F5344CB8AC3E}">
        <p14:creationId xmlns:p14="http://schemas.microsoft.com/office/powerpoint/2010/main" val="16932670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pPr>
              <a:defRPr/>
            </a:pPr>
            <a:r>
              <a:rPr lang="en-US"/>
              <a:t>7</a:t>
            </a:r>
            <a:r>
              <a:rPr lang="en-US">
                <a:cs typeface="Times New Roman" panose="02020603050405020304" pitchFamily="18" charset="0"/>
              </a:rPr>
              <a:t>–</a:t>
            </a:r>
            <a:fld id="{4B6BF762-867E-49C9-A32B-548396966C00}" type="slidenum">
              <a:rPr lang="en-US"/>
              <a:pPr>
                <a:defRPr/>
              </a:pPr>
              <a:t>19</a:t>
            </a:fld>
            <a:endParaRPr lang="en-US"/>
          </a:p>
        </p:txBody>
      </p:sp>
      <p:sp>
        <p:nvSpPr>
          <p:cNvPr id="78850" name="AutoShape 2"/>
          <p:cNvSpPr>
            <a:spLocks noGrp="1" noChangeArrowheads="1"/>
          </p:cNvSpPr>
          <p:nvPr>
            <p:ph type="title"/>
          </p:nvPr>
        </p:nvSpPr>
        <p:spPr>
          <a:xfrm>
            <a:off x="493713" y="266700"/>
            <a:ext cx="8156575" cy="757238"/>
          </a:xfrm>
          <a:gradFill>
            <a:gsLst>
              <a:gs pos="0">
                <a:srgbClr val="990033">
                  <a:gamma/>
                  <a:shade val="46275"/>
                  <a:invGamma/>
                </a:srgbClr>
              </a:gs>
              <a:gs pos="50000">
                <a:srgbClr val="990033"/>
              </a:gs>
              <a:gs pos="100000">
                <a:srgbClr val="990033">
                  <a:gamma/>
                  <a:shade val="46275"/>
                  <a:invGamma/>
                </a:srgbClr>
              </a:gs>
            </a:gsLst>
            <a:lin ang="5400000"/>
          </a:gradFill>
        </p:spPr>
        <p:txBody>
          <a:bodyPr/>
          <a:lstStyle/>
          <a:p>
            <a:pPr eaLnBrk="1" hangingPunct="1">
              <a:defRPr/>
            </a:pPr>
            <a:r>
              <a:rPr lang="en-US" sz="2800"/>
              <a:t>Activity and Project Frequency Distributions</a:t>
            </a:r>
          </a:p>
        </p:txBody>
      </p:sp>
      <p:sp>
        <p:nvSpPr>
          <p:cNvPr id="32772" name="Text Box 3"/>
          <p:cNvSpPr txBox="1">
            <a:spLocks noChangeArrowheads="1"/>
          </p:cNvSpPr>
          <p:nvPr/>
        </p:nvSpPr>
        <p:spPr bwMode="auto">
          <a:xfrm>
            <a:off x="7407275" y="6172200"/>
            <a:ext cx="12795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a:solidFill>
                  <a:schemeClr val="tx1"/>
                </a:solidFill>
                <a:latin typeface="Arial" charset="0"/>
                <a:cs typeface="Arial" charset="0"/>
              </a:defRPr>
            </a:lvl1pPr>
            <a:lvl2pPr marL="742950" indent="-285750" eaLnBrk="0" hangingPunct="0">
              <a:defRPr sz="1000">
                <a:solidFill>
                  <a:schemeClr val="tx1"/>
                </a:solidFill>
                <a:latin typeface="Arial" charset="0"/>
                <a:cs typeface="Arial" charset="0"/>
              </a:defRPr>
            </a:lvl2pPr>
            <a:lvl3pPr marL="1143000" indent="-228600" eaLnBrk="0" hangingPunct="0">
              <a:defRPr sz="1000">
                <a:solidFill>
                  <a:schemeClr val="tx1"/>
                </a:solidFill>
                <a:latin typeface="Arial" charset="0"/>
                <a:cs typeface="Arial" charset="0"/>
              </a:defRPr>
            </a:lvl3pPr>
            <a:lvl4pPr marL="1600200" indent="-228600" eaLnBrk="0" hangingPunct="0">
              <a:defRPr sz="1000">
                <a:solidFill>
                  <a:schemeClr val="tx1"/>
                </a:solidFill>
                <a:latin typeface="Arial" charset="0"/>
                <a:cs typeface="Arial" charset="0"/>
              </a:defRPr>
            </a:lvl4pPr>
            <a:lvl5pPr marL="2057400" indent="-228600" eaLnBrk="0" hangingPunct="0">
              <a:defRPr sz="1000">
                <a:solidFill>
                  <a:schemeClr val="tx1"/>
                </a:solidFill>
                <a:latin typeface="Arial" charset="0"/>
                <a:cs typeface="Arial" charset="0"/>
              </a:defRPr>
            </a:lvl5pPr>
            <a:lvl6pPr marL="2514600" indent="-228600" eaLnBrk="0" fontAlgn="base" hangingPunct="0">
              <a:spcBef>
                <a:spcPct val="0"/>
              </a:spcBef>
              <a:spcAft>
                <a:spcPct val="0"/>
              </a:spcAft>
              <a:defRPr sz="1000">
                <a:solidFill>
                  <a:schemeClr val="tx1"/>
                </a:solidFill>
                <a:latin typeface="Arial" charset="0"/>
                <a:cs typeface="Arial" charset="0"/>
              </a:defRPr>
            </a:lvl6pPr>
            <a:lvl7pPr marL="2971800" indent="-228600" eaLnBrk="0" fontAlgn="base" hangingPunct="0">
              <a:spcBef>
                <a:spcPct val="0"/>
              </a:spcBef>
              <a:spcAft>
                <a:spcPct val="0"/>
              </a:spcAft>
              <a:defRPr sz="1000">
                <a:solidFill>
                  <a:schemeClr val="tx1"/>
                </a:solidFill>
                <a:latin typeface="Arial" charset="0"/>
                <a:cs typeface="Arial" charset="0"/>
              </a:defRPr>
            </a:lvl7pPr>
            <a:lvl8pPr marL="3429000" indent="-228600" eaLnBrk="0" fontAlgn="base" hangingPunct="0">
              <a:spcBef>
                <a:spcPct val="0"/>
              </a:spcBef>
              <a:spcAft>
                <a:spcPct val="0"/>
              </a:spcAft>
              <a:defRPr sz="1000">
                <a:solidFill>
                  <a:schemeClr val="tx1"/>
                </a:solidFill>
                <a:latin typeface="Arial" charset="0"/>
                <a:cs typeface="Arial" charset="0"/>
              </a:defRPr>
            </a:lvl8pPr>
            <a:lvl9pPr marL="3886200" indent="-228600" eaLnBrk="0" fontAlgn="base" hangingPunct="0">
              <a:spcBef>
                <a:spcPct val="0"/>
              </a:spcBef>
              <a:spcAft>
                <a:spcPct val="0"/>
              </a:spcAft>
              <a:defRPr sz="1000">
                <a:solidFill>
                  <a:schemeClr val="tx1"/>
                </a:solidFill>
                <a:latin typeface="Arial" charset="0"/>
                <a:cs typeface="Arial" charset="0"/>
              </a:defRPr>
            </a:lvl9pPr>
          </a:lstStyle>
          <a:p>
            <a:pPr algn="r" eaLnBrk="1" hangingPunct="1">
              <a:spcBef>
                <a:spcPct val="50000"/>
              </a:spcBef>
            </a:pPr>
            <a:r>
              <a:rPr lang="en-US" sz="1200" b="1">
                <a:solidFill>
                  <a:srgbClr val="006666"/>
                </a:solidFill>
              </a:rPr>
              <a:t>FIGURE A7.1</a:t>
            </a:r>
          </a:p>
        </p:txBody>
      </p:sp>
      <p:pic>
        <p:nvPicPr>
          <p:cNvPr id="32773"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0063" y="1600200"/>
            <a:ext cx="8143875"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35749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a:spLocks noGrp="1"/>
          </p:cNvSpPr>
          <p:nvPr>
            <p:ph type="sldNum" sz="quarter" idx="10"/>
          </p:nvPr>
        </p:nvSpPr>
        <p:spPr/>
        <p:txBody>
          <a:bodyPr/>
          <a:lstStyle/>
          <a:p>
            <a:pPr>
              <a:defRPr/>
            </a:pPr>
            <a:r>
              <a:rPr lang="en-US"/>
              <a:t>7</a:t>
            </a:r>
            <a:r>
              <a:rPr lang="en-US">
                <a:cs typeface="Times New Roman" panose="02020603050405020304" pitchFamily="18" charset="0"/>
              </a:rPr>
              <a:t>–</a:t>
            </a:r>
            <a:fld id="{E42BB211-3B0A-4B2D-A911-4B47D028A32B}" type="slidenum">
              <a:rPr lang="en-US"/>
              <a:pPr>
                <a:defRPr/>
              </a:pPr>
              <a:t>20</a:t>
            </a:fld>
            <a:endParaRPr lang="en-US"/>
          </a:p>
        </p:txBody>
      </p:sp>
      <p:sp>
        <p:nvSpPr>
          <p:cNvPr id="103428" name="AutoShape 4"/>
          <p:cNvSpPr>
            <a:spLocks noGrp="1" noChangeArrowheads="1"/>
          </p:cNvSpPr>
          <p:nvPr>
            <p:ph type="title"/>
          </p:nvPr>
        </p:nvSpPr>
        <p:spPr/>
        <p:txBody>
          <a:bodyPr/>
          <a:lstStyle/>
          <a:p>
            <a:pPr eaLnBrk="1" hangingPunct="1">
              <a:defRPr/>
            </a:pPr>
            <a:r>
              <a:rPr lang="en-US"/>
              <a:t>Activity Time Calculations</a:t>
            </a:r>
          </a:p>
        </p:txBody>
      </p:sp>
      <p:grpSp>
        <p:nvGrpSpPr>
          <p:cNvPr id="2" name="Group 11"/>
          <p:cNvGrpSpPr>
            <a:grpSpLocks/>
          </p:cNvGrpSpPr>
          <p:nvPr/>
        </p:nvGrpSpPr>
        <p:grpSpPr bwMode="auto">
          <a:xfrm>
            <a:off x="549275" y="1417638"/>
            <a:ext cx="7997825" cy="4721225"/>
            <a:chOff x="346" y="893"/>
            <a:chExt cx="5038" cy="2974"/>
          </a:xfrm>
        </p:grpSpPr>
        <p:sp>
          <p:nvSpPr>
            <p:cNvPr id="33797" name="Rectangle 5"/>
            <p:cNvSpPr>
              <a:spLocks noChangeArrowheads="1"/>
            </p:cNvSpPr>
            <p:nvPr/>
          </p:nvSpPr>
          <p:spPr bwMode="auto">
            <a:xfrm>
              <a:off x="346" y="893"/>
              <a:ext cx="5038"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r>
                <a:rPr lang="en-US" sz="2400" b="1"/>
                <a:t>The weighted average activity time is computed by the following formula:</a:t>
              </a:r>
            </a:p>
          </p:txBody>
        </p:sp>
        <p:pic>
          <p:nvPicPr>
            <p:cNvPr id="3379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4" y="1699"/>
              <a:ext cx="2472"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9"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 y="2678"/>
              <a:ext cx="4803" cy="1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0" name="Text Box 9"/>
            <p:cNvSpPr txBox="1">
              <a:spLocks noChangeArrowheads="1"/>
            </p:cNvSpPr>
            <p:nvPr/>
          </p:nvSpPr>
          <p:spPr bwMode="auto">
            <a:xfrm>
              <a:off x="4838" y="2333"/>
              <a:ext cx="46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a:solidFill>
                    <a:schemeClr val="tx1"/>
                  </a:solidFill>
                  <a:latin typeface="Arial" charset="0"/>
                  <a:cs typeface="Arial" charset="0"/>
                </a:defRPr>
              </a:lvl1pPr>
              <a:lvl2pPr marL="742950" indent="-285750" eaLnBrk="0" hangingPunct="0">
                <a:defRPr sz="1000">
                  <a:solidFill>
                    <a:schemeClr val="tx1"/>
                  </a:solidFill>
                  <a:latin typeface="Arial" charset="0"/>
                  <a:cs typeface="Arial" charset="0"/>
                </a:defRPr>
              </a:lvl2pPr>
              <a:lvl3pPr marL="1143000" indent="-228600" eaLnBrk="0" hangingPunct="0">
                <a:defRPr sz="1000">
                  <a:solidFill>
                    <a:schemeClr val="tx1"/>
                  </a:solidFill>
                  <a:latin typeface="Arial" charset="0"/>
                  <a:cs typeface="Arial" charset="0"/>
                </a:defRPr>
              </a:lvl3pPr>
              <a:lvl4pPr marL="1600200" indent="-228600" eaLnBrk="0" hangingPunct="0">
                <a:defRPr sz="1000">
                  <a:solidFill>
                    <a:schemeClr val="tx1"/>
                  </a:solidFill>
                  <a:latin typeface="Arial" charset="0"/>
                  <a:cs typeface="Arial" charset="0"/>
                </a:defRPr>
              </a:lvl4pPr>
              <a:lvl5pPr marL="2057400" indent="-228600" eaLnBrk="0" hangingPunct="0">
                <a:defRPr sz="1000">
                  <a:solidFill>
                    <a:schemeClr val="tx1"/>
                  </a:solidFill>
                  <a:latin typeface="Arial" charset="0"/>
                  <a:cs typeface="Arial" charset="0"/>
                </a:defRPr>
              </a:lvl5pPr>
              <a:lvl6pPr marL="2514600" indent="-228600" eaLnBrk="0" fontAlgn="base" hangingPunct="0">
                <a:spcBef>
                  <a:spcPct val="0"/>
                </a:spcBef>
                <a:spcAft>
                  <a:spcPct val="0"/>
                </a:spcAft>
                <a:defRPr sz="1000">
                  <a:solidFill>
                    <a:schemeClr val="tx1"/>
                  </a:solidFill>
                  <a:latin typeface="Arial" charset="0"/>
                  <a:cs typeface="Arial" charset="0"/>
                </a:defRPr>
              </a:lvl6pPr>
              <a:lvl7pPr marL="2971800" indent="-228600" eaLnBrk="0" fontAlgn="base" hangingPunct="0">
                <a:spcBef>
                  <a:spcPct val="0"/>
                </a:spcBef>
                <a:spcAft>
                  <a:spcPct val="0"/>
                </a:spcAft>
                <a:defRPr sz="1000">
                  <a:solidFill>
                    <a:schemeClr val="tx1"/>
                  </a:solidFill>
                  <a:latin typeface="Arial" charset="0"/>
                  <a:cs typeface="Arial" charset="0"/>
                </a:defRPr>
              </a:lvl7pPr>
              <a:lvl8pPr marL="3429000" indent="-228600" eaLnBrk="0" fontAlgn="base" hangingPunct="0">
                <a:spcBef>
                  <a:spcPct val="0"/>
                </a:spcBef>
                <a:spcAft>
                  <a:spcPct val="0"/>
                </a:spcAft>
                <a:defRPr sz="1000">
                  <a:solidFill>
                    <a:schemeClr val="tx1"/>
                  </a:solidFill>
                  <a:latin typeface="Arial" charset="0"/>
                  <a:cs typeface="Arial" charset="0"/>
                </a:defRPr>
              </a:lvl8pPr>
              <a:lvl9pPr marL="3886200" indent="-228600" eaLnBrk="0" fontAlgn="base" hangingPunct="0">
                <a:spcBef>
                  <a:spcPct val="0"/>
                </a:spcBef>
                <a:spcAft>
                  <a:spcPct val="0"/>
                </a:spcAft>
                <a:defRPr sz="1000">
                  <a:solidFill>
                    <a:schemeClr val="tx1"/>
                  </a:solidFill>
                  <a:latin typeface="Arial" charset="0"/>
                  <a:cs typeface="Arial" charset="0"/>
                </a:defRPr>
              </a:lvl9pPr>
            </a:lstStyle>
            <a:p>
              <a:pPr eaLnBrk="1" hangingPunct="1">
                <a:spcBef>
                  <a:spcPct val="50000"/>
                </a:spcBef>
              </a:pPr>
              <a:r>
                <a:rPr lang="en-US" sz="1400" b="1">
                  <a:solidFill>
                    <a:srgbClr val="CC3300"/>
                  </a:solidFill>
                </a:rPr>
                <a:t>(7.1)</a:t>
              </a:r>
            </a:p>
          </p:txBody>
        </p:sp>
      </p:grpSp>
    </p:spTree>
    <p:extLst>
      <p:ext uri="{BB962C8B-B14F-4D97-AF65-F5344CB8AC3E}">
        <p14:creationId xmlns:p14="http://schemas.microsoft.com/office/powerpoint/2010/main" val="38777852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1880" y="116632"/>
            <a:ext cx="5194920" cy="1143000"/>
          </a:xfrm>
        </p:spPr>
        <p:txBody>
          <a:bodyPr>
            <a:normAutofit/>
          </a:bodyPr>
          <a:lstStyle/>
          <a:p>
            <a:r>
              <a:rPr lang="en-US" sz="5400" dirty="0" smtClean="0"/>
              <a:t>PERT</a:t>
            </a:r>
            <a:endParaRPr lang="en-US" sz="5400" dirty="0"/>
          </a:p>
        </p:txBody>
      </p:sp>
      <p:sp>
        <p:nvSpPr>
          <p:cNvPr id="3" name="TextBox 2"/>
          <p:cNvSpPr txBox="1"/>
          <p:nvPr/>
        </p:nvSpPr>
        <p:spPr>
          <a:xfrm>
            <a:off x="5076056" y="2128788"/>
            <a:ext cx="3960440" cy="2308324"/>
          </a:xfrm>
          <a:prstGeom prst="rect">
            <a:avLst/>
          </a:prstGeom>
          <a:noFill/>
        </p:spPr>
        <p:txBody>
          <a:bodyPr wrap="square" rtlCol="0">
            <a:spAutoFit/>
          </a:bodyPr>
          <a:lstStyle/>
          <a:p>
            <a:pPr marL="342900" indent="-342900">
              <a:buAutoNum type="alphaLcParenR"/>
            </a:pPr>
            <a:r>
              <a:rPr lang="en-US" dirty="0" smtClean="0"/>
              <a:t>Construct network diagram and determine the critical path</a:t>
            </a:r>
          </a:p>
          <a:p>
            <a:pPr marL="342900" indent="-342900">
              <a:buAutoNum type="alphaLcParenR"/>
            </a:pPr>
            <a:r>
              <a:rPr lang="en-US" dirty="0" smtClean="0"/>
              <a:t>Determine expect project length</a:t>
            </a:r>
          </a:p>
          <a:p>
            <a:pPr marL="342900" indent="-342900">
              <a:buAutoNum type="alphaLcParenR"/>
            </a:pPr>
            <a:r>
              <a:rPr lang="en-US" dirty="0" smtClean="0"/>
              <a:t>Determine Mean/Expected time &amp; Variance of the project</a:t>
            </a:r>
          </a:p>
          <a:p>
            <a:pPr marL="342900" indent="-342900">
              <a:buAutoNum type="alphaLcParenR"/>
            </a:pPr>
            <a:r>
              <a:rPr lang="en-US" dirty="0" smtClean="0"/>
              <a:t>What is the probability of completing the project on or before 22 weeks</a:t>
            </a:r>
            <a:endParaRPr lang="en-US" dirty="0"/>
          </a:p>
        </p:txBody>
      </p:sp>
      <p:pic>
        <p:nvPicPr>
          <p:cNvPr id="5122" name="Picture 2" descr="D:\bahria 2019\FOPM\Sumaiya\Lecture 9\Prep-PERT\intr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 y="1408299"/>
            <a:ext cx="5040560" cy="5045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4599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1" name="Picture 3" descr="D:\bahria 2019\FOPM\Sumaiya\Lecture 9\Prep-PERT\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412776"/>
            <a:ext cx="8784976" cy="5616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9500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descr="D:\bahria 2019\FOPM\Sumaiya\Lecture 9\Prep-PERT\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02829"/>
            <a:ext cx="6920930" cy="561054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extLst>
              <p:ext uri="{D42A27DB-BD31-4B8C-83A1-F6EECF244321}">
                <p14:modId xmlns:p14="http://schemas.microsoft.com/office/powerpoint/2010/main" val="3353999667"/>
              </p:ext>
            </p:extLst>
          </p:nvPr>
        </p:nvGraphicFramePr>
        <p:xfrm>
          <a:off x="6927693" y="1484784"/>
          <a:ext cx="2108803" cy="5123368"/>
        </p:xfrm>
        <a:graphic>
          <a:graphicData uri="http://schemas.openxmlformats.org/drawingml/2006/table">
            <a:tbl>
              <a:tblPr firstRow="1" bandRow="1">
                <a:tableStyleId>{5C22544A-7EE6-4342-B048-85BDC9FD1C3A}</a:tableStyleId>
              </a:tblPr>
              <a:tblGrid>
                <a:gridCol w="2108803">
                  <a:extLst>
                    <a:ext uri="{9D8B030D-6E8A-4147-A177-3AD203B41FA5}">
                      <a16:colId xmlns:a16="http://schemas.microsoft.com/office/drawing/2014/main" val="20000"/>
                    </a:ext>
                  </a:extLst>
                </a:gridCol>
              </a:tblGrid>
              <a:tr h="1080120">
                <a:tc>
                  <a:txBody>
                    <a:bodyPr/>
                    <a:lstStyle/>
                    <a:p>
                      <a:r>
                        <a:rPr lang="en-US" dirty="0" smtClean="0"/>
                        <a:t>Variance </a:t>
                      </a:r>
                    </a:p>
                    <a:p>
                      <a:endParaRPr lang="en-US" dirty="0"/>
                    </a:p>
                  </a:txBody>
                  <a:tcPr/>
                </a:tc>
                <a:extLst>
                  <a:ext uri="{0D108BD9-81ED-4DB2-BD59-A6C34878D82A}">
                    <a16:rowId xmlns:a16="http://schemas.microsoft.com/office/drawing/2014/main" val="10000"/>
                  </a:ext>
                </a:extLst>
              </a:tr>
              <a:tr h="360040">
                <a:tc>
                  <a:txBody>
                    <a:bodyPr/>
                    <a:lstStyle/>
                    <a:p>
                      <a:r>
                        <a:rPr lang="en-US" dirty="0" smtClean="0"/>
                        <a:t>0.11</a:t>
                      </a:r>
                      <a:endParaRPr lang="en-US" dirty="0"/>
                    </a:p>
                  </a:txBody>
                  <a:tcPr/>
                </a:tc>
                <a:extLst>
                  <a:ext uri="{0D108BD9-81ED-4DB2-BD59-A6C34878D82A}">
                    <a16:rowId xmlns:a16="http://schemas.microsoft.com/office/drawing/2014/main" val="10001"/>
                  </a:ext>
                </a:extLst>
              </a:tr>
              <a:tr h="370840">
                <a:tc>
                  <a:txBody>
                    <a:bodyPr/>
                    <a:lstStyle/>
                    <a:p>
                      <a:r>
                        <a:rPr lang="en-US" dirty="0" smtClean="0"/>
                        <a:t>0.44</a:t>
                      </a:r>
                      <a:endParaRPr lang="en-US" dirty="0"/>
                    </a:p>
                  </a:txBody>
                  <a:tcPr/>
                </a:tc>
                <a:extLst>
                  <a:ext uri="{0D108BD9-81ED-4DB2-BD59-A6C34878D82A}">
                    <a16:rowId xmlns:a16="http://schemas.microsoft.com/office/drawing/2014/main" val="10002"/>
                  </a:ext>
                </a:extLst>
              </a:tr>
              <a:tr h="487536">
                <a:tc>
                  <a:txBody>
                    <a:bodyPr/>
                    <a:lstStyle/>
                    <a:p>
                      <a:r>
                        <a:rPr lang="en-US" dirty="0" smtClean="0"/>
                        <a:t>1</a:t>
                      </a:r>
                      <a:endParaRPr lang="en-US" dirty="0"/>
                    </a:p>
                  </a:txBody>
                  <a:tcPr/>
                </a:tc>
                <a:extLst>
                  <a:ext uri="{0D108BD9-81ED-4DB2-BD59-A6C34878D82A}">
                    <a16:rowId xmlns:a16="http://schemas.microsoft.com/office/drawing/2014/main" val="10003"/>
                  </a:ext>
                </a:extLst>
              </a:tr>
              <a:tr h="370840">
                <a:tc>
                  <a:txBody>
                    <a:bodyPr/>
                    <a:lstStyle/>
                    <a:p>
                      <a:r>
                        <a:rPr lang="en-US" dirty="0" smtClean="0"/>
                        <a:t>0.11</a:t>
                      </a:r>
                      <a:endParaRPr lang="en-US" dirty="0"/>
                    </a:p>
                  </a:txBody>
                  <a:tcPr/>
                </a:tc>
                <a:extLst>
                  <a:ext uri="{0D108BD9-81ED-4DB2-BD59-A6C34878D82A}">
                    <a16:rowId xmlns:a16="http://schemas.microsoft.com/office/drawing/2014/main" val="10004"/>
                  </a:ext>
                </a:extLst>
              </a:tr>
              <a:tr h="421248">
                <a:tc>
                  <a:txBody>
                    <a:bodyPr/>
                    <a:lstStyle/>
                    <a:p>
                      <a:r>
                        <a:rPr lang="en-US" dirty="0" smtClean="0"/>
                        <a:t>1.77</a:t>
                      </a:r>
                      <a:endParaRPr lang="en-US" dirty="0"/>
                    </a:p>
                  </a:txBody>
                  <a:tcPr/>
                </a:tc>
                <a:extLst>
                  <a:ext uri="{0D108BD9-81ED-4DB2-BD59-A6C34878D82A}">
                    <a16:rowId xmlns:a16="http://schemas.microsoft.com/office/drawing/2014/main" val="10005"/>
                  </a:ext>
                </a:extLst>
              </a:tr>
              <a:tr h="370840">
                <a:tc>
                  <a:txBody>
                    <a:bodyPr/>
                    <a:lstStyle/>
                    <a:p>
                      <a:r>
                        <a:rPr lang="en-US" dirty="0" smtClean="0"/>
                        <a:t>1.77</a:t>
                      </a:r>
                      <a:endParaRPr lang="en-US" dirty="0"/>
                    </a:p>
                  </a:txBody>
                  <a:tcPr/>
                </a:tc>
                <a:extLst>
                  <a:ext uri="{0D108BD9-81ED-4DB2-BD59-A6C34878D82A}">
                    <a16:rowId xmlns:a16="http://schemas.microsoft.com/office/drawing/2014/main" val="10006"/>
                  </a:ext>
                </a:extLst>
              </a:tr>
              <a:tr h="493256">
                <a:tc>
                  <a:txBody>
                    <a:bodyPr/>
                    <a:lstStyle/>
                    <a:p>
                      <a:r>
                        <a:rPr lang="en-US" dirty="0" smtClean="0"/>
                        <a:t>1</a:t>
                      </a:r>
                      <a:endParaRPr lang="en-US" dirty="0"/>
                    </a:p>
                  </a:txBody>
                  <a:tcPr/>
                </a:tc>
                <a:extLst>
                  <a:ext uri="{0D108BD9-81ED-4DB2-BD59-A6C34878D82A}">
                    <a16:rowId xmlns:a16="http://schemas.microsoft.com/office/drawing/2014/main" val="10007"/>
                  </a:ext>
                </a:extLst>
              </a:tr>
              <a:tr h="370840">
                <a:tc>
                  <a:txBody>
                    <a:bodyPr/>
                    <a:lstStyle/>
                    <a:p>
                      <a:r>
                        <a:rPr lang="en-US" dirty="0" smtClean="0"/>
                        <a:t>1</a:t>
                      </a:r>
                      <a:endParaRPr lang="en-US" dirty="0"/>
                    </a:p>
                  </a:txBody>
                  <a:tcPr/>
                </a:tc>
                <a:extLst>
                  <a:ext uri="{0D108BD9-81ED-4DB2-BD59-A6C34878D82A}">
                    <a16:rowId xmlns:a16="http://schemas.microsoft.com/office/drawing/2014/main" val="10008"/>
                  </a:ext>
                </a:extLst>
              </a:tr>
              <a:tr h="421248">
                <a:tc>
                  <a:txBody>
                    <a:bodyPr/>
                    <a:lstStyle/>
                    <a:p>
                      <a:r>
                        <a:rPr lang="en-US" dirty="0" smtClean="0"/>
                        <a:t>1</a:t>
                      </a:r>
                      <a:endParaRPr lang="en-US" dirty="0"/>
                    </a:p>
                  </a:txBody>
                  <a:tcPr/>
                </a:tc>
                <a:extLst>
                  <a:ext uri="{0D108BD9-81ED-4DB2-BD59-A6C34878D82A}">
                    <a16:rowId xmlns:a16="http://schemas.microsoft.com/office/drawing/2014/main" val="10009"/>
                  </a:ext>
                </a:extLst>
              </a:tr>
              <a:tr h="370840">
                <a:tc>
                  <a:txBody>
                    <a:bodyPr/>
                    <a:lstStyle/>
                    <a:p>
                      <a:r>
                        <a:rPr lang="en-US" dirty="0" smtClean="0"/>
                        <a:t>1</a:t>
                      </a:r>
                      <a:endParaRPr lang="en-US" dirty="0"/>
                    </a:p>
                  </a:txBody>
                  <a:tcPr/>
                </a:tc>
                <a:extLst>
                  <a:ext uri="{0D108BD9-81ED-4DB2-BD59-A6C34878D82A}">
                    <a16:rowId xmlns:a16="http://schemas.microsoft.com/office/drawing/2014/main" val="10010"/>
                  </a:ext>
                </a:extLst>
              </a:tr>
            </a:tbl>
          </a:graphicData>
        </a:graphic>
      </p:graphicFrame>
      <p:pic>
        <p:nvPicPr>
          <p:cNvPr id="4099" name="Picture 3" descr="D:\bahria 2019\FOPM\Sumaiya\Lecture 9\Prep-PERT\var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952" y="1844824"/>
            <a:ext cx="1683282" cy="64571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955708" y="1844824"/>
            <a:ext cx="341760" cy="369332"/>
          </a:xfrm>
          <a:prstGeom prst="rect">
            <a:avLst/>
          </a:prstGeom>
          <a:noFill/>
        </p:spPr>
        <p:txBody>
          <a:bodyPr wrap="none" rtlCol="0">
            <a:spAutoFit/>
          </a:bodyPr>
          <a:lstStyle/>
          <a:p>
            <a:r>
              <a:rPr lang="en-US" dirty="0" smtClean="0"/>
              <a:t>t</a:t>
            </a:r>
            <a:r>
              <a:rPr lang="en-US" baseline="-25000" dirty="0" smtClean="0"/>
              <a:t>p</a:t>
            </a:r>
            <a:endParaRPr lang="en-US" baseline="-25000" dirty="0"/>
          </a:p>
        </p:txBody>
      </p:sp>
      <p:sp>
        <p:nvSpPr>
          <p:cNvPr id="8" name="TextBox 7"/>
          <p:cNvSpPr txBox="1"/>
          <p:nvPr/>
        </p:nvSpPr>
        <p:spPr>
          <a:xfrm>
            <a:off x="8316416" y="1844824"/>
            <a:ext cx="341760" cy="369332"/>
          </a:xfrm>
          <a:prstGeom prst="rect">
            <a:avLst/>
          </a:prstGeom>
          <a:noFill/>
        </p:spPr>
        <p:txBody>
          <a:bodyPr wrap="none" rtlCol="0">
            <a:spAutoFit/>
          </a:bodyPr>
          <a:lstStyle/>
          <a:p>
            <a:r>
              <a:rPr lang="en-US" dirty="0" smtClean="0"/>
              <a:t>t</a:t>
            </a:r>
            <a:r>
              <a:rPr lang="en-US" baseline="-25000" dirty="0" smtClean="0"/>
              <a:t>o</a:t>
            </a:r>
            <a:endParaRPr lang="en-US" baseline="-25000" dirty="0"/>
          </a:p>
        </p:txBody>
      </p:sp>
      <p:sp>
        <p:nvSpPr>
          <p:cNvPr id="9" name="TextBox 8"/>
          <p:cNvSpPr txBox="1"/>
          <p:nvPr/>
        </p:nvSpPr>
        <p:spPr>
          <a:xfrm>
            <a:off x="8583020" y="1772816"/>
            <a:ext cx="263214" cy="276999"/>
          </a:xfrm>
          <a:prstGeom prst="rect">
            <a:avLst/>
          </a:prstGeom>
          <a:noFill/>
        </p:spPr>
        <p:txBody>
          <a:bodyPr wrap="none" rtlCol="0">
            <a:spAutoFit/>
          </a:bodyPr>
          <a:lstStyle/>
          <a:p>
            <a:r>
              <a:rPr lang="en-US" sz="1200" dirty="0" smtClean="0"/>
              <a:t>2</a:t>
            </a:r>
            <a:endParaRPr lang="en-US" baseline="-25000" dirty="0"/>
          </a:p>
        </p:txBody>
      </p:sp>
      <p:sp>
        <p:nvSpPr>
          <p:cNvPr id="10" name="TextBox 9"/>
          <p:cNvSpPr txBox="1"/>
          <p:nvPr/>
        </p:nvSpPr>
        <p:spPr>
          <a:xfrm>
            <a:off x="7261114" y="1999873"/>
            <a:ext cx="250390" cy="246221"/>
          </a:xfrm>
          <a:prstGeom prst="rect">
            <a:avLst/>
          </a:prstGeom>
          <a:noFill/>
        </p:spPr>
        <p:txBody>
          <a:bodyPr wrap="none" rtlCol="0">
            <a:spAutoFit/>
          </a:bodyPr>
          <a:lstStyle/>
          <a:p>
            <a:r>
              <a:rPr lang="en-US" sz="1000" dirty="0" smtClean="0"/>
              <a:t>2</a:t>
            </a:r>
            <a:endParaRPr lang="en-US" baseline="-25000" dirty="0"/>
          </a:p>
        </p:txBody>
      </p:sp>
      <p:sp>
        <p:nvSpPr>
          <p:cNvPr id="5" name="TextBox 4"/>
          <p:cNvSpPr txBox="1"/>
          <p:nvPr/>
        </p:nvSpPr>
        <p:spPr>
          <a:xfrm>
            <a:off x="5940152" y="2662050"/>
            <a:ext cx="720080" cy="369332"/>
          </a:xfrm>
          <a:prstGeom prst="rect">
            <a:avLst/>
          </a:prstGeom>
          <a:noFill/>
        </p:spPr>
        <p:txBody>
          <a:bodyPr wrap="square" rtlCol="0">
            <a:spAutoFit/>
          </a:bodyPr>
          <a:lstStyle/>
          <a:p>
            <a:r>
              <a:rPr lang="en-US" dirty="0" smtClean="0">
                <a:solidFill>
                  <a:schemeClr val="bg1"/>
                </a:solidFill>
              </a:rPr>
              <a:t>6</a:t>
            </a:r>
            <a:endParaRPr lang="en-US" dirty="0">
              <a:solidFill>
                <a:schemeClr val="bg1"/>
              </a:solidFill>
            </a:endParaRPr>
          </a:p>
        </p:txBody>
      </p:sp>
      <p:sp>
        <p:nvSpPr>
          <p:cNvPr id="12" name="TextBox 11"/>
          <p:cNvSpPr txBox="1"/>
          <p:nvPr/>
        </p:nvSpPr>
        <p:spPr>
          <a:xfrm>
            <a:off x="5936537" y="3047056"/>
            <a:ext cx="720080" cy="369332"/>
          </a:xfrm>
          <a:prstGeom prst="rect">
            <a:avLst/>
          </a:prstGeom>
          <a:noFill/>
        </p:spPr>
        <p:txBody>
          <a:bodyPr wrap="square" rtlCol="0">
            <a:spAutoFit/>
          </a:bodyPr>
          <a:lstStyle/>
          <a:p>
            <a:r>
              <a:rPr lang="en-US" dirty="0" smtClean="0">
                <a:solidFill>
                  <a:schemeClr val="bg1"/>
                </a:solidFill>
              </a:rPr>
              <a:t>3</a:t>
            </a:r>
            <a:endParaRPr lang="en-US" dirty="0">
              <a:solidFill>
                <a:schemeClr val="bg1"/>
              </a:solidFill>
            </a:endParaRPr>
          </a:p>
        </p:txBody>
      </p:sp>
      <p:sp>
        <p:nvSpPr>
          <p:cNvPr id="13" name="TextBox 12"/>
          <p:cNvSpPr txBox="1"/>
          <p:nvPr/>
        </p:nvSpPr>
        <p:spPr>
          <a:xfrm>
            <a:off x="5940152" y="3453122"/>
            <a:ext cx="720080" cy="369332"/>
          </a:xfrm>
          <a:prstGeom prst="rect">
            <a:avLst/>
          </a:prstGeom>
          <a:noFill/>
        </p:spPr>
        <p:txBody>
          <a:bodyPr wrap="square" rtlCol="0">
            <a:spAutoFit/>
          </a:bodyPr>
          <a:lstStyle/>
          <a:p>
            <a:r>
              <a:rPr lang="en-US" dirty="0">
                <a:solidFill>
                  <a:schemeClr val="bg1"/>
                </a:solidFill>
              </a:rPr>
              <a:t>4</a:t>
            </a:r>
          </a:p>
        </p:txBody>
      </p:sp>
      <p:sp>
        <p:nvSpPr>
          <p:cNvPr id="14" name="TextBox 13"/>
          <p:cNvSpPr txBox="1"/>
          <p:nvPr/>
        </p:nvSpPr>
        <p:spPr>
          <a:xfrm>
            <a:off x="5914700" y="4277566"/>
            <a:ext cx="720080" cy="369332"/>
          </a:xfrm>
          <a:prstGeom prst="rect">
            <a:avLst/>
          </a:prstGeom>
          <a:noFill/>
        </p:spPr>
        <p:txBody>
          <a:bodyPr wrap="square" rtlCol="0">
            <a:spAutoFit/>
          </a:bodyPr>
          <a:lstStyle/>
          <a:p>
            <a:r>
              <a:rPr lang="en-US" dirty="0" smtClean="0">
                <a:solidFill>
                  <a:schemeClr val="bg1"/>
                </a:solidFill>
              </a:rPr>
              <a:t>3</a:t>
            </a:r>
            <a:endParaRPr lang="en-US" dirty="0">
              <a:solidFill>
                <a:schemeClr val="bg1"/>
              </a:solidFill>
            </a:endParaRPr>
          </a:p>
        </p:txBody>
      </p:sp>
      <p:sp>
        <p:nvSpPr>
          <p:cNvPr id="15" name="TextBox 14"/>
          <p:cNvSpPr txBox="1"/>
          <p:nvPr/>
        </p:nvSpPr>
        <p:spPr>
          <a:xfrm>
            <a:off x="5940152" y="3858130"/>
            <a:ext cx="720080" cy="369332"/>
          </a:xfrm>
          <a:prstGeom prst="rect">
            <a:avLst/>
          </a:prstGeom>
          <a:noFill/>
        </p:spPr>
        <p:txBody>
          <a:bodyPr wrap="square" rtlCol="0">
            <a:spAutoFit/>
          </a:bodyPr>
          <a:lstStyle/>
          <a:p>
            <a:r>
              <a:rPr lang="en-US" dirty="0" smtClean="0">
                <a:solidFill>
                  <a:schemeClr val="bg1"/>
                </a:solidFill>
              </a:rPr>
              <a:t>2</a:t>
            </a:r>
            <a:endParaRPr lang="en-US" dirty="0">
              <a:solidFill>
                <a:schemeClr val="bg1"/>
              </a:solidFill>
            </a:endParaRPr>
          </a:p>
        </p:txBody>
      </p:sp>
      <p:sp>
        <p:nvSpPr>
          <p:cNvPr id="16" name="TextBox 15"/>
          <p:cNvSpPr txBox="1"/>
          <p:nvPr/>
        </p:nvSpPr>
        <p:spPr>
          <a:xfrm>
            <a:off x="5940152" y="4669976"/>
            <a:ext cx="720080" cy="369332"/>
          </a:xfrm>
          <a:prstGeom prst="rect">
            <a:avLst/>
          </a:prstGeom>
          <a:noFill/>
        </p:spPr>
        <p:txBody>
          <a:bodyPr wrap="square" rtlCol="0">
            <a:spAutoFit/>
          </a:bodyPr>
          <a:lstStyle/>
          <a:p>
            <a:r>
              <a:rPr lang="en-US" dirty="0">
                <a:solidFill>
                  <a:schemeClr val="bg1"/>
                </a:solidFill>
              </a:rPr>
              <a:t>5</a:t>
            </a:r>
          </a:p>
        </p:txBody>
      </p:sp>
      <p:sp>
        <p:nvSpPr>
          <p:cNvPr id="17" name="TextBox 16"/>
          <p:cNvSpPr txBox="1"/>
          <p:nvPr/>
        </p:nvSpPr>
        <p:spPr>
          <a:xfrm>
            <a:off x="5940152" y="5044548"/>
            <a:ext cx="720080" cy="369332"/>
          </a:xfrm>
          <a:prstGeom prst="rect">
            <a:avLst/>
          </a:prstGeom>
          <a:noFill/>
        </p:spPr>
        <p:txBody>
          <a:bodyPr wrap="square" rtlCol="0">
            <a:spAutoFit/>
          </a:bodyPr>
          <a:lstStyle/>
          <a:p>
            <a:r>
              <a:rPr lang="en-US" dirty="0">
                <a:solidFill>
                  <a:schemeClr val="bg1"/>
                </a:solidFill>
              </a:rPr>
              <a:t>3</a:t>
            </a:r>
          </a:p>
        </p:txBody>
      </p:sp>
      <p:sp>
        <p:nvSpPr>
          <p:cNvPr id="18" name="TextBox 17"/>
          <p:cNvSpPr txBox="1"/>
          <p:nvPr/>
        </p:nvSpPr>
        <p:spPr>
          <a:xfrm>
            <a:off x="5914700" y="5436958"/>
            <a:ext cx="720080" cy="369332"/>
          </a:xfrm>
          <a:prstGeom prst="rect">
            <a:avLst/>
          </a:prstGeom>
          <a:noFill/>
        </p:spPr>
        <p:txBody>
          <a:bodyPr wrap="square" rtlCol="0">
            <a:spAutoFit/>
          </a:bodyPr>
          <a:lstStyle/>
          <a:p>
            <a:r>
              <a:rPr lang="en-US" dirty="0" smtClean="0">
                <a:solidFill>
                  <a:schemeClr val="bg1"/>
                </a:solidFill>
              </a:rPr>
              <a:t>5</a:t>
            </a:r>
            <a:endParaRPr lang="en-US" dirty="0">
              <a:solidFill>
                <a:schemeClr val="bg1"/>
              </a:solidFill>
            </a:endParaRPr>
          </a:p>
        </p:txBody>
      </p:sp>
      <p:sp>
        <p:nvSpPr>
          <p:cNvPr id="19" name="TextBox 18"/>
          <p:cNvSpPr txBox="1"/>
          <p:nvPr/>
        </p:nvSpPr>
        <p:spPr>
          <a:xfrm>
            <a:off x="5914700" y="5806290"/>
            <a:ext cx="720080" cy="369332"/>
          </a:xfrm>
          <a:prstGeom prst="rect">
            <a:avLst/>
          </a:prstGeom>
          <a:noFill/>
        </p:spPr>
        <p:txBody>
          <a:bodyPr wrap="square" rtlCol="0">
            <a:spAutoFit/>
          </a:bodyPr>
          <a:lstStyle/>
          <a:p>
            <a:r>
              <a:rPr lang="en-US" dirty="0" smtClean="0">
                <a:solidFill>
                  <a:schemeClr val="bg1"/>
                </a:solidFill>
              </a:rPr>
              <a:t>5</a:t>
            </a:r>
            <a:endParaRPr lang="en-US" dirty="0">
              <a:solidFill>
                <a:schemeClr val="bg1"/>
              </a:solidFill>
            </a:endParaRPr>
          </a:p>
        </p:txBody>
      </p:sp>
      <p:sp>
        <p:nvSpPr>
          <p:cNvPr id="20" name="TextBox 19"/>
          <p:cNvSpPr txBox="1"/>
          <p:nvPr/>
        </p:nvSpPr>
        <p:spPr>
          <a:xfrm>
            <a:off x="5940152" y="6309320"/>
            <a:ext cx="720080" cy="369332"/>
          </a:xfrm>
          <a:prstGeom prst="rect">
            <a:avLst/>
          </a:prstGeom>
          <a:noFill/>
        </p:spPr>
        <p:txBody>
          <a:bodyPr wrap="square" rtlCol="0">
            <a:spAutoFit/>
          </a:bodyPr>
          <a:lstStyle/>
          <a:p>
            <a:r>
              <a:rPr lang="en-US" dirty="0" smtClean="0">
                <a:solidFill>
                  <a:schemeClr val="bg1"/>
                </a:solidFill>
              </a:rPr>
              <a:t>3</a:t>
            </a:r>
            <a:endParaRPr lang="en-US" dirty="0">
              <a:solidFill>
                <a:schemeClr val="bg1"/>
              </a:solidFill>
            </a:endParaRPr>
          </a:p>
        </p:txBody>
      </p:sp>
    </p:spTree>
    <p:extLst>
      <p:ext uri="{BB962C8B-B14F-4D97-AF65-F5344CB8AC3E}">
        <p14:creationId xmlns:p14="http://schemas.microsoft.com/office/powerpoint/2010/main" val="2599184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endParaRPr lang="en-US"/>
          </a:p>
        </p:txBody>
      </p:sp>
      <p:pic>
        <p:nvPicPr>
          <p:cNvPr id="3075" name="Picture 3" descr="D:\bahria 2019\FOPM\Sumaiya\Lecture 9\Prep-PERT\ND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92696"/>
            <a:ext cx="2051720" cy="1658549"/>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p:cNvGrpSpPr/>
          <p:nvPr/>
        </p:nvGrpSpPr>
        <p:grpSpPr>
          <a:xfrm>
            <a:off x="891347" y="2370081"/>
            <a:ext cx="1338819" cy="1224140"/>
            <a:chOff x="1360973" y="3573016"/>
            <a:chExt cx="1338819" cy="1224140"/>
          </a:xfrm>
        </p:grpSpPr>
        <p:grpSp>
          <p:nvGrpSpPr>
            <p:cNvPr id="12" name="Group 11"/>
            <p:cNvGrpSpPr/>
            <p:nvPr/>
          </p:nvGrpSpPr>
          <p:grpSpPr>
            <a:xfrm>
              <a:off x="1394836" y="3594221"/>
              <a:ext cx="1208021" cy="1202935"/>
              <a:chOff x="1360973" y="2370084"/>
              <a:chExt cx="1208021" cy="1202935"/>
            </a:xfrm>
          </p:grpSpPr>
          <p:sp>
            <p:nvSpPr>
              <p:cNvPr id="3" name="Rectangle 2"/>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403648" y="2699627"/>
                <a:ext cx="364321" cy="369333"/>
              </a:xfrm>
              <a:prstGeom prst="rect">
                <a:avLst/>
              </a:prstGeom>
              <a:noFill/>
            </p:spPr>
            <p:txBody>
              <a:bodyPr wrap="square" rtlCol="0">
                <a:spAutoFit/>
              </a:bodyPr>
              <a:lstStyle/>
              <a:p>
                <a:endParaRPr lang="en-US" dirty="0"/>
              </a:p>
            </p:txBody>
          </p:sp>
          <p:sp>
            <p:nvSpPr>
              <p:cNvPr id="19" name="TextBox 18"/>
              <p:cNvSpPr txBox="1"/>
              <p:nvPr/>
            </p:nvSpPr>
            <p:spPr>
              <a:xfrm>
                <a:off x="1403648" y="3203683"/>
                <a:ext cx="364321" cy="369333"/>
              </a:xfrm>
              <a:prstGeom prst="rect">
                <a:avLst/>
              </a:prstGeom>
              <a:noFill/>
            </p:spPr>
            <p:txBody>
              <a:bodyPr wrap="square" rtlCol="0">
                <a:spAutoFit/>
              </a:bodyPr>
              <a:lstStyle/>
              <a:p>
                <a:endParaRPr lang="en-US" dirty="0"/>
              </a:p>
            </p:txBody>
          </p:sp>
          <p:sp>
            <p:nvSpPr>
              <p:cNvPr id="20" name="TextBox 19"/>
              <p:cNvSpPr txBox="1"/>
              <p:nvPr/>
            </p:nvSpPr>
            <p:spPr>
              <a:xfrm>
                <a:off x="1860748" y="3203683"/>
                <a:ext cx="364321" cy="369332"/>
              </a:xfrm>
              <a:prstGeom prst="rect">
                <a:avLst/>
              </a:prstGeom>
              <a:noFill/>
            </p:spPr>
            <p:txBody>
              <a:bodyPr wrap="square" rtlCol="0">
                <a:spAutoFit/>
              </a:bodyPr>
              <a:lstStyle/>
              <a:p>
                <a:endParaRPr lang="en-US" dirty="0"/>
              </a:p>
            </p:txBody>
          </p:sp>
          <p:sp>
            <p:nvSpPr>
              <p:cNvPr id="21" name="TextBox 20"/>
              <p:cNvSpPr txBox="1"/>
              <p:nvPr/>
            </p:nvSpPr>
            <p:spPr>
              <a:xfrm>
                <a:off x="2136946" y="3203683"/>
                <a:ext cx="432048" cy="369332"/>
              </a:xfrm>
              <a:prstGeom prst="rect">
                <a:avLst/>
              </a:prstGeom>
              <a:noFill/>
            </p:spPr>
            <p:txBody>
              <a:bodyPr wrap="square" rtlCol="0">
                <a:spAutoFit/>
              </a:bodyPr>
              <a:lstStyle/>
              <a:p>
                <a:endParaRPr lang="en-US" dirty="0"/>
              </a:p>
            </p:txBody>
          </p:sp>
        </p:grpSp>
        <p:grpSp>
          <p:nvGrpSpPr>
            <p:cNvPr id="14" name="Group 13"/>
            <p:cNvGrpSpPr/>
            <p:nvPr/>
          </p:nvGrpSpPr>
          <p:grpSpPr>
            <a:xfrm>
              <a:off x="1360973" y="3573016"/>
              <a:ext cx="1338819" cy="1224137"/>
              <a:chOff x="1360973" y="2348880"/>
              <a:chExt cx="1338819" cy="1224137"/>
            </a:xfrm>
          </p:grpSpPr>
          <p:cxnSp>
            <p:nvCxnSpPr>
              <p:cNvPr id="5" name="Straight Connector 4"/>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41" name="Group 40"/>
          <p:cNvGrpSpPr/>
          <p:nvPr/>
        </p:nvGrpSpPr>
        <p:grpSpPr>
          <a:xfrm>
            <a:off x="2945149" y="1197856"/>
            <a:ext cx="1338819" cy="1284587"/>
            <a:chOff x="1360973" y="3573016"/>
            <a:chExt cx="1338819" cy="1284587"/>
          </a:xfrm>
        </p:grpSpPr>
        <p:grpSp>
          <p:nvGrpSpPr>
            <p:cNvPr id="42" name="Group 41"/>
            <p:cNvGrpSpPr/>
            <p:nvPr/>
          </p:nvGrpSpPr>
          <p:grpSpPr>
            <a:xfrm>
              <a:off x="1394836" y="3573016"/>
              <a:ext cx="1296144" cy="1284587"/>
              <a:chOff x="1360973" y="2348879"/>
              <a:chExt cx="1296144" cy="1284587"/>
            </a:xfrm>
          </p:grpSpPr>
          <p:sp>
            <p:nvSpPr>
              <p:cNvPr id="48" name="Rectangle 47"/>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1403648" y="2370084"/>
                <a:ext cx="364321" cy="369333"/>
              </a:xfrm>
              <a:prstGeom prst="rect">
                <a:avLst/>
              </a:prstGeom>
              <a:noFill/>
            </p:spPr>
            <p:txBody>
              <a:bodyPr wrap="square" rtlCol="0">
                <a:spAutoFit/>
              </a:bodyPr>
              <a:lstStyle/>
              <a:p>
                <a:endParaRPr lang="en-US" dirty="0"/>
              </a:p>
            </p:txBody>
          </p:sp>
          <p:sp>
            <p:nvSpPr>
              <p:cNvPr id="50" name="TextBox 49"/>
              <p:cNvSpPr txBox="1"/>
              <p:nvPr/>
            </p:nvSpPr>
            <p:spPr>
              <a:xfrm>
                <a:off x="1860748" y="2348879"/>
                <a:ext cx="364321" cy="369333"/>
              </a:xfrm>
              <a:prstGeom prst="rect">
                <a:avLst/>
              </a:prstGeom>
              <a:noFill/>
            </p:spPr>
            <p:txBody>
              <a:bodyPr wrap="square" rtlCol="0">
                <a:spAutoFit/>
              </a:bodyPr>
              <a:lstStyle/>
              <a:p>
                <a:endParaRPr lang="en-US" dirty="0"/>
              </a:p>
            </p:txBody>
          </p:sp>
          <p:sp>
            <p:nvSpPr>
              <p:cNvPr id="51" name="TextBox 50"/>
              <p:cNvSpPr txBox="1"/>
              <p:nvPr/>
            </p:nvSpPr>
            <p:spPr>
              <a:xfrm>
                <a:off x="2292796" y="2411595"/>
                <a:ext cx="364321" cy="369333"/>
              </a:xfrm>
              <a:prstGeom prst="rect">
                <a:avLst/>
              </a:prstGeom>
              <a:noFill/>
            </p:spPr>
            <p:txBody>
              <a:bodyPr wrap="square" rtlCol="0">
                <a:spAutoFit/>
              </a:bodyPr>
              <a:lstStyle/>
              <a:p>
                <a:endParaRPr lang="en-US" dirty="0"/>
              </a:p>
            </p:txBody>
          </p:sp>
          <p:sp>
            <p:nvSpPr>
              <p:cNvPr id="52" name="TextBox 51"/>
              <p:cNvSpPr txBox="1"/>
              <p:nvPr/>
            </p:nvSpPr>
            <p:spPr>
              <a:xfrm>
                <a:off x="1403648" y="2762257"/>
                <a:ext cx="364321" cy="369333"/>
              </a:xfrm>
              <a:prstGeom prst="rect">
                <a:avLst/>
              </a:prstGeom>
              <a:noFill/>
            </p:spPr>
            <p:txBody>
              <a:bodyPr wrap="square" rtlCol="0">
                <a:spAutoFit/>
              </a:bodyPr>
              <a:lstStyle/>
              <a:p>
                <a:endParaRPr lang="en-US" dirty="0"/>
              </a:p>
            </p:txBody>
          </p:sp>
          <p:sp>
            <p:nvSpPr>
              <p:cNvPr id="53" name="TextBox 52"/>
              <p:cNvSpPr txBox="1"/>
              <p:nvPr/>
            </p:nvSpPr>
            <p:spPr>
              <a:xfrm>
                <a:off x="2292796" y="2843643"/>
                <a:ext cx="364321" cy="369333"/>
              </a:xfrm>
              <a:prstGeom prst="rect">
                <a:avLst/>
              </a:prstGeom>
              <a:noFill/>
            </p:spPr>
            <p:txBody>
              <a:bodyPr wrap="square" rtlCol="0">
                <a:spAutoFit/>
              </a:bodyPr>
              <a:lstStyle/>
              <a:p>
                <a:endParaRPr lang="en-US" dirty="0"/>
              </a:p>
            </p:txBody>
          </p:sp>
          <p:sp>
            <p:nvSpPr>
              <p:cNvPr id="54" name="TextBox 53"/>
              <p:cNvSpPr txBox="1"/>
              <p:nvPr/>
            </p:nvSpPr>
            <p:spPr>
              <a:xfrm>
                <a:off x="1403648" y="3203683"/>
                <a:ext cx="364321" cy="369332"/>
              </a:xfrm>
              <a:prstGeom prst="rect">
                <a:avLst/>
              </a:prstGeom>
              <a:noFill/>
            </p:spPr>
            <p:txBody>
              <a:bodyPr wrap="square" rtlCol="0">
                <a:spAutoFit/>
              </a:bodyPr>
              <a:lstStyle/>
              <a:p>
                <a:endParaRPr lang="en-US" dirty="0"/>
              </a:p>
            </p:txBody>
          </p:sp>
          <p:sp>
            <p:nvSpPr>
              <p:cNvPr id="55" name="TextBox 54"/>
              <p:cNvSpPr txBox="1"/>
              <p:nvPr/>
            </p:nvSpPr>
            <p:spPr>
              <a:xfrm>
                <a:off x="1860748" y="3203683"/>
                <a:ext cx="364321" cy="369333"/>
              </a:xfrm>
              <a:prstGeom prst="rect">
                <a:avLst/>
              </a:prstGeom>
              <a:noFill/>
            </p:spPr>
            <p:txBody>
              <a:bodyPr wrap="square" rtlCol="0">
                <a:spAutoFit/>
              </a:bodyPr>
              <a:lstStyle/>
              <a:p>
                <a:endParaRPr lang="en-US" dirty="0"/>
              </a:p>
            </p:txBody>
          </p:sp>
          <p:sp>
            <p:nvSpPr>
              <p:cNvPr id="56" name="TextBox 55"/>
              <p:cNvSpPr txBox="1"/>
              <p:nvPr/>
            </p:nvSpPr>
            <p:spPr>
              <a:xfrm>
                <a:off x="2161873" y="3264134"/>
                <a:ext cx="364321" cy="369332"/>
              </a:xfrm>
              <a:prstGeom prst="rect">
                <a:avLst/>
              </a:prstGeom>
              <a:noFill/>
            </p:spPr>
            <p:txBody>
              <a:bodyPr wrap="square" rtlCol="0">
                <a:spAutoFit/>
              </a:bodyPr>
              <a:lstStyle/>
              <a:p>
                <a:endParaRPr lang="en-US" dirty="0"/>
              </a:p>
            </p:txBody>
          </p:sp>
        </p:grpSp>
        <p:grpSp>
          <p:nvGrpSpPr>
            <p:cNvPr id="43" name="Group 42"/>
            <p:cNvGrpSpPr/>
            <p:nvPr/>
          </p:nvGrpSpPr>
          <p:grpSpPr>
            <a:xfrm>
              <a:off x="1360973" y="3573016"/>
              <a:ext cx="1338819" cy="1224137"/>
              <a:chOff x="1360973" y="2348880"/>
              <a:chExt cx="1338819" cy="1224137"/>
            </a:xfrm>
          </p:grpSpPr>
          <p:cxnSp>
            <p:nvCxnSpPr>
              <p:cNvPr id="44" name="Straight Connector 43"/>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57" name="Group 56"/>
          <p:cNvGrpSpPr/>
          <p:nvPr/>
        </p:nvGrpSpPr>
        <p:grpSpPr>
          <a:xfrm>
            <a:off x="1047197" y="3894716"/>
            <a:ext cx="1338819" cy="1224140"/>
            <a:chOff x="1360973" y="3573016"/>
            <a:chExt cx="1338819" cy="1224140"/>
          </a:xfrm>
        </p:grpSpPr>
        <p:grpSp>
          <p:nvGrpSpPr>
            <p:cNvPr id="58" name="Group 57"/>
            <p:cNvGrpSpPr/>
            <p:nvPr/>
          </p:nvGrpSpPr>
          <p:grpSpPr>
            <a:xfrm>
              <a:off x="1394836" y="3573016"/>
              <a:ext cx="1296144" cy="1224140"/>
              <a:chOff x="1360973" y="2348879"/>
              <a:chExt cx="1296144" cy="1224140"/>
            </a:xfrm>
          </p:grpSpPr>
          <p:sp>
            <p:nvSpPr>
              <p:cNvPr id="64" name="Rectangle 63"/>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p:cNvSpPr txBox="1"/>
              <p:nvPr/>
            </p:nvSpPr>
            <p:spPr>
              <a:xfrm>
                <a:off x="1860748" y="2348879"/>
                <a:ext cx="364321" cy="369333"/>
              </a:xfrm>
              <a:prstGeom prst="rect">
                <a:avLst/>
              </a:prstGeom>
              <a:noFill/>
            </p:spPr>
            <p:txBody>
              <a:bodyPr wrap="square" rtlCol="0">
                <a:spAutoFit/>
              </a:bodyPr>
              <a:lstStyle/>
              <a:p>
                <a:endParaRPr lang="en-US" dirty="0"/>
              </a:p>
            </p:txBody>
          </p:sp>
          <p:sp>
            <p:nvSpPr>
              <p:cNvPr id="68" name="TextBox 67"/>
              <p:cNvSpPr txBox="1"/>
              <p:nvPr/>
            </p:nvSpPr>
            <p:spPr>
              <a:xfrm>
                <a:off x="1403648" y="2699627"/>
                <a:ext cx="364321" cy="369333"/>
              </a:xfrm>
              <a:prstGeom prst="rect">
                <a:avLst/>
              </a:prstGeom>
              <a:noFill/>
            </p:spPr>
            <p:txBody>
              <a:bodyPr wrap="square" rtlCol="0">
                <a:spAutoFit/>
              </a:bodyPr>
              <a:lstStyle/>
              <a:p>
                <a:endParaRPr lang="en-US" dirty="0"/>
              </a:p>
            </p:txBody>
          </p:sp>
          <p:sp>
            <p:nvSpPr>
              <p:cNvPr id="69" name="TextBox 68"/>
              <p:cNvSpPr txBox="1"/>
              <p:nvPr/>
            </p:nvSpPr>
            <p:spPr>
              <a:xfrm>
                <a:off x="2292796" y="2843643"/>
                <a:ext cx="364321" cy="369333"/>
              </a:xfrm>
              <a:prstGeom prst="rect">
                <a:avLst/>
              </a:prstGeom>
              <a:noFill/>
            </p:spPr>
            <p:txBody>
              <a:bodyPr wrap="square" rtlCol="0">
                <a:spAutoFit/>
              </a:bodyPr>
              <a:lstStyle/>
              <a:p>
                <a:endParaRPr lang="en-US" dirty="0"/>
              </a:p>
            </p:txBody>
          </p:sp>
          <p:sp>
            <p:nvSpPr>
              <p:cNvPr id="70" name="TextBox 69"/>
              <p:cNvSpPr txBox="1"/>
              <p:nvPr/>
            </p:nvSpPr>
            <p:spPr>
              <a:xfrm>
                <a:off x="1403648" y="3203683"/>
                <a:ext cx="364321" cy="369333"/>
              </a:xfrm>
              <a:prstGeom prst="rect">
                <a:avLst/>
              </a:prstGeom>
              <a:noFill/>
            </p:spPr>
            <p:txBody>
              <a:bodyPr wrap="square" rtlCol="0">
                <a:spAutoFit/>
              </a:bodyPr>
              <a:lstStyle/>
              <a:p>
                <a:endParaRPr lang="en-US" dirty="0"/>
              </a:p>
            </p:txBody>
          </p:sp>
          <p:sp>
            <p:nvSpPr>
              <p:cNvPr id="71" name="TextBox 70"/>
              <p:cNvSpPr txBox="1"/>
              <p:nvPr/>
            </p:nvSpPr>
            <p:spPr>
              <a:xfrm>
                <a:off x="1860748" y="3203683"/>
                <a:ext cx="364321" cy="369333"/>
              </a:xfrm>
              <a:prstGeom prst="rect">
                <a:avLst/>
              </a:prstGeom>
              <a:noFill/>
            </p:spPr>
            <p:txBody>
              <a:bodyPr wrap="square" rtlCol="0">
                <a:spAutoFit/>
              </a:bodyPr>
              <a:lstStyle/>
              <a:p>
                <a:endParaRPr lang="en-US" dirty="0"/>
              </a:p>
            </p:txBody>
          </p:sp>
          <p:sp>
            <p:nvSpPr>
              <p:cNvPr id="72" name="TextBox 71"/>
              <p:cNvSpPr txBox="1"/>
              <p:nvPr/>
            </p:nvSpPr>
            <p:spPr>
              <a:xfrm>
                <a:off x="2292796" y="3203683"/>
                <a:ext cx="364321" cy="369333"/>
              </a:xfrm>
              <a:prstGeom prst="rect">
                <a:avLst/>
              </a:prstGeom>
              <a:noFill/>
            </p:spPr>
            <p:txBody>
              <a:bodyPr wrap="square" rtlCol="0">
                <a:spAutoFit/>
              </a:bodyPr>
              <a:lstStyle/>
              <a:p>
                <a:endParaRPr lang="en-US" dirty="0"/>
              </a:p>
            </p:txBody>
          </p:sp>
        </p:grpSp>
        <p:grpSp>
          <p:nvGrpSpPr>
            <p:cNvPr id="59" name="Group 58"/>
            <p:cNvGrpSpPr/>
            <p:nvPr/>
          </p:nvGrpSpPr>
          <p:grpSpPr>
            <a:xfrm>
              <a:off x="1360973" y="3573016"/>
              <a:ext cx="1338819" cy="1224137"/>
              <a:chOff x="1360973" y="2348880"/>
              <a:chExt cx="1338819" cy="1224137"/>
            </a:xfrm>
          </p:grpSpPr>
          <p:cxnSp>
            <p:nvCxnSpPr>
              <p:cNvPr id="60" name="Straight Connector 59"/>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73" name="Group 72"/>
          <p:cNvGrpSpPr/>
          <p:nvPr/>
        </p:nvGrpSpPr>
        <p:grpSpPr>
          <a:xfrm>
            <a:off x="1190602" y="5633111"/>
            <a:ext cx="1338819" cy="1224140"/>
            <a:chOff x="1360973" y="3573016"/>
            <a:chExt cx="1338819" cy="1224140"/>
          </a:xfrm>
        </p:grpSpPr>
        <p:grpSp>
          <p:nvGrpSpPr>
            <p:cNvPr id="74" name="Group 73"/>
            <p:cNvGrpSpPr/>
            <p:nvPr/>
          </p:nvGrpSpPr>
          <p:grpSpPr>
            <a:xfrm>
              <a:off x="1394836" y="3573016"/>
              <a:ext cx="1296144" cy="1224140"/>
              <a:chOff x="1360973" y="2348879"/>
              <a:chExt cx="1296144" cy="1224140"/>
            </a:xfrm>
          </p:grpSpPr>
          <p:sp>
            <p:nvSpPr>
              <p:cNvPr id="80" name="Rectangle 79"/>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p:cNvSpPr txBox="1"/>
              <p:nvPr/>
            </p:nvSpPr>
            <p:spPr>
              <a:xfrm>
                <a:off x="1403648" y="2370084"/>
                <a:ext cx="364321" cy="369333"/>
              </a:xfrm>
              <a:prstGeom prst="rect">
                <a:avLst/>
              </a:prstGeom>
              <a:noFill/>
            </p:spPr>
            <p:txBody>
              <a:bodyPr wrap="square" rtlCol="0">
                <a:spAutoFit/>
              </a:bodyPr>
              <a:lstStyle/>
              <a:p>
                <a:endParaRPr lang="en-US" dirty="0"/>
              </a:p>
            </p:txBody>
          </p:sp>
          <p:sp>
            <p:nvSpPr>
              <p:cNvPr id="82" name="TextBox 81"/>
              <p:cNvSpPr txBox="1"/>
              <p:nvPr/>
            </p:nvSpPr>
            <p:spPr>
              <a:xfrm>
                <a:off x="1860748" y="2348879"/>
                <a:ext cx="364321" cy="369333"/>
              </a:xfrm>
              <a:prstGeom prst="rect">
                <a:avLst/>
              </a:prstGeom>
              <a:noFill/>
            </p:spPr>
            <p:txBody>
              <a:bodyPr wrap="square" rtlCol="0">
                <a:spAutoFit/>
              </a:bodyPr>
              <a:lstStyle/>
              <a:p>
                <a:endParaRPr lang="en-US" dirty="0"/>
              </a:p>
            </p:txBody>
          </p:sp>
          <p:sp>
            <p:nvSpPr>
              <p:cNvPr id="83" name="TextBox 82"/>
              <p:cNvSpPr txBox="1"/>
              <p:nvPr/>
            </p:nvSpPr>
            <p:spPr>
              <a:xfrm>
                <a:off x="2292796" y="2411595"/>
                <a:ext cx="364321" cy="369333"/>
              </a:xfrm>
              <a:prstGeom prst="rect">
                <a:avLst/>
              </a:prstGeom>
              <a:noFill/>
            </p:spPr>
            <p:txBody>
              <a:bodyPr wrap="square" rtlCol="0">
                <a:spAutoFit/>
              </a:bodyPr>
              <a:lstStyle/>
              <a:p>
                <a:endParaRPr lang="en-US" dirty="0"/>
              </a:p>
            </p:txBody>
          </p:sp>
          <p:sp>
            <p:nvSpPr>
              <p:cNvPr id="84" name="TextBox 83"/>
              <p:cNvSpPr txBox="1"/>
              <p:nvPr/>
            </p:nvSpPr>
            <p:spPr>
              <a:xfrm>
                <a:off x="1403648" y="2699627"/>
                <a:ext cx="364321" cy="369333"/>
              </a:xfrm>
              <a:prstGeom prst="rect">
                <a:avLst/>
              </a:prstGeom>
              <a:noFill/>
            </p:spPr>
            <p:txBody>
              <a:bodyPr wrap="square" rtlCol="0">
                <a:spAutoFit/>
              </a:bodyPr>
              <a:lstStyle/>
              <a:p>
                <a:endParaRPr lang="en-US" dirty="0"/>
              </a:p>
            </p:txBody>
          </p:sp>
          <p:sp>
            <p:nvSpPr>
              <p:cNvPr id="85" name="TextBox 84"/>
              <p:cNvSpPr txBox="1"/>
              <p:nvPr/>
            </p:nvSpPr>
            <p:spPr>
              <a:xfrm>
                <a:off x="2292796" y="2843643"/>
                <a:ext cx="364321" cy="369333"/>
              </a:xfrm>
              <a:prstGeom prst="rect">
                <a:avLst/>
              </a:prstGeom>
              <a:noFill/>
            </p:spPr>
            <p:txBody>
              <a:bodyPr wrap="square" rtlCol="0">
                <a:spAutoFit/>
              </a:bodyPr>
              <a:lstStyle/>
              <a:p>
                <a:endParaRPr lang="en-US" dirty="0"/>
              </a:p>
            </p:txBody>
          </p:sp>
          <p:sp>
            <p:nvSpPr>
              <p:cNvPr id="86" name="TextBox 85"/>
              <p:cNvSpPr txBox="1"/>
              <p:nvPr/>
            </p:nvSpPr>
            <p:spPr>
              <a:xfrm>
                <a:off x="1403648" y="3203683"/>
                <a:ext cx="364321" cy="369333"/>
              </a:xfrm>
              <a:prstGeom prst="rect">
                <a:avLst/>
              </a:prstGeom>
              <a:noFill/>
            </p:spPr>
            <p:txBody>
              <a:bodyPr wrap="square" rtlCol="0">
                <a:spAutoFit/>
              </a:bodyPr>
              <a:lstStyle/>
              <a:p>
                <a:endParaRPr lang="en-US" dirty="0"/>
              </a:p>
            </p:txBody>
          </p:sp>
          <p:sp>
            <p:nvSpPr>
              <p:cNvPr id="87" name="TextBox 86"/>
              <p:cNvSpPr txBox="1"/>
              <p:nvPr/>
            </p:nvSpPr>
            <p:spPr>
              <a:xfrm>
                <a:off x="1860748" y="3203683"/>
                <a:ext cx="364321" cy="369333"/>
              </a:xfrm>
              <a:prstGeom prst="rect">
                <a:avLst/>
              </a:prstGeom>
              <a:noFill/>
            </p:spPr>
            <p:txBody>
              <a:bodyPr wrap="square" rtlCol="0">
                <a:spAutoFit/>
              </a:bodyPr>
              <a:lstStyle/>
              <a:p>
                <a:endParaRPr lang="en-US" dirty="0"/>
              </a:p>
            </p:txBody>
          </p:sp>
          <p:sp>
            <p:nvSpPr>
              <p:cNvPr id="88" name="TextBox 87"/>
              <p:cNvSpPr txBox="1"/>
              <p:nvPr/>
            </p:nvSpPr>
            <p:spPr>
              <a:xfrm>
                <a:off x="2292796" y="3203683"/>
                <a:ext cx="364321" cy="369333"/>
              </a:xfrm>
              <a:prstGeom prst="rect">
                <a:avLst/>
              </a:prstGeom>
              <a:noFill/>
            </p:spPr>
            <p:txBody>
              <a:bodyPr wrap="square" rtlCol="0">
                <a:spAutoFit/>
              </a:bodyPr>
              <a:lstStyle/>
              <a:p>
                <a:endParaRPr lang="en-US" dirty="0"/>
              </a:p>
            </p:txBody>
          </p:sp>
        </p:grpSp>
        <p:grpSp>
          <p:nvGrpSpPr>
            <p:cNvPr id="75" name="Group 74"/>
            <p:cNvGrpSpPr/>
            <p:nvPr/>
          </p:nvGrpSpPr>
          <p:grpSpPr>
            <a:xfrm>
              <a:off x="1360973" y="3573016"/>
              <a:ext cx="1338819" cy="1224137"/>
              <a:chOff x="1360973" y="2348880"/>
              <a:chExt cx="1338819" cy="1224137"/>
            </a:xfrm>
          </p:grpSpPr>
          <p:cxnSp>
            <p:nvCxnSpPr>
              <p:cNvPr id="76" name="Straight Connector 75"/>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89" name="Group 88"/>
          <p:cNvGrpSpPr/>
          <p:nvPr/>
        </p:nvGrpSpPr>
        <p:grpSpPr>
          <a:xfrm>
            <a:off x="2945149" y="2622108"/>
            <a:ext cx="1338819" cy="1224140"/>
            <a:chOff x="1360973" y="3573016"/>
            <a:chExt cx="1338819" cy="1224140"/>
          </a:xfrm>
        </p:grpSpPr>
        <p:grpSp>
          <p:nvGrpSpPr>
            <p:cNvPr id="90" name="Group 89"/>
            <p:cNvGrpSpPr/>
            <p:nvPr/>
          </p:nvGrpSpPr>
          <p:grpSpPr>
            <a:xfrm>
              <a:off x="1394836" y="3573016"/>
              <a:ext cx="1296144" cy="1224140"/>
              <a:chOff x="1360973" y="2348879"/>
              <a:chExt cx="1296144" cy="1224140"/>
            </a:xfrm>
          </p:grpSpPr>
          <p:sp>
            <p:nvSpPr>
              <p:cNvPr id="96" name="Rectangle 95"/>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p:cNvSpPr txBox="1"/>
              <p:nvPr/>
            </p:nvSpPr>
            <p:spPr>
              <a:xfrm>
                <a:off x="1403648" y="2370084"/>
                <a:ext cx="364321" cy="369333"/>
              </a:xfrm>
              <a:prstGeom prst="rect">
                <a:avLst/>
              </a:prstGeom>
              <a:noFill/>
            </p:spPr>
            <p:txBody>
              <a:bodyPr wrap="square" rtlCol="0">
                <a:spAutoFit/>
              </a:bodyPr>
              <a:lstStyle/>
              <a:p>
                <a:endParaRPr lang="en-US" dirty="0"/>
              </a:p>
            </p:txBody>
          </p:sp>
          <p:sp>
            <p:nvSpPr>
              <p:cNvPr id="98" name="TextBox 97"/>
              <p:cNvSpPr txBox="1"/>
              <p:nvPr/>
            </p:nvSpPr>
            <p:spPr>
              <a:xfrm>
                <a:off x="1860748" y="2348879"/>
                <a:ext cx="364321" cy="369333"/>
              </a:xfrm>
              <a:prstGeom prst="rect">
                <a:avLst/>
              </a:prstGeom>
              <a:noFill/>
            </p:spPr>
            <p:txBody>
              <a:bodyPr wrap="square" rtlCol="0">
                <a:spAutoFit/>
              </a:bodyPr>
              <a:lstStyle/>
              <a:p>
                <a:endParaRPr lang="en-US" dirty="0"/>
              </a:p>
            </p:txBody>
          </p:sp>
          <p:sp>
            <p:nvSpPr>
              <p:cNvPr id="99" name="TextBox 98"/>
              <p:cNvSpPr txBox="1"/>
              <p:nvPr/>
            </p:nvSpPr>
            <p:spPr>
              <a:xfrm>
                <a:off x="2292796" y="2411595"/>
                <a:ext cx="364321" cy="369333"/>
              </a:xfrm>
              <a:prstGeom prst="rect">
                <a:avLst/>
              </a:prstGeom>
              <a:noFill/>
            </p:spPr>
            <p:txBody>
              <a:bodyPr wrap="square" rtlCol="0">
                <a:spAutoFit/>
              </a:bodyPr>
              <a:lstStyle/>
              <a:p>
                <a:endParaRPr lang="en-US" dirty="0"/>
              </a:p>
            </p:txBody>
          </p:sp>
          <p:sp>
            <p:nvSpPr>
              <p:cNvPr id="100" name="TextBox 99"/>
              <p:cNvSpPr txBox="1"/>
              <p:nvPr/>
            </p:nvSpPr>
            <p:spPr>
              <a:xfrm>
                <a:off x="1403648" y="2699627"/>
                <a:ext cx="364321" cy="369333"/>
              </a:xfrm>
              <a:prstGeom prst="rect">
                <a:avLst/>
              </a:prstGeom>
              <a:noFill/>
            </p:spPr>
            <p:txBody>
              <a:bodyPr wrap="square" rtlCol="0">
                <a:spAutoFit/>
              </a:bodyPr>
              <a:lstStyle/>
              <a:p>
                <a:endParaRPr lang="en-US" dirty="0"/>
              </a:p>
            </p:txBody>
          </p:sp>
          <p:sp>
            <p:nvSpPr>
              <p:cNvPr id="101" name="TextBox 100"/>
              <p:cNvSpPr txBox="1"/>
              <p:nvPr/>
            </p:nvSpPr>
            <p:spPr>
              <a:xfrm>
                <a:off x="2292796" y="2843643"/>
                <a:ext cx="364321" cy="369333"/>
              </a:xfrm>
              <a:prstGeom prst="rect">
                <a:avLst/>
              </a:prstGeom>
              <a:noFill/>
            </p:spPr>
            <p:txBody>
              <a:bodyPr wrap="square" rtlCol="0">
                <a:spAutoFit/>
              </a:bodyPr>
              <a:lstStyle/>
              <a:p>
                <a:endParaRPr lang="en-US" dirty="0"/>
              </a:p>
            </p:txBody>
          </p:sp>
          <p:sp>
            <p:nvSpPr>
              <p:cNvPr id="103" name="TextBox 102"/>
              <p:cNvSpPr txBox="1"/>
              <p:nvPr/>
            </p:nvSpPr>
            <p:spPr>
              <a:xfrm>
                <a:off x="1860748" y="3203683"/>
                <a:ext cx="364321" cy="369333"/>
              </a:xfrm>
              <a:prstGeom prst="rect">
                <a:avLst/>
              </a:prstGeom>
              <a:noFill/>
            </p:spPr>
            <p:txBody>
              <a:bodyPr wrap="square" rtlCol="0">
                <a:spAutoFit/>
              </a:bodyPr>
              <a:lstStyle/>
              <a:p>
                <a:endParaRPr lang="en-US" dirty="0"/>
              </a:p>
            </p:txBody>
          </p:sp>
          <p:sp>
            <p:nvSpPr>
              <p:cNvPr id="104" name="TextBox 103"/>
              <p:cNvSpPr txBox="1"/>
              <p:nvPr/>
            </p:nvSpPr>
            <p:spPr>
              <a:xfrm>
                <a:off x="2292796" y="3203683"/>
                <a:ext cx="364321" cy="369333"/>
              </a:xfrm>
              <a:prstGeom prst="rect">
                <a:avLst/>
              </a:prstGeom>
              <a:noFill/>
            </p:spPr>
            <p:txBody>
              <a:bodyPr wrap="square" rtlCol="0">
                <a:spAutoFit/>
              </a:bodyPr>
              <a:lstStyle/>
              <a:p>
                <a:endParaRPr lang="en-US" dirty="0"/>
              </a:p>
            </p:txBody>
          </p:sp>
        </p:grpSp>
        <p:grpSp>
          <p:nvGrpSpPr>
            <p:cNvPr id="91" name="Group 90"/>
            <p:cNvGrpSpPr/>
            <p:nvPr/>
          </p:nvGrpSpPr>
          <p:grpSpPr>
            <a:xfrm>
              <a:off x="1360973" y="3573016"/>
              <a:ext cx="1338819" cy="1224137"/>
              <a:chOff x="1360973" y="2348880"/>
              <a:chExt cx="1338819" cy="1224137"/>
            </a:xfrm>
          </p:grpSpPr>
          <p:cxnSp>
            <p:nvCxnSpPr>
              <p:cNvPr id="92" name="Straight Connector 91"/>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05" name="Group 104"/>
          <p:cNvGrpSpPr/>
          <p:nvPr/>
        </p:nvGrpSpPr>
        <p:grpSpPr>
          <a:xfrm>
            <a:off x="2906685" y="4184958"/>
            <a:ext cx="1338819" cy="1224140"/>
            <a:chOff x="1360973" y="3573016"/>
            <a:chExt cx="1338819" cy="1224140"/>
          </a:xfrm>
        </p:grpSpPr>
        <p:grpSp>
          <p:nvGrpSpPr>
            <p:cNvPr id="106" name="Group 105"/>
            <p:cNvGrpSpPr/>
            <p:nvPr/>
          </p:nvGrpSpPr>
          <p:grpSpPr>
            <a:xfrm>
              <a:off x="1394836" y="3573016"/>
              <a:ext cx="1296144" cy="1224140"/>
              <a:chOff x="1360973" y="2348879"/>
              <a:chExt cx="1296144" cy="1224140"/>
            </a:xfrm>
          </p:grpSpPr>
          <p:sp>
            <p:nvSpPr>
              <p:cNvPr id="112" name="Rectangle 111"/>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TextBox 112"/>
              <p:cNvSpPr txBox="1"/>
              <p:nvPr/>
            </p:nvSpPr>
            <p:spPr>
              <a:xfrm>
                <a:off x="1403648" y="2370084"/>
                <a:ext cx="364321" cy="369333"/>
              </a:xfrm>
              <a:prstGeom prst="rect">
                <a:avLst/>
              </a:prstGeom>
              <a:noFill/>
            </p:spPr>
            <p:txBody>
              <a:bodyPr wrap="square" rtlCol="0">
                <a:spAutoFit/>
              </a:bodyPr>
              <a:lstStyle/>
              <a:p>
                <a:endParaRPr lang="en-US" dirty="0"/>
              </a:p>
            </p:txBody>
          </p:sp>
          <p:sp>
            <p:nvSpPr>
              <p:cNvPr id="114" name="TextBox 113"/>
              <p:cNvSpPr txBox="1"/>
              <p:nvPr/>
            </p:nvSpPr>
            <p:spPr>
              <a:xfrm>
                <a:off x="1860748" y="2348879"/>
                <a:ext cx="364321" cy="369333"/>
              </a:xfrm>
              <a:prstGeom prst="rect">
                <a:avLst/>
              </a:prstGeom>
              <a:noFill/>
            </p:spPr>
            <p:txBody>
              <a:bodyPr wrap="square" rtlCol="0">
                <a:spAutoFit/>
              </a:bodyPr>
              <a:lstStyle/>
              <a:p>
                <a:endParaRPr lang="en-US" dirty="0"/>
              </a:p>
            </p:txBody>
          </p:sp>
          <p:sp>
            <p:nvSpPr>
              <p:cNvPr id="115" name="TextBox 114"/>
              <p:cNvSpPr txBox="1"/>
              <p:nvPr/>
            </p:nvSpPr>
            <p:spPr>
              <a:xfrm>
                <a:off x="2292796" y="2411595"/>
                <a:ext cx="364321" cy="369333"/>
              </a:xfrm>
              <a:prstGeom prst="rect">
                <a:avLst/>
              </a:prstGeom>
              <a:noFill/>
            </p:spPr>
            <p:txBody>
              <a:bodyPr wrap="square" rtlCol="0">
                <a:spAutoFit/>
              </a:bodyPr>
              <a:lstStyle/>
              <a:p>
                <a:endParaRPr lang="en-US" dirty="0"/>
              </a:p>
            </p:txBody>
          </p:sp>
          <p:sp>
            <p:nvSpPr>
              <p:cNvPr id="116" name="TextBox 115"/>
              <p:cNvSpPr txBox="1"/>
              <p:nvPr/>
            </p:nvSpPr>
            <p:spPr>
              <a:xfrm>
                <a:off x="1403648" y="2699627"/>
                <a:ext cx="364321" cy="369332"/>
              </a:xfrm>
              <a:prstGeom prst="rect">
                <a:avLst/>
              </a:prstGeom>
              <a:noFill/>
            </p:spPr>
            <p:txBody>
              <a:bodyPr wrap="square" rtlCol="0">
                <a:spAutoFit/>
              </a:bodyPr>
              <a:lstStyle/>
              <a:p>
                <a:endParaRPr lang="en-US" dirty="0"/>
              </a:p>
            </p:txBody>
          </p:sp>
          <p:sp>
            <p:nvSpPr>
              <p:cNvPr id="117" name="TextBox 116"/>
              <p:cNvSpPr txBox="1"/>
              <p:nvPr/>
            </p:nvSpPr>
            <p:spPr>
              <a:xfrm>
                <a:off x="2292796" y="2843643"/>
                <a:ext cx="364321" cy="369333"/>
              </a:xfrm>
              <a:prstGeom prst="rect">
                <a:avLst/>
              </a:prstGeom>
              <a:noFill/>
            </p:spPr>
            <p:txBody>
              <a:bodyPr wrap="square" rtlCol="0">
                <a:spAutoFit/>
              </a:bodyPr>
              <a:lstStyle/>
              <a:p>
                <a:endParaRPr lang="en-US" dirty="0"/>
              </a:p>
            </p:txBody>
          </p:sp>
          <p:sp>
            <p:nvSpPr>
              <p:cNvPr id="119" name="TextBox 118"/>
              <p:cNvSpPr txBox="1"/>
              <p:nvPr/>
            </p:nvSpPr>
            <p:spPr>
              <a:xfrm>
                <a:off x="1860748" y="3203683"/>
                <a:ext cx="364321" cy="369333"/>
              </a:xfrm>
              <a:prstGeom prst="rect">
                <a:avLst/>
              </a:prstGeom>
              <a:noFill/>
            </p:spPr>
            <p:txBody>
              <a:bodyPr wrap="square" rtlCol="0">
                <a:spAutoFit/>
              </a:bodyPr>
              <a:lstStyle/>
              <a:p>
                <a:endParaRPr lang="en-US" dirty="0"/>
              </a:p>
            </p:txBody>
          </p:sp>
        </p:grpSp>
        <p:grpSp>
          <p:nvGrpSpPr>
            <p:cNvPr id="107" name="Group 106"/>
            <p:cNvGrpSpPr/>
            <p:nvPr/>
          </p:nvGrpSpPr>
          <p:grpSpPr>
            <a:xfrm>
              <a:off x="1360973" y="3573016"/>
              <a:ext cx="1338819" cy="1224137"/>
              <a:chOff x="1360973" y="2348880"/>
              <a:chExt cx="1338819" cy="1224137"/>
            </a:xfrm>
          </p:grpSpPr>
          <p:cxnSp>
            <p:nvCxnSpPr>
              <p:cNvPr id="108" name="Straight Connector 107"/>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21" name="Group 120"/>
          <p:cNvGrpSpPr/>
          <p:nvPr/>
        </p:nvGrpSpPr>
        <p:grpSpPr>
          <a:xfrm>
            <a:off x="3042457" y="5633108"/>
            <a:ext cx="1338819" cy="1284547"/>
            <a:chOff x="1360973" y="3573016"/>
            <a:chExt cx="1338819" cy="1284547"/>
          </a:xfrm>
        </p:grpSpPr>
        <p:grpSp>
          <p:nvGrpSpPr>
            <p:cNvPr id="122" name="Group 121"/>
            <p:cNvGrpSpPr/>
            <p:nvPr/>
          </p:nvGrpSpPr>
          <p:grpSpPr>
            <a:xfrm>
              <a:off x="1394836" y="3573016"/>
              <a:ext cx="1296144" cy="1284547"/>
              <a:chOff x="1360973" y="2348879"/>
              <a:chExt cx="1296144" cy="1284547"/>
            </a:xfrm>
          </p:grpSpPr>
          <p:sp>
            <p:nvSpPr>
              <p:cNvPr id="128" name="Rectangle 127"/>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TextBox 128"/>
              <p:cNvSpPr txBox="1"/>
              <p:nvPr/>
            </p:nvSpPr>
            <p:spPr>
              <a:xfrm>
                <a:off x="1403648" y="2370084"/>
                <a:ext cx="364321" cy="369333"/>
              </a:xfrm>
              <a:prstGeom prst="rect">
                <a:avLst/>
              </a:prstGeom>
              <a:noFill/>
            </p:spPr>
            <p:txBody>
              <a:bodyPr wrap="square" rtlCol="0">
                <a:spAutoFit/>
              </a:bodyPr>
              <a:lstStyle/>
              <a:p>
                <a:endParaRPr lang="en-US" dirty="0"/>
              </a:p>
            </p:txBody>
          </p:sp>
          <p:sp>
            <p:nvSpPr>
              <p:cNvPr id="130" name="TextBox 129"/>
              <p:cNvSpPr txBox="1"/>
              <p:nvPr/>
            </p:nvSpPr>
            <p:spPr>
              <a:xfrm>
                <a:off x="1860748" y="2348879"/>
                <a:ext cx="364321" cy="369333"/>
              </a:xfrm>
              <a:prstGeom prst="rect">
                <a:avLst/>
              </a:prstGeom>
              <a:noFill/>
            </p:spPr>
            <p:txBody>
              <a:bodyPr wrap="square" rtlCol="0">
                <a:spAutoFit/>
              </a:bodyPr>
              <a:lstStyle/>
              <a:p>
                <a:endParaRPr lang="en-US" dirty="0"/>
              </a:p>
            </p:txBody>
          </p:sp>
          <p:sp>
            <p:nvSpPr>
              <p:cNvPr id="131" name="TextBox 130"/>
              <p:cNvSpPr txBox="1"/>
              <p:nvPr/>
            </p:nvSpPr>
            <p:spPr>
              <a:xfrm>
                <a:off x="2292796" y="2411595"/>
                <a:ext cx="364321" cy="369333"/>
              </a:xfrm>
              <a:prstGeom prst="rect">
                <a:avLst/>
              </a:prstGeom>
              <a:noFill/>
            </p:spPr>
            <p:txBody>
              <a:bodyPr wrap="square" rtlCol="0">
                <a:spAutoFit/>
              </a:bodyPr>
              <a:lstStyle/>
              <a:p>
                <a:endParaRPr lang="en-US" dirty="0"/>
              </a:p>
            </p:txBody>
          </p:sp>
          <p:sp>
            <p:nvSpPr>
              <p:cNvPr id="132" name="TextBox 131"/>
              <p:cNvSpPr txBox="1"/>
              <p:nvPr/>
            </p:nvSpPr>
            <p:spPr>
              <a:xfrm>
                <a:off x="1403648" y="2911434"/>
                <a:ext cx="364321" cy="307777"/>
              </a:xfrm>
              <a:prstGeom prst="rect">
                <a:avLst/>
              </a:prstGeom>
              <a:noFill/>
            </p:spPr>
            <p:txBody>
              <a:bodyPr wrap="square" rtlCol="0">
                <a:spAutoFit/>
              </a:bodyPr>
              <a:lstStyle/>
              <a:p>
                <a:endParaRPr lang="en-US" sz="1400" dirty="0"/>
              </a:p>
            </p:txBody>
          </p:sp>
          <p:sp>
            <p:nvSpPr>
              <p:cNvPr id="133" name="TextBox 132"/>
              <p:cNvSpPr txBox="1"/>
              <p:nvPr/>
            </p:nvSpPr>
            <p:spPr>
              <a:xfrm>
                <a:off x="2136573" y="2881221"/>
                <a:ext cx="364321" cy="307777"/>
              </a:xfrm>
              <a:prstGeom prst="rect">
                <a:avLst/>
              </a:prstGeom>
              <a:noFill/>
            </p:spPr>
            <p:txBody>
              <a:bodyPr wrap="square" rtlCol="0">
                <a:spAutoFit/>
              </a:bodyPr>
              <a:lstStyle/>
              <a:p>
                <a:endParaRPr lang="en-US" sz="1400" dirty="0"/>
              </a:p>
            </p:txBody>
          </p:sp>
          <p:sp>
            <p:nvSpPr>
              <p:cNvPr id="134" name="TextBox 133"/>
              <p:cNvSpPr txBox="1"/>
              <p:nvPr/>
            </p:nvSpPr>
            <p:spPr>
              <a:xfrm>
                <a:off x="1403648" y="3325649"/>
                <a:ext cx="364321" cy="307777"/>
              </a:xfrm>
              <a:prstGeom prst="rect">
                <a:avLst/>
              </a:prstGeom>
              <a:noFill/>
            </p:spPr>
            <p:txBody>
              <a:bodyPr wrap="square" rtlCol="0">
                <a:spAutoFit/>
              </a:bodyPr>
              <a:lstStyle/>
              <a:p>
                <a:endParaRPr lang="en-US" sz="1400" dirty="0"/>
              </a:p>
            </p:txBody>
          </p:sp>
          <p:sp>
            <p:nvSpPr>
              <p:cNvPr id="135" name="TextBox 134"/>
              <p:cNvSpPr txBox="1"/>
              <p:nvPr/>
            </p:nvSpPr>
            <p:spPr>
              <a:xfrm>
                <a:off x="1860748" y="3203683"/>
                <a:ext cx="364321" cy="369333"/>
              </a:xfrm>
              <a:prstGeom prst="rect">
                <a:avLst/>
              </a:prstGeom>
              <a:noFill/>
            </p:spPr>
            <p:txBody>
              <a:bodyPr wrap="square" rtlCol="0">
                <a:spAutoFit/>
              </a:bodyPr>
              <a:lstStyle/>
              <a:p>
                <a:endParaRPr lang="en-US" dirty="0"/>
              </a:p>
            </p:txBody>
          </p:sp>
          <p:sp>
            <p:nvSpPr>
              <p:cNvPr id="136" name="TextBox 135"/>
              <p:cNvSpPr txBox="1"/>
              <p:nvPr/>
            </p:nvSpPr>
            <p:spPr>
              <a:xfrm>
                <a:off x="2136573" y="3293378"/>
                <a:ext cx="364321" cy="307777"/>
              </a:xfrm>
              <a:prstGeom prst="rect">
                <a:avLst/>
              </a:prstGeom>
              <a:noFill/>
            </p:spPr>
            <p:txBody>
              <a:bodyPr wrap="square" rtlCol="0">
                <a:spAutoFit/>
              </a:bodyPr>
              <a:lstStyle/>
              <a:p>
                <a:endParaRPr lang="en-US" sz="1400" dirty="0"/>
              </a:p>
            </p:txBody>
          </p:sp>
        </p:grpSp>
        <p:grpSp>
          <p:nvGrpSpPr>
            <p:cNvPr id="123" name="Group 122"/>
            <p:cNvGrpSpPr/>
            <p:nvPr/>
          </p:nvGrpSpPr>
          <p:grpSpPr>
            <a:xfrm>
              <a:off x="1360973" y="3573016"/>
              <a:ext cx="1338819" cy="1224137"/>
              <a:chOff x="1360973" y="2348880"/>
              <a:chExt cx="1338819" cy="1224137"/>
            </a:xfrm>
          </p:grpSpPr>
          <p:cxnSp>
            <p:nvCxnSpPr>
              <p:cNvPr id="124" name="Straight Connector 123"/>
              <p:cNvCxnSpPr/>
              <p:nvPr/>
            </p:nvCxnSpPr>
            <p:spPr>
              <a:xfrm>
                <a:off x="1894611"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37" name="Group 136"/>
          <p:cNvGrpSpPr/>
          <p:nvPr/>
        </p:nvGrpSpPr>
        <p:grpSpPr>
          <a:xfrm>
            <a:off x="6545549" y="1268760"/>
            <a:ext cx="1338819" cy="1301464"/>
            <a:chOff x="1360973" y="3573016"/>
            <a:chExt cx="1338819" cy="1301464"/>
          </a:xfrm>
        </p:grpSpPr>
        <p:grpSp>
          <p:nvGrpSpPr>
            <p:cNvPr id="138" name="Group 137"/>
            <p:cNvGrpSpPr/>
            <p:nvPr/>
          </p:nvGrpSpPr>
          <p:grpSpPr>
            <a:xfrm>
              <a:off x="1394836" y="3573016"/>
              <a:ext cx="1232948" cy="1301464"/>
              <a:chOff x="1360973" y="2348879"/>
              <a:chExt cx="1232948" cy="1301464"/>
            </a:xfrm>
          </p:grpSpPr>
          <p:sp>
            <p:nvSpPr>
              <p:cNvPr id="144" name="Rectangle 143"/>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TextBox 144"/>
              <p:cNvSpPr txBox="1"/>
              <p:nvPr/>
            </p:nvSpPr>
            <p:spPr>
              <a:xfrm>
                <a:off x="1403648" y="2432714"/>
                <a:ext cx="364321" cy="369333"/>
              </a:xfrm>
              <a:prstGeom prst="rect">
                <a:avLst/>
              </a:prstGeom>
              <a:noFill/>
            </p:spPr>
            <p:txBody>
              <a:bodyPr wrap="square" rtlCol="0">
                <a:spAutoFit/>
              </a:bodyPr>
              <a:lstStyle/>
              <a:p>
                <a:endParaRPr lang="en-US" dirty="0"/>
              </a:p>
            </p:txBody>
          </p:sp>
          <p:sp>
            <p:nvSpPr>
              <p:cNvPr id="146" name="TextBox 145"/>
              <p:cNvSpPr txBox="1"/>
              <p:nvPr/>
            </p:nvSpPr>
            <p:spPr>
              <a:xfrm>
                <a:off x="1860748" y="2348879"/>
                <a:ext cx="364321" cy="369333"/>
              </a:xfrm>
              <a:prstGeom prst="rect">
                <a:avLst/>
              </a:prstGeom>
              <a:noFill/>
            </p:spPr>
            <p:txBody>
              <a:bodyPr wrap="square" rtlCol="0">
                <a:spAutoFit/>
              </a:bodyPr>
              <a:lstStyle/>
              <a:p>
                <a:endParaRPr lang="en-US" dirty="0"/>
              </a:p>
            </p:txBody>
          </p:sp>
          <p:sp>
            <p:nvSpPr>
              <p:cNvPr id="147" name="TextBox 146"/>
              <p:cNvSpPr txBox="1"/>
              <p:nvPr/>
            </p:nvSpPr>
            <p:spPr>
              <a:xfrm>
                <a:off x="2161873" y="2474225"/>
                <a:ext cx="364321" cy="369332"/>
              </a:xfrm>
              <a:prstGeom prst="rect">
                <a:avLst/>
              </a:prstGeom>
              <a:noFill/>
            </p:spPr>
            <p:txBody>
              <a:bodyPr wrap="square" rtlCol="0">
                <a:spAutoFit/>
              </a:bodyPr>
              <a:lstStyle/>
              <a:p>
                <a:endParaRPr lang="en-US" dirty="0"/>
              </a:p>
            </p:txBody>
          </p:sp>
          <p:sp>
            <p:nvSpPr>
              <p:cNvPr id="149" name="TextBox 148"/>
              <p:cNvSpPr txBox="1"/>
              <p:nvPr/>
            </p:nvSpPr>
            <p:spPr>
              <a:xfrm>
                <a:off x="2229600" y="2881221"/>
                <a:ext cx="364321" cy="369333"/>
              </a:xfrm>
              <a:prstGeom prst="rect">
                <a:avLst/>
              </a:prstGeom>
              <a:noFill/>
            </p:spPr>
            <p:txBody>
              <a:bodyPr wrap="square" rtlCol="0">
                <a:spAutoFit/>
              </a:bodyPr>
              <a:lstStyle/>
              <a:p>
                <a:endParaRPr lang="en-US" dirty="0"/>
              </a:p>
            </p:txBody>
          </p:sp>
          <p:sp>
            <p:nvSpPr>
              <p:cNvPr id="150" name="TextBox 149"/>
              <p:cNvSpPr txBox="1"/>
              <p:nvPr/>
            </p:nvSpPr>
            <p:spPr>
              <a:xfrm>
                <a:off x="1403648" y="3320747"/>
                <a:ext cx="364321" cy="307777"/>
              </a:xfrm>
              <a:prstGeom prst="rect">
                <a:avLst/>
              </a:prstGeom>
              <a:noFill/>
            </p:spPr>
            <p:txBody>
              <a:bodyPr wrap="square" rtlCol="0">
                <a:spAutoFit/>
              </a:bodyPr>
              <a:lstStyle/>
              <a:p>
                <a:endParaRPr lang="en-US" sz="1400" dirty="0"/>
              </a:p>
            </p:txBody>
          </p:sp>
          <p:sp>
            <p:nvSpPr>
              <p:cNvPr id="151" name="TextBox 150"/>
              <p:cNvSpPr txBox="1"/>
              <p:nvPr/>
            </p:nvSpPr>
            <p:spPr>
              <a:xfrm>
                <a:off x="1860748" y="3281010"/>
                <a:ext cx="364321" cy="369333"/>
              </a:xfrm>
              <a:prstGeom prst="rect">
                <a:avLst/>
              </a:prstGeom>
              <a:noFill/>
            </p:spPr>
            <p:txBody>
              <a:bodyPr wrap="square" rtlCol="0">
                <a:spAutoFit/>
              </a:bodyPr>
              <a:lstStyle/>
              <a:p>
                <a:endParaRPr lang="en-US" dirty="0"/>
              </a:p>
            </p:txBody>
          </p:sp>
          <p:sp>
            <p:nvSpPr>
              <p:cNvPr id="152" name="TextBox 151"/>
              <p:cNvSpPr txBox="1"/>
              <p:nvPr/>
            </p:nvSpPr>
            <p:spPr>
              <a:xfrm>
                <a:off x="2161873" y="3320747"/>
                <a:ext cx="364321" cy="307777"/>
              </a:xfrm>
              <a:prstGeom prst="rect">
                <a:avLst/>
              </a:prstGeom>
              <a:noFill/>
            </p:spPr>
            <p:txBody>
              <a:bodyPr wrap="square" rtlCol="0">
                <a:spAutoFit/>
              </a:bodyPr>
              <a:lstStyle/>
              <a:p>
                <a:endParaRPr lang="en-US" sz="1400" dirty="0"/>
              </a:p>
            </p:txBody>
          </p:sp>
        </p:grpSp>
        <p:grpSp>
          <p:nvGrpSpPr>
            <p:cNvPr id="139" name="Group 138"/>
            <p:cNvGrpSpPr/>
            <p:nvPr/>
          </p:nvGrpSpPr>
          <p:grpSpPr>
            <a:xfrm>
              <a:off x="1360973" y="3573016"/>
              <a:ext cx="1338819" cy="1224137"/>
              <a:chOff x="1360973" y="2348880"/>
              <a:chExt cx="1338819" cy="1224137"/>
            </a:xfrm>
          </p:grpSpPr>
          <p:cxnSp>
            <p:nvCxnSpPr>
              <p:cNvPr id="140" name="Straight Connector 139"/>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53" name="Group 152"/>
          <p:cNvGrpSpPr/>
          <p:nvPr/>
        </p:nvGrpSpPr>
        <p:grpSpPr>
          <a:xfrm>
            <a:off x="4673341" y="3311694"/>
            <a:ext cx="1338819" cy="1316390"/>
            <a:chOff x="1360973" y="3573016"/>
            <a:chExt cx="1338819" cy="1316390"/>
          </a:xfrm>
        </p:grpSpPr>
        <p:grpSp>
          <p:nvGrpSpPr>
            <p:cNvPr id="154" name="Group 153"/>
            <p:cNvGrpSpPr/>
            <p:nvPr/>
          </p:nvGrpSpPr>
          <p:grpSpPr>
            <a:xfrm>
              <a:off x="1394836" y="3573016"/>
              <a:ext cx="1160239" cy="1316390"/>
              <a:chOff x="1360973" y="2348879"/>
              <a:chExt cx="1160239" cy="1316390"/>
            </a:xfrm>
          </p:grpSpPr>
          <p:sp>
            <p:nvSpPr>
              <p:cNvPr id="160" name="Rectangle 159"/>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TextBox 160"/>
              <p:cNvSpPr txBox="1"/>
              <p:nvPr/>
            </p:nvSpPr>
            <p:spPr>
              <a:xfrm>
                <a:off x="1403648" y="2445240"/>
                <a:ext cx="364321" cy="369333"/>
              </a:xfrm>
              <a:prstGeom prst="rect">
                <a:avLst/>
              </a:prstGeom>
              <a:noFill/>
            </p:spPr>
            <p:txBody>
              <a:bodyPr wrap="square" rtlCol="0">
                <a:spAutoFit/>
              </a:bodyPr>
              <a:lstStyle/>
              <a:p>
                <a:endParaRPr lang="en-US" dirty="0"/>
              </a:p>
            </p:txBody>
          </p:sp>
          <p:sp>
            <p:nvSpPr>
              <p:cNvPr id="162" name="TextBox 161"/>
              <p:cNvSpPr txBox="1"/>
              <p:nvPr/>
            </p:nvSpPr>
            <p:spPr>
              <a:xfrm>
                <a:off x="1860748" y="2348879"/>
                <a:ext cx="364321" cy="369333"/>
              </a:xfrm>
              <a:prstGeom prst="rect">
                <a:avLst/>
              </a:prstGeom>
              <a:noFill/>
            </p:spPr>
            <p:txBody>
              <a:bodyPr wrap="square" rtlCol="0">
                <a:spAutoFit/>
              </a:bodyPr>
              <a:lstStyle/>
              <a:p>
                <a:endParaRPr lang="en-US" dirty="0"/>
              </a:p>
            </p:txBody>
          </p:sp>
          <p:sp>
            <p:nvSpPr>
              <p:cNvPr id="163" name="TextBox 162"/>
              <p:cNvSpPr txBox="1"/>
              <p:nvPr/>
            </p:nvSpPr>
            <p:spPr>
              <a:xfrm>
                <a:off x="2119198" y="2486751"/>
                <a:ext cx="364321" cy="307777"/>
              </a:xfrm>
              <a:prstGeom prst="rect">
                <a:avLst/>
              </a:prstGeom>
              <a:noFill/>
            </p:spPr>
            <p:txBody>
              <a:bodyPr wrap="square" rtlCol="0">
                <a:spAutoFit/>
              </a:bodyPr>
              <a:lstStyle/>
              <a:p>
                <a:endParaRPr lang="en-US" sz="1400" dirty="0"/>
              </a:p>
            </p:txBody>
          </p:sp>
          <p:sp>
            <p:nvSpPr>
              <p:cNvPr id="164" name="TextBox 163"/>
              <p:cNvSpPr txBox="1"/>
              <p:nvPr/>
            </p:nvSpPr>
            <p:spPr>
              <a:xfrm>
                <a:off x="1403648" y="2874991"/>
                <a:ext cx="364321" cy="369333"/>
              </a:xfrm>
              <a:prstGeom prst="rect">
                <a:avLst/>
              </a:prstGeom>
              <a:noFill/>
            </p:spPr>
            <p:txBody>
              <a:bodyPr wrap="square" rtlCol="0">
                <a:spAutoFit/>
              </a:bodyPr>
              <a:lstStyle/>
              <a:p>
                <a:endParaRPr lang="en-US" dirty="0"/>
              </a:p>
            </p:txBody>
          </p:sp>
          <p:sp>
            <p:nvSpPr>
              <p:cNvPr id="166" name="TextBox 165"/>
              <p:cNvSpPr txBox="1"/>
              <p:nvPr/>
            </p:nvSpPr>
            <p:spPr>
              <a:xfrm>
                <a:off x="1403648" y="3274032"/>
                <a:ext cx="364321" cy="369333"/>
              </a:xfrm>
              <a:prstGeom prst="rect">
                <a:avLst/>
              </a:prstGeom>
              <a:noFill/>
            </p:spPr>
            <p:txBody>
              <a:bodyPr wrap="square" rtlCol="0">
                <a:spAutoFit/>
              </a:bodyPr>
              <a:lstStyle/>
              <a:p>
                <a:endParaRPr lang="en-US" dirty="0"/>
              </a:p>
            </p:txBody>
          </p:sp>
          <p:sp>
            <p:nvSpPr>
              <p:cNvPr id="167" name="TextBox 166"/>
              <p:cNvSpPr txBox="1"/>
              <p:nvPr/>
            </p:nvSpPr>
            <p:spPr>
              <a:xfrm>
                <a:off x="1860748" y="3295936"/>
                <a:ext cx="364321" cy="369333"/>
              </a:xfrm>
              <a:prstGeom prst="rect">
                <a:avLst/>
              </a:prstGeom>
              <a:noFill/>
            </p:spPr>
            <p:txBody>
              <a:bodyPr wrap="square" rtlCol="0">
                <a:spAutoFit/>
              </a:bodyPr>
              <a:lstStyle/>
              <a:p>
                <a:endParaRPr lang="en-US" dirty="0"/>
              </a:p>
            </p:txBody>
          </p:sp>
          <p:sp>
            <p:nvSpPr>
              <p:cNvPr id="168" name="TextBox 167"/>
              <p:cNvSpPr txBox="1"/>
              <p:nvPr/>
            </p:nvSpPr>
            <p:spPr>
              <a:xfrm>
                <a:off x="2119198" y="3310536"/>
                <a:ext cx="364321" cy="307777"/>
              </a:xfrm>
              <a:prstGeom prst="rect">
                <a:avLst/>
              </a:prstGeom>
              <a:noFill/>
            </p:spPr>
            <p:txBody>
              <a:bodyPr wrap="square" rtlCol="0">
                <a:spAutoFit/>
              </a:bodyPr>
              <a:lstStyle/>
              <a:p>
                <a:endParaRPr lang="en-US" sz="1400" dirty="0"/>
              </a:p>
            </p:txBody>
          </p:sp>
        </p:grpSp>
        <p:grpSp>
          <p:nvGrpSpPr>
            <p:cNvPr id="155" name="Group 154"/>
            <p:cNvGrpSpPr/>
            <p:nvPr/>
          </p:nvGrpSpPr>
          <p:grpSpPr>
            <a:xfrm>
              <a:off x="1360973" y="3573016"/>
              <a:ext cx="1338819" cy="1224137"/>
              <a:chOff x="1360973" y="2348880"/>
              <a:chExt cx="1338819" cy="1224137"/>
            </a:xfrm>
          </p:grpSpPr>
          <p:cxnSp>
            <p:nvCxnSpPr>
              <p:cNvPr id="156" name="Straight Connector 155"/>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69" name="Group 168"/>
          <p:cNvGrpSpPr/>
          <p:nvPr/>
        </p:nvGrpSpPr>
        <p:grpSpPr>
          <a:xfrm>
            <a:off x="6482126" y="3309411"/>
            <a:ext cx="1330234" cy="1271718"/>
            <a:chOff x="1326883" y="3575381"/>
            <a:chExt cx="1330234" cy="1271718"/>
          </a:xfrm>
        </p:grpSpPr>
        <p:grpSp>
          <p:nvGrpSpPr>
            <p:cNvPr id="170" name="Group 169"/>
            <p:cNvGrpSpPr/>
            <p:nvPr/>
          </p:nvGrpSpPr>
          <p:grpSpPr>
            <a:xfrm>
              <a:off x="1394836" y="3594221"/>
              <a:ext cx="1160239" cy="1229058"/>
              <a:chOff x="1360973" y="2370084"/>
              <a:chExt cx="1160239" cy="1229058"/>
            </a:xfrm>
          </p:grpSpPr>
          <p:sp>
            <p:nvSpPr>
              <p:cNvPr id="176" name="Rectangle 175"/>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TextBox 176"/>
              <p:cNvSpPr txBox="1"/>
              <p:nvPr/>
            </p:nvSpPr>
            <p:spPr>
              <a:xfrm>
                <a:off x="1403648" y="2432714"/>
                <a:ext cx="364321" cy="369332"/>
              </a:xfrm>
              <a:prstGeom prst="rect">
                <a:avLst/>
              </a:prstGeom>
              <a:noFill/>
            </p:spPr>
            <p:txBody>
              <a:bodyPr wrap="square" rtlCol="0">
                <a:spAutoFit/>
              </a:bodyPr>
              <a:lstStyle/>
              <a:p>
                <a:endParaRPr lang="en-US" dirty="0"/>
              </a:p>
            </p:txBody>
          </p:sp>
          <p:sp>
            <p:nvSpPr>
              <p:cNvPr id="182" name="TextBox 181"/>
              <p:cNvSpPr txBox="1"/>
              <p:nvPr/>
            </p:nvSpPr>
            <p:spPr>
              <a:xfrm>
                <a:off x="1403648" y="3253787"/>
                <a:ext cx="364321" cy="307777"/>
              </a:xfrm>
              <a:prstGeom prst="rect">
                <a:avLst/>
              </a:prstGeom>
              <a:noFill/>
            </p:spPr>
            <p:txBody>
              <a:bodyPr wrap="square" rtlCol="0">
                <a:spAutoFit/>
              </a:bodyPr>
              <a:lstStyle/>
              <a:p>
                <a:endParaRPr lang="en-US" sz="1400" dirty="0"/>
              </a:p>
            </p:txBody>
          </p:sp>
          <p:sp>
            <p:nvSpPr>
              <p:cNvPr id="184" name="TextBox 183"/>
              <p:cNvSpPr txBox="1"/>
              <p:nvPr/>
            </p:nvSpPr>
            <p:spPr>
              <a:xfrm>
                <a:off x="2119198" y="3291365"/>
                <a:ext cx="364321" cy="307777"/>
              </a:xfrm>
              <a:prstGeom prst="rect">
                <a:avLst/>
              </a:prstGeom>
              <a:noFill/>
            </p:spPr>
            <p:txBody>
              <a:bodyPr wrap="square" rtlCol="0">
                <a:spAutoFit/>
              </a:bodyPr>
              <a:lstStyle/>
              <a:p>
                <a:endParaRPr lang="en-US" sz="1400" dirty="0"/>
              </a:p>
            </p:txBody>
          </p:sp>
        </p:grpSp>
        <p:grpSp>
          <p:nvGrpSpPr>
            <p:cNvPr id="171" name="Group 170"/>
            <p:cNvGrpSpPr/>
            <p:nvPr/>
          </p:nvGrpSpPr>
          <p:grpSpPr>
            <a:xfrm>
              <a:off x="1326883" y="3575381"/>
              <a:ext cx="1330234" cy="1271718"/>
              <a:chOff x="1326883" y="2351245"/>
              <a:chExt cx="1330234" cy="1271718"/>
            </a:xfrm>
          </p:grpSpPr>
          <p:cxnSp>
            <p:nvCxnSpPr>
              <p:cNvPr id="172" name="Straight Connector 171"/>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2195736" y="2398826"/>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326883" y="3027227"/>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23" name="Oval 22"/>
          <p:cNvSpPr/>
          <p:nvPr/>
        </p:nvSpPr>
        <p:spPr>
          <a:xfrm>
            <a:off x="-36512" y="3806458"/>
            <a:ext cx="720080" cy="8803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p:cNvSpPr/>
          <p:nvPr/>
        </p:nvSpPr>
        <p:spPr>
          <a:xfrm>
            <a:off x="8244408" y="5195303"/>
            <a:ext cx="720080" cy="8803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8244408" y="5479219"/>
            <a:ext cx="683568" cy="307777"/>
          </a:xfrm>
          <a:prstGeom prst="rect">
            <a:avLst/>
          </a:prstGeom>
          <a:noFill/>
        </p:spPr>
        <p:txBody>
          <a:bodyPr wrap="square" rtlCol="0">
            <a:spAutoFit/>
          </a:bodyPr>
          <a:lstStyle/>
          <a:p>
            <a:r>
              <a:rPr lang="en-US" sz="1400" b="1" dirty="0" smtClean="0"/>
              <a:t>FINISH</a:t>
            </a:r>
            <a:endParaRPr lang="en-US" sz="1400" b="1" dirty="0"/>
          </a:p>
        </p:txBody>
      </p:sp>
      <p:sp>
        <p:nvSpPr>
          <p:cNvPr id="189" name="TextBox 188"/>
          <p:cNvSpPr txBox="1"/>
          <p:nvPr/>
        </p:nvSpPr>
        <p:spPr>
          <a:xfrm>
            <a:off x="0" y="4119462"/>
            <a:ext cx="683568" cy="307777"/>
          </a:xfrm>
          <a:prstGeom prst="rect">
            <a:avLst/>
          </a:prstGeom>
          <a:noFill/>
        </p:spPr>
        <p:txBody>
          <a:bodyPr wrap="square" rtlCol="0">
            <a:spAutoFit/>
          </a:bodyPr>
          <a:lstStyle/>
          <a:p>
            <a:r>
              <a:rPr lang="en-US" sz="1400" b="1" dirty="0" smtClean="0"/>
              <a:t>START</a:t>
            </a:r>
            <a:endParaRPr lang="en-US" sz="1400" b="1" dirty="0"/>
          </a:p>
        </p:txBody>
      </p:sp>
      <p:cxnSp>
        <p:nvCxnSpPr>
          <p:cNvPr id="3073" name="Elbow Connector 3072"/>
          <p:cNvCxnSpPr/>
          <p:nvPr/>
        </p:nvCxnSpPr>
        <p:spPr>
          <a:xfrm rot="5400000" flipH="1" flipV="1">
            <a:off x="140758" y="3031509"/>
            <a:ext cx="813704" cy="736195"/>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77" name="Elbow Connector 3076"/>
          <p:cNvCxnSpPr>
            <a:stCxn id="23" idx="6"/>
          </p:cNvCxnSpPr>
          <p:nvPr/>
        </p:nvCxnSpPr>
        <p:spPr>
          <a:xfrm>
            <a:off x="683568" y="4246631"/>
            <a:ext cx="342292" cy="2672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79" name="Elbow Connector 3078"/>
          <p:cNvCxnSpPr>
            <a:stCxn id="23" idx="4"/>
            <a:endCxn id="80" idx="1"/>
          </p:cNvCxnSpPr>
          <p:nvPr/>
        </p:nvCxnSpPr>
        <p:spPr>
          <a:xfrm rot="16200000" flipH="1">
            <a:off x="-10494" y="5020825"/>
            <a:ext cx="1568980" cy="900937"/>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81" name="Straight Arrow Connector 3080"/>
          <p:cNvCxnSpPr>
            <a:endCxn id="128" idx="1"/>
          </p:cNvCxnSpPr>
          <p:nvPr/>
        </p:nvCxnSpPr>
        <p:spPr>
          <a:xfrm flipV="1">
            <a:off x="2322004" y="6255781"/>
            <a:ext cx="754316" cy="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84" name="Elbow Connector 3083"/>
          <p:cNvCxnSpPr/>
          <p:nvPr/>
        </p:nvCxnSpPr>
        <p:spPr>
          <a:xfrm rot="5400000" flipH="1" flipV="1">
            <a:off x="1915416" y="1990562"/>
            <a:ext cx="1233628" cy="893563"/>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91" name="Elbow Connector 3090"/>
          <p:cNvCxnSpPr>
            <a:endCxn id="96" idx="1"/>
          </p:cNvCxnSpPr>
          <p:nvPr/>
        </p:nvCxnSpPr>
        <p:spPr>
          <a:xfrm flipV="1">
            <a:off x="2133233" y="3244781"/>
            <a:ext cx="845779" cy="64993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98" name="Elbow Connector 3097"/>
          <p:cNvCxnSpPr>
            <a:stCxn id="80" idx="0"/>
          </p:cNvCxnSpPr>
          <p:nvPr/>
        </p:nvCxnSpPr>
        <p:spPr>
          <a:xfrm rot="5400000" flipH="1" flipV="1">
            <a:off x="2159923" y="4869090"/>
            <a:ext cx="429888" cy="1140564"/>
          </a:xfrm>
          <a:prstGeom prst="bentConnector2">
            <a:avLst/>
          </a:prstGeom>
          <a:ln w="4762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100" name="Elbow Connector 3099"/>
          <p:cNvCxnSpPr/>
          <p:nvPr/>
        </p:nvCxnSpPr>
        <p:spPr>
          <a:xfrm rot="16200000" flipH="1">
            <a:off x="4627553" y="2596364"/>
            <a:ext cx="278742" cy="119432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03" name="Elbow Connector 3102"/>
          <p:cNvCxnSpPr/>
          <p:nvPr/>
        </p:nvCxnSpPr>
        <p:spPr>
          <a:xfrm flipV="1">
            <a:off x="4034080" y="4194960"/>
            <a:ext cx="715800" cy="643300"/>
          </a:xfrm>
          <a:prstGeom prst="bentConnector3">
            <a:avLst>
              <a:gd name="adj1" fmla="val 50000"/>
            </a:avLst>
          </a:prstGeom>
          <a:ln w="4762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87" name="Straight Arrow Connector 186"/>
          <p:cNvCxnSpPr/>
          <p:nvPr/>
        </p:nvCxnSpPr>
        <p:spPr>
          <a:xfrm>
            <a:off x="4144233" y="1844824"/>
            <a:ext cx="240584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1" name="Elbow Connector 190"/>
          <p:cNvCxnSpPr>
            <a:stCxn id="128" idx="3"/>
          </p:cNvCxnSpPr>
          <p:nvPr/>
        </p:nvCxnSpPr>
        <p:spPr>
          <a:xfrm flipV="1">
            <a:off x="4236559" y="4593813"/>
            <a:ext cx="2995456" cy="1661968"/>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05" name="Elbow Connector 3104"/>
          <p:cNvCxnSpPr/>
          <p:nvPr/>
        </p:nvCxnSpPr>
        <p:spPr>
          <a:xfrm>
            <a:off x="7812360" y="1985769"/>
            <a:ext cx="792088" cy="3209534"/>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07" name="Elbow Connector 3106"/>
          <p:cNvCxnSpPr>
            <a:stCxn id="176" idx="3"/>
            <a:endCxn id="186" idx="1"/>
          </p:cNvCxnSpPr>
          <p:nvPr/>
        </p:nvCxnSpPr>
        <p:spPr>
          <a:xfrm>
            <a:off x="7710318" y="3929719"/>
            <a:ext cx="639543" cy="1394508"/>
          </a:xfrm>
          <a:prstGeom prst="bentConnector2">
            <a:avLst/>
          </a:prstGeom>
          <a:ln w="4762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109" name="Straight Arrow Connector 3108"/>
          <p:cNvCxnSpPr>
            <a:endCxn id="176" idx="1"/>
          </p:cNvCxnSpPr>
          <p:nvPr/>
        </p:nvCxnSpPr>
        <p:spPr>
          <a:xfrm flipV="1">
            <a:off x="5829750" y="3929719"/>
            <a:ext cx="720329" cy="111348"/>
          </a:xfrm>
          <a:prstGeom prst="straightConnector1">
            <a:avLst/>
          </a:prstGeom>
          <a:ln w="47625">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31986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endParaRPr lang="en-US"/>
          </a:p>
        </p:txBody>
      </p:sp>
      <p:pic>
        <p:nvPicPr>
          <p:cNvPr id="3075" name="Picture 3" descr="D:\bahria 2019\FOPM\Sumaiya\Lecture 9\Prep-PERT\ND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92696"/>
            <a:ext cx="2051720" cy="1658549"/>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p:cNvGrpSpPr/>
          <p:nvPr/>
        </p:nvGrpSpPr>
        <p:grpSpPr>
          <a:xfrm>
            <a:off x="891347" y="2370081"/>
            <a:ext cx="1338819" cy="1224140"/>
            <a:chOff x="1360973" y="3573016"/>
            <a:chExt cx="1338819" cy="1224140"/>
          </a:xfrm>
        </p:grpSpPr>
        <p:grpSp>
          <p:nvGrpSpPr>
            <p:cNvPr id="12" name="Group 11"/>
            <p:cNvGrpSpPr/>
            <p:nvPr/>
          </p:nvGrpSpPr>
          <p:grpSpPr>
            <a:xfrm>
              <a:off x="1394836" y="3573016"/>
              <a:ext cx="1296144" cy="1224140"/>
              <a:chOff x="1360973" y="2348879"/>
              <a:chExt cx="1296144" cy="1224140"/>
            </a:xfrm>
          </p:grpSpPr>
          <p:sp>
            <p:nvSpPr>
              <p:cNvPr id="3" name="Rectangle 2"/>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403648" y="2370084"/>
                <a:ext cx="364321" cy="369333"/>
              </a:xfrm>
              <a:prstGeom prst="rect">
                <a:avLst/>
              </a:prstGeom>
              <a:noFill/>
            </p:spPr>
            <p:txBody>
              <a:bodyPr wrap="square" rtlCol="0">
                <a:spAutoFit/>
              </a:bodyPr>
              <a:lstStyle/>
              <a:p>
                <a:r>
                  <a:rPr lang="en-US" dirty="0"/>
                  <a:t>0</a:t>
                </a:r>
              </a:p>
            </p:txBody>
          </p:sp>
          <p:sp>
            <p:nvSpPr>
              <p:cNvPr id="15" name="TextBox 14"/>
              <p:cNvSpPr txBox="1"/>
              <p:nvPr/>
            </p:nvSpPr>
            <p:spPr>
              <a:xfrm>
                <a:off x="1860748" y="2348879"/>
                <a:ext cx="364321" cy="369333"/>
              </a:xfrm>
              <a:prstGeom prst="rect">
                <a:avLst/>
              </a:prstGeom>
              <a:noFill/>
            </p:spPr>
            <p:txBody>
              <a:bodyPr wrap="square" rtlCol="0">
                <a:spAutoFit/>
              </a:bodyPr>
              <a:lstStyle/>
              <a:p>
                <a:r>
                  <a:rPr lang="en-US" dirty="0" smtClean="0"/>
                  <a:t>A</a:t>
                </a:r>
                <a:endParaRPr lang="en-US" dirty="0"/>
              </a:p>
            </p:txBody>
          </p:sp>
          <p:sp>
            <p:nvSpPr>
              <p:cNvPr id="16" name="TextBox 15"/>
              <p:cNvSpPr txBox="1"/>
              <p:nvPr/>
            </p:nvSpPr>
            <p:spPr>
              <a:xfrm>
                <a:off x="2292796" y="2411595"/>
                <a:ext cx="364321" cy="369333"/>
              </a:xfrm>
              <a:prstGeom prst="rect">
                <a:avLst/>
              </a:prstGeom>
              <a:noFill/>
            </p:spPr>
            <p:txBody>
              <a:bodyPr wrap="square" rtlCol="0">
                <a:spAutoFit/>
              </a:bodyPr>
              <a:lstStyle/>
              <a:p>
                <a:r>
                  <a:rPr lang="en-US" dirty="0" smtClean="0"/>
                  <a:t>6</a:t>
                </a:r>
                <a:endParaRPr lang="en-US" dirty="0"/>
              </a:p>
            </p:txBody>
          </p:sp>
          <p:sp>
            <p:nvSpPr>
              <p:cNvPr id="17" name="TextBox 16"/>
              <p:cNvSpPr txBox="1"/>
              <p:nvPr/>
            </p:nvSpPr>
            <p:spPr>
              <a:xfrm>
                <a:off x="1403648" y="2699627"/>
                <a:ext cx="364321" cy="369333"/>
              </a:xfrm>
              <a:prstGeom prst="rect">
                <a:avLst/>
              </a:prstGeom>
              <a:noFill/>
            </p:spPr>
            <p:txBody>
              <a:bodyPr wrap="square" rtlCol="0">
                <a:spAutoFit/>
              </a:bodyPr>
              <a:lstStyle/>
              <a:p>
                <a:r>
                  <a:rPr lang="en-US" dirty="0"/>
                  <a:t>4</a:t>
                </a:r>
              </a:p>
            </p:txBody>
          </p:sp>
          <p:sp>
            <p:nvSpPr>
              <p:cNvPr id="18" name="TextBox 17"/>
              <p:cNvSpPr txBox="1"/>
              <p:nvPr/>
            </p:nvSpPr>
            <p:spPr>
              <a:xfrm>
                <a:off x="2292796" y="2843643"/>
                <a:ext cx="364321" cy="369333"/>
              </a:xfrm>
              <a:prstGeom prst="rect">
                <a:avLst/>
              </a:prstGeom>
              <a:noFill/>
            </p:spPr>
            <p:txBody>
              <a:bodyPr wrap="square" rtlCol="0">
                <a:spAutoFit/>
              </a:bodyPr>
              <a:lstStyle/>
              <a:p>
                <a:r>
                  <a:rPr lang="en-US" dirty="0" smtClean="0"/>
                  <a:t>4</a:t>
                </a:r>
                <a:endParaRPr lang="en-US" dirty="0"/>
              </a:p>
            </p:txBody>
          </p:sp>
          <p:sp>
            <p:nvSpPr>
              <p:cNvPr id="19" name="TextBox 18"/>
              <p:cNvSpPr txBox="1"/>
              <p:nvPr/>
            </p:nvSpPr>
            <p:spPr>
              <a:xfrm>
                <a:off x="1403648" y="3203683"/>
                <a:ext cx="364321" cy="369333"/>
              </a:xfrm>
              <a:prstGeom prst="rect">
                <a:avLst/>
              </a:prstGeom>
              <a:noFill/>
            </p:spPr>
            <p:txBody>
              <a:bodyPr wrap="square" rtlCol="0">
                <a:spAutoFit/>
              </a:bodyPr>
              <a:lstStyle/>
              <a:p>
                <a:r>
                  <a:rPr lang="en-US" dirty="0" smtClean="0"/>
                  <a:t>4</a:t>
                </a:r>
                <a:endParaRPr lang="en-US" dirty="0"/>
              </a:p>
            </p:txBody>
          </p:sp>
          <p:sp>
            <p:nvSpPr>
              <p:cNvPr id="20" name="TextBox 19"/>
              <p:cNvSpPr txBox="1"/>
              <p:nvPr/>
            </p:nvSpPr>
            <p:spPr>
              <a:xfrm>
                <a:off x="1860748" y="3203683"/>
                <a:ext cx="364321" cy="369332"/>
              </a:xfrm>
              <a:prstGeom prst="rect">
                <a:avLst/>
              </a:prstGeom>
              <a:noFill/>
            </p:spPr>
            <p:txBody>
              <a:bodyPr wrap="square" rtlCol="0">
                <a:spAutoFit/>
              </a:bodyPr>
              <a:lstStyle/>
              <a:p>
                <a:r>
                  <a:rPr lang="en-US" dirty="0" smtClean="0"/>
                  <a:t>6</a:t>
                </a:r>
                <a:endParaRPr lang="en-US" dirty="0"/>
              </a:p>
            </p:txBody>
          </p:sp>
          <p:sp>
            <p:nvSpPr>
              <p:cNvPr id="21" name="TextBox 20"/>
              <p:cNvSpPr txBox="1"/>
              <p:nvPr/>
            </p:nvSpPr>
            <p:spPr>
              <a:xfrm>
                <a:off x="2136946" y="3203683"/>
                <a:ext cx="432048" cy="369332"/>
              </a:xfrm>
              <a:prstGeom prst="rect">
                <a:avLst/>
              </a:prstGeom>
              <a:noFill/>
            </p:spPr>
            <p:txBody>
              <a:bodyPr wrap="square" rtlCol="0">
                <a:spAutoFit/>
              </a:bodyPr>
              <a:lstStyle/>
              <a:p>
                <a:r>
                  <a:rPr lang="en-US" dirty="0" smtClean="0"/>
                  <a:t>10</a:t>
                </a:r>
                <a:endParaRPr lang="en-US" dirty="0"/>
              </a:p>
            </p:txBody>
          </p:sp>
        </p:grpSp>
        <p:grpSp>
          <p:nvGrpSpPr>
            <p:cNvPr id="14" name="Group 13"/>
            <p:cNvGrpSpPr/>
            <p:nvPr/>
          </p:nvGrpSpPr>
          <p:grpSpPr>
            <a:xfrm>
              <a:off x="1360973" y="3573016"/>
              <a:ext cx="1338819" cy="1224137"/>
              <a:chOff x="1360973" y="2348880"/>
              <a:chExt cx="1338819" cy="1224137"/>
            </a:xfrm>
          </p:grpSpPr>
          <p:cxnSp>
            <p:nvCxnSpPr>
              <p:cNvPr id="5" name="Straight Connector 4"/>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41" name="Group 40"/>
          <p:cNvGrpSpPr/>
          <p:nvPr/>
        </p:nvGrpSpPr>
        <p:grpSpPr>
          <a:xfrm>
            <a:off x="2945149" y="1197856"/>
            <a:ext cx="1338819" cy="1224140"/>
            <a:chOff x="1360973" y="3573016"/>
            <a:chExt cx="1338819" cy="1224140"/>
          </a:xfrm>
        </p:grpSpPr>
        <p:grpSp>
          <p:nvGrpSpPr>
            <p:cNvPr id="42" name="Group 41"/>
            <p:cNvGrpSpPr/>
            <p:nvPr/>
          </p:nvGrpSpPr>
          <p:grpSpPr>
            <a:xfrm>
              <a:off x="1394836" y="3573016"/>
              <a:ext cx="1296144" cy="1224140"/>
              <a:chOff x="1360973" y="2348879"/>
              <a:chExt cx="1296144" cy="1224140"/>
            </a:xfrm>
          </p:grpSpPr>
          <p:sp>
            <p:nvSpPr>
              <p:cNvPr id="48" name="Rectangle 47"/>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1403648" y="2370084"/>
                <a:ext cx="364321" cy="369333"/>
              </a:xfrm>
              <a:prstGeom prst="rect">
                <a:avLst/>
              </a:prstGeom>
              <a:noFill/>
            </p:spPr>
            <p:txBody>
              <a:bodyPr wrap="square" rtlCol="0">
                <a:spAutoFit/>
              </a:bodyPr>
              <a:lstStyle/>
              <a:p>
                <a:r>
                  <a:rPr lang="en-US" dirty="0" smtClean="0"/>
                  <a:t>6</a:t>
                </a:r>
                <a:endParaRPr lang="en-US" dirty="0"/>
              </a:p>
            </p:txBody>
          </p:sp>
          <p:sp>
            <p:nvSpPr>
              <p:cNvPr id="50" name="TextBox 49"/>
              <p:cNvSpPr txBox="1"/>
              <p:nvPr/>
            </p:nvSpPr>
            <p:spPr>
              <a:xfrm>
                <a:off x="1860748" y="2348879"/>
                <a:ext cx="364321" cy="369333"/>
              </a:xfrm>
              <a:prstGeom prst="rect">
                <a:avLst/>
              </a:prstGeom>
              <a:noFill/>
            </p:spPr>
            <p:txBody>
              <a:bodyPr wrap="square" rtlCol="0">
                <a:spAutoFit/>
              </a:bodyPr>
              <a:lstStyle/>
              <a:p>
                <a:r>
                  <a:rPr lang="en-US" dirty="0" smtClean="0"/>
                  <a:t>D</a:t>
                </a:r>
                <a:endParaRPr lang="en-US" dirty="0"/>
              </a:p>
            </p:txBody>
          </p:sp>
          <p:sp>
            <p:nvSpPr>
              <p:cNvPr id="51" name="TextBox 50"/>
              <p:cNvSpPr txBox="1"/>
              <p:nvPr/>
            </p:nvSpPr>
            <p:spPr>
              <a:xfrm>
                <a:off x="2292796" y="2411595"/>
                <a:ext cx="364321" cy="369333"/>
              </a:xfrm>
              <a:prstGeom prst="rect">
                <a:avLst/>
              </a:prstGeom>
              <a:noFill/>
            </p:spPr>
            <p:txBody>
              <a:bodyPr wrap="square" rtlCol="0">
                <a:spAutoFit/>
              </a:bodyPr>
              <a:lstStyle/>
              <a:p>
                <a:r>
                  <a:rPr lang="en-US" dirty="0" smtClean="0"/>
                  <a:t>8</a:t>
                </a:r>
                <a:endParaRPr lang="en-US" dirty="0"/>
              </a:p>
            </p:txBody>
          </p:sp>
          <p:sp>
            <p:nvSpPr>
              <p:cNvPr id="52" name="TextBox 51"/>
              <p:cNvSpPr txBox="1"/>
              <p:nvPr/>
            </p:nvSpPr>
            <p:spPr>
              <a:xfrm>
                <a:off x="1403648" y="2762257"/>
                <a:ext cx="364321" cy="369333"/>
              </a:xfrm>
              <a:prstGeom prst="rect">
                <a:avLst/>
              </a:prstGeom>
              <a:noFill/>
            </p:spPr>
            <p:txBody>
              <a:bodyPr wrap="square" rtlCol="0">
                <a:spAutoFit/>
              </a:bodyPr>
              <a:lstStyle/>
              <a:p>
                <a:r>
                  <a:rPr lang="en-US" dirty="0" smtClean="0"/>
                  <a:t>4</a:t>
                </a:r>
                <a:endParaRPr lang="en-US" dirty="0"/>
              </a:p>
            </p:txBody>
          </p:sp>
          <p:sp>
            <p:nvSpPr>
              <p:cNvPr id="53" name="TextBox 52"/>
              <p:cNvSpPr txBox="1"/>
              <p:nvPr/>
            </p:nvSpPr>
            <p:spPr>
              <a:xfrm>
                <a:off x="2292796" y="2843643"/>
                <a:ext cx="364321" cy="369333"/>
              </a:xfrm>
              <a:prstGeom prst="rect">
                <a:avLst/>
              </a:prstGeom>
              <a:noFill/>
            </p:spPr>
            <p:txBody>
              <a:bodyPr wrap="square" rtlCol="0">
                <a:spAutoFit/>
              </a:bodyPr>
              <a:lstStyle/>
              <a:p>
                <a:r>
                  <a:rPr lang="en-US" dirty="0" smtClean="0"/>
                  <a:t>4</a:t>
                </a:r>
                <a:endParaRPr lang="en-US" dirty="0"/>
              </a:p>
            </p:txBody>
          </p:sp>
          <p:sp>
            <p:nvSpPr>
              <p:cNvPr id="54" name="TextBox 53"/>
              <p:cNvSpPr txBox="1"/>
              <p:nvPr/>
            </p:nvSpPr>
            <p:spPr>
              <a:xfrm>
                <a:off x="1403648" y="3203683"/>
                <a:ext cx="364321" cy="307777"/>
              </a:xfrm>
              <a:prstGeom prst="rect">
                <a:avLst/>
              </a:prstGeom>
              <a:noFill/>
            </p:spPr>
            <p:txBody>
              <a:bodyPr wrap="square" rtlCol="0">
                <a:spAutoFit/>
              </a:bodyPr>
              <a:lstStyle/>
              <a:p>
                <a:r>
                  <a:rPr lang="en-US" sz="1400" dirty="0" smtClean="0"/>
                  <a:t>10</a:t>
                </a:r>
                <a:endParaRPr lang="en-US" dirty="0"/>
              </a:p>
            </p:txBody>
          </p:sp>
          <p:sp>
            <p:nvSpPr>
              <p:cNvPr id="55" name="TextBox 54"/>
              <p:cNvSpPr txBox="1"/>
              <p:nvPr/>
            </p:nvSpPr>
            <p:spPr>
              <a:xfrm>
                <a:off x="1860748" y="3203683"/>
                <a:ext cx="364321" cy="369333"/>
              </a:xfrm>
              <a:prstGeom prst="rect">
                <a:avLst/>
              </a:prstGeom>
              <a:noFill/>
            </p:spPr>
            <p:txBody>
              <a:bodyPr wrap="square" rtlCol="0">
                <a:spAutoFit/>
              </a:bodyPr>
              <a:lstStyle/>
              <a:p>
                <a:r>
                  <a:rPr lang="en-US" dirty="0" smtClean="0"/>
                  <a:t>2</a:t>
                </a:r>
                <a:endParaRPr lang="en-US" dirty="0"/>
              </a:p>
            </p:txBody>
          </p:sp>
          <p:sp>
            <p:nvSpPr>
              <p:cNvPr id="56" name="TextBox 55"/>
              <p:cNvSpPr txBox="1"/>
              <p:nvPr/>
            </p:nvSpPr>
            <p:spPr>
              <a:xfrm>
                <a:off x="2161873" y="3264134"/>
                <a:ext cx="364321" cy="307777"/>
              </a:xfrm>
              <a:prstGeom prst="rect">
                <a:avLst/>
              </a:prstGeom>
              <a:noFill/>
            </p:spPr>
            <p:txBody>
              <a:bodyPr wrap="square" rtlCol="0">
                <a:spAutoFit/>
              </a:bodyPr>
              <a:lstStyle/>
              <a:p>
                <a:r>
                  <a:rPr lang="en-US" sz="1400" dirty="0" smtClean="0"/>
                  <a:t>12</a:t>
                </a:r>
                <a:endParaRPr lang="en-US" dirty="0"/>
              </a:p>
            </p:txBody>
          </p:sp>
        </p:grpSp>
        <p:grpSp>
          <p:nvGrpSpPr>
            <p:cNvPr id="43" name="Group 42"/>
            <p:cNvGrpSpPr/>
            <p:nvPr/>
          </p:nvGrpSpPr>
          <p:grpSpPr>
            <a:xfrm>
              <a:off x="1360973" y="3573016"/>
              <a:ext cx="1338819" cy="1224137"/>
              <a:chOff x="1360973" y="2348880"/>
              <a:chExt cx="1338819" cy="1224137"/>
            </a:xfrm>
          </p:grpSpPr>
          <p:cxnSp>
            <p:nvCxnSpPr>
              <p:cNvPr id="44" name="Straight Connector 43"/>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57" name="Group 56"/>
          <p:cNvGrpSpPr/>
          <p:nvPr/>
        </p:nvGrpSpPr>
        <p:grpSpPr>
          <a:xfrm>
            <a:off x="1047197" y="3894716"/>
            <a:ext cx="1338819" cy="1224140"/>
            <a:chOff x="1360973" y="3573016"/>
            <a:chExt cx="1338819" cy="1224140"/>
          </a:xfrm>
        </p:grpSpPr>
        <p:grpSp>
          <p:nvGrpSpPr>
            <p:cNvPr id="58" name="Group 57"/>
            <p:cNvGrpSpPr/>
            <p:nvPr/>
          </p:nvGrpSpPr>
          <p:grpSpPr>
            <a:xfrm>
              <a:off x="1394836" y="3573016"/>
              <a:ext cx="1296144" cy="1224140"/>
              <a:chOff x="1360973" y="2348879"/>
              <a:chExt cx="1296144" cy="1224140"/>
            </a:xfrm>
          </p:grpSpPr>
          <p:sp>
            <p:nvSpPr>
              <p:cNvPr id="64" name="Rectangle 63"/>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1403648" y="2370084"/>
                <a:ext cx="364321" cy="369333"/>
              </a:xfrm>
              <a:prstGeom prst="rect">
                <a:avLst/>
              </a:prstGeom>
              <a:noFill/>
            </p:spPr>
            <p:txBody>
              <a:bodyPr wrap="square" rtlCol="0">
                <a:spAutoFit/>
              </a:bodyPr>
              <a:lstStyle/>
              <a:p>
                <a:r>
                  <a:rPr lang="en-US" dirty="0"/>
                  <a:t>0</a:t>
                </a:r>
              </a:p>
            </p:txBody>
          </p:sp>
          <p:sp>
            <p:nvSpPr>
              <p:cNvPr id="66" name="TextBox 65"/>
              <p:cNvSpPr txBox="1"/>
              <p:nvPr/>
            </p:nvSpPr>
            <p:spPr>
              <a:xfrm>
                <a:off x="1860748" y="2348879"/>
                <a:ext cx="364321" cy="369333"/>
              </a:xfrm>
              <a:prstGeom prst="rect">
                <a:avLst/>
              </a:prstGeom>
              <a:noFill/>
            </p:spPr>
            <p:txBody>
              <a:bodyPr wrap="square" rtlCol="0">
                <a:spAutoFit/>
              </a:bodyPr>
              <a:lstStyle/>
              <a:p>
                <a:r>
                  <a:rPr lang="en-US" dirty="0" smtClean="0"/>
                  <a:t>B</a:t>
                </a:r>
                <a:endParaRPr lang="en-US" dirty="0"/>
              </a:p>
            </p:txBody>
          </p:sp>
          <p:sp>
            <p:nvSpPr>
              <p:cNvPr id="67" name="TextBox 66"/>
              <p:cNvSpPr txBox="1"/>
              <p:nvPr/>
            </p:nvSpPr>
            <p:spPr>
              <a:xfrm>
                <a:off x="2292796" y="2411595"/>
                <a:ext cx="364321" cy="369333"/>
              </a:xfrm>
              <a:prstGeom prst="rect">
                <a:avLst/>
              </a:prstGeom>
              <a:noFill/>
            </p:spPr>
            <p:txBody>
              <a:bodyPr wrap="square" rtlCol="0">
                <a:spAutoFit/>
              </a:bodyPr>
              <a:lstStyle/>
              <a:p>
                <a:r>
                  <a:rPr lang="en-US" dirty="0" smtClean="0"/>
                  <a:t>3</a:t>
                </a:r>
                <a:endParaRPr lang="en-US" dirty="0"/>
              </a:p>
            </p:txBody>
          </p:sp>
          <p:sp>
            <p:nvSpPr>
              <p:cNvPr id="68" name="TextBox 67"/>
              <p:cNvSpPr txBox="1"/>
              <p:nvPr/>
            </p:nvSpPr>
            <p:spPr>
              <a:xfrm>
                <a:off x="1403648" y="2699627"/>
                <a:ext cx="364321" cy="369333"/>
              </a:xfrm>
              <a:prstGeom prst="rect">
                <a:avLst/>
              </a:prstGeom>
              <a:noFill/>
            </p:spPr>
            <p:txBody>
              <a:bodyPr wrap="square" rtlCol="0">
                <a:spAutoFit/>
              </a:bodyPr>
              <a:lstStyle/>
              <a:p>
                <a:r>
                  <a:rPr lang="en-US" dirty="0"/>
                  <a:t>3</a:t>
                </a:r>
              </a:p>
            </p:txBody>
          </p:sp>
          <p:sp>
            <p:nvSpPr>
              <p:cNvPr id="69" name="TextBox 68"/>
              <p:cNvSpPr txBox="1"/>
              <p:nvPr/>
            </p:nvSpPr>
            <p:spPr>
              <a:xfrm>
                <a:off x="2292796" y="2843643"/>
                <a:ext cx="364321" cy="369333"/>
              </a:xfrm>
              <a:prstGeom prst="rect">
                <a:avLst/>
              </a:prstGeom>
              <a:noFill/>
            </p:spPr>
            <p:txBody>
              <a:bodyPr wrap="square" rtlCol="0">
                <a:spAutoFit/>
              </a:bodyPr>
              <a:lstStyle/>
              <a:p>
                <a:r>
                  <a:rPr lang="en-US" dirty="0" smtClean="0"/>
                  <a:t>3</a:t>
                </a:r>
                <a:endParaRPr lang="en-US" dirty="0"/>
              </a:p>
            </p:txBody>
          </p:sp>
          <p:sp>
            <p:nvSpPr>
              <p:cNvPr id="70" name="TextBox 69"/>
              <p:cNvSpPr txBox="1"/>
              <p:nvPr/>
            </p:nvSpPr>
            <p:spPr>
              <a:xfrm>
                <a:off x="1403648" y="3203683"/>
                <a:ext cx="364321" cy="369333"/>
              </a:xfrm>
              <a:prstGeom prst="rect">
                <a:avLst/>
              </a:prstGeom>
              <a:noFill/>
            </p:spPr>
            <p:txBody>
              <a:bodyPr wrap="square" rtlCol="0">
                <a:spAutoFit/>
              </a:bodyPr>
              <a:lstStyle/>
              <a:p>
                <a:r>
                  <a:rPr lang="en-US" dirty="0" smtClean="0"/>
                  <a:t>3</a:t>
                </a:r>
                <a:endParaRPr lang="en-US" dirty="0"/>
              </a:p>
            </p:txBody>
          </p:sp>
          <p:sp>
            <p:nvSpPr>
              <p:cNvPr id="71" name="TextBox 70"/>
              <p:cNvSpPr txBox="1"/>
              <p:nvPr/>
            </p:nvSpPr>
            <p:spPr>
              <a:xfrm>
                <a:off x="1860748" y="3203683"/>
                <a:ext cx="364321" cy="369333"/>
              </a:xfrm>
              <a:prstGeom prst="rect">
                <a:avLst/>
              </a:prstGeom>
              <a:noFill/>
            </p:spPr>
            <p:txBody>
              <a:bodyPr wrap="square" rtlCol="0">
                <a:spAutoFit/>
              </a:bodyPr>
              <a:lstStyle/>
              <a:p>
                <a:r>
                  <a:rPr lang="en-US" dirty="0" smtClean="0"/>
                  <a:t>3</a:t>
                </a:r>
                <a:endParaRPr lang="en-US" dirty="0"/>
              </a:p>
            </p:txBody>
          </p:sp>
          <p:sp>
            <p:nvSpPr>
              <p:cNvPr id="72" name="TextBox 71"/>
              <p:cNvSpPr txBox="1"/>
              <p:nvPr/>
            </p:nvSpPr>
            <p:spPr>
              <a:xfrm>
                <a:off x="2292796" y="3203683"/>
                <a:ext cx="364321" cy="369333"/>
              </a:xfrm>
              <a:prstGeom prst="rect">
                <a:avLst/>
              </a:prstGeom>
              <a:noFill/>
            </p:spPr>
            <p:txBody>
              <a:bodyPr wrap="square" rtlCol="0">
                <a:spAutoFit/>
              </a:bodyPr>
              <a:lstStyle/>
              <a:p>
                <a:r>
                  <a:rPr lang="en-US" dirty="0"/>
                  <a:t>6</a:t>
                </a:r>
              </a:p>
            </p:txBody>
          </p:sp>
        </p:grpSp>
        <p:grpSp>
          <p:nvGrpSpPr>
            <p:cNvPr id="59" name="Group 58"/>
            <p:cNvGrpSpPr/>
            <p:nvPr/>
          </p:nvGrpSpPr>
          <p:grpSpPr>
            <a:xfrm>
              <a:off x="1360973" y="3573016"/>
              <a:ext cx="1338819" cy="1224137"/>
              <a:chOff x="1360973" y="2348880"/>
              <a:chExt cx="1338819" cy="1224137"/>
            </a:xfrm>
          </p:grpSpPr>
          <p:cxnSp>
            <p:nvCxnSpPr>
              <p:cNvPr id="60" name="Straight Connector 59"/>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73" name="Group 72"/>
          <p:cNvGrpSpPr/>
          <p:nvPr/>
        </p:nvGrpSpPr>
        <p:grpSpPr>
          <a:xfrm>
            <a:off x="1190602" y="5633111"/>
            <a:ext cx="1338819" cy="1224140"/>
            <a:chOff x="1360973" y="3573016"/>
            <a:chExt cx="1338819" cy="1224140"/>
          </a:xfrm>
        </p:grpSpPr>
        <p:grpSp>
          <p:nvGrpSpPr>
            <p:cNvPr id="74" name="Group 73"/>
            <p:cNvGrpSpPr/>
            <p:nvPr/>
          </p:nvGrpSpPr>
          <p:grpSpPr>
            <a:xfrm>
              <a:off x="1394836" y="3573016"/>
              <a:ext cx="1296144" cy="1224140"/>
              <a:chOff x="1360973" y="2348879"/>
              <a:chExt cx="1296144" cy="1224140"/>
            </a:xfrm>
          </p:grpSpPr>
          <p:sp>
            <p:nvSpPr>
              <p:cNvPr id="80" name="Rectangle 79"/>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p:cNvSpPr txBox="1"/>
              <p:nvPr/>
            </p:nvSpPr>
            <p:spPr>
              <a:xfrm>
                <a:off x="1403648" y="2370084"/>
                <a:ext cx="364321" cy="369333"/>
              </a:xfrm>
              <a:prstGeom prst="rect">
                <a:avLst/>
              </a:prstGeom>
              <a:noFill/>
            </p:spPr>
            <p:txBody>
              <a:bodyPr wrap="square" rtlCol="0">
                <a:spAutoFit/>
              </a:bodyPr>
              <a:lstStyle/>
              <a:p>
                <a:r>
                  <a:rPr lang="en-US" dirty="0" smtClean="0"/>
                  <a:t>0</a:t>
                </a:r>
                <a:endParaRPr lang="en-US" dirty="0"/>
              </a:p>
            </p:txBody>
          </p:sp>
          <p:sp>
            <p:nvSpPr>
              <p:cNvPr id="82" name="TextBox 81"/>
              <p:cNvSpPr txBox="1"/>
              <p:nvPr/>
            </p:nvSpPr>
            <p:spPr>
              <a:xfrm>
                <a:off x="1860748" y="2348879"/>
                <a:ext cx="364321" cy="369333"/>
              </a:xfrm>
              <a:prstGeom prst="rect">
                <a:avLst/>
              </a:prstGeom>
              <a:noFill/>
            </p:spPr>
            <p:txBody>
              <a:bodyPr wrap="square" rtlCol="0">
                <a:spAutoFit/>
              </a:bodyPr>
              <a:lstStyle/>
              <a:p>
                <a:r>
                  <a:rPr lang="en-US" dirty="0" smtClean="0"/>
                  <a:t>C</a:t>
                </a:r>
                <a:endParaRPr lang="en-US" dirty="0"/>
              </a:p>
            </p:txBody>
          </p:sp>
          <p:sp>
            <p:nvSpPr>
              <p:cNvPr id="83" name="TextBox 82"/>
              <p:cNvSpPr txBox="1"/>
              <p:nvPr/>
            </p:nvSpPr>
            <p:spPr>
              <a:xfrm>
                <a:off x="2292796" y="2411595"/>
                <a:ext cx="364321" cy="369333"/>
              </a:xfrm>
              <a:prstGeom prst="rect">
                <a:avLst/>
              </a:prstGeom>
              <a:noFill/>
            </p:spPr>
            <p:txBody>
              <a:bodyPr wrap="square" rtlCol="0">
                <a:spAutoFit/>
              </a:bodyPr>
              <a:lstStyle/>
              <a:p>
                <a:r>
                  <a:rPr lang="en-US" dirty="0" smtClean="0"/>
                  <a:t>4</a:t>
                </a:r>
                <a:endParaRPr lang="en-US" dirty="0"/>
              </a:p>
            </p:txBody>
          </p:sp>
          <p:sp>
            <p:nvSpPr>
              <p:cNvPr id="84" name="TextBox 83"/>
              <p:cNvSpPr txBox="1"/>
              <p:nvPr/>
            </p:nvSpPr>
            <p:spPr>
              <a:xfrm>
                <a:off x="1403648" y="2699627"/>
                <a:ext cx="364321" cy="369333"/>
              </a:xfrm>
              <a:prstGeom prst="rect">
                <a:avLst/>
              </a:prstGeom>
              <a:noFill/>
            </p:spPr>
            <p:txBody>
              <a:bodyPr wrap="square" rtlCol="0">
                <a:spAutoFit/>
              </a:bodyPr>
              <a:lstStyle/>
              <a:p>
                <a:r>
                  <a:rPr lang="en-US" dirty="0" smtClean="0"/>
                  <a:t>0</a:t>
                </a:r>
                <a:endParaRPr lang="en-US" dirty="0"/>
              </a:p>
            </p:txBody>
          </p:sp>
          <p:sp>
            <p:nvSpPr>
              <p:cNvPr id="85" name="TextBox 84"/>
              <p:cNvSpPr txBox="1"/>
              <p:nvPr/>
            </p:nvSpPr>
            <p:spPr>
              <a:xfrm>
                <a:off x="2292796" y="2843643"/>
                <a:ext cx="364321" cy="369333"/>
              </a:xfrm>
              <a:prstGeom prst="rect">
                <a:avLst/>
              </a:prstGeom>
              <a:noFill/>
            </p:spPr>
            <p:txBody>
              <a:bodyPr wrap="square" rtlCol="0">
                <a:spAutoFit/>
              </a:bodyPr>
              <a:lstStyle/>
              <a:p>
                <a:r>
                  <a:rPr lang="en-US" dirty="0" smtClean="0"/>
                  <a:t>0</a:t>
                </a:r>
                <a:endParaRPr lang="en-US" dirty="0"/>
              </a:p>
            </p:txBody>
          </p:sp>
          <p:sp>
            <p:nvSpPr>
              <p:cNvPr id="86" name="TextBox 85"/>
              <p:cNvSpPr txBox="1"/>
              <p:nvPr/>
            </p:nvSpPr>
            <p:spPr>
              <a:xfrm>
                <a:off x="1403648" y="3203683"/>
                <a:ext cx="364321" cy="369333"/>
              </a:xfrm>
              <a:prstGeom prst="rect">
                <a:avLst/>
              </a:prstGeom>
              <a:noFill/>
            </p:spPr>
            <p:txBody>
              <a:bodyPr wrap="square" rtlCol="0">
                <a:spAutoFit/>
              </a:bodyPr>
              <a:lstStyle/>
              <a:p>
                <a:r>
                  <a:rPr lang="en-US" dirty="0"/>
                  <a:t>0</a:t>
                </a:r>
              </a:p>
            </p:txBody>
          </p:sp>
          <p:sp>
            <p:nvSpPr>
              <p:cNvPr id="87" name="TextBox 86"/>
              <p:cNvSpPr txBox="1"/>
              <p:nvPr/>
            </p:nvSpPr>
            <p:spPr>
              <a:xfrm>
                <a:off x="1860748" y="3203683"/>
                <a:ext cx="364321" cy="369333"/>
              </a:xfrm>
              <a:prstGeom prst="rect">
                <a:avLst/>
              </a:prstGeom>
              <a:noFill/>
            </p:spPr>
            <p:txBody>
              <a:bodyPr wrap="square" rtlCol="0">
                <a:spAutoFit/>
              </a:bodyPr>
              <a:lstStyle/>
              <a:p>
                <a:r>
                  <a:rPr lang="en-US" dirty="0" smtClean="0"/>
                  <a:t>4</a:t>
                </a:r>
                <a:endParaRPr lang="en-US" dirty="0"/>
              </a:p>
            </p:txBody>
          </p:sp>
          <p:sp>
            <p:nvSpPr>
              <p:cNvPr id="88" name="TextBox 87"/>
              <p:cNvSpPr txBox="1"/>
              <p:nvPr/>
            </p:nvSpPr>
            <p:spPr>
              <a:xfrm>
                <a:off x="2292796" y="3203683"/>
                <a:ext cx="364321" cy="369333"/>
              </a:xfrm>
              <a:prstGeom prst="rect">
                <a:avLst/>
              </a:prstGeom>
              <a:noFill/>
            </p:spPr>
            <p:txBody>
              <a:bodyPr wrap="square" rtlCol="0">
                <a:spAutoFit/>
              </a:bodyPr>
              <a:lstStyle/>
              <a:p>
                <a:r>
                  <a:rPr lang="en-US" dirty="0" smtClean="0"/>
                  <a:t>4</a:t>
                </a:r>
                <a:endParaRPr lang="en-US" dirty="0"/>
              </a:p>
            </p:txBody>
          </p:sp>
        </p:grpSp>
        <p:grpSp>
          <p:nvGrpSpPr>
            <p:cNvPr id="75" name="Group 74"/>
            <p:cNvGrpSpPr/>
            <p:nvPr/>
          </p:nvGrpSpPr>
          <p:grpSpPr>
            <a:xfrm>
              <a:off x="1360973" y="3573016"/>
              <a:ext cx="1338819" cy="1224137"/>
              <a:chOff x="1360973" y="2348880"/>
              <a:chExt cx="1338819" cy="1224137"/>
            </a:xfrm>
          </p:grpSpPr>
          <p:cxnSp>
            <p:nvCxnSpPr>
              <p:cNvPr id="76" name="Straight Connector 75"/>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89" name="Group 88"/>
          <p:cNvGrpSpPr/>
          <p:nvPr/>
        </p:nvGrpSpPr>
        <p:grpSpPr>
          <a:xfrm>
            <a:off x="2945149" y="2622108"/>
            <a:ext cx="1338819" cy="1224140"/>
            <a:chOff x="1360973" y="3573016"/>
            <a:chExt cx="1338819" cy="1224140"/>
          </a:xfrm>
        </p:grpSpPr>
        <p:grpSp>
          <p:nvGrpSpPr>
            <p:cNvPr id="90" name="Group 89"/>
            <p:cNvGrpSpPr/>
            <p:nvPr/>
          </p:nvGrpSpPr>
          <p:grpSpPr>
            <a:xfrm>
              <a:off x="1394836" y="3573016"/>
              <a:ext cx="1296144" cy="1224140"/>
              <a:chOff x="1360973" y="2348879"/>
              <a:chExt cx="1296144" cy="1224140"/>
            </a:xfrm>
          </p:grpSpPr>
          <p:sp>
            <p:nvSpPr>
              <p:cNvPr id="96" name="Rectangle 95"/>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p:cNvSpPr txBox="1"/>
              <p:nvPr/>
            </p:nvSpPr>
            <p:spPr>
              <a:xfrm>
                <a:off x="1403648" y="2370084"/>
                <a:ext cx="364321" cy="369333"/>
              </a:xfrm>
              <a:prstGeom prst="rect">
                <a:avLst/>
              </a:prstGeom>
              <a:noFill/>
            </p:spPr>
            <p:txBody>
              <a:bodyPr wrap="square" rtlCol="0">
                <a:spAutoFit/>
              </a:bodyPr>
              <a:lstStyle/>
              <a:p>
                <a:r>
                  <a:rPr lang="en-US" dirty="0" smtClean="0"/>
                  <a:t>3</a:t>
                </a:r>
                <a:endParaRPr lang="en-US" dirty="0"/>
              </a:p>
            </p:txBody>
          </p:sp>
          <p:sp>
            <p:nvSpPr>
              <p:cNvPr id="98" name="TextBox 97"/>
              <p:cNvSpPr txBox="1"/>
              <p:nvPr/>
            </p:nvSpPr>
            <p:spPr>
              <a:xfrm>
                <a:off x="1860748" y="2348879"/>
                <a:ext cx="364321" cy="369333"/>
              </a:xfrm>
              <a:prstGeom prst="rect">
                <a:avLst/>
              </a:prstGeom>
              <a:noFill/>
            </p:spPr>
            <p:txBody>
              <a:bodyPr wrap="square" rtlCol="0">
                <a:spAutoFit/>
              </a:bodyPr>
              <a:lstStyle/>
              <a:p>
                <a:r>
                  <a:rPr lang="en-US" dirty="0" smtClean="0"/>
                  <a:t>E</a:t>
                </a:r>
                <a:endParaRPr lang="en-US" dirty="0"/>
              </a:p>
            </p:txBody>
          </p:sp>
          <p:sp>
            <p:nvSpPr>
              <p:cNvPr id="99" name="TextBox 98"/>
              <p:cNvSpPr txBox="1"/>
              <p:nvPr/>
            </p:nvSpPr>
            <p:spPr>
              <a:xfrm>
                <a:off x="2292796" y="2411595"/>
                <a:ext cx="364321" cy="369333"/>
              </a:xfrm>
              <a:prstGeom prst="rect">
                <a:avLst/>
              </a:prstGeom>
              <a:noFill/>
            </p:spPr>
            <p:txBody>
              <a:bodyPr wrap="square" rtlCol="0">
                <a:spAutoFit/>
              </a:bodyPr>
              <a:lstStyle/>
              <a:p>
                <a:r>
                  <a:rPr lang="en-US" dirty="0" smtClean="0"/>
                  <a:t>6</a:t>
                </a:r>
                <a:endParaRPr lang="en-US" dirty="0"/>
              </a:p>
            </p:txBody>
          </p:sp>
          <p:sp>
            <p:nvSpPr>
              <p:cNvPr id="100" name="TextBox 99"/>
              <p:cNvSpPr txBox="1"/>
              <p:nvPr/>
            </p:nvSpPr>
            <p:spPr>
              <a:xfrm>
                <a:off x="1403648" y="2699627"/>
                <a:ext cx="364321" cy="369333"/>
              </a:xfrm>
              <a:prstGeom prst="rect">
                <a:avLst/>
              </a:prstGeom>
              <a:noFill/>
            </p:spPr>
            <p:txBody>
              <a:bodyPr wrap="square" rtlCol="0">
                <a:spAutoFit/>
              </a:bodyPr>
              <a:lstStyle/>
              <a:p>
                <a:r>
                  <a:rPr lang="en-US" dirty="0" smtClean="0"/>
                  <a:t>3</a:t>
                </a:r>
                <a:endParaRPr lang="en-US" dirty="0"/>
              </a:p>
            </p:txBody>
          </p:sp>
          <p:sp>
            <p:nvSpPr>
              <p:cNvPr id="101" name="TextBox 100"/>
              <p:cNvSpPr txBox="1"/>
              <p:nvPr/>
            </p:nvSpPr>
            <p:spPr>
              <a:xfrm>
                <a:off x="2292796" y="2843643"/>
                <a:ext cx="364321" cy="369333"/>
              </a:xfrm>
              <a:prstGeom prst="rect">
                <a:avLst/>
              </a:prstGeom>
              <a:noFill/>
            </p:spPr>
            <p:txBody>
              <a:bodyPr wrap="square" rtlCol="0">
                <a:spAutoFit/>
              </a:bodyPr>
              <a:lstStyle/>
              <a:p>
                <a:r>
                  <a:rPr lang="en-US" dirty="0" smtClean="0"/>
                  <a:t>3</a:t>
                </a:r>
                <a:endParaRPr lang="en-US" dirty="0"/>
              </a:p>
            </p:txBody>
          </p:sp>
          <p:sp>
            <p:nvSpPr>
              <p:cNvPr id="102" name="TextBox 101"/>
              <p:cNvSpPr txBox="1"/>
              <p:nvPr/>
            </p:nvSpPr>
            <p:spPr>
              <a:xfrm>
                <a:off x="1403648" y="3203683"/>
                <a:ext cx="364321" cy="369333"/>
              </a:xfrm>
              <a:prstGeom prst="rect">
                <a:avLst/>
              </a:prstGeom>
              <a:noFill/>
            </p:spPr>
            <p:txBody>
              <a:bodyPr wrap="square" rtlCol="0">
                <a:spAutoFit/>
              </a:bodyPr>
              <a:lstStyle/>
              <a:p>
                <a:r>
                  <a:rPr lang="en-US" dirty="0"/>
                  <a:t>6</a:t>
                </a:r>
              </a:p>
            </p:txBody>
          </p:sp>
          <p:sp>
            <p:nvSpPr>
              <p:cNvPr id="103" name="TextBox 102"/>
              <p:cNvSpPr txBox="1"/>
              <p:nvPr/>
            </p:nvSpPr>
            <p:spPr>
              <a:xfrm>
                <a:off x="1860748" y="3203683"/>
                <a:ext cx="364321" cy="369333"/>
              </a:xfrm>
              <a:prstGeom prst="rect">
                <a:avLst/>
              </a:prstGeom>
              <a:noFill/>
            </p:spPr>
            <p:txBody>
              <a:bodyPr wrap="square" rtlCol="0">
                <a:spAutoFit/>
              </a:bodyPr>
              <a:lstStyle/>
              <a:p>
                <a:r>
                  <a:rPr lang="en-US" dirty="0" smtClean="0"/>
                  <a:t>3</a:t>
                </a:r>
                <a:endParaRPr lang="en-US" dirty="0"/>
              </a:p>
            </p:txBody>
          </p:sp>
          <p:sp>
            <p:nvSpPr>
              <p:cNvPr id="104" name="TextBox 103"/>
              <p:cNvSpPr txBox="1"/>
              <p:nvPr/>
            </p:nvSpPr>
            <p:spPr>
              <a:xfrm>
                <a:off x="2292796" y="3203683"/>
                <a:ext cx="364321" cy="369333"/>
              </a:xfrm>
              <a:prstGeom prst="rect">
                <a:avLst/>
              </a:prstGeom>
              <a:noFill/>
            </p:spPr>
            <p:txBody>
              <a:bodyPr wrap="square" rtlCol="0">
                <a:spAutoFit/>
              </a:bodyPr>
              <a:lstStyle/>
              <a:p>
                <a:r>
                  <a:rPr lang="en-US" dirty="0" smtClean="0"/>
                  <a:t>9</a:t>
                </a:r>
                <a:endParaRPr lang="en-US" dirty="0"/>
              </a:p>
            </p:txBody>
          </p:sp>
        </p:grpSp>
        <p:grpSp>
          <p:nvGrpSpPr>
            <p:cNvPr id="91" name="Group 90"/>
            <p:cNvGrpSpPr/>
            <p:nvPr/>
          </p:nvGrpSpPr>
          <p:grpSpPr>
            <a:xfrm>
              <a:off x="1360973" y="3573016"/>
              <a:ext cx="1338819" cy="1224137"/>
              <a:chOff x="1360973" y="2348880"/>
              <a:chExt cx="1338819" cy="1224137"/>
            </a:xfrm>
          </p:grpSpPr>
          <p:cxnSp>
            <p:nvCxnSpPr>
              <p:cNvPr id="92" name="Straight Connector 91"/>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05" name="Group 104"/>
          <p:cNvGrpSpPr/>
          <p:nvPr/>
        </p:nvGrpSpPr>
        <p:grpSpPr>
          <a:xfrm>
            <a:off x="2906685" y="4184958"/>
            <a:ext cx="1338819" cy="1224140"/>
            <a:chOff x="1360973" y="3573016"/>
            <a:chExt cx="1338819" cy="1224140"/>
          </a:xfrm>
        </p:grpSpPr>
        <p:grpSp>
          <p:nvGrpSpPr>
            <p:cNvPr id="106" name="Group 105"/>
            <p:cNvGrpSpPr/>
            <p:nvPr/>
          </p:nvGrpSpPr>
          <p:grpSpPr>
            <a:xfrm>
              <a:off x="1394836" y="3573016"/>
              <a:ext cx="1296144" cy="1224140"/>
              <a:chOff x="1360973" y="2348879"/>
              <a:chExt cx="1296144" cy="1224140"/>
            </a:xfrm>
          </p:grpSpPr>
          <p:sp>
            <p:nvSpPr>
              <p:cNvPr id="112" name="Rectangle 111"/>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TextBox 112"/>
              <p:cNvSpPr txBox="1"/>
              <p:nvPr/>
            </p:nvSpPr>
            <p:spPr>
              <a:xfrm>
                <a:off x="1403648" y="2370084"/>
                <a:ext cx="364321" cy="369333"/>
              </a:xfrm>
              <a:prstGeom prst="rect">
                <a:avLst/>
              </a:prstGeom>
              <a:noFill/>
            </p:spPr>
            <p:txBody>
              <a:bodyPr wrap="square" rtlCol="0">
                <a:spAutoFit/>
              </a:bodyPr>
              <a:lstStyle/>
              <a:p>
                <a:r>
                  <a:rPr lang="en-US" dirty="0" smtClean="0"/>
                  <a:t>4</a:t>
                </a:r>
                <a:endParaRPr lang="en-US" dirty="0"/>
              </a:p>
            </p:txBody>
          </p:sp>
          <p:sp>
            <p:nvSpPr>
              <p:cNvPr id="114" name="TextBox 113"/>
              <p:cNvSpPr txBox="1"/>
              <p:nvPr/>
            </p:nvSpPr>
            <p:spPr>
              <a:xfrm>
                <a:off x="1860748" y="2348879"/>
                <a:ext cx="364321" cy="369333"/>
              </a:xfrm>
              <a:prstGeom prst="rect">
                <a:avLst/>
              </a:prstGeom>
              <a:noFill/>
            </p:spPr>
            <p:txBody>
              <a:bodyPr wrap="square" rtlCol="0">
                <a:spAutoFit/>
              </a:bodyPr>
              <a:lstStyle/>
              <a:p>
                <a:r>
                  <a:rPr lang="en-US" dirty="0" smtClean="0"/>
                  <a:t>F</a:t>
                </a:r>
                <a:endParaRPr lang="en-US" dirty="0"/>
              </a:p>
            </p:txBody>
          </p:sp>
          <p:sp>
            <p:nvSpPr>
              <p:cNvPr id="115" name="TextBox 114"/>
              <p:cNvSpPr txBox="1"/>
              <p:nvPr/>
            </p:nvSpPr>
            <p:spPr>
              <a:xfrm>
                <a:off x="2292796" y="2411595"/>
                <a:ext cx="364321" cy="369333"/>
              </a:xfrm>
              <a:prstGeom prst="rect">
                <a:avLst/>
              </a:prstGeom>
              <a:noFill/>
            </p:spPr>
            <p:txBody>
              <a:bodyPr wrap="square" rtlCol="0">
                <a:spAutoFit/>
              </a:bodyPr>
              <a:lstStyle/>
              <a:p>
                <a:r>
                  <a:rPr lang="en-US" dirty="0" smtClean="0"/>
                  <a:t>9</a:t>
                </a:r>
                <a:endParaRPr lang="en-US" dirty="0"/>
              </a:p>
            </p:txBody>
          </p:sp>
          <p:sp>
            <p:nvSpPr>
              <p:cNvPr id="116" name="TextBox 115"/>
              <p:cNvSpPr txBox="1"/>
              <p:nvPr/>
            </p:nvSpPr>
            <p:spPr>
              <a:xfrm>
                <a:off x="1403648" y="2699627"/>
                <a:ext cx="364321" cy="369332"/>
              </a:xfrm>
              <a:prstGeom prst="rect">
                <a:avLst/>
              </a:prstGeom>
              <a:noFill/>
            </p:spPr>
            <p:txBody>
              <a:bodyPr wrap="square" rtlCol="0">
                <a:spAutoFit/>
              </a:bodyPr>
              <a:lstStyle/>
              <a:p>
                <a:r>
                  <a:rPr lang="en-US" dirty="0" smtClean="0"/>
                  <a:t>0</a:t>
                </a:r>
                <a:endParaRPr lang="en-US" dirty="0"/>
              </a:p>
            </p:txBody>
          </p:sp>
          <p:sp>
            <p:nvSpPr>
              <p:cNvPr id="117" name="TextBox 116"/>
              <p:cNvSpPr txBox="1"/>
              <p:nvPr/>
            </p:nvSpPr>
            <p:spPr>
              <a:xfrm>
                <a:off x="2292796" y="2843643"/>
                <a:ext cx="364321" cy="369333"/>
              </a:xfrm>
              <a:prstGeom prst="rect">
                <a:avLst/>
              </a:prstGeom>
              <a:noFill/>
            </p:spPr>
            <p:txBody>
              <a:bodyPr wrap="square" rtlCol="0">
                <a:spAutoFit/>
              </a:bodyPr>
              <a:lstStyle/>
              <a:p>
                <a:r>
                  <a:rPr lang="en-US" dirty="0" smtClean="0"/>
                  <a:t>0</a:t>
                </a:r>
                <a:endParaRPr lang="en-US" dirty="0"/>
              </a:p>
            </p:txBody>
          </p:sp>
          <p:sp>
            <p:nvSpPr>
              <p:cNvPr id="118" name="TextBox 117"/>
              <p:cNvSpPr txBox="1"/>
              <p:nvPr/>
            </p:nvSpPr>
            <p:spPr>
              <a:xfrm>
                <a:off x="1403648" y="3203683"/>
                <a:ext cx="364321" cy="369333"/>
              </a:xfrm>
              <a:prstGeom prst="rect">
                <a:avLst/>
              </a:prstGeom>
              <a:noFill/>
            </p:spPr>
            <p:txBody>
              <a:bodyPr wrap="square" rtlCol="0">
                <a:spAutoFit/>
              </a:bodyPr>
              <a:lstStyle/>
              <a:p>
                <a:r>
                  <a:rPr lang="en-US" dirty="0" smtClean="0"/>
                  <a:t>4</a:t>
                </a:r>
                <a:endParaRPr lang="en-US" dirty="0"/>
              </a:p>
            </p:txBody>
          </p:sp>
          <p:sp>
            <p:nvSpPr>
              <p:cNvPr id="119" name="TextBox 118"/>
              <p:cNvSpPr txBox="1"/>
              <p:nvPr/>
            </p:nvSpPr>
            <p:spPr>
              <a:xfrm>
                <a:off x="1860748" y="3203683"/>
                <a:ext cx="364321" cy="369333"/>
              </a:xfrm>
              <a:prstGeom prst="rect">
                <a:avLst/>
              </a:prstGeom>
              <a:noFill/>
            </p:spPr>
            <p:txBody>
              <a:bodyPr wrap="square" rtlCol="0">
                <a:spAutoFit/>
              </a:bodyPr>
              <a:lstStyle/>
              <a:p>
                <a:r>
                  <a:rPr lang="en-US" dirty="0" smtClean="0"/>
                  <a:t>5</a:t>
                </a:r>
                <a:endParaRPr lang="en-US" dirty="0"/>
              </a:p>
            </p:txBody>
          </p:sp>
          <p:sp>
            <p:nvSpPr>
              <p:cNvPr id="120" name="TextBox 119"/>
              <p:cNvSpPr txBox="1"/>
              <p:nvPr/>
            </p:nvSpPr>
            <p:spPr>
              <a:xfrm>
                <a:off x="2292796" y="3203683"/>
                <a:ext cx="364321" cy="369333"/>
              </a:xfrm>
              <a:prstGeom prst="rect">
                <a:avLst/>
              </a:prstGeom>
              <a:noFill/>
            </p:spPr>
            <p:txBody>
              <a:bodyPr wrap="square" rtlCol="0">
                <a:spAutoFit/>
              </a:bodyPr>
              <a:lstStyle/>
              <a:p>
                <a:r>
                  <a:rPr lang="en-US" dirty="0" smtClean="0"/>
                  <a:t>9</a:t>
                </a:r>
                <a:endParaRPr lang="en-US" dirty="0"/>
              </a:p>
            </p:txBody>
          </p:sp>
        </p:grpSp>
        <p:grpSp>
          <p:nvGrpSpPr>
            <p:cNvPr id="107" name="Group 106"/>
            <p:cNvGrpSpPr/>
            <p:nvPr/>
          </p:nvGrpSpPr>
          <p:grpSpPr>
            <a:xfrm>
              <a:off x="1360973" y="3573016"/>
              <a:ext cx="1338819" cy="1224137"/>
              <a:chOff x="1360973" y="2348880"/>
              <a:chExt cx="1338819" cy="1224137"/>
            </a:xfrm>
          </p:grpSpPr>
          <p:cxnSp>
            <p:nvCxnSpPr>
              <p:cNvPr id="108" name="Straight Connector 107"/>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21" name="Group 120"/>
          <p:cNvGrpSpPr/>
          <p:nvPr/>
        </p:nvGrpSpPr>
        <p:grpSpPr>
          <a:xfrm>
            <a:off x="3042457" y="5633108"/>
            <a:ext cx="1338819" cy="1284547"/>
            <a:chOff x="1360973" y="3573016"/>
            <a:chExt cx="1338819" cy="1284547"/>
          </a:xfrm>
        </p:grpSpPr>
        <p:grpSp>
          <p:nvGrpSpPr>
            <p:cNvPr id="122" name="Group 121"/>
            <p:cNvGrpSpPr/>
            <p:nvPr/>
          </p:nvGrpSpPr>
          <p:grpSpPr>
            <a:xfrm>
              <a:off x="1394836" y="3573016"/>
              <a:ext cx="1296144" cy="1284547"/>
              <a:chOff x="1360973" y="2348879"/>
              <a:chExt cx="1296144" cy="1284547"/>
            </a:xfrm>
          </p:grpSpPr>
          <p:sp>
            <p:nvSpPr>
              <p:cNvPr id="128" name="Rectangle 127"/>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TextBox 128"/>
              <p:cNvSpPr txBox="1"/>
              <p:nvPr/>
            </p:nvSpPr>
            <p:spPr>
              <a:xfrm>
                <a:off x="1403648" y="2370084"/>
                <a:ext cx="364321" cy="369333"/>
              </a:xfrm>
              <a:prstGeom prst="rect">
                <a:avLst/>
              </a:prstGeom>
              <a:noFill/>
            </p:spPr>
            <p:txBody>
              <a:bodyPr wrap="square" rtlCol="0">
                <a:spAutoFit/>
              </a:bodyPr>
              <a:lstStyle/>
              <a:p>
                <a:r>
                  <a:rPr lang="en-US" dirty="0" smtClean="0"/>
                  <a:t>4</a:t>
                </a:r>
                <a:endParaRPr lang="en-US" dirty="0"/>
              </a:p>
            </p:txBody>
          </p:sp>
          <p:sp>
            <p:nvSpPr>
              <p:cNvPr id="130" name="TextBox 129"/>
              <p:cNvSpPr txBox="1"/>
              <p:nvPr/>
            </p:nvSpPr>
            <p:spPr>
              <a:xfrm>
                <a:off x="1860748" y="2348879"/>
                <a:ext cx="364321" cy="369333"/>
              </a:xfrm>
              <a:prstGeom prst="rect">
                <a:avLst/>
              </a:prstGeom>
              <a:noFill/>
            </p:spPr>
            <p:txBody>
              <a:bodyPr wrap="square" rtlCol="0">
                <a:spAutoFit/>
              </a:bodyPr>
              <a:lstStyle/>
              <a:p>
                <a:r>
                  <a:rPr lang="en-US" dirty="0" smtClean="0"/>
                  <a:t>G</a:t>
                </a:r>
                <a:endParaRPr lang="en-US" dirty="0"/>
              </a:p>
            </p:txBody>
          </p:sp>
          <p:sp>
            <p:nvSpPr>
              <p:cNvPr id="131" name="TextBox 130"/>
              <p:cNvSpPr txBox="1"/>
              <p:nvPr/>
            </p:nvSpPr>
            <p:spPr>
              <a:xfrm>
                <a:off x="2292796" y="2411595"/>
                <a:ext cx="364321" cy="369333"/>
              </a:xfrm>
              <a:prstGeom prst="rect">
                <a:avLst/>
              </a:prstGeom>
              <a:noFill/>
            </p:spPr>
            <p:txBody>
              <a:bodyPr wrap="square" rtlCol="0">
                <a:spAutoFit/>
              </a:bodyPr>
              <a:lstStyle/>
              <a:p>
                <a:r>
                  <a:rPr lang="en-US" dirty="0" smtClean="0"/>
                  <a:t>7</a:t>
                </a:r>
                <a:endParaRPr lang="en-US" dirty="0"/>
              </a:p>
            </p:txBody>
          </p:sp>
          <p:sp>
            <p:nvSpPr>
              <p:cNvPr id="132" name="TextBox 131"/>
              <p:cNvSpPr txBox="1"/>
              <p:nvPr/>
            </p:nvSpPr>
            <p:spPr>
              <a:xfrm>
                <a:off x="1403648" y="2911434"/>
                <a:ext cx="364321" cy="307777"/>
              </a:xfrm>
              <a:prstGeom prst="rect">
                <a:avLst/>
              </a:prstGeom>
              <a:noFill/>
            </p:spPr>
            <p:txBody>
              <a:bodyPr wrap="square" rtlCol="0">
                <a:spAutoFit/>
              </a:bodyPr>
              <a:lstStyle/>
              <a:p>
                <a:r>
                  <a:rPr lang="en-US" sz="1400" dirty="0" smtClean="0"/>
                  <a:t>10</a:t>
                </a:r>
                <a:endParaRPr lang="en-US" sz="1400" dirty="0"/>
              </a:p>
            </p:txBody>
          </p:sp>
          <p:sp>
            <p:nvSpPr>
              <p:cNvPr id="133" name="TextBox 132"/>
              <p:cNvSpPr txBox="1"/>
              <p:nvPr/>
            </p:nvSpPr>
            <p:spPr>
              <a:xfrm>
                <a:off x="2136573" y="2881221"/>
                <a:ext cx="364321" cy="307777"/>
              </a:xfrm>
              <a:prstGeom prst="rect">
                <a:avLst/>
              </a:prstGeom>
              <a:noFill/>
            </p:spPr>
            <p:txBody>
              <a:bodyPr wrap="square" rtlCol="0">
                <a:spAutoFit/>
              </a:bodyPr>
              <a:lstStyle/>
              <a:p>
                <a:r>
                  <a:rPr lang="en-US" sz="1400" dirty="0" smtClean="0"/>
                  <a:t>10</a:t>
                </a:r>
                <a:endParaRPr lang="en-US" sz="1400" dirty="0"/>
              </a:p>
            </p:txBody>
          </p:sp>
          <p:sp>
            <p:nvSpPr>
              <p:cNvPr id="134" name="TextBox 133"/>
              <p:cNvSpPr txBox="1"/>
              <p:nvPr/>
            </p:nvSpPr>
            <p:spPr>
              <a:xfrm>
                <a:off x="1403648" y="3325649"/>
                <a:ext cx="364321" cy="307777"/>
              </a:xfrm>
              <a:prstGeom prst="rect">
                <a:avLst/>
              </a:prstGeom>
              <a:noFill/>
            </p:spPr>
            <p:txBody>
              <a:bodyPr wrap="square" rtlCol="0">
                <a:spAutoFit/>
              </a:bodyPr>
              <a:lstStyle/>
              <a:p>
                <a:r>
                  <a:rPr lang="en-US" sz="1400" dirty="0" smtClean="0"/>
                  <a:t>14</a:t>
                </a:r>
                <a:endParaRPr lang="en-US" sz="1400" dirty="0"/>
              </a:p>
            </p:txBody>
          </p:sp>
          <p:sp>
            <p:nvSpPr>
              <p:cNvPr id="135" name="TextBox 134"/>
              <p:cNvSpPr txBox="1"/>
              <p:nvPr/>
            </p:nvSpPr>
            <p:spPr>
              <a:xfrm>
                <a:off x="1860748" y="3203683"/>
                <a:ext cx="364321" cy="369333"/>
              </a:xfrm>
              <a:prstGeom prst="rect">
                <a:avLst/>
              </a:prstGeom>
              <a:noFill/>
            </p:spPr>
            <p:txBody>
              <a:bodyPr wrap="square" rtlCol="0">
                <a:spAutoFit/>
              </a:bodyPr>
              <a:lstStyle/>
              <a:p>
                <a:r>
                  <a:rPr lang="en-US" dirty="0"/>
                  <a:t>3</a:t>
                </a:r>
              </a:p>
            </p:txBody>
          </p:sp>
          <p:sp>
            <p:nvSpPr>
              <p:cNvPr id="136" name="TextBox 135"/>
              <p:cNvSpPr txBox="1"/>
              <p:nvPr/>
            </p:nvSpPr>
            <p:spPr>
              <a:xfrm>
                <a:off x="2136573" y="3293378"/>
                <a:ext cx="364321" cy="307777"/>
              </a:xfrm>
              <a:prstGeom prst="rect">
                <a:avLst/>
              </a:prstGeom>
              <a:noFill/>
            </p:spPr>
            <p:txBody>
              <a:bodyPr wrap="square" rtlCol="0">
                <a:spAutoFit/>
              </a:bodyPr>
              <a:lstStyle/>
              <a:p>
                <a:r>
                  <a:rPr lang="en-US" sz="1400" dirty="0" smtClean="0"/>
                  <a:t>17</a:t>
                </a:r>
                <a:endParaRPr lang="en-US" sz="1400" dirty="0"/>
              </a:p>
            </p:txBody>
          </p:sp>
        </p:grpSp>
        <p:grpSp>
          <p:nvGrpSpPr>
            <p:cNvPr id="123" name="Group 122"/>
            <p:cNvGrpSpPr/>
            <p:nvPr/>
          </p:nvGrpSpPr>
          <p:grpSpPr>
            <a:xfrm>
              <a:off x="1360973" y="3573016"/>
              <a:ext cx="1338819" cy="1224137"/>
              <a:chOff x="1360973" y="2348880"/>
              <a:chExt cx="1338819" cy="1224137"/>
            </a:xfrm>
          </p:grpSpPr>
          <p:cxnSp>
            <p:nvCxnSpPr>
              <p:cNvPr id="124" name="Straight Connector 123"/>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37" name="Group 136"/>
          <p:cNvGrpSpPr/>
          <p:nvPr/>
        </p:nvGrpSpPr>
        <p:grpSpPr>
          <a:xfrm>
            <a:off x="6545549" y="1268760"/>
            <a:ext cx="1338819" cy="1301464"/>
            <a:chOff x="1360973" y="3573016"/>
            <a:chExt cx="1338819" cy="1301464"/>
          </a:xfrm>
        </p:grpSpPr>
        <p:grpSp>
          <p:nvGrpSpPr>
            <p:cNvPr id="138" name="Group 137"/>
            <p:cNvGrpSpPr/>
            <p:nvPr/>
          </p:nvGrpSpPr>
          <p:grpSpPr>
            <a:xfrm>
              <a:off x="1394836" y="3573016"/>
              <a:ext cx="1232948" cy="1301464"/>
              <a:chOff x="1360973" y="2348879"/>
              <a:chExt cx="1232948" cy="1301464"/>
            </a:xfrm>
          </p:grpSpPr>
          <p:sp>
            <p:nvSpPr>
              <p:cNvPr id="144" name="Rectangle 143"/>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TextBox 144"/>
              <p:cNvSpPr txBox="1"/>
              <p:nvPr/>
            </p:nvSpPr>
            <p:spPr>
              <a:xfrm>
                <a:off x="1403648" y="2432714"/>
                <a:ext cx="364321" cy="369333"/>
              </a:xfrm>
              <a:prstGeom prst="rect">
                <a:avLst/>
              </a:prstGeom>
              <a:noFill/>
            </p:spPr>
            <p:txBody>
              <a:bodyPr wrap="square" rtlCol="0">
                <a:spAutoFit/>
              </a:bodyPr>
              <a:lstStyle/>
              <a:p>
                <a:r>
                  <a:rPr lang="en-US" dirty="0" smtClean="0"/>
                  <a:t>8</a:t>
                </a:r>
                <a:endParaRPr lang="en-US" dirty="0"/>
              </a:p>
            </p:txBody>
          </p:sp>
          <p:sp>
            <p:nvSpPr>
              <p:cNvPr id="146" name="TextBox 145"/>
              <p:cNvSpPr txBox="1"/>
              <p:nvPr/>
            </p:nvSpPr>
            <p:spPr>
              <a:xfrm>
                <a:off x="1860748" y="2348879"/>
                <a:ext cx="364321" cy="369333"/>
              </a:xfrm>
              <a:prstGeom prst="rect">
                <a:avLst/>
              </a:prstGeom>
              <a:noFill/>
            </p:spPr>
            <p:txBody>
              <a:bodyPr wrap="square" rtlCol="0">
                <a:spAutoFit/>
              </a:bodyPr>
              <a:lstStyle/>
              <a:p>
                <a:r>
                  <a:rPr lang="en-US" dirty="0" smtClean="0"/>
                  <a:t>I</a:t>
                </a:r>
                <a:endParaRPr lang="en-US" dirty="0"/>
              </a:p>
            </p:txBody>
          </p:sp>
          <p:sp>
            <p:nvSpPr>
              <p:cNvPr id="147" name="TextBox 146"/>
              <p:cNvSpPr txBox="1"/>
              <p:nvPr/>
            </p:nvSpPr>
            <p:spPr>
              <a:xfrm>
                <a:off x="2161873" y="2474225"/>
                <a:ext cx="364321" cy="307777"/>
              </a:xfrm>
              <a:prstGeom prst="rect">
                <a:avLst/>
              </a:prstGeom>
              <a:noFill/>
            </p:spPr>
            <p:txBody>
              <a:bodyPr wrap="square" rtlCol="0">
                <a:spAutoFit/>
              </a:bodyPr>
              <a:lstStyle/>
              <a:p>
                <a:r>
                  <a:rPr lang="en-US" sz="1400" dirty="0" smtClean="0"/>
                  <a:t>13</a:t>
                </a:r>
                <a:endParaRPr lang="en-US" dirty="0"/>
              </a:p>
            </p:txBody>
          </p:sp>
          <p:sp>
            <p:nvSpPr>
              <p:cNvPr id="148" name="TextBox 147"/>
              <p:cNvSpPr txBox="1"/>
              <p:nvPr/>
            </p:nvSpPr>
            <p:spPr>
              <a:xfrm>
                <a:off x="1403648" y="2877247"/>
                <a:ext cx="364321" cy="369333"/>
              </a:xfrm>
              <a:prstGeom prst="rect">
                <a:avLst/>
              </a:prstGeom>
              <a:noFill/>
            </p:spPr>
            <p:txBody>
              <a:bodyPr wrap="square" rtlCol="0">
                <a:spAutoFit/>
              </a:bodyPr>
              <a:lstStyle/>
              <a:p>
                <a:r>
                  <a:rPr lang="en-US" dirty="0"/>
                  <a:t>4</a:t>
                </a:r>
              </a:p>
            </p:txBody>
          </p:sp>
          <p:sp>
            <p:nvSpPr>
              <p:cNvPr id="149" name="TextBox 148"/>
              <p:cNvSpPr txBox="1"/>
              <p:nvPr/>
            </p:nvSpPr>
            <p:spPr>
              <a:xfrm>
                <a:off x="2229600" y="2881221"/>
                <a:ext cx="364321" cy="369333"/>
              </a:xfrm>
              <a:prstGeom prst="rect">
                <a:avLst/>
              </a:prstGeom>
              <a:noFill/>
            </p:spPr>
            <p:txBody>
              <a:bodyPr wrap="square" rtlCol="0">
                <a:spAutoFit/>
              </a:bodyPr>
              <a:lstStyle/>
              <a:p>
                <a:r>
                  <a:rPr lang="en-US" dirty="0" smtClean="0"/>
                  <a:t>4</a:t>
                </a:r>
                <a:endParaRPr lang="en-US" dirty="0"/>
              </a:p>
            </p:txBody>
          </p:sp>
          <p:sp>
            <p:nvSpPr>
              <p:cNvPr id="150" name="TextBox 149"/>
              <p:cNvSpPr txBox="1"/>
              <p:nvPr/>
            </p:nvSpPr>
            <p:spPr>
              <a:xfrm>
                <a:off x="1403648" y="3320747"/>
                <a:ext cx="364321" cy="307777"/>
              </a:xfrm>
              <a:prstGeom prst="rect">
                <a:avLst/>
              </a:prstGeom>
              <a:noFill/>
            </p:spPr>
            <p:txBody>
              <a:bodyPr wrap="square" rtlCol="0">
                <a:spAutoFit/>
              </a:bodyPr>
              <a:lstStyle/>
              <a:p>
                <a:r>
                  <a:rPr lang="en-US" sz="1400" dirty="0" smtClean="0"/>
                  <a:t>12</a:t>
                </a:r>
                <a:endParaRPr lang="en-US" sz="1400" dirty="0"/>
              </a:p>
            </p:txBody>
          </p:sp>
          <p:sp>
            <p:nvSpPr>
              <p:cNvPr id="151" name="TextBox 150"/>
              <p:cNvSpPr txBox="1"/>
              <p:nvPr/>
            </p:nvSpPr>
            <p:spPr>
              <a:xfrm>
                <a:off x="1860748" y="3281010"/>
                <a:ext cx="364321" cy="369333"/>
              </a:xfrm>
              <a:prstGeom prst="rect">
                <a:avLst/>
              </a:prstGeom>
              <a:noFill/>
            </p:spPr>
            <p:txBody>
              <a:bodyPr wrap="square" rtlCol="0">
                <a:spAutoFit/>
              </a:bodyPr>
              <a:lstStyle/>
              <a:p>
                <a:r>
                  <a:rPr lang="en-US" dirty="0"/>
                  <a:t>5</a:t>
                </a:r>
              </a:p>
            </p:txBody>
          </p:sp>
          <p:sp>
            <p:nvSpPr>
              <p:cNvPr id="152" name="TextBox 151"/>
              <p:cNvSpPr txBox="1"/>
              <p:nvPr/>
            </p:nvSpPr>
            <p:spPr>
              <a:xfrm>
                <a:off x="2161873" y="3320747"/>
                <a:ext cx="364321" cy="307777"/>
              </a:xfrm>
              <a:prstGeom prst="rect">
                <a:avLst/>
              </a:prstGeom>
              <a:noFill/>
            </p:spPr>
            <p:txBody>
              <a:bodyPr wrap="square" rtlCol="0">
                <a:spAutoFit/>
              </a:bodyPr>
              <a:lstStyle/>
              <a:p>
                <a:r>
                  <a:rPr lang="en-US" sz="1400" dirty="0" smtClean="0"/>
                  <a:t>17</a:t>
                </a:r>
                <a:endParaRPr lang="en-US" sz="1400" dirty="0"/>
              </a:p>
            </p:txBody>
          </p:sp>
        </p:grpSp>
        <p:grpSp>
          <p:nvGrpSpPr>
            <p:cNvPr id="139" name="Group 138"/>
            <p:cNvGrpSpPr/>
            <p:nvPr/>
          </p:nvGrpSpPr>
          <p:grpSpPr>
            <a:xfrm>
              <a:off x="1360973" y="3573016"/>
              <a:ext cx="1338819" cy="1224137"/>
              <a:chOff x="1360973" y="2348880"/>
              <a:chExt cx="1338819" cy="1224137"/>
            </a:xfrm>
          </p:grpSpPr>
          <p:cxnSp>
            <p:nvCxnSpPr>
              <p:cNvPr id="140" name="Straight Connector 139"/>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53" name="Group 152"/>
          <p:cNvGrpSpPr/>
          <p:nvPr/>
        </p:nvGrpSpPr>
        <p:grpSpPr>
          <a:xfrm>
            <a:off x="4673341" y="3311694"/>
            <a:ext cx="1338819" cy="1316390"/>
            <a:chOff x="1360973" y="3573016"/>
            <a:chExt cx="1338819" cy="1316390"/>
          </a:xfrm>
        </p:grpSpPr>
        <p:grpSp>
          <p:nvGrpSpPr>
            <p:cNvPr id="154" name="Group 153"/>
            <p:cNvGrpSpPr/>
            <p:nvPr/>
          </p:nvGrpSpPr>
          <p:grpSpPr>
            <a:xfrm>
              <a:off x="1394836" y="3573016"/>
              <a:ext cx="1194554" cy="1316390"/>
              <a:chOff x="1360973" y="2348879"/>
              <a:chExt cx="1194554" cy="1316390"/>
            </a:xfrm>
          </p:grpSpPr>
          <p:sp>
            <p:nvSpPr>
              <p:cNvPr id="160" name="Rectangle 159"/>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TextBox 160"/>
              <p:cNvSpPr txBox="1"/>
              <p:nvPr/>
            </p:nvSpPr>
            <p:spPr>
              <a:xfrm>
                <a:off x="1403648" y="2445240"/>
                <a:ext cx="364321" cy="369333"/>
              </a:xfrm>
              <a:prstGeom prst="rect">
                <a:avLst/>
              </a:prstGeom>
              <a:noFill/>
            </p:spPr>
            <p:txBody>
              <a:bodyPr wrap="square" rtlCol="0">
                <a:spAutoFit/>
              </a:bodyPr>
              <a:lstStyle/>
              <a:p>
                <a:r>
                  <a:rPr lang="en-US" dirty="0"/>
                  <a:t>9</a:t>
                </a:r>
              </a:p>
            </p:txBody>
          </p:sp>
          <p:sp>
            <p:nvSpPr>
              <p:cNvPr id="162" name="TextBox 161"/>
              <p:cNvSpPr txBox="1"/>
              <p:nvPr/>
            </p:nvSpPr>
            <p:spPr>
              <a:xfrm>
                <a:off x="1860748" y="2348879"/>
                <a:ext cx="364321" cy="369333"/>
              </a:xfrm>
              <a:prstGeom prst="rect">
                <a:avLst/>
              </a:prstGeom>
              <a:noFill/>
            </p:spPr>
            <p:txBody>
              <a:bodyPr wrap="square" rtlCol="0">
                <a:spAutoFit/>
              </a:bodyPr>
              <a:lstStyle/>
              <a:p>
                <a:r>
                  <a:rPr lang="en-US" dirty="0" smtClean="0"/>
                  <a:t>H</a:t>
                </a:r>
                <a:endParaRPr lang="en-US" dirty="0"/>
              </a:p>
            </p:txBody>
          </p:sp>
          <p:sp>
            <p:nvSpPr>
              <p:cNvPr id="163" name="TextBox 162"/>
              <p:cNvSpPr txBox="1"/>
              <p:nvPr/>
            </p:nvSpPr>
            <p:spPr>
              <a:xfrm>
                <a:off x="2119198" y="2486751"/>
                <a:ext cx="364321" cy="307777"/>
              </a:xfrm>
              <a:prstGeom prst="rect">
                <a:avLst/>
              </a:prstGeom>
              <a:noFill/>
            </p:spPr>
            <p:txBody>
              <a:bodyPr wrap="square" rtlCol="0">
                <a:spAutoFit/>
              </a:bodyPr>
              <a:lstStyle/>
              <a:p>
                <a:r>
                  <a:rPr lang="en-US" sz="1400" dirty="0" smtClean="0"/>
                  <a:t>14</a:t>
                </a:r>
                <a:endParaRPr lang="en-US" sz="1400" dirty="0"/>
              </a:p>
            </p:txBody>
          </p:sp>
          <p:sp>
            <p:nvSpPr>
              <p:cNvPr id="164" name="TextBox 163"/>
              <p:cNvSpPr txBox="1"/>
              <p:nvPr/>
            </p:nvSpPr>
            <p:spPr>
              <a:xfrm>
                <a:off x="1403648" y="2874991"/>
                <a:ext cx="364321" cy="369333"/>
              </a:xfrm>
              <a:prstGeom prst="rect">
                <a:avLst/>
              </a:prstGeom>
              <a:noFill/>
            </p:spPr>
            <p:txBody>
              <a:bodyPr wrap="square" rtlCol="0">
                <a:spAutoFit/>
              </a:bodyPr>
              <a:lstStyle/>
              <a:p>
                <a:r>
                  <a:rPr lang="en-US" dirty="0"/>
                  <a:t>0</a:t>
                </a:r>
              </a:p>
            </p:txBody>
          </p:sp>
          <p:sp>
            <p:nvSpPr>
              <p:cNvPr id="165" name="TextBox 164"/>
              <p:cNvSpPr txBox="1"/>
              <p:nvPr/>
            </p:nvSpPr>
            <p:spPr>
              <a:xfrm>
                <a:off x="2191206" y="2863888"/>
                <a:ext cx="364321" cy="369333"/>
              </a:xfrm>
              <a:prstGeom prst="rect">
                <a:avLst/>
              </a:prstGeom>
              <a:noFill/>
            </p:spPr>
            <p:txBody>
              <a:bodyPr wrap="square" rtlCol="0">
                <a:spAutoFit/>
              </a:bodyPr>
              <a:lstStyle/>
              <a:p>
                <a:r>
                  <a:rPr lang="en-US" dirty="0" smtClean="0"/>
                  <a:t>0</a:t>
                </a:r>
                <a:endParaRPr lang="en-US" dirty="0"/>
              </a:p>
            </p:txBody>
          </p:sp>
          <p:sp>
            <p:nvSpPr>
              <p:cNvPr id="166" name="TextBox 165"/>
              <p:cNvSpPr txBox="1"/>
              <p:nvPr/>
            </p:nvSpPr>
            <p:spPr>
              <a:xfrm>
                <a:off x="1403648" y="3274032"/>
                <a:ext cx="364321" cy="369333"/>
              </a:xfrm>
              <a:prstGeom prst="rect">
                <a:avLst/>
              </a:prstGeom>
              <a:noFill/>
            </p:spPr>
            <p:txBody>
              <a:bodyPr wrap="square" rtlCol="0">
                <a:spAutoFit/>
              </a:bodyPr>
              <a:lstStyle/>
              <a:p>
                <a:r>
                  <a:rPr lang="en-US" dirty="0"/>
                  <a:t>9</a:t>
                </a:r>
              </a:p>
            </p:txBody>
          </p:sp>
          <p:sp>
            <p:nvSpPr>
              <p:cNvPr id="167" name="TextBox 166"/>
              <p:cNvSpPr txBox="1"/>
              <p:nvPr/>
            </p:nvSpPr>
            <p:spPr>
              <a:xfrm>
                <a:off x="1860748" y="3295936"/>
                <a:ext cx="364321" cy="369333"/>
              </a:xfrm>
              <a:prstGeom prst="rect">
                <a:avLst/>
              </a:prstGeom>
              <a:noFill/>
            </p:spPr>
            <p:txBody>
              <a:bodyPr wrap="square" rtlCol="0">
                <a:spAutoFit/>
              </a:bodyPr>
              <a:lstStyle/>
              <a:p>
                <a:r>
                  <a:rPr lang="en-US" dirty="0" smtClean="0"/>
                  <a:t>5</a:t>
                </a:r>
                <a:endParaRPr lang="en-US" dirty="0"/>
              </a:p>
            </p:txBody>
          </p:sp>
          <p:sp>
            <p:nvSpPr>
              <p:cNvPr id="168" name="TextBox 167"/>
              <p:cNvSpPr txBox="1"/>
              <p:nvPr/>
            </p:nvSpPr>
            <p:spPr>
              <a:xfrm>
                <a:off x="2119198" y="3310536"/>
                <a:ext cx="364321" cy="307777"/>
              </a:xfrm>
              <a:prstGeom prst="rect">
                <a:avLst/>
              </a:prstGeom>
              <a:noFill/>
            </p:spPr>
            <p:txBody>
              <a:bodyPr wrap="square" rtlCol="0">
                <a:spAutoFit/>
              </a:bodyPr>
              <a:lstStyle/>
              <a:p>
                <a:r>
                  <a:rPr lang="en-US" sz="1400" dirty="0" smtClean="0"/>
                  <a:t>14</a:t>
                </a:r>
                <a:endParaRPr lang="en-US" sz="1400" dirty="0"/>
              </a:p>
            </p:txBody>
          </p:sp>
        </p:grpSp>
        <p:grpSp>
          <p:nvGrpSpPr>
            <p:cNvPr id="155" name="Group 154"/>
            <p:cNvGrpSpPr/>
            <p:nvPr/>
          </p:nvGrpSpPr>
          <p:grpSpPr>
            <a:xfrm>
              <a:off x="1360973" y="3573016"/>
              <a:ext cx="1338819" cy="1224137"/>
              <a:chOff x="1360973" y="2348880"/>
              <a:chExt cx="1338819" cy="1224137"/>
            </a:xfrm>
          </p:grpSpPr>
          <p:cxnSp>
            <p:nvCxnSpPr>
              <p:cNvPr id="156" name="Straight Connector 155"/>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a:off x="2195736" y="2348880"/>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69" name="Group 168"/>
          <p:cNvGrpSpPr/>
          <p:nvPr/>
        </p:nvGrpSpPr>
        <p:grpSpPr>
          <a:xfrm>
            <a:off x="6516216" y="3307046"/>
            <a:ext cx="1338819" cy="1346090"/>
            <a:chOff x="1360973" y="3573016"/>
            <a:chExt cx="1338819" cy="1346090"/>
          </a:xfrm>
        </p:grpSpPr>
        <p:grpSp>
          <p:nvGrpSpPr>
            <p:cNvPr id="170" name="Group 169"/>
            <p:cNvGrpSpPr/>
            <p:nvPr/>
          </p:nvGrpSpPr>
          <p:grpSpPr>
            <a:xfrm>
              <a:off x="1394836" y="3573016"/>
              <a:ext cx="1160239" cy="1286767"/>
              <a:chOff x="1360973" y="2348879"/>
              <a:chExt cx="1160239" cy="1286767"/>
            </a:xfrm>
          </p:grpSpPr>
          <p:sp>
            <p:nvSpPr>
              <p:cNvPr id="176" name="Rectangle 175"/>
              <p:cNvSpPr/>
              <p:nvPr/>
            </p:nvSpPr>
            <p:spPr>
              <a:xfrm>
                <a:off x="1360973" y="2370084"/>
                <a:ext cx="1160239" cy="12029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TextBox 176"/>
              <p:cNvSpPr txBox="1"/>
              <p:nvPr/>
            </p:nvSpPr>
            <p:spPr>
              <a:xfrm>
                <a:off x="1403648" y="2432714"/>
                <a:ext cx="364321" cy="261610"/>
              </a:xfrm>
              <a:prstGeom prst="rect">
                <a:avLst/>
              </a:prstGeom>
              <a:noFill/>
            </p:spPr>
            <p:txBody>
              <a:bodyPr wrap="square" rtlCol="0">
                <a:spAutoFit/>
              </a:bodyPr>
              <a:lstStyle/>
              <a:p>
                <a:r>
                  <a:rPr lang="en-US" sz="1100" dirty="0" smtClean="0"/>
                  <a:t>14</a:t>
                </a:r>
                <a:endParaRPr lang="en-US" dirty="0"/>
              </a:p>
            </p:txBody>
          </p:sp>
          <p:sp>
            <p:nvSpPr>
              <p:cNvPr id="178" name="TextBox 177"/>
              <p:cNvSpPr txBox="1"/>
              <p:nvPr/>
            </p:nvSpPr>
            <p:spPr>
              <a:xfrm>
                <a:off x="1860748" y="2348879"/>
                <a:ext cx="364321" cy="369333"/>
              </a:xfrm>
              <a:prstGeom prst="rect">
                <a:avLst/>
              </a:prstGeom>
              <a:noFill/>
            </p:spPr>
            <p:txBody>
              <a:bodyPr wrap="square" rtlCol="0">
                <a:spAutoFit/>
              </a:bodyPr>
              <a:lstStyle/>
              <a:p>
                <a:r>
                  <a:rPr lang="en-US" dirty="0" smtClean="0"/>
                  <a:t>J</a:t>
                </a:r>
                <a:endParaRPr lang="en-US" dirty="0"/>
              </a:p>
            </p:txBody>
          </p:sp>
          <p:sp>
            <p:nvSpPr>
              <p:cNvPr id="179" name="TextBox 178"/>
              <p:cNvSpPr txBox="1"/>
              <p:nvPr/>
            </p:nvSpPr>
            <p:spPr>
              <a:xfrm>
                <a:off x="2187741" y="2433255"/>
                <a:ext cx="325927" cy="253916"/>
              </a:xfrm>
              <a:prstGeom prst="rect">
                <a:avLst/>
              </a:prstGeom>
              <a:solidFill>
                <a:srgbClr val="92D050"/>
              </a:solidFill>
            </p:spPr>
            <p:txBody>
              <a:bodyPr wrap="square" rtlCol="0">
                <a:spAutoFit/>
              </a:bodyPr>
              <a:lstStyle/>
              <a:p>
                <a:r>
                  <a:rPr lang="en-US" sz="1050" dirty="0" smtClean="0"/>
                  <a:t>17</a:t>
                </a:r>
                <a:endParaRPr lang="en-US" sz="1050" dirty="0"/>
              </a:p>
            </p:txBody>
          </p:sp>
          <p:sp>
            <p:nvSpPr>
              <p:cNvPr id="180" name="TextBox 179"/>
              <p:cNvSpPr txBox="1"/>
              <p:nvPr/>
            </p:nvSpPr>
            <p:spPr>
              <a:xfrm>
                <a:off x="1403648" y="2893588"/>
                <a:ext cx="364321" cy="369333"/>
              </a:xfrm>
              <a:prstGeom prst="rect">
                <a:avLst/>
              </a:prstGeom>
              <a:noFill/>
            </p:spPr>
            <p:txBody>
              <a:bodyPr wrap="square" rtlCol="0">
                <a:spAutoFit/>
              </a:bodyPr>
              <a:lstStyle/>
              <a:p>
                <a:r>
                  <a:rPr lang="en-US" dirty="0"/>
                  <a:t>0</a:t>
                </a:r>
              </a:p>
            </p:txBody>
          </p:sp>
          <p:sp>
            <p:nvSpPr>
              <p:cNvPr id="181" name="TextBox 180"/>
              <p:cNvSpPr txBox="1"/>
              <p:nvPr/>
            </p:nvSpPr>
            <p:spPr>
              <a:xfrm>
                <a:off x="2186624" y="2881221"/>
                <a:ext cx="301092" cy="369333"/>
              </a:xfrm>
              <a:prstGeom prst="rect">
                <a:avLst/>
              </a:prstGeom>
              <a:noFill/>
            </p:spPr>
            <p:txBody>
              <a:bodyPr wrap="square" rtlCol="0">
                <a:spAutoFit/>
              </a:bodyPr>
              <a:lstStyle/>
              <a:p>
                <a:r>
                  <a:rPr lang="en-US" dirty="0" smtClean="0"/>
                  <a:t>0</a:t>
                </a:r>
                <a:endParaRPr lang="en-US" dirty="0"/>
              </a:p>
            </p:txBody>
          </p:sp>
          <p:sp>
            <p:nvSpPr>
              <p:cNvPr id="182" name="TextBox 181"/>
              <p:cNvSpPr txBox="1"/>
              <p:nvPr/>
            </p:nvSpPr>
            <p:spPr>
              <a:xfrm>
                <a:off x="1403648" y="3253787"/>
                <a:ext cx="364321" cy="307777"/>
              </a:xfrm>
              <a:prstGeom prst="rect">
                <a:avLst/>
              </a:prstGeom>
              <a:noFill/>
            </p:spPr>
            <p:txBody>
              <a:bodyPr wrap="square" rtlCol="0">
                <a:spAutoFit/>
              </a:bodyPr>
              <a:lstStyle/>
              <a:p>
                <a:r>
                  <a:rPr lang="en-US" sz="1400" dirty="0" smtClean="0"/>
                  <a:t>14</a:t>
                </a:r>
                <a:endParaRPr lang="en-US" sz="1400" dirty="0"/>
              </a:p>
            </p:txBody>
          </p:sp>
          <p:sp>
            <p:nvSpPr>
              <p:cNvPr id="183" name="TextBox 182"/>
              <p:cNvSpPr txBox="1"/>
              <p:nvPr/>
            </p:nvSpPr>
            <p:spPr>
              <a:xfrm>
                <a:off x="1860748" y="3266313"/>
                <a:ext cx="364321" cy="369333"/>
              </a:xfrm>
              <a:prstGeom prst="rect">
                <a:avLst/>
              </a:prstGeom>
              <a:noFill/>
            </p:spPr>
            <p:txBody>
              <a:bodyPr wrap="square" rtlCol="0">
                <a:spAutoFit/>
              </a:bodyPr>
              <a:lstStyle/>
              <a:p>
                <a:r>
                  <a:rPr lang="en-US" dirty="0" smtClean="0"/>
                  <a:t>3</a:t>
                </a:r>
                <a:endParaRPr lang="en-US" dirty="0"/>
              </a:p>
            </p:txBody>
          </p:sp>
          <p:sp>
            <p:nvSpPr>
              <p:cNvPr id="184" name="TextBox 183"/>
              <p:cNvSpPr txBox="1"/>
              <p:nvPr/>
            </p:nvSpPr>
            <p:spPr>
              <a:xfrm>
                <a:off x="2119198" y="3291365"/>
                <a:ext cx="364321" cy="307777"/>
              </a:xfrm>
              <a:prstGeom prst="rect">
                <a:avLst/>
              </a:prstGeom>
              <a:noFill/>
            </p:spPr>
            <p:txBody>
              <a:bodyPr wrap="square" rtlCol="0">
                <a:spAutoFit/>
              </a:bodyPr>
              <a:lstStyle/>
              <a:p>
                <a:r>
                  <a:rPr lang="en-US" sz="1400" dirty="0" smtClean="0"/>
                  <a:t>17</a:t>
                </a:r>
                <a:endParaRPr lang="en-US" sz="1400" dirty="0"/>
              </a:p>
            </p:txBody>
          </p:sp>
        </p:grpSp>
        <p:grpSp>
          <p:nvGrpSpPr>
            <p:cNvPr id="171" name="Group 170"/>
            <p:cNvGrpSpPr/>
            <p:nvPr/>
          </p:nvGrpSpPr>
          <p:grpSpPr>
            <a:xfrm>
              <a:off x="1360973" y="3575381"/>
              <a:ext cx="1338819" cy="1343725"/>
              <a:chOff x="1360973" y="2351245"/>
              <a:chExt cx="1338819" cy="1343725"/>
            </a:xfrm>
          </p:grpSpPr>
          <p:cxnSp>
            <p:nvCxnSpPr>
              <p:cNvPr id="172" name="Straight Connector 171"/>
              <p:cNvCxnSpPr/>
              <p:nvPr/>
            </p:nvCxnSpPr>
            <p:spPr>
              <a:xfrm>
                <a:off x="1810644" y="2351245"/>
                <a:ext cx="0" cy="1221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2195736" y="2470833"/>
                <a:ext cx="0" cy="122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360973" y="2708920"/>
                <a:ext cx="12961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403648" y="3140968"/>
                <a:ext cx="1296144"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23" name="Oval 22"/>
          <p:cNvSpPr/>
          <p:nvPr/>
        </p:nvSpPr>
        <p:spPr>
          <a:xfrm>
            <a:off x="-36512" y="3806458"/>
            <a:ext cx="720080" cy="8803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p:cNvSpPr/>
          <p:nvPr/>
        </p:nvSpPr>
        <p:spPr>
          <a:xfrm>
            <a:off x="8244408" y="5195303"/>
            <a:ext cx="720080" cy="8803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8244408" y="5479219"/>
            <a:ext cx="683568" cy="307777"/>
          </a:xfrm>
          <a:prstGeom prst="rect">
            <a:avLst/>
          </a:prstGeom>
          <a:noFill/>
        </p:spPr>
        <p:txBody>
          <a:bodyPr wrap="square" rtlCol="0">
            <a:spAutoFit/>
          </a:bodyPr>
          <a:lstStyle/>
          <a:p>
            <a:r>
              <a:rPr lang="en-US" sz="1400" b="1" dirty="0" smtClean="0"/>
              <a:t>FINISH</a:t>
            </a:r>
            <a:endParaRPr lang="en-US" sz="1400" b="1" dirty="0"/>
          </a:p>
        </p:txBody>
      </p:sp>
      <p:sp>
        <p:nvSpPr>
          <p:cNvPr id="189" name="TextBox 188"/>
          <p:cNvSpPr txBox="1"/>
          <p:nvPr/>
        </p:nvSpPr>
        <p:spPr>
          <a:xfrm>
            <a:off x="0" y="4119462"/>
            <a:ext cx="683568" cy="307777"/>
          </a:xfrm>
          <a:prstGeom prst="rect">
            <a:avLst/>
          </a:prstGeom>
          <a:noFill/>
        </p:spPr>
        <p:txBody>
          <a:bodyPr wrap="square" rtlCol="0">
            <a:spAutoFit/>
          </a:bodyPr>
          <a:lstStyle/>
          <a:p>
            <a:r>
              <a:rPr lang="en-US" sz="1400" b="1" dirty="0" smtClean="0"/>
              <a:t>START</a:t>
            </a:r>
            <a:endParaRPr lang="en-US" sz="1400" b="1" dirty="0"/>
          </a:p>
        </p:txBody>
      </p:sp>
      <p:cxnSp>
        <p:nvCxnSpPr>
          <p:cNvPr id="3073" name="Elbow Connector 3072"/>
          <p:cNvCxnSpPr/>
          <p:nvPr/>
        </p:nvCxnSpPr>
        <p:spPr>
          <a:xfrm rot="5400000" flipH="1" flipV="1">
            <a:off x="140758" y="3031509"/>
            <a:ext cx="813704" cy="736195"/>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77" name="Elbow Connector 3076"/>
          <p:cNvCxnSpPr>
            <a:stCxn id="23" idx="6"/>
          </p:cNvCxnSpPr>
          <p:nvPr/>
        </p:nvCxnSpPr>
        <p:spPr>
          <a:xfrm>
            <a:off x="683568" y="4246631"/>
            <a:ext cx="342292" cy="2672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79" name="Elbow Connector 3078"/>
          <p:cNvCxnSpPr>
            <a:stCxn id="23" idx="4"/>
            <a:endCxn id="80" idx="1"/>
          </p:cNvCxnSpPr>
          <p:nvPr/>
        </p:nvCxnSpPr>
        <p:spPr>
          <a:xfrm rot="16200000" flipH="1">
            <a:off x="-10494" y="5020825"/>
            <a:ext cx="1568980" cy="900937"/>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81" name="Straight Arrow Connector 3080"/>
          <p:cNvCxnSpPr>
            <a:endCxn id="128" idx="1"/>
          </p:cNvCxnSpPr>
          <p:nvPr/>
        </p:nvCxnSpPr>
        <p:spPr>
          <a:xfrm flipV="1">
            <a:off x="2322004" y="6255781"/>
            <a:ext cx="754316" cy="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84" name="Elbow Connector 3083"/>
          <p:cNvCxnSpPr>
            <a:endCxn id="48" idx="1"/>
          </p:cNvCxnSpPr>
          <p:nvPr/>
        </p:nvCxnSpPr>
        <p:spPr>
          <a:xfrm rot="5400000" flipH="1" flipV="1">
            <a:off x="1915416" y="1990562"/>
            <a:ext cx="1233628" cy="893563"/>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91" name="Elbow Connector 3090"/>
          <p:cNvCxnSpPr>
            <a:endCxn id="96" idx="1"/>
          </p:cNvCxnSpPr>
          <p:nvPr/>
        </p:nvCxnSpPr>
        <p:spPr>
          <a:xfrm flipV="1">
            <a:off x="2133233" y="3244781"/>
            <a:ext cx="845779" cy="64993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98" name="Elbow Connector 3097"/>
          <p:cNvCxnSpPr>
            <a:stCxn id="80" idx="0"/>
          </p:cNvCxnSpPr>
          <p:nvPr/>
        </p:nvCxnSpPr>
        <p:spPr>
          <a:xfrm rot="5400000" flipH="1" flipV="1">
            <a:off x="2159923" y="4869090"/>
            <a:ext cx="429888" cy="1140564"/>
          </a:xfrm>
          <a:prstGeom prst="bentConnector2">
            <a:avLst/>
          </a:prstGeom>
          <a:ln w="4762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100" name="Elbow Connector 3099"/>
          <p:cNvCxnSpPr>
            <a:stCxn id="99" idx="2"/>
            <a:endCxn id="160" idx="0"/>
          </p:cNvCxnSpPr>
          <p:nvPr/>
        </p:nvCxnSpPr>
        <p:spPr>
          <a:xfrm rot="16200000" flipH="1">
            <a:off x="4550789" y="2596364"/>
            <a:ext cx="278742" cy="119432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03" name="Elbow Connector 3102"/>
          <p:cNvCxnSpPr/>
          <p:nvPr/>
        </p:nvCxnSpPr>
        <p:spPr>
          <a:xfrm flipV="1">
            <a:off x="4034080" y="4194960"/>
            <a:ext cx="715800" cy="643300"/>
          </a:xfrm>
          <a:prstGeom prst="bentConnector3">
            <a:avLst>
              <a:gd name="adj1" fmla="val 50000"/>
            </a:avLst>
          </a:prstGeom>
          <a:ln w="4762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87" name="Straight Arrow Connector 186"/>
          <p:cNvCxnSpPr/>
          <p:nvPr/>
        </p:nvCxnSpPr>
        <p:spPr>
          <a:xfrm>
            <a:off x="4144233" y="1844824"/>
            <a:ext cx="240584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1" name="Elbow Connector 190"/>
          <p:cNvCxnSpPr>
            <a:stCxn id="128" idx="3"/>
            <a:endCxn id="183" idx="2"/>
          </p:cNvCxnSpPr>
          <p:nvPr/>
        </p:nvCxnSpPr>
        <p:spPr>
          <a:xfrm flipV="1">
            <a:off x="4236559" y="4593813"/>
            <a:ext cx="2995456" cy="1661968"/>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05" name="Elbow Connector 3104"/>
          <p:cNvCxnSpPr/>
          <p:nvPr/>
        </p:nvCxnSpPr>
        <p:spPr>
          <a:xfrm>
            <a:off x="7812360" y="1985769"/>
            <a:ext cx="792088" cy="3209534"/>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07" name="Elbow Connector 3106"/>
          <p:cNvCxnSpPr>
            <a:stCxn id="176" idx="3"/>
            <a:endCxn id="186" idx="1"/>
          </p:cNvCxnSpPr>
          <p:nvPr/>
        </p:nvCxnSpPr>
        <p:spPr>
          <a:xfrm>
            <a:off x="7710318" y="3929719"/>
            <a:ext cx="639543" cy="1394508"/>
          </a:xfrm>
          <a:prstGeom prst="bentConnector2">
            <a:avLst/>
          </a:prstGeom>
          <a:ln w="4762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109" name="Straight Arrow Connector 3108"/>
          <p:cNvCxnSpPr>
            <a:endCxn id="176" idx="1"/>
          </p:cNvCxnSpPr>
          <p:nvPr/>
        </p:nvCxnSpPr>
        <p:spPr>
          <a:xfrm flipV="1">
            <a:off x="5829750" y="3929719"/>
            <a:ext cx="720329" cy="111348"/>
          </a:xfrm>
          <a:prstGeom prst="straightConnector1">
            <a:avLst/>
          </a:prstGeom>
          <a:ln w="47625">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76667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3"/>
          <p:cNvSpPr>
            <a:spLocks noGrp="1"/>
          </p:cNvSpPr>
          <p:nvPr>
            <p:ph type="sldNum" sz="quarter" idx="10"/>
          </p:nvPr>
        </p:nvSpPr>
        <p:spPr/>
        <p:txBody>
          <a:bodyPr/>
          <a:lstStyle/>
          <a:p>
            <a:pPr>
              <a:defRPr/>
            </a:pPr>
            <a:r>
              <a:rPr lang="en-US"/>
              <a:t>7</a:t>
            </a:r>
            <a:r>
              <a:rPr lang="en-US">
                <a:cs typeface="Times New Roman" panose="02020603050405020304" pitchFamily="18" charset="0"/>
              </a:rPr>
              <a:t>–</a:t>
            </a:r>
            <a:fld id="{843CB8D3-1C2C-44F0-BAE6-7C7AB197D15F}" type="slidenum">
              <a:rPr lang="en-US"/>
              <a:pPr>
                <a:defRPr/>
              </a:pPr>
              <a:t>26</a:t>
            </a:fld>
            <a:endParaRPr lang="en-US"/>
          </a:p>
        </p:txBody>
      </p:sp>
      <p:sp>
        <p:nvSpPr>
          <p:cNvPr id="107522" name="AutoShape 2"/>
          <p:cNvSpPr>
            <a:spLocks noGrp="1" noChangeArrowheads="1"/>
          </p:cNvSpPr>
          <p:nvPr>
            <p:ph type="title"/>
          </p:nvPr>
        </p:nvSpPr>
        <p:spPr>
          <a:xfrm>
            <a:off x="495300" y="228600"/>
            <a:ext cx="8153400" cy="823913"/>
          </a:xfrm>
        </p:spPr>
        <p:txBody>
          <a:bodyPr/>
          <a:lstStyle/>
          <a:p>
            <a:pPr eaLnBrk="1" hangingPunct="1">
              <a:defRPr/>
            </a:pPr>
            <a:r>
              <a:rPr lang="en-US"/>
              <a:t>Activity Time Calculations (cont’d)</a:t>
            </a:r>
          </a:p>
        </p:txBody>
      </p:sp>
      <p:grpSp>
        <p:nvGrpSpPr>
          <p:cNvPr id="2" name="Group 14"/>
          <p:cNvGrpSpPr>
            <a:grpSpLocks/>
          </p:cNvGrpSpPr>
          <p:nvPr/>
        </p:nvGrpSpPr>
        <p:grpSpPr bwMode="auto">
          <a:xfrm>
            <a:off x="549275" y="1417638"/>
            <a:ext cx="7997825" cy="4845050"/>
            <a:chOff x="346" y="893"/>
            <a:chExt cx="5038" cy="3052"/>
          </a:xfrm>
        </p:grpSpPr>
        <p:sp>
          <p:nvSpPr>
            <p:cNvPr id="34821" name="Rectangle 3"/>
            <p:cNvSpPr>
              <a:spLocks noChangeArrowheads="1"/>
            </p:cNvSpPr>
            <p:nvPr/>
          </p:nvSpPr>
          <p:spPr bwMode="auto">
            <a:xfrm>
              <a:off x="346" y="893"/>
              <a:ext cx="5038"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r>
                <a:rPr lang="en-US" sz="2400" b="1"/>
                <a:t>The variability in the activity time estimates is approximated by the following equations:</a:t>
              </a:r>
            </a:p>
          </p:txBody>
        </p:sp>
        <p:sp>
          <p:nvSpPr>
            <p:cNvPr id="34822" name="Rectangle 6"/>
            <p:cNvSpPr>
              <a:spLocks noChangeArrowheads="1"/>
            </p:cNvSpPr>
            <p:nvPr/>
          </p:nvSpPr>
          <p:spPr bwMode="auto">
            <a:xfrm>
              <a:off x="1037" y="1411"/>
              <a:ext cx="365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r>
                <a:rPr lang="en-US" sz="2000" b="1"/>
                <a:t>The standard deviation for the activity: </a:t>
              </a:r>
            </a:p>
          </p:txBody>
        </p:sp>
        <p:sp>
          <p:nvSpPr>
            <p:cNvPr id="34823" name="Rectangle 7"/>
            <p:cNvSpPr>
              <a:spLocks noChangeArrowheads="1"/>
            </p:cNvSpPr>
            <p:nvPr/>
          </p:nvSpPr>
          <p:spPr bwMode="auto">
            <a:xfrm>
              <a:off x="1052" y="2506"/>
              <a:ext cx="36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r>
                <a:rPr lang="en-US" sz="2000" b="1"/>
                <a:t>The standard deviation for the project: </a:t>
              </a:r>
            </a:p>
          </p:txBody>
        </p:sp>
        <p:sp>
          <p:nvSpPr>
            <p:cNvPr id="34824" name="Rectangle 8"/>
            <p:cNvSpPr>
              <a:spLocks noChangeArrowheads="1"/>
            </p:cNvSpPr>
            <p:nvPr/>
          </p:nvSpPr>
          <p:spPr bwMode="auto">
            <a:xfrm>
              <a:off x="576" y="3427"/>
              <a:ext cx="460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r>
                <a:rPr lang="en-US" sz="1600" b="1"/>
                <a:t>Note the standard deviation of the activity is squared in this equation; this is also called variance. This sum includes only activities on the critical path(s) or path being reviewed.</a:t>
              </a:r>
            </a:p>
          </p:txBody>
        </p:sp>
        <p:pic>
          <p:nvPicPr>
            <p:cNvPr id="34825"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2" y="1757"/>
              <a:ext cx="1750"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6" name="Text Box 11"/>
            <p:cNvSpPr txBox="1">
              <a:spLocks noChangeArrowheads="1"/>
            </p:cNvSpPr>
            <p:nvPr/>
          </p:nvSpPr>
          <p:spPr bwMode="auto">
            <a:xfrm>
              <a:off x="4838" y="2198"/>
              <a:ext cx="46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a:solidFill>
                    <a:schemeClr val="tx1"/>
                  </a:solidFill>
                  <a:latin typeface="Arial" charset="0"/>
                  <a:cs typeface="Arial" charset="0"/>
                </a:defRPr>
              </a:lvl1pPr>
              <a:lvl2pPr marL="742950" indent="-285750" eaLnBrk="0" hangingPunct="0">
                <a:defRPr sz="1000">
                  <a:solidFill>
                    <a:schemeClr val="tx1"/>
                  </a:solidFill>
                  <a:latin typeface="Arial" charset="0"/>
                  <a:cs typeface="Arial" charset="0"/>
                </a:defRPr>
              </a:lvl2pPr>
              <a:lvl3pPr marL="1143000" indent="-228600" eaLnBrk="0" hangingPunct="0">
                <a:defRPr sz="1000">
                  <a:solidFill>
                    <a:schemeClr val="tx1"/>
                  </a:solidFill>
                  <a:latin typeface="Arial" charset="0"/>
                  <a:cs typeface="Arial" charset="0"/>
                </a:defRPr>
              </a:lvl3pPr>
              <a:lvl4pPr marL="1600200" indent="-228600" eaLnBrk="0" hangingPunct="0">
                <a:defRPr sz="1000">
                  <a:solidFill>
                    <a:schemeClr val="tx1"/>
                  </a:solidFill>
                  <a:latin typeface="Arial" charset="0"/>
                  <a:cs typeface="Arial" charset="0"/>
                </a:defRPr>
              </a:lvl4pPr>
              <a:lvl5pPr marL="2057400" indent="-228600" eaLnBrk="0" hangingPunct="0">
                <a:defRPr sz="1000">
                  <a:solidFill>
                    <a:schemeClr val="tx1"/>
                  </a:solidFill>
                  <a:latin typeface="Arial" charset="0"/>
                  <a:cs typeface="Arial" charset="0"/>
                </a:defRPr>
              </a:lvl5pPr>
              <a:lvl6pPr marL="2514600" indent="-228600" eaLnBrk="0" fontAlgn="base" hangingPunct="0">
                <a:spcBef>
                  <a:spcPct val="0"/>
                </a:spcBef>
                <a:spcAft>
                  <a:spcPct val="0"/>
                </a:spcAft>
                <a:defRPr sz="1000">
                  <a:solidFill>
                    <a:schemeClr val="tx1"/>
                  </a:solidFill>
                  <a:latin typeface="Arial" charset="0"/>
                  <a:cs typeface="Arial" charset="0"/>
                </a:defRPr>
              </a:lvl6pPr>
              <a:lvl7pPr marL="2971800" indent="-228600" eaLnBrk="0" fontAlgn="base" hangingPunct="0">
                <a:spcBef>
                  <a:spcPct val="0"/>
                </a:spcBef>
                <a:spcAft>
                  <a:spcPct val="0"/>
                </a:spcAft>
                <a:defRPr sz="1000">
                  <a:solidFill>
                    <a:schemeClr val="tx1"/>
                  </a:solidFill>
                  <a:latin typeface="Arial" charset="0"/>
                  <a:cs typeface="Arial" charset="0"/>
                </a:defRPr>
              </a:lvl7pPr>
              <a:lvl8pPr marL="3429000" indent="-228600" eaLnBrk="0" fontAlgn="base" hangingPunct="0">
                <a:spcBef>
                  <a:spcPct val="0"/>
                </a:spcBef>
                <a:spcAft>
                  <a:spcPct val="0"/>
                </a:spcAft>
                <a:defRPr sz="1000">
                  <a:solidFill>
                    <a:schemeClr val="tx1"/>
                  </a:solidFill>
                  <a:latin typeface="Arial" charset="0"/>
                  <a:cs typeface="Arial" charset="0"/>
                </a:defRPr>
              </a:lvl8pPr>
              <a:lvl9pPr marL="3886200" indent="-228600" eaLnBrk="0" fontAlgn="base" hangingPunct="0">
                <a:spcBef>
                  <a:spcPct val="0"/>
                </a:spcBef>
                <a:spcAft>
                  <a:spcPct val="0"/>
                </a:spcAft>
                <a:defRPr sz="1000">
                  <a:solidFill>
                    <a:schemeClr val="tx1"/>
                  </a:solidFill>
                  <a:latin typeface="Arial" charset="0"/>
                  <a:cs typeface="Arial" charset="0"/>
                </a:defRPr>
              </a:lvl9pPr>
            </a:lstStyle>
            <a:p>
              <a:pPr eaLnBrk="1" hangingPunct="1">
                <a:spcBef>
                  <a:spcPct val="50000"/>
                </a:spcBef>
              </a:pPr>
              <a:r>
                <a:rPr lang="en-US" sz="1400" b="1">
                  <a:solidFill>
                    <a:srgbClr val="CC3300"/>
                  </a:solidFill>
                </a:rPr>
                <a:t>(7.2)</a:t>
              </a:r>
            </a:p>
          </p:txBody>
        </p:sp>
        <p:sp>
          <p:nvSpPr>
            <p:cNvPr id="34827" name="Text Box 12"/>
            <p:cNvSpPr txBox="1">
              <a:spLocks noChangeArrowheads="1"/>
            </p:cNvSpPr>
            <p:nvPr/>
          </p:nvSpPr>
          <p:spPr bwMode="auto">
            <a:xfrm>
              <a:off x="4838" y="3178"/>
              <a:ext cx="46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a:solidFill>
                    <a:schemeClr val="tx1"/>
                  </a:solidFill>
                  <a:latin typeface="Arial" charset="0"/>
                  <a:cs typeface="Arial" charset="0"/>
                </a:defRPr>
              </a:lvl1pPr>
              <a:lvl2pPr marL="742950" indent="-285750" eaLnBrk="0" hangingPunct="0">
                <a:defRPr sz="1000">
                  <a:solidFill>
                    <a:schemeClr val="tx1"/>
                  </a:solidFill>
                  <a:latin typeface="Arial" charset="0"/>
                  <a:cs typeface="Arial" charset="0"/>
                </a:defRPr>
              </a:lvl2pPr>
              <a:lvl3pPr marL="1143000" indent="-228600" eaLnBrk="0" hangingPunct="0">
                <a:defRPr sz="1000">
                  <a:solidFill>
                    <a:schemeClr val="tx1"/>
                  </a:solidFill>
                  <a:latin typeface="Arial" charset="0"/>
                  <a:cs typeface="Arial" charset="0"/>
                </a:defRPr>
              </a:lvl3pPr>
              <a:lvl4pPr marL="1600200" indent="-228600" eaLnBrk="0" hangingPunct="0">
                <a:defRPr sz="1000">
                  <a:solidFill>
                    <a:schemeClr val="tx1"/>
                  </a:solidFill>
                  <a:latin typeface="Arial" charset="0"/>
                  <a:cs typeface="Arial" charset="0"/>
                </a:defRPr>
              </a:lvl4pPr>
              <a:lvl5pPr marL="2057400" indent="-228600" eaLnBrk="0" hangingPunct="0">
                <a:defRPr sz="1000">
                  <a:solidFill>
                    <a:schemeClr val="tx1"/>
                  </a:solidFill>
                  <a:latin typeface="Arial" charset="0"/>
                  <a:cs typeface="Arial" charset="0"/>
                </a:defRPr>
              </a:lvl5pPr>
              <a:lvl6pPr marL="2514600" indent="-228600" eaLnBrk="0" fontAlgn="base" hangingPunct="0">
                <a:spcBef>
                  <a:spcPct val="0"/>
                </a:spcBef>
                <a:spcAft>
                  <a:spcPct val="0"/>
                </a:spcAft>
                <a:defRPr sz="1000">
                  <a:solidFill>
                    <a:schemeClr val="tx1"/>
                  </a:solidFill>
                  <a:latin typeface="Arial" charset="0"/>
                  <a:cs typeface="Arial" charset="0"/>
                </a:defRPr>
              </a:lvl6pPr>
              <a:lvl7pPr marL="2971800" indent="-228600" eaLnBrk="0" fontAlgn="base" hangingPunct="0">
                <a:spcBef>
                  <a:spcPct val="0"/>
                </a:spcBef>
                <a:spcAft>
                  <a:spcPct val="0"/>
                </a:spcAft>
                <a:defRPr sz="1000">
                  <a:solidFill>
                    <a:schemeClr val="tx1"/>
                  </a:solidFill>
                  <a:latin typeface="Arial" charset="0"/>
                  <a:cs typeface="Arial" charset="0"/>
                </a:defRPr>
              </a:lvl7pPr>
              <a:lvl8pPr marL="3429000" indent="-228600" eaLnBrk="0" fontAlgn="base" hangingPunct="0">
                <a:spcBef>
                  <a:spcPct val="0"/>
                </a:spcBef>
                <a:spcAft>
                  <a:spcPct val="0"/>
                </a:spcAft>
                <a:defRPr sz="1000">
                  <a:solidFill>
                    <a:schemeClr val="tx1"/>
                  </a:solidFill>
                  <a:latin typeface="Arial" charset="0"/>
                  <a:cs typeface="Arial" charset="0"/>
                </a:defRPr>
              </a:lvl8pPr>
              <a:lvl9pPr marL="3886200" indent="-228600" eaLnBrk="0" fontAlgn="base" hangingPunct="0">
                <a:spcBef>
                  <a:spcPct val="0"/>
                </a:spcBef>
                <a:spcAft>
                  <a:spcPct val="0"/>
                </a:spcAft>
                <a:defRPr sz="1000">
                  <a:solidFill>
                    <a:schemeClr val="tx1"/>
                  </a:solidFill>
                  <a:latin typeface="Arial" charset="0"/>
                  <a:cs typeface="Arial" charset="0"/>
                </a:defRPr>
              </a:lvl9pPr>
            </a:lstStyle>
            <a:p>
              <a:pPr eaLnBrk="1" hangingPunct="1">
                <a:spcBef>
                  <a:spcPct val="50000"/>
                </a:spcBef>
              </a:pPr>
              <a:r>
                <a:rPr lang="en-US" sz="1400" b="1">
                  <a:solidFill>
                    <a:srgbClr val="CC3300"/>
                  </a:solidFill>
                </a:rPr>
                <a:t>(7.3)</a:t>
              </a:r>
            </a:p>
          </p:txBody>
        </p:sp>
        <p:pic>
          <p:nvPicPr>
            <p:cNvPr id="34828" name="Picture 13" descr="07at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4" y="2899"/>
              <a:ext cx="1462" cy="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0341354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a:spLocks noGrp="1"/>
          </p:cNvSpPr>
          <p:nvPr>
            <p:ph type="sldNum" sz="quarter" idx="10"/>
          </p:nvPr>
        </p:nvSpPr>
        <p:spPr/>
        <p:txBody>
          <a:bodyPr/>
          <a:lstStyle/>
          <a:p>
            <a:pPr>
              <a:defRPr/>
            </a:pPr>
            <a:r>
              <a:rPr lang="en-US"/>
              <a:t>7</a:t>
            </a:r>
            <a:r>
              <a:rPr lang="en-US">
                <a:cs typeface="Times New Roman" panose="02020603050405020304" pitchFamily="18" charset="0"/>
              </a:rPr>
              <a:t>–</a:t>
            </a:r>
            <a:fld id="{4E620E2B-67DF-4473-A5F5-64F50C3E4BE5}" type="slidenum">
              <a:rPr lang="en-US"/>
              <a:pPr>
                <a:defRPr/>
              </a:pPr>
              <a:t>27</a:t>
            </a:fld>
            <a:endParaRPr lang="en-US"/>
          </a:p>
        </p:txBody>
      </p:sp>
      <p:sp>
        <p:nvSpPr>
          <p:cNvPr id="108548" name="AutoShape 4"/>
          <p:cNvSpPr>
            <a:spLocks noGrp="1" noChangeArrowheads="1"/>
          </p:cNvSpPr>
          <p:nvPr>
            <p:ph type="title"/>
          </p:nvPr>
        </p:nvSpPr>
        <p:spPr/>
        <p:txBody>
          <a:bodyPr>
            <a:normAutofit fontScale="90000"/>
          </a:bodyPr>
          <a:lstStyle/>
          <a:p>
            <a:pPr eaLnBrk="1" hangingPunct="1">
              <a:defRPr/>
            </a:pPr>
            <a:r>
              <a:rPr lang="en-US"/>
              <a:t>Probability of Completing the Project</a:t>
            </a:r>
          </a:p>
        </p:txBody>
      </p:sp>
      <p:grpSp>
        <p:nvGrpSpPr>
          <p:cNvPr id="2" name="Group 14"/>
          <p:cNvGrpSpPr>
            <a:grpSpLocks/>
          </p:cNvGrpSpPr>
          <p:nvPr/>
        </p:nvGrpSpPr>
        <p:grpSpPr bwMode="auto">
          <a:xfrm>
            <a:off x="639763" y="1508125"/>
            <a:ext cx="7864475" cy="4525963"/>
            <a:chOff x="403" y="950"/>
            <a:chExt cx="4954" cy="2851"/>
          </a:xfrm>
        </p:grpSpPr>
        <p:graphicFrame>
          <p:nvGraphicFramePr>
            <p:cNvPr id="36869" name="Object 19"/>
            <p:cNvGraphicFramePr>
              <a:graphicFrameLocks noChangeAspect="1"/>
            </p:cNvGraphicFramePr>
            <p:nvPr/>
          </p:nvGraphicFramePr>
          <p:xfrm>
            <a:off x="806" y="3046"/>
            <a:ext cx="4378" cy="755"/>
          </p:xfrm>
          <a:graphic>
            <a:graphicData uri="http://schemas.openxmlformats.org/presentationml/2006/ole">
              <mc:AlternateContent xmlns:mc="http://schemas.openxmlformats.org/markup-compatibility/2006">
                <mc:Choice xmlns:v="urn:schemas-microsoft-com:vml" Requires="v">
                  <p:oleObj spid="_x0000_s1047" name="Photo Editor Photo" r:id="rId4" imgW="4858428" imgH="838095" progId="">
                    <p:embed/>
                  </p:oleObj>
                </mc:Choice>
                <mc:Fallback>
                  <p:oleObj name="Photo Editor Photo" r:id="rId4" imgW="4858428" imgH="838095"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6" y="3046"/>
                          <a:ext cx="4378" cy="75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870" name="Rectangle 7"/>
            <p:cNvSpPr>
              <a:spLocks noChangeArrowheads="1"/>
            </p:cNvSpPr>
            <p:nvPr/>
          </p:nvSpPr>
          <p:spPr bwMode="auto">
            <a:xfrm>
              <a:off x="403" y="950"/>
              <a:ext cx="4954"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000" b="1"/>
                <a:t>The equation below is used to compute the “</a:t>
              </a:r>
              <a:r>
                <a:rPr lang="en-US" sz="2000" b="1" i="1"/>
                <a:t>Z</a:t>
              </a:r>
              <a:r>
                <a:rPr lang="en-US" sz="2000" b="1"/>
                <a:t>” value found in statistical tables (</a:t>
              </a:r>
              <a:r>
                <a:rPr lang="en-US" sz="2000" b="1" i="1"/>
                <a:t>Z </a:t>
              </a:r>
              <a:r>
                <a:rPr lang="en-US" sz="2000" b="1"/>
                <a:t>= number of standard deviations from the mean), which, in turn, tells the probability of completing the project in the time specified.</a:t>
              </a:r>
            </a:p>
          </p:txBody>
        </p:sp>
        <p:sp>
          <p:nvSpPr>
            <p:cNvPr id="36871" name="Text Box 8"/>
            <p:cNvSpPr txBox="1">
              <a:spLocks noChangeArrowheads="1"/>
            </p:cNvSpPr>
            <p:nvPr/>
          </p:nvSpPr>
          <p:spPr bwMode="auto">
            <a:xfrm>
              <a:off x="4838" y="2563"/>
              <a:ext cx="46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a:solidFill>
                    <a:schemeClr val="tx1"/>
                  </a:solidFill>
                  <a:latin typeface="Arial" charset="0"/>
                  <a:cs typeface="Arial" charset="0"/>
                </a:defRPr>
              </a:lvl1pPr>
              <a:lvl2pPr marL="742950" indent="-285750" eaLnBrk="0" hangingPunct="0">
                <a:defRPr sz="1000">
                  <a:solidFill>
                    <a:schemeClr val="tx1"/>
                  </a:solidFill>
                  <a:latin typeface="Arial" charset="0"/>
                  <a:cs typeface="Arial" charset="0"/>
                </a:defRPr>
              </a:lvl2pPr>
              <a:lvl3pPr marL="1143000" indent="-228600" eaLnBrk="0" hangingPunct="0">
                <a:defRPr sz="1000">
                  <a:solidFill>
                    <a:schemeClr val="tx1"/>
                  </a:solidFill>
                  <a:latin typeface="Arial" charset="0"/>
                  <a:cs typeface="Arial" charset="0"/>
                </a:defRPr>
              </a:lvl3pPr>
              <a:lvl4pPr marL="1600200" indent="-228600" eaLnBrk="0" hangingPunct="0">
                <a:defRPr sz="1000">
                  <a:solidFill>
                    <a:schemeClr val="tx1"/>
                  </a:solidFill>
                  <a:latin typeface="Arial" charset="0"/>
                  <a:cs typeface="Arial" charset="0"/>
                </a:defRPr>
              </a:lvl4pPr>
              <a:lvl5pPr marL="2057400" indent="-228600" eaLnBrk="0" hangingPunct="0">
                <a:defRPr sz="1000">
                  <a:solidFill>
                    <a:schemeClr val="tx1"/>
                  </a:solidFill>
                  <a:latin typeface="Arial" charset="0"/>
                  <a:cs typeface="Arial" charset="0"/>
                </a:defRPr>
              </a:lvl5pPr>
              <a:lvl6pPr marL="2514600" indent="-228600" eaLnBrk="0" fontAlgn="base" hangingPunct="0">
                <a:spcBef>
                  <a:spcPct val="0"/>
                </a:spcBef>
                <a:spcAft>
                  <a:spcPct val="0"/>
                </a:spcAft>
                <a:defRPr sz="1000">
                  <a:solidFill>
                    <a:schemeClr val="tx1"/>
                  </a:solidFill>
                  <a:latin typeface="Arial" charset="0"/>
                  <a:cs typeface="Arial" charset="0"/>
                </a:defRPr>
              </a:lvl6pPr>
              <a:lvl7pPr marL="2971800" indent="-228600" eaLnBrk="0" fontAlgn="base" hangingPunct="0">
                <a:spcBef>
                  <a:spcPct val="0"/>
                </a:spcBef>
                <a:spcAft>
                  <a:spcPct val="0"/>
                </a:spcAft>
                <a:defRPr sz="1000">
                  <a:solidFill>
                    <a:schemeClr val="tx1"/>
                  </a:solidFill>
                  <a:latin typeface="Arial" charset="0"/>
                  <a:cs typeface="Arial" charset="0"/>
                </a:defRPr>
              </a:lvl7pPr>
              <a:lvl8pPr marL="3429000" indent="-228600" eaLnBrk="0" fontAlgn="base" hangingPunct="0">
                <a:spcBef>
                  <a:spcPct val="0"/>
                </a:spcBef>
                <a:spcAft>
                  <a:spcPct val="0"/>
                </a:spcAft>
                <a:defRPr sz="1000">
                  <a:solidFill>
                    <a:schemeClr val="tx1"/>
                  </a:solidFill>
                  <a:latin typeface="Arial" charset="0"/>
                  <a:cs typeface="Arial" charset="0"/>
                </a:defRPr>
              </a:lvl8pPr>
              <a:lvl9pPr marL="3886200" indent="-228600" eaLnBrk="0" fontAlgn="base" hangingPunct="0">
                <a:spcBef>
                  <a:spcPct val="0"/>
                </a:spcBef>
                <a:spcAft>
                  <a:spcPct val="0"/>
                </a:spcAft>
                <a:defRPr sz="1000">
                  <a:solidFill>
                    <a:schemeClr val="tx1"/>
                  </a:solidFill>
                  <a:latin typeface="Arial" charset="0"/>
                  <a:cs typeface="Arial" charset="0"/>
                </a:defRPr>
              </a:lvl9pPr>
            </a:lstStyle>
            <a:p>
              <a:pPr eaLnBrk="1" hangingPunct="1">
                <a:spcBef>
                  <a:spcPct val="50000"/>
                </a:spcBef>
              </a:pPr>
              <a:r>
                <a:rPr lang="en-US" sz="1400" b="1">
                  <a:solidFill>
                    <a:srgbClr val="CC3300"/>
                  </a:solidFill>
                </a:rPr>
                <a:t>(7.4)</a:t>
              </a:r>
            </a:p>
          </p:txBody>
        </p:sp>
        <p:pic>
          <p:nvPicPr>
            <p:cNvPr id="36872" name="Picture 12" descr="07at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6" y="1987"/>
              <a:ext cx="1613" cy="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7873168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 CALCULATION</a:t>
            </a:r>
            <a:endParaRPr lang="en-US" dirty="0"/>
          </a:p>
        </p:txBody>
      </p:sp>
      <p:sp>
        <p:nvSpPr>
          <p:cNvPr id="3" name="TextBox 2"/>
          <p:cNvSpPr txBox="1"/>
          <p:nvPr/>
        </p:nvSpPr>
        <p:spPr>
          <a:xfrm>
            <a:off x="827584" y="2025898"/>
            <a:ext cx="8568952" cy="5632311"/>
          </a:xfrm>
          <a:prstGeom prst="rect">
            <a:avLst/>
          </a:prstGeom>
          <a:noFill/>
        </p:spPr>
        <p:txBody>
          <a:bodyPr wrap="square" rtlCol="0">
            <a:spAutoFit/>
          </a:bodyPr>
          <a:lstStyle/>
          <a:p>
            <a:r>
              <a:rPr lang="en-US" dirty="0" smtClean="0"/>
              <a:t>Z= P (x&lt; 22)= x-  -</a:t>
            </a:r>
          </a:p>
          <a:p>
            <a:r>
              <a:rPr lang="en-US" dirty="0" smtClean="0"/>
              <a:t>	</a:t>
            </a:r>
          </a:p>
          <a:p>
            <a:r>
              <a:rPr lang="en-US" b="1" u="sng" dirty="0" smtClean="0"/>
              <a:t>Step 1:</a:t>
            </a:r>
          </a:p>
          <a:p>
            <a:r>
              <a:rPr lang="en-US" dirty="0" smtClean="0"/>
              <a:t>Critical Path: C-F-H-J</a:t>
            </a:r>
          </a:p>
          <a:p>
            <a:r>
              <a:rPr lang="en-US" b="1" u="sng" dirty="0" smtClean="0"/>
              <a:t>Step 2:</a:t>
            </a:r>
          </a:p>
          <a:p>
            <a:endParaRPr lang="en-US" dirty="0" smtClean="0"/>
          </a:p>
          <a:p>
            <a:r>
              <a:rPr lang="en-US" dirty="0" smtClean="0"/>
              <a:t>SD=      1+1.77+1+1</a:t>
            </a:r>
          </a:p>
          <a:p>
            <a:endParaRPr lang="en-US" dirty="0"/>
          </a:p>
          <a:p>
            <a:r>
              <a:rPr lang="en-US" dirty="0" smtClean="0"/>
              <a:t>           4.77	=2.18</a:t>
            </a:r>
          </a:p>
          <a:p>
            <a:endParaRPr lang="en-US" dirty="0" smtClean="0"/>
          </a:p>
          <a:p>
            <a:r>
              <a:rPr lang="en-US" b="1" u="sng" dirty="0" smtClean="0"/>
              <a:t>Step 3: Computing Values</a:t>
            </a:r>
          </a:p>
          <a:p>
            <a:r>
              <a:rPr lang="en-US" dirty="0" smtClean="0"/>
              <a:t>    22-17</a:t>
            </a:r>
          </a:p>
          <a:p>
            <a:r>
              <a:rPr lang="en-US" dirty="0" smtClean="0"/>
              <a:t>=  _____=2.29</a:t>
            </a:r>
          </a:p>
          <a:p>
            <a:endParaRPr lang="en-US" dirty="0" smtClean="0"/>
          </a:p>
          <a:p>
            <a:r>
              <a:rPr lang="en-US" dirty="0" smtClean="0"/>
              <a:t>      2.18</a:t>
            </a:r>
          </a:p>
          <a:p>
            <a:r>
              <a:rPr lang="en-US" b="1" u="sng" dirty="0" smtClean="0"/>
              <a:t>Step 4: Look at Z Table to find value</a:t>
            </a:r>
          </a:p>
          <a:p>
            <a:r>
              <a:rPr lang="en-US" dirty="0" smtClean="0"/>
              <a:t>0.9890 or 98.90 %</a:t>
            </a:r>
          </a:p>
          <a:p>
            <a:endParaRPr lang="en-US" dirty="0" smtClean="0"/>
          </a:p>
          <a:p>
            <a:endParaRPr lang="en-US" dirty="0" smtClean="0"/>
          </a:p>
          <a:p>
            <a:endParaRPr lang="en-US" dirty="0"/>
          </a:p>
        </p:txBody>
      </p:sp>
      <p:pic>
        <p:nvPicPr>
          <p:cNvPr id="5" name="Picture 2" descr="D:\bahria 2019\FOPM\Sumaiya\Lecture 9\Prep-PERT\meu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3366" y="2036367"/>
            <a:ext cx="312513" cy="312513"/>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p:nvPr/>
        </p:nvCxnSpPr>
        <p:spPr>
          <a:xfrm>
            <a:off x="1995386" y="2274427"/>
            <a:ext cx="591919"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1115616" y="4284521"/>
            <a:ext cx="1080120" cy="364108"/>
            <a:chOff x="1043608" y="3933056"/>
            <a:chExt cx="1080120" cy="364108"/>
          </a:xfrm>
        </p:grpSpPr>
        <p:cxnSp>
          <p:nvCxnSpPr>
            <p:cNvPr id="10" name="Straight Connector 9"/>
            <p:cNvCxnSpPr/>
            <p:nvPr/>
          </p:nvCxnSpPr>
          <p:spPr>
            <a:xfrm>
              <a:off x="1325679" y="3933056"/>
              <a:ext cx="79804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1187624" y="3933056"/>
              <a:ext cx="138055" cy="364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043608" y="4115110"/>
              <a:ext cx="144016" cy="18205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8" name="Group 17"/>
          <p:cNvGrpSpPr/>
          <p:nvPr/>
        </p:nvGrpSpPr>
        <p:grpSpPr>
          <a:xfrm>
            <a:off x="1417306" y="3655142"/>
            <a:ext cx="1080120" cy="364108"/>
            <a:chOff x="1043608" y="3933056"/>
            <a:chExt cx="1080120" cy="364108"/>
          </a:xfrm>
        </p:grpSpPr>
        <p:cxnSp>
          <p:nvCxnSpPr>
            <p:cNvPr id="19" name="Straight Connector 18"/>
            <p:cNvCxnSpPr/>
            <p:nvPr/>
          </p:nvCxnSpPr>
          <p:spPr>
            <a:xfrm>
              <a:off x="1325679" y="3933056"/>
              <a:ext cx="79804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1187624" y="3933056"/>
              <a:ext cx="138055" cy="364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043608" y="4115110"/>
              <a:ext cx="144016" cy="182054"/>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7" name="Straight Connector 16"/>
          <p:cNvCxnSpPr/>
          <p:nvPr/>
        </p:nvCxnSpPr>
        <p:spPr>
          <a:xfrm>
            <a:off x="1544683" y="2274427"/>
            <a:ext cx="69028" cy="269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148" name="Picture 4" descr="D:\bahria 2019\FOPM\Sumaiya\Lecture 9\Prep-PERT\sigm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8054" y="2328567"/>
            <a:ext cx="366713" cy="338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8425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pPr>
              <a:defRPr/>
            </a:pPr>
            <a:r>
              <a:rPr lang="en-US"/>
              <a:t>7</a:t>
            </a:r>
            <a:r>
              <a:rPr lang="en-US">
                <a:cs typeface="Times New Roman" panose="02020603050405020304" pitchFamily="18" charset="0"/>
              </a:rPr>
              <a:t>–</a:t>
            </a:r>
            <a:fld id="{EDFFD219-C1F5-4A1C-B844-574F2C76BA08}" type="slidenum">
              <a:rPr lang="en-US"/>
              <a:pPr>
                <a:defRPr/>
              </a:pPr>
              <a:t>29</a:t>
            </a:fld>
            <a:endParaRPr lang="en-US"/>
          </a:p>
        </p:txBody>
      </p:sp>
      <p:sp>
        <p:nvSpPr>
          <p:cNvPr id="102402" name="AutoShape 2"/>
          <p:cNvSpPr>
            <a:spLocks noGrp="1" noChangeArrowheads="1"/>
          </p:cNvSpPr>
          <p:nvPr>
            <p:ph type="title"/>
          </p:nvPr>
        </p:nvSpPr>
        <p:spPr>
          <a:xfrm>
            <a:off x="493713" y="266700"/>
            <a:ext cx="8156575" cy="757238"/>
          </a:xfrm>
          <a:gradFill>
            <a:gsLst>
              <a:gs pos="0">
                <a:srgbClr val="990033">
                  <a:gamma/>
                  <a:shade val="46275"/>
                  <a:invGamma/>
                </a:srgbClr>
              </a:gs>
              <a:gs pos="50000">
                <a:srgbClr val="990033"/>
              </a:gs>
              <a:gs pos="100000">
                <a:srgbClr val="990033">
                  <a:gamma/>
                  <a:shade val="46275"/>
                  <a:invGamma/>
                </a:srgbClr>
              </a:gs>
            </a:gsLst>
            <a:lin ang="5400000"/>
          </a:gradFill>
        </p:spPr>
        <p:txBody>
          <a:bodyPr/>
          <a:lstStyle/>
          <a:p>
            <a:pPr eaLnBrk="1" hangingPunct="1">
              <a:defRPr/>
            </a:pPr>
            <a:r>
              <a:rPr lang="en-US" sz="2800"/>
              <a:t>Hypothetical Network (cont’d)</a:t>
            </a:r>
          </a:p>
        </p:txBody>
      </p:sp>
      <p:sp>
        <p:nvSpPr>
          <p:cNvPr id="38916" name="Text Box 3"/>
          <p:cNvSpPr txBox="1">
            <a:spLocks noChangeArrowheads="1"/>
          </p:cNvSpPr>
          <p:nvPr/>
        </p:nvSpPr>
        <p:spPr bwMode="auto">
          <a:xfrm>
            <a:off x="6492875" y="6172200"/>
            <a:ext cx="21939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a:solidFill>
                  <a:schemeClr val="tx1"/>
                </a:solidFill>
                <a:latin typeface="Arial" charset="0"/>
                <a:cs typeface="Arial" charset="0"/>
              </a:defRPr>
            </a:lvl1pPr>
            <a:lvl2pPr marL="742950" indent="-285750" eaLnBrk="0" hangingPunct="0">
              <a:defRPr sz="1000">
                <a:solidFill>
                  <a:schemeClr val="tx1"/>
                </a:solidFill>
                <a:latin typeface="Arial" charset="0"/>
                <a:cs typeface="Arial" charset="0"/>
              </a:defRPr>
            </a:lvl2pPr>
            <a:lvl3pPr marL="1143000" indent="-228600" eaLnBrk="0" hangingPunct="0">
              <a:defRPr sz="1000">
                <a:solidFill>
                  <a:schemeClr val="tx1"/>
                </a:solidFill>
                <a:latin typeface="Arial" charset="0"/>
                <a:cs typeface="Arial" charset="0"/>
              </a:defRPr>
            </a:lvl3pPr>
            <a:lvl4pPr marL="1600200" indent="-228600" eaLnBrk="0" hangingPunct="0">
              <a:defRPr sz="1000">
                <a:solidFill>
                  <a:schemeClr val="tx1"/>
                </a:solidFill>
                <a:latin typeface="Arial" charset="0"/>
                <a:cs typeface="Arial" charset="0"/>
              </a:defRPr>
            </a:lvl4pPr>
            <a:lvl5pPr marL="2057400" indent="-228600" eaLnBrk="0" hangingPunct="0">
              <a:defRPr sz="1000">
                <a:solidFill>
                  <a:schemeClr val="tx1"/>
                </a:solidFill>
                <a:latin typeface="Arial" charset="0"/>
                <a:cs typeface="Arial" charset="0"/>
              </a:defRPr>
            </a:lvl5pPr>
            <a:lvl6pPr marL="2514600" indent="-228600" eaLnBrk="0" fontAlgn="base" hangingPunct="0">
              <a:spcBef>
                <a:spcPct val="0"/>
              </a:spcBef>
              <a:spcAft>
                <a:spcPct val="0"/>
              </a:spcAft>
              <a:defRPr sz="1000">
                <a:solidFill>
                  <a:schemeClr val="tx1"/>
                </a:solidFill>
                <a:latin typeface="Arial" charset="0"/>
                <a:cs typeface="Arial" charset="0"/>
              </a:defRPr>
            </a:lvl6pPr>
            <a:lvl7pPr marL="2971800" indent="-228600" eaLnBrk="0" fontAlgn="base" hangingPunct="0">
              <a:spcBef>
                <a:spcPct val="0"/>
              </a:spcBef>
              <a:spcAft>
                <a:spcPct val="0"/>
              </a:spcAft>
              <a:defRPr sz="1000">
                <a:solidFill>
                  <a:schemeClr val="tx1"/>
                </a:solidFill>
                <a:latin typeface="Arial" charset="0"/>
                <a:cs typeface="Arial" charset="0"/>
              </a:defRPr>
            </a:lvl7pPr>
            <a:lvl8pPr marL="3429000" indent="-228600" eaLnBrk="0" fontAlgn="base" hangingPunct="0">
              <a:spcBef>
                <a:spcPct val="0"/>
              </a:spcBef>
              <a:spcAft>
                <a:spcPct val="0"/>
              </a:spcAft>
              <a:defRPr sz="1000">
                <a:solidFill>
                  <a:schemeClr val="tx1"/>
                </a:solidFill>
                <a:latin typeface="Arial" charset="0"/>
                <a:cs typeface="Arial" charset="0"/>
              </a:defRPr>
            </a:lvl8pPr>
            <a:lvl9pPr marL="3886200" indent="-228600" eaLnBrk="0" fontAlgn="base" hangingPunct="0">
              <a:spcBef>
                <a:spcPct val="0"/>
              </a:spcBef>
              <a:spcAft>
                <a:spcPct val="0"/>
              </a:spcAft>
              <a:defRPr sz="1000">
                <a:solidFill>
                  <a:schemeClr val="tx1"/>
                </a:solidFill>
                <a:latin typeface="Arial" charset="0"/>
                <a:cs typeface="Arial" charset="0"/>
              </a:defRPr>
            </a:lvl9pPr>
          </a:lstStyle>
          <a:p>
            <a:pPr algn="r" eaLnBrk="1" hangingPunct="1">
              <a:spcBef>
                <a:spcPct val="50000"/>
              </a:spcBef>
            </a:pPr>
            <a:r>
              <a:rPr lang="en-US" sz="1200" b="1">
                <a:solidFill>
                  <a:srgbClr val="006666"/>
                </a:solidFill>
              </a:rPr>
              <a:t>FIGURE A7.2 (cont’d)</a:t>
            </a:r>
          </a:p>
        </p:txBody>
      </p:sp>
      <p:pic>
        <p:nvPicPr>
          <p:cNvPr id="3891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6300" y="1401763"/>
            <a:ext cx="73914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59184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D:\bahria 2019\FOPM\Sumaiya\Lecture 9\Prep-PERT\neg z valu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1196752"/>
            <a:ext cx="8075240" cy="3078094"/>
          </a:xfrm>
          <a:prstGeom prst="rect">
            <a:avLst/>
          </a:prstGeom>
          <a:noFill/>
          <a:extLst>
            <a:ext uri="{909E8E84-426E-40DD-AFC4-6F175D3DCCD1}">
              <a14:hiddenFill xmlns:a14="http://schemas.microsoft.com/office/drawing/2010/main">
                <a:solidFill>
                  <a:srgbClr val="FFFFFF"/>
                </a:solidFill>
              </a14:hiddenFill>
            </a:ext>
          </a:extLst>
        </p:spPr>
      </p:pic>
      <p:pic>
        <p:nvPicPr>
          <p:cNvPr id="39938" name="Picture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37924" y="4339530"/>
            <a:ext cx="7410450"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Slide Number Placeholder 3"/>
          <p:cNvSpPr>
            <a:spLocks noGrp="1"/>
          </p:cNvSpPr>
          <p:nvPr>
            <p:ph type="sldNum" sz="quarter" idx="10"/>
          </p:nvPr>
        </p:nvSpPr>
        <p:spPr/>
        <p:txBody>
          <a:bodyPr/>
          <a:lstStyle/>
          <a:p>
            <a:pPr>
              <a:defRPr/>
            </a:pPr>
            <a:r>
              <a:rPr lang="en-US"/>
              <a:t>7</a:t>
            </a:r>
            <a:r>
              <a:rPr lang="en-US">
                <a:cs typeface="Times New Roman" panose="02020603050405020304" pitchFamily="18" charset="0"/>
              </a:rPr>
              <a:t>–</a:t>
            </a:r>
            <a:fld id="{11BF6FAA-1DEA-472B-AF71-0BC151981837}" type="slidenum">
              <a:rPr lang="en-US"/>
              <a:pPr>
                <a:defRPr/>
              </a:pPr>
              <a:t>30</a:t>
            </a:fld>
            <a:endParaRPr lang="en-US"/>
          </a:p>
        </p:txBody>
      </p:sp>
      <p:sp>
        <p:nvSpPr>
          <p:cNvPr id="94210" name="AutoShape 2"/>
          <p:cNvSpPr>
            <a:spLocks noGrp="1" noChangeArrowheads="1"/>
          </p:cNvSpPr>
          <p:nvPr>
            <p:ph type="title"/>
          </p:nvPr>
        </p:nvSpPr>
        <p:spPr>
          <a:xfrm>
            <a:off x="493713" y="266700"/>
            <a:ext cx="8156575" cy="757238"/>
          </a:xfrm>
          <a:gradFill>
            <a:gsLst>
              <a:gs pos="0">
                <a:srgbClr val="990033">
                  <a:gamma/>
                  <a:shade val="46275"/>
                  <a:invGamma/>
                </a:srgbClr>
              </a:gs>
              <a:gs pos="50000">
                <a:srgbClr val="990033"/>
              </a:gs>
              <a:gs pos="100000">
                <a:srgbClr val="990033">
                  <a:gamma/>
                  <a:shade val="46275"/>
                  <a:invGamma/>
                </a:srgbClr>
              </a:gs>
            </a:gsLst>
            <a:lin ang="5400000"/>
          </a:gradFill>
        </p:spPr>
        <p:txBody>
          <a:bodyPr/>
          <a:lstStyle/>
          <a:p>
            <a:pPr eaLnBrk="1" hangingPunct="1">
              <a:defRPr/>
            </a:pPr>
            <a:r>
              <a:rPr lang="en-US" sz="2800"/>
              <a:t>Possible Project Duration</a:t>
            </a:r>
          </a:p>
        </p:txBody>
      </p:sp>
      <p:sp>
        <p:nvSpPr>
          <p:cNvPr id="39942" name="Text Box 3"/>
          <p:cNvSpPr txBox="1">
            <a:spLocks noChangeArrowheads="1"/>
          </p:cNvSpPr>
          <p:nvPr/>
        </p:nvSpPr>
        <p:spPr bwMode="auto">
          <a:xfrm>
            <a:off x="7407275" y="6172200"/>
            <a:ext cx="12795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a:solidFill>
                  <a:schemeClr val="tx1"/>
                </a:solidFill>
                <a:latin typeface="Arial" charset="0"/>
                <a:cs typeface="Arial" charset="0"/>
              </a:defRPr>
            </a:lvl1pPr>
            <a:lvl2pPr marL="742950" indent="-285750" eaLnBrk="0" hangingPunct="0">
              <a:defRPr sz="1000">
                <a:solidFill>
                  <a:schemeClr val="tx1"/>
                </a:solidFill>
                <a:latin typeface="Arial" charset="0"/>
                <a:cs typeface="Arial" charset="0"/>
              </a:defRPr>
            </a:lvl2pPr>
            <a:lvl3pPr marL="1143000" indent="-228600" eaLnBrk="0" hangingPunct="0">
              <a:defRPr sz="1000">
                <a:solidFill>
                  <a:schemeClr val="tx1"/>
                </a:solidFill>
                <a:latin typeface="Arial" charset="0"/>
                <a:cs typeface="Arial" charset="0"/>
              </a:defRPr>
            </a:lvl3pPr>
            <a:lvl4pPr marL="1600200" indent="-228600" eaLnBrk="0" hangingPunct="0">
              <a:defRPr sz="1000">
                <a:solidFill>
                  <a:schemeClr val="tx1"/>
                </a:solidFill>
                <a:latin typeface="Arial" charset="0"/>
                <a:cs typeface="Arial" charset="0"/>
              </a:defRPr>
            </a:lvl4pPr>
            <a:lvl5pPr marL="2057400" indent="-228600" eaLnBrk="0" hangingPunct="0">
              <a:defRPr sz="1000">
                <a:solidFill>
                  <a:schemeClr val="tx1"/>
                </a:solidFill>
                <a:latin typeface="Arial" charset="0"/>
                <a:cs typeface="Arial" charset="0"/>
              </a:defRPr>
            </a:lvl5pPr>
            <a:lvl6pPr marL="2514600" indent="-228600" eaLnBrk="0" fontAlgn="base" hangingPunct="0">
              <a:spcBef>
                <a:spcPct val="0"/>
              </a:spcBef>
              <a:spcAft>
                <a:spcPct val="0"/>
              </a:spcAft>
              <a:defRPr sz="1000">
                <a:solidFill>
                  <a:schemeClr val="tx1"/>
                </a:solidFill>
                <a:latin typeface="Arial" charset="0"/>
                <a:cs typeface="Arial" charset="0"/>
              </a:defRPr>
            </a:lvl6pPr>
            <a:lvl7pPr marL="2971800" indent="-228600" eaLnBrk="0" fontAlgn="base" hangingPunct="0">
              <a:spcBef>
                <a:spcPct val="0"/>
              </a:spcBef>
              <a:spcAft>
                <a:spcPct val="0"/>
              </a:spcAft>
              <a:defRPr sz="1000">
                <a:solidFill>
                  <a:schemeClr val="tx1"/>
                </a:solidFill>
                <a:latin typeface="Arial" charset="0"/>
                <a:cs typeface="Arial" charset="0"/>
              </a:defRPr>
            </a:lvl7pPr>
            <a:lvl8pPr marL="3429000" indent="-228600" eaLnBrk="0" fontAlgn="base" hangingPunct="0">
              <a:spcBef>
                <a:spcPct val="0"/>
              </a:spcBef>
              <a:spcAft>
                <a:spcPct val="0"/>
              </a:spcAft>
              <a:defRPr sz="1000">
                <a:solidFill>
                  <a:schemeClr val="tx1"/>
                </a:solidFill>
                <a:latin typeface="Arial" charset="0"/>
                <a:cs typeface="Arial" charset="0"/>
              </a:defRPr>
            </a:lvl8pPr>
            <a:lvl9pPr marL="3886200" indent="-228600" eaLnBrk="0" fontAlgn="base" hangingPunct="0">
              <a:spcBef>
                <a:spcPct val="0"/>
              </a:spcBef>
              <a:spcAft>
                <a:spcPct val="0"/>
              </a:spcAft>
              <a:defRPr sz="1000">
                <a:solidFill>
                  <a:schemeClr val="tx1"/>
                </a:solidFill>
                <a:latin typeface="Arial" charset="0"/>
                <a:cs typeface="Arial" charset="0"/>
              </a:defRPr>
            </a:lvl9pPr>
          </a:lstStyle>
          <a:p>
            <a:pPr algn="r" eaLnBrk="1" hangingPunct="1">
              <a:spcBef>
                <a:spcPct val="50000"/>
              </a:spcBef>
            </a:pPr>
            <a:r>
              <a:rPr lang="en-US" sz="1200" b="1">
                <a:solidFill>
                  <a:srgbClr val="006666"/>
                </a:solidFill>
              </a:rPr>
              <a:t>FIGURE A7.3</a:t>
            </a:r>
          </a:p>
        </p:txBody>
      </p:sp>
      <p:sp>
        <p:nvSpPr>
          <p:cNvPr id="2" name="TextBox 1"/>
          <p:cNvSpPr txBox="1"/>
          <p:nvPr/>
        </p:nvSpPr>
        <p:spPr>
          <a:xfrm>
            <a:off x="6444208" y="3284984"/>
            <a:ext cx="864096" cy="307777"/>
          </a:xfrm>
          <a:prstGeom prst="rect">
            <a:avLst/>
          </a:prstGeom>
          <a:noFill/>
        </p:spPr>
        <p:txBody>
          <a:bodyPr wrap="square" rtlCol="0">
            <a:spAutoFit/>
          </a:bodyPr>
          <a:lstStyle/>
          <a:p>
            <a:r>
              <a:rPr lang="en-US" sz="1400" dirty="0" smtClean="0"/>
              <a:t>0.2514</a:t>
            </a:r>
            <a:endParaRPr lang="en-US" dirty="0"/>
          </a:p>
        </p:txBody>
      </p:sp>
    </p:spTree>
    <p:extLst>
      <p:ext uri="{BB962C8B-B14F-4D97-AF65-F5344CB8AC3E}">
        <p14:creationId xmlns:p14="http://schemas.microsoft.com/office/powerpoint/2010/main" val="33298563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1659996422"/>
              </p:ext>
            </p:extLst>
          </p:nvPr>
        </p:nvGraphicFramePr>
        <p:xfrm>
          <a:off x="251520" y="1268761"/>
          <a:ext cx="8640960" cy="4389120"/>
        </p:xfrm>
        <a:graphic>
          <a:graphicData uri="http://schemas.openxmlformats.org/drawingml/2006/table">
            <a:tbl>
              <a:tblPr firstRow="1" bandRow="1">
                <a:tableStyleId>{5C22544A-7EE6-4342-B048-85BDC9FD1C3A}</a:tableStyleId>
              </a:tblPr>
              <a:tblGrid>
                <a:gridCol w="1234423">
                  <a:extLst>
                    <a:ext uri="{9D8B030D-6E8A-4147-A177-3AD203B41FA5}">
                      <a16:colId xmlns:a16="http://schemas.microsoft.com/office/drawing/2014/main" val="20000"/>
                    </a:ext>
                  </a:extLst>
                </a:gridCol>
                <a:gridCol w="1572043">
                  <a:extLst>
                    <a:ext uri="{9D8B030D-6E8A-4147-A177-3AD203B41FA5}">
                      <a16:colId xmlns:a16="http://schemas.microsoft.com/office/drawing/2014/main" val="20001"/>
                    </a:ext>
                  </a:extLst>
                </a:gridCol>
                <a:gridCol w="1107816">
                  <a:extLst>
                    <a:ext uri="{9D8B030D-6E8A-4147-A177-3AD203B41FA5}">
                      <a16:colId xmlns:a16="http://schemas.microsoft.com/office/drawing/2014/main" val="20002"/>
                    </a:ext>
                  </a:extLst>
                </a:gridCol>
                <a:gridCol w="1023409">
                  <a:extLst>
                    <a:ext uri="{9D8B030D-6E8A-4147-A177-3AD203B41FA5}">
                      <a16:colId xmlns:a16="http://schemas.microsoft.com/office/drawing/2014/main" val="20003"/>
                    </a:ext>
                  </a:extLst>
                </a:gridCol>
                <a:gridCol w="1234423">
                  <a:extLst>
                    <a:ext uri="{9D8B030D-6E8A-4147-A177-3AD203B41FA5}">
                      <a16:colId xmlns:a16="http://schemas.microsoft.com/office/drawing/2014/main" val="20004"/>
                    </a:ext>
                  </a:extLst>
                </a:gridCol>
                <a:gridCol w="1234423">
                  <a:extLst>
                    <a:ext uri="{9D8B030D-6E8A-4147-A177-3AD203B41FA5}">
                      <a16:colId xmlns:a16="http://schemas.microsoft.com/office/drawing/2014/main" val="20005"/>
                    </a:ext>
                  </a:extLst>
                </a:gridCol>
                <a:gridCol w="1234423">
                  <a:extLst>
                    <a:ext uri="{9D8B030D-6E8A-4147-A177-3AD203B41FA5}">
                      <a16:colId xmlns:a16="http://schemas.microsoft.com/office/drawing/2014/main" val="20006"/>
                    </a:ext>
                  </a:extLst>
                </a:gridCol>
              </a:tblGrid>
              <a:tr h="284302">
                <a:tc rowSpan="2">
                  <a:txBody>
                    <a:bodyPr/>
                    <a:lstStyle/>
                    <a:p>
                      <a:r>
                        <a:rPr lang="en-US" dirty="0" smtClean="0"/>
                        <a:t>ACTIVITY</a:t>
                      </a:r>
                      <a:endParaRPr lang="en-US" dirty="0"/>
                    </a:p>
                  </a:txBody>
                  <a:tcPr/>
                </a:tc>
                <a:tc rowSpan="2">
                  <a:txBody>
                    <a:bodyPr/>
                    <a:lstStyle/>
                    <a:p>
                      <a:r>
                        <a:rPr lang="en-US" dirty="0" smtClean="0"/>
                        <a:t>PREDECESSOR</a:t>
                      </a:r>
                      <a:endParaRPr lang="en-US" dirty="0"/>
                    </a:p>
                  </a:txBody>
                  <a:tcPr/>
                </a:tc>
                <a:tc gridSpan="3">
                  <a:txBody>
                    <a:bodyPr/>
                    <a:lstStyle/>
                    <a:p>
                      <a:r>
                        <a:rPr lang="en-US" dirty="0" smtClean="0"/>
                        <a:t>DURATION</a:t>
                      </a:r>
                      <a:endParaRPr lang="en-US" dirty="0"/>
                    </a:p>
                  </a:txBody>
                  <a:tcPr/>
                </a:tc>
                <a:tc hMerge="1">
                  <a:txBody>
                    <a:bodyPr/>
                    <a:lstStyle/>
                    <a:p>
                      <a:endParaRPr lang="en-US" dirty="0"/>
                    </a:p>
                  </a:txBody>
                  <a:tcPr/>
                </a:tc>
                <a:tc hMerge="1">
                  <a:txBody>
                    <a:bodyPr/>
                    <a:lstStyle/>
                    <a:p>
                      <a:endParaRPr lang="en-US" dirty="0"/>
                    </a:p>
                  </a:txBody>
                  <a:tcPr/>
                </a:tc>
                <a:tc rowSpan="2">
                  <a:txBody>
                    <a:bodyPr/>
                    <a:lstStyle/>
                    <a:p>
                      <a:r>
                        <a:rPr lang="en-US" dirty="0" smtClean="0"/>
                        <a:t>MEAN</a:t>
                      </a:r>
                      <a:endParaRPr lang="en-US" dirty="0"/>
                    </a:p>
                  </a:txBody>
                  <a:tcPr/>
                </a:tc>
                <a:tc rowSpan="2">
                  <a:txBody>
                    <a:bodyPr/>
                    <a:lstStyle/>
                    <a:p>
                      <a:r>
                        <a:rPr lang="en-US" dirty="0" smtClean="0"/>
                        <a:t>VARIANCE</a:t>
                      </a:r>
                      <a:endParaRPr lang="en-US" dirty="0"/>
                    </a:p>
                  </a:txBody>
                  <a:tcPr/>
                </a:tc>
                <a:extLst>
                  <a:ext uri="{0D108BD9-81ED-4DB2-BD59-A6C34878D82A}">
                    <a16:rowId xmlns:a16="http://schemas.microsoft.com/office/drawing/2014/main" val="10000"/>
                  </a:ext>
                </a:extLst>
              </a:tr>
              <a:tr h="329061">
                <a:tc vMerge="1">
                  <a:txBody>
                    <a:bodyPr/>
                    <a:lstStyle/>
                    <a:p>
                      <a:endParaRPr lang="en-US" dirty="0"/>
                    </a:p>
                  </a:txBody>
                  <a:tcPr/>
                </a:tc>
                <a:tc vMerge="1">
                  <a:txBody>
                    <a:bodyPr/>
                    <a:lstStyle/>
                    <a:p>
                      <a:endParaRPr lang="en-US" dirty="0"/>
                    </a:p>
                  </a:txBody>
                  <a:tcPr/>
                </a:tc>
                <a:tc>
                  <a:txBody>
                    <a:bodyPr/>
                    <a:lstStyle/>
                    <a:p>
                      <a:r>
                        <a:rPr lang="en-US" dirty="0" smtClean="0"/>
                        <a:t>To</a:t>
                      </a:r>
                      <a:endParaRPr lang="en-US" dirty="0"/>
                    </a:p>
                  </a:txBody>
                  <a:tcPr/>
                </a:tc>
                <a:tc>
                  <a:txBody>
                    <a:bodyPr/>
                    <a:lstStyle/>
                    <a:p>
                      <a:r>
                        <a:rPr lang="en-US" dirty="0" smtClean="0"/>
                        <a:t>Tm</a:t>
                      </a:r>
                      <a:endParaRPr lang="en-US" dirty="0"/>
                    </a:p>
                  </a:txBody>
                  <a:tcPr/>
                </a:tc>
                <a:tc>
                  <a:txBody>
                    <a:bodyPr/>
                    <a:lstStyle/>
                    <a:p>
                      <a:r>
                        <a:rPr lang="en-US" dirty="0" err="1" smtClean="0"/>
                        <a:t>Tp</a:t>
                      </a:r>
                      <a:endParaRPr lang="en-US" dirty="0"/>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10001"/>
                  </a:ext>
                </a:extLst>
              </a:tr>
              <a:tr h="284302">
                <a:tc>
                  <a:txBody>
                    <a:bodyPr/>
                    <a:lstStyle/>
                    <a:p>
                      <a:r>
                        <a:rPr lang="en-US" dirty="0" smtClean="0"/>
                        <a:t>A</a:t>
                      </a:r>
                      <a:endParaRPr lang="en-US" dirty="0"/>
                    </a:p>
                  </a:txBody>
                  <a:tcPr/>
                </a:tc>
                <a:tc>
                  <a:txBody>
                    <a:bodyPr/>
                    <a:lstStyle/>
                    <a:p>
                      <a:r>
                        <a:rPr lang="en-US" dirty="0" smtClean="0"/>
                        <a:t>-</a:t>
                      </a:r>
                      <a:endParaRPr lang="en-US" dirty="0"/>
                    </a:p>
                  </a:txBody>
                  <a:tcPr/>
                </a:tc>
                <a:tc>
                  <a:txBody>
                    <a:bodyPr/>
                    <a:lstStyle/>
                    <a:p>
                      <a:r>
                        <a:rPr lang="en-US" dirty="0" smtClean="0"/>
                        <a:t>4</a:t>
                      </a:r>
                      <a:endParaRPr lang="en-US" dirty="0"/>
                    </a:p>
                  </a:txBody>
                  <a:tcPr/>
                </a:tc>
                <a:tc>
                  <a:txBody>
                    <a:bodyPr/>
                    <a:lstStyle/>
                    <a:p>
                      <a:r>
                        <a:rPr lang="en-US" dirty="0" smtClean="0"/>
                        <a:t>4</a:t>
                      </a:r>
                      <a:endParaRPr lang="en-US" dirty="0"/>
                    </a:p>
                  </a:txBody>
                  <a:tcPr/>
                </a:tc>
                <a:tc>
                  <a:txBody>
                    <a:bodyPr/>
                    <a:lstStyle/>
                    <a:p>
                      <a:r>
                        <a:rPr lang="en-US" dirty="0" smtClean="0"/>
                        <a:t>10</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2"/>
                  </a:ext>
                </a:extLst>
              </a:tr>
              <a:tr h="284302">
                <a:tc>
                  <a:txBody>
                    <a:bodyPr/>
                    <a:lstStyle/>
                    <a:p>
                      <a:r>
                        <a:rPr lang="en-US" dirty="0" smtClean="0"/>
                        <a:t>B</a:t>
                      </a:r>
                      <a:endParaRPr lang="en-US" dirty="0"/>
                    </a:p>
                  </a:txBody>
                  <a:tcPr/>
                </a:tc>
                <a:tc>
                  <a:txBody>
                    <a:bodyPr/>
                    <a:lstStyle/>
                    <a:p>
                      <a:r>
                        <a:rPr lang="en-US" dirty="0" smtClean="0"/>
                        <a:t>-</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9</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3"/>
                  </a:ext>
                </a:extLst>
              </a:tr>
              <a:tr h="284302">
                <a:tc>
                  <a:txBody>
                    <a:bodyPr/>
                    <a:lstStyle/>
                    <a:p>
                      <a:r>
                        <a:rPr lang="en-US" dirty="0" smtClean="0"/>
                        <a:t>C</a:t>
                      </a:r>
                      <a:endParaRPr lang="en-US" dirty="0"/>
                    </a:p>
                  </a:txBody>
                  <a:tcPr/>
                </a:tc>
                <a:tc>
                  <a:txBody>
                    <a:bodyPr/>
                    <a:lstStyle/>
                    <a:p>
                      <a:r>
                        <a:rPr lang="en-US" dirty="0" smtClean="0"/>
                        <a:t>-</a:t>
                      </a:r>
                      <a:endParaRPr lang="en-US" dirty="0"/>
                    </a:p>
                  </a:txBody>
                  <a:tcPr/>
                </a:tc>
                <a:tc>
                  <a:txBody>
                    <a:bodyPr/>
                    <a:lstStyle/>
                    <a:p>
                      <a:r>
                        <a:rPr lang="en-US" dirty="0" smtClean="0"/>
                        <a:t>2</a:t>
                      </a:r>
                      <a:endParaRPr lang="en-US" dirty="0"/>
                    </a:p>
                  </a:txBody>
                  <a:tcPr/>
                </a:tc>
                <a:tc>
                  <a:txBody>
                    <a:bodyPr/>
                    <a:lstStyle/>
                    <a:p>
                      <a:r>
                        <a:rPr lang="en-US" dirty="0" smtClean="0"/>
                        <a:t>5</a:t>
                      </a:r>
                      <a:endParaRPr lang="en-US" dirty="0"/>
                    </a:p>
                  </a:txBody>
                  <a:tcPr/>
                </a:tc>
                <a:tc>
                  <a:txBody>
                    <a:bodyPr/>
                    <a:lstStyle/>
                    <a:p>
                      <a:r>
                        <a:rPr lang="en-US" dirty="0" smtClean="0"/>
                        <a:t>14</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4"/>
                  </a:ext>
                </a:extLst>
              </a:tr>
              <a:tr h="284302">
                <a:tc>
                  <a:txBody>
                    <a:bodyPr/>
                    <a:lstStyle/>
                    <a:p>
                      <a:r>
                        <a:rPr lang="en-US" dirty="0" smtClean="0"/>
                        <a:t>D</a:t>
                      </a:r>
                      <a:endParaRPr lang="en-US" dirty="0"/>
                    </a:p>
                  </a:txBody>
                  <a:tcPr/>
                </a:tc>
                <a:tc>
                  <a:txBody>
                    <a:bodyPr/>
                    <a:lstStyle/>
                    <a:p>
                      <a:r>
                        <a:rPr lang="en-US" dirty="0" smtClean="0"/>
                        <a:t>A</a:t>
                      </a:r>
                      <a:endParaRPr lang="en-US" dirty="0"/>
                    </a:p>
                  </a:txBody>
                  <a:tcPr/>
                </a:tc>
                <a:tc>
                  <a:txBody>
                    <a:bodyPr/>
                    <a:lstStyle/>
                    <a:p>
                      <a:r>
                        <a:rPr lang="en-US" dirty="0" smtClean="0"/>
                        <a:t>1</a:t>
                      </a:r>
                      <a:endParaRPr lang="en-US" dirty="0"/>
                    </a:p>
                  </a:txBody>
                  <a:tcPr/>
                </a:tc>
                <a:tc>
                  <a:txBody>
                    <a:bodyPr/>
                    <a:lstStyle/>
                    <a:p>
                      <a:r>
                        <a:rPr lang="en-US" dirty="0" smtClean="0"/>
                        <a:t>4</a:t>
                      </a:r>
                      <a:endParaRPr lang="en-US" dirty="0"/>
                    </a:p>
                  </a:txBody>
                  <a:tcPr/>
                </a:tc>
                <a:tc>
                  <a:txBody>
                    <a:bodyPr/>
                    <a:lstStyle/>
                    <a:p>
                      <a:r>
                        <a:rPr lang="en-US" dirty="0" smtClean="0"/>
                        <a:t>7</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5"/>
                  </a:ext>
                </a:extLst>
              </a:tr>
              <a:tr h="284302">
                <a:tc>
                  <a:txBody>
                    <a:bodyPr/>
                    <a:lstStyle/>
                    <a:p>
                      <a:r>
                        <a:rPr lang="en-US" dirty="0" smtClean="0"/>
                        <a:t>E</a:t>
                      </a:r>
                      <a:endParaRPr lang="en-US" dirty="0"/>
                    </a:p>
                  </a:txBody>
                  <a:tcPr/>
                </a:tc>
                <a:tc>
                  <a:txBody>
                    <a:bodyPr/>
                    <a:lstStyle/>
                    <a:p>
                      <a:r>
                        <a:rPr lang="en-US" dirty="0" smtClean="0"/>
                        <a:t>A</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6"/>
                  </a:ext>
                </a:extLst>
              </a:tr>
              <a:tr h="284302">
                <a:tc>
                  <a:txBody>
                    <a:bodyPr/>
                    <a:lstStyle/>
                    <a:p>
                      <a:r>
                        <a:rPr lang="en-US" dirty="0" smtClean="0"/>
                        <a:t>F</a:t>
                      </a:r>
                      <a:endParaRPr lang="en-US" dirty="0"/>
                    </a:p>
                  </a:txBody>
                  <a:tcPr/>
                </a:tc>
                <a:tc>
                  <a:txBody>
                    <a:bodyPr/>
                    <a:lstStyle/>
                    <a:p>
                      <a:r>
                        <a:rPr lang="en-US" dirty="0" smtClean="0"/>
                        <a:t>A</a:t>
                      </a:r>
                      <a:endParaRPr lang="en-US" dirty="0"/>
                    </a:p>
                  </a:txBody>
                  <a:tcPr/>
                </a:tc>
                <a:tc>
                  <a:txBody>
                    <a:bodyPr/>
                    <a:lstStyle/>
                    <a:p>
                      <a:r>
                        <a:rPr lang="en-US" dirty="0" smtClean="0"/>
                        <a:t>1</a:t>
                      </a:r>
                      <a:endParaRPr lang="en-US" dirty="0"/>
                    </a:p>
                  </a:txBody>
                  <a:tcPr/>
                </a:tc>
                <a:tc>
                  <a:txBody>
                    <a:bodyPr/>
                    <a:lstStyle/>
                    <a:p>
                      <a:r>
                        <a:rPr lang="en-US" dirty="0" smtClean="0"/>
                        <a:t>5</a:t>
                      </a:r>
                      <a:endParaRPr lang="en-US" dirty="0"/>
                    </a:p>
                  </a:txBody>
                  <a:tcPr/>
                </a:tc>
                <a:tc>
                  <a:txBody>
                    <a:bodyPr/>
                    <a:lstStyle/>
                    <a:p>
                      <a:r>
                        <a:rPr lang="en-US" dirty="0" smtClean="0"/>
                        <a:t>9</a:t>
                      </a:r>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7"/>
                  </a:ext>
                </a:extLst>
              </a:tr>
              <a:tr h="284302">
                <a:tc>
                  <a:txBody>
                    <a:bodyPr/>
                    <a:lstStyle/>
                    <a:p>
                      <a:r>
                        <a:rPr lang="en-US" dirty="0" smtClean="0"/>
                        <a:t>G</a:t>
                      </a:r>
                      <a:endParaRPr lang="en-US" dirty="0"/>
                    </a:p>
                  </a:txBody>
                  <a:tcPr/>
                </a:tc>
                <a:tc>
                  <a:txBody>
                    <a:bodyPr/>
                    <a:lstStyle/>
                    <a:p>
                      <a:r>
                        <a:rPr lang="en-US" dirty="0" smtClean="0"/>
                        <a:t>B,C</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9</a:t>
                      </a:r>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8"/>
                  </a:ext>
                </a:extLst>
              </a:tr>
              <a:tr h="284302">
                <a:tc>
                  <a:txBody>
                    <a:bodyPr/>
                    <a:lstStyle/>
                    <a:p>
                      <a:r>
                        <a:rPr lang="en-US" dirty="0" smtClean="0"/>
                        <a:t>H</a:t>
                      </a:r>
                      <a:endParaRPr lang="en-US" dirty="0"/>
                    </a:p>
                  </a:txBody>
                  <a:tcPr/>
                </a:tc>
                <a:tc>
                  <a:txBody>
                    <a:bodyPr/>
                    <a:lstStyle/>
                    <a:p>
                      <a:r>
                        <a:rPr lang="en-US" dirty="0" smtClean="0"/>
                        <a:t>C</a:t>
                      </a:r>
                      <a:endParaRPr lang="en-US" dirty="0"/>
                    </a:p>
                  </a:txBody>
                  <a:tcPr/>
                </a:tc>
                <a:tc>
                  <a:txBody>
                    <a:bodyPr/>
                    <a:lstStyle/>
                    <a:p>
                      <a:r>
                        <a:rPr lang="en-US" dirty="0" smtClean="0"/>
                        <a:t>4</a:t>
                      </a:r>
                      <a:endParaRPr lang="en-US" dirty="0"/>
                    </a:p>
                  </a:txBody>
                  <a:tcPr/>
                </a:tc>
                <a:tc>
                  <a:txBody>
                    <a:bodyPr/>
                    <a:lstStyle/>
                    <a:p>
                      <a:r>
                        <a:rPr lang="en-US" dirty="0" smtClean="0"/>
                        <a:t>4</a:t>
                      </a:r>
                      <a:endParaRPr lang="en-US" dirty="0"/>
                    </a:p>
                  </a:txBody>
                  <a:tcPr/>
                </a:tc>
                <a:tc>
                  <a:txBody>
                    <a:bodyPr/>
                    <a:lstStyle/>
                    <a:p>
                      <a:r>
                        <a:rPr lang="en-US" dirty="0" smtClean="0"/>
                        <a:t>4</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9"/>
                  </a:ext>
                </a:extLst>
              </a:tr>
              <a:tr h="284302">
                <a:tc>
                  <a:txBody>
                    <a:bodyPr/>
                    <a:lstStyle/>
                    <a:p>
                      <a:r>
                        <a:rPr lang="en-US" dirty="0" smtClean="0"/>
                        <a:t>I</a:t>
                      </a:r>
                      <a:endParaRPr lang="en-US" dirty="0"/>
                    </a:p>
                  </a:txBody>
                  <a:tcPr/>
                </a:tc>
                <a:tc>
                  <a:txBody>
                    <a:bodyPr/>
                    <a:lstStyle/>
                    <a:p>
                      <a:r>
                        <a:rPr lang="en-US" dirty="0" smtClean="0"/>
                        <a:t>D</a:t>
                      </a:r>
                      <a:endParaRPr lang="en-US" dirty="0"/>
                    </a:p>
                  </a:txBody>
                  <a:tcPr/>
                </a:tc>
                <a:tc>
                  <a:txBody>
                    <a:bodyPr/>
                    <a:lstStyle/>
                    <a:p>
                      <a:r>
                        <a:rPr lang="en-US" dirty="0" smtClean="0"/>
                        <a:t>2</a:t>
                      </a:r>
                      <a:endParaRPr lang="en-US" dirty="0"/>
                    </a:p>
                  </a:txBody>
                  <a:tcPr/>
                </a:tc>
                <a:tc>
                  <a:txBody>
                    <a:bodyPr/>
                    <a:lstStyle/>
                    <a:p>
                      <a:r>
                        <a:rPr lang="en-US" dirty="0" smtClean="0"/>
                        <a:t>2</a:t>
                      </a:r>
                      <a:endParaRPr lang="en-US" dirty="0"/>
                    </a:p>
                  </a:txBody>
                  <a:tcPr/>
                </a:tc>
                <a:tc>
                  <a:txBody>
                    <a:bodyPr/>
                    <a:lstStyle/>
                    <a:p>
                      <a:r>
                        <a:rPr lang="en-US" dirty="0" smtClean="0"/>
                        <a:t>8</a:t>
                      </a:r>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10"/>
                  </a:ext>
                </a:extLst>
              </a:tr>
              <a:tr h="284302">
                <a:tc>
                  <a:txBody>
                    <a:bodyPr/>
                    <a:lstStyle/>
                    <a:p>
                      <a:r>
                        <a:rPr lang="en-US" dirty="0" smtClean="0"/>
                        <a:t>J</a:t>
                      </a:r>
                      <a:endParaRPr lang="en-US" dirty="0"/>
                    </a:p>
                  </a:txBody>
                  <a:tcPr/>
                </a:tc>
                <a:tc>
                  <a:txBody>
                    <a:bodyPr/>
                    <a:lstStyle/>
                    <a:p>
                      <a:r>
                        <a:rPr lang="en-US" dirty="0" smtClean="0"/>
                        <a:t>E,G</a:t>
                      </a:r>
                      <a:endParaRPr lang="en-US" dirty="0"/>
                    </a:p>
                  </a:txBody>
                  <a:tcPr/>
                </a:tc>
                <a:tc>
                  <a:txBody>
                    <a:bodyPr/>
                    <a:lstStyle/>
                    <a:p>
                      <a:r>
                        <a:rPr lang="en-US" dirty="0" smtClean="0"/>
                        <a:t>6</a:t>
                      </a:r>
                      <a:endParaRPr lang="en-US" dirty="0"/>
                    </a:p>
                  </a:txBody>
                  <a:tcPr/>
                </a:tc>
                <a:tc>
                  <a:txBody>
                    <a:bodyPr/>
                    <a:lstStyle/>
                    <a:p>
                      <a:r>
                        <a:rPr lang="en-US" dirty="0" smtClean="0"/>
                        <a:t>7</a:t>
                      </a:r>
                      <a:endParaRPr lang="en-US" dirty="0"/>
                    </a:p>
                  </a:txBody>
                  <a:tcPr/>
                </a:tc>
                <a:tc>
                  <a:txBody>
                    <a:bodyPr/>
                    <a:lstStyle/>
                    <a:p>
                      <a:r>
                        <a:rPr lang="en-US" dirty="0" smtClean="0"/>
                        <a:t>8</a:t>
                      </a:r>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11"/>
                  </a:ext>
                </a:extLst>
              </a:tr>
            </a:tbl>
          </a:graphicData>
        </a:graphic>
      </p:graphicFrame>
      <p:sp>
        <p:nvSpPr>
          <p:cNvPr id="4" name="TextBox 3"/>
          <p:cNvSpPr txBox="1"/>
          <p:nvPr/>
        </p:nvSpPr>
        <p:spPr>
          <a:xfrm>
            <a:off x="323528" y="5661248"/>
            <a:ext cx="8568952" cy="1077218"/>
          </a:xfrm>
          <a:prstGeom prst="rect">
            <a:avLst/>
          </a:prstGeom>
          <a:noFill/>
        </p:spPr>
        <p:txBody>
          <a:bodyPr wrap="square" rtlCol="0">
            <a:spAutoFit/>
          </a:bodyPr>
          <a:lstStyle/>
          <a:p>
            <a:r>
              <a:rPr lang="en-US" sz="1600" dirty="0" smtClean="0"/>
              <a:t>a)Construct the project network</a:t>
            </a:r>
          </a:p>
          <a:p>
            <a:r>
              <a:rPr lang="en-US" sz="1600" dirty="0" smtClean="0"/>
              <a:t>b) Find the expected duration and variance of each activity</a:t>
            </a:r>
          </a:p>
          <a:p>
            <a:r>
              <a:rPr lang="en-US" sz="1600" dirty="0" smtClean="0"/>
              <a:t>c)Find the critical path and expected project duration.</a:t>
            </a:r>
          </a:p>
          <a:p>
            <a:r>
              <a:rPr lang="en-US" sz="1600" dirty="0" smtClean="0"/>
              <a:t>d)What is the probability of completing the project on or before 35 weeks</a:t>
            </a:r>
            <a:endParaRPr lang="en-US" sz="1600" dirty="0"/>
          </a:p>
        </p:txBody>
      </p:sp>
    </p:spTree>
    <p:extLst>
      <p:ext uri="{BB962C8B-B14F-4D97-AF65-F5344CB8AC3E}">
        <p14:creationId xmlns:p14="http://schemas.microsoft.com/office/powerpoint/2010/main" val="37922890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6832</TotalTime>
  <Words>720</Words>
  <Application>Microsoft Office PowerPoint</Application>
  <PresentationFormat>On-screen Show (4:3)</PresentationFormat>
  <Paragraphs>251</Paragraphs>
  <Slides>31</Slides>
  <Notes>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37" baseType="lpstr">
      <vt:lpstr>Arial</vt:lpstr>
      <vt:lpstr>Calibri</vt:lpstr>
      <vt:lpstr>Georgia</vt:lpstr>
      <vt:lpstr>Times New Roman</vt:lpstr>
      <vt:lpstr>Office Theme</vt:lpstr>
      <vt:lpstr>Photo Editor Photo</vt:lpstr>
      <vt:lpstr>Project Schedule Management</vt:lpstr>
      <vt:lpstr>PowerPoint Presentation</vt:lpstr>
      <vt:lpstr>PowerPoint Presentation</vt:lpstr>
      <vt:lpstr>PowerPoint Presentation</vt:lpstr>
      <vt:lpstr>PowerPoint Presentation</vt:lpstr>
      <vt:lpstr>PowerPoint Presentation</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 7.1</vt:lpstr>
      <vt:lpstr>PERT—Program Evaluation Review Technique</vt:lpstr>
      <vt:lpstr>Advantages of PERT</vt:lpstr>
      <vt:lpstr>Activity and Project Frequency Distributions</vt:lpstr>
      <vt:lpstr>Activity Time Calculations</vt:lpstr>
      <vt:lpstr>PERT</vt:lpstr>
      <vt:lpstr>PowerPoint Presentation</vt:lpstr>
      <vt:lpstr>PowerPoint Presentation</vt:lpstr>
      <vt:lpstr>PowerPoint Presentation</vt:lpstr>
      <vt:lpstr>PowerPoint Presentation</vt:lpstr>
      <vt:lpstr>Activity Time Calculations (cont’d)</vt:lpstr>
      <vt:lpstr>Probability of Completing the Project</vt:lpstr>
      <vt:lpstr>Z CALCULATION</vt:lpstr>
      <vt:lpstr>Hypothetical Network (cont’d)</vt:lpstr>
      <vt:lpstr>Possible Project Duration</vt:lpstr>
      <vt:lpstr>EXERCISE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Bahria</cp:lastModifiedBy>
  <cp:revision>414</cp:revision>
  <dcterms:created xsi:type="dcterms:W3CDTF">2013-08-21T19:17:07Z</dcterms:created>
  <dcterms:modified xsi:type="dcterms:W3CDTF">2024-03-29T06:34:10Z</dcterms:modified>
</cp:coreProperties>
</file>