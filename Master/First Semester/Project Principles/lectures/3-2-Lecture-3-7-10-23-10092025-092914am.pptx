
<file path=[Content_Types].xml><?xml version="1.0" encoding="utf-8"?>
<Types xmlns="http://schemas.openxmlformats.org/package/2006/content-types">
  <Default Extension="png" ContentType="image/png"/>
  <Default Extension="bin" ContentType="application/vnd.openxmlformats-officedocument.oleObject"/>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35"/>
  </p:notesMasterIdLst>
  <p:handoutMasterIdLst>
    <p:handoutMasterId r:id="rId36"/>
  </p:handoutMasterIdLst>
  <p:sldIdLst>
    <p:sldId id="278" r:id="rId5"/>
    <p:sldId id="426" r:id="rId6"/>
    <p:sldId id="429" r:id="rId7"/>
    <p:sldId id="431" r:id="rId8"/>
    <p:sldId id="427" r:id="rId9"/>
    <p:sldId id="428" r:id="rId10"/>
    <p:sldId id="430" r:id="rId11"/>
    <p:sldId id="433" r:id="rId12"/>
    <p:sldId id="432" r:id="rId13"/>
    <p:sldId id="434" r:id="rId14"/>
    <p:sldId id="435" r:id="rId15"/>
    <p:sldId id="436" r:id="rId16"/>
    <p:sldId id="437" r:id="rId17"/>
    <p:sldId id="438" r:id="rId18"/>
    <p:sldId id="425" r:id="rId19"/>
    <p:sldId id="413" r:id="rId20"/>
    <p:sldId id="417" r:id="rId21"/>
    <p:sldId id="418" r:id="rId22"/>
    <p:sldId id="368" r:id="rId23"/>
    <p:sldId id="370" r:id="rId24"/>
    <p:sldId id="369" r:id="rId25"/>
    <p:sldId id="371" r:id="rId26"/>
    <p:sldId id="372" r:id="rId27"/>
    <p:sldId id="373" r:id="rId28"/>
    <p:sldId id="439" r:id="rId29"/>
    <p:sldId id="440" r:id="rId30"/>
    <p:sldId id="441" r:id="rId31"/>
    <p:sldId id="442" r:id="rId32"/>
    <p:sldId id="443" r:id="rId33"/>
    <p:sldId id="44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9009" autoAdjust="0"/>
  </p:normalViewPr>
  <p:slideViewPr>
    <p:cSldViewPr snapToGrid="0" showGuides="1">
      <p:cViewPr varScale="1">
        <p:scale>
          <a:sx n="87" d="100"/>
          <a:sy n="87" d="100"/>
        </p:scale>
        <p:origin x="612" y="9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6" d="100"/>
          <a:sy n="76" d="100"/>
        </p:scale>
        <p:origin x="24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58A34-83F4-4B2E-BC5A-DE51EE8822F9}" type="datetimeFigureOut">
              <a:rPr lang="en-US" smtClean="0"/>
              <a:t>9/28/2024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8FE58C-C1A6-4C4C-90C2-B7F5B0504B2D}" type="slidenum">
              <a:rPr lang="en-US" smtClean="0"/>
              <a:t>‹#›</a:t>
            </a:fld>
            <a:endParaRPr lang="en-US"/>
          </a:p>
        </p:txBody>
      </p:sp>
    </p:spTree>
    <p:extLst>
      <p:ext uri="{BB962C8B-B14F-4D97-AF65-F5344CB8AC3E}">
        <p14:creationId xmlns:p14="http://schemas.microsoft.com/office/powerpoint/2010/main" val="40346050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E1917-0BAF-4687-978A-82FFF05559C3}" type="datetimeFigureOut">
              <a:rPr lang="en-US" smtClean="0"/>
              <a:t>9/28/2024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0E1E9A-E921-4174-A0FC-51868D7AC568}" type="slidenum">
              <a:rPr lang="en-US" smtClean="0"/>
              <a:t>‹#›</a:t>
            </a:fld>
            <a:endParaRPr lang="en-US"/>
          </a:p>
        </p:txBody>
      </p:sp>
    </p:spTree>
    <p:extLst>
      <p:ext uri="{BB962C8B-B14F-4D97-AF65-F5344CB8AC3E}">
        <p14:creationId xmlns:p14="http://schemas.microsoft.com/office/powerpoint/2010/main" val="373786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Slide Image Placeholder 1"/>
          <p:cNvSpPr>
            <a:spLocks noGrp="1" noRot="1" noChangeAspect="1" noTextEdit="1"/>
          </p:cNvSpPr>
          <p:nvPr>
            <p:ph type="sldImg"/>
          </p:nvPr>
        </p:nvSpPr>
        <p:spPr>
          <a:ln/>
        </p:spPr>
      </p:sp>
      <p:sp>
        <p:nvSpPr>
          <p:cNvPr id="585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smtClean="0"/>
          </a:p>
        </p:txBody>
      </p:sp>
      <p:sp>
        <p:nvSpPr>
          <p:cNvPr id="585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E16F863-8AD0-4DE5-B1E2-1CC08DF036A3}" type="slidenum">
              <a:rPr lang="en-US" sz="1200"/>
              <a:pPr eaLnBrk="1" hangingPunct="1"/>
              <a:t>16</a:t>
            </a:fld>
            <a:endParaRPr lang="en-US" sz="1200"/>
          </a:p>
        </p:txBody>
      </p:sp>
      <p:sp>
        <p:nvSpPr>
          <p:cNvPr id="58573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sz="1200" smtClean="0"/>
              <a:t>PMI - Karachi Pakistan Chapter</a:t>
            </a:r>
          </a:p>
        </p:txBody>
      </p:sp>
      <p:sp>
        <p:nvSpPr>
          <p:cNvPr id="585734" name="Header Placeholder 5"/>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sz="1200" smtClean="0"/>
              <a:t>PMP Course - 7th Session - Feb-2008</a:t>
            </a:r>
          </a:p>
        </p:txBody>
      </p:sp>
    </p:spTree>
    <p:extLst>
      <p:ext uri="{BB962C8B-B14F-4D97-AF65-F5344CB8AC3E}">
        <p14:creationId xmlns:p14="http://schemas.microsoft.com/office/powerpoint/2010/main" val="3669121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41400"/>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accent3">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4EAB7D7-3608-4730-B2E2-670834DF882C}" type="datetimeFigureOut">
              <a:rPr lang="en-US" smtClean="0"/>
              <a:t>9/28/2024</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646705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EAB7D7-3608-4730-B2E2-670834DF882C}" type="datetimeFigureOut">
              <a:rPr lang="en-US" smtClean="0"/>
              <a:t>9/28/2024</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198793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1658" y="1709738"/>
            <a:ext cx="10105791" cy="2862262"/>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1241658" y="4589463"/>
            <a:ext cx="10105791"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EAB7D7-3608-4730-B2E2-670834DF882C}" type="datetimeFigureOut">
              <a:rPr lang="en-US" smtClean="0"/>
              <a:t>9/28/2024</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4067686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569700" y="1825625"/>
            <a:ext cx="475488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5325" y="1825625"/>
            <a:ext cx="475488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4EAB7D7-3608-4730-B2E2-670834DF882C}" type="datetimeFigureOut">
              <a:rPr lang="en-US" smtClean="0"/>
              <a:t>9/28/2024</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1063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24100" y="274638"/>
            <a:ext cx="9023350" cy="114300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562100" y="1489075"/>
            <a:ext cx="4754880" cy="641350"/>
          </a:xfrm>
          <a:noFill/>
          <a:ln>
            <a:noFill/>
          </a:ln>
        </p:spPr>
        <p:txBody>
          <a:bodyPr anchor="b"/>
          <a:lstStyle>
            <a:lvl1pPr marL="0" indent="0">
              <a:buNone/>
              <a:defRPr sz="2400" b="0">
                <a:solidFill>
                  <a:schemeClr val="accent3">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2100" y="2193925"/>
            <a:ext cx="4754880" cy="3978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598920" y="1489075"/>
            <a:ext cx="4754880" cy="641350"/>
          </a:xfrm>
          <a:noFill/>
          <a:ln>
            <a:noFill/>
          </a:ln>
        </p:spPr>
        <p:txBody>
          <a:bodyPr anchor="b"/>
          <a:lstStyle>
            <a:lvl1pPr marL="0" indent="0">
              <a:buNone/>
              <a:defRPr sz="2400" b="0">
                <a:solidFill>
                  <a:schemeClr val="accent3">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98920" y="2193925"/>
            <a:ext cx="4754880" cy="3978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EAB7D7-3608-4730-B2E2-670834DF882C}" type="datetimeFigureOut">
              <a:rPr lang="en-US" smtClean="0"/>
              <a:t>9/28/2024</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23166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4EAB7D7-3608-4730-B2E2-670834DF882C}" type="datetimeFigureOut">
              <a:rPr lang="en-US" smtClean="0"/>
              <a:t>9/28/2024</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51058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EAB7D7-3608-4730-B2E2-670834DF882C}" type="datetimeFigureOut">
              <a:rPr lang="en-US" smtClean="0"/>
              <a:t>9/28/2024</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21514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2100"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678905" y="987425"/>
            <a:ext cx="567648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9/28/2024</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19871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Title 1"/>
          <p:cNvSpPr>
            <a:spLocks noGrp="1"/>
          </p:cNvSpPr>
          <p:nvPr>
            <p:ph type="title"/>
          </p:nvPr>
        </p:nvSpPr>
        <p:spPr>
          <a:xfrm>
            <a:off x="1562100" y="457200"/>
            <a:ext cx="3932237" cy="1600200"/>
          </a:xfrm>
        </p:spPr>
        <p:txBody>
          <a:bodyPr anchor="b"/>
          <a:lstStyle>
            <a:lvl1pPr>
              <a:defRPr sz="3200"/>
            </a:lvl1pPr>
          </a:lstStyle>
          <a:p>
            <a:r>
              <a:rPr lang="en-US" smtClean="0"/>
              <a:t>Click to edit Master title style</a:t>
            </a: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5678904" y="987425"/>
            <a:ext cx="567842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8"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9/28/2024</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1619359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562100" y="1825625"/>
            <a:ext cx="9791700" cy="43513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EAB7D7-3608-4730-B2E2-670834DF882C}" type="datetimeFigureOut">
              <a:rPr lang="en-US" smtClean="0"/>
              <a:t>9/28/2024</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821885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62100" y="365125"/>
            <a:ext cx="70104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EAB7D7-3608-4730-B2E2-670834DF882C}" type="datetimeFigureOut">
              <a:rPr lang="en-US" smtClean="0"/>
              <a:t>9/28/2024</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388830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9" name="Title 1"/>
          <p:cNvSpPr>
            <a:spLocks noGrp="1"/>
          </p:cNvSpPr>
          <p:nvPr>
            <p:ph type="title"/>
          </p:nvPr>
        </p:nvSpPr>
        <p:spPr>
          <a:xfrm>
            <a:off x="1562100" y="457200"/>
            <a:ext cx="3932237" cy="1600200"/>
          </a:xfrm>
        </p:spPr>
        <p:txBody>
          <a:bodyPr anchor="b"/>
          <a:lstStyle>
            <a:lvl1pPr>
              <a:defRPr sz="3200"/>
            </a:lvl1pPr>
          </a:lstStyle>
          <a:p>
            <a:r>
              <a:rPr lang="en-US" smtClean="0"/>
              <a:t>Click to edit Master title style</a:t>
            </a: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5678904" y="987425"/>
            <a:ext cx="567842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8"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9/28/2024</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413888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24100" y="365125"/>
            <a:ext cx="9029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2100" y="1825625"/>
            <a:ext cx="9791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562100" y="6356350"/>
            <a:ext cx="2552700" cy="365125"/>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84EAB7D7-3608-4730-B2E2-670834DF882C}" type="datetimeFigureOut">
              <a:rPr lang="en-US" smtClean="0"/>
              <a:pPr/>
              <a:t>9/28/2024</a:t>
            </a:fld>
            <a:endParaRPr lang="en-US"/>
          </a:p>
        </p:txBody>
      </p:sp>
      <p:sp>
        <p:nvSpPr>
          <p:cNvPr id="5"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B7BAC7-FE87-40F6-AA24-4F4685D1B022}" type="slidenum">
              <a:rPr lang="en-US" smtClean="0"/>
              <a:pPr/>
              <a:t>‹#›</a:t>
            </a:fld>
            <a:endParaRPr lang="en-US"/>
          </a:p>
        </p:txBody>
      </p:sp>
    </p:spTree>
    <p:extLst>
      <p:ext uri="{BB962C8B-B14F-4D97-AF65-F5344CB8AC3E}">
        <p14:creationId xmlns:p14="http://schemas.microsoft.com/office/powerpoint/2010/main" val="321936725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8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pos="1464" userDrawn="1">
          <p15:clr>
            <a:srgbClr val="F26B43"/>
          </p15:clr>
        </p15:guide>
        <p15:guide id="3" pos="7152" userDrawn="1">
          <p15:clr>
            <a:srgbClr val="F26B43"/>
          </p15:clr>
        </p15:guide>
        <p15:guide id="4" pos="984" userDrawn="1">
          <p15:clr>
            <a:srgbClr val="F26B43"/>
          </p15:clr>
        </p15:guide>
        <p15:guide id="5"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9.png"/><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1469571"/>
            <a:ext cx="9144000" cy="5029200"/>
          </a:xfrm>
        </p:spPr>
        <p:txBody>
          <a:bodyPr>
            <a:normAutofit/>
          </a:bodyPr>
          <a:lstStyle/>
          <a:p>
            <a:pPr algn="l"/>
            <a:endParaRPr lang="en-US" sz="1050" dirty="0">
              <a:solidFill>
                <a:srgbClr val="000000"/>
              </a:solidFill>
              <a:latin typeface="Arial" panose="020B0604020202020204" pitchFamily="34" charset="0"/>
            </a:endParaRPr>
          </a:p>
          <a:p>
            <a:endParaRPr lang="en-US" sz="1050" dirty="0">
              <a:latin typeface="Arial" panose="020B0604020202020204" pitchFamily="34" charset="0"/>
            </a:endParaRPr>
          </a:p>
          <a:p>
            <a:r>
              <a:rPr lang="en-US" sz="1050" dirty="0">
                <a:latin typeface="Arial" panose="020B0604020202020204" pitchFamily="34" charset="0"/>
              </a:rPr>
              <a:t> </a:t>
            </a:r>
            <a:r>
              <a:rPr lang="en-US" b="1" dirty="0" smtClean="0">
                <a:latin typeface="Arial" panose="020B0604020202020204" pitchFamily="34" charset="0"/>
                <a:cs typeface="Arial" panose="020B0604020202020204" pitchFamily="34" charset="0"/>
              </a:rPr>
              <a:t>Fundamentals of Project Management</a:t>
            </a:r>
            <a:endParaRPr lang="en-US" dirty="0" smtClean="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US" dirty="0" smtClean="0"/>
          </a:p>
          <a:p>
            <a:r>
              <a:rPr lang="en-US" b="1" dirty="0">
                <a:latin typeface="Arial" panose="020B0604020202020204" pitchFamily="34" charset="0"/>
                <a:ea typeface="Calibri" panose="020F0502020204030204" pitchFamily="34" charset="0"/>
                <a:cs typeface="Arial" panose="020B0604020202020204" pitchFamily="34" charset="0"/>
              </a:rPr>
              <a:t>MS(PM) MSP </a:t>
            </a:r>
            <a:r>
              <a:rPr lang="en-US" b="1" dirty="0" smtClean="0">
                <a:latin typeface="Arial" panose="020B0604020202020204" pitchFamily="34" charset="0"/>
                <a:ea typeface="Calibri" panose="020F0502020204030204" pitchFamily="34" charset="0"/>
                <a:cs typeface="Arial" panose="020B0604020202020204" pitchFamily="34" charset="0"/>
              </a:rPr>
              <a:t>705</a:t>
            </a:r>
            <a:r>
              <a:rPr lang="en-US" b="1" dirty="0">
                <a:latin typeface="Arial" panose="020B0604020202020204" pitchFamily="34" charset="0"/>
                <a:ea typeface="Calibri" panose="020F0502020204030204" pitchFamily="34" charset="0"/>
                <a:cs typeface="Arial" panose="020B0604020202020204" pitchFamily="34" charset="0"/>
              </a:rPr>
              <a:t>	Semester: 1	</a:t>
            </a:r>
            <a:r>
              <a:rPr lang="en-US" b="1" dirty="0" smtClean="0">
                <a:latin typeface="Arial" panose="020B0604020202020204" pitchFamily="34" charset="0"/>
                <a:ea typeface="Calibri" panose="020F0502020204030204" pitchFamily="34" charset="0"/>
                <a:cs typeface="Arial" panose="020B0604020202020204" pitchFamily="34" charset="0"/>
              </a:rPr>
              <a:t>Fall </a:t>
            </a:r>
            <a:r>
              <a:rPr lang="en-US" b="1" dirty="0" smtClean="0">
                <a:latin typeface="Arial" panose="020B0604020202020204" pitchFamily="34" charset="0"/>
                <a:ea typeface="Calibri" panose="020F0502020204030204" pitchFamily="34" charset="0"/>
                <a:cs typeface="Arial" panose="020B0604020202020204" pitchFamily="34" charset="0"/>
              </a:rPr>
              <a:t>2024</a:t>
            </a:r>
            <a:endParaRPr lang="en-US" dirty="0">
              <a:latin typeface="Arial" panose="020B0604020202020204" pitchFamily="34" charset="0"/>
              <a:cs typeface="Arial" panose="020B0604020202020204" pitchFamily="34" charset="0"/>
            </a:endParaRPr>
          </a:p>
          <a:p>
            <a:endParaRPr lang="en-US" dirty="0" smtClean="0">
              <a:latin typeface="Arial" panose="020B0604020202020204" pitchFamily="34" charset="0"/>
              <a:cs typeface="Arial" panose="020B0604020202020204" pitchFamily="34" charset="0"/>
            </a:endParaRPr>
          </a:p>
          <a:p>
            <a:r>
              <a:rPr lang="en-US" dirty="0" smtClean="0">
                <a:latin typeface="Arial" panose="020B0604020202020204" pitchFamily="34" charset="0"/>
                <a:cs typeface="Arial" panose="020B0604020202020204" pitchFamily="34" charset="0"/>
              </a:rPr>
              <a:t>Lecture # 3.2</a:t>
            </a:r>
          </a:p>
          <a:p>
            <a:endParaRPr lang="en-US" b="1" dirty="0" smtClean="0">
              <a:latin typeface="Arial" panose="020B0604020202020204" pitchFamily="34" charset="0"/>
              <a:ea typeface="Calibri" panose="020F0502020204030204" pitchFamily="34" charset="0"/>
              <a:cs typeface="Arial" panose="020B0604020202020204" pitchFamily="34" charset="0"/>
            </a:endParaRPr>
          </a:p>
          <a:p>
            <a:r>
              <a:rPr lang="en-US" b="1" dirty="0" smtClean="0">
                <a:latin typeface="Arial" panose="020B0604020202020204" pitchFamily="34" charset="0"/>
                <a:ea typeface="Calibri" panose="020F0502020204030204" pitchFamily="34" charset="0"/>
                <a:cs typeface="Arial" panose="020B0604020202020204" pitchFamily="34" charset="0"/>
              </a:rPr>
              <a:t>FACULTY </a:t>
            </a:r>
            <a:r>
              <a:rPr lang="en-US" b="1" dirty="0">
                <a:latin typeface="Arial" panose="020B0604020202020204" pitchFamily="34" charset="0"/>
                <a:ea typeface="Calibri" panose="020F0502020204030204" pitchFamily="34" charset="0"/>
                <a:cs typeface="Arial" panose="020B0604020202020204" pitchFamily="34" charset="0"/>
              </a:rPr>
              <a:t>OF MANAGEMENT </a:t>
            </a:r>
            <a:r>
              <a:rPr lang="en-US" b="1" dirty="0" smtClean="0">
                <a:latin typeface="Arial" panose="020B0604020202020204" pitchFamily="34" charset="0"/>
                <a:ea typeface="Calibri" panose="020F0502020204030204" pitchFamily="34" charset="0"/>
                <a:cs typeface="Arial" panose="020B0604020202020204" pitchFamily="34" charset="0"/>
              </a:rPr>
              <a:t>STUDIES </a:t>
            </a:r>
            <a:r>
              <a:rPr lang="en-US" b="1" dirty="0">
                <a:latin typeface="Arial" panose="020B0604020202020204" pitchFamily="34" charset="0"/>
                <a:ea typeface="Calibri" panose="020F0502020204030204" pitchFamily="34" charset="0"/>
                <a:cs typeface="Arial" panose="020B0604020202020204" pitchFamily="34" charset="0"/>
              </a:rPr>
              <a:t>- BUKC</a:t>
            </a:r>
            <a:endParaRPr lang="en-US" dirty="0" smtClean="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864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Project Management Organizational Structure</a:t>
            </a:r>
          </a:p>
        </p:txBody>
      </p:sp>
      <p:sp>
        <p:nvSpPr>
          <p:cNvPr id="3" name="Content Placeholder 2"/>
          <p:cNvSpPr>
            <a:spLocks noGrp="1"/>
          </p:cNvSpPr>
          <p:nvPr>
            <p:ph idx="1"/>
          </p:nvPr>
        </p:nvSpPr>
        <p:spPr>
          <a:xfrm>
            <a:off x="-94593" y="1825625"/>
            <a:ext cx="11448393" cy="4351338"/>
          </a:xfrm>
        </p:spPr>
        <p:txBody>
          <a:bodyPr>
            <a:normAutofit lnSpcReduction="10000"/>
          </a:bodyPr>
          <a:lstStyle/>
          <a:p>
            <a:r>
              <a:rPr lang="en-US" b="1" dirty="0"/>
              <a:t>1. Functional Organizational Structure:</a:t>
            </a:r>
          </a:p>
          <a:p>
            <a:pPr lvl="1" algn="just"/>
            <a:r>
              <a:rPr lang="en-US" dirty="0"/>
              <a:t>A functional structure is a hierarchical type, wherein people are grouped as per their area of specialization and supervised by the functional manager with expertise in the same field so that their skills can be effectively utilized and the organization’s objective can be achieved. Here are the key features of Functional Organizational Structure</a:t>
            </a:r>
            <a:r>
              <a:rPr lang="en-US" dirty="0" smtClean="0"/>
              <a:t>:</a:t>
            </a:r>
          </a:p>
          <a:p>
            <a:pPr lvl="2"/>
            <a:r>
              <a:rPr lang="en-US" dirty="0"/>
              <a:t>All authority, budget allocation, and decision-making power stay with the functional manager.</a:t>
            </a:r>
          </a:p>
          <a:p>
            <a:pPr lvl="2"/>
            <a:r>
              <a:rPr lang="en-US" dirty="0"/>
              <a:t>A project manager has no role in this type of structure.</a:t>
            </a:r>
          </a:p>
          <a:p>
            <a:pPr lvl="2"/>
            <a:r>
              <a:rPr lang="en-US" dirty="0"/>
              <a:t>Even if a project manager exists, the role will be very limited and he has to ask the functional manager for his requirements.</a:t>
            </a:r>
          </a:p>
          <a:p>
            <a:pPr lvl="2"/>
            <a:r>
              <a:rPr lang="en-US" dirty="0"/>
              <a:t>A project manager may have the title of a coordinator or an expediter</a:t>
            </a:r>
            <a:r>
              <a:rPr lang="en-US" dirty="0" smtClean="0"/>
              <a:t>.</a:t>
            </a:r>
          </a:p>
          <a:p>
            <a:pPr lvl="1"/>
            <a:r>
              <a:rPr lang="en-US" dirty="0">
                <a:solidFill>
                  <a:srgbClr val="7030A0"/>
                </a:solidFill>
              </a:rPr>
              <a:t>The Functional project management structure is suitable for an organization, which has ongoing operations such as manufacturing and production operations.</a:t>
            </a:r>
            <a:endParaRPr lang="en-US" dirty="0" smtClean="0">
              <a:solidFill>
                <a:srgbClr val="7030A0"/>
              </a:solidFill>
            </a:endParaRPr>
          </a:p>
          <a:p>
            <a:pPr lvl="2"/>
            <a:endParaRPr lang="en-US" dirty="0">
              <a:solidFill>
                <a:srgbClr val="7030A0"/>
              </a:solidFill>
            </a:endParaRPr>
          </a:p>
          <a:p>
            <a:pPr lvl="4" algn="just"/>
            <a:endParaRPr lang="en-US" dirty="0"/>
          </a:p>
        </p:txBody>
      </p:sp>
    </p:spTree>
    <p:extLst>
      <p:ext uri="{BB962C8B-B14F-4D97-AF65-F5344CB8AC3E}">
        <p14:creationId xmlns:p14="http://schemas.microsoft.com/office/powerpoint/2010/main" val="1161256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12375" y="746234"/>
            <a:ext cx="11329334" cy="5255173"/>
          </a:xfrm>
          <a:prstGeom prst="rect">
            <a:avLst/>
          </a:prstGeom>
        </p:spPr>
      </p:pic>
    </p:spTree>
    <p:extLst>
      <p:ext uri="{BB962C8B-B14F-4D97-AF65-F5344CB8AC3E}">
        <p14:creationId xmlns:p14="http://schemas.microsoft.com/office/powerpoint/2010/main" val="311092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044855" cy="6211614"/>
          </a:xfrm>
          <a:prstGeom prst="rect">
            <a:avLst/>
          </a:prstGeom>
        </p:spPr>
      </p:pic>
    </p:spTree>
    <p:extLst>
      <p:ext uri="{BB962C8B-B14F-4D97-AF65-F5344CB8AC3E}">
        <p14:creationId xmlns:p14="http://schemas.microsoft.com/office/powerpoint/2010/main" val="3299945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ADVANTAGES OF FUNCTIONAL STRUCTURE:</a:t>
            </a:r>
            <a:br>
              <a:rPr lang="en-US" b="1" dirty="0"/>
            </a:br>
            <a:endParaRPr lang="en-US" dirty="0"/>
          </a:p>
        </p:txBody>
      </p:sp>
      <p:sp>
        <p:nvSpPr>
          <p:cNvPr id="3" name="Content Placeholder 2"/>
          <p:cNvSpPr>
            <a:spLocks noGrp="1"/>
          </p:cNvSpPr>
          <p:nvPr>
            <p:ph idx="1"/>
          </p:nvPr>
        </p:nvSpPr>
        <p:spPr/>
        <p:txBody>
          <a:bodyPr/>
          <a:lstStyle/>
          <a:p>
            <a:r>
              <a:rPr lang="en-US" dirty="0"/>
              <a:t>Employees are grouped as per their knowledge and skills.</a:t>
            </a:r>
          </a:p>
          <a:p>
            <a:r>
              <a:rPr lang="en-US" dirty="0"/>
              <a:t>Job responsibilities and reporting are straight to the functional head, and the hierarchy path is clear.</a:t>
            </a:r>
          </a:p>
          <a:p>
            <a:r>
              <a:rPr lang="en-US" dirty="0"/>
              <a:t>Employees have a clear career growth path.</a:t>
            </a:r>
          </a:p>
          <a:p>
            <a:r>
              <a:rPr lang="en-US" dirty="0"/>
              <a:t>Within the functional department communication, cooperation and coordination are excellent.</a:t>
            </a:r>
          </a:p>
          <a:p>
            <a:endParaRPr lang="en-US" dirty="0"/>
          </a:p>
        </p:txBody>
      </p:sp>
    </p:spTree>
    <p:extLst>
      <p:ext uri="{BB962C8B-B14F-4D97-AF65-F5344CB8AC3E}">
        <p14:creationId xmlns:p14="http://schemas.microsoft.com/office/powerpoint/2010/main" val="2915265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DISADVANTAGES </a:t>
            </a:r>
            <a:r>
              <a:rPr lang="en-US" b="1" dirty="0"/>
              <a:t>OF FUNCTIONAL STRUCTURE:</a:t>
            </a:r>
            <a:br>
              <a:rPr lang="en-US" b="1" dirty="0"/>
            </a:br>
            <a:endParaRPr lang="en-US" dirty="0"/>
          </a:p>
        </p:txBody>
      </p:sp>
      <p:sp>
        <p:nvSpPr>
          <p:cNvPr id="3" name="Content Placeholder 2"/>
          <p:cNvSpPr>
            <a:spLocks noGrp="1"/>
          </p:cNvSpPr>
          <p:nvPr>
            <p:ph idx="1"/>
          </p:nvPr>
        </p:nvSpPr>
        <p:spPr/>
        <p:txBody>
          <a:bodyPr/>
          <a:lstStyle/>
          <a:p>
            <a:r>
              <a:rPr lang="en-US" dirty="0"/>
              <a:t>The employee may become lazy due to repeating the same type of work.</a:t>
            </a:r>
          </a:p>
          <a:p>
            <a:r>
              <a:rPr lang="en-US" dirty="0"/>
              <a:t>Conflicts may arise due to the promotion of another employee.</a:t>
            </a:r>
          </a:p>
          <a:p>
            <a:r>
              <a:rPr lang="en-US" dirty="0"/>
              <a:t>The functional manager pays attention to only his department; he usually doesn’t care for other teams or sections.</a:t>
            </a:r>
          </a:p>
          <a:p>
            <a:r>
              <a:rPr lang="en-US" dirty="0"/>
              <a:t>Poor communications and poor inter-department coordination.</a:t>
            </a:r>
          </a:p>
          <a:p>
            <a:r>
              <a:rPr lang="en-US" dirty="0"/>
              <a:t>Delays in decision-making due to bureaucratic hierarchy.</a:t>
            </a:r>
          </a:p>
          <a:p>
            <a:endParaRPr lang="en-US" dirty="0"/>
          </a:p>
        </p:txBody>
      </p:sp>
    </p:spTree>
    <p:extLst>
      <p:ext uri="{BB962C8B-B14F-4D97-AF65-F5344CB8AC3E}">
        <p14:creationId xmlns:p14="http://schemas.microsoft.com/office/powerpoint/2010/main" val="1332618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Projectized</a:t>
            </a:r>
            <a:r>
              <a:rPr lang="en-US" b="1" dirty="0"/>
              <a:t> Organizational </a:t>
            </a:r>
            <a:r>
              <a:rPr lang="en-US" b="1" dirty="0" smtClean="0"/>
              <a:t>Structure</a:t>
            </a:r>
            <a:r>
              <a:rPr lang="en-US" b="1" dirty="0"/>
              <a:t/>
            </a:r>
            <a:br>
              <a:rPr lang="en-US" b="1" dirty="0"/>
            </a:br>
            <a:endParaRPr lang="en-US" dirty="0"/>
          </a:p>
        </p:txBody>
      </p:sp>
      <p:sp>
        <p:nvSpPr>
          <p:cNvPr id="3" name="Content Placeholder 2"/>
          <p:cNvSpPr>
            <a:spLocks noGrp="1"/>
          </p:cNvSpPr>
          <p:nvPr>
            <p:ph idx="1"/>
          </p:nvPr>
        </p:nvSpPr>
        <p:spPr/>
        <p:txBody>
          <a:bodyPr>
            <a:normAutofit/>
          </a:bodyPr>
          <a:lstStyle/>
          <a:p>
            <a:pPr lvl="1" algn="just"/>
            <a:r>
              <a:rPr lang="en-US" sz="3600" i="1" dirty="0" err="1"/>
              <a:t>Projectized</a:t>
            </a:r>
            <a:r>
              <a:rPr lang="en-US" sz="3600" i="1" dirty="0"/>
              <a:t> organizations are nearly the opposite of functional organizations. The focus of this type of organization is the project itself. The idea behind a </a:t>
            </a:r>
            <a:r>
              <a:rPr lang="en-US" sz="3600" i="1" dirty="0" err="1"/>
              <a:t>projectized</a:t>
            </a:r>
            <a:r>
              <a:rPr lang="en-US" sz="3600" i="1" dirty="0"/>
              <a:t> organization is to develop loyalty to the project, not to a </a:t>
            </a:r>
            <a:r>
              <a:rPr lang="en-US" sz="3600" i="1" dirty="0" smtClean="0"/>
              <a:t>functional </a:t>
            </a:r>
            <a:r>
              <a:rPr lang="en-US" sz="3600" i="1" dirty="0"/>
              <a:t>manager</a:t>
            </a:r>
            <a:r>
              <a:rPr lang="en-US" sz="3600" i="1" dirty="0" smtClean="0"/>
              <a:t>.</a:t>
            </a:r>
          </a:p>
          <a:p>
            <a:pPr lvl="2"/>
            <a:endParaRPr lang="en-US" sz="3200" i="1" dirty="0"/>
          </a:p>
          <a:p>
            <a:pPr lvl="2" algn="just"/>
            <a:endParaRPr lang="en-US" sz="3200" i="1" dirty="0"/>
          </a:p>
        </p:txBody>
      </p:sp>
    </p:spTree>
    <p:extLst>
      <p:ext uri="{BB962C8B-B14F-4D97-AF65-F5344CB8AC3E}">
        <p14:creationId xmlns:p14="http://schemas.microsoft.com/office/powerpoint/2010/main" val="2587853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6495393"/>
          </a:xfrm>
          <a:prstGeom prst="rect">
            <a:avLst/>
          </a:prstGeom>
        </p:spPr>
      </p:pic>
    </p:spTree>
    <p:extLst>
      <p:ext uri="{BB962C8B-B14F-4D97-AF65-F5344CB8AC3E}">
        <p14:creationId xmlns:p14="http://schemas.microsoft.com/office/powerpoint/2010/main" val="1786589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Projectized</a:t>
            </a:r>
            <a:r>
              <a:rPr lang="en-US" b="1" dirty="0"/>
              <a:t> Organizational </a:t>
            </a:r>
            <a:r>
              <a:rPr lang="en-US" b="1" dirty="0" smtClean="0"/>
              <a:t>Structure</a:t>
            </a:r>
            <a:r>
              <a:rPr lang="en-US" b="1" dirty="0"/>
              <a:t/>
            </a:r>
            <a:br>
              <a:rPr lang="en-US" b="1" dirty="0"/>
            </a:br>
            <a:endParaRPr lang="en-US" dirty="0"/>
          </a:p>
        </p:txBody>
      </p:sp>
      <p:sp>
        <p:nvSpPr>
          <p:cNvPr id="3" name="Content Placeholder 2"/>
          <p:cNvSpPr>
            <a:spLocks noGrp="1"/>
          </p:cNvSpPr>
          <p:nvPr>
            <p:ph idx="1"/>
          </p:nvPr>
        </p:nvSpPr>
        <p:spPr>
          <a:xfrm>
            <a:off x="1562100" y="1250731"/>
            <a:ext cx="9791700" cy="4926232"/>
          </a:xfrm>
        </p:spPr>
        <p:txBody>
          <a:bodyPr>
            <a:normAutofit/>
          </a:bodyPr>
          <a:lstStyle/>
          <a:p>
            <a:pPr lvl="2" algn="just"/>
            <a:r>
              <a:rPr lang="en-US" b="1" dirty="0" smtClean="0"/>
              <a:t>ADVANTAGES </a:t>
            </a:r>
            <a:r>
              <a:rPr lang="en-US" b="1" dirty="0"/>
              <a:t>OF PROJECTIZED STRUCTURE:</a:t>
            </a:r>
          </a:p>
          <a:p>
            <a:pPr lvl="2"/>
            <a:r>
              <a:rPr lang="en-US" dirty="0"/>
              <a:t>Strong communication with a single reporting system.</a:t>
            </a:r>
          </a:p>
          <a:p>
            <a:pPr lvl="2"/>
            <a:r>
              <a:rPr lang="en-US" dirty="0"/>
              <a:t>Flexibility in trade-offs and decision making.</a:t>
            </a:r>
          </a:p>
          <a:p>
            <a:pPr lvl="2"/>
            <a:r>
              <a:rPr lang="en-US" dirty="0"/>
              <a:t>Fast decision making</a:t>
            </a:r>
            <a:r>
              <a:rPr lang="en-US" dirty="0" smtClean="0"/>
              <a:t>.</a:t>
            </a:r>
          </a:p>
          <a:p>
            <a:pPr lvl="2"/>
            <a:r>
              <a:rPr lang="en-US" b="1" dirty="0"/>
              <a:t>DISADVANTAGES OF PROJECTIZED STRUCTURE</a:t>
            </a:r>
          </a:p>
          <a:p>
            <a:pPr lvl="2"/>
            <a:r>
              <a:rPr lang="en-US" dirty="0"/>
              <a:t>Authority and power can make project managers arrogant.</a:t>
            </a:r>
          </a:p>
          <a:p>
            <a:pPr lvl="2"/>
            <a:r>
              <a:rPr lang="en-US" dirty="0"/>
              <a:t>The work environment can be stressful because there is always a deadline (milestones).</a:t>
            </a:r>
          </a:p>
          <a:p>
            <a:pPr lvl="2"/>
            <a:r>
              <a:rPr lang="en-US" dirty="0"/>
              <a:t>Team members have a sense of insecurity because once the project finishes, they may lose their jobs.</a:t>
            </a:r>
          </a:p>
          <a:p>
            <a:pPr lvl="2"/>
            <a:r>
              <a:rPr lang="en-US" dirty="0"/>
              <a:t>If the project gets elongated, the cost of employees and equipment can go higher.</a:t>
            </a:r>
          </a:p>
          <a:p>
            <a:pPr lvl="2"/>
            <a:endParaRPr lang="en-US" dirty="0"/>
          </a:p>
          <a:p>
            <a:pPr lvl="2" algn="just"/>
            <a:endParaRPr lang="en-US" dirty="0"/>
          </a:p>
        </p:txBody>
      </p:sp>
    </p:spTree>
    <p:extLst>
      <p:ext uri="{BB962C8B-B14F-4D97-AF65-F5344CB8AC3E}">
        <p14:creationId xmlns:p14="http://schemas.microsoft.com/office/powerpoint/2010/main" val="210139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Matrix Organizational </a:t>
            </a:r>
            <a:r>
              <a:rPr lang="en-US" b="1" dirty="0" smtClean="0"/>
              <a:t>Structure</a:t>
            </a:r>
            <a:endParaRPr lang="en-US" dirty="0"/>
          </a:p>
        </p:txBody>
      </p:sp>
      <p:sp>
        <p:nvSpPr>
          <p:cNvPr id="3" name="Content Placeholder 2"/>
          <p:cNvSpPr>
            <a:spLocks noGrp="1"/>
          </p:cNvSpPr>
          <p:nvPr>
            <p:ph idx="1"/>
          </p:nvPr>
        </p:nvSpPr>
        <p:spPr/>
        <p:txBody>
          <a:bodyPr>
            <a:normAutofit fontScale="92500"/>
          </a:bodyPr>
          <a:lstStyle/>
          <a:p>
            <a:r>
              <a:rPr lang="en-US" i="1" dirty="0"/>
              <a:t>In matrix structures, usually employees have two bosses to whom they may have to report. The authority of the functional manager flows vertically downwards and the authority of the project manager flows sideways. Since, the authorities flow downward and sideways, this structure is called the Matrix Organization Structure. Which boss is more powerful depends upon the type of matrix </a:t>
            </a:r>
            <a:r>
              <a:rPr lang="en-US" i="1" dirty="0" smtClean="0"/>
              <a:t>structure</a:t>
            </a:r>
          </a:p>
          <a:p>
            <a:pPr lvl="1"/>
            <a:r>
              <a:rPr lang="en-US" b="1" dirty="0"/>
              <a:t>TYPES OF MATRIX ORGANIZATIONS:</a:t>
            </a:r>
          </a:p>
          <a:p>
            <a:pPr lvl="1"/>
            <a:r>
              <a:rPr lang="en-US" dirty="0"/>
              <a:t>Matrix organization structure can be further divided into three categories:</a:t>
            </a:r>
          </a:p>
          <a:p>
            <a:pPr lvl="1"/>
            <a:r>
              <a:rPr lang="en-US" dirty="0"/>
              <a:t>Strong Matrix,</a:t>
            </a:r>
          </a:p>
          <a:p>
            <a:pPr lvl="1"/>
            <a:r>
              <a:rPr lang="en-US" dirty="0"/>
              <a:t>Balanced Matrix, and</a:t>
            </a:r>
          </a:p>
          <a:p>
            <a:pPr lvl="1"/>
            <a:r>
              <a:rPr lang="en-US" dirty="0"/>
              <a:t>Weak  Matrix.</a:t>
            </a:r>
          </a:p>
          <a:p>
            <a:endParaRPr lang="en-US" dirty="0"/>
          </a:p>
        </p:txBody>
      </p:sp>
    </p:spTree>
    <p:extLst>
      <p:ext uri="{BB962C8B-B14F-4D97-AF65-F5344CB8AC3E}">
        <p14:creationId xmlns:p14="http://schemas.microsoft.com/office/powerpoint/2010/main" val="3828927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2192000" cy="6779172"/>
          </a:xfrm>
          <a:prstGeom prst="rect">
            <a:avLst/>
          </a:prstGeom>
        </p:spPr>
      </p:pic>
    </p:spTree>
    <p:extLst>
      <p:ext uri="{BB962C8B-B14F-4D97-AF65-F5344CB8AC3E}">
        <p14:creationId xmlns:p14="http://schemas.microsoft.com/office/powerpoint/2010/main" val="2839973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2086897" cy="6756811"/>
          </a:xfrm>
          <a:prstGeom prst="rect">
            <a:avLst/>
          </a:prstGeom>
        </p:spPr>
      </p:pic>
    </p:spTree>
    <p:extLst>
      <p:ext uri="{BB962C8B-B14F-4D97-AF65-F5344CB8AC3E}">
        <p14:creationId xmlns:p14="http://schemas.microsoft.com/office/powerpoint/2010/main" val="210909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0"/>
            <a:ext cx="12192000" cy="6674279"/>
          </a:xfrm>
          <a:prstGeom prst="rect">
            <a:avLst/>
          </a:prstGeom>
        </p:spPr>
      </p:pic>
    </p:spTree>
    <p:extLst>
      <p:ext uri="{BB962C8B-B14F-4D97-AF65-F5344CB8AC3E}">
        <p14:creationId xmlns:p14="http://schemas.microsoft.com/office/powerpoint/2010/main" val="3680276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Disadvantages of Matrix</a:t>
            </a:r>
            <a:endParaRPr lang="en-US" dirty="0"/>
          </a:p>
        </p:txBody>
      </p:sp>
      <p:sp>
        <p:nvSpPr>
          <p:cNvPr id="4" name="Content Placeholder 3"/>
          <p:cNvSpPr>
            <a:spLocks noGrp="1"/>
          </p:cNvSpPr>
          <p:nvPr>
            <p:ph sz="half" idx="1"/>
          </p:nvPr>
        </p:nvSpPr>
        <p:spPr/>
        <p:txBody>
          <a:bodyPr/>
          <a:lstStyle/>
          <a:p>
            <a:r>
              <a:rPr lang="en-US" dirty="0" smtClean="0"/>
              <a:t>Advantages</a:t>
            </a:r>
          </a:p>
          <a:p>
            <a:pPr lvl="1"/>
            <a:r>
              <a:rPr lang="en-US" dirty="0" smtClean="0"/>
              <a:t>Highly visible Project Objectives</a:t>
            </a:r>
          </a:p>
          <a:p>
            <a:pPr lvl="1"/>
            <a:r>
              <a:rPr lang="en-US" dirty="0" smtClean="0"/>
              <a:t>Improved Project Management Control over resources</a:t>
            </a:r>
          </a:p>
          <a:p>
            <a:pPr lvl="1"/>
            <a:r>
              <a:rPr lang="en-US" dirty="0" smtClean="0"/>
              <a:t>More support from functional areas</a:t>
            </a:r>
            <a:endParaRPr lang="en-US" dirty="0"/>
          </a:p>
        </p:txBody>
      </p:sp>
      <p:sp>
        <p:nvSpPr>
          <p:cNvPr id="5" name="Content Placeholder 4"/>
          <p:cNvSpPr>
            <a:spLocks noGrp="1"/>
          </p:cNvSpPr>
          <p:nvPr>
            <p:ph sz="half" idx="2"/>
          </p:nvPr>
        </p:nvSpPr>
        <p:spPr/>
        <p:txBody>
          <a:bodyPr/>
          <a:lstStyle/>
          <a:p>
            <a:r>
              <a:rPr lang="en-US" dirty="0" smtClean="0"/>
              <a:t>Disadvantages</a:t>
            </a:r>
          </a:p>
          <a:p>
            <a:pPr lvl="1"/>
            <a:r>
              <a:rPr lang="en-US" dirty="0" smtClean="0"/>
              <a:t>Required extra administration</a:t>
            </a:r>
          </a:p>
          <a:p>
            <a:pPr lvl="1"/>
            <a:r>
              <a:rPr lang="en-US" dirty="0" smtClean="0"/>
              <a:t>Required </a:t>
            </a:r>
            <a:r>
              <a:rPr lang="en-US" dirty="0" err="1" smtClean="0"/>
              <a:t>morethan</a:t>
            </a:r>
            <a:r>
              <a:rPr lang="en-US" dirty="0" smtClean="0"/>
              <a:t> one boss for project teams</a:t>
            </a:r>
          </a:p>
          <a:p>
            <a:pPr lvl="1"/>
            <a:r>
              <a:rPr lang="en-US" dirty="0" smtClean="0"/>
              <a:t>More complex to monitor and control</a:t>
            </a:r>
            <a:endParaRPr lang="en-US" dirty="0"/>
          </a:p>
        </p:txBody>
      </p:sp>
    </p:spTree>
    <p:extLst>
      <p:ext uri="{BB962C8B-B14F-4D97-AF65-F5344CB8AC3E}">
        <p14:creationId xmlns:p14="http://schemas.microsoft.com/office/powerpoint/2010/main" val="103302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1924"/>
            <a:ext cx="12344399" cy="6825849"/>
          </a:xfrm>
        </p:spPr>
      </p:pic>
    </p:spTree>
    <p:extLst>
      <p:ext uri="{BB962C8B-B14F-4D97-AF65-F5344CB8AC3E}">
        <p14:creationId xmlns:p14="http://schemas.microsoft.com/office/powerpoint/2010/main" val="2550698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4"/>
          <p:cNvSpPr>
            <a:spLocks noGrp="1"/>
          </p:cNvSpPr>
          <p:nvPr>
            <p:ph type="sldNum" sz="quarter" idx="11"/>
          </p:nvPr>
        </p:nvSpPr>
        <p:spPr>
          <a:xfrm flipV="1">
            <a:off x="4648200" y="6721474"/>
            <a:ext cx="1443681" cy="45719"/>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sz="1400" dirty="0"/>
          </a:p>
        </p:txBody>
      </p:sp>
      <p:sp>
        <p:nvSpPr>
          <p:cNvPr id="99330" name="Rectangle 2"/>
          <p:cNvSpPr>
            <a:spLocks noGrp="1" noChangeArrowheads="1"/>
          </p:cNvSpPr>
          <p:nvPr>
            <p:ph type="title"/>
          </p:nvPr>
        </p:nvSpPr>
        <p:spPr bwMode="auto">
          <a:xfrm>
            <a:off x="1524000" y="0"/>
            <a:ext cx="6858000" cy="1066800"/>
          </a:xfrm>
          <a:ln>
            <a:miter lim="800000"/>
            <a:headEnd/>
            <a:tailEnd/>
          </a:ln>
        </p:spPr>
        <p:txBody>
          <a:bodyPr vert="horz" wrap="square" lIns="91440" tIns="45720" rIns="91440" bIns="45720" numCol="1" rtlCol="0" anchor="t" anchorCtr="0" compatLnSpc="1">
            <a:prstTxWarp prst="textNoShape">
              <a:avLst/>
            </a:prstTxWarp>
            <a:normAutofit/>
          </a:bodyPr>
          <a:lstStyle/>
          <a:p>
            <a:pPr algn="l" eaLnBrk="1" hangingPunct="1">
              <a:defRPr/>
            </a:pPr>
            <a:r>
              <a:rPr lang="en-US"/>
              <a:t>Organizational Influences</a:t>
            </a:r>
          </a:p>
        </p:txBody>
      </p:sp>
      <p:graphicFrame>
        <p:nvGraphicFramePr>
          <p:cNvPr id="10242" name="Object 3"/>
          <p:cNvGraphicFramePr>
            <a:graphicFrameLocks noChangeAspect="1"/>
          </p:cNvGraphicFramePr>
          <p:nvPr>
            <p:extLst>
              <p:ext uri="{D42A27DB-BD31-4B8C-83A1-F6EECF244321}">
                <p14:modId xmlns:p14="http://schemas.microsoft.com/office/powerpoint/2010/main" val="2724497290"/>
              </p:ext>
            </p:extLst>
          </p:nvPr>
        </p:nvGraphicFramePr>
        <p:xfrm>
          <a:off x="1278199" y="753762"/>
          <a:ext cx="10683142" cy="4838999"/>
        </p:xfrm>
        <a:graphic>
          <a:graphicData uri="http://schemas.openxmlformats.org/presentationml/2006/ole">
            <mc:AlternateContent xmlns:mc="http://schemas.openxmlformats.org/markup-compatibility/2006">
              <mc:Choice xmlns:v="urn:schemas-microsoft-com:vml" Requires="v">
                <p:oleObj spid="_x0000_s3150" name="Photo Editor Photo" r:id="rId4" imgW="5800000" imgH="2943636" progId="">
                  <p:embed/>
                </p:oleObj>
              </mc:Choice>
              <mc:Fallback>
                <p:oleObj name="Photo Editor Photo" r:id="rId4" imgW="5800000" imgH="2943636"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8199" y="753762"/>
                        <a:ext cx="10683142" cy="4838999"/>
                      </a:xfrm>
                      <a:prstGeom prst="rect">
                        <a:avLst/>
                      </a:prstGeom>
                      <a:noFill/>
                      <a:ln>
                        <a:noFill/>
                      </a:ln>
                      <a:effectLst/>
                      <a:extLst/>
                    </p:spPr>
                  </p:pic>
                </p:oleObj>
              </mc:Fallback>
            </mc:AlternateContent>
          </a:graphicData>
        </a:graphic>
      </p:graphicFrame>
      <p:sp>
        <p:nvSpPr>
          <p:cNvPr id="10245" name="Rectangle 4"/>
          <p:cNvSpPr>
            <a:spLocks noChangeArrowheads="1"/>
          </p:cNvSpPr>
          <p:nvPr/>
        </p:nvSpPr>
        <p:spPr bwMode="auto">
          <a:xfrm>
            <a:off x="3070654" y="5592762"/>
            <a:ext cx="6858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sz="2800" dirty="0"/>
              <a:t>A </a:t>
            </a:r>
            <a:r>
              <a:rPr lang="en-US" sz="2800" i="1" dirty="0"/>
              <a:t>tight</a:t>
            </a:r>
            <a:r>
              <a:rPr lang="en-US" sz="2800" dirty="0"/>
              <a:t> matrix is not an organizational structure, but another word for </a:t>
            </a:r>
            <a:r>
              <a:rPr lang="en-US" sz="2800" i="1" dirty="0"/>
              <a:t>collocation</a:t>
            </a:r>
            <a:r>
              <a:rPr lang="en-US" sz="2800" dirty="0"/>
              <a:t>.</a:t>
            </a:r>
          </a:p>
        </p:txBody>
      </p:sp>
    </p:spTree>
    <p:extLst>
      <p:ext uri="{BB962C8B-B14F-4D97-AF65-F5344CB8AC3E}">
        <p14:creationId xmlns:p14="http://schemas.microsoft.com/office/powerpoint/2010/main" val="3882421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bwMode="auto">
          <a:xfrm>
            <a:off x="1981200" y="274638"/>
            <a:ext cx="6629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mtClean="0">
                <a:effectLst/>
              </a:rPr>
              <a:t>Project Coordinator</a:t>
            </a:r>
          </a:p>
        </p:txBody>
      </p:sp>
      <p:sp>
        <p:nvSpPr>
          <p:cNvPr id="7987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mtClean="0">
                <a:effectLst/>
              </a:rPr>
              <a:t>Weaker than a Project Manager</a:t>
            </a:r>
          </a:p>
          <a:p>
            <a:r>
              <a:rPr lang="en-US" smtClean="0">
                <a:effectLst/>
              </a:rPr>
              <a:t>Not allowed to make budget decisions or overall project decisions</a:t>
            </a:r>
          </a:p>
          <a:p>
            <a:r>
              <a:rPr lang="en-US" smtClean="0">
                <a:effectLst/>
              </a:rPr>
              <a:t>May have some authority to assign / reassign some resources</a:t>
            </a:r>
          </a:p>
          <a:p>
            <a:r>
              <a:rPr lang="en-US" smtClean="0">
                <a:effectLst/>
              </a:rPr>
              <a:t>Found in a weak matrix or functional org</a:t>
            </a:r>
          </a:p>
        </p:txBody>
      </p:sp>
    </p:spTree>
    <p:extLst>
      <p:ext uri="{BB962C8B-B14F-4D97-AF65-F5344CB8AC3E}">
        <p14:creationId xmlns:p14="http://schemas.microsoft.com/office/powerpoint/2010/main" val="259485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1981200" y="274638"/>
            <a:ext cx="6400800" cy="944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mtClean="0">
                <a:effectLst/>
              </a:rPr>
              <a:t>Project Expeditor</a:t>
            </a:r>
          </a:p>
        </p:txBody>
      </p:sp>
      <p:sp>
        <p:nvSpPr>
          <p:cNvPr id="808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mtClean="0">
                <a:effectLst/>
              </a:rPr>
              <a:t>Weakest among all</a:t>
            </a:r>
          </a:p>
          <a:p>
            <a:r>
              <a:rPr lang="en-US" smtClean="0">
                <a:effectLst/>
              </a:rPr>
              <a:t>Staff assistant with little or no formal authority</a:t>
            </a:r>
          </a:p>
          <a:p>
            <a:r>
              <a:rPr lang="en-US" smtClean="0">
                <a:effectLst/>
              </a:rPr>
              <a:t>Reports to executives who have project responsibility</a:t>
            </a:r>
          </a:p>
          <a:p>
            <a:r>
              <a:rPr lang="en-US" smtClean="0">
                <a:effectLst/>
              </a:rPr>
              <a:t>Makes sure tasks are completed on time</a:t>
            </a:r>
          </a:p>
          <a:p>
            <a:r>
              <a:rPr lang="en-US" smtClean="0">
                <a:effectLst/>
              </a:rPr>
              <a:t>Found in a functional organization</a:t>
            </a:r>
          </a:p>
          <a:p>
            <a:pPr lvl="1"/>
            <a:r>
              <a:rPr lang="en-US" smtClean="0">
                <a:effectLst/>
              </a:rPr>
              <a:t>A part time job in most organizations</a:t>
            </a:r>
          </a:p>
        </p:txBody>
      </p:sp>
    </p:spTree>
    <p:extLst>
      <p:ext uri="{BB962C8B-B14F-4D97-AF65-F5344CB8AC3E}">
        <p14:creationId xmlns:p14="http://schemas.microsoft.com/office/powerpoint/2010/main" val="68026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OFFICE</a:t>
            </a:r>
          </a:p>
        </p:txBody>
      </p:sp>
      <p:sp>
        <p:nvSpPr>
          <p:cNvPr id="3" name="Content Placeholder 2"/>
          <p:cNvSpPr>
            <a:spLocks noGrp="1"/>
          </p:cNvSpPr>
          <p:nvPr>
            <p:ph idx="1"/>
          </p:nvPr>
        </p:nvSpPr>
        <p:spPr>
          <a:xfrm>
            <a:off x="1562100" y="1507524"/>
            <a:ext cx="9791700" cy="4669439"/>
          </a:xfrm>
        </p:spPr>
        <p:txBody>
          <a:bodyPr>
            <a:normAutofit/>
          </a:bodyPr>
          <a:lstStyle/>
          <a:p>
            <a:r>
              <a:rPr lang="en-US" dirty="0" smtClean="0"/>
              <a:t>PMO standardizes </a:t>
            </a:r>
            <a:r>
              <a:rPr lang="en-US" dirty="0"/>
              <a:t>the project-related </a:t>
            </a:r>
            <a:r>
              <a:rPr lang="en-US" dirty="0" smtClean="0"/>
              <a:t>governance, facilitates sharing </a:t>
            </a:r>
            <a:r>
              <a:rPr lang="en-US" dirty="0"/>
              <a:t>of resources, methodologies, </a:t>
            </a:r>
            <a:r>
              <a:rPr lang="en-US" dirty="0" smtClean="0"/>
              <a:t>and </a:t>
            </a:r>
            <a:r>
              <a:rPr lang="en-US" dirty="0"/>
              <a:t>techniques. </a:t>
            </a:r>
            <a:endParaRPr lang="en-US" dirty="0" smtClean="0"/>
          </a:p>
          <a:p>
            <a:r>
              <a:rPr lang="en-US" dirty="0" smtClean="0"/>
              <a:t>PMO role can range from project </a:t>
            </a:r>
            <a:r>
              <a:rPr lang="en-US" dirty="0"/>
              <a:t>management support functions to the direct management of one or more projects.</a:t>
            </a:r>
          </a:p>
          <a:p>
            <a:r>
              <a:rPr lang="en-US" dirty="0" smtClean="0"/>
              <a:t>Types </a:t>
            </a:r>
            <a:r>
              <a:rPr lang="en-US" dirty="0"/>
              <a:t>of </a:t>
            </a:r>
            <a:r>
              <a:rPr lang="en-US" dirty="0" smtClean="0"/>
              <a:t>PMOs: </a:t>
            </a:r>
            <a:endParaRPr lang="en-US" dirty="0"/>
          </a:p>
          <a:p>
            <a:r>
              <a:rPr lang="en-US" b="1" dirty="0" smtClean="0"/>
              <a:t>Supportive</a:t>
            </a:r>
            <a:r>
              <a:rPr lang="en-US" b="1" dirty="0"/>
              <a:t>. </a:t>
            </a:r>
            <a:r>
              <a:rPr lang="en-US" dirty="0"/>
              <a:t>C</a:t>
            </a:r>
            <a:r>
              <a:rPr lang="en-US" dirty="0" smtClean="0"/>
              <a:t>onsultative </a:t>
            </a:r>
            <a:r>
              <a:rPr lang="en-US" dirty="0"/>
              <a:t>role </a:t>
            </a:r>
            <a:r>
              <a:rPr lang="en-US" dirty="0" smtClean="0"/>
              <a:t>through templates</a:t>
            </a:r>
            <a:r>
              <a:rPr lang="en-US" dirty="0"/>
              <a:t>, best practices</a:t>
            </a:r>
            <a:r>
              <a:rPr lang="en-US" dirty="0" smtClean="0"/>
              <a:t>, training</a:t>
            </a:r>
            <a:r>
              <a:rPr lang="en-US" dirty="0"/>
              <a:t>, </a:t>
            </a:r>
            <a:r>
              <a:rPr lang="en-US" dirty="0" smtClean="0"/>
              <a:t>and access </a:t>
            </a:r>
            <a:r>
              <a:rPr lang="en-US" dirty="0"/>
              <a:t>to </a:t>
            </a:r>
            <a:r>
              <a:rPr lang="en-US" dirty="0" smtClean="0"/>
              <a:t>information. </a:t>
            </a:r>
          </a:p>
          <a:p>
            <a:r>
              <a:rPr lang="en-US" dirty="0" smtClean="0"/>
              <a:t>Serves </a:t>
            </a:r>
            <a:r>
              <a:rPr lang="en-US" dirty="0"/>
              <a:t>as a </a:t>
            </a:r>
            <a:r>
              <a:rPr lang="en-US" dirty="0" smtClean="0"/>
              <a:t>project repository</a:t>
            </a:r>
            <a:r>
              <a:rPr lang="en-US" dirty="0"/>
              <a:t>. </a:t>
            </a:r>
            <a:endParaRPr lang="en-US" dirty="0" smtClean="0"/>
          </a:p>
          <a:p>
            <a:r>
              <a:rPr lang="en-US" dirty="0" smtClean="0"/>
              <a:t>The </a:t>
            </a:r>
            <a:r>
              <a:rPr lang="en-US" dirty="0"/>
              <a:t>degree of control </a:t>
            </a:r>
            <a:r>
              <a:rPr lang="en-US" dirty="0" smtClean="0"/>
              <a:t>is </a:t>
            </a:r>
            <a:r>
              <a:rPr lang="en-US" dirty="0"/>
              <a:t>low</a:t>
            </a:r>
            <a:r>
              <a:rPr lang="en-US" dirty="0" smtClean="0"/>
              <a:t>.</a:t>
            </a:r>
            <a:endParaRPr lang="en-US" dirty="0"/>
          </a:p>
        </p:txBody>
      </p:sp>
    </p:spTree>
    <p:extLst>
      <p:ext uri="{BB962C8B-B14F-4D97-AF65-F5344CB8AC3E}">
        <p14:creationId xmlns:p14="http://schemas.microsoft.com/office/powerpoint/2010/main" val="2085496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OFFICE</a:t>
            </a:r>
          </a:p>
        </p:txBody>
      </p:sp>
      <p:sp>
        <p:nvSpPr>
          <p:cNvPr id="3" name="Content Placeholder 2"/>
          <p:cNvSpPr>
            <a:spLocks noGrp="1"/>
          </p:cNvSpPr>
          <p:nvPr>
            <p:ph idx="1"/>
          </p:nvPr>
        </p:nvSpPr>
        <p:spPr>
          <a:xfrm>
            <a:off x="1562100" y="1891726"/>
            <a:ext cx="9791700" cy="4351338"/>
          </a:xfrm>
        </p:spPr>
        <p:txBody>
          <a:bodyPr>
            <a:normAutofit/>
          </a:bodyPr>
          <a:lstStyle/>
          <a:p>
            <a:r>
              <a:rPr lang="en-US" b="1" dirty="0" smtClean="0"/>
              <a:t>Controlling</a:t>
            </a:r>
            <a:r>
              <a:rPr lang="en-US" b="1" dirty="0"/>
              <a:t>. </a:t>
            </a:r>
            <a:r>
              <a:rPr lang="en-US" dirty="0" smtClean="0"/>
              <a:t>support </a:t>
            </a:r>
            <a:r>
              <a:rPr lang="en-US" dirty="0"/>
              <a:t>and require compliance through various means. </a:t>
            </a:r>
            <a:endParaRPr lang="en-US" dirty="0" smtClean="0"/>
          </a:p>
          <a:p>
            <a:r>
              <a:rPr lang="en-US" dirty="0" smtClean="0"/>
              <a:t>The </a:t>
            </a:r>
            <a:r>
              <a:rPr lang="en-US" dirty="0"/>
              <a:t>degree </a:t>
            </a:r>
            <a:r>
              <a:rPr lang="en-US" dirty="0" smtClean="0"/>
              <a:t>of control is </a:t>
            </a:r>
            <a:r>
              <a:rPr lang="en-US" dirty="0"/>
              <a:t>moderate. </a:t>
            </a:r>
            <a:endParaRPr lang="en-US" dirty="0" smtClean="0"/>
          </a:p>
          <a:p>
            <a:r>
              <a:rPr lang="en-US" dirty="0" smtClean="0"/>
              <a:t>Compliance </a:t>
            </a:r>
            <a:r>
              <a:rPr lang="en-US" dirty="0"/>
              <a:t>may involve:</a:t>
            </a:r>
          </a:p>
          <a:p>
            <a:r>
              <a:rPr lang="en-US" dirty="0" smtClean="0"/>
              <a:t>Adoption </a:t>
            </a:r>
            <a:r>
              <a:rPr lang="en-US" dirty="0"/>
              <a:t>of project management frameworks or methodologies;</a:t>
            </a:r>
          </a:p>
          <a:p>
            <a:r>
              <a:rPr lang="en-US" dirty="0" smtClean="0"/>
              <a:t>Use </a:t>
            </a:r>
            <a:r>
              <a:rPr lang="en-US" dirty="0"/>
              <a:t>of specific templates, forms, and tools; and</a:t>
            </a:r>
          </a:p>
          <a:p>
            <a:r>
              <a:rPr lang="en-US" dirty="0" smtClean="0"/>
              <a:t>Conformance </a:t>
            </a:r>
            <a:r>
              <a:rPr lang="en-US" dirty="0"/>
              <a:t>to governance frameworks</a:t>
            </a:r>
            <a:r>
              <a:rPr lang="en-US" dirty="0" smtClean="0"/>
              <a:t>.</a:t>
            </a:r>
            <a:endParaRPr lang="en-US" dirty="0"/>
          </a:p>
        </p:txBody>
      </p:sp>
    </p:spTree>
    <p:extLst>
      <p:ext uri="{BB962C8B-B14F-4D97-AF65-F5344CB8AC3E}">
        <p14:creationId xmlns:p14="http://schemas.microsoft.com/office/powerpoint/2010/main" val="3198791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OFFICE</a:t>
            </a:r>
          </a:p>
        </p:txBody>
      </p:sp>
      <p:sp>
        <p:nvSpPr>
          <p:cNvPr id="3" name="Content Placeholder 2"/>
          <p:cNvSpPr>
            <a:spLocks noGrp="1"/>
          </p:cNvSpPr>
          <p:nvPr>
            <p:ph idx="1"/>
          </p:nvPr>
        </p:nvSpPr>
        <p:spPr/>
        <p:txBody>
          <a:bodyPr>
            <a:normAutofit/>
          </a:bodyPr>
          <a:lstStyle/>
          <a:p>
            <a:r>
              <a:rPr lang="en-US" b="1" dirty="0" smtClean="0"/>
              <a:t>Directive</a:t>
            </a:r>
            <a:r>
              <a:rPr lang="en-US" b="1" dirty="0"/>
              <a:t>. </a:t>
            </a:r>
            <a:r>
              <a:rPr lang="en-US" dirty="0" smtClean="0"/>
              <a:t>Directly </a:t>
            </a:r>
            <a:r>
              <a:rPr lang="en-US" dirty="0"/>
              <a:t>managing the projects. </a:t>
            </a:r>
            <a:endParaRPr lang="en-US" dirty="0" smtClean="0"/>
          </a:p>
          <a:p>
            <a:r>
              <a:rPr lang="en-US" dirty="0" smtClean="0"/>
              <a:t>Project </a:t>
            </a:r>
            <a:r>
              <a:rPr lang="en-US" dirty="0"/>
              <a:t>managers </a:t>
            </a:r>
            <a:r>
              <a:rPr lang="en-US" dirty="0" smtClean="0"/>
              <a:t>are assigned </a:t>
            </a:r>
            <a:r>
              <a:rPr lang="en-US" dirty="0"/>
              <a:t>by and report to the PMO. </a:t>
            </a:r>
            <a:endParaRPr lang="en-US" dirty="0" smtClean="0"/>
          </a:p>
          <a:p>
            <a:r>
              <a:rPr lang="en-US" dirty="0" smtClean="0"/>
              <a:t>The </a:t>
            </a:r>
            <a:r>
              <a:rPr lang="en-US" dirty="0"/>
              <a:t>degree of control </a:t>
            </a:r>
            <a:r>
              <a:rPr lang="en-US" dirty="0" smtClean="0"/>
              <a:t>is </a:t>
            </a:r>
            <a:r>
              <a:rPr lang="en-US" dirty="0"/>
              <a:t>high.</a:t>
            </a:r>
          </a:p>
          <a:p>
            <a:r>
              <a:rPr lang="en-US" dirty="0" smtClean="0"/>
              <a:t>May </a:t>
            </a:r>
            <a:r>
              <a:rPr lang="en-US" dirty="0"/>
              <a:t>have organization-wide responsibility. </a:t>
            </a:r>
            <a:endParaRPr lang="en-US" dirty="0" smtClean="0"/>
          </a:p>
          <a:p>
            <a:r>
              <a:rPr lang="en-US" dirty="0" smtClean="0"/>
              <a:t>Role </a:t>
            </a:r>
            <a:r>
              <a:rPr lang="en-US" dirty="0"/>
              <a:t>in </a:t>
            </a:r>
            <a:r>
              <a:rPr lang="en-US" dirty="0" smtClean="0"/>
              <a:t>strategic alignment </a:t>
            </a:r>
            <a:r>
              <a:rPr lang="en-US" dirty="0"/>
              <a:t>and delivering organizational value. </a:t>
            </a:r>
            <a:endParaRPr lang="en-US" dirty="0" smtClean="0"/>
          </a:p>
          <a:p>
            <a:r>
              <a:rPr lang="en-US" dirty="0" smtClean="0"/>
              <a:t>Integrates information </a:t>
            </a:r>
            <a:r>
              <a:rPr lang="en-US" dirty="0"/>
              <a:t>from </a:t>
            </a:r>
            <a:r>
              <a:rPr lang="en-US" dirty="0" smtClean="0"/>
              <a:t>strategic projects </a:t>
            </a:r>
            <a:r>
              <a:rPr lang="en-US" dirty="0"/>
              <a:t>and evaluates how </a:t>
            </a:r>
            <a:r>
              <a:rPr lang="en-US" dirty="0" smtClean="0"/>
              <a:t>strategic </a:t>
            </a:r>
            <a:r>
              <a:rPr lang="en-US" dirty="0"/>
              <a:t>objectives are being fulfilled. </a:t>
            </a:r>
            <a:endParaRPr lang="en-US" dirty="0" smtClean="0"/>
          </a:p>
        </p:txBody>
      </p:sp>
    </p:spTree>
    <p:extLst>
      <p:ext uri="{BB962C8B-B14F-4D97-AF65-F5344CB8AC3E}">
        <p14:creationId xmlns:p14="http://schemas.microsoft.com/office/powerpoint/2010/main" val="4227431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OFFICE</a:t>
            </a:r>
          </a:p>
        </p:txBody>
      </p:sp>
      <p:sp>
        <p:nvSpPr>
          <p:cNvPr id="3" name="Content Placeholder 2"/>
          <p:cNvSpPr>
            <a:spLocks noGrp="1"/>
          </p:cNvSpPr>
          <p:nvPr>
            <p:ph idx="1"/>
          </p:nvPr>
        </p:nvSpPr>
        <p:spPr/>
        <p:txBody>
          <a:bodyPr>
            <a:normAutofit/>
          </a:bodyPr>
          <a:lstStyle/>
          <a:p>
            <a:r>
              <a:rPr lang="en-US" dirty="0" smtClean="0"/>
              <a:t>PMO </a:t>
            </a:r>
            <a:r>
              <a:rPr lang="en-US" dirty="0"/>
              <a:t>is the natural liaison between </a:t>
            </a:r>
            <a:r>
              <a:rPr lang="en-US" dirty="0" smtClean="0"/>
              <a:t>the organization’s </a:t>
            </a:r>
            <a:r>
              <a:rPr lang="en-US" dirty="0"/>
              <a:t>portfolios, programs, projects, and the organizational measurement systems (e.g., balanced scorecard).</a:t>
            </a:r>
          </a:p>
          <a:p>
            <a:r>
              <a:rPr lang="en-US" dirty="0"/>
              <a:t>The projects supported or administered by the PMO may not be related other than by being managed together. </a:t>
            </a:r>
            <a:endParaRPr lang="en-US" dirty="0" smtClean="0"/>
          </a:p>
          <a:p>
            <a:r>
              <a:rPr lang="en-US" dirty="0" smtClean="0"/>
              <a:t>The specific </a:t>
            </a:r>
            <a:r>
              <a:rPr lang="en-US" dirty="0"/>
              <a:t>form, function, and structure of a PMO are dependent upon the needs of the organization that it supports.</a:t>
            </a:r>
          </a:p>
        </p:txBody>
      </p:sp>
    </p:spTree>
    <p:extLst>
      <p:ext uri="{BB962C8B-B14F-4D97-AF65-F5344CB8AC3E}">
        <p14:creationId xmlns:p14="http://schemas.microsoft.com/office/powerpoint/2010/main" val="1009082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OFFICE</a:t>
            </a:r>
          </a:p>
        </p:txBody>
      </p:sp>
      <p:sp>
        <p:nvSpPr>
          <p:cNvPr id="3" name="Content Placeholder 2"/>
          <p:cNvSpPr>
            <a:spLocks noGrp="1"/>
          </p:cNvSpPr>
          <p:nvPr>
            <p:ph idx="1"/>
          </p:nvPr>
        </p:nvSpPr>
        <p:spPr/>
        <p:txBody>
          <a:bodyPr>
            <a:normAutofit/>
          </a:bodyPr>
          <a:lstStyle/>
          <a:p>
            <a:r>
              <a:rPr lang="en-US" dirty="0" smtClean="0"/>
              <a:t>PMO </a:t>
            </a:r>
            <a:r>
              <a:rPr lang="en-US" dirty="0"/>
              <a:t>may have the authority to act as an integral stakeholder and a key decision maker </a:t>
            </a:r>
            <a:r>
              <a:rPr lang="en-US" dirty="0" smtClean="0"/>
              <a:t>of each project to </a:t>
            </a:r>
            <a:r>
              <a:rPr lang="en-US" dirty="0"/>
              <a:t>keep it aligned with the business objectives. </a:t>
            </a:r>
            <a:endParaRPr lang="en-US" dirty="0" smtClean="0"/>
          </a:p>
          <a:p>
            <a:r>
              <a:rPr lang="en-US" dirty="0" smtClean="0"/>
              <a:t>The </a:t>
            </a:r>
            <a:r>
              <a:rPr lang="en-US" dirty="0"/>
              <a:t>PMO may:</a:t>
            </a:r>
          </a:p>
          <a:p>
            <a:r>
              <a:rPr lang="en-US" dirty="0" smtClean="0"/>
              <a:t>Make </a:t>
            </a:r>
            <a:r>
              <a:rPr lang="en-US" dirty="0"/>
              <a:t>recommendations,</a:t>
            </a:r>
          </a:p>
          <a:p>
            <a:r>
              <a:rPr lang="en-US" dirty="0" smtClean="0"/>
              <a:t>Lead </a:t>
            </a:r>
            <a:r>
              <a:rPr lang="en-US" dirty="0"/>
              <a:t>knowledge transfer,</a:t>
            </a:r>
          </a:p>
          <a:p>
            <a:r>
              <a:rPr lang="en-US" dirty="0" smtClean="0"/>
              <a:t>Terminate </a:t>
            </a:r>
            <a:r>
              <a:rPr lang="en-US" dirty="0"/>
              <a:t>projects, and</a:t>
            </a:r>
          </a:p>
          <a:p>
            <a:r>
              <a:rPr lang="en-US" dirty="0" smtClean="0"/>
              <a:t>Take </a:t>
            </a:r>
            <a:r>
              <a:rPr lang="en-US" dirty="0"/>
              <a:t>other actions, as required</a:t>
            </a:r>
            <a:r>
              <a:rPr lang="en-US" dirty="0" smtClean="0"/>
              <a:t>.</a:t>
            </a:r>
            <a:endParaRPr lang="en-US" dirty="0"/>
          </a:p>
        </p:txBody>
      </p:sp>
    </p:spTree>
    <p:extLst>
      <p:ext uri="{BB962C8B-B14F-4D97-AF65-F5344CB8AC3E}">
        <p14:creationId xmlns:p14="http://schemas.microsoft.com/office/powerpoint/2010/main" val="419242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OFFICE</a:t>
            </a:r>
          </a:p>
        </p:txBody>
      </p:sp>
      <p:sp>
        <p:nvSpPr>
          <p:cNvPr id="3" name="Content Placeholder 2"/>
          <p:cNvSpPr>
            <a:spLocks noGrp="1"/>
          </p:cNvSpPr>
          <p:nvPr>
            <p:ph idx="1"/>
          </p:nvPr>
        </p:nvSpPr>
        <p:spPr/>
        <p:txBody>
          <a:bodyPr>
            <a:normAutofit/>
          </a:bodyPr>
          <a:lstStyle/>
          <a:p>
            <a:r>
              <a:rPr lang="en-US" dirty="0" smtClean="0"/>
              <a:t>Primary </a:t>
            </a:r>
            <a:r>
              <a:rPr lang="en-US" dirty="0"/>
              <a:t>function of a PMO is to support project </a:t>
            </a:r>
            <a:r>
              <a:rPr lang="en-US" dirty="0" smtClean="0"/>
              <a:t>managers:</a:t>
            </a:r>
            <a:endParaRPr lang="en-US" dirty="0"/>
          </a:p>
          <a:p>
            <a:r>
              <a:rPr lang="en-US" dirty="0" smtClean="0"/>
              <a:t>Managing </a:t>
            </a:r>
            <a:r>
              <a:rPr lang="en-US" dirty="0"/>
              <a:t>shared resources across all </a:t>
            </a:r>
            <a:r>
              <a:rPr lang="en-US" dirty="0" smtClean="0"/>
              <a:t>projects;</a:t>
            </a:r>
            <a:endParaRPr lang="en-US" dirty="0"/>
          </a:p>
          <a:p>
            <a:r>
              <a:rPr lang="en-US" dirty="0" smtClean="0"/>
              <a:t>Coaching</a:t>
            </a:r>
            <a:r>
              <a:rPr lang="en-US" dirty="0"/>
              <a:t>, mentoring, training, and oversight;</a:t>
            </a:r>
          </a:p>
          <a:p>
            <a:r>
              <a:rPr lang="en-US" dirty="0" smtClean="0"/>
              <a:t>Monitoring </a:t>
            </a:r>
            <a:r>
              <a:rPr lang="en-US" dirty="0"/>
              <a:t>compliance </a:t>
            </a:r>
            <a:r>
              <a:rPr lang="en-US" dirty="0" smtClean="0"/>
              <a:t>by </a:t>
            </a:r>
            <a:r>
              <a:rPr lang="en-US" dirty="0"/>
              <a:t>means </a:t>
            </a:r>
            <a:r>
              <a:rPr lang="en-US" dirty="0" smtClean="0"/>
              <a:t>of project </a:t>
            </a:r>
            <a:r>
              <a:rPr lang="en-US" dirty="0"/>
              <a:t>audits;</a:t>
            </a:r>
          </a:p>
          <a:p>
            <a:r>
              <a:rPr lang="en-US" dirty="0" smtClean="0"/>
              <a:t>Coordinating </a:t>
            </a:r>
            <a:r>
              <a:rPr lang="en-US" dirty="0"/>
              <a:t>communication across projects.</a:t>
            </a:r>
          </a:p>
        </p:txBody>
      </p:sp>
    </p:spTree>
    <p:extLst>
      <p:ext uri="{BB962C8B-B14F-4D97-AF65-F5344CB8AC3E}">
        <p14:creationId xmlns:p14="http://schemas.microsoft.com/office/powerpoint/2010/main" val="18704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Organization in Pakistan</a:t>
            </a:r>
          </a:p>
        </p:txBody>
      </p:sp>
      <p:sp>
        <p:nvSpPr>
          <p:cNvPr id="3" name="Content Placeholder 2"/>
          <p:cNvSpPr>
            <a:spLocks noGrp="1"/>
          </p:cNvSpPr>
          <p:nvPr>
            <p:ph idx="1"/>
          </p:nvPr>
        </p:nvSpPr>
        <p:spPr/>
        <p:txBody>
          <a:bodyPr/>
          <a:lstStyle/>
          <a:p>
            <a:pPr algn="just"/>
            <a:r>
              <a:rPr lang="en-US" dirty="0"/>
              <a:t>Functional organizations in Pakistan are commonly seen in government bodies and traditional companies. In these organizations, departments operate independently, and project managers have limited authority. Functional heads control resources and decision-making</a:t>
            </a:r>
            <a:r>
              <a:rPr lang="en-US" dirty="0" smtClean="0"/>
              <a:t>.</a:t>
            </a:r>
          </a:p>
          <a:p>
            <a:pPr lvl="1" algn="just"/>
            <a:r>
              <a:rPr lang="en-US" b="1" dirty="0"/>
              <a:t>Example</a:t>
            </a:r>
            <a:r>
              <a:rPr lang="en-US" dirty="0"/>
              <a:t>: </a:t>
            </a:r>
            <a:r>
              <a:rPr lang="en-US" b="1" dirty="0"/>
              <a:t>Pakistan International Airlines (PIA</a:t>
            </a:r>
            <a:r>
              <a:rPr lang="en-US" b="1" dirty="0" smtClean="0"/>
              <a:t>)</a:t>
            </a:r>
          </a:p>
          <a:p>
            <a:pPr lvl="2" algn="just"/>
            <a:r>
              <a:rPr lang="en-US" dirty="0"/>
              <a:t>PIA operates under a functional organizational structure where various departments like flight operations, engineering, finance, and customer services are managed independently. Each department head (functional manager) is responsible for decision-making within their unit, and projects (e.g., a new route launch) are executed within these functional divisions. The project managers or team leads have to report to the heads of their departments, with less autonomy.</a:t>
            </a:r>
          </a:p>
        </p:txBody>
      </p:sp>
    </p:spTree>
    <p:extLst>
      <p:ext uri="{BB962C8B-B14F-4D97-AF65-F5344CB8AC3E}">
        <p14:creationId xmlns:p14="http://schemas.microsoft.com/office/powerpoint/2010/main" val="23181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Projectized</a:t>
            </a:r>
            <a:r>
              <a:rPr lang="en-US" dirty="0"/>
              <a:t> Organization in Pakistan</a:t>
            </a:r>
          </a:p>
        </p:txBody>
      </p:sp>
      <p:sp>
        <p:nvSpPr>
          <p:cNvPr id="3" name="Content Placeholder 2"/>
          <p:cNvSpPr>
            <a:spLocks noGrp="1"/>
          </p:cNvSpPr>
          <p:nvPr>
            <p:ph idx="1"/>
          </p:nvPr>
        </p:nvSpPr>
        <p:spPr/>
        <p:txBody>
          <a:bodyPr>
            <a:normAutofit/>
          </a:bodyPr>
          <a:lstStyle/>
          <a:p>
            <a:r>
              <a:rPr lang="en-US" dirty="0" err="1"/>
              <a:t>Projectized</a:t>
            </a:r>
            <a:r>
              <a:rPr lang="en-US" dirty="0"/>
              <a:t> structures are more common in sectors like construction and event management in Pakistan. In this structure, the organization is oriented around projects, and the project manager holds most of the authority.</a:t>
            </a:r>
          </a:p>
          <a:p>
            <a:pPr lvl="1" algn="just"/>
            <a:r>
              <a:rPr lang="en-US" b="1" dirty="0" smtClean="0"/>
              <a:t>Example</a:t>
            </a:r>
            <a:r>
              <a:rPr lang="en-US" dirty="0"/>
              <a:t>: </a:t>
            </a:r>
            <a:r>
              <a:rPr lang="en-US" b="1" dirty="0"/>
              <a:t>Frontier Works Organization (FWO)</a:t>
            </a:r>
            <a:r>
              <a:rPr lang="en-US" dirty="0"/>
              <a:t> or </a:t>
            </a:r>
            <a:r>
              <a:rPr lang="en-US" b="1" dirty="0"/>
              <a:t>National Logistics Cell (NLC</a:t>
            </a:r>
            <a:r>
              <a:rPr lang="en-US" b="1" dirty="0" smtClean="0"/>
              <a:t>)</a:t>
            </a:r>
          </a:p>
          <a:p>
            <a:pPr lvl="2" algn="just"/>
            <a:r>
              <a:rPr lang="en-US" dirty="0"/>
              <a:t>FWO, responsible for large-scale infrastructure projects in Pakistan such as highways, tunnels, and bridges, operates in a </a:t>
            </a:r>
            <a:r>
              <a:rPr lang="en-US" dirty="0" err="1"/>
              <a:t>projectized</a:t>
            </a:r>
            <a:r>
              <a:rPr lang="en-US" dirty="0"/>
              <a:t> structure. Each infrastructure project (like the construction of the CPEC roads or the Karachi-Lahore Motorway) has dedicated project teams, and the project manager has full authority over resources, timelines, and decision-making. Once the project is completed, the team is disbanded or reassigned to new projects.</a:t>
            </a:r>
          </a:p>
        </p:txBody>
      </p:sp>
    </p:spTree>
    <p:extLst>
      <p:ext uri="{BB962C8B-B14F-4D97-AF65-F5344CB8AC3E}">
        <p14:creationId xmlns:p14="http://schemas.microsoft.com/office/powerpoint/2010/main" val="3742800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Organization in Pakistan</a:t>
            </a:r>
          </a:p>
        </p:txBody>
      </p:sp>
      <p:sp>
        <p:nvSpPr>
          <p:cNvPr id="3" name="Content Placeholder 2"/>
          <p:cNvSpPr>
            <a:spLocks noGrp="1"/>
          </p:cNvSpPr>
          <p:nvPr>
            <p:ph idx="1"/>
          </p:nvPr>
        </p:nvSpPr>
        <p:spPr/>
        <p:txBody>
          <a:bodyPr>
            <a:normAutofit fontScale="92500" lnSpcReduction="10000"/>
          </a:bodyPr>
          <a:lstStyle/>
          <a:p>
            <a:r>
              <a:rPr lang="en-US" dirty="0"/>
              <a:t>Matrix organizations, where employees report to both functional and project managers, are more common in technology, telecom, and consulting companies in Pakistan. These organizations work on multiple projects simultaneously, requiring cross-functional collaboration</a:t>
            </a:r>
            <a:r>
              <a:rPr lang="en-US" dirty="0" smtClean="0"/>
              <a:t>.</a:t>
            </a:r>
          </a:p>
          <a:p>
            <a:r>
              <a:rPr lang="en-US" b="1" dirty="0" smtClean="0"/>
              <a:t>Example</a:t>
            </a:r>
            <a:r>
              <a:rPr lang="en-US" dirty="0"/>
              <a:t>: </a:t>
            </a:r>
            <a:r>
              <a:rPr lang="en-US" b="1" dirty="0"/>
              <a:t>Systems </a:t>
            </a:r>
            <a:r>
              <a:rPr lang="en-US" b="1" dirty="0" smtClean="0"/>
              <a:t>Limited</a:t>
            </a:r>
          </a:p>
          <a:p>
            <a:pPr lvl="1" algn="just"/>
            <a:r>
              <a:rPr lang="en-US" dirty="0"/>
              <a:t>Systems Limited, one of Pakistan’s largest IT services and consulting firms, operates under a matrix structure. Employees working on software development, ERP implementation, or consulting projects often report to both their functional heads (like the head of software development) and project managers (managing a specific client project). For example, a software engineer might be working on several client projects at once, and decisions are made collaboratively between project managers and functional heads.</a:t>
            </a:r>
          </a:p>
        </p:txBody>
      </p:sp>
    </p:spTree>
    <p:extLst>
      <p:ext uri="{BB962C8B-B14F-4D97-AF65-F5344CB8AC3E}">
        <p14:creationId xmlns:p14="http://schemas.microsoft.com/office/powerpoint/2010/main" val="3945440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Weak Matrix Organization</a:t>
            </a:r>
          </a:p>
        </p:txBody>
      </p:sp>
      <p:sp>
        <p:nvSpPr>
          <p:cNvPr id="3" name="Content Placeholder 2"/>
          <p:cNvSpPr>
            <a:spLocks noGrp="1"/>
          </p:cNvSpPr>
          <p:nvPr>
            <p:ph idx="1"/>
          </p:nvPr>
        </p:nvSpPr>
        <p:spPr/>
        <p:txBody>
          <a:bodyPr>
            <a:normAutofit fontScale="92500" lnSpcReduction="10000"/>
          </a:bodyPr>
          <a:lstStyle/>
          <a:p>
            <a:r>
              <a:rPr lang="en-US" dirty="0"/>
              <a:t>In a </a:t>
            </a:r>
            <a:r>
              <a:rPr lang="en-US" b="1" dirty="0"/>
              <a:t>weak matrix</a:t>
            </a:r>
            <a:r>
              <a:rPr lang="en-US" dirty="0"/>
              <a:t>, functional managers have more authority than project managers. Project managers typically act more as coordinators or administrators rather than having direct control over the project. Employees primarily report to their functional managers, and project managers have limited decision-making </a:t>
            </a:r>
            <a:r>
              <a:rPr lang="en-US" dirty="0" smtClean="0"/>
              <a:t>power.</a:t>
            </a:r>
          </a:p>
          <a:p>
            <a:pPr lvl="1"/>
            <a:r>
              <a:rPr lang="en-US" b="1" dirty="0" smtClean="0"/>
              <a:t>Example</a:t>
            </a:r>
            <a:r>
              <a:rPr lang="en-US" dirty="0"/>
              <a:t>: </a:t>
            </a:r>
            <a:r>
              <a:rPr lang="en-US" b="1" dirty="0"/>
              <a:t>Punjab Information Technology Board (PITB</a:t>
            </a:r>
            <a:r>
              <a:rPr lang="en-US" b="1" dirty="0" smtClean="0"/>
              <a:t>)</a:t>
            </a:r>
          </a:p>
          <a:p>
            <a:pPr lvl="2" algn="just"/>
            <a:r>
              <a:rPr lang="en-US" dirty="0"/>
              <a:t>PITB, responsible for implementing various government IT projects like e-governance systems, operates with a </a:t>
            </a:r>
            <a:r>
              <a:rPr lang="en-US" b="1" dirty="0"/>
              <a:t>weak matrix</a:t>
            </a:r>
            <a:r>
              <a:rPr lang="en-US" dirty="0"/>
              <a:t> structure. The functional managers in different departments (e.g., software development, networking, finance) hold more control over resources and personnel. When an IT project is initiated (like developing a digital system for government operations), the project manager coordinates between departments but has limited authority over the team's allocation and decision-making. The functional managers decide which staff can be assigned to a project, and the project manager mostly ensures that tasks are completed</a:t>
            </a:r>
            <a:r>
              <a:rPr lang="en-US" dirty="0" smtClean="0"/>
              <a:t>.</a:t>
            </a:r>
            <a:endParaRPr lang="en-US" dirty="0"/>
          </a:p>
        </p:txBody>
      </p:sp>
    </p:spTree>
    <p:extLst>
      <p:ext uri="{BB962C8B-B14F-4D97-AF65-F5344CB8AC3E}">
        <p14:creationId xmlns:p14="http://schemas.microsoft.com/office/powerpoint/2010/main" val="1499198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Balanced Matrix Organization</a:t>
            </a:r>
          </a:p>
        </p:txBody>
      </p:sp>
      <p:sp>
        <p:nvSpPr>
          <p:cNvPr id="3" name="Content Placeholder 2"/>
          <p:cNvSpPr>
            <a:spLocks noGrp="1"/>
          </p:cNvSpPr>
          <p:nvPr>
            <p:ph idx="1"/>
          </p:nvPr>
        </p:nvSpPr>
        <p:spPr/>
        <p:txBody>
          <a:bodyPr>
            <a:normAutofit fontScale="92500" lnSpcReduction="10000"/>
          </a:bodyPr>
          <a:lstStyle/>
          <a:p>
            <a:r>
              <a:rPr lang="en-US" dirty="0"/>
              <a:t>In a </a:t>
            </a:r>
            <a:r>
              <a:rPr lang="en-US" b="1" dirty="0"/>
              <a:t>balanced matrix</a:t>
            </a:r>
            <a:r>
              <a:rPr lang="en-US" dirty="0"/>
              <a:t>, authority is shared relatively equally between functional managers and project managers. Both parties collaborate, and the project manager has more influence than in a weak matrix but still shares authority with the functional manager</a:t>
            </a:r>
            <a:r>
              <a:rPr lang="en-US" dirty="0" smtClean="0"/>
              <a:t>.</a:t>
            </a:r>
          </a:p>
          <a:p>
            <a:pPr lvl="1"/>
            <a:r>
              <a:rPr lang="en-US" b="1" dirty="0" smtClean="0"/>
              <a:t>Example</a:t>
            </a:r>
            <a:r>
              <a:rPr lang="en-US" dirty="0"/>
              <a:t>: </a:t>
            </a:r>
            <a:r>
              <a:rPr lang="en-US" b="1" dirty="0" err="1" smtClean="0"/>
              <a:t>Zong</a:t>
            </a:r>
            <a:r>
              <a:rPr lang="en-US" b="1" dirty="0" smtClean="0"/>
              <a:t> </a:t>
            </a:r>
            <a:r>
              <a:rPr lang="en-US" b="1" dirty="0"/>
              <a:t>4G</a:t>
            </a:r>
            <a:endParaRPr lang="en-US" b="1" dirty="0" smtClean="0"/>
          </a:p>
          <a:p>
            <a:pPr lvl="2" algn="just"/>
            <a:r>
              <a:rPr lang="en-US" b="1" dirty="0" err="1"/>
              <a:t>Zong</a:t>
            </a:r>
            <a:r>
              <a:rPr lang="en-US" b="1" dirty="0"/>
              <a:t> 4G</a:t>
            </a:r>
            <a:r>
              <a:rPr lang="en-US" dirty="0"/>
              <a:t>, a major telecom operator in Pakistan, uses a </a:t>
            </a:r>
            <a:r>
              <a:rPr lang="en-US" b="1" dirty="0"/>
              <a:t>balanced matrix</a:t>
            </a:r>
            <a:r>
              <a:rPr lang="en-US" dirty="0"/>
              <a:t> structure for its projects. When launching new services, such as expanding 4G networks or introducing new data packages, project managers work alongside functional heads from departments like IT, marketing, and network operations. For instance, if </a:t>
            </a:r>
            <a:r>
              <a:rPr lang="en-US" dirty="0" err="1"/>
              <a:t>Zong</a:t>
            </a:r>
            <a:r>
              <a:rPr lang="en-US" dirty="0"/>
              <a:t> plans to roll out 4G services in a new region, the project manager collaborates with functional departments to allocate resources, set timelines, and manage the budget. The functional managers retain authority over their teams, but the project manager has significant influence over the project’s execution. Both work together to ensure the project's success.</a:t>
            </a:r>
          </a:p>
        </p:txBody>
      </p:sp>
    </p:spTree>
    <p:extLst>
      <p:ext uri="{BB962C8B-B14F-4D97-AF65-F5344CB8AC3E}">
        <p14:creationId xmlns:p14="http://schemas.microsoft.com/office/powerpoint/2010/main" val="4117041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Matrix Organization</a:t>
            </a:r>
          </a:p>
        </p:txBody>
      </p:sp>
      <p:sp>
        <p:nvSpPr>
          <p:cNvPr id="3" name="Content Placeholder 2"/>
          <p:cNvSpPr>
            <a:spLocks noGrp="1"/>
          </p:cNvSpPr>
          <p:nvPr>
            <p:ph idx="1"/>
          </p:nvPr>
        </p:nvSpPr>
        <p:spPr/>
        <p:txBody>
          <a:bodyPr>
            <a:normAutofit fontScale="92500" lnSpcReduction="10000"/>
          </a:bodyPr>
          <a:lstStyle/>
          <a:p>
            <a:r>
              <a:rPr lang="en-US" dirty="0"/>
              <a:t>In a </a:t>
            </a:r>
            <a:r>
              <a:rPr lang="en-US" b="1" dirty="0"/>
              <a:t>strong matrix</a:t>
            </a:r>
            <a:r>
              <a:rPr lang="en-US" dirty="0"/>
              <a:t>, the project manager holds more authority than the functional managers. Project managers have significant control over resources, decision-making, and project execution. Functional managers play a supportive role, primarily providing expertise or resources as needed</a:t>
            </a:r>
            <a:r>
              <a:rPr lang="en-US" dirty="0" smtClean="0"/>
              <a:t>.</a:t>
            </a:r>
          </a:p>
          <a:p>
            <a:pPr lvl="1"/>
            <a:r>
              <a:rPr lang="en-US" b="1" dirty="0" smtClean="0"/>
              <a:t>Example</a:t>
            </a:r>
            <a:r>
              <a:rPr lang="en-US" dirty="0"/>
              <a:t>: </a:t>
            </a:r>
            <a:r>
              <a:rPr lang="en-US" b="1" dirty="0"/>
              <a:t>NESPAK (National Engineering Services Pakistan</a:t>
            </a:r>
            <a:r>
              <a:rPr lang="en-US" b="1" dirty="0" smtClean="0"/>
              <a:t>)</a:t>
            </a:r>
          </a:p>
          <a:p>
            <a:pPr lvl="2"/>
            <a:r>
              <a:rPr lang="en-US" b="1" dirty="0" smtClean="0"/>
              <a:t>NESPAK</a:t>
            </a:r>
            <a:r>
              <a:rPr lang="en-US" dirty="0"/>
              <a:t>, one of Pakistan’s largest engineering consulting firms, often follows a </a:t>
            </a:r>
            <a:r>
              <a:rPr lang="en-US" b="1" dirty="0"/>
              <a:t>strong matrix</a:t>
            </a:r>
            <a:r>
              <a:rPr lang="en-US" dirty="0"/>
              <a:t> structure for large infrastructure projects like dam construction or highway development. The project manager assigned to a major project (such as the construction of a dam) has substantial authority over all aspects of the project, from resource allocation to timelines and budgeting. Functional managers in areas like civil engineering, design, and procurement provide support and technical expertise, but the project manager makes the key decisions and is accountable for the project's success.</a:t>
            </a:r>
          </a:p>
        </p:txBody>
      </p:sp>
    </p:spTree>
    <p:extLst>
      <p:ext uri="{BB962C8B-B14F-4D97-AF65-F5344CB8AC3E}">
        <p14:creationId xmlns:p14="http://schemas.microsoft.com/office/powerpoint/2010/main" val="297159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oud skipper design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2"/>
        </a:lnRef>
        <a:fillRef idx="0">
          <a:schemeClr val="accent2"/>
        </a:fillRef>
        <a:effectRef idx="0">
          <a:schemeClr val="accent2"/>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Cloud skipper design slides.potx" id="{E8493412-85DD-4641-9E8A-937B29FD6AA2}" vid="{77E91E09-5010-404D-ADF4-B79FA46D72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Props1.xml><?xml version="1.0" encoding="utf-8"?>
<ds:datastoreItem xmlns:ds="http://schemas.openxmlformats.org/officeDocument/2006/customXml" ds:itemID="{B024FD56-CE1B-42FC-9E83-BFBF160724C6}">
  <ds:schemaRefs>
    <ds:schemaRef ds:uri="http://schemas.microsoft.com/sharepoint/v3/contenttype/forms"/>
  </ds:schemaRefs>
</ds:datastoreItem>
</file>

<file path=customXml/itemProps2.xml><?xml version="1.0" encoding="utf-8"?>
<ds:datastoreItem xmlns:ds="http://schemas.openxmlformats.org/officeDocument/2006/customXml" ds:itemID="{6253D857-4181-4777-8893-6E45A690F9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EDD01B8-816B-49B7-8C81-03AB51D87C54}">
  <ds:schemaRefs>
    <ds:schemaRef ds:uri="http://www.w3.org/XML/1998/namespace"/>
    <ds:schemaRef ds:uri="http://purl.org/dc/elements/1.1/"/>
    <ds:schemaRef ds:uri="http://purl.org/dc/terms/"/>
    <ds:schemaRef ds:uri="http://purl.org/dc/dcmityp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40262f94-9f35-4ac3-9a90-690165a166b7"/>
    <ds:schemaRef ds:uri="a4f35948-e619-41b3-aa29-22878b09cfd2"/>
  </ds:schemaRefs>
</ds:datastoreItem>
</file>

<file path=docProps/app.xml><?xml version="1.0" encoding="utf-8"?>
<Properties xmlns="http://schemas.openxmlformats.org/officeDocument/2006/extended-properties" xmlns:vt="http://schemas.openxmlformats.org/officeDocument/2006/docPropsVTypes">
  <Template>Cloud skipper design slides</Template>
  <TotalTime>34028</TotalTime>
  <Words>1858</Words>
  <Application>Microsoft Office PowerPoint</Application>
  <PresentationFormat>Widescreen</PresentationFormat>
  <Paragraphs>135</Paragraphs>
  <Slides>30</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6" baseType="lpstr">
      <vt:lpstr>Arial</vt:lpstr>
      <vt:lpstr>Calibri</vt:lpstr>
      <vt:lpstr>Cambria</vt:lpstr>
      <vt:lpstr>Times New Roman</vt:lpstr>
      <vt:lpstr>Cloud skipper design template</vt:lpstr>
      <vt:lpstr>Photo Editor Photo</vt:lpstr>
      <vt:lpstr>PowerPoint Presentation</vt:lpstr>
      <vt:lpstr>Project Management Organizational Structure</vt:lpstr>
      <vt:lpstr>PowerPoint Presentation</vt:lpstr>
      <vt:lpstr>PowerPoint Presentation</vt:lpstr>
      <vt:lpstr>ADVANTAGES OF FUNCTIONAL STRUCTURE: </vt:lpstr>
      <vt:lpstr>DISADVANTAGES OF FUNCTIONAL STRUCTURE: </vt:lpstr>
      <vt:lpstr>Projectized Organizational Structure </vt:lpstr>
      <vt:lpstr>PowerPoint Presentation</vt:lpstr>
      <vt:lpstr>Projectized Organizational Structure </vt:lpstr>
      <vt:lpstr>Matrix Organizational Structure</vt:lpstr>
      <vt:lpstr>PowerPoint Presentation</vt:lpstr>
      <vt:lpstr>PowerPoint Presentation</vt:lpstr>
      <vt:lpstr>PowerPoint Presentation</vt:lpstr>
      <vt:lpstr>Advantages/ Disadvantages of Matrix</vt:lpstr>
      <vt:lpstr>PowerPoint Presentation</vt:lpstr>
      <vt:lpstr>Organizational Influences</vt:lpstr>
      <vt:lpstr>Project Coordinator</vt:lpstr>
      <vt:lpstr>Project Expeditor</vt:lpstr>
      <vt:lpstr>PROJECT MANAGEMENT OFFICE</vt:lpstr>
      <vt:lpstr>PROJECT MANAGEMENT OFFICE</vt:lpstr>
      <vt:lpstr>PROJECT MANAGEMENT OFFICE</vt:lpstr>
      <vt:lpstr>PROJECT MANAGEMENT OFFICE</vt:lpstr>
      <vt:lpstr>PROJECT MANAGEMENT OFFICE</vt:lpstr>
      <vt:lpstr>PROJECT MANAGEMENT OFFICE</vt:lpstr>
      <vt:lpstr>Functional Organization in Pakistan</vt:lpstr>
      <vt:lpstr>Projectized Organization in Pakistan</vt:lpstr>
      <vt:lpstr>Matrix Organization in Pakistan</vt:lpstr>
      <vt:lpstr>Weak Matrix Organization</vt:lpstr>
      <vt:lpstr>Balanced Matrix Organization</vt:lpstr>
      <vt:lpstr>Strong Matrix Organization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 Behavior</dc:title>
  <dc:creator>Windows User</dc:creator>
  <cp:lastModifiedBy>Bahria</cp:lastModifiedBy>
  <cp:revision>253</cp:revision>
  <dcterms:created xsi:type="dcterms:W3CDTF">2018-05-26T09:36:46Z</dcterms:created>
  <dcterms:modified xsi:type="dcterms:W3CDTF">2024-09-28T09:02:08Z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