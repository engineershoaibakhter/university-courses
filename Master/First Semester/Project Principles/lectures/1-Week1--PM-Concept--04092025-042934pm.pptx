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310" r:id="rId3"/>
    <p:sldId id="257" r:id="rId4"/>
    <p:sldId id="321" r:id="rId5"/>
    <p:sldId id="316" r:id="rId6"/>
    <p:sldId id="259" r:id="rId7"/>
    <p:sldId id="260" r:id="rId8"/>
    <p:sldId id="261" r:id="rId9"/>
    <p:sldId id="262" r:id="rId10"/>
    <p:sldId id="263" r:id="rId11"/>
    <p:sldId id="264" r:id="rId12"/>
    <p:sldId id="325" r:id="rId13"/>
    <p:sldId id="266" r:id="rId14"/>
    <p:sldId id="311" r:id="rId15"/>
    <p:sldId id="315" r:id="rId16"/>
    <p:sldId id="267" r:id="rId17"/>
    <p:sldId id="312" r:id="rId18"/>
    <p:sldId id="268" r:id="rId19"/>
    <p:sldId id="270" r:id="rId20"/>
    <p:sldId id="271" r:id="rId21"/>
    <p:sldId id="317" r:id="rId22"/>
    <p:sldId id="272" r:id="rId23"/>
    <p:sldId id="318" r:id="rId24"/>
    <p:sldId id="278" r:id="rId25"/>
    <p:sldId id="319" r:id="rId26"/>
    <p:sldId id="322" r:id="rId27"/>
    <p:sldId id="326" r:id="rId28"/>
    <p:sldId id="279" r:id="rId29"/>
    <p:sldId id="306" r:id="rId30"/>
    <p:sldId id="307" r:id="rId31"/>
    <p:sldId id="308" r:id="rId32"/>
    <p:sldId id="309" r:id="rId33"/>
    <p:sldId id="280" r:id="rId34"/>
    <p:sldId id="323" r:id="rId35"/>
    <p:sldId id="281" r:id="rId36"/>
    <p:sldId id="282" r:id="rId37"/>
    <p:sldId id="320" r:id="rId38"/>
    <p:sldId id="283" r:id="rId39"/>
    <p:sldId id="284" r:id="rId40"/>
    <p:sldId id="298" r:id="rId41"/>
    <p:sldId id="303" r:id="rId42"/>
    <p:sldId id="304" r:id="rId4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82" d="100"/>
          <a:sy n="82" d="100"/>
        </p:scale>
        <p:origin x="1650" y="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82C0F6-5232-4F74-A4EE-3A03AAB3667E}" type="datetimeFigureOut">
              <a:rPr lang="en-GB" smtClean="0"/>
              <a:t>30/08/2025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EB53E-6087-417A-8954-E7F1F87CB3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141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EB53E-6087-417A-8954-E7F1F87CB31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021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CC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CC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4540" y="1767992"/>
            <a:ext cx="3034029" cy="478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91307" y="1767992"/>
            <a:ext cx="2893695" cy="446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CC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010400" y="0"/>
            <a:ext cx="1647825" cy="12477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4540" y="34543"/>
            <a:ext cx="5220970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CC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7240" y="1906625"/>
            <a:ext cx="4996180" cy="478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3400" y="4419600"/>
            <a:ext cx="50292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2400" b="1" i="1" spc="-5" dirty="0">
                <a:latin typeface="Arial"/>
                <a:cs typeface="Arial"/>
              </a:rPr>
              <a:t>MS in Project Management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2000" y="1295400"/>
            <a:ext cx="7922260" cy="1637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br>
              <a:rPr lang="en-GB" sz="3200" spc="-5" dirty="0">
                <a:solidFill>
                  <a:srgbClr val="FFFFFF"/>
                </a:solidFill>
              </a:rPr>
            </a:br>
            <a:br>
              <a:rPr lang="en-GB" sz="3200" spc="-5" dirty="0">
                <a:solidFill>
                  <a:srgbClr val="FFFFFF"/>
                </a:solidFill>
              </a:rPr>
            </a:br>
            <a:endParaRPr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36" y="2667000"/>
            <a:ext cx="5396825" cy="15238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9491" y="685800"/>
            <a:ext cx="584130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r-PK" sz="3200" dirty="0"/>
              <a:t>بِسْمِؔ اللّٰہِ الرَّحْمٰنِ الرَّحِیْمِ</a:t>
            </a:r>
            <a:endParaRPr lang="ur-PK" sz="3600" dirty="0"/>
          </a:p>
          <a:p>
            <a:pPr algn="ctr"/>
            <a:r>
              <a:rPr lang="ur-PK" sz="3600" dirty="0"/>
              <a:t> </a:t>
            </a:r>
            <a:r>
              <a:rPr lang="ur-PK" sz="3200" dirty="0"/>
              <a:t>نَحْمَدُہٗ وَنُصَلِّیْ عَلٰی رَسُولِہِ الْکَرِیْم</a:t>
            </a:r>
            <a:endParaRPr lang="en-GB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8442" y="6425285"/>
            <a:ext cx="31718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1600" b="1" i="1" spc="-5" dirty="0">
                <a:solidFill>
                  <a:srgbClr val="FFFFFF"/>
                </a:solidFill>
                <a:latin typeface="Arial"/>
                <a:cs typeface="Arial"/>
              </a:rPr>
              <a:t>MS in Project Management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34543"/>
            <a:ext cx="7922260" cy="2179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br>
              <a:rPr lang="en-GB" sz="3200" spc="-5" dirty="0">
                <a:solidFill>
                  <a:srgbClr val="FFFFFF"/>
                </a:solidFill>
              </a:rPr>
            </a:br>
            <a:br>
              <a:rPr lang="en-GB" sz="3200" spc="-5" dirty="0">
                <a:solidFill>
                  <a:srgbClr val="FFFFFF"/>
                </a:solidFill>
              </a:rPr>
            </a:br>
            <a:r>
              <a:rPr lang="en-GB" sz="3200" spc="-5" dirty="0">
                <a:solidFill>
                  <a:srgbClr val="FFFFFF"/>
                </a:solidFill>
              </a:rPr>
              <a:t>MSP 750 – Project Management Principles and Practices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61148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304800"/>
            <a:ext cx="6477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Students Introduction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1555" y="1371600"/>
            <a:ext cx="7924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Name?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Last Qualification?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Profession?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Any Experience in Project Handling?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304800"/>
            <a:ext cx="6477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Instructor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1371600"/>
            <a:ext cx="7924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Sajid</a:t>
            </a:r>
            <a:r>
              <a:rPr lang="en-GB" sz="36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3600" b="1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Mehmood</a:t>
            </a:r>
            <a:endParaRPr lang="en-GB" sz="36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Bachelors from </a:t>
            </a:r>
            <a:r>
              <a:rPr lang="en-GB" sz="1600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UoK</a:t>
            </a:r>
            <a:endParaRPr lang="en-GB" sz="16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MCS from PAF-KIET</a:t>
            </a:r>
          </a:p>
          <a:p>
            <a:r>
              <a:rPr lang="en-GB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MS(PM) from BU(KC)</a:t>
            </a:r>
          </a:p>
          <a:p>
            <a:endParaRPr lang="en-GB" sz="20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than 9 years Administrative Experience</a:t>
            </a:r>
          </a:p>
          <a:p>
            <a:r>
              <a:rPr lang="en-GB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4+ </a:t>
            </a:r>
            <a:r>
              <a:rPr lang="en-GB" sz="2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years Teaching and IT Project Handling Experience</a:t>
            </a:r>
          </a:p>
          <a:p>
            <a:r>
              <a:rPr lang="en-GB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1639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304800"/>
            <a:ext cx="15170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492757"/>
            <a:ext cx="7946390" cy="46301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1299210" indent="-457834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 develop knowledge of the basic principles of</a:t>
            </a:r>
            <a:r>
              <a:rPr sz="2000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project  management</a:t>
            </a: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 including best proven practices that are widely applied</a:t>
            </a:r>
            <a:endParaRPr sz="2000" dirty="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63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Consider contemporary techniques in organising projects and  determining high level organisational breakdown structures,</a:t>
            </a:r>
            <a:r>
              <a:rPr sz="20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Project scope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, simple project and task planning</a:t>
            </a: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, Project Closeout etc.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GB" sz="20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469900" marR="172720" indent="-457834">
              <a:lnSpc>
                <a:spcPct val="100000"/>
              </a:lnSpc>
              <a:spcBef>
                <a:spcPts val="1635"/>
              </a:spcBef>
              <a:buAutoNum type="arabicPeriod" startAt="3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Consider the functional relationships between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time,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cost,</a:t>
            </a:r>
            <a:r>
              <a:rPr sz="2000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quality, and change management in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context of  </a:t>
            </a: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Project success criteria</a:t>
            </a:r>
            <a:endParaRPr sz="2000" dirty="0">
              <a:latin typeface="Arial"/>
              <a:cs typeface="Arial"/>
            </a:endParaRPr>
          </a:p>
          <a:p>
            <a:pPr marL="469900" marR="743585" indent="-457834">
              <a:lnSpc>
                <a:spcPct val="100000"/>
              </a:lnSpc>
              <a:spcBef>
                <a:spcPts val="1630"/>
              </a:spcBef>
              <a:buAutoNum type="arabicPeriod" startAt="3"/>
              <a:tabLst>
                <a:tab pos="469900" algn="l"/>
                <a:tab pos="470534" algn="l"/>
              </a:tabLst>
            </a:pP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To understand the role of Project Manager in spheres of Project, Organization and Industry in addition to the core competencies he/she possess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232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24053"/>
            <a:ext cx="4397375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/>
              <a:t>Recommended  </a:t>
            </a:r>
            <a:r>
              <a:rPr spc="-5" dirty="0"/>
              <a:t>Core</a:t>
            </a:r>
            <a:r>
              <a:rPr spc="5" dirty="0"/>
              <a:t> </a:t>
            </a:r>
            <a:r>
              <a:rPr spc="-5" dirty="0"/>
              <a:t>Texts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752600"/>
            <a:ext cx="6424930" cy="4865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spc="935" dirty="0">
                <a:solidFill>
                  <a:srgbClr val="FF0000"/>
                </a:solidFill>
                <a:latin typeface="Wingdings"/>
                <a:cs typeface="Wingdings"/>
              </a:rPr>
              <a:t></a:t>
            </a:r>
            <a:r>
              <a:rPr lang="en-US" sz="2400" b="1" i="1" dirty="0"/>
              <a:t>PMBOK 7 &amp; 6 Edition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spc="935" dirty="0">
              <a:solidFill>
                <a:srgbClr val="FF0000"/>
              </a:solidFill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935" dirty="0">
                <a:solidFill>
                  <a:srgbClr val="FF0000"/>
                </a:solidFill>
                <a:latin typeface="Wingdings"/>
                <a:cs typeface="Wingdings"/>
              </a:rPr>
              <a:t></a:t>
            </a:r>
            <a:r>
              <a:rPr lang="en-US" sz="2400" b="1" i="1" dirty="0"/>
              <a:t>Project Management: The managerial Process, 6th edition 2014, Clifford F. Gray, Erik W. Larson, McGraw Hill Publications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b="1" i="1" spc="935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spcBef>
                <a:spcPts val="100"/>
              </a:spcBef>
            </a:pPr>
            <a:r>
              <a:rPr lang="en-GB" sz="2400" spc="935" dirty="0">
                <a:solidFill>
                  <a:srgbClr val="FF0000"/>
                </a:solidFill>
                <a:latin typeface="Wingdings"/>
                <a:cs typeface="Wingdings"/>
              </a:rPr>
              <a:t></a:t>
            </a:r>
            <a:r>
              <a:rPr lang="en-GB" sz="2400" b="1" i="1" dirty="0"/>
              <a:t>Guide to the Project Management Body of Knowledge, 6th edition 2017, PMI Inc.</a:t>
            </a:r>
          </a:p>
          <a:p>
            <a:pPr marL="355600" marR="97155" indent="-343535" algn="just">
              <a:lnSpc>
                <a:spcPct val="100000"/>
              </a:lnSpc>
              <a:spcBef>
                <a:spcPts val="5"/>
              </a:spcBef>
            </a:pPr>
            <a:endParaRPr lang="en-GB" sz="2400" b="1" spc="-5" dirty="0">
              <a:solidFill>
                <a:srgbClr val="FFFFFF"/>
              </a:solidFill>
              <a:cs typeface="Arial"/>
            </a:endParaRPr>
          </a:p>
          <a:p>
            <a:pPr marL="355600" marR="97155" indent="-343535" algn="just">
              <a:spcBef>
                <a:spcPts val="5"/>
              </a:spcBef>
            </a:pPr>
            <a:r>
              <a:rPr lang="en-GB" sz="2400" spc="505" dirty="0">
                <a:solidFill>
                  <a:srgbClr val="FF0000"/>
                </a:solidFill>
                <a:latin typeface="Wingdings"/>
                <a:cs typeface="Wingdings"/>
              </a:rPr>
              <a:t></a:t>
            </a:r>
            <a:r>
              <a:rPr lang="en-GB" sz="2400" b="1" spc="505" dirty="0" err="1">
                <a:solidFill>
                  <a:srgbClr val="FFFFFF"/>
                </a:solidFill>
                <a:cs typeface="Arial"/>
              </a:rPr>
              <a:t>Kerzner.H</a:t>
            </a:r>
            <a:r>
              <a:rPr lang="en-GB" sz="2400" b="1" spc="505" dirty="0">
                <a:solidFill>
                  <a:srgbClr val="FFFFFF"/>
                </a:solidFill>
                <a:cs typeface="Arial"/>
              </a:rPr>
              <a:t>, </a:t>
            </a:r>
            <a:r>
              <a:rPr lang="en-GB" sz="2400" b="1" dirty="0">
                <a:solidFill>
                  <a:srgbClr val="FFFFFF"/>
                </a:solidFill>
                <a:cs typeface="Arial"/>
              </a:rPr>
              <a:t>(2006) </a:t>
            </a:r>
            <a:r>
              <a:rPr lang="en-GB" sz="2400" b="1" i="1" spc="-5" dirty="0">
                <a:solidFill>
                  <a:srgbClr val="FFFFFF"/>
                </a:solidFill>
                <a:cs typeface="Arial"/>
              </a:rPr>
              <a:t>A systems</a:t>
            </a:r>
            <a:r>
              <a:rPr lang="en-GB" sz="2400" b="1" i="1" spc="-445" dirty="0">
                <a:solidFill>
                  <a:srgbClr val="FFFFFF"/>
                </a:solidFill>
                <a:cs typeface="Arial"/>
              </a:rPr>
              <a:t> </a:t>
            </a:r>
            <a:r>
              <a:rPr lang="en-GB" sz="2400" b="1" i="1" spc="-275" dirty="0">
                <a:solidFill>
                  <a:srgbClr val="FFFFFF"/>
                </a:solidFill>
                <a:cs typeface="Arial"/>
              </a:rPr>
              <a:t>approach  </a:t>
            </a:r>
            <a:r>
              <a:rPr lang="en-GB" sz="2400" b="1" i="1" dirty="0">
                <a:solidFill>
                  <a:srgbClr val="FFFFFF"/>
                </a:solidFill>
                <a:cs typeface="Arial"/>
              </a:rPr>
              <a:t>to planning, scheduling and </a:t>
            </a:r>
            <a:r>
              <a:rPr lang="en-GB" sz="2400" b="1" i="1" spc="-5" dirty="0">
                <a:solidFill>
                  <a:srgbClr val="FFFFFF"/>
                </a:solidFill>
                <a:cs typeface="Arial"/>
              </a:rPr>
              <a:t>controlling</a:t>
            </a:r>
            <a:r>
              <a:rPr lang="en-GB" sz="2400" b="1" spc="-5" dirty="0">
                <a:solidFill>
                  <a:srgbClr val="FFFFFF"/>
                </a:solidFill>
                <a:cs typeface="Arial"/>
              </a:rPr>
              <a:t>.  9th </a:t>
            </a:r>
            <a:r>
              <a:rPr lang="en-GB" sz="2400" b="1" dirty="0">
                <a:solidFill>
                  <a:srgbClr val="FFFFFF"/>
                </a:solidFill>
                <a:cs typeface="Arial"/>
              </a:rPr>
              <a:t>edition. John </a:t>
            </a:r>
            <a:r>
              <a:rPr lang="en-GB" sz="2400" b="1" spc="-5" dirty="0">
                <a:solidFill>
                  <a:srgbClr val="FFFFFF"/>
                </a:solidFill>
                <a:cs typeface="Arial"/>
              </a:rPr>
              <a:t>Wiley, ISBN  0-471-74187-9.</a:t>
            </a:r>
            <a:endParaRPr lang="en-GB" sz="2400" dirty="0">
              <a:cs typeface="Arial"/>
            </a:endParaRPr>
          </a:p>
          <a:p>
            <a:pPr marL="355600" marR="97155" indent="-343535" algn="just">
              <a:lnSpc>
                <a:spcPct val="100000"/>
              </a:lnSpc>
              <a:spcBef>
                <a:spcPts val="5"/>
              </a:spcBef>
            </a:pP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 marR="5080">
              <a:lnSpc>
                <a:spcPct val="85000"/>
              </a:lnSpc>
              <a:spcBef>
                <a:spcPts val="815"/>
              </a:spcBef>
            </a:pPr>
            <a:r>
              <a:rPr sz="4000" spc="-5" dirty="0"/>
              <a:t>Recommended</a:t>
            </a:r>
            <a:r>
              <a:rPr sz="4000" spc="-25" dirty="0"/>
              <a:t> </a:t>
            </a:r>
            <a:r>
              <a:rPr sz="4000" spc="-5" dirty="0"/>
              <a:t>Texts  for background  reading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13740" y="2008454"/>
            <a:ext cx="6807834" cy="38549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en-US" sz="2800" b="1" dirty="0"/>
              <a:t>Journals:</a:t>
            </a:r>
          </a:p>
          <a:p>
            <a:pPr lvl="0"/>
            <a:endParaRPr lang="en-GB" sz="2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International Journal of Project Management </a:t>
            </a:r>
            <a:endParaRPr lang="en-GB" sz="2400" b="1" dirty="0"/>
          </a:p>
          <a:p>
            <a:pPr lvl="1"/>
            <a:r>
              <a:rPr lang="en-US" sz="2400" dirty="0"/>
              <a:t>Association for Project Management (APM) and the International Project Management Association (IPMA)</a:t>
            </a:r>
            <a:endParaRPr lang="en-GB" sz="2400" dirty="0"/>
          </a:p>
          <a:p>
            <a:pPr lvl="0"/>
            <a:endParaRPr lang="en-US" sz="2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Project Management Journal</a:t>
            </a:r>
            <a:endParaRPr lang="en-GB" sz="2400" b="1" dirty="0"/>
          </a:p>
          <a:p>
            <a:pPr lvl="1"/>
            <a:r>
              <a:rPr lang="en-US" sz="2400" dirty="0"/>
              <a:t>Project Management Institute® (PMI USA)</a:t>
            </a:r>
            <a:endParaRPr lang="en-GB" sz="2400" dirty="0"/>
          </a:p>
          <a:p>
            <a:pPr marL="406400" marR="205104" indent="-343535">
              <a:lnSpc>
                <a:spcPct val="100000"/>
              </a:lnSpc>
              <a:spcBef>
                <a:spcPts val="1440"/>
              </a:spcBef>
            </a:pP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321" y="228600"/>
            <a:ext cx="36169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Assessment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926311"/>
              </p:ext>
            </p:extLst>
          </p:nvPr>
        </p:nvGraphicFramePr>
        <p:xfrm>
          <a:off x="304800" y="990601"/>
          <a:ext cx="8381999" cy="51815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5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2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91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Marks</a:t>
                      </a:r>
                      <a:endParaRPr lang="en-GB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Frequency</a:t>
                      </a:r>
                      <a:endParaRPr lang="en-GB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Marks</a:t>
                      </a:r>
                      <a:endParaRPr lang="en-GB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 Marks </a:t>
                      </a:r>
                      <a:endParaRPr lang="en-GB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 Remarks</a:t>
                      </a:r>
                      <a:endParaRPr lang="en-GB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3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Quizzes</a:t>
                      </a:r>
                      <a:endParaRPr lang="en-GB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4(N-1)</a:t>
                      </a: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en-GB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GB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Assignments</a:t>
                      </a:r>
                      <a:endParaRPr lang="en-GB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GB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2.5</a:t>
                      </a:r>
                      <a:endParaRPr lang="en-GB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57150" marR="76200" marT="57150" marB="57150" anchor="ctr"/>
                </a:tc>
                <a:tc rowSpan="3">
                  <a:txBody>
                    <a:bodyPr/>
                    <a:lstStyle/>
                    <a:p>
                      <a:pPr indent="-63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Student’s participation in class activities counted in assignments etcetera.</a:t>
                      </a:r>
                      <a:endParaRPr lang="en-GB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Mid Term</a:t>
                      </a:r>
                      <a:endParaRPr lang="en-GB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GB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30</a:t>
                      </a:r>
                      <a:endParaRPr lang="en-GB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30</a:t>
                      </a:r>
                      <a:endParaRPr lang="en-GB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35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Final Paper</a:t>
                      </a:r>
                      <a:endParaRPr lang="en-GB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GB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40</a:t>
                      </a:r>
                      <a:endParaRPr lang="en-GB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40</a:t>
                      </a:r>
                      <a:endParaRPr lang="en-GB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150" marR="76200" marT="57150" marB="5715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24053"/>
            <a:ext cx="3751579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/>
              <a:t>Time  </a:t>
            </a:r>
            <a:r>
              <a:rPr spc="-5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408046"/>
            <a:ext cx="6141085" cy="273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97485" indent="-45783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module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is designed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generate </a:t>
            </a:r>
            <a:r>
              <a:rPr lang="en-US" sz="2400" spc="-5" dirty="0">
                <a:solidFill>
                  <a:srgbClr val="FFFFFF"/>
                </a:solidFill>
                <a:latin typeface="Arial"/>
                <a:cs typeface="Arial"/>
              </a:rPr>
              <a:t>48 </a:t>
            </a:r>
            <a:r>
              <a:rPr sz="2400" spc="-5" dirty="0" err="1">
                <a:solidFill>
                  <a:srgbClr val="FFFFFF"/>
                </a:solidFill>
                <a:latin typeface="Arial"/>
                <a:cs typeface="Arial"/>
              </a:rPr>
              <a:t>hrs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 of</a:t>
            </a:r>
            <a:r>
              <a:rPr sz="2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study</a:t>
            </a:r>
            <a:endParaRPr sz="2400" dirty="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Time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management is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24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responsibility</a:t>
            </a:r>
            <a:endParaRPr sz="2400" dirty="0">
              <a:latin typeface="Arial"/>
              <a:cs typeface="Arial"/>
            </a:endParaRPr>
          </a:p>
          <a:p>
            <a:pPr marL="469900" marR="622935" indent="-457834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number of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hours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study time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required,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together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with how these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are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distributed, will depend on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YOUR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experience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77735" y="1824990"/>
            <a:ext cx="25817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600" b="0" dirty="0">
                <a:solidFill>
                  <a:srgbClr val="FFCC99"/>
                </a:solidFill>
                <a:latin typeface="Arial Black"/>
                <a:cs typeface="Arial Black"/>
              </a:rPr>
              <a:t>Week</a:t>
            </a:r>
            <a:r>
              <a:rPr sz="3600" b="0" spc="-90" dirty="0">
                <a:solidFill>
                  <a:srgbClr val="FFCC99"/>
                </a:solidFill>
                <a:latin typeface="Arial Black"/>
                <a:cs typeface="Arial Black"/>
              </a:rPr>
              <a:t> </a:t>
            </a:r>
            <a:r>
              <a:rPr sz="3600" b="0" dirty="0">
                <a:solidFill>
                  <a:srgbClr val="FFCC99"/>
                </a:solidFill>
                <a:latin typeface="Arial Black"/>
                <a:cs typeface="Arial Black"/>
              </a:rPr>
              <a:t>1</a:t>
            </a:r>
            <a:endParaRPr sz="36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8615" y="2928620"/>
            <a:ext cx="3430904" cy="13919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ctr">
              <a:lnSpc>
                <a:spcPct val="90000"/>
              </a:lnSpc>
              <a:spcBef>
                <a:spcPts val="484"/>
              </a:spcBef>
            </a:pPr>
            <a:r>
              <a:rPr sz="3200" spc="3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32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200" dirty="0">
                <a:solidFill>
                  <a:srgbClr val="FFFFFF"/>
                </a:solidFill>
                <a:latin typeface="Arial Black"/>
                <a:cs typeface="Arial Black"/>
              </a:rPr>
              <a:t>Concept</a:t>
            </a:r>
            <a:r>
              <a:rPr sz="3200" spc="-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200" dirty="0">
                <a:solidFill>
                  <a:srgbClr val="FFFFFF"/>
                </a:solidFill>
                <a:latin typeface="Arial Black"/>
                <a:cs typeface="Arial Black"/>
              </a:rPr>
              <a:t>of  </a:t>
            </a:r>
            <a:r>
              <a:rPr sz="3200" spc="5" dirty="0">
                <a:solidFill>
                  <a:srgbClr val="FFFFFF"/>
                </a:solidFill>
                <a:latin typeface="Arial Black"/>
                <a:cs typeface="Arial Black"/>
              </a:rPr>
              <a:t>Project  Management</a:t>
            </a:r>
            <a:endParaRPr sz="3200" dirty="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140" y="204557"/>
            <a:ext cx="6309259" cy="3957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0100"/>
              </a:lnSpc>
              <a:spcBef>
                <a:spcPts val="95"/>
              </a:spcBef>
            </a:pPr>
            <a:r>
              <a:rPr lang="en-GB" sz="2400" b="1" spc="-5" dirty="0">
                <a:solidFill>
                  <a:srgbClr val="FFFFFF"/>
                </a:solidFill>
              </a:rPr>
              <a:t>Project Management Principles and Practices</a:t>
            </a:r>
            <a:endParaRPr sz="2400"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4543"/>
            <a:ext cx="5586730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440"/>
              </a:lnSpc>
              <a:spcBef>
                <a:spcPts val="95"/>
              </a:spcBef>
            </a:pPr>
            <a:endParaRPr sz="4000" dirty="0"/>
          </a:p>
          <a:p>
            <a:pPr marL="12700" marR="5080">
              <a:lnSpc>
                <a:spcPts val="4079"/>
              </a:lnSpc>
              <a:spcBef>
                <a:spcPts val="375"/>
              </a:spcBef>
            </a:pPr>
            <a:r>
              <a:rPr sz="4000" spc="-5" dirty="0"/>
              <a:t>The Concept of Project  Management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894649"/>
            <a:ext cx="6602095" cy="2103139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Contents</a:t>
            </a:r>
            <a:endParaRPr sz="2400" dirty="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775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history of project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2000" dirty="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project management</a:t>
            </a:r>
            <a:r>
              <a:rPr sz="20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standards</a:t>
            </a:r>
            <a:endParaRPr sz="2000" dirty="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Summary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914400" y="4419600"/>
            <a:ext cx="6602095" cy="1741501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lang="en-US" sz="2400" b="1" dirty="0">
                <a:solidFill>
                  <a:srgbClr val="FFFF00"/>
                </a:solidFill>
                <a:latin typeface="Arial"/>
                <a:cs typeface="Arial"/>
              </a:rPr>
              <a:t>Project</a:t>
            </a:r>
            <a:r>
              <a:rPr lang="en-US" sz="2000" dirty="0">
                <a:latin typeface="Arial"/>
                <a:cs typeface="Arial"/>
              </a:rPr>
              <a:t>: Ideas Converting into reality (structured approach)</a:t>
            </a:r>
          </a:p>
          <a:p>
            <a:pPr marL="355600" indent="-342900">
              <a:lnSpc>
                <a:spcPct val="100000"/>
              </a:lnSpc>
              <a:spcBef>
                <a:spcPts val="1019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Trip Planning</a:t>
            </a:r>
          </a:p>
          <a:p>
            <a:pPr marL="355600" indent="-342900">
              <a:lnSpc>
                <a:spcPct val="100000"/>
              </a:lnSpc>
              <a:spcBef>
                <a:spcPts val="1019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Event Planning</a:t>
            </a:r>
            <a:endParaRPr lang="en-US" sz="24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381000"/>
            <a:ext cx="2667000" cy="738664"/>
          </a:xfrm>
        </p:spPr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 rot="10800000" flipH="1" flipV="1">
            <a:off x="457200" y="1137249"/>
            <a:ext cx="3352800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Goal Oriented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Temporary (definite Start &amp; End)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Unique (Environment, Budget, Objectives)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Complexity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Resource Management (Time, Money, Technology)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Stakeholder Involvement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Risk &amp; Change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5105400" y="381000"/>
            <a:ext cx="34290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CC00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kern="0" dirty="0"/>
              <a:t>Importance</a:t>
            </a:r>
          </a:p>
          <a:p>
            <a:pPr algn="ctr"/>
            <a:r>
              <a:rPr lang="en-US" sz="2400" kern="0" dirty="0"/>
              <a:t>(Why)</a:t>
            </a:r>
            <a:endParaRPr lang="en-US" kern="0" dirty="0"/>
          </a:p>
        </p:txBody>
      </p:sp>
      <p:sp>
        <p:nvSpPr>
          <p:cNvPr id="8" name="TextBox 7"/>
          <p:cNvSpPr txBox="1"/>
          <p:nvPr/>
        </p:nvSpPr>
        <p:spPr>
          <a:xfrm rot="10800000" flipH="1" flipV="1">
            <a:off x="4876800" y="1488996"/>
            <a:ext cx="3352800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Aligned with Objectives (</a:t>
            </a:r>
            <a:r>
              <a:rPr lang="en-US" dirty="0" err="1"/>
              <a:t>e.g</a:t>
            </a:r>
            <a:r>
              <a:rPr lang="en-US" dirty="0"/>
              <a:t> Amazon)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Resource Optimization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Risk Mitigation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Enhanced Communication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Meeting Stakeholders Expectations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Improving Efficiency (SOPs, Best Practices)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Learning  &amp;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035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68021"/>
            <a:ext cx="5220970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440"/>
              </a:lnSpc>
              <a:spcBef>
                <a:spcPts val="95"/>
              </a:spcBef>
            </a:pPr>
            <a:endParaRPr sz="4000" dirty="0"/>
          </a:p>
          <a:p>
            <a:pPr marL="12700" marR="5080">
              <a:lnSpc>
                <a:spcPts val="4079"/>
              </a:lnSpc>
              <a:spcBef>
                <a:spcPts val="375"/>
              </a:spcBef>
            </a:pPr>
            <a:r>
              <a:rPr sz="4000" spc="-5" dirty="0"/>
              <a:t>The history of project  management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105406"/>
            <a:ext cx="7392034" cy="2045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58775" indent="-343535">
              <a:lnSpc>
                <a:spcPct val="11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Project management is not new. It has been in use for hundreds of years</a:t>
            </a: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</a:pPr>
            <a:endParaRPr sz="2650" dirty="0">
              <a:latin typeface="Arial"/>
              <a:cs typeface="Arial"/>
            </a:endParaRPr>
          </a:p>
          <a:p>
            <a:pPr marL="355600" marR="934719" indent="-343535">
              <a:lnSpc>
                <a:spcPct val="110000"/>
              </a:lnSpc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Project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management is a phenomenon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of the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twentieth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century.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68021"/>
            <a:ext cx="5220970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440"/>
              </a:lnSpc>
              <a:spcBef>
                <a:spcPts val="95"/>
              </a:spcBef>
            </a:pPr>
            <a:endParaRPr sz="4000" dirty="0"/>
          </a:p>
          <a:p>
            <a:pPr marL="12700" marR="5080">
              <a:lnSpc>
                <a:spcPts val="4079"/>
              </a:lnSpc>
              <a:spcBef>
                <a:spcPts val="375"/>
              </a:spcBef>
            </a:pPr>
            <a:r>
              <a:rPr sz="4000" spc="-5" dirty="0"/>
              <a:t>The history of project  management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105406"/>
            <a:ext cx="7392034" cy="41652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58775" indent="-343535">
              <a:lnSpc>
                <a:spcPct val="11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Pyramids of Giza,</a:t>
            </a:r>
          </a:p>
          <a:p>
            <a:pPr marL="355600" marR="358775" indent="-343535">
              <a:lnSpc>
                <a:spcPct val="11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Great Wall of China,</a:t>
            </a:r>
          </a:p>
          <a:p>
            <a:pPr marL="355600" marR="358775" indent="-343535">
              <a:lnSpc>
                <a:spcPct val="11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Taj Mahal,</a:t>
            </a:r>
          </a:p>
          <a:p>
            <a:pPr marL="355600" marR="358775" indent="-343535">
              <a:lnSpc>
                <a:spcPct val="11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Panama Canal,</a:t>
            </a:r>
          </a:p>
          <a:p>
            <a:pPr marL="355600" marR="358775" indent="-343535">
              <a:lnSpc>
                <a:spcPct val="11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Development of commercial jet airplanes,</a:t>
            </a:r>
          </a:p>
          <a:p>
            <a:pPr marL="355600" marR="358775" indent="-343535">
              <a:lnSpc>
                <a:spcPct val="11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Polio vaccine,</a:t>
            </a:r>
          </a:p>
          <a:p>
            <a:pPr marL="355600" marR="358775" indent="-343535">
              <a:lnSpc>
                <a:spcPct val="11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Portable devices to use the global positioning system (GPS), and</a:t>
            </a:r>
          </a:p>
          <a:p>
            <a:pPr marL="355600" marR="358775" indent="-343535">
              <a:lnSpc>
                <a:spcPct val="11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Placement of the International Space Station into Earth’s orbit.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1857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68021"/>
            <a:ext cx="5220970" cy="11535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440"/>
              </a:lnSpc>
              <a:spcBef>
                <a:spcPts val="95"/>
              </a:spcBef>
            </a:pPr>
            <a:endParaRPr sz="4000" dirty="0"/>
          </a:p>
          <a:p>
            <a:pPr marL="12700" marR="5080">
              <a:lnSpc>
                <a:spcPts val="4079"/>
              </a:lnSpc>
              <a:spcBef>
                <a:spcPts val="375"/>
              </a:spcBef>
            </a:pPr>
            <a:r>
              <a:rPr lang="en-GB" sz="4000" spc="-5" dirty="0"/>
              <a:t>Pyramids of Giza,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105406"/>
            <a:ext cx="7392034" cy="36299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58775" indent="-343535">
              <a:lnSpc>
                <a:spcPct val="2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06 Million Ton total structure</a:t>
            </a:r>
          </a:p>
          <a:p>
            <a:pPr marL="355600" marR="358775" indent="-343535">
              <a:lnSpc>
                <a:spcPct val="2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Foot prints 13 Acres</a:t>
            </a:r>
          </a:p>
          <a:p>
            <a:pPr marL="355600" marR="358775" indent="-343535">
              <a:lnSpc>
                <a:spcPct val="2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Made up of 2.5 Million tons of Stone Blocks</a:t>
            </a:r>
          </a:p>
          <a:p>
            <a:pPr marL="355600" marR="358775" indent="-343535">
              <a:lnSpc>
                <a:spcPct val="2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lang="en-GB" sz="2400" spc="-5" dirty="0">
                <a:solidFill>
                  <a:srgbClr val="FFFFFF"/>
                </a:solidFill>
                <a:latin typeface="Arial"/>
                <a:cs typeface="Arial"/>
              </a:rPr>
              <a:t>A piece of Great precision, great skill and great craft</a:t>
            </a:r>
          </a:p>
        </p:txBody>
      </p:sp>
    </p:spTree>
    <p:extLst>
      <p:ext uri="{BB962C8B-B14F-4D97-AF65-F5344CB8AC3E}">
        <p14:creationId xmlns:p14="http://schemas.microsoft.com/office/powerpoint/2010/main" val="1938127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4543"/>
            <a:ext cx="5220970" cy="57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440"/>
              </a:lnSpc>
              <a:spcBef>
                <a:spcPts val="95"/>
              </a:spcBef>
            </a:pPr>
            <a:r>
              <a:rPr lang="en-GB" sz="4000" dirty="0"/>
              <a:t>Pyramids of Giza</a:t>
            </a:r>
            <a:endParaRPr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52" y="652075"/>
            <a:ext cx="7306695" cy="5553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440"/>
              </a:lnSpc>
              <a:spcBef>
                <a:spcPts val="95"/>
              </a:spcBef>
            </a:pPr>
            <a:endParaRPr sz="4000" dirty="0"/>
          </a:p>
          <a:p>
            <a:pPr marL="12700" marR="5080">
              <a:lnSpc>
                <a:spcPts val="4079"/>
              </a:lnSpc>
              <a:spcBef>
                <a:spcPts val="375"/>
              </a:spcBef>
            </a:pPr>
            <a:r>
              <a:rPr sz="4000" spc="-5" dirty="0"/>
              <a:t>The history of project  management</a:t>
            </a:r>
            <a:endParaRPr sz="4000" dirty="0"/>
          </a:p>
        </p:txBody>
      </p:sp>
      <p:sp>
        <p:nvSpPr>
          <p:cNvPr id="3" name="object 3"/>
          <p:cNvSpPr/>
          <p:nvPr/>
        </p:nvSpPr>
        <p:spPr>
          <a:xfrm>
            <a:off x="1166812" y="3635375"/>
            <a:ext cx="3400425" cy="2632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8042" y="2000859"/>
            <a:ext cx="7618095" cy="4453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1005">
              <a:lnSpc>
                <a:spcPct val="110000"/>
              </a:lnSpc>
              <a:spcBef>
                <a:spcPts val="100"/>
              </a:spcBef>
              <a:tabLst>
                <a:tab pos="14986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Project management, as a discipline was essentially a spin off  from the atomic bomb development program,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Project Alamos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000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  the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1940s.	This was the first really complex, high technology  project to be operated by</a:t>
            </a:r>
            <a:r>
              <a:rPr sz="20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mankind.</a:t>
            </a:r>
            <a:endParaRPr sz="2000">
              <a:latin typeface="Arial"/>
              <a:cs typeface="Arial"/>
            </a:endParaRPr>
          </a:p>
          <a:p>
            <a:pPr marL="4909185" marR="5080">
              <a:lnSpc>
                <a:spcPct val="110000"/>
              </a:lnSpc>
              <a:spcBef>
                <a:spcPts val="54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It was seen that there  was a need for a highly  dedicated and well-  developed team to</a:t>
            </a:r>
            <a:r>
              <a:rPr sz="20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work  together on such  projects, in order that  the required standards  could be delivered on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time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 within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cost.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7091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440"/>
              </a:lnSpc>
              <a:spcBef>
                <a:spcPts val="95"/>
              </a:spcBef>
            </a:pPr>
            <a:r>
              <a:rPr sz="4000" spc="-5" dirty="0">
                <a:solidFill>
                  <a:srgbClr val="FFFFFF"/>
                </a:solidFill>
              </a:rPr>
              <a:t>1.2</a:t>
            </a:r>
            <a:endParaRPr sz="4000"/>
          </a:p>
          <a:p>
            <a:pPr marL="12700" marR="5080">
              <a:lnSpc>
                <a:spcPts val="4079"/>
              </a:lnSpc>
              <a:spcBef>
                <a:spcPts val="375"/>
              </a:spcBef>
            </a:pPr>
            <a:r>
              <a:rPr sz="4000" spc="-5" dirty="0"/>
              <a:t>The history of project  management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685800" y="1828800"/>
            <a:ext cx="7942580" cy="484886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3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development of several major military projects through</a:t>
            </a:r>
            <a:r>
              <a:rPr sz="2000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45"/>
              </a:spcBef>
              <a:tabLst>
                <a:tab pos="125793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1950s.	Examples: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600" b="1" spc="-5" dirty="0">
                <a:solidFill>
                  <a:srgbClr val="FFFFFF"/>
                </a:solidFill>
                <a:latin typeface="Arial"/>
                <a:cs typeface="Arial"/>
              </a:rPr>
              <a:t>Polaris nuclear submarine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fleet for the US</a:t>
            </a:r>
            <a:r>
              <a:rPr sz="1600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Navy</a:t>
            </a:r>
            <a:endParaRPr sz="16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The Space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Shuttle</a:t>
            </a:r>
            <a:endParaRPr sz="16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Development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of “Smart”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bombs and</a:t>
            </a:r>
            <a:r>
              <a:rPr sz="16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"/>
                <a:cs typeface="Arial"/>
              </a:rPr>
              <a:t>missiles</a:t>
            </a:r>
            <a:endParaRPr sz="1600" dirty="0">
              <a:latin typeface="Arial"/>
              <a:cs typeface="Arial"/>
            </a:endParaRPr>
          </a:p>
          <a:p>
            <a:pPr marL="355600" marR="5080" indent="-342900">
              <a:lnSpc>
                <a:spcPct val="110000"/>
              </a:lnSpc>
              <a:spcBef>
                <a:spcPts val="43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discipline developed until the Project Management  Institute(PMI) in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US and the Association for Project  Management (APM) in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UK were formally instituted in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1960s.</a:t>
            </a:r>
            <a:endParaRPr sz="2000" dirty="0">
              <a:latin typeface="Arial"/>
              <a:cs typeface="Arial"/>
            </a:endParaRPr>
          </a:p>
          <a:p>
            <a:pPr marL="355600" marR="540385" indent="-342900">
              <a:lnSpc>
                <a:spcPct val="110100"/>
              </a:lnSpc>
              <a:spcBef>
                <a:spcPts val="47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APM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produced its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Body of Knowledge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 1988 (regularly  updated ), and assisted greatly in the preparation of BS6079</a:t>
            </a:r>
            <a:r>
              <a:rPr sz="2000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  1996 and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ISO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100006 in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1997.</a:t>
            </a:r>
            <a:endParaRPr sz="2000" dirty="0">
              <a:latin typeface="Arial"/>
              <a:cs typeface="Arial"/>
            </a:endParaRPr>
          </a:p>
          <a:p>
            <a:pPr marL="355600" marR="74295" indent="-342900">
              <a:lnSpc>
                <a:spcPct val="1101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PM is associated with a particular set of project control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tools and  techniques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 most notably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critical path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analysis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which held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back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its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further development and application to</a:t>
            </a:r>
            <a:r>
              <a:rPr sz="20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construction.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946150"/>
            <a:ext cx="52825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 is a</a:t>
            </a:r>
            <a:r>
              <a:rPr spc="25" dirty="0"/>
              <a:t> </a:t>
            </a:r>
            <a:r>
              <a:rPr spc="-5" dirty="0"/>
              <a:t>project?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396" y="1808945"/>
            <a:ext cx="7823200" cy="4011929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387350">
              <a:lnSpc>
                <a:spcPct val="100000"/>
              </a:lnSpc>
              <a:spcBef>
                <a:spcPts val="1689"/>
              </a:spcBef>
            </a:pP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ISO 8402 defines a project as: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(Quality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Assurance)</a:t>
            </a:r>
            <a:endParaRPr sz="1400">
              <a:latin typeface="Arial"/>
              <a:cs typeface="Arial"/>
            </a:endParaRPr>
          </a:p>
          <a:p>
            <a:pPr marL="65405" marR="57785" indent="1270" algn="ctr">
              <a:lnSpc>
                <a:spcPct val="106500"/>
              </a:lnSpc>
              <a:spcBef>
                <a:spcPts val="1055"/>
              </a:spcBef>
              <a:tabLst>
                <a:tab pos="5726430" algn="l"/>
              </a:tabLst>
            </a:pPr>
            <a:r>
              <a:rPr sz="2100" i="1" spc="-20" dirty="0">
                <a:solidFill>
                  <a:srgbClr val="FFC9AA"/>
                </a:solidFill>
                <a:latin typeface="Arial"/>
                <a:cs typeface="Arial"/>
              </a:rPr>
              <a:t>‘A- </a:t>
            </a:r>
            <a:r>
              <a:rPr sz="2100" i="1" spc="-95" dirty="0">
                <a:solidFill>
                  <a:srgbClr val="FFC9AA"/>
                </a:solidFill>
                <a:latin typeface="Arial"/>
                <a:cs typeface="Arial"/>
              </a:rPr>
              <a:t>unique </a:t>
            </a:r>
            <a:r>
              <a:rPr sz="2100" i="1" spc="-220" dirty="0">
                <a:solidFill>
                  <a:srgbClr val="FFC9AA"/>
                </a:solidFill>
                <a:latin typeface="Arial"/>
                <a:cs typeface="Arial"/>
              </a:rPr>
              <a:t>process,  </a:t>
            </a:r>
            <a:r>
              <a:rPr sz="2100" i="1" spc="-165" dirty="0">
                <a:solidFill>
                  <a:srgbClr val="FFC9AA"/>
                </a:solidFill>
                <a:latin typeface="Arial"/>
                <a:cs typeface="Arial"/>
              </a:rPr>
              <a:t>consisting </a:t>
            </a:r>
            <a:r>
              <a:rPr sz="2100" i="1" spc="-75" dirty="0">
                <a:solidFill>
                  <a:srgbClr val="FFC9AA"/>
                </a:solidFill>
                <a:latin typeface="Arial"/>
                <a:cs typeface="Arial"/>
              </a:rPr>
              <a:t>of </a:t>
            </a:r>
            <a:r>
              <a:rPr sz="2100" i="1" spc="-60" dirty="0">
                <a:solidFill>
                  <a:srgbClr val="FFC9AA"/>
                </a:solidFill>
                <a:latin typeface="Arial"/>
                <a:cs typeface="Arial"/>
              </a:rPr>
              <a:t>a </a:t>
            </a:r>
            <a:r>
              <a:rPr sz="2100" i="1" spc="-190" dirty="0">
                <a:solidFill>
                  <a:srgbClr val="FFC9AA"/>
                </a:solidFill>
                <a:latin typeface="Arial"/>
                <a:cs typeface="Arial"/>
              </a:rPr>
              <a:t>set</a:t>
            </a:r>
            <a:r>
              <a:rPr sz="2100" i="1" spc="-240" dirty="0">
                <a:solidFill>
                  <a:srgbClr val="FFC9AA"/>
                </a:solidFill>
                <a:latin typeface="Arial"/>
                <a:cs typeface="Arial"/>
              </a:rPr>
              <a:t> </a:t>
            </a:r>
            <a:r>
              <a:rPr sz="2100" i="1" spc="-75" dirty="0">
                <a:solidFill>
                  <a:srgbClr val="FFC9AA"/>
                </a:solidFill>
                <a:latin typeface="Arial"/>
                <a:cs typeface="Arial"/>
              </a:rPr>
              <a:t>of </a:t>
            </a:r>
            <a:r>
              <a:rPr sz="2100" i="1" spc="-80" dirty="0">
                <a:solidFill>
                  <a:srgbClr val="FFC9AA"/>
                </a:solidFill>
                <a:latin typeface="Arial"/>
                <a:cs typeface="Arial"/>
              </a:rPr>
              <a:t>co-ordinated	and </a:t>
            </a:r>
            <a:r>
              <a:rPr sz="2100" i="1" spc="-90" dirty="0">
                <a:solidFill>
                  <a:srgbClr val="FFC9AA"/>
                </a:solidFill>
                <a:latin typeface="Arial"/>
                <a:cs typeface="Arial"/>
              </a:rPr>
              <a:t>controlled  </a:t>
            </a:r>
            <a:r>
              <a:rPr sz="2100" i="1" spc="-95" dirty="0">
                <a:solidFill>
                  <a:srgbClr val="FFC9AA"/>
                </a:solidFill>
                <a:latin typeface="Arial"/>
                <a:cs typeface="Arial"/>
              </a:rPr>
              <a:t>activities </a:t>
            </a:r>
            <a:r>
              <a:rPr sz="2100" i="1" spc="-30" dirty="0">
                <a:solidFill>
                  <a:srgbClr val="FFC9AA"/>
                </a:solidFill>
                <a:latin typeface="Arial"/>
                <a:cs typeface="Arial"/>
              </a:rPr>
              <a:t>with </a:t>
            </a:r>
            <a:r>
              <a:rPr sz="2100" i="1" spc="-70" dirty="0">
                <a:solidFill>
                  <a:srgbClr val="FFC9AA"/>
                </a:solidFill>
                <a:latin typeface="Arial"/>
                <a:cs typeface="Arial"/>
              </a:rPr>
              <a:t>start </a:t>
            </a:r>
            <a:r>
              <a:rPr sz="2100" i="1" spc="-80" dirty="0">
                <a:solidFill>
                  <a:srgbClr val="FFC9AA"/>
                </a:solidFill>
                <a:latin typeface="Arial"/>
                <a:cs typeface="Arial"/>
              </a:rPr>
              <a:t>and </a:t>
            </a:r>
            <a:r>
              <a:rPr sz="2100" i="1" spc="-130" dirty="0">
                <a:solidFill>
                  <a:srgbClr val="FFC9AA"/>
                </a:solidFill>
                <a:latin typeface="Arial"/>
                <a:cs typeface="Arial"/>
              </a:rPr>
              <a:t>finish </a:t>
            </a:r>
            <a:r>
              <a:rPr sz="2100" i="1" spc="-140" dirty="0">
                <a:solidFill>
                  <a:srgbClr val="FFC9AA"/>
                </a:solidFill>
                <a:latin typeface="Arial"/>
                <a:cs typeface="Arial"/>
              </a:rPr>
              <a:t>dates, </a:t>
            </a:r>
            <a:r>
              <a:rPr sz="2100" i="1" spc="-75" dirty="0">
                <a:solidFill>
                  <a:srgbClr val="FFC9AA"/>
                </a:solidFill>
                <a:latin typeface="Arial"/>
                <a:cs typeface="Arial"/>
              </a:rPr>
              <a:t>undertaken </a:t>
            </a:r>
            <a:r>
              <a:rPr sz="2100" i="1" spc="-25" dirty="0">
                <a:solidFill>
                  <a:srgbClr val="FFC9AA"/>
                </a:solidFill>
                <a:latin typeface="Arial"/>
                <a:cs typeface="Arial"/>
              </a:rPr>
              <a:t>to </a:t>
            </a:r>
            <a:r>
              <a:rPr sz="2100" i="1" spc="-135" dirty="0">
                <a:solidFill>
                  <a:srgbClr val="FFC9AA"/>
                </a:solidFill>
                <a:latin typeface="Arial"/>
                <a:cs typeface="Arial"/>
              </a:rPr>
              <a:t>achieve </a:t>
            </a:r>
            <a:r>
              <a:rPr sz="2100" i="1" spc="-95" dirty="0">
                <a:solidFill>
                  <a:srgbClr val="FFC9AA"/>
                </a:solidFill>
                <a:latin typeface="Arial"/>
                <a:cs typeface="Arial"/>
              </a:rPr>
              <a:t>an </a:t>
            </a:r>
            <a:r>
              <a:rPr sz="2100" i="1" spc="-100" dirty="0">
                <a:solidFill>
                  <a:srgbClr val="FFC9AA"/>
                </a:solidFill>
                <a:latin typeface="Arial"/>
                <a:cs typeface="Arial"/>
              </a:rPr>
              <a:t>objective  </a:t>
            </a:r>
            <a:r>
              <a:rPr sz="2100" i="1" spc="-110" dirty="0">
                <a:solidFill>
                  <a:srgbClr val="FFC9AA"/>
                </a:solidFill>
                <a:latin typeface="Arial"/>
                <a:cs typeface="Arial"/>
              </a:rPr>
              <a:t>conforming </a:t>
            </a:r>
            <a:r>
              <a:rPr sz="2100" i="1" spc="-20" dirty="0">
                <a:solidFill>
                  <a:srgbClr val="FFC9AA"/>
                </a:solidFill>
                <a:latin typeface="Arial"/>
                <a:cs typeface="Arial"/>
              </a:rPr>
              <a:t>to </a:t>
            </a:r>
            <a:r>
              <a:rPr sz="2100" i="1" spc="-160" dirty="0">
                <a:solidFill>
                  <a:srgbClr val="FFC9AA"/>
                </a:solidFill>
                <a:latin typeface="Arial"/>
                <a:cs typeface="Arial"/>
              </a:rPr>
              <a:t>specific </a:t>
            </a:r>
            <a:r>
              <a:rPr sz="2100" i="1" spc="-114" dirty="0">
                <a:solidFill>
                  <a:srgbClr val="FFC9AA"/>
                </a:solidFill>
                <a:latin typeface="Arial"/>
                <a:cs typeface="Arial"/>
              </a:rPr>
              <a:t>requirements </a:t>
            </a:r>
            <a:r>
              <a:rPr sz="2100" i="1" spc="-95" dirty="0">
                <a:solidFill>
                  <a:srgbClr val="FFC9AA"/>
                </a:solidFill>
                <a:latin typeface="Arial"/>
                <a:cs typeface="Arial"/>
              </a:rPr>
              <a:t>including </a:t>
            </a:r>
            <a:r>
              <a:rPr sz="2100" i="1" spc="-135" dirty="0">
                <a:solidFill>
                  <a:srgbClr val="FFC9AA"/>
                </a:solidFill>
                <a:latin typeface="Arial"/>
                <a:cs typeface="Arial"/>
              </a:rPr>
              <a:t>constraints </a:t>
            </a:r>
            <a:r>
              <a:rPr sz="2100" i="1" spc="-75" dirty="0">
                <a:solidFill>
                  <a:srgbClr val="FFC9AA"/>
                </a:solidFill>
                <a:latin typeface="Arial"/>
                <a:cs typeface="Arial"/>
              </a:rPr>
              <a:t>of time, </a:t>
            </a:r>
            <a:r>
              <a:rPr sz="2100" i="1" spc="-185" dirty="0">
                <a:solidFill>
                  <a:srgbClr val="FFC9AA"/>
                </a:solidFill>
                <a:latin typeface="Arial"/>
                <a:cs typeface="Arial"/>
              </a:rPr>
              <a:t>cost </a:t>
            </a:r>
            <a:r>
              <a:rPr sz="2100" i="1" spc="-80" dirty="0">
                <a:solidFill>
                  <a:srgbClr val="FFC9AA"/>
                </a:solidFill>
                <a:latin typeface="Arial"/>
                <a:cs typeface="Arial"/>
              </a:rPr>
              <a:t>and  </a:t>
            </a:r>
            <a:r>
              <a:rPr sz="2100" i="1" spc="-185" dirty="0">
                <a:solidFill>
                  <a:srgbClr val="FFC9AA"/>
                </a:solidFill>
                <a:latin typeface="Arial"/>
                <a:cs typeface="Arial"/>
              </a:rPr>
              <a:t>resources.’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Gray &amp; Larson (2008) in Project Management: the</a:t>
            </a:r>
            <a:r>
              <a:rPr sz="2000" spc="-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managerial</a:t>
            </a:r>
            <a:endParaRPr sz="20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process,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page 5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defined a project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endParaRPr sz="2000">
              <a:latin typeface="Arial"/>
              <a:cs typeface="Arial"/>
            </a:endParaRPr>
          </a:p>
          <a:p>
            <a:pPr marL="12700" marR="5080" algn="ctr">
              <a:lnSpc>
                <a:spcPct val="104700"/>
              </a:lnSpc>
              <a:spcBef>
                <a:spcPts val="505"/>
              </a:spcBef>
            </a:pPr>
            <a:r>
              <a:rPr sz="2000" spc="-45" dirty="0">
                <a:solidFill>
                  <a:srgbClr val="FFC9AA"/>
                </a:solidFill>
                <a:latin typeface="Arial"/>
                <a:cs typeface="Arial"/>
              </a:rPr>
              <a:t>‘</a:t>
            </a:r>
            <a:r>
              <a:rPr sz="2100" i="1" spc="-45" dirty="0">
                <a:solidFill>
                  <a:srgbClr val="FFC9AA"/>
                </a:solidFill>
                <a:latin typeface="Arial"/>
                <a:cs typeface="Arial"/>
              </a:rPr>
              <a:t>A </a:t>
            </a:r>
            <a:r>
              <a:rPr sz="2100" i="1" spc="-140" dirty="0">
                <a:solidFill>
                  <a:srgbClr val="FFC9AA"/>
                </a:solidFill>
                <a:latin typeface="Arial"/>
                <a:cs typeface="Arial"/>
              </a:rPr>
              <a:t>complex, </a:t>
            </a:r>
            <a:r>
              <a:rPr sz="2100" i="1" spc="-100" dirty="0">
                <a:solidFill>
                  <a:srgbClr val="FFC9AA"/>
                </a:solidFill>
                <a:latin typeface="Arial"/>
                <a:cs typeface="Arial"/>
              </a:rPr>
              <a:t>nonroutine, </a:t>
            </a:r>
            <a:r>
              <a:rPr sz="2100" i="1" spc="-80" dirty="0">
                <a:solidFill>
                  <a:srgbClr val="FFC9AA"/>
                </a:solidFill>
                <a:latin typeface="Arial"/>
                <a:cs typeface="Arial"/>
              </a:rPr>
              <a:t>one-time </a:t>
            </a:r>
            <a:r>
              <a:rPr sz="2100" i="1" spc="-50" dirty="0">
                <a:solidFill>
                  <a:srgbClr val="FFC9AA"/>
                </a:solidFill>
                <a:latin typeface="Arial"/>
                <a:cs typeface="Arial"/>
              </a:rPr>
              <a:t>effort limited </a:t>
            </a:r>
            <a:r>
              <a:rPr sz="2100" i="1" spc="-75" dirty="0">
                <a:solidFill>
                  <a:srgbClr val="FFC9AA"/>
                </a:solidFill>
                <a:latin typeface="Arial"/>
                <a:cs typeface="Arial"/>
              </a:rPr>
              <a:t>by time, </a:t>
            </a:r>
            <a:r>
              <a:rPr sz="2100" i="1" spc="-85" dirty="0">
                <a:solidFill>
                  <a:srgbClr val="FFC9AA"/>
                </a:solidFill>
                <a:latin typeface="Arial"/>
                <a:cs typeface="Arial"/>
              </a:rPr>
              <a:t>budget, </a:t>
            </a:r>
            <a:r>
              <a:rPr sz="2100" i="1" spc="-200" dirty="0">
                <a:solidFill>
                  <a:srgbClr val="FFC9AA"/>
                </a:solidFill>
                <a:latin typeface="Arial"/>
                <a:cs typeface="Arial"/>
              </a:rPr>
              <a:t>resources,  </a:t>
            </a:r>
            <a:r>
              <a:rPr sz="2100" i="1" spc="-85" dirty="0">
                <a:solidFill>
                  <a:srgbClr val="FFC9AA"/>
                </a:solidFill>
                <a:latin typeface="Arial"/>
                <a:cs typeface="Arial"/>
              </a:rPr>
              <a:t>and </a:t>
            </a:r>
            <a:r>
              <a:rPr sz="2100" i="1" spc="-105" dirty="0">
                <a:solidFill>
                  <a:srgbClr val="FFC9AA"/>
                </a:solidFill>
                <a:latin typeface="Arial"/>
                <a:cs typeface="Arial"/>
              </a:rPr>
              <a:t>performance </a:t>
            </a:r>
            <a:r>
              <a:rPr sz="2100" i="1" spc="-145" dirty="0">
                <a:solidFill>
                  <a:srgbClr val="FFC9AA"/>
                </a:solidFill>
                <a:latin typeface="Arial"/>
                <a:cs typeface="Arial"/>
              </a:rPr>
              <a:t>specifications </a:t>
            </a:r>
            <a:r>
              <a:rPr sz="2100" i="1" spc="-160" dirty="0">
                <a:solidFill>
                  <a:srgbClr val="FFC9AA"/>
                </a:solidFill>
                <a:latin typeface="Arial"/>
                <a:cs typeface="Arial"/>
              </a:rPr>
              <a:t>designed </a:t>
            </a:r>
            <a:r>
              <a:rPr sz="2100" i="1" spc="-25" dirty="0">
                <a:solidFill>
                  <a:srgbClr val="FFC9AA"/>
                </a:solidFill>
                <a:latin typeface="Arial"/>
                <a:cs typeface="Arial"/>
              </a:rPr>
              <a:t>to </a:t>
            </a:r>
            <a:r>
              <a:rPr sz="2100" i="1" spc="-100" dirty="0">
                <a:solidFill>
                  <a:srgbClr val="FFC9AA"/>
                </a:solidFill>
                <a:latin typeface="Arial"/>
                <a:cs typeface="Arial"/>
              </a:rPr>
              <a:t>meet </a:t>
            </a:r>
            <a:r>
              <a:rPr sz="2100" i="1" spc="-145" dirty="0">
                <a:solidFill>
                  <a:srgbClr val="FFC9AA"/>
                </a:solidFill>
                <a:latin typeface="Arial"/>
                <a:cs typeface="Arial"/>
              </a:rPr>
              <a:t>customer</a:t>
            </a:r>
            <a:r>
              <a:rPr sz="2100" i="1" spc="50" dirty="0">
                <a:solidFill>
                  <a:srgbClr val="FFC9AA"/>
                </a:solidFill>
                <a:latin typeface="Arial"/>
                <a:cs typeface="Arial"/>
              </a:rPr>
              <a:t> </a:t>
            </a:r>
            <a:r>
              <a:rPr sz="2100" i="1" spc="-190" dirty="0">
                <a:solidFill>
                  <a:srgbClr val="FFC9AA"/>
                </a:solidFill>
                <a:latin typeface="Arial"/>
                <a:cs typeface="Arial"/>
              </a:rPr>
              <a:t>needs’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06197"/>
            <a:ext cx="52838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is a</a:t>
            </a:r>
            <a:r>
              <a:rPr spc="-45" dirty="0"/>
              <a:t> </a:t>
            </a:r>
            <a:r>
              <a:rPr dirty="0"/>
              <a:t>project?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066800"/>
            <a:ext cx="7374255" cy="4898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77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endParaRPr lang="en-GB" sz="20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756285" indent="-287020">
              <a:spcBef>
                <a:spcPts val="77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r>
              <a:rPr lang="en-GB" sz="2000" b="1" dirty="0">
                <a:solidFill>
                  <a:srgbClr val="FFC9AA"/>
                </a:solidFill>
                <a:latin typeface="Arial"/>
                <a:cs typeface="Arial"/>
              </a:rPr>
              <a:t>A PROJECT IS NOT ROUTINE </a:t>
            </a:r>
            <a:r>
              <a:rPr lang="en-GB" sz="2000" b="1" spc="-5" dirty="0">
                <a:solidFill>
                  <a:srgbClr val="FFC9AA"/>
                </a:solidFill>
                <a:latin typeface="Arial"/>
                <a:cs typeface="Arial"/>
              </a:rPr>
              <a:t>REPETITIVE</a:t>
            </a:r>
            <a:r>
              <a:rPr lang="en-GB" sz="2000" b="1" spc="-55" dirty="0">
                <a:solidFill>
                  <a:srgbClr val="FFC9AA"/>
                </a:solidFill>
                <a:latin typeface="Arial"/>
                <a:cs typeface="Arial"/>
              </a:rPr>
              <a:t> </a:t>
            </a:r>
            <a:r>
              <a:rPr lang="en-GB" sz="2000" b="1" dirty="0">
                <a:solidFill>
                  <a:srgbClr val="FFC9AA"/>
                </a:solidFill>
                <a:latin typeface="Arial"/>
                <a:cs typeface="Arial"/>
              </a:rPr>
              <a:t>WORK</a:t>
            </a:r>
            <a:endParaRPr lang="en-GB" sz="2000" dirty="0">
              <a:latin typeface="Arial"/>
              <a:cs typeface="Arial"/>
            </a:endParaRPr>
          </a:p>
          <a:p>
            <a:pPr marL="756285" indent="-287020">
              <a:spcBef>
                <a:spcPts val="77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endParaRPr lang="en-GB" sz="20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756285" indent="-287020">
              <a:spcBef>
                <a:spcPts val="77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roject is a unique undertaking: </a:t>
            </a: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to create to create a unique product, service or result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each one will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differ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endParaRPr sz="20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24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every other in some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respect</a:t>
            </a:r>
            <a:endParaRPr lang="en-GB" sz="20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245"/>
              </a:spcBef>
            </a:pPr>
            <a:r>
              <a:rPr lang="en-GB" sz="2000" dirty="0">
                <a:latin typeface="Arial"/>
                <a:cs typeface="Arial"/>
              </a:rPr>
              <a:t> </a:t>
            </a:r>
            <a:endParaRPr sz="2000" dirty="0">
              <a:latin typeface="Arial"/>
              <a:cs typeface="Arial"/>
            </a:endParaRPr>
          </a:p>
          <a:p>
            <a:pPr marL="756285" indent="-287020">
              <a:spcBef>
                <a:spcPts val="72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A project is an temporary endeavour </a:t>
            </a:r>
          </a:p>
          <a:p>
            <a:pPr marL="469265">
              <a:spcBef>
                <a:spcPts val="720"/>
              </a:spcBef>
              <a:tabLst>
                <a:tab pos="756285" algn="l"/>
                <a:tab pos="756920" algn="l"/>
              </a:tabLst>
            </a:pPr>
            <a:endParaRPr lang="en-GB" sz="20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projects have specific objectives (or goals) to be</a:t>
            </a:r>
            <a:r>
              <a:rPr sz="2000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achieved</a:t>
            </a:r>
            <a:endParaRPr lang="en-GB" sz="20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endParaRPr lang="en-GB" sz="20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endParaRPr lang="en-GB" sz="20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54775" y="4800600"/>
            <a:ext cx="2146300" cy="1571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06197"/>
            <a:ext cx="52838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is a</a:t>
            </a:r>
            <a:r>
              <a:rPr spc="-45" dirty="0"/>
              <a:t> </a:t>
            </a:r>
            <a:r>
              <a:rPr dirty="0"/>
              <a:t>project?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4" y="1058926"/>
            <a:ext cx="7374255" cy="2060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>
              <a:lnSpc>
                <a:spcPct val="11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Projects </a:t>
            </a:r>
            <a:r>
              <a:rPr lang="en-GB" sz="2400" b="1" spc="-5" dirty="0">
                <a:solidFill>
                  <a:srgbClr val="FFFFFF"/>
                </a:solidFill>
                <a:latin typeface="Arial"/>
                <a:cs typeface="Arial"/>
              </a:rPr>
              <a:t>drives change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endParaRPr sz="2400" dirty="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77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Projects takes organizations from one state to another</a:t>
            </a:r>
          </a:p>
          <a:p>
            <a:pPr marL="756285" indent="-287020">
              <a:lnSpc>
                <a:spcPct val="100000"/>
              </a:lnSpc>
              <a:spcBef>
                <a:spcPts val="77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Projects enables business value creation</a:t>
            </a:r>
          </a:p>
          <a:p>
            <a:pPr marL="756285" indent="-287020">
              <a:lnSpc>
                <a:spcPct val="100000"/>
              </a:lnSpc>
              <a:spcBef>
                <a:spcPts val="77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Provide both tangible and/or intangible benefits, </a:t>
            </a:r>
          </a:p>
          <a:p>
            <a:pPr marL="756285" indent="-287020">
              <a:lnSpc>
                <a:spcPct val="100000"/>
              </a:lnSpc>
              <a:spcBef>
                <a:spcPts val="770"/>
              </a:spcBef>
              <a:buFont typeface="Wingdings"/>
              <a:buChar char=""/>
              <a:tabLst>
                <a:tab pos="756285" algn="l"/>
                <a:tab pos="756920" algn="l"/>
              </a:tabLst>
            </a:pPr>
            <a:endParaRPr sz="2000" dirty="0">
              <a:latin typeface="Arial"/>
              <a:cs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655" y="3352800"/>
            <a:ext cx="4686954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58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87850" y="1790700"/>
            <a:ext cx="2778125" cy="1479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3969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/>
              <a:t>Examples</a:t>
            </a:r>
            <a:r>
              <a:rPr spc="-55" dirty="0"/>
              <a:t> </a:t>
            </a:r>
            <a:r>
              <a:rPr dirty="0"/>
              <a:t>of  </a:t>
            </a:r>
            <a:r>
              <a:rPr spc="-5" dirty="0"/>
              <a:t>projects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824050"/>
            <a:ext cx="34747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Major construction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projects: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2130678"/>
            <a:ext cx="2456180" cy="1804981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315"/>
              </a:spcBef>
              <a:buFont typeface="Wingdings"/>
              <a:buChar char="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Dubai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tower</a:t>
            </a:r>
            <a:endParaRPr sz="1800" dirty="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215"/>
              </a:spcBef>
              <a:buFont typeface="Wingdings"/>
              <a:buChar char=""/>
              <a:tabLst>
                <a:tab pos="299085" algn="l"/>
                <a:tab pos="299720" algn="l"/>
              </a:tabLst>
            </a:pPr>
            <a:r>
              <a:rPr sz="1800" spc="-5" dirty="0" err="1">
                <a:solidFill>
                  <a:srgbClr val="FFFFFF"/>
                </a:solidFill>
                <a:latin typeface="Arial"/>
                <a:cs typeface="Arial"/>
              </a:rPr>
              <a:t>Jumaira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 Palm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endParaRPr sz="1800" dirty="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219"/>
              </a:spcBef>
              <a:buFont typeface="Wingdings"/>
              <a:buChar char="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1800" spc="-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dney Opera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House</a:t>
            </a:r>
            <a:endParaRPr sz="1800" dirty="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215"/>
              </a:spcBef>
              <a:buFont typeface="Wingdings"/>
              <a:buChar char="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British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Library</a:t>
            </a:r>
            <a:endParaRPr sz="1800" dirty="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215"/>
              </a:spcBef>
              <a:buFont typeface="Wingdings"/>
              <a:buChar char="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Channel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Tunnel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400" y="4314761"/>
            <a:ext cx="2509901" cy="18717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00900" y="3752850"/>
            <a:ext cx="1428750" cy="952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47947" y="3450082"/>
            <a:ext cx="4123054" cy="28693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230504" indent="-342900">
              <a:lnSpc>
                <a:spcPts val="2160"/>
              </a:lnSpc>
              <a:spcBef>
                <a:spcPts val="375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Testing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 installing a piece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  equipment</a:t>
            </a:r>
            <a:endParaRPr sz="2000" dirty="0">
              <a:latin typeface="Arial"/>
              <a:cs typeface="Arial"/>
            </a:endParaRPr>
          </a:p>
          <a:p>
            <a:pPr marL="355600" marR="834390" indent="-342900">
              <a:lnSpc>
                <a:spcPts val="2160"/>
              </a:lnSpc>
              <a:spcBef>
                <a:spcPts val="480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Developing a new</a:t>
            </a:r>
            <a:r>
              <a:rPr sz="20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training  programme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0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Establishing a new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youth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centre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92D050"/>
                </a:solidFill>
                <a:latin typeface="Arial"/>
                <a:cs typeface="Arial"/>
              </a:rPr>
              <a:t>Getting MS</a:t>
            </a:r>
            <a:r>
              <a:rPr lang="en-GB" sz="2000" b="1" dirty="0">
                <a:solidFill>
                  <a:srgbClr val="92D050"/>
                </a:solidFill>
                <a:latin typeface="Arial"/>
                <a:cs typeface="Arial"/>
              </a:rPr>
              <a:t> PM</a:t>
            </a:r>
            <a:r>
              <a:rPr sz="2000" b="1" dirty="0">
                <a:solidFill>
                  <a:srgbClr val="92D050"/>
                </a:solidFill>
                <a:latin typeface="Arial"/>
                <a:cs typeface="Arial"/>
              </a:rPr>
              <a:t> from</a:t>
            </a:r>
            <a:r>
              <a:rPr sz="2000" b="1" spc="-10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lang="en-GB" sz="2000" b="1" dirty="0">
                <a:solidFill>
                  <a:srgbClr val="92D050"/>
                </a:solidFill>
                <a:latin typeface="Arial"/>
                <a:cs typeface="Arial"/>
              </a:rPr>
              <a:t>BU</a:t>
            </a:r>
            <a:endParaRPr sz="2000" dirty="0">
              <a:solidFill>
                <a:srgbClr val="92D050"/>
              </a:solidFill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4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Installing a new computer</a:t>
            </a:r>
            <a:r>
              <a:rPr sz="20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2000" dirty="0">
              <a:latin typeface="Arial"/>
              <a:cs typeface="Arial"/>
            </a:endParaRPr>
          </a:p>
          <a:p>
            <a:pPr marL="355600" marR="906144" indent="-342900">
              <a:lnSpc>
                <a:spcPts val="2160"/>
              </a:lnSpc>
              <a:spcBef>
                <a:spcPts val="509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Research &amp;</a:t>
            </a:r>
            <a:r>
              <a:rPr sz="2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development  programme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381000"/>
            <a:ext cx="7846060" cy="1107996"/>
          </a:xfrm>
        </p:spPr>
        <p:txBody>
          <a:bodyPr/>
          <a:lstStyle/>
          <a:p>
            <a:r>
              <a:rPr lang="en-GB" sz="3600" dirty="0"/>
              <a:t>Project Initiation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71600"/>
            <a:ext cx="7924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Meet regulatory, legal, or social requirements;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Satisfy stakeholder requests or needs;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Implement or change business or technological strategies; and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Create, improve, or fix products, processes, or services.</a:t>
            </a:r>
          </a:p>
        </p:txBody>
      </p:sp>
    </p:spTree>
    <p:extLst>
      <p:ext uri="{BB962C8B-B14F-4D97-AF65-F5344CB8AC3E}">
        <p14:creationId xmlns:p14="http://schemas.microsoft.com/office/powerpoint/2010/main" val="1368903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816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5" dirty="0"/>
              <a:t>WHAT DOES A  PROJECT</a:t>
            </a:r>
            <a:r>
              <a:rPr sz="4000" spc="-50" dirty="0"/>
              <a:t> </a:t>
            </a:r>
            <a:r>
              <a:rPr sz="4000" spc="-5" dirty="0"/>
              <a:t>INVOLVE?</a:t>
            </a:r>
            <a:endParaRPr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269240" y="1981022"/>
            <a:ext cx="1391920" cy="3531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Scope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Purpose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Constraints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time]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Budget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Specifications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Procurement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Contract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sz="1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Safety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Vision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Risk</a:t>
            </a:r>
            <a:r>
              <a:rPr sz="1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Feasibility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Risk</a:t>
            </a:r>
            <a:r>
              <a:rPr sz="1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assessment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Risk</a:t>
            </a:r>
            <a:r>
              <a:rPr sz="1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identification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ISO</a:t>
            </a:r>
            <a:r>
              <a:rPr sz="1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standards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Variations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Sustainability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03497" y="2317495"/>
            <a:ext cx="83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03497" y="3049016"/>
            <a:ext cx="838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6197" y="4268470"/>
            <a:ext cx="5841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03497" y="4420870"/>
            <a:ext cx="83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03497" y="4695571"/>
            <a:ext cx="8382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3497" y="5579465"/>
            <a:ext cx="83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3497" y="5853785"/>
            <a:ext cx="83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3497" y="2043175"/>
            <a:ext cx="1329690" cy="39878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55600" marR="139065" indent="-343535">
              <a:lnSpc>
                <a:spcPts val="960"/>
              </a:lnSpc>
              <a:spcBef>
                <a:spcPts val="32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Acceptance</a:t>
            </a:r>
            <a:r>
              <a:rPr sz="10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by  client</a:t>
            </a:r>
            <a:endParaRPr sz="1000">
              <a:latin typeface="Arial"/>
              <a:cs typeface="Arial"/>
            </a:endParaRPr>
          </a:p>
          <a:p>
            <a:pPr marL="355600" marR="206375">
              <a:lnSpc>
                <a:spcPct val="100000"/>
              </a:lnSpc>
              <a:spcBef>
                <a:spcPts val="10"/>
              </a:spcBef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Life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cycle 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Maintenance  Change</a:t>
            </a:r>
            <a:r>
              <a:rPr sz="1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mgnt</a:t>
            </a:r>
            <a:endParaRPr sz="1000">
              <a:latin typeface="Arial"/>
              <a:cs typeface="Arial"/>
            </a:endParaRPr>
          </a:p>
          <a:p>
            <a:pPr marL="355600" marR="313055">
              <a:lnSpc>
                <a:spcPct val="90000"/>
              </a:lnSpc>
              <a:spcBef>
                <a:spcPts val="120"/>
              </a:spcBef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Close out</a:t>
            </a:r>
            <a:r>
              <a:rPr sz="1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&amp;  handover  Liability</a:t>
            </a:r>
            <a:endParaRPr sz="1000">
              <a:latin typeface="Arial"/>
              <a:cs typeface="Arial"/>
            </a:endParaRPr>
          </a:p>
          <a:p>
            <a:pPr marL="355600" marR="2286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Dispute  Insurance  Certification  Logistics  Infrastructure  Personnel</a:t>
            </a:r>
            <a:r>
              <a:rPr sz="1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safety  Stakeholders  Arbitration  Statutory</a:t>
            </a:r>
            <a:endParaRPr sz="1000">
              <a:latin typeface="Arial"/>
              <a:cs typeface="Arial"/>
            </a:endParaRPr>
          </a:p>
          <a:p>
            <a:pPr marL="355600">
              <a:lnSpc>
                <a:spcPts val="965"/>
              </a:lnSpc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authorities</a:t>
            </a:r>
            <a:endParaRPr sz="1000">
              <a:latin typeface="Arial"/>
              <a:cs typeface="Arial"/>
            </a:endParaRPr>
          </a:p>
          <a:p>
            <a:pPr marL="355600" marR="1016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sz="1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escalation  Legislations 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Trust 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Incentives</a:t>
            </a:r>
            <a:endParaRPr sz="1000">
              <a:latin typeface="Arial"/>
              <a:cs typeface="Arial"/>
            </a:endParaRPr>
          </a:p>
          <a:p>
            <a:pPr marL="355600" marR="243204">
              <a:lnSpc>
                <a:spcPct val="90000"/>
              </a:lnSpc>
              <a:spcBef>
                <a:spcPts val="120"/>
              </a:spcBef>
            </a:pPr>
            <a:r>
              <a:rPr sz="1000" spc="5" dirty="0">
                <a:solidFill>
                  <a:srgbClr val="FFFFFF"/>
                </a:solidFill>
                <a:latin typeface="Arial"/>
                <a:cs typeface="Arial"/>
              </a:rPr>
              <a:t>Work 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acceleration  M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nt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nce</a:t>
            </a:r>
            <a:endParaRPr sz="1000">
              <a:latin typeface="Arial"/>
              <a:cs typeface="Arial"/>
            </a:endParaRPr>
          </a:p>
          <a:p>
            <a:pPr marL="355600">
              <a:lnSpc>
                <a:spcPts val="960"/>
              </a:lnSpc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manuals</a:t>
            </a:r>
            <a:endParaRPr sz="1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As-built</a:t>
            </a:r>
            <a:r>
              <a:rPr sz="1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drawings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52309" y="2057526"/>
            <a:ext cx="1631950" cy="398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Hazard</a:t>
            </a:r>
            <a:r>
              <a:rPr sz="1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Suppliers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Tendering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Resourcing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Materials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Subcontractors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Negotiations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Security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HSE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Land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Taxes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Utilities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Social services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Inspection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Surveying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Milestones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NOCs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Service charges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Schedules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QS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Effectiveness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Documentation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Documentation</a:t>
            </a:r>
            <a:r>
              <a:rPr sz="1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Approval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61870" y="1998979"/>
            <a:ext cx="180340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Politics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Firing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Hiring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HRM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Finance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Customer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Relations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Leasing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FM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Commissioning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Profit 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Loss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Return on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investment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Productivity</a:t>
            </a:r>
            <a:endParaRPr sz="1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Regulations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10302" y="3309873"/>
            <a:ext cx="83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10302" y="3584194"/>
            <a:ext cx="8382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10302" y="4773295"/>
            <a:ext cx="8382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Wingdings"/>
                <a:cs typeface="Wingdings"/>
              </a:rPr>
              <a:t></a:t>
            </a:r>
            <a:endParaRPr sz="1000">
              <a:latin typeface="Wingdings"/>
              <a:cs typeface="Wingding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10302" y="2273299"/>
            <a:ext cx="1185545" cy="298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Atlerations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Transportation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Cash</a:t>
            </a:r>
            <a:r>
              <a:rPr sz="1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flows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Claims</a:t>
            </a:r>
            <a:endParaRPr sz="1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Legal</a:t>
            </a:r>
            <a:r>
              <a:rPr sz="10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endParaRPr sz="1000">
              <a:latin typeface="Arial"/>
              <a:cs typeface="Arial"/>
            </a:endParaRPr>
          </a:p>
          <a:p>
            <a:pPr marL="355600" marR="140970" indent="-342900">
              <a:lnSpc>
                <a:spcPct val="80000"/>
              </a:lnSpc>
              <a:spcBef>
                <a:spcPts val="240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1000" spc="15" dirty="0">
                <a:solidFill>
                  <a:srgbClr val="FFFFFF"/>
                </a:solidFill>
                <a:latin typeface="Arial"/>
                <a:cs typeface="Arial"/>
              </a:rPr>
              <a:t>mm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al  issues</a:t>
            </a:r>
            <a:endParaRPr sz="1000">
              <a:latin typeface="Arial"/>
              <a:cs typeface="Arial"/>
            </a:endParaRPr>
          </a:p>
          <a:p>
            <a:pPr marL="355600" marR="118745">
              <a:lnSpc>
                <a:spcPct val="90000"/>
              </a:lnSpc>
              <a:spcBef>
                <a:spcPts val="120"/>
              </a:spcBef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Salaries</a:t>
            </a:r>
            <a:r>
              <a:rPr sz="1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Wages 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Penalties</a:t>
            </a:r>
            <a:endParaRPr sz="1000">
              <a:latin typeface="Arial"/>
              <a:cs typeface="Arial"/>
            </a:endParaRPr>
          </a:p>
          <a:p>
            <a:pPr marL="355600" marR="203835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Strikes  Weather  </a:t>
            </a:r>
            <a:r>
              <a:rPr sz="1000" spc="3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000" spc="-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es  Fraud  Damages</a:t>
            </a:r>
            <a:endParaRPr sz="1000">
              <a:latin typeface="Arial"/>
              <a:cs typeface="Arial"/>
            </a:endParaRPr>
          </a:p>
          <a:p>
            <a:pPr marL="355600" marR="203835">
              <a:lnSpc>
                <a:spcPct val="80000"/>
              </a:lnSpc>
              <a:spcBef>
                <a:spcPts val="245"/>
              </a:spcBef>
            </a:pP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Payment</a:t>
            </a:r>
            <a:r>
              <a:rPr sz="1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&amp;  conditions</a:t>
            </a:r>
            <a:endParaRPr sz="1000">
              <a:latin typeface="Arial"/>
              <a:cs typeface="Arial"/>
            </a:endParaRPr>
          </a:p>
          <a:p>
            <a:pPr marL="355600" marR="156845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Bribary  Training  M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000" spc="-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000" spc="-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000" spc="-5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4540" y="34543"/>
            <a:ext cx="5220970" cy="738664"/>
          </a:xfrm>
        </p:spPr>
        <p:txBody>
          <a:bodyPr/>
          <a:lstStyle/>
          <a:p>
            <a:r>
              <a:rPr lang="en-GB" dirty="0"/>
              <a:t>Group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505634"/>
            <a:ext cx="8534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Consider that you are in need to construct a House for your self. </a:t>
            </a:r>
          </a:p>
          <a:p>
            <a:endParaRPr lang="en-GB" sz="3200" dirty="0"/>
          </a:p>
          <a:p>
            <a:r>
              <a:rPr lang="en-GB" sz="3200" dirty="0"/>
              <a:t>List down all the areas you will manage/work on, in order to complete the project successfully e.g. Design, Budgeting etc.  </a:t>
            </a:r>
          </a:p>
        </p:txBody>
      </p:sp>
    </p:spTree>
    <p:extLst>
      <p:ext uri="{BB962C8B-B14F-4D97-AF65-F5344CB8AC3E}">
        <p14:creationId xmlns:p14="http://schemas.microsoft.com/office/powerpoint/2010/main" val="852343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4540" y="34543"/>
            <a:ext cx="5220970" cy="738664"/>
          </a:xfrm>
        </p:spPr>
        <p:txBody>
          <a:bodyPr/>
          <a:lstStyle/>
          <a:p>
            <a:r>
              <a:rPr lang="en-GB" dirty="0"/>
              <a:t>Group Activity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3807F4-0889-2609-51D6-40D97D937E3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66700" y="914400"/>
            <a:ext cx="86106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Analysis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Defining my needs, preferences, and lifestyle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 Selection &amp; Acquisition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Choosing and purchasing a suitable plot.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Legal Approvals &amp; Documentation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Obtaining necessary permits, approvals, and title verifications.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Budgeting &amp; Financial Planning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Estimating total costs, securing funds, and allocating budget for different phases.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Architectural &amp; Structural Design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Collaborating with architects to create a house plan and structural layout.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Hiring Professionals &amp; Contractors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Selecting architects, engineers, and construction teams.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 Selection &amp; Procurement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Choosing construction materials, fixtures, and fittings.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Construction Phase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Executing the building process (foundation, structure, roofing,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Utilities &amp; Infrastructure Setup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Installing water, electricity, gas, and drainage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Interior &amp; Exterior Finishing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Painting, flooring, ceilings, doors, windows, landscaping,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Inspection &amp; Compliance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Ensuring construction meets safety, legal, and quality standards.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Furnishing &amp; Final Touches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Setting up furniture, appliances, and decor.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Handover &amp; Moving 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Finalizing paperwork, taking possession, and moving into the house.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Post-Construction Maintenance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Addressing any issues, repairs, and long-term maintenance plans. </a:t>
            </a:r>
          </a:p>
        </p:txBody>
      </p:sp>
    </p:spTree>
    <p:extLst>
      <p:ext uri="{BB962C8B-B14F-4D97-AF65-F5344CB8AC3E}">
        <p14:creationId xmlns:p14="http://schemas.microsoft.com/office/powerpoint/2010/main" val="13688522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7D544F-760A-E37E-CD6E-8B597DD90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69F944-79A5-4D98-CAA0-434BAEC3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40" y="34543"/>
            <a:ext cx="5220970" cy="738664"/>
          </a:xfrm>
        </p:spPr>
        <p:txBody>
          <a:bodyPr/>
          <a:lstStyle/>
          <a:p>
            <a:r>
              <a:rPr lang="en-GB" dirty="0"/>
              <a:t>Group Activity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35112-7DEB-8E40-914D-B7F64BD535D2}"/>
              </a:ext>
            </a:extLst>
          </p:cNvPr>
          <p:cNvSpPr txBox="1"/>
          <p:nvPr/>
        </p:nvSpPr>
        <p:spPr>
          <a:xfrm>
            <a:off x="304800" y="1066800"/>
            <a:ext cx="85343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Design and Planning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Budgeting and Finance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Site Selection and Preparation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Construction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Materials and Procurement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Project Timeline and Milestones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Legal and Regulatory Compliance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Risk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Utilities and Services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Safety and Security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Quality Control and Inspections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Interior Finishes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Landscaping and Exterior Finishes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Utilities Testing and Commissioning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Final Inspections and Approvals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Documentation and Record-Keeping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Warranty and Maintenance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9625207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00751" y="1301750"/>
            <a:ext cx="3643248" cy="3960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3969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/>
              <a:t>What is</a:t>
            </a:r>
            <a:r>
              <a:rPr spc="-70" dirty="0"/>
              <a:t> </a:t>
            </a:r>
            <a:r>
              <a:rPr dirty="0"/>
              <a:t>Project  </a:t>
            </a:r>
            <a:r>
              <a:rPr spc="-5" dirty="0"/>
              <a:t>Management?</a:t>
            </a:r>
          </a:p>
        </p:txBody>
      </p:sp>
      <p:sp>
        <p:nvSpPr>
          <p:cNvPr id="4" name="object 4"/>
          <p:cNvSpPr/>
          <p:nvPr/>
        </p:nvSpPr>
        <p:spPr>
          <a:xfrm>
            <a:off x="3251200" y="3243198"/>
            <a:ext cx="733425" cy="704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2191" y="1748383"/>
            <a:ext cx="8179434" cy="5031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35325" indent="69850">
              <a:lnSpc>
                <a:spcPct val="110000"/>
              </a:lnSpc>
              <a:spcBef>
                <a:spcPts val="100"/>
              </a:spcBef>
            </a:pPr>
            <a:r>
              <a:rPr sz="2000" b="1" i="1" spc="-5" dirty="0">
                <a:solidFill>
                  <a:srgbClr val="00FFFF"/>
                </a:solidFill>
                <a:latin typeface="Arial"/>
                <a:cs typeface="Arial"/>
              </a:rPr>
              <a:t>‘the application </a:t>
            </a:r>
            <a:r>
              <a:rPr sz="2000" b="1" i="1" dirty="0">
                <a:solidFill>
                  <a:srgbClr val="00FFFF"/>
                </a:solidFill>
                <a:latin typeface="Arial"/>
                <a:cs typeface="Arial"/>
              </a:rPr>
              <a:t>of </a:t>
            </a:r>
            <a:r>
              <a:rPr sz="2000" b="1" i="1" spc="-5" dirty="0">
                <a:solidFill>
                  <a:srgbClr val="00FFFF"/>
                </a:solidFill>
                <a:latin typeface="Arial"/>
                <a:cs typeface="Arial"/>
              </a:rPr>
              <a:t>knowledge, skills,  </a:t>
            </a:r>
            <a:r>
              <a:rPr sz="2000" b="1" i="1" dirty="0">
                <a:solidFill>
                  <a:srgbClr val="00FFFF"/>
                </a:solidFill>
                <a:latin typeface="Arial"/>
                <a:cs typeface="Arial"/>
              </a:rPr>
              <a:t>tools and techniques to project</a:t>
            </a:r>
            <a:r>
              <a:rPr sz="2000" b="1" i="1" spc="-140" dirty="0">
                <a:solidFill>
                  <a:srgbClr val="00FFFF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FFFF"/>
                </a:solidFill>
                <a:latin typeface="Arial"/>
                <a:cs typeface="Arial"/>
              </a:rPr>
              <a:t>activities  in order to meet stakeholders needs and  </a:t>
            </a:r>
            <a:r>
              <a:rPr sz="2000" b="1" i="1" spc="-5" dirty="0">
                <a:solidFill>
                  <a:srgbClr val="00FFFF"/>
                </a:solidFill>
                <a:latin typeface="Arial"/>
                <a:cs typeface="Arial"/>
              </a:rPr>
              <a:t>expectations </a:t>
            </a:r>
            <a:r>
              <a:rPr sz="2000" b="1" i="1" dirty="0">
                <a:solidFill>
                  <a:srgbClr val="00FFFF"/>
                </a:solidFill>
                <a:latin typeface="Arial"/>
                <a:cs typeface="Arial"/>
              </a:rPr>
              <a:t>from a </a:t>
            </a:r>
            <a:r>
              <a:rPr sz="2000" b="1" i="1" spc="-5" dirty="0">
                <a:solidFill>
                  <a:srgbClr val="00FFFF"/>
                </a:solidFill>
                <a:latin typeface="Arial"/>
                <a:cs typeface="Arial"/>
              </a:rPr>
              <a:t>project’  </a:t>
            </a:r>
            <a:r>
              <a:rPr sz="2000" b="1" i="1" dirty="0">
                <a:solidFill>
                  <a:srgbClr val="00FFFF"/>
                </a:solidFill>
                <a:latin typeface="Arial"/>
                <a:cs typeface="Arial"/>
              </a:rPr>
              <a:t>(APMBoK96)</a:t>
            </a:r>
            <a:endParaRPr sz="2000">
              <a:latin typeface="Arial"/>
              <a:cs typeface="Arial"/>
            </a:endParaRPr>
          </a:p>
          <a:p>
            <a:pPr marL="21590" marR="3095625">
              <a:lnSpc>
                <a:spcPct val="110000"/>
              </a:lnSpc>
              <a:spcBef>
                <a:spcPts val="1755"/>
              </a:spcBef>
            </a:pP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The </a:t>
            </a:r>
            <a:r>
              <a:rPr sz="1800" b="1" i="1" spc="-5" dirty="0">
                <a:solidFill>
                  <a:srgbClr val="FFCCFF"/>
                </a:solidFill>
                <a:latin typeface="Arial"/>
                <a:cs typeface="Arial"/>
              </a:rPr>
              <a:t>art </a:t>
            </a: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of </a:t>
            </a:r>
            <a:r>
              <a:rPr sz="1800" b="1" i="1" spc="-5" dirty="0">
                <a:solidFill>
                  <a:srgbClr val="FFCCFF"/>
                </a:solidFill>
                <a:latin typeface="Arial"/>
                <a:cs typeface="Arial"/>
              </a:rPr>
              <a:t>directing and </a:t>
            </a: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coordinating </a:t>
            </a:r>
            <a:r>
              <a:rPr sz="1800" b="1" i="1" spc="-5" dirty="0">
                <a:solidFill>
                  <a:srgbClr val="FFCCFF"/>
                </a:solidFill>
                <a:latin typeface="Arial"/>
                <a:cs typeface="Arial"/>
              </a:rPr>
              <a:t>human  </a:t>
            </a: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and </a:t>
            </a:r>
            <a:r>
              <a:rPr sz="1800" b="1" i="1" spc="-5" dirty="0">
                <a:solidFill>
                  <a:srgbClr val="FFCCFF"/>
                </a:solidFill>
                <a:latin typeface="Arial"/>
                <a:cs typeface="Arial"/>
              </a:rPr>
              <a:t>material resources </a:t>
            </a: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throughout </a:t>
            </a:r>
            <a:r>
              <a:rPr sz="1800" b="1" i="1" spc="-5" dirty="0">
                <a:solidFill>
                  <a:srgbClr val="FFCCFF"/>
                </a:solidFill>
                <a:latin typeface="Arial"/>
                <a:cs typeface="Arial"/>
              </a:rPr>
              <a:t>the </a:t>
            </a: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life of </a:t>
            </a:r>
            <a:r>
              <a:rPr sz="1800" b="1" i="1" spc="-5" dirty="0">
                <a:solidFill>
                  <a:srgbClr val="FFCCFF"/>
                </a:solidFill>
                <a:latin typeface="Arial"/>
                <a:cs typeface="Arial"/>
              </a:rPr>
              <a:t>a  project </a:t>
            </a: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by using </a:t>
            </a:r>
            <a:r>
              <a:rPr sz="1800" b="1" i="1" spc="-5" dirty="0">
                <a:solidFill>
                  <a:srgbClr val="FFCCFF"/>
                </a:solidFill>
                <a:latin typeface="Arial"/>
                <a:cs typeface="Arial"/>
              </a:rPr>
              <a:t>modern management  techniques </a:t>
            </a: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to </a:t>
            </a:r>
            <a:r>
              <a:rPr sz="1800" b="1" i="1" spc="-5" dirty="0">
                <a:solidFill>
                  <a:srgbClr val="FFCCFF"/>
                </a:solidFill>
                <a:latin typeface="Arial"/>
                <a:cs typeface="Arial"/>
              </a:rPr>
              <a:t>achieve predetermined  objectives </a:t>
            </a: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of </a:t>
            </a:r>
            <a:r>
              <a:rPr sz="1800" b="1" i="1" spc="-5" dirty="0">
                <a:solidFill>
                  <a:srgbClr val="FFCCFF"/>
                </a:solidFill>
                <a:latin typeface="Arial"/>
                <a:cs typeface="Arial"/>
              </a:rPr>
              <a:t>scope, cost, time, </a:t>
            </a: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quality</a:t>
            </a:r>
            <a:r>
              <a:rPr sz="1800" b="1" i="1" spc="-5" dirty="0">
                <a:solidFill>
                  <a:srgbClr val="FFCCF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participant </a:t>
            </a:r>
            <a:r>
              <a:rPr sz="1800" b="1" i="1" spc="-5" dirty="0">
                <a:solidFill>
                  <a:srgbClr val="FFCCFF"/>
                </a:solidFill>
                <a:latin typeface="Arial"/>
                <a:cs typeface="Arial"/>
              </a:rPr>
              <a:t>satisfaction </a:t>
            </a:r>
            <a:r>
              <a:rPr sz="1800" b="1" i="1" dirty="0">
                <a:solidFill>
                  <a:srgbClr val="FFCCFF"/>
                </a:solidFill>
                <a:latin typeface="Arial"/>
                <a:cs typeface="Arial"/>
              </a:rPr>
              <a:t>(PMI</a:t>
            </a:r>
            <a:r>
              <a:rPr sz="1800" b="1" i="1" spc="5" dirty="0">
                <a:solidFill>
                  <a:srgbClr val="FFCCFF"/>
                </a:solidFill>
                <a:latin typeface="Arial"/>
                <a:cs typeface="Arial"/>
              </a:rPr>
              <a:t> </a:t>
            </a:r>
            <a:r>
              <a:rPr sz="1800" b="1" i="1" spc="-10" dirty="0">
                <a:solidFill>
                  <a:srgbClr val="FFCCFF"/>
                </a:solidFill>
                <a:latin typeface="Arial"/>
                <a:cs typeface="Arial"/>
              </a:rPr>
              <a:t>‘96)</a:t>
            </a:r>
            <a:endParaRPr sz="1800">
              <a:latin typeface="Arial"/>
              <a:cs typeface="Arial"/>
            </a:endParaRPr>
          </a:p>
          <a:p>
            <a:pPr marL="278765" marR="5080" indent="5551170" algn="just">
              <a:lnSpc>
                <a:spcPct val="120100"/>
              </a:lnSpc>
              <a:spcBef>
                <a:spcPts val="40"/>
              </a:spcBef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Project Management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is 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planning, monitoring and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b="1" spc="-20" dirty="0">
                <a:solidFill>
                  <a:srgbClr val="FFFF00"/>
                </a:solidFill>
                <a:latin typeface="Arial"/>
                <a:cs typeface="Arial"/>
              </a:rPr>
              <a:t>ALL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aspects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a project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and the 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motivation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those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involved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achieve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project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objectives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800" b="1" spc="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2947670" algn="just">
              <a:lnSpc>
                <a:spcPct val="100000"/>
              </a:lnSpc>
              <a:spcBef>
                <a:spcPts val="215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cost, quality and performance”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(BS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6079)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540" y="34543"/>
            <a:ext cx="6855460" cy="1169551"/>
          </a:xfrm>
        </p:spPr>
        <p:txBody>
          <a:bodyPr/>
          <a:lstStyle/>
          <a:p>
            <a:r>
              <a:rPr lang="en-GB" dirty="0"/>
              <a:t>PMBOK 6</a:t>
            </a:r>
            <a:r>
              <a:rPr lang="en-GB" baseline="30000" dirty="0"/>
              <a:t>TH</a:t>
            </a:r>
            <a:r>
              <a:rPr lang="en-GB" dirty="0"/>
              <a:t> </a:t>
            </a:r>
            <a:r>
              <a:rPr lang="en-GB" dirty="0" err="1"/>
              <a:t>ed</a:t>
            </a:r>
            <a:r>
              <a:rPr lang="en-GB" dirty="0"/>
              <a:t>, PMI </a:t>
            </a:r>
            <a:r>
              <a:rPr lang="en-GB" sz="2800" dirty="0"/>
              <a:t>Knowledge Areas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906625"/>
            <a:ext cx="4996180" cy="4431983"/>
          </a:xfrm>
        </p:spPr>
        <p:txBody>
          <a:bodyPr/>
          <a:lstStyle/>
          <a:p>
            <a:r>
              <a:rPr lang="en-GB" sz="2400" b="1" dirty="0">
                <a:solidFill>
                  <a:schemeClr val="tx1"/>
                </a:solidFill>
              </a:rPr>
              <a:t>Project Scope Management</a:t>
            </a:r>
          </a:p>
          <a:p>
            <a:r>
              <a:rPr lang="en-GB" dirty="0">
                <a:solidFill>
                  <a:schemeClr val="tx1"/>
                </a:solidFill>
              </a:rPr>
              <a:t>o	Plan Scope Management</a:t>
            </a:r>
          </a:p>
          <a:p>
            <a:r>
              <a:rPr lang="en-GB" dirty="0">
                <a:solidFill>
                  <a:schemeClr val="tx1"/>
                </a:solidFill>
              </a:rPr>
              <a:t>o	Collect Requirements</a:t>
            </a:r>
          </a:p>
          <a:p>
            <a:r>
              <a:rPr lang="en-GB" dirty="0">
                <a:solidFill>
                  <a:schemeClr val="tx1"/>
                </a:solidFill>
              </a:rPr>
              <a:t>o	Define Scope</a:t>
            </a:r>
          </a:p>
          <a:p>
            <a:r>
              <a:rPr lang="en-GB" dirty="0">
                <a:solidFill>
                  <a:schemeClr val="tx1"/>
                </a:solidFill>
              </a:rPr>
              <a:t>o	Create WBS</a:t>
            </a:r>
          </a:p>
          <a:p>
            <a:r>
              <a:rPr lang="en-GB" dirty="0">
                <a:solidFill>
                  <a:schemeClr val="tx1"/>
                </a:solidFill>
              </a:rPr>
              <a:t>o	Validate Scope</a:t>
            </a:r>
          </a:p>
          <a:p>
            <a:r>
              <a:rPr lang="en-GB" dirty="0">
                <a:solidFill>
                  <a:schemeClr val="tx1"/>
                </a:solidFill>
              </a:rPr>
              <a:t>o	Control Scope</a:t>
            </a:r>
          </a:p>
          <a:p>
            <a:r>
              <a:rPr lang="en-GB" sz="2400" b="1" dirty="0">
                <a:solidFill>
                  <a:schemeClr val="tx1"/>
                </a:solidFill>
              </a:rPr>
              <a:t>Project Schedule Management</a:t>
            </a:r>
          </a:p>
          <a:p>
            <a:r>
              <a:rPr lang="en-GB" dirty="0">
                <a:solidFill>
                  <a:schemeClr val="tx1"/>
                </a:solidFill>
              </a:rPr>
              <a:t>o	Plan Schedule Management</a:t>
            </a:r>
          </a:p>
          <a:p>
            <a:r>
              <a:rPr lang="en-GB" dirty="0">
                <a:solidFill>
                  <a:schemeClr val="tx1"/>
                </a:solidFill>
              </a:rPr>
              <a:t>o	Define Activities</a:t>
            </a:r>
          </a:p>
          <a:p>
            <a:r>
              <a:rPr lang="en-GB" dirty="0">
                <a:solidFill>
                  <a:schemeClr val="tx1"/>
                </a:solidFill>
              </a:rPr>
              <a:t>o	Sequence Activities</a:t>
            </a:r>
          </a:p>
          <a:p>
            <a:r>
              <a:rPr lang="en-GB" dirty="0">
                <a:solidFill>
                  <a:schemeClr val="tx1"/>
                </a:solidFill>
              </a:rPr>
              <a:t>o	Estimate Activity Durations</a:t>
            </a:r>
          </a:p>
          <a:p>
            <a:r>
              <a:rPr lang="en-GB" dirty="0">
                <a:solidFill>
                  <a:schemeClr val="tx1"/>
                </a:solidFill>
              </a:rPr>
              <a:t>o	Develop Schedule</a:t>
            </a:r>
          </a:p>
          <a:p>
            <a:r>
              <a:rPr lang="en-GB" dirty="0">
                <a:solidFill>
                  <a:schemeClr val="tx1"/>
                </a:solidFill>
              </a:rPr>
              <a:t>o	Control Schedule</a:t>
            </a:r>
          </a:p>
        </p:txBody>
      </p:sp>
    </p:spTree>
    <p:extLst>
      <p:ext uri="{BB962C8B-B14F-4D97-AF65-F5344CB8AC3E}">
        <p14:creationId xmlns:p14="http://schemas.microsoft.com/office/powerpoint/2010/main" val="3222219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295400"/>
            <a:ext cx="4996180" cy="5416868"/>
          </a:xfrm>
        </p:spPr>
        <p:txBody>
          <a:bodyPr/>
          <a:lstStyle/>
          <a:p>
            <a:r>
              <a:rPr lang="en-GB" sz="2400" b="1" dirty="0">
                <a:solidFill>
                  <a:schemeClr val="tx1"/>
                </a:solidFill>
              </a:rPr>
              <a:t>Project Cost Management</a:t>
            </a:r>
          </a:p>
          <a:p>
            <a:r>
              <a:rPr lang="en-GB" dirty="0">
                <a:solidFill>
                  <a:schemeClr val="tx1"/>
                </a:solidFill>
              </a:rPr>
              <a:t>o	Plan Cost Management</a:t>
            </a:r>
          </a:p>
          <a:p>
            <a:r>
              <a:rPr lang="en-GB" dirty="0">
                <a:solidFill>
                  <a:schemeClr val="tx1"/>
                </a:solidFill>
              </a:rPr>
              <a:t>o	Estimate Costs</a:t>
            </a:r>
          </a:p>
          <a:p>
            <a:r>
              <a:rPr lang="en-GB" dirty="0">
                <a:solidFill>
                  <a:schemeClr val="tx1"/>
                </a:solidFill>
              </a:rPr>
              <a:t>o	Determine Budget</a:t>
            </a:r>
          </a:p>
          <a:p>
            <a:r>
              <a:rPr lang="en-GB" dirty="0">
                <a:solidFill>
                  <a:schemeClr val="tx1"/>
                </a:solidFill>
              </a:rPr>
              <a:t>o	Control Costs</a:t>
            </a:r>
          </a:p>
          <a:p>
            <a:r>
              <a:rPr lang="en-GB" sz="2400" b="1" dirty="0">
                <a:solidFill>
                  <a:schemeClr val="tx1"/>
                </a:solidFill>
              </a:rPr>
              <a:t>Project Quality Management</a:t>
            </a:r>
          </a:p>
          <a:p>
            <a:r>
              <a:rPr lang="en-GB" dirty="0">
                <a:solidFill>
                  <a:schemeClr val="tx1"/>
                </a:solidFill>
              </a:rPr>
              <a:t>o	Plan Quality Management</a:t>
            </a:r>
          </a:p>
          <a:p>
            <a:r>
              <a:rPr lang="en-GB" dirty="0">
                <a:solidFill>
                  <a:schemeClr val="tx1"/>
                </a:solidFill>
              </a:rPr>
              <a:t>o	Manage Quality</a:t>
            </a:r>
          </a:p>
          <a:p>
            <a:r>
              <a:rPr lang="en-GB" dirty="0">
                <a:solidFill>
                  <a:schemeClr val="tx1"/>
                </a:solidFill>
              </a:rPr>
              <a:t>o	Control Quality</a:t>
            </a:r>
          </a:p>
          <a:p>
            <a:r>
              <a:rPr lang="en-GB" sz="2400" b="1" dirty="0">
                <a:solidFill>
                  <a:schemeClr val="tx1"/>
                </a:solidFill>
              </a:rPr>
              <a:t>Project Resource Management</a:t>
            </a:r>
          </a:p>
          <a:p>
            <a:r>
              <a:rPr lang="en-GB" dirty="0">
                <a:solidFill>
                  <a:schemeClr val="tx1"/>
                </a:solidFill>
              </a:rPr>
              <a:t>o	Plan Resource Management</a:t>
            </a:r>
          </a:p>
          <a:p>
            <a:r>
              <a:rPr lang="en-GB" dirty="0">
                <a:solidFill>
                  <a:schemeClr val="tx1"/>
                </a:solidFill>
              </a:rPr>
              <a:t>o	Estimate Activity Resources</a:t>
            </a:r>
          </a:p>
          <a:p>
            <a:r>
              <a:rPr lang="en-GB" dirty="0">
                <a:solidFill>
                  <a:schemeClr val="tx1"/>
                </a:solidFill>
              </a:rPr>
              <a:t>o	Acquire Resources</a:t>
            </a:r>
          </a:p>
          <a:p>
            <a:r>
              <a:rPr lang="en-GB" dirty="0">
                <a:solidFill>
                  <a:schemeClr val="tx1"/>
                </a:solidFill>
              </a:rPr>
              <a:t>o	Develop Team</a:t>
            </a:r>
          </a:p>
          <a:p>
            <a:r>
              <a:rPr lang="en-GB" dirty="0">
                <a:solidFill>
                  <a:schemeClr val="tx1"/>
                </a:solidFill>
              </a:rPr>
              <a:t>o	Manage Team</a:t>
            </a:r>
          </a:p>
          <a:p>
            <a:r>
              <a:rPr lang="en-GB" dirty="0">
                <a:solidFill>
                  <a:schemeClr val="tx1"/>
                </a:solidFill>
              </a:rPr>
              <a:t>o	Control 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8316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95400"/>
            <a:ext cx="5699760" cy="470898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1"/>
                </a:solidFill>
                <a:latin typeface="+mn-lt"/>
              </a:rPr>
              <a:t>Project Communications Management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</a:rPr>
              <a:t>Plan Communications Management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</a:rPr>
              <a:t>Manage Communications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n-lt"/>
              </a:rPr>
              <a:t>Monitor Communications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+mn-lt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1"/>
                </a:solidFill>
                <a:latin typeface="+mn-lt"/>
              </a:rPr>
              <a:t>Project Risk Management</a:t>
            </a:r>
            <a:endParaRPr lang="en-GB" sz="2400" dirty="0">
              <a:solidFill>
                <a:schemeClr val="tx1"/>
              </a:solidFill>
              <a:latin typeface="+mn-lt"/>
            </a:endParaRP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Plan Risk Management</a:t>
            </a:r>
            <a:endParaRPr lang="en-GB" sz="2000" dirty="0">
              <a:solidFill>
                <a:schemeClr val="tx1"/>
              </a:solidFill>
            </a:endParaRP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Identify Risks</a:t>
            </a:r>
            <a:endParaRPr lang="en-GB" sz="2000" dirty="0">
              <a:solidFill>
                <a:schemeClr val="tx1"/>
              </a:solidFill>
            </a:endParaRP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Perform Qualitative Risk Analysis</a:t>
            </a:r>
            <a:endParaRPr lang="en-GB" sz="2000" dirty="0">
              <a:solidFill>
                <a:schemeClr val="tx1"/>
              </a:solidFill>
            </a:endParaRP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Perform Quantitative Risk Analysis</a:t>
            </a:r>
            <a:endParaRPr lang="en-GB" sz="2000" dirty="0">
              <a:solidFill>
                <a:schemeClr val="tx1"/>
              </a:solidFill>
            </a:endParaRP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Plan Risk Responses</a:t>
            </a:r>
            <a:endParaRPr lang="en-GB" sz="2000" dirty="0">
              <a:solidFill>
                <a:schemeClr val="tx1"/>
              </a:solidFill>
            </a:endParaRP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Implement Risk Responses</a:t>
            </a:r>
            <a:endParaRPr lang="en-GB" sz="2000" dirty="0">
              <a:solidFill>
                <a:schemeClr val="tx1"/>
              </a:solidFill>
            </a:endParaRP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Control Risks</a:t>
            </a:r>
            <a:endParaRPr lang="en-GB" sz="2000" dirty="0">
              <a:solidFill>
                <a:schemeClr val="tx1"/>
              </a:solidFill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890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905000"/>
            <a:ext cx="4996180" cy="3662541"/>
          </a:xfrm>
        </p:spPr>
        <p:txBody>
          <a:bodyPr/>
          <a:lstStyle/>
          <a:p>
            <a:pPr fontAlgn="base"/>
            <a:r>
              <a:rPr lang="en-US" b="1" dirty="0">
                <a:solidFill>
                  <a:schemeClr val="tx1"/>
                </a:solidFill>
              </a:rPr>
              <a:t>Project Procurement Management</a:t>
            </a:r>
            <a:endParaRPr lang="en-GB" sz="2400" dirty="0">
              <a:solidFill>
                <a:schemeClr val="tx1"/>
              </a:solidFill>
            </a:endParaRP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Plan Procurement Management</a:t>
            </a:r>
            <a:endParaRPr lang="en-GB" sz="2000" dirty="0">
              <a:solidFill>
                <a:schemeClr val="tx1"/>
              </a:solidFill>
            </a:endParaRP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Conduct Procurements</a:t>
            </a:r>
            <a:endParaRPr lang="en-GB" sz="2000" dirty="0">
              <a:solidFill>
                <a:schemeClr val="tx1"/>
              </a:solidFill>
            </a:endParaRP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Control Procurements</a:t>
            </a:r>
          </a:p>
          <a:p>
            <a:pPr lvl="1" fontAlgn="base"/>
            <a:endParaRPr lang="en-GB" sz="2000" dirty="0">
              <a:solidFill>
                <a:schemeClr val="tx1"/>
              </a:solidFill>
            </a:endParaRPr>
          </a:p>
          <a:p>
            <a:pPr fontAlgn="base"/>
            <a:r>
              <a:rPr lang="en-GB" b="1" dirty="0">
                <a:solidFill>
                  <a:schemeClr val="tx1"/>
                </a:solidFill>
              </a:rPr>
              <a:t>Project Stakeholder Management</a:t>
            </a:r>
            <a:endParaRPr lang="en-GB" sz="2800" dirty="0">
              <a:solidFill>
                <a:schemeClr val="tx1"/>
              </a:solidFill>
            </a:endParaRP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Identify Stakeholders</a:t>
            </a:r>
            <a:endParaRPr lang="en-GB" sz="2000" dirty="0">
              <a:solidFill>
                <a:schemeClr val="tx1"/>
              </a:solidFill>
            </a:endParaRP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Plan Stakeholder Engagement</a:t>
            </a:r>
            <a:endParaRPr lang="en-GB" sz="2000" dirty="0">
              <a:solidFill>
                <a:schemeClr val="tx1"/>
              </a:solidFill>
            </a:endParaRP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Manage Stakeholder Engagement</a:t>
            </a:r>
            <a:endParaRPr lang="en-GB" sz="2000" dirty="0">
              <a:solidFill>
                <a:schemeClr val="tx1"/>
              </a:solidFill>
            </a:endParaRPr>
          </a:p>
          <a:p>
            <a:pPr lvl="1" fontAlgn="base"/>
            <a:r>
              <a:rPr lang="en-US" dirty="0">
                <a:solidFill>
                  <a:schemeClr val="tx1"/>
                </a:solidFill>
              </a:rPr>
              <a:t>Monitor Stakeholder Engagement</a:t>
            </a:r>
            <a:endParaRPr lang="en-GB" sz="2000" dirty="0">
              <a:solidFill>
                <a:schemeClr val="tx1"/>
              </a:solidFill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28445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24053"/>
            <a:ext cx="5991225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/>
              <a:t>Project</a:t>
            </a:r>
            <a:r>
              <a:rPr spc="-25" dirty="0"/>
              <a:t> </a:t>
            </a:r>
            <a:r>
              <a:rPr spc="-5" dirty="0"/>
              <a:t>Management  </a:t>
            </a:r>
            <a:r>
              <a:rPr dirty="0"/>
              <a:t>Responsibility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7744" y="2380613"/>
            <a:ext cx="2581910" cy="96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accomplishing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a 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2044" y="3874313"/>
            <a:ext cx="3258820" cy="216027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spc="1340" dirty="0">
                <a:solidFill>
                  <a:srgbClr val="FFFFFF"/>
                </a:solidFill>
                <a:latin typeface="Wingdings"/>
                <a:cs typeface="Wingdings"/>
              </a:rPr>
              <a:t></a:t>
            </a:r>
            <a:r>
              <a:rPr sz="2800" b="1" spc="134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£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in budget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2800">
              <a:latin typeface="Arial"/>
              <a:cs typeface="Arial"/>
            </a:endParaRPr>
          </a:p>
          <a:p>
            <a:pPr marL="299085" marR="5080" indent="-287020">
              <a:lnSpc>
                <a:spcPct val="110100"/>
              </a:lnSpc>
              <a:spcBef>
                <a:spcPts val="665"/>
              </a:spcBef>
            </a:pPr>
            <a:r>
              <a:rPr sz="2800" spc="2360" dirty="0">
                <a:solidFill>
                  <a:srgbClr val="FFFFFF"/>
                </a:solidFill>
                <a:latin typeface="Wingdings"/>
                <a:cs typeface="Wingdings"/>
              </a:rPr>
              <a:t></a:t>
            </a:r>
            <a:r>
              <a:rPr sz="2800" spc="-3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specified 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standards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8038" y="5673649"/>
            <a:ext cx="2294890" cy="6959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50165" algn="ctr">
              <a:lnSpc>
                <a:spcPct val="100000"/>
              </a:lnSpc>
              <a:spcBef>
                <a:spcPts val="34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Triangle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76938" y="2246312"/>
            <a:ext cx="2768600" cy="2900680"/>
            <a:chOff x="5476938" y="2246312"/>
            <a:chExt cx="2768600" cy="2900680"/>
          </a:xfrm>
        </p:grpSpPr>
        <p:sp>
          <p:nvSpPr>
            <p:cNvPr id="7" name="object 7"/>
            <p:cNvSpPr/>
            <p:nvPr/>
          </p:nvSpPr>
          <p:spPr>
            <a:xfrm>
              <a:off x="5491226" y="2260600"/>
              <a:ext cx="2740025" cy="2872105"/>
            </a:xfrm>
            <a:custGeom>
              <a:avLst/>
              <a:gdLst/>
              <a:ahLst/>
              <a:cxnLst/>
              <a:rect l="l" t="t" r="r" b="b"/>
              <a:pathLst>
                <a:path w="2740025" h="2872104">
                  <a:moveTo>
                    <a:pt x="1369949" y="0"/>
                  </a:moveTo>
                  <a:lnTo>
                    <a:pt x="0" y="2871851"/>
                  </a:lnTo>
                  <a:lnTo>
                    <a:pt x="2740025" y="2871851"/>
                  </a:lnTo>
                  <a:lnTo>
                    <a:pt x="1369949" y="0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91226" y="2260600"/>
              <a:ext cx="2740025" cy="2872105"/>
            </a:xfrm>
            <a:custGeom>
              <a:avLst/>
              <a:gdLst/>
              <a:ahLst/>
              <a:cxnLst/>
              <a:rect l="l" t="t" r="r" b="b"/>
              <a:pathLst>
                <a:path w="2740025" h="2872104">
                  <a:moveTo>
                    <a:pt x="0" y="2871851"/>
                  </a:moveTo>
                  <a:lnTo>
                    <a:pt x="1369949" y="0"/>
                  </a:lnTo>
                  <a:lnTo>
                    <a:pt x="2740025" y="2871851"/>
                  </a:lnTo>
                  <a:lnTo>
                    <a:pt x="0" y="2871851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8028305" y="5275834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119761" y="0"/>
                </a:moveTo>
                <a:lnTo>
                  <a:pt x="71485" y="8508"/>
                </a:lnTo>
                <a:lnTo>
                  <a:pt x="33400" y="34543"/>
                </a:lnTo>
                <a:lnTo>
                  <a:pt x="8556" y="76660"/>
                </a:lnTo>
                <a:lnTo>
                  <a:pt x="0" y="132968"/>
                </a:lnTo>
                <a:lnTo>
                  <a:pt x="1837" y="161399"/>
                </a:lnTo>
                <a:lnTo>
                  <a:pt x="17752" y="208782"/>
                </a:lnTo>
                <a:lnTo>
                  <a:pt x="49212" y="242976"/>
                </a:lnTo>
                <a:lnTo>
                  <a:pt x="90741" y="260554"/>
                </a:lnTo>
                <a:lnTo>
                  <a:pt x="114935" y="262889"/>
                </a:lnTo>
                <a:lnTo>
                  <a:pt x="134512" y="261723"/>
                </a:lnTo>
                <a:lnTo>
                  <a:pt x="182625" y="243077"/>
                </a:lnTo>
                <a:lnTo>
                  <a:pt x="204661" y="218947"/>
                </a:lnTo>
                <a:lnTo>
                  <a:pt x="114680" y="218947"/>
                </a:lnTo>
                <a:lnTo>
                  <a:pt x="101441" y="217642"/>
                </a:lnTo>
                <a:lnTo>
                  <a:pt x="62243" y="186243"/>
                </a:lnTo>
                <a:lnTo>
                  <a:pt x="52831" y="129539"/>
                </a:lnTo>
                <a:lnTo>
                  <a:pt x="54096" y="108368"/>
                </a:lnTo>
                <a:lnTo>
                  <a:pt x="70866" y="63880"/>
                </a:lnTo>
                <a:lnTo>
                  <a:pt x="116840" y="43941"/>
                </a:lnTo>
                <a:lnTo>
                  <a:pt x="207746" y="43941"/>
                </a:lnTo>
                <a:lnTo>
                  <a:pt x="203426" y="37212"/>
                </a:lnTo>
                <a:lnTo>
                  <a:pt x="195325" y="28066"/>
                </a:lnTo>
                <a:lnTo>
                  <a:pt x="179750" y="15948"/>
                </a:lnTo>
                <a:lnTo>
                  <a:pt x="161972" y="7223"/>
                </a:lnTo>
                <a:lnTo>
                  <a:pt x="141980" y="1903"/>
                </a:lnTo>
                <a:lnTo>
                  <a:pt x="119761" y="0"/>
                </a:lnTo>
                <a:close/>
              </a:path>
              <a:path w="962025" h="266700">
                <a:moveTo>
                  <a:pt x="171450" y="165480"/>
                </a:moveTo>
                <a:lnTo>
                  <a:pt x="149987" y="206247"/>
                </a:lnTo>
                <a:lnTo>
                  <a:pt x="114680" y="218947"/>
                </a:lnTo>
                <a:lnTo>
                  <a:pt x="204661" y="218947"/>
                </a:lnTo>
                <a:lnTo>
                  <a:pt x="205581" y="217725"/>
                </a:lnTo>
                <a:lnTo>
                  <a:pt x="214272" y="201019"/>
                </a:lnTo>
                <a:lnTo>
                  <a:pt x="221106" y="181609"/>
                </a:lnTo>
                <a:lnTo>
                  <a:pt x="171450" y="165480"/>
                </a:lnTo>
                <a:close/>
              </a:path>
              <a:path w="962025" h="266700">
                <a:moveTo>
                  <a:pt x="207746" y="43941"/>
                </a:moveTo>
                <a:lnTo>
                  <a:pt x="116840" y="43941"/>
                </a:lnTo>
                <a:lnTo>
                  <a:pt x="126722" y="44678"/>
                </a:lnTo>
                <a:lnTo>
                  <a:pt x="135794" y="46878"/>
                </a:lnTo>
                <a:lnTo>
                  <a:pt x="167370" y="77485"/>
                </a:lnTo>
                <a:lnTo>
                  <a:pt x="170179" y="86867"/>
                </a:lnTo>
                <a:lnTo>
                  <a:pt x="221106" y="75056"/>
                </a:lnTo>
                <a:lnTo>
                  <a:pt x="216292" y="60696"/>
                </a:lnTo>
                <a:lnTo>
                  <a:pt x="210407" y="48085"/>
                </a:lnTo>
                <a:lnTo>
                  <a:pt x="207746" y="43941"/>
                </a:lnTo>
                <a:close/>
              </a:path>
              <a:path w="962025" h="266700">
                <a:moveTo>
                  <a:pt x="378460" y="1777"/>
                </a:moveTo>
                <a:lnTo>
                  <a:pt x="335954" y="7117"/>
                </a:lnTo>
                <a:lnTo>
                  <a:pt x="298289" y="26967"/>
                </a:lnTo>
                <a:lnTo>
                  <a:pt x="271466" y="59380"/>
                </a:lnTo>
                <a:lnTo>
                  <a:pt x="257762" y="98266"/>
                </a:lnTo>
                <a:lnTo>
                  <a:pt x="254660" y="134365"/>
                </a:lnTo>
                <a:lnTo>
                  <a:pt x="256540" y="162675"/>
                </a:lnTo>
                <a:lnTo>
                  <a:pt x="272923" y="210387"/>
                </a:lnTo>
                <a:lnTo>
                  <a:pt x="305522" y="244645"/>
                </a:lnTo>
                <a:lnTo>
                  <a:pt x="350480" y="262258"/>
                </a:lnTo>
                <a:lnTo>
                  <a:pt x="377317" y="264540"/>
                </a:lnTo>
                <a:lnTo>
                  <a:pt x="403937" y="262560"/>
                </a:lnTo>
                <a:lnTo>
                  <a:pt x="427783" y="256222"/>
                </a:lnTo>
                <a:lnTo>
                  <a:pt x="448843" y="245502"/>
                </a:lnTo>
                <a:lnTo>
                  <a:pt x="467105" y="230377"/>
                </a:lnTo>
                <a:lnTo>
                  <a:pt x="474607" y="220725"/>
                </a:lnTo>
                <a:lnTo>
                  <a:pt x="377444" y="220725"/>
                </a:lnTo>
                <a:lnTo>
                  <a:pt x="362797" y="219247"/>
                </a:lnTo>
                <a:lnTo>
                  <a:pt x="327025" y="198119"/>
                </a:lnTo>
                <a:lnTo>
                  <a:pt x="308611" y="152828"/>
                </a:lnTo>
                <a:lnTo>
                  <a:pt x="307467" y="132587"/>
                </a:lnTo>
                <a:lnTo>
                  <a:pt x="308848" y="111990"/>
                </a:lnTo>
                <a:lnTo>
                  <a:pt x="327278" y="67055"/>
                </a:lnTo>
                <a:lnTo>
                  <a:pt x="363515" y="46857"/>
                </a:lnTo>
                <a:lnTo>
                  <a:pt x="378587" y="45592"/>
                </a:lnTo>
                <a:lnTo>
                  <a:pt x="474477" y="45592"/>
                </a:lnTo>
                <a:lnTo>
                  <a:pt x="468122" y="37210"/>
                </a:lnTo>
                <a:lnTo>
                  <a:pt x="449933" y="21851"/>
                </a:lnTo>
                <a:lnTo>
                  <a:pt x="428910" y="10826"/>
                </a:lnTo>
                <a:lnTo>
                  <a:pt x="405078" y="4135"/>
                </a:lnTo>
                <a:lnTo>
                  <a:pt x="378460" y="1777"/>
                </a:lnTo>
                <a:close/>
              </a:path>
              <a:path w="962025" h="266700">
                <a:moveTo>
                  <a:pt x="474477" y="45592"/>
                </a:moveTo>
                <a:lnTo>
                  <a:pt x="378587" y="45592"/>
                </a:lnTo>
                <a:lnTo>
                  <a:pt x="393686" y="47041"/>
                </a:lnTo>
                <a:lnTo>
                  <a:pt x="407177" y="51180"/>
                </a:lnTo>
                <a:lnTo>
                  <a:pt x="437697" y="79654"/>
                </a:lnTo>
                <a:lnTo>
                  <a:pt x="448049" y="132587"/>
                </a:lnTo>
                <a:lnTo>
                  <a:pt x="447950" y="134365"/>
                </a:lnTo>
                <a:lnTo>
                  <a:pt x="436679" y="186596"/>
                </a:lnTo>
                <a:lnTo>
                  <a:pt x="405431" y="215391"/>
                </a:lnTo>
                <a:lnTo>
                  <a:pt x="377444" y="220725"/>
                </a:lnTo>
                <a:lnTo>
                  <a:pt x="474607" y="220725"/>
                </a:lnTo>
                <a:lnTo>
                  <a:pt x="481818" y="211447"/>
                </a:lnTo>
                <a:lnTo>
                  <a:pt x="492410" y="189134"/>
                </a:lnTo>
                <a:lnTo>
                  <a:pt x="498859" y="163441"/>
                </a:lnTo>
                <a:lnTo>
                  <a:pt x="501142" y="134365"/>
                </a:lnTo>
                <a:lnTo>
                  <a:pt x="499215" y="105005"/>
                </a:lnTo>
                <a:lnTo>
                  <a:pt x="493061" y="79025"/>
                </a:lnTo>
                <a:lnTo>
                  <a:pt x="482693" y="56427"/>
                </a:lnTo>
                <a:lnTo>
                  <a:pt x="474477" y="45592"/>
                </a:lnTo>
                <a:close/>
              </a:path>
              <a:path w="962025" h="266700">
                <a:moveTo>
                  <a:pt x="577469" y="173989"/>
                </a:moveTo>
                <a:lnTo>
                  <a:pt x="527558" y="178561"/>
                </a:lnTo>
                <a:lnTo>
                  <a:pt x="531248" y="198635"/>
                </a:lnTo>
                <a:lnTo>
                  <a:pt x="537559" y="216185"/>
                </a:lnTo>
                <a:lnTo>
                  <a:pt x="572228" y="253551"/>
                </a:lnTo>
                <a:lnTo>
                  <a:pt x="609133" y="264894"/>
                </a:lnTo>
                <a:lnTo>
                  <a:pt x="631825" y="266445"/>
                </a:lnTo>
                <a:lnTo>
                  <a:pt x="647727" y="265967"/>
                </a:lnTo>
                <a:lnTo>
                  <a:pt x="687197" y="257555"/>
                </a:lnTo>
                <a:lnTo>
                  <a:pt x="721741" y="229361"/>
                </a:lnTo>
                <a:lnTo>
                  <a:pt x="725240" y="223138"/>
                </a:lnTo>
                <a:lnTo>
                  <a:pt x="632714" y="223138"/>
                </a:lnTo>
                <a:lnTo>
                  <a:pt x="621597" y="222307"/>
                </a:lnTo>
                <a:lnTo>
                  <a:pt x="584215" y="195865"/>
                </a:lnTo>
                <a:lnTo>
                  <a:pt x="580253" y="185749"/>
                </a:lnTo>
                <a:lnTo>
                  <a:pt x="577469" y="173989"/>
                </a:lnTo>
                <a:close/>
              </a:path>
              <a:path w="962025" h="266700">
                <a:moveTo>
                  <a:pt x="630681" y="3428"/>
                </a:moveTo>
                <a:lnTo>
                  <a:pt x="591498" y="8126"/>
                </a:lnTo>
                <a:lnTo>
                  <a:pt x="554835" y="29583"/>
                </a:lnTo>
                <a:lnTo>
                  <a:pt x="538198" y="64007"/>
                </a:lnTo>
                <a:lnTo>
                  <a:pt x="537464" y="73659"/>
                </a:lnTo>
                <a:lnTo>
                  <a:pt x="538823" y="88213"/>
                </a:lnTo>
                <a:lnTo>
                  <a:pt x="560451" y="124967"/>
                </a:lnTo>
                <a:lnTo>
                  <a:pt x="599187" y="144970"/>
                </a:lnTo>
                <a:lnTo>
                  <a:pt x="632807" y="154281"/>
                </a:lnTo>
                <a:lnTo>
                  <a:pt x="644509" y="157448"/>
                </a:lnTo>
                <a:lnTo>
                  <a:pt x="681101" y="177291"/>
                </a:lnTo>
                <a:lnTo>
                  <a:pt x="682878" y="182371"/>
                </a:lnTo>
                <a:lnTo>
                  <a:pt x="682862" y="188594"/>
                </a:lnTo>
                <a:lnTo>
                  <a:pt x="654430" y="220662"/>
                </a:lnTo>
                <a:lnTo>
                  <a:pt x="632714" y="223138"/>
                </a:lnTo>
                <a:lnTo>
                  <a:pt x="725240" y="223138"/>
                </a:lnTo>
                <a:lnTo>
                  <a:pt x="727150" y="219741"/>
                </a:lnTo>
                <a:lnTo>
                  <a:pt x="731012" y="209740"/>
                </a:lnTo>
                <a:lnTo>
                  <a:pt x="733349" y="199358"/>
                </a:lnTo>
                <a:lnTo>
                  <a:pt x="734187" y="188594"/>
                </a:lnTo>
                <a:lnTo>
                  <a:pt x="733639" y="176996"/>
                </a:lnTo>
                <a:lnTo>
                  <a:pt x="718754" y="140245"/>
                </a:lnTo>
                <a:lnTo>
                  <a:pt x="686173" y="117236"/>
                </a:lnTo>
                <a:lnTo>
                  <a:pt x="624145" y="98875"/>
                </a:lnTo>
                <a:lnTo>
                  <a:pt x="610647" y="94503"/>
                </a:lnTo>
                <a:lnTo>
                  <a:pt x="600626" y="90251"/>
                </a:lnTo>
                <a:lnTo>
                  <a:pt x="594105" y="86105"/>
                </a:lnTo>
                <a:lnTo>
                  <a:pt x="589026" y="81787"/>
                </a:lnTo>
                <a:lnTo>
                  <a:pt x="586486" y="76580"/>
                </a:lnTo>
                <a:lnTo>
                  <a:pt x="586613" y="64007"/>
                </a:lnTo>
                <a:lnTo>
                  <a:pt x="629920" y="45846"/>
                </a:lnTo>
                <a:lnTo>
                  <a:pt x="718708" y="45846"/>
                </a:lnTo>
                <a:lnTo>
                  <a:pt x="713134" y="36323"/>
                </a:lnTo>
                <a:lnTo>
                  <a:pt x="702564" y="24891"/>
                </a:lnTo>
                <a:lnTo>
                  <a:pt x="689064" y="15609"/>
                </a:lnTo>
                <a:lnTo>
                  <a:pt x="672576" y="8921"/>
                </a:lnTo>
                <a:lnTo>
                  <a:pt x="653111" y="4853"/>
                </a:lnTo>
                <a:lnTo>
                  <a:pt x="630681" y="3428"/>
                </a:lnTo>
                <a:close/>
              </a:path>
              <a:path w="962025" h="266700">
                <a:moveTo>
                  <a:pt x="718708" y="45846"/>
                </a:moveTo>
                <a:lnTo>
                  <a:pt x="629920" y="45846"/>
                </a:lnTo>
                <a:lnTo>
                  <a:pt x="640016" y="46468"/>
                </a:lnTo>
                <a:lnTo>
                  <a:pt x="648779" y="48148"/>
                </a:lnTo>
                <a:lnTo>
                  <a:pt x="676275" y="82930"/>
                </a:lnTo>
                <a:lnTo>
                  <a:pt x="727583" y="81025"/>
                </a:lnTo>
                <a:lnTo>
                  <a:pt x="725656" y="64379"/>
                </a:lnTo>
                <a:lnTo>
                  <a:pt x="720836" y="49482"/>
                </a:lnTo>
                <a:lnTo>
                  <a:pt x="718708" y="45846"/>
                </a:lnTo>
                <a:close/>
              </a:path>
              <a:path w="962025" h="266700">
                <a:moveTo>
                  <a:pt x="759714" y="8635"/>
                </a:moveTo>
                <a:lnTo>
                  <a:pt x="759460" y="51561"/>
                </a:lnTo>
                <a:lnTo>
                  <a:pt x="834771" y="52069"/>
                </a:lnTo>
                <a:lnTo>
                  <a:pt x="833501" y="263270"/>
                </a:lnTo>
                <a:lnTo>
                  <a:pt x="884809" y="263651"/>
                </a:lnTo>
                <a:lnTo>
                  <a:pt x="886205" y="52450"/>
                </a:lnTo>
                <a:lnTo>
                  <a:pt x="961392" y="52450"/>
                </a:lnTo>
                <a:lnTo>
                  <a:pt x="961644" y="9905"/>
                </a:lnTo>
                <a:lnTo>
                  <a:pt x="759714" y="8635"/>
                </a:lnTo>
                <a:close/>
              </a:path>
              <a:path w="962025" h="266700">
                <a:moveTo>
                  <a:pt x="961392" y="52450"/>
                </a:moveTo>
                <a:lnTo>
                  <a:pt x="886205" y="52450"/>
                </a:lnTo>
                <a:lnTo>
                  <a:pt x="961390" y="52958"/>
                </a:lnTo>
                <a:lnTo>
                  <a:pt x="961392" y="5245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4540" y="1684782"/>
            <a:ext cx="812990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0">
              <a:lnSpc>
                <a:spcPts val="25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rgbClr val="FFCCFF"/>
                </a:solidFill>
                <a:latin typeface="Arial"/>
                <a:cs typeface="Arial"/>
              </a:rPr>
              <a:t>                Scope</a:t>
            </a:r>
            <a:endParaRPr sz="2400" dirty="0">
              <a:latin typeface="Arial"/>
              <a:cs typeface="Arial"/>
            </a:endParaRPr>
          </a:p>
          <a:p>
            <a:pPr marL="355600" indent="-343535">
              <a:lnSpc>
                <a:spcPts val="2980"/>
              </a:lnSpc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Actions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involved</a:t>
            </a:r>
            <a:r>
              <a:rPr sz="28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18351" y="2999232"/>
            <a:ext cx="1004569" cy="1231900"/>
            <a:chOff x="6618351" y="2999232"/>
            <a:chExt cx="1004569" cy="1231900"/>
          </a:xfrm>
        </p:grpSpPr>
        <p:sp>
          <p:nvSpPr>
            <p:cNvPr id="12" name="object 12"/>
            <p:cNvSpPr/>
            <p:nvPr/>
          </p:nvSpPr>
          <p:spPr>
            <a:xfrm>
              <a:off x="6624701" y="37670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44"/>
                  </a:lnTo>
                  <a:lnTo>
                    <a:pt x="139571" y="17966"/>
                  </a:lnTo>
                  <a:lnTo>
                    <a:pt x="100738" y="39045"/>
                  </a:lnTo>
                  <a:lnTo>
                    <a:pt x="66913" y="66960"/>
                  </a:lnTo>
                  <a:lnTo>
                    <a:pt x="39011" y="100793"/>
                  </a:lnTo>
                  <a:lnTo>
                    <a:pt x="17948" y="139624"/>
                  </a:lnTo>
                  <a:lnTo>
                    <a:pt x="4639" y="182533"/>
                  </a:lnTo>
                  <a:lnTo>
                    <a:pt x="0" y="228600"/>
                  </a:lnTo>
                  <a:lnTo>
                    <a:pt x="4639" y="274703"/>
                  </a:lnTo>
                  <a:lnTo>
                    <a:pt x="17948" y="317628"/>
                  </a:lnTo>
                  <a:lnTo>
                    <a:pt x="39011" y="356461"/>
                  </a:lnTo>
                  <a:lnTo>
                    <a:pt x="66913" y="390286"/>
                  </a:lnTo>
                  <a:lnTo>
                    <a:pt x="100738" y="418188"/>
                  </a:lnTo>
                  <a:lnTo>
                    <a:pt x="139571" y="439251"/>
                  </a:lnTo>
                  <a:lnTo>
                    <a:pt x="182496" y="452560"/>
                  </a:lnTo>
                  <a:lnTo>
                    <a:pt x="228600" y="457200"/>
                  </a:lnTo>
                  <a:lnTo>
                    <a:pt x="274666" y="452560"/>
                  </a:lnTo>
                  <a:lnTo>
                    <a:pt x="317575" y="439251"/>
                  </a:lnTo>
                  <a:lnTo>
                    <a:pt x="356406" y="418188"/>
                  </a:lnTo>
                  <a:lnTo>
                    <a:pt x="390239" y="390286"/>
                  </a:lnTo>
                  <a:lnTo>
                    <a:pt x="418154" y="356461"/>
                  </a:lnTo>
                  <a:lnTo>
                    <a:pt x="439233" y="317628"/>
                  </a:lnTo>
                  <a:lnTo>
                    <a:pt x="452555" y="274703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24701" y="37670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533"/>
                  </a:lnTo>
                  <a:lnTo>
                    <a:pt x="17948" y="139624"/>
                  </a:lnTo>
                  <a:lnTo>
                    <a:pt x="39011" y="100793"/>
                  </a:lnTo>
                  <a:lnTo>
                    <a:pt x="66913" y="66960"/>
                  </a:lnTo>
                  <a:lnTo>
                    <a:pt x="100738" y="39045"/>
                  </a:lnTo>
                  <a:lnTo>
                    <a:pt x="139571" y="17966"/>
                  </a:lnTo>
                  <a:lnTo>
                    <a:pt x="182496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703"/>
                  </a:lnTo>
                  <a:lnTo>
                    <a:pt x="439233" y="317628"/>
                  </a:lnTo>
                  <a:lnTo>
                    <a:pt x="418154" y="356461"/>
                  </a:lnTo>
                  <a:lnTo>
                    <a:pt x="390239" y="390286"/>
                  </a:lnTo>
                  <a:lnTo>
                    <a:pt x="356406" y="418188"/>
                  </a:lnTo>
                  <a:lnTo>
                    <a:pt x="317575" y="439251"/>
                  </a:lnTo>
                  <a:lnTo>
                    <a:pt x="274666" y="452560"/>
                  </a:lnTo>
                  <a:lnTo>
                    <a:pt x="228600" y="457200"/>
                  </a:lnTo>
                  <a:lnTo>
                    <a:pt x="182496" y="452560"/>
                  </a:lnTo>
                  <a:lnTo>
                    <a:pt x="139571" y="439251"/>
                  </a:lnTo>
                  <a:lnTo>
                    <a:pt x="100738" y="418188"/>
                  </a:lnTo>
                  <a:lnTo>
                    <a:pt x="66913" y="390286"/>
                  </a:lnTo>
                  <a:lnTo>
                    <a:pt x="39011" y="356461"/>
                  </a:lnTo>
                  <a:lnTo>
                    <a:pt x="17948" y="317628"/>
                  </a:lnTo>
                  <a:lnTo>
                    <a:pt x="4639" y="274703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05574" y="2999232"/>
              <a:ext cx="617220" cy="768350"/>
            </a:xfrm>
            <a:custGeom>
              <a:avLst/>
              <a:gdLst/>
              <a:ahLst/>
              <a:cxnLst/>
              <a:rect l="l" t="t" r="r" b="b"/>
              <a:pathLst>
                <a:path w="617220" h="768350">
                  <a:moveTo>
                    <a:pt x="17906" y="684656"/>
                  </a:moveTo>
                  <a:lnTo>
                    <a:pt x="0" y="767841"/>
                  </a:lnTo>
                  <a:lnTo>
                    <a:pt x="77470" y="732154"/>
                  </a:lnTo>
                  <a:lnTo>
                    <a:pt x="67595" y="724280"/>
                  </a:lnTo>
                  <a:lnTo>
                    <a:pt x="47117" y="724280"/>
                  </a:lnTo>
                  <a:lnTo>
                    <a:pt x="32257" y="712342"/>
                  </a:lnTo>
                  <a:lnTo>
                    <a:pt x="40191" y="702427"/>
                  </a:lnTo>
                  <a:lnTo>
                    <a:pt x="17906" y="684656"/>
                  </a:lnTo>
                  <a:close/>
                </a:path>
                <a:path w="617220" h="768350">
                  <a:moveTo>
                    <a:pt x="40191" y="702427"/>
                  </a:moveTo>
                  <a:lnTo>
                    <a:pt x="32257" y="712342"/>
                  </a:lnTo>
                  <a:lnTo>
                    <a:pt x="47117" y="724280"/>
                  </a:lnTo>
                  <a:lnTo>
                    <a:pt x="55093" y="714310"/>
                  </a:lnTo>
                  <a:lnTo>
                    <a:pt x="40191" y="702427"/>
                  </a:lnTo>
                  <a:close/>
                </a:path>
                <a:path w="617220" h="768350">
                  <a:moveTo>
                    <a:pt x="55093" y="714310"/>
                  </a:moveTo>
                  <a:lnTo>
                    <a:pt x="47117" y="724280"/>
                  </a:lnTo>
                  <a:lnTo>
                    <a:pt x="67595" y="724280"/>
                  </a:lnTo>
                  <a:lnTo>
                    <a:pt x="55093" y="714310"/>
                  </a:lnTo>
                  <a:close/>
                </a:path>
                <a:path w="617220" h="768350">
                  <a:moveTo>
                    <a:pt x="602233" y="0"/>
                  </a:moveTo>
                  <a:lnTo>
                    <a:pt x="40191" y="702427"/>
                  </a:lnTo>
                  <a:lnTo>
                    <a:pt x="55093" y="714310"/>
                  </a:lnTo>
                  <a:lnTo>
                    <a:pt x="617093" y="11810"/>
                  </a:lnTo>
                  <a:lnTo>
                    <a:pt x="6022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698740" y="2578354"/>
            <a:ext cx="11887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Preference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35778" y="5149341"/>
            <a:ext cx="873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CCFF"/>
                </a:solidFill>
                <a:latin typeface="Arial"/>
                <a:cs typeface="Arial"/>
              </a:rPr>
              <a:t>TIME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" y="0"/>
            <a:ext cx="9153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26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85051" y="5110162"/>
            <a:ext cx="2190750" cy="1571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540" y="324053"/>
            <a:ext cx="5991225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80"/>
              </a:spcBef>
            </a:pPr>
            <a:r>
              <a:rPr dirty="0"/>
              <a:t>Project</a:t>
            </a:r>
            <a:r>
              <a:rPr spc="-25" dirty="0"/>
              <a:t> </a:t>
            </a:r>
            <a:r>
              <a:rPr spc="-5" dirty="0"/>
              <a:t>Management  Success</a:t>
            </a:r>
            <a:r>
              <a:rPr spc="50" dirty="0"/>
              <a:t> </a:t>
            </a:r>
            <a:r>
              <a:rPr spc="-5" dirty="0"/>
              <a:t>Factors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219" y="1801723"/>
            <a:ext cx="7219950" cy="386715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0"/>
              </a:spcBef>
              <a:buFont typeface="Wingdings"/>
              <a:buChar char=""/>
              <a:tabLst>
                <a:tab pos="354965" algn="l"/>
                <a:tab pos="355600" algn="l"/>
                <a:tab pos="3470275" algn="l"/>
                <a:tab pos="4429125" algn="l"/>
              </a:tabLst>
            </a:pP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define</a:t>
            </a:r>
            <a:r>
              <a:rPr sz="2000" b="1" i="1" spc="-15" dirty="0">
                <a:solidFill>
                  <a:srgbClr val="FFD599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project</a:t>
            </a:r>
            <a:r>
              <a:rPr sz="2000" b="1" i="1" spc="-5" dirty="0">
                <a:solidFill>
                  <a:srgbClr val="FFD599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objectives	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-clearly	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phases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risks </a:t>
            </a:r>
            <a:r>
              <a:rPr sz="2000" dirty="0">
                <a:solidFill>
                  <a:srgbClr val="FFD599"/>
                </a:solidFill>
                <a:latin typeface="Arial"/>
                <a:cs typeface="Arial"/>
              </a:rPr>
              <a:t>–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identify, assess and</a:t>
            </a:r>
            <a:r>
              <a:rPr sz="20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assign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10100"/>
              </a:lnSpc>
              <a:spcBef>
                <a:spcPts val="475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timely decision making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 agree / signing off designs /</a:t>
            </a:r>
            <a:r>
              <a:rPr sz="2000" spc="-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plans  prior to the project production phase</a:t>
            </a:r>
            <a:r>
              <a:rPr sz="2000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initiating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project planning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 allocate appropriate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time &amp; money</a:t>
            </a:r>
            <a:r>
              <a:rPr sz="2000" b="1" i="1" spc="-40" dirty="0">
                <a:solidFill>
                  <a:srgbClr val="FFD5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354965" algn="l"/>
                <a:tab pos="355600" algn="l"/>
                <a:tab pos="3583940" algn="l"/>
              </a:tabLst>
            </a:pP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project team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 have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build	a committed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Wingdings"/>
              <a:buChar char=""/>
              <a:tabLst>
                <a:tab pos="354965" algn="l"/>
                <a:tab pos="355600" algn="l"/>
                <a:tab pos="1355090" algn="l"/>
              </a:tabLst>
            </a:pP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control	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- consider resource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requirement</a:t>
            </a:r>
            <a:endParaRPr sz="2000">
              <a:latin typeface="Arial"/>
              <a:cs typeface="Arial"/>
            </a:endParaRPr>
          </a:p>
          <a:p>
            <a:pPr marL="355600" marR="41910" indent="-342900">
              <a:lnSpc>
                <a:spcPct val="110000"/>
              </a:lnSpc>
              <a:spcBef>
                <a:spcPts val="480"/>
              </a:spcBef>
              <a:buFont typeface="Wingdings"/>
              <a:buChar char="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organisational learning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 capture and disseminate</a:t>
            </a:r>
            <a:r>
              <a:rPr sz="20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learning  from other projects</a:t>
            </a:r>
            <a:r>
              <a:rPr sz="20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experience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780033"/>
            <a:ext cx="4002404" cy="92836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ts val="3260"/>
              </a:lnSpc>
              <a:spcBef>
                <a:spcPts val="695"/>
              </a:spcBef>
            </a:pPr>
            <a:r>
              <a:rPr sz="3200" dirty="0"/>
              <a:t>Project</a:t>
            </a:r>
            <a:r>
              <a:rPr sz="3200" spc="-90" dirty="0"/>
              <a:t> </a:t>
            </a:r>
            <a:r>
              <a:rPr sz="3200" dirty="0"/>
              <a:t>Management  Success</a:t>
            </a:r>
            <a:r>
              <a:rPr sz="3200" spc="-35" dirty="0"/>
              <a:t> </a:t>
            </a:r>
            <a:r>
              <a:rPr sz="3200" dirty="0"/>
              <a:t>Factors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26440" y="1981657"/>
            <a:ext cx="7477759" cy="3562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" indent="-343535">
              <a:lnSpc>
                <a:spcPct val="110000"/>
              </a:lnSpc>
              <a:spcBef>
                <a:spcPts val="100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contract strategy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 consider whether contracts to be used</a:t>
            </a:r>
            <a:r>
              <a:rPr sz="2000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can 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motivate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 identify risks / and reward processes should be  made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explicit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D599"/>
              </a:buClr>
              <a:buFont typeface="Wingdings"/>
              <a:buChar char=""/>
            </a:pPr>
            <a:endParaRPr sz="1750">
              <a:latin typeface="Arial"/>
              <a:cs typeface="Arial"/>
            </a:endParaRPr>
          </a:p>
          <a:p>
            <a:pPr marL="355600" marR="330835" indent="-343535">
              <a:lnSpc>
                <a:spcPct val="110000"/>
              </a:lnSpc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external environment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 ensure that all decision makers</a:t>
            </a:r>
            <a:r>
              <a:rPr sz="2000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are  aware of and can accommodate change caused by market  circumstances, clients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etc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D599"/>
              </a:buClr>
              <a:buFont typeface="Wingdings"/>
              <a:buChar char=""/>
            </a:pPr>
            <a:endParaRPr sz="1750">
              <a:latin typeface="Arial"/>
              <a:cs typeface="Arial"/>
            </a:endParaRPr>
          </a:p>
          <a:p>
            <a:pPr marL="355600" marR="5080" indent="-343535">
              <a:lnSpc>
                <a:spcPct val="110100"/>
              </a:lnSpc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2000" b="1" i="1" dirty="0">
                <a:solidFill>
                  <a:srgbClr val="FFD599"/>
                </a:solidFill>
                <a:latin typeface="Arial"/>
                <a:cs typeface="Arial"/>
              </a:rPr>
              <a:t>personal development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– ensure resource was made</a:t>
            </a:r>
            <a:r>
              <a:rPr sz="2000" spc="-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available  for training, team building, performance appraisal, personal  reflection and professional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4540" y="34543"/>
            <a:ext cx="7922260" cy="2215991"/>
          </a:xfrm>
        </p:spPr>
        <p:txBody>
          <a:bodyPr/>
          <a:lstStyle/>
          <a:p>
            <a:r>
              <a:rPr lang="en-GB" dirty="0"/>
              <a:t>Importance of</a:t>
            </a:r>
            <a:r>
              <a:rPr lang="en-GB" spc="-45" dirty="0"/>
              <a:t> </a:t>
            </a:r>
            <a:r>
              <a:rPr lang="en-GB" dirty="0"/>
              <a:t>Project 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1" y="1524000"/>
            <a:ext cx="84582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Meet business objectives;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Satisfy stakeholder expectations;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Increase chances of success;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Deliver the right products at the right time;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Resolve problems and issues;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Respond to risks in a timely manner;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Optimize the use of organizational resources;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Identify, recover, or terminate failing projects;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Manage constraints (e.g., scope, quality, schedule, costs, resources);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Balance the influence of constraints on the project (e.g., increased scope may increase cost or schedule);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Manage change in a better manner.</a:t>
            </a:r>
          </a:p>
        </p:txBody>
      </p:sp>
    </p:spTree>
    <p:extLst>
      <p:ext uri="{BB962C8B-B14F-4D97-AF65-F5344CB8AC3E}">
        <p14:creationId xmlns:p14="http://schemas.microsoft.com/office/powerpoint/2010/main" val="11309335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52958"/>
            <a:ext cx="6036310" cy="115316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>
              <a:lnSpc>
                <a:spcPts val="4079"/>
              </a:lnSpc>
              <a:spcBef>
                <a:spcPts val="830"/>
              </a:spcBef>
            </a:pPr>
            <a:r>
              <a:rPr sz="4000" spc="-5" dirty="0"/>
              <a:t>The Project</a:t>
            </a:r>
            <a:r>
              <a:rPr sz="4000" spc="-25" dirty="0"/>
              <a:t> </a:t>
            </a:r>
            <a:r>
              <a:rPr sz="4000" spc="-5" dirty="0"/>
              <a:t>Management  Standards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83742" y="2070441"/>
            <a:ext cx="1804670" cy="284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Project 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man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ment  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practice is  anchored on  national and  international  standards.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92400" y="1828800"/>
            <a:ext cx="6076950" cy="49910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5047" y="1829257"/>
            <a:ext cx="4698365" cy="1366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  <a:spcBef>
                <a:spcPts val="100"/>
              </a:spcBef>
            </a:pP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Standard Vs Regulations</a:t>
            </a:r>
          </a:p>
          <a:p>
            <a:pPr marL="12700" marR="5080" algn="just">
              <a:lnSpc>
                <a:spcPct val="110000"/>
              </a:lnSpc>
              <a:spcBef>
                <a:spcPts val="100"/>
              </a:spcBef>
            </a:pPr>
            <a:endParaRPr lang="en-GB" sz="20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10000"/>
              </a:lnSpc>
              <a:spcBef>
                <a:spcPts val="100"/>
              </a:spcBef>
            </a:pP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Major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standards used for</a:t>
            </a:r>
            <a:r>
              <a:rPr sz="20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project management  practice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0965" y="3486316"/>
            <a:ext cx="4955540" cy="1617751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469265" algn="l"/>
              </a:tabLst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1.	</a:t>
            </a:r>
            <a:r>
              <a:rPr lang="en-GB" sz="2000" b="1" dirty="0">
                <a:solidFill>
                  <a:srgbClr val="FFFFFF"/>
                </a:solidFill>
                <a:latin typeface="Arial"/>
                <a:cs typeface="Arial"/>
              </a:rPr>
              <a:t>PMI PMBOK</a:t>
            </a:r>
          </a:p>
          <a:p>
            <a:pPr marL="12700">
              <a:spcBef>
                <a:spcPts val="815"/>
              </a:spcBef>
              <a:tabLst>
                <a:tab pos="469265" algn="l"/>
              </a:tabLst>
            </a:pPr>
            <a:r>
              <a:rPr lang="en-GB" sz="2000" b="1" dirty="0">
                <a:solidFill>
                  <a:srgbClr val="FFFFFF"/>
                </a:solidFill>
                <a:latin typeface="Arial"/>
                <a:cs typeface="Arial"/>
              </a:rPr>
              <a:t>2.	BS</a:t>
            </a:r>
            <a:r>
              <a:rPr lang="en-GB" sz="2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2000" b="1" dirty="0">
                <a:solidFill>
                  <a:srgbClr val="FFFFFF"/>
                </a:solidFill>
                <a:latin typeface="Arial"/>
                <a:cs typeface="Arial"/>
              </a:rPr>
              <a:t>6079</a:t>
            </a:r>
            <a:endParaRPr lang="en-GB"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469265" algn="l"/>
              </a:tabLst>
            </a:pPr>
            <a:r>
              <a:rPr lang="en-GB" sz="20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.	ISO10006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469265" algn="l"/>
                <a:tab pos="469900" algn="l"/>
              </a:tabLst>
            </a:pPr>
            <a:r>
              <a:rPr lang="en-GB" sz="2000" b="1" dirty="0">
                <a:solidFill>
                  <a:srgbClr val="FFFFFF"/>
                </a:solidFill>
                <a:latin typeface="Arial"/>
                <a:cs typeface="Arial"/>
              </a:rPr>
              <a:t>4.  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APM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Body of</a:t>
            </a:r>
            <a:r>
              <a:rPr sz="2000" i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52958"/>
            <a:ext cx="5872480" cy="115316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>
              <a:lnSpc>
                <a:spcPts val="4079"/>
              </a:lnSpc>
              <a:spcBef>
                <a:spcPts val="830"/>
              </a:spcBef>
            </a:pPr>
            <a:r>
              <a:rPr sz="4000" spc="-5" dirty="0"/>
              <a:t>APM - </a:t>
            </a:r>
            <a:r>
              <a:rPr sz="4000" spc="-10" dirty="0"/>
              <a:t>Handbook </a:t>
            </a:r>
            <a:r>
              <a:rPr sz="4000" spc="-5" dirty="0"/>
              <a:t>for  Project Managers</a:t>
            </a:r>
            <a:r>
              <a:rPr sz="4000" spc="10" dirty="0"/>
              <a:t> </a:t>
            </a:r>
            <a:r>
              <a:rPr sz="4000" spc="-5" dirty="0"/>
              <a:t>(2004)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764540" y="1767992"/>
            <a:ext cx="3034029" cy="485709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Project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context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Programme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management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Cultural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influences</a:t>
            </a: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Project success</a:t>
            </a:r>
            <a:r>
              <a:rPr spc="-4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criteria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b="1" spc="-5" dirty="0">
                <a:solidFill>
                  <a:schemeClr val="tx1"/>
                </a:solidFill>
                <a:latin typeface="Arial"/>
                <a:cs typeface="Arial"/>
              </a:rPr>
              <a:t>Strategic Project Plan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Value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Management</a:t>
            </a: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Risk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management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Quality Management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Health, Safety &amp;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Environment</a:t>
            </a: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Hand-over management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Configuration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management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Financial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Management</a:t>
            </a: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Procurement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Earned Value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Management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chemeClr val="tx1"/>
                </a:solidFill>
              </a:rPr>
              <a:t>Design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 marR="5080">
              <a:lnSpc>
                <a:spcPct val="130000"/>
              </a:lnSpc>
              <a:spcBef>
                <a:spcPts val="100"/>
              </a:spcBef>
            </a:pPr>
            <a:r>
              <a:rPr spc="-5" dirty="0">
                <a:solidFill>
                  <a:schemeClr val="tx1"/>
                </a:solidFill>
              </a:rPr>
              <a:t>Life </a:t>
            </a:r>
            <a:r>
              <a:rPr spc="-10" dirty="0">
                <a:solidFill>
                  <a:schemeClr val="tx1"/>
                </a:solidFill>
              </a:rPr>
              <a:t>Cycle </a:t>
            </a:r>
            <a:r>
              <a:rPr spc="-5" dirty="0">
                <a:solidFill>
                  <a:schemeClr val="tx1"/>
                </a:solidFill>
              </a:rPr>
              <a:t>Design Management  Post Project Evaluation Review  Organisational structures  Communication</a:t>
            </a:r>
          </a:p>
          <a:p>
            <a:pPr marL="58419">
              <a:lnSpc>
                <a:spcPct val="100000"/>
              </a:lnSpc>
              <a:spcBef>
                <a:spcPts val="575"/>
              </a:spcBef>
            </a:pPr>
            <a:r>
              <a:rPr spc="-5" dirty="0">
                <a:solidFill>
                  <a:schemeClr val="tx1"/>
                </a:solidFill>
              </a:rPr>
              <a:t>Teamwork</a:t>
            </a:r>
          </a:p>
          <a:p>
            <a:pPr marL="58419" marR="909319">
              <a:lnSpc>
                <a:spcPct val="130000"/>
              </a:lnSpc>
            </a:pPr>
            <a:r>
              <a:rPr spc="-5" dirty="0">
                <a:solidFill>
                  <a:schemeClr val="tx1"/>
                </a:solidFill>
              </a:rPr>
              <a:t>Project Leadership  Conflict</a:t>
            </a:r>
            <a:r>
              <a:rPr spc="-5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Management</a:t>
            </a:r>
          </a:p>
          <a:p>
            <a:pPr marL="15875" marR="83185" indent="41910">
              <a:lnSpc>
                <a:spcPct val="130000"/>
              </a:lnSpc>
            </a:pPr>
            <a:r>
              <a:rPr spc="-5" dirty="0">
                <a:solidFill>
                  <a:schemeClr val="tx1"/>
                </a:solidFill>
              </a:rPr>
              <a:t>Human resource management  Work Content &amp; Scope Mgnt  Time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Scheduling</a:t>
            </a:r>
          </a:p>
          <a:p>
            <a:pPr marL="49530" marR="283845" indent="-2540">
              <a:lnSpc>
                <a:spcPct val="130000"/>
              </a:lnSpc>
            </a:pPr>
            <a:r>
              <a:rPr spc="-5" dirty="0">
                <a:solidFill>
                  <a:schemeClr val="tx1"/>
                </a:solidFill>
              </a:rPr>
              <a:t>Resource Management  Budget &amp; Cost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Management</a:t>
            </a:r>
          </a:p>
          <a:p>
            <a:pPr marL="12700" marR="614045" indent="3810">
              <a:lnSpc>
                <a:spcPct val="130000"/>
              </a:lnSpc>
              <a:spcBef>
                <a:spcPts val="5"/>
              </a:spcBef>
            </a:pPr>
            <a:r>
              <a:rPr spc="-5" dirty="0">
                <a:solidFill>
                  <a:schemeClr val="tx1"/>
                </a:solidFill>
              </a:rPr>
              <a:t>Change Control  Information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Management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946150"/>
            <a:ext cx="47726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Project</a:t>
            </a:r>
            <a:r>
              <a:rPr dirty="0"/>
              <a:t> </a:t>
            </a:r>
            <a:r>
              <a:rPr spc="-5" dirty="0"/>
              <a:t>Manager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7744" y="2005406"/>
            <a:ext cx="6539865" cy="32335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844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Increasingly,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project manager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is 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specifically qualified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experienced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in 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management.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05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He or she is in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charge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of the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project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team 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responsible for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successful  conclusion of </a:t>
            </a:r>
            <a:r>
              <a:rPr sz="280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project.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71117"/>
            <a:ext cx="39484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Project</a:t>
            </a:r>
            <a:r>
              <a:rPr sz="4000" spc="-40" dirty="0"/>
              <a:t> </a:t>
            </a:r>
            <a:r>
              <a:rPr sz="4000" spc="-5" dirty="0"/>
              <a:t>Sponsor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1829257"/>
            <a:ext cx="7527925" cy="295920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40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BS6079 indicates that this is an individual or body for 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whom</a:t>
            </a:r>
            <a:r>
              <a:rPr sz="20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project is undertaken and who is the main risk</a:t>
            </a:r>
            <a:r>
              <a:rPr sz="2000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taker.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310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project sponsor can be thought of as the client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organisation</a:t>
            </a:r>
            <a:endParaRPr sz="20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40"/>
              </a:spcBef>
            </a:pP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(s)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 dirty="0">
              <a:latin typeface="Arial"/>
              <a:cs typeface="Arial"/>
            </a:endParaRPr>
          </a:p>
          <a:p>
            <a:pPr marL="355600" marR="143510" indent="-343535">
              <a:lnSpc>
                <a:spcPct val="110000"/>
              </a:lnSpc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can also be the individual representing the client organisation</a:t>
            </a:r>
            <a:r>
              <a:rPr sz="20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/  sponsoring body and to 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whom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 project manager</a:t>
            </a:r>
            <a:r>
              <a:rPr sz="20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reports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71117"/>
            <a:ext cx="5502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Stakeholders &amp;</a:t>
            </a:r>
            <a:r>
              <a:rPr sz="4000" spc="-10" dirty="0"/>
              <a:t> </a:t>
            </a:r>
            <a:r>
              <a:rPr sz="4000" spc="-5" dirty="0"/>
              <a:t>Others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1739773"/>
            <a:ext cx="7538720" cy="2967736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50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Are those 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who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have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potential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influence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course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project.</a:t>
            </a:r>
            <a:endParaRPr sz="1800" dirty="0">
              <a:latin typeface="Arial"/>
              <a:cs typeface="Arial"/>
            </a:endParaRPr>
          </a:p>
          <a:p>
            <a:pPr marL="355600" marR="119380" indent="-343535">
              <a:lnSpc>
                <a:spcPct val="110000"/>
              </a:lnSpc>
              <a:spcBef>
                <a:spcPts val="434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They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can be members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of the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project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team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and so be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direct parties 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contract.</a:t>
            </a:r>
            <a:endParaRPr sz="1800" dirty="0">
              <a:latin typeface="Arial"/>
              <a:cs typeface="Arial"/>
            </a:endParaRPr>
          </a:p>
          <a:p>
            <a:pPr marL="355600" marR="41910" indent="-343535">
              <a:lnSpc>
                <a:spcPct val="110000"/>
              </a:lnSpc>
              <a:spcBef>
                <a:spcPts val="430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Can also be indirect in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they are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part of the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community in 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project is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situated.</a:t>
            </a:r>
            <a:endParaRPr sz="1800" dirty="0">
              <a:latin typeface="Arial"/>
              <a:cs typeface="Arial"/>
            </a:endParaRPr>
          </a:p>
          <a:p>
            <a:pPr marL="355600" marR="5080" indent="-343535">
              <a:lnSpc>
                <a:spcPct val="110000"/>
              </a:lnSpc>
              <a:spcBef>
                <a:spcPts val="434"/>
              </a:spcBef>
              <a:buFont typeface="Wingdings"/>
              <a:buChar char=""/>
              <a:tabLst>
                <a:tab pos="355600" algn="l"/>
                <a:tab pos="356235" algn="l"/>
              </a:tabLst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 statutory /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planning system in place in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project location can also  be indirect stakeholders in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they can have influence over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project.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Wingdings"/>
              <a:buChar char=""/>
            </a:pP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3375</TotalTime>
  <Words>2474</Words>
  <Application>Microsoft Office PowerPoint</Application>
  <PresentationFormat>On-screen Show (4:3)</PresentationFormat>
  <Paragraphs>477</Paragraphs>
  <Slides>42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Arial Black</vt:lpstr>
      <vt:lpstr>Calibri</vt:lpstr>
      <vt:lpstr>Times New Roman</vt:lpstr>
      <vt:lpstr>Wingdings</vt:lpstr>
      <vt:lpstr>Office Theme</vt:lpstr>
      <vt:lpstr>  </vt:lpstr>
      <vt:lpstr>  MSP 750 – Project Management Principles and Practices</vt:lpstr>
      <vt:lpstr>Students Introduction</vt:lpstr>
      <vt:lpstr>Instructor </vt:lpstr>
      <vt:lpstr>Aims</vt:lpstr>
      <vt:lpstr>Recommended  Core Texts</vt:lpstr>
      <vt:lpstr>Recommended Texts  for background  reading</vt:lpstr>
      <vt:lpstr>Assessment</vt:lpstr>
      <vt:lpstr>Time  Management</vt:lpstr>
      <vt:lpstr>Week 1</vt:lpstr>
      <vt:lpstr> The Concept of Project  Management</vt:lpstr>
      <vt:lpstr>Features</vt:lpstr>
      <vt:lpstr> The history of project  management</vt:lpstr>
      <vt:lpstr> The history of project  management</vt:lpstr>
      <vt:lpstr> Pyramids of Giza,</vt:lpstr>
      <vt:lpstr>Pyramids of Giza</vt:lpstr>
      <vt:lpstr> The history of project  management</vt:lpstr>
      <vt:lpstr>1.2 The history of project  management</vt:lpstr>
      <vt:lpstr>What is a project?</vt:lpstr>
      <vt:lpstr>What is a project?</vt:lpstr>
      <vt:lpstr>What is a project?</vt:lpstr>
      <vt:lpstr>Examples of  projects</vt:lpstr>
      <vt:lpstr>Project Initiation Context</vt:lpstr>
      <vt:lpstr>WHAT DOES A  PROJECT INVOLVE?</vt:lpstr>
      <vt:lpstr>Group Activity</vt:lpstr>
      <vt:lpstr>Group Activity</vt:lpstr>
      <vt:lpstr>Group Activity</vt:lpstr>
      <vt:lpstr>What is Project  Management?</vt:lpstr>
      <vt:lpstr>PMBOK 6TH ed, PMI Knowledge Areas</vt:lpstr>
      <vt:lpstr>PowerPoint Presentation</vt:lpstr>
      <vt:lpstr>PowerPoint Presentation</vt:lpstr>
      <vt:lpstr>PowerPoint Presentation</vt:lpstr>
      <vt:lpstr>Project Management  Responsibility</vt:lpstr>
      <vt:lpstr>PowerPoint Presentation</vt:lpstr>
      <vt:lpstr>Project Management  Success Factors</vt:lpstr>
      <vt:lpstr>Project Management  Success Factors</vt:lpstr>
      <vt:lpstr>Importance of Project  Management</vt:lpstr>
      <vt:lpstr>The Project Management  Standards</vt:lpstr>
      <vt:lpstr>APM - Handbook for  Project Managers (2004)</vt:lpstr>
      <vt:lpstr>Project Manager</vt:lpstr>
      <vt:lpstr>Project Sponsor</vt:lpstr>
      <vt:lpstr>Stakeholders &amp; Others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Heriot Watt Administration</dc:creator>
  <cp:lastModifiedBy>sajid mahmood BUKC</cp:lastModifiedBy>
  <cp:revision>71</cp:revision>
  <dcterms:created xsi:type="dcterms:W3CDTF">2020-01-30T12:39:45Z</dcterms:created>
  <dcterms:modified xsi:type="dcterms:W3CDTF">2025-08-30T08:14:14Z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2014-11-19T00:00:00Z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2020-01-30T00:00:00Z</vt:filetime>
  </property>
</Properties>
</file>