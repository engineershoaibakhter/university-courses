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70" r:id="rId4"/>
    <p:sldId id="271" r:id="rId5"/>
    <p:sldId id="272" r:id="rId6"/>
    <p:sldId id="287" r:id="rId7"/>
    <p:sldId id="288" r:id="rId8"/>
    <p:sldId id="289" r:id="rId9"/>
    <p:sldId id="290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59" r:id="rId20"/>
    <p:sldId id="263" r:id="rId21"/>
    <p:sldId id="297" r:id="rId22"/>
    <p:sldId id="283" r:id="rId23"/>
    <p:sldId id="291" r:id="rId24"/>
    <p:sldId id="264" r:id="rId25"/>
    <p:sldId id="284" r:id="rId26"/>
    <p:sldId id="285" r:id="rId27"/>
    <p:sldId id="298" r:id="rId28"/>
    <p:sldId id="282" r:id="rId29"/>
    <p:sldId id="261" r:id="rId30"/>
    <p:sldId id="257" r:id="rId31"/>
    <p:sldId id="292" r:id="rId32"/>
    <p:sldId id="293" r:id="rId33"/>
    <p:sldId id="294" r:id="rId34"/>
    <p:sldId id="266" r:id="rId35"/>
    <p:sldId id="268" r:id="rId36"/>
    <p:sldId id="295" r:id="rId37"/>
    <p:sldId id="296" r:id="rId38"/>
    <p:sldId id="269" r:id="rId39"/>
    <p:sldId id="267" r:id="rId40"/>
    <p:sldId id="26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E1D"/>
    <a:srgbClr val="008000"/>
    <a:srgbClr val="D68B1C"/>
    <a:srgbClr val="D09622"/>
    <a:srgbClr val="157FFF"/>
    <a:srgbClr val="F7E289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9288" autoAdjust="0"/>
  </p:normalViewPr>
  <p:slideViewPr>
    <p:cSldViewPr>
      <p:cViewPr varScale="1">
        <p:scale>
          <a:sx n="91" d="100"/>
          <a:sy n="91" d="100"/>
        </p:scale>
        <p:origin x="138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EF12B-7DAB-4457-AC60-EAA0DAD6BCF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34123-F2F4-4EED-A50E-42F1E7A18F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3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2207360"/>
            <a:ext cx="7772400" cy="763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4039820"/>
            <a:ext cx="6400800" cy="1068935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527605"/>
            <a:ext cx="8229600" cy="61082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43835"/>
            <a:ext cx="7482545" cy="458115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527605"/>
            <a:ext cx="7016195" cy="68488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0" y="1443835"/>
            <a:ext cx="7016195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010" y="527605"/>
            <a:ext cx="6244435" cy="53218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671" y="1596540"/>
            <a:ext cx="3817624" cy="639762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671" y="2226403"/>
            <a:ext cx="3817624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705" y="1596540"/>
            <a:ext cx="397033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705" y="2226403"/>
            <a:ext cx="3970330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rct=j&amp;q=&amp;esrc=s&amp;source=images&amp;cd=&amp;ved=2ahUKEwj88pfQpqffAhUN-YUKHZMyAOMQjRx6BAgBEAU&amp;url=http://lighthouseinsights.in/creative-promotions-by-brands-and-the-dabbawalas-of-mumbai.html/&amp;psig=AOvVaw3-BZvvl3V8nvlV1CStVCF1&amp;ust=154515105823724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d/discountrate.asp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132" name="AutoShape 4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387" y="1714488"/>
            <a:ext cx="2468880" cy="65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8" descr="Slideheader01"/>
          <p:cNvSpPr>
            <a:spLocks noGrp="1" noChangeArrowheads="1"/>
          </p:cNvSpPr>
          <p:nvPr>
            <p:ph type="ctrTitle"/>
          </p:nvPr>
        </p:nvSpPr>
        <p:spPr>
          <a:xfrm>
            <a:off x="2627785" y="2179885"/>
            <a:ext cx="6515482" cy="1321123"/>
          </a:xfrm>
          <a:noFill/>
          <a:extLst>
            <a:ext uri="{909E8E84-426E-40DD-AFC4-6F175D3DCCD1}">
              <a14:hiddenFill xmlns:a14="http://schemas.microsoft.com/office/drawing/2010/main">
                <a:blipFill dpi="0" rotWithShape="1">
                  <a:blip r:embed="rId5"/>
                  <a:srcRect/>
                  <a:stretch>
                    <a:fillRect/>
                  </a:stretch>
                </a:blipFill>
              </a14:hiddenFill>
            </a:ext>
          </a:extLst>
        </p:spPr>
        <p:txBody>
          <a:bodyPr>
            <a:noAutofit/>
          </a:bodyPr>
          <a:lstStyle/>
          <a:p>
            <a:pPr indent="0" algn="ctr" eaLnBrk="1" hangingPunct="1"/>
            <a:r>
              <a:rPr lang="en-US" sz="3200" b="1" dirty="0" smtClean="0">
                <a:solidFill>
                  <a:schemeClr val="tx1"/>
                </a:solidFill>
              </a:rPr>
              <a:t>Project Selection-Financial Criteria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4168" y="5805264"/>
            <a:ext cx="3044950" cy="1443835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 smtClean="0">
                <a:solidFill>
                  <a:schemeClr val="bg1">
                    <a:lumMod val="95000"/>
                  </a:schemeClr>
                </a:solidFill>
                <a:latin typeface="Georgia" pitchFamily="18" charset="0"/>
              </a:rPr>
              <a:t>LECTURE </a:t>
            </a:r>
            <a:r>
              <a:rPr lang="en-US" sz="2000" b="1" i="1" smtClean="0">
                <a:solidFill>
                  <a:schemeClr val="bg1">
                    <a:lumMod val="95000"/>
                  </a:schemeClr>
                </a:solidFill>
                <a:latin typeface="Georgia" pitchFamily="18" charset="0"/>
              </a:rPr>
              <a:t># </a:t>
            </a:r>
            <a:r>
              <a:rPr lang="en-US" sz="2000" b="1" i="1" smtClean="0">
                <a:solidFill>
                  <a:schemeClr val="bg1">
                    <a:lumMod val="95000"/>
                  </a:schemeClr>
                </a:solidFill>
                <a:latin typeface="Georgia" pitchFamily="18" charset="0"/>
              </a:rPr>
              <a:t>11</a:t>
            </a:r>
            <a:endParaRPr lang="en-US" sz="2000" b="1" i="1" dirty="0" smtClean="0">
              <a:solidFill>
                <a:schemeClr val="bg1">
                  <a:lumMod val="95000"/>
                </a:schemeClr>
              </a:solidFill>
              <a:latin typeface="Georgia" pitchFamily="18" charset="0"/>
            </a:endParaRPr>
          </a:p>
          <a:p>
            <a:pPr algn="ctr"/>
            <a:endParaRPr lang="en-US" sz="2000" b="1" i="1" dirty="0" smtClean="0">
              <a:solidFill>
                <a:schemeClr val="bg1">
                  <a:lumMod val="95000"/>
                </a:schemeClr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2" y="260648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Capital Budgeting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43835"/>
            <a:ext cx="7482545" cy="21291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C</a:t>
            </a:r>
            <a:r>
              <a:rPr lang="en-US" sz="3200" dirty="0" smtClean="0"/>
              <a:t>apital </a:t>
            </a:r>
            <a:r>
              <a:rPr lang="en-US" sz="3200" dirty="0"/>
              <a:t>budgeting is the whole process of analyzing projects and deciding which ones to </a:t>
            </a:r>
            <a:r>
              <a:rPr lang="en-US" sz="3200" dirty="0" smtClean="0"/>
              <a:t>accept.</a:t>
            </a:r>
            <a:endParaRPr lang="en-US" sz="3200" dirty="0"/>
          </a:p>
        </p:txBody>
      </p:sp>
      <p:pic>
        <p:nvPicPr>
          <p:cNvPr id="1026" name="Picture 2" descr="What is capital budgeting? Definition and meaning - Market Business N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5" y="4077072"/>
            <a:ext cx="39909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11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122" name="Picture 2" descr="D:\bahria 2019\FOPM\Sumaiya\Lecture 11\FINAL\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97" y="1628800"/>
            <a:ext cx="8479021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2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OPPORTUNITY COST</a:t>
            </a:r>
            <a:endParaRPr lang="en-US" dirty="0"/>
          </a:p>
        </p:txBody>
      </p:sp>
      <p:pic>
        <p:nvPicPr>
          <p:cNvPr id="6146" name="Picture 2" descr="D:\bahria 2019\FOPM\Sumaiya\Lecture 11\prep\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8616919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56" y="332656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OPPORTUNITY COST</a:t>
            </a:r>
            <a:endParaRPr lang="en-US" dirty="0"/>
          </a:p>
        </p:txBody>
      </p:sp>
      <p:pic>
        <p:nvPicPr>
          <p:cNvPr id="1026" name="Picture 2" descr="D:\bahria 2019\FOPM\Sumaiya\Lecture 11\FINAL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475" y="3140968"/>
            <a:ext cx="5299001" cy="268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7584" y="1412776"/>
            <a:ext cx="7056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Opportunity Cost is the cost or price of the next best alternative that is available to the business that has foregone to acquire something else.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390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55" y="332656"/>
            <a:ext cx="5708119" cy="6108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DISCOUNTED CASH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11\prep\F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58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80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8338" y="260648"/>
            <a:ext cx="6212174" cy="6108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DISCOUNTED CASH FLOW</a:t>
            </a:r>
            <a:endParaRPr lang="en-US" dirty="0"/>
          </a:p>
        </p:txBody>
      </p:sp>
      <p:pic>
        <p:nvPicPr>
          <p:cNvPr id="3074" name="Picture 2" descr="D:\bahria 2019\FOPM\Sumaiya\Lecture 11\prep\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11" y="1268760"/>
            <a:ext cx="9153111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87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NON DISCOUNTED CASH FLOW</a:t>
            </a:r>
            <a:endParaRPr lang="en-US" dirty="0"/>
          </a:p>
        </p:txBody>
      </p:sp>
      <p:pic>
        <p:nvPicPr>
          <p:cNvPr id="4098" name="Picture 2" descr="D:\bahria 2019\FOPM\Sumaiya\Lecture 11\prep\F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2114550"/>
            <a:ext cx="8424937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64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1" y="260648"/>
            <a:ext cx="5564103" cy="61082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/>
              <a:t>CONSIDERATION </a:t>
            </a:r>
            <a:br>
              <a:rPr lang="en-US" sz="2800" b="1" dirty="0" smtClean="0"/>
            </a:br>
            <a:r>
              <a:rPr lang="en-US" sz="2800" b="1" dirty="0" smtClean="0"/>
              <a:t>FOR </a:t>
            </a:r>
            <a:br>
              <a:rPr lang="en-US" sz="2800" b="1" dirty="0" smtClean="0"/>
            </a:br>
            <a:r>
              <a:rPr lang="en-US" sz="2800" b="1" dirty="0" smtClean="0"/>
              <a:t>CAPITAL BUDGETING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D:\bahria 2019\FOPM\Sumaiya\Lecture 11\prep\F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8964488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140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527605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TIME VALUE OF MONEY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 descr="D:\bahria 2019\FOPM\Sumaiya\Lecture 11\FINAL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89043"/>
            <a:ext cx="8964488" cy="566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49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55" y="404664"/>
            <a:ext cx="5708119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11\FINAL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2503"/>
            <a:ext cx="9280726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0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87" y="332656"/>
            <a:ext cx="550534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:\bahria 2019\FOPM\Sumaiya\Lecture 11\FINAL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1100138"/>
            <a:ext cx="9021763" cy="575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56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122" name="Picture 2" descr="D:\bahria 2019\FOPM\Sumaiya\Lecture 11\FINAL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09663"/>
            <a:ext cx="8964489" cy="354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17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6148" name="Picture 4" descr="D:\bahria 2019\FOPM\Sumaiya\Lecture 11\FINAL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30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332656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7170" name="Picture 2" descr="D:\bahria 2019\FOPM\Sumaiya\Lecture 11\FINAL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48464" cy="279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67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bahria 2019\FOPM\Sumaiya\Lecture 11\FINAL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8964488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983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9218" name="Picture 2" descr="D:\bahria 2019\FOPM\Sumaiya\Lecture 11\FINAL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013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D:\bahria 2019\FOPM\Sumaiya\Lecture 11\FINAL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123950"/>
            <a:ext cx="9153526" cy="561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325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404664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Net Present Value (NPV)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net present value (NPV), defined as the present value of a project’s cash inflows minus the present value of its costs, tells us how much the project contributes to shareholder </a:t>
            </a:r>
            <a:r>
              <a:rPr lang="en-US" dirty="0" smtClean="0"/>
              <a:t>wealth.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84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:\bahria 2019\FOPM\Sumaiya\Lecture 11\FINAL\NPV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" y="1196752"/>
            <a:ext cx="9073009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40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:\bahria 2019\FOPM\Sumaiya\Lecture 11\New folder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12776"/>
            <a:ext cx="7704856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bahria 2019\FOPM\Sumaiya\Lecture 11\New folder\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77072"/>
            <a:ext cx="7632848" cy="227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04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D:\bahria 2019\FOPM\Sumaiya\Lecture 11\FINAL\NPV 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1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485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6148" name="Picture 4" descr="D:\bahria 2019\FOPM\Sumaiya\Lecture 11\prep\F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8421"/>
            <a:ext cx="914400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1700808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Cost of Opportunity =8%</a:t>
            </a:r>
            <a:endParaRPr lang="en-US" sz="16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15816" y="2564904"/>
            <a:ext cx="5544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995936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04048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084168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164288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460432" y="2564904"/>
            <a:ext cx="0" cy="16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977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D:\bahria 2019\FOPM\Sumaiya\Lecture 11\FINAL\NPV 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69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374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D:\bahria 2019\FOPM\Sumaiya\Lecture 11\FINAL\NPV 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9188480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288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385" y="260648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EXERCISE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the interest rate to 15 %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819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69" y="369908"/>
            <a:ext cx="578012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KEY FACTORS TO CONSIDER</a:t>
            </a:r>
            <a:br>
              <a:rPr lang="en-US" dirty="0" smtClean="0"/>
            </a:br>
            <a:r>
              <a:rPr lang="en-US" dirty="0" smtClean="0"/>
              <a:t> TO SELECT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11\New folder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08504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36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4361" y="297900"/>
            <a:ext cx="6356191" cy="61082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smtClean="0"/>
              <a:t>INDEPENDENT</a:t>
            </a:r>
            <a:br>
              <a:rPr lang="en-US" sz="2400" b="1" dirty="0" smtClean="0"/>
            </a:br>
            <a:r>
              <a:rPr lang="en-US" sz="2400" b="1" dirty="0" smtClean="0"/>
              <a:t> </a:t>
            </a:r>
            <a:r>
              <a:rPr lang="en-US" sz="1800" b="1" dirty="0" smtClean="0"/>
              <a:t>VS</a:t>
            </a:r>
            <a:r>
              <a:rPr lang="en-US" sz="2400" b="1" dirty="0" smtClean="0"/>
              <a:t> </a:t>
            </a:r>
            <a:br>
              <a:rPr lang="en-US" sz="2400" b="1" dirty="0" smtClean="0"/>
            </a:br>
            <a:r>
              <a:rPr lang="en-US" sz="2400" b="1" dirty="0" smtClean="0"/>
              <a:t>MUTUALLY EXCLUSIVE PROJECTS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Independent projects</a:t>
            </a:r>
            <a:r>
              <a:rPr lang="en-US" dirty="0"/>
              <a:t> are those whose cash flows are not affected by other projects.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Example: If </a:t>
            </a:r>
            <a:r>
              <a:rPr lang="en-US" dirty="0"/>
              <a:t>Wal-Mart were considering a new store in Boise and another in Atlanta, those projects would be </a:t>
            </a:r>
            <a:r>
              <a:rPr lang="en-US" dirty="0" smtClean="0"/>
              <a:t>independent.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Mutually </a:t>
            </a:r>
            <a:r>
              <a:rPr lang="en-US" dirty="0">
                <a:solidFill>
                  <a:srgbClr val="FF0000"/>
                </a:solidFill>
              </a:rPr>
              <a:t>exclusive projects</a:t>
            </a:r>
            <a:r>
              <a:rPr lang="en-US" dirty="0"/>
              <a:t>, on the other hand, are two different ways of accomplishing the same result, so if one project is accepted then the other must be rejected.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Example: A </a:t>
            </a:r>
            <a:r>
              <a:rPr lang="en-US" dirty="0"/>
              <a:t>conveyor-belt system to move goods in a warehouse and a fleet of forklifts for the same purpose would be mutually exclusive—accepting one implies rejecting the other.</a:t>
            </a:r>
          </a:p>
        </p:txBody>
      </p:sp>
    </p:spTree>
    <p:extLst>
      <p:ext uri="{BB962C8B-B14F-4D97-AF65-F5344CB8AC3E}">
        <p14:creationId xmlns:p14="http://schemas.microsoft.com/office/powerpoint/2010/main" val="3172663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332656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NPV Decision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Independent </a:t>
            </a:r>
            <a:r>
              <a:rPr lang="en-US" dirty="0">
                <a:solidFill>
                  <a:srgbClr val="FF0000"/>
                </a:solidFill>
              </a:rPr>
              <a:t>projects:</a:t>
            </a:r>
            <a:r>
              <a:rPr lang="en-US" dirty="0"/>
              <a:t> If NPV exceeds zero, accept the project. </a:t>
            </a:r>
            <a:r>
              <a:rPr lang="en-US" dirty="0" smtClean="0"/>
              <a:t>If both have positive NPVs, accept them both if they are independent.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Mutually </a:t>
            </a:r>
            <a:r>
              <a:rPr lang="en-US" dirty="0">
                <a:solidFill>
                  <a:srgbClr val="FF0000"/>
                </a:solidFill>
              </a:rPr>
              <a:t>exclusive projects:</a:t>
            </a:r>
            <a:r>
              <a:rPr lang="en-US" dirty="0"/>
              <a:t> Accept the project with the highest positive NPV. If no project has a positive NPV, then reject them all. If </a:t>
            </a:r>
            <a:r>
              <a:rPr lang="en-US" dirty="0" smtClean="0"/>
              <a:t>the projects </a:t>
            </a:r>
            <a:r>
              <a:rPr lang="en-US" dirty="0"/>
              <a:t>are mutually exclusive, the NPV criterion would select </a:t>
            </a:r>
            <a:r>
              <a:rPr lang="en-US" smtClean="0"/>
              <a:t>the project with higher NPV.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15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377" y="260648"/>
            <a:ext cx="578012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IRR-Internal Rate of Return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43834"/>
            <a:ext cx="8208912" cy="4937493"/>
          </a:xfrm>
        </p:spPr>
        <p:txBody>
          <a:bodyPr>
            <a:normAutofit/>
          </a:bodyPr>
          <a:lstStyle/>
          <a:p>
            <a:r>
              <a:rPr lang="en-US" dirty="0"/>
              <a:t>The internal rate of return is a metric used in financial analysis to estimate the profitability of potential investments. </a:t>
            </a:r>
            <a:endParaRPr lang="en-US" dirty="0" smtClean="0"/>
          </a:p>
          <a:p>
            <a:r>
              <a:rPr lang="en-US" dirty="0" smtClean="0"/>
              <a:t>Internal </a:t>
            </a:r>
            <a:r>
              <a:rPr lang="en-US" dirty="0"/>
              <a:t>rate of return (IRR) is the annual rate of growth an investment is expected to generate</a:t>
            </a:r>
            <a:r>
              <a:rPr lang="en-US" dirty="0" smtClean="0"/>
              <a:t>.</a:t>
            </a:r>
          </a:p>
          <a:p>
            <a:r>
              <a:rPr lang="en-US" dirty="0"/>
              <a:t>A project’s IRR is the discount rate that </a:t>
            </a:r>
            <a:r>
              <a:rPr lang="en-US" dirty="0" smtClean="0"/>
              <a:t>makes </a:t>
            </a:r>
            <a:r>
              <a:rPr lang="en-US" dirty="0"/>
              <a:t>the PV of the inflows to equal the initial </a:t>
            </a:r>
            <a:r>
              <a:rPr lang="en-US" dirty="0" smtClean="0"/>
              <a:t>cost. </a:t>
            </a:r>
          </a:p>
          <a:p>
            <a:r>
              <a:rPr lang="en-US" dirty="0" smtClean="0"/>
              <a:t>The internal rate of return is a </a:t>
            </a:r>
            <a:r>
              <a:rPr lang="en-US" u="sng" dirty="0" smtClean="0">
                <a:hlinkClick r:id="rId2"/>
              </a:rPr>
              <a:t>discount rate</a:t>
            </a:r>
            <a:r>
              <a:rPr lang="en-US" dirty="0" smtClean="0"/>
              <a:t> that makes the net present value (NPV) of all cash flows equal to zero.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31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12776"/>
            <a:ext cx="7482545" cy="4581150"/>
          </a:xfrm>
        </p:spPr>
        <p:txBody>
          <a:bodyPr/>
          <a:lstStyle/>
          <a:p>
            <a:endParaRPr lang="en-US"/>
          </a:p>
        </p:txBody>
      </p:sp>
      <p:pic>
        <p:nvPicPr>
          <p:cNvPr id="7170" name="Picture 2" descr="D:\bahria 2019\FOPM\Sumaiya\Lecture 11\prep\F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036496" cy="558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286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bahria 2019\FOPM\Sumaiya\Lecture 11\prep\F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3768" y="1196752"/>
            <a:ext cx="9287768" cy="546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472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D:\bahria 2019\FOPM\Sumaiya\Lecture 11\prep\F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3" y="1124744"/>
            <a:ext cx="8964489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474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385" y="476672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IRR </a:t>
            </a:r>
            <a:r>
              <a:rPr lang="en-US" dirty="0"/>
              <a:t>Decision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Independent projects</a:t>
            </a:r>
            <a:r>
              <a:rPr lang="en-US" dirty="0"/>
              <a:t>: If IRR exceeds the project’s </a:t>
            </a:r>
            <a:r>
              <a:rPr lang="en-US" dirty="0" smtClean="0"/>
              <a:t>Cost of Capital, </a:t>
            </a:r>
            <a:r>
              <a:rPr lang="en-US" dirty="0"/>
              <a:t>then the project should be accepted.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IRR is less than the project’s </a:t>
            </a:r>
            <a:r>
              <a:rPr lang="en-US" dirty="0" smtClean="0"/>
              <a:t>Cost of Capital, </a:t>
            </a:r>
            <a:r>
              <a:rPr lang="en-US" dirty="0"/>
              <a:t>reject it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Mutually </a:t>
            </a:r>
            <a:r>
              <a:rPr lang="en-US" dirty="0">
                <a:solidFill>
                  <a:srgbClr val="FF0000"/>
                </a:solidFill>
              </a:rPr>
              <a:t>exclusive projects</a:t>
            </a:r>
            <a:r>
              <a:rPr lang="en-US" dirty="0"/>
              <a:t>. Accept the mutually exclusive project with the highest IRR, provided that the project’s IRR is greater than its </a:t>
            </a:r>
            <a:r>
              <a:rPr lang="en-US" dirty="0" smtClean="0"/>
              <a:t>Cost of Capital. </a:t>
            </a:r>
            <a:r>
              <a:rPr lang="en-US" dirty="0"/>
              <a:t>Reject project whose </a:t>
            </a:r>
            <a:r>
              <a:rPr lang="en-US" dirty="0" smtClean="0"/>
              <a:t>IRR </a:t>
            </a:r>
            <a:r>
              <a:rPr lang="en-US" dirty="0"/>
              <a:t>does not exceed the </a:t>
            </a:r>
            <a:r>
              <a:rPr lang="en-US" dirty="0" smtClean="0"/>
              <a:t>firm’s Cost of Capital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75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PAY BACK PERIOD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Payback </a:t>
            </a:r>
            <a:r>
              <a:rPr lang="en-US" dirty="0"/>
              <a:t>period, defined as the number of years required to recover the funds invested in a project from its operating cash </a:t>
            </a:r>
            <a:r>
              <a:rPr lang="en-US" dirty="0" smtClean="0"/>
              <a:t>flows.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D:\bahria 2019\FOPM\Sumaiya\Lecture 11\Book 1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645024"/>
            <a:ext cx="5954713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778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D:\bahria 2019\FOPM\Sumaiya\Lecture 11\prep\PAY B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24744"/>
            <a:ext cx="9144001" cy="695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87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55" y="476672"/>
            <a:ext cx="5708119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:\bahria 2019\FOPM\Sumaiya\Lecture 11\prep\PAY BACK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2"/>
            <a:ext cx="9144000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225036" y="4974105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10000/12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339755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098" name="Picture 2" descr="D:\bahria 2019\FOPM\Sumaiya\Lecture 11\Book 1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882047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:\bahria 2019\FOPM\Sumaiya\Lecture 11\Book 1\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2633" y="5178549"/>
            <a:ext cx="5954713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748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527605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 descr="D:\bahria 2019\FOPM\Sumaiya\Lecture 11\Book 1\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8352928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8913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2050" name="Picture 2" descr="D:\bahria 2019\FOPM\Sumaiya\Lecture 11\Book 1\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1596458"/>
            <a:ext cx="7483475" cy="427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95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7621</TotalTime>
  <Words>482</Words>
  <Application>Microsoft Office PowerPoint</Application>
  <PresentationFormat>On-screen Show (4:3)</PresentationFormat>
  <Paragraphs>44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Georgia</vt:lpstr>
      <vt:lpstr>Office Theme</vt:lpstr>
      <vt:lpstr>Project Selection-Financial Criteria </vt:lpstr>
      <vt:lpstr>Capital Budgeting</vt:lpstr>
      <vt:lpstr>PowerPoint Presentation</vt:lpstr>
      <vt:lpstr>OPPORTUNITY COST</vt:lpstr>
      <vt:lpstr>OPPORTUNITY COST</vt:lpstr>
      <vt:lpstr>DISCOUNTED CASH FLOWS</vt:lpstr>
      <vt:lpstr>EXAMPLE DISCOUNTED CASH FLOW</vt:lpstr>
      <vt:lpstr>NON DISCOUNTED CASH FLOW</vt:lpstr>
      <vt:lpstr>CONSIDERATION  FOR  CAPITAL BUDGETING</vt:lpstr>
      <vt:lpstr>TIME VALUE OF MONEY</vt:lpstr>
      <vt:lpstr>FORMULA</vt:lpstr>
      <vt:lpstr>FORMULA</vt:lpstr>
      <vt:lpstr>PowerPoint Presentation</vt:lpstr>
      <vt:lpstr>PowerPoint Presentation</vt:lpstr>
      <vt:lpstr>EXERCISE</vt:lpstr>
      <vt:lpstr>PowerPoint Presentation</vt:lpstr>
      <vt:lpstr>PowerPoint Presentation</vt:lpstr>
      <vt:lpstr>PowerPoint Presentation</vt:lpstr>
      <vt:lpstr>Net Present Value (NPV)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2</vt:lpstr>
      <vt:lpstr>KEY FACTORS TO CONSIDER  TO SELECT PROJECT</vt:lpstr>
      <vt:lpstr>INDEPENDENT  VS  MUTUALLY EXCLUSIVE PROJECTS</vt:lpstr>
      <vt:lpstr>NPV Decision Rules</vt:lpstr>
      <vt:lpstr>IRR-Internal Rate of Return</vt:lpstr>
      <vt:lpstr>PowerPoint Presentation</vt:lpstr>
      <vt:lpstr>PowerPoint Presentation</vt:lpstr>
      <vt:lpstr>PowerPoint Presentation</vt:lpstr>
      <vt:lpstr>IRR Decision Rules</vt:lpstr>
      <vt:lpstr>PAY BACK PERIOD</vt:lpstr>
      <vt:lpstr>PowerPoint Presentation</vt:lpstr>
      <vt:lpstr>EXAMPLE</vt:lpstr>
      <vt:lpstr>PowerPoint Presentation</vt:lpstr>
      <vt:lpstr>EXAMPLE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Bahria</cp:lastModifiedBy>
  <cp:revision>447</cp:revision>
  <dcterms:created xsi:type="dcterms:W3CDTF">2013-08-21T19:17:07Z</dcterms:created>
  <dcterms:modified xsi:type="dcterms:W3CDTF">2024-05-11T08:57:34Z</dcterms:modified>
</cp:coreProperties>
</file>