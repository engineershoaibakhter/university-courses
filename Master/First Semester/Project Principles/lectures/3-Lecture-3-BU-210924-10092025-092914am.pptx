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719" r:id="rId5"/>
    <p:sldMasterId id="2147483741" r:id="rId6"/>
    <p:sldMasterId id="2147483763" r:id="rId7"/>
  </p:sldMasterIdLst>
  <p:notesMasterIdLst>
    <p:notesMasterId r:id="rId54"/>
  </p:notesMasterIdLst>
  <p:handoutMasterIdLst>
    <p:handoutMasterId r:id="rId55"/>
  </p:handoutMasterIdLst>
  <p:sldIdLst>
    <p:sldId id="278" r:id="rId8"/>
    <p:sldId id="426" r:id="rId9"/>
    <p:sldId id="341" r:id="rId10"/>
    <p:sldId id="289" r:id="rId11"/>
    <p:sldId id="35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427" r:id="rId22"/>
    <p:sldId id="428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409" r:id="rId34"/>
    <p:sldId id="363" r:id="rId35"/>
    <p:sldId id="364" r:id="rId36"/>
    <p:sldId id="366" r:id="rId37"/>
    <p:sldId id="367" r:id="rId38"/>
    <p:sldId id="412" r:id="rId39"/>
    <p:sldId id="425" r:id="rId40"/>
    <p:sldId id="413" r:id="rId41"/>
    <p:sldId id="420" r:id="rId42"/>
    <p:sldId id="421" r:id="rId43"/>
    <p:sldId id="422" r:id="rId44"/>
    <p:sldId id="417" r:id="rId45"/>
    <p:sldId id="418" r:id="rId46"/>
    <p:sldId id="368" r:id="rId47"/>
    <p:sldId id="370" r:id="rId48"/>
    <p:sldId id="369" r:id="rId49"/>
    <p:sldId id="371" r:id="rId50"/>
    <p:sldId id="372" r:id="rId51"/>
    <p:sldId id="373" r:id="rId52"/>
    <p:sldId id="424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009" autoAdjust="0"/>
  </p:normalViewPr>
  <p:slideViewPr>
    <p:cSldViewPr snapToGrid="0" showGuides="1">
      <p:cViewPr varScale="1">
        <p:scale>
          <a:sx n="87" d="100"/>
          <a:sy n="87" d="100"/>
        </p:scale>
        <p:origin x="61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4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viewProps" Target="view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58A34-83F4-4B2E-BC5A-DE51EE8822F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FE58C-C1A6-4C4C-90C2-B7F5B050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E1917-0BAF-4687-978A-82FFF05559C3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E1E9A-E921-4174-A0FC-51868D7AC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0E1E9A-E921-4174-A0FC-51868D7AC5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66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object made by a human being, typically one of cultural or historical interest.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"gold and silver artefacts"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 observed in a scientific investigation or experiment that is not naturally present but occurs as a result of the preparative or investigative procedure.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curvature of the surface is an artefact of the wide-angle view"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0E1E9A-E921-4174-A0FC-51868D7AC5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76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4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584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B0DA255-E5C4-4F16-91A2-0BE1FD40F63E}" type="slidenum">
              <a:rPr lang="en-US" sz="1200"/>
              <a:pPr eaLnBrk="1" hangingPunct="1"/>
              <a:t>32</a:t>
            </a:fld>
            <a:endParaRPr lang="en-US" sz="1200"/>
          </a:p>
        </p:txBody>
      </p:sp>
      <p:sp>
        <p:nvSpPr>
          <p:cNvPr id="584709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/>
              <a:t>PMI - Karachi Pakistan Chapter</a:t>
            </a:r>
          </a:p>
        </p:txBody>
      </p:sp>
      <p:sp>
        <p:nvSpPr>
          <p:cNvPr id="584710" name="Header Placeholder 5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/>
              <a:t>PMP Course - 7th Session - Feb-2008</a:t>
            </a:r>
          </a:p>
        </p:txBody>
      </p:sp>
    </p:spTree>
    <p:extLst>
      <p:ext uri="{BB962C8B-B14F-4D97-AF65-F5344CB8AC3E}">
        <p14:creationId xmlns:p14="http://schemas.microsoft.com/office/powerpoint/2010/main" val="1490505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5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585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E16F863-8AD0-4DE5-B1E2-1CC08DF036A3}" type="slidenum">
              <a:rPr lang="en-US" sz="1200"/>
              <a:pPr eaLnBrk="1" hangingPunct="1"/>
              <a:t>34</a:t>
            </a:fld>
            <a:endParaRPr lang="en-US" sz="1200"/>
          </a:p>
        </p:txBody>
      </p:sp>
      <p:sp>
        <p:nvSpPr>
          <p:cNvPr id="585733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/>
              <a:t>PMI - Karachi Pakistan Chapter</a:t>
            </a:r>
          </a:p>
        </p:txBody>
      </p:sp>
      <p:sp>
        <p:nvSpPr>
          <p:cNvPr id="585734" name="Header Placeholder 5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/>
              <a:t>PMP Course - 7th Session - Feb-2008</a:t>
            </a:r>
          </a:p>
        </p:txBody>
      </p:sp>
    </p:spTree>
    <p:extLst>
      <p:ext uri="{BB962C8B-B14F-4D97-AF65-F5344CB8AC3E}">
        <p14:creationId xmlns:p14="http://schemas.microsoft.com/office/powerpoint/2010/main" val="3669121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6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FontTx/>
              <a:buAutoNum type="arabicPeriod"/>
            </a:pPr>
            <a:r>
              <a:rPr lang="en-GB" dirty="0" smtClean="0"/>
              <a:t>Here the control over resources is with the Functional Manager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GB" dirty="0" smtClean="0"/>
              <a:t>Project Manager has to borrow the team members from the Functional Manager(s) for the project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GB" dirty="0" smtClean="0"/>
              <a:t>Every employee has a clear superior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GB" dirty="0" smtClean="0"/>
              <a:t>Employees automatically go back to their original positions after the project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GB" dirty="0" smtClean="0"/>
              <a:t>PMI does not prefer this org type since the project manager has very little power</a:t>
            </a:r>
          </a:p>
        </p:txBody>
      </p:sp>
      <p:sp>
        <p:nvSpPr>
          <p:cNvPr id="586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8BED694-1C45-463D-AAA0-AC5DD9A9A134}" type="slidenum">
              <a:rPr lang="en-US" sz="1200">
                <a:solidFill>
                  <a:srgbClr val="000000"/>
                </a:solidFill>
              </a:rPr>
              <a:pPr eaLnBrk="1" hangingPunct="1"/>
              <a:t>35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86757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</a:rPr>
              <a:t>PMI - Karachi Pakistan Chapter</a:t>
            </a:r>
          </a:p>
        </p:txBody>
      </p:sp>
      <p:sp>
        <p:nvSpPr>
          <p:cNvPr id="586758" name="Header Placeholder 5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</a:rPr>
              <a:t>PMP Course - 7th Session - Feb-2008</a:t>
            </a:r>
          </a:p>
        </p:txBody>
      </p:sp>
    </p:spTree>
    <p:extLst>
      <p:ext uri="{BB962C8B-B14F-4D97-AF65-F5344CB8AC3E}">
        <p14:creationId xmlns:p14="http://schemas.microsoft.com/office/powerpoint/2010/main" val="455661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7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FontTx/>
              <a:buAutoNum type="arabicPeriod"/>
            </a:pPr>
            <a:r>
              <a:rPr lang="en-GB" dirty="0" smtClean="0"/>
              <a:t>Project Manager has got lots of power on using the resources.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GB" dirty="0" smtClean="0"/>
              <a:t>Team members directly report to the PM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GB" dirty="0" smtClean="0"/>
              <a:t>Team is dispersed after the project – not PM’s responsibility to get them assigned some where after his project</a:t>
            </a:r>
          </a:p>
        </p:txBody>
      </p:sp>
      <p:sp>
        <p:nvSpPr>
          <p:cNvPr id="587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4DAB2C7-D69A-4636-8382-341DE4F5927D}" type="slidenum">
              <a:rPr lang="en-US" sz="1200">
                <a:solidFill>
                  <a:srgbClr val="000000"/>
                </a:solidFill>
              </a:rPr>
              <a:pPr eaLnBrk="1" hangingPunct="1"/>
              <a:t>36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87781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</a:rPr>
              <a:t>PMI - Karachi Pakistan Chapter</a:t>
            </a:r>
          </a:p>
        </p:txBody>
      </p:sp>
      <p:sp>
        <p:nvSpPr>
          <p:cNvPr id="587782" name="Header Placeholder 5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</a:rPr>
              <a:t>PMP Course - 7th Session - Feb-2008</a:t>
            </a:r>
          </a:p>
        </p:txBody>
      </p:sp>
    </p:spTree>
    <p:extLst>
      <p:ext uri="{BB962C8B-B14F-4D97-AF65-F5344CB8AC3E}">
        <p14:creationId xmlns:p14="http://schemas.microsoft.com/office/powerpoint/2010/main" val="2609680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8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FontTx/>
              <a:buAutoNum type="arabicPeriod"/>
            </a:pPr>
            <a:r>
              <a:rPr lang="en-GB" smtClean="0"/>
              <a:t>Mix of a functional and projectized organization</a:t>
            </a:r>
          </a:p>
          <a:p>
            <a:pPr marL="228600" indent="-228600" eaLnBrk="1" hangingPunct="1">
              <a:buFontTx/>
              <a:buAutoNum type="arabicPeriod"/>
            </a:pPr>
            <a:endParaRPr lang="en-GB" smtClean="0"/>
          </a:p>
        </p:txBody>
      </p:sp>
      <p:sp>
        <p:nvSpPr>
          <p:cNvPr id="588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6086ABD-3D1A-4CFD-9FBB-C91D475BCB4A}" type="slidenum">
              <a:rPr lang="en-US" sz="1200">
                <a:solidFill>
                  <a:srgbClr val="000000"/>
                </a:solidFill>
              </a:rPr>
              <a:pPr eaLnBrk="1" hangingPunct="1"/>
              <a:t>37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88805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</a:rPr>
              <a:t>PMI - Karachi Pakistan Chapter</a:t>
            </a:r>
          </a:p>
        </p:txBody>
      </p:sp>
      <p:sp>
        <p:nvSpPr>
          <p:cNvPr id="588806" name="Header Placeholder 5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</a:rPr>
              <a:t>PMP Course - 7th Session - Feb-2008</a:t>
            </a:r>
          </a:p>
        </p:txBody>
      </p:sp>
    </p:spTree>
    <p:extLst>
      <p:ext uri="{BB962C8B-B14F-4D97-AF65-F5344CB8AC3E}">
        <p14:creationId xmlns:p14="http://schemas.microsoft.com/office/powerpoint/2010/main" val="19780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36"/>
          <p:cNvGrpSpPr>
            <a:grpSpLocks/>
          </p:cNvGrpSpPr>
          <p:nvPr userDrawn="1"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5" name="Freeform 1037"/>
            <p:cNvSpPr>
              <a:spLocks/>
            </p:cNvSpPr>
            <p:nvPr userDrawn="1"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Freeform 1038"/>
            <p:cNvSpPr>
              <a:spLocks/>
            </p:cNvSpPr>
            <p:nvPr userDrawn="1"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7" name="Freeform 1039"/>
            <p:cNvSpPr>
              <a:spLocks/>
            </p:cNvSpPr>
            <p:nvPr userDrawn="1"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8" name="Freeform 1040"/>
            <p:cNvSpPr>
              <a:spLocks/>
            </p:cNvSpPr>
            <p:nvPr userDrawn="1"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69639" name="Rectangle 1031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914400" y="1143000"/>
            <a:ext cx="10363200" cy="1143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640" name="Rectangle 1032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1828800" y="2819400"/>
            <a:ext cx="85344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dt" sz="quarter" idx="10"/>
          </p:nvPr>
        </p:nvSpPr>
        <p:spPr>
          <a:xfrm>
            <a:off x="0" y="6248400"/>
            <a:ext cx="38608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PMP Exam Prep Course @Copyright</a:t>
            </a:r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 w="12700" cap="sq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FFFFFF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/>
              <a:t>PMI - KPC - PMP Course </a:t>
            </a:r>
          </a:p>
        </p:txBody>
      </p:sp>
      <p:sp>
        <p:nvSpPr>
          <p:cNvPr id="11" name="Rectangle 103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5D4A06-4938-43B3-81E8-59252660C4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45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A2B130-B477-4DD3-8338-CBAEB9685D6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443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841DF2-9F4B-4848-BB4C-8D02785F511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51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25F2FD-A0E4-4324-9C35-FE74C4A4C2B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019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B1154-A18B-4731-940A-2943F4A23E5F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870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CDB2BA-9B40-471C-8702-1CF8048E140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461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260808-6C87-47F5-A263-E19BB536B25B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510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9E7A8-BC4D-4D7F-8143-B12F6F59148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331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4A050B-D7F3-440C-9648-C158D80C86B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885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FD9FA6-E9C7-4E66-AD02-84EB557742F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62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7C3BBB-2B19-4472-AFEC-FFA9CE66F49C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555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E4F14D-1B0D-49CE-AD77-13665AA45B8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3278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9AB761-3044-4294-92E3-F175470AFFEB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8466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022C6D-90CC-4484-A944-D1D42B2A9B6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1675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009EC-FC9D-43B0-831F-8006C34429A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415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3DD600-529E-4710-B109-57242CE16AB7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9968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cs typeface="Times New Roman" panose="02020603050405020304" pitchFamily="18" charset="0"/>
              </a:defRPr>
            </a:lvl1pPr>
          </a:lstStyle>
          <a:p>
            <a:fld id="{2D0246B9-6368-4AFE-A564-4E10B2CDD144}" type="slidenum">
              <a:rPr lang="ar-SA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381621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03B5E5-58CF-4767-A7C9-7F20C689D7D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7467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879D31-813E-41DB-AFF8-55BD9DDC6A49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0914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1_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7BCE84-8E43-4ABC-A05C-CE38BC8D3A7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8518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1A5252-8F47-4AAB-9BDD-5C4678B0EE2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2190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36"/>
          <p:cNvGrpSpPr>
            <a:grpSpLocks/>
          </p:cNvGrpSpPr>
          <p:nvPr userDrawn="1"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5" name="Freeform 1037"/>
            <p:cNvSpPr>
              <a:spLocks/>
            </p:cNvSpPr>
            <p:nvPr userDrawn="1"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Freeform 1038"/>
            <p:cNvSpPr>
              <a:spLocks/>
            </p:cNvSpPr>
            <p:nvPr userDrawn="1"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7" name="Freeform 1039"/>
            <p:cNvSpPr>
              <a:spLocks/>
            </p:cNvSpPr>
            <p:nvPr userDrawn="1"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8" name="Freeform 1040"/>
            <p:cNvSpPr>
              <a:spLocks/>
            </p:cNvSpPr>
            <p:nvPr userDrawn="1"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69639" name="Rectangle 1031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914400" y="1143000"/>
            <a:ext cx="10363200" cy="1143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640" name="Rectangle 1032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1828800" y="2819400"/>
            <a:ext cx="85344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dt" sz="quarter" idx="10"/>
          </p:nvPr>
        </p:nvSpPr>
        <p:spPr>
          <a:xfrm>
            <a:off x="0" y="6248400"/>
            <a:ext cx="38608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PMP Exam Prep Course @Copyright</a:t>
            </a:r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 w="12700" cap="sq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FFFFFF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/>
              <a:t>PMI - KPC - PMP Course </a:t>
            </a:r>
          </a:p>
        </p:txBody>
      </p:sp>
      <p:sp>
        <p:nvSpPr>
          <p:cNvPr id="11" name="Rectangle 103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5D4A06-4938-43B3-81E8-59252660C4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158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A2B130-B477-4DD3-8338-CBAEB9685D6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5776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841DF2-9F4B-4848-BB4C-8D02785F511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413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25F2FD-A0E4-4324-9C35-FE74C4A4C2B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9756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B1154-A18B-4731-940A-2943F4A23E5F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4073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CDB2BA-9B40-471C-8702-1CF8048E140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3342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260808-6C87-47F5-A263-E19BB536B25B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622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9E7A8-BC4D-4D7F-8143-B12F6F59148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30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4A050B-D7F3-440C-9648-C158D80C86B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3154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FD9FA6-E9C7-4E66-AD02-84EB557742F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8892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7C3BBB-2B19-4472-AFEC-FFA9CE66F49C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6441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E4F14D-1B0D-49CE-AD77-13665AA45B8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492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9AB761-3044-4294-92E3-F175470AFFEB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8540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022C6D-90CC-4484-A944-D1D42B2A9B6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5695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009EC-FC9D-43B0-831F-8006C34429A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4082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3DD600-529E-4710-B109-57242CE16AB7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540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cs typeface="Times New Roman" panose="02020603050405020304" pitchFamily="18" charset="0"/>
              </a:defRPr>
            </a:lvl1pPr>
          </a:lstStyle>
          <a:p>
            <a:fld id="{2D0246B9-6368-4AFE-A564-4E10B2CDD144}" type="slidenum">
              <a:rPr lang="ar-SA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371099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03B5E5-58CF-4767-A7C9-7F20C689D7D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0986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879D31-813E-41DB-AFF8-55BD9DDC6A49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4185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1_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7BCE84-8E43-4ABC-A05C-CE38BC8D3A7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2354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1A5252-8F47-4AAB-9BDD-5C4678B0EE2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2544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36"/>
          <p:cNvGrpSpPr>
            <a:grpSpLocks/>
          </p:cNvGrpSpPr>
          <p:nvPr userDrawn="1"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5" name="Freeform 1037"/>
            <p:cNvSpPr>
              <a:spLocks/>
            </p:cNvSpPr>
            <p:nvPr userDrawn="1"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Freeform 1038"/>
            <p:cNvSpPr>
              <a:spLocks/>
            </p:cNvSpPr>
            <p:nvPr userDrawn="1"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7" name="Freeform 1039"/>
            <p:cNvSpPr>
              <a:spLocks/>
            </p:cNvSpPr>
            <p:nvPr userDrawn="1"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8" name="Freeform 1040"/>
            <p:cNvSpPr>
              <a:spLocks/>
            </p:cNvSpPr>
            <p:nvPr userDrawn="1"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69639" name="Rectangle 1031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914400" y="1143000"/>
            <a:ext cx="10363200" cy="1143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640" name="Rectangle 1032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1828800" y="2819400"/>
            <a:ext cx="85344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dt" sz="quarter" idx="10"/>
          </p:nvPr>
        </p:nvSpPr>
        <p:spPr>
          <a:xfrm>
            <a:off x="0" y="6248400"/>
            <a:ext cx="38608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PMP Exam Prep Course @Copyright</a:t>
            </a:r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 w="12700" cap="sq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FFFFFF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/>
              <a:t>PMI - KPC - PMP Course </a:t>
            </a:r>
          </a:p>
        </p:txBody>
      </p:sp>
      <p:sp>
        <p:nvSpPr>
          <p:cNvPr id="11" name="Rectangle 103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5D4A06-4938-43B3-81E8-59252660C4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470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A2B130-B477-4DD3-8338-CBAEB9685D6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6898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841DF2-9F4B-4848-BB4C-8D02785F511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88329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25F2FD-A0E4-4324-9C35-FE74C4A4C2B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60107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B1154-A18B-4731-940A-2943F4A23E5F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5690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CDB2BA-9B40-471C-8702-1CF8048E140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2510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260808-6C87-47F5-A263-E19BB536B25B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9434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9E7A8-BC4D-4D7F-8143-B12F6F59148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73276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4A050B-D7F3-440C-9648-C158D80C86B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4085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FD9FA6-E9C7-4E66-AD02-84EB557742F8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5777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7C3BBB-2B19-4472-AFEC-FFA9CE66F49C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467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E4F14D-1B0D-49CE-AD77-13665AA45B8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63805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9AB761-3044-4294-92E3-F175470AFFEB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4482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022C6D-90CC-4484-A944-D1D42B2A9B6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793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009EC-FC9D-43B0-831F-8006C34429A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735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3DD600-529E-4710-B109-57242CE16AB7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4230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cs typeface="Times New Roman" panose="02020603050405020304" pitchFamily="18" charset="0"/>
              </a:defRPr>
            </a:lvl1pPr>
          </a:lstStyle>
          <a:p>
            <a:fld id="{2D0246B9-6368-4AFE-A564-4E10B2CDD144}" type="slidenum">
              <a:rPr lang="ar-SA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291363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03B5E5-58CF-4767-A7C9-7F20C689D7D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05334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879D31-813E-41DB-AFF8-55BD9DDC6A49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018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1_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7BCE84-8E43-4ABC-A05C-CE38BC8D3A7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058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1A5252-8F47-4AAB-9BDD-5C4678B0EE2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757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825625"/>
            <a:ext cx="9791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4EAB7D7-3608-4730-B2E2-670834DF882C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B7BAC7-FE87-40F6-AA24-4F4685D1B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6172200"/>
            <a:ext cx="416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86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pPr fontAlgn="base">
              <a:spcAft>
                <a:spcPct val="0"/>
              </a:spcAft>
            </a:pPr>
            <a:fld id="{CB1AE5CD-12AF-4448-B43F-F0EF8EBC0EB9}" type="slidenum">
              <a:rPr lang="en-US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2438400" y="3324226"/>
            <a:ext cx="12192000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FFFFFF"/>
              </a:solidFill>
            </a:endParaRPr>
          </a:p>
        </p:txBody>
      </p:sp>
      <p:grpSp>
        <p:nvGrpSpPr>
          <p:cNvPr id="24581" name="Group 13"/>
          <p:cNvGrpSpPr>
            <a:grpSpLocks/>
          </p:cNvGrpSpPr>
          <p:nvPr/>
        </p:nvGrpSpPr>
        <p:grpSpPr bwMode="auto">
          <a:xfrm>
            <a:off x="0" y="1295400"/>
            <a:ext cx="12192000" cy="152400"/>
            <a:chOff x="0" y="1776"/>
            <a:chExt cx="5760" cy="96"/>
          </a:xfrm>
        </p:grpSpPr>
        <p:sp>
          <p:nvSpPr>
            <p:cNvPr id="68622" name="Rectangle 14"/>
            <p:cNvSpPr>
              <a:spLocks noChangeArrowheads="1"/>
            </p:cNvSpPr>
            <p:nvPr userDrawn="1"/>
          </p:nvSpPr>
          <p:spPr bwMode="auto">
            <a:xfrm>
              <a:off x="0" y="1776"/>
              <a:ext cx="5760" cy="96"/>
            </a:xfrm>
            <a:prstGeom prst="rect">
              <a:avLst/>
            </a:prstGeom>
            <a:solidFill>
              <a:srgbClr val="1287DE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3" name="Line 15"/>
            <p:cNvSpPr>
              <a:spLocks noChangeShapeType="1"/>
            </p:cNvSpPr>
            <p:nvPr userDrawn="1"/>
          </p:nvSpPr>
          <p:spPr bwMode="auto">
            <a:xfrm>
              <a:off x="0" y="1824"/>
              <a:ext cx="5760" cy="0"/>
            </a:xfrm>
            <a:prstGeom prst="line">
              <a:avLst/>
            </a:prstGeom>
            <a:noFill/>
            <a:ln w="76200" cap="sq">
              <a:solidFill>
                <a:srgbClr val="0066CC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24582" name="Group 16"/>
          <p:cNvGrpSpPr>
            <a:grpSpLocks/>
          </p:cNvGrpSpPr>
          <p:nvPr userDrawn="1"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68625" name="Freeform 17"/>
            <p:cNvSpPr>
              <a:spLocks/>
            </p:cNvSpPr>
            <p:nvPr userDrawn="1"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6" name="Freeform 18"/>
            <p:cNvSpPr>
              <a:spLocks/>
            </p:cNvSpPr>
            <p:nvPr userDrawn="1"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7" name="Freeform 19"/>
            <p:cNvSpPr>
              <a:spLocks/>
            </p:cNvSpPr>
            <p:nvPr userDrawn="1"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8" name="Freeform 20"/>
            <p:cNvSpPr>
              <a:spLocks/>
            </p:cNvSpPr>
            <p:nvPr userDrawn="1"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68636" name="Rectangle 28"/>
          <p:cNvSpPr>
            <a:spLocks noChangeArrowheads="1"/>
          </p:cNvSpPr>
          <p:nvPr userDrawn="1"/>
        </p:nvSpPr>
        <p:spPr bwMode="auto">
          <a:xfrm>
            <a:off x="1" y="2564757"/>
            <a:ext cx="184731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FFFFFF"/>
              </a:solidFill>
            </a:endParaRPr>
          </a:p>
        </p:txBody>
      </p:sp>
      <p:pic>
        <p:nvPicPr>
          <p:cNvPr id="24584" name="Picture 27"/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1" y="1"/>
            <a:ext cx="8509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5" name="Picture 26">
            <a:hlinkClick r:id="" action="ppaction://noaction"/>
          </p:cNvPr>
          <p:cNvPicPr>
            <a:picLocks noChangeAspect="1" noChangeArrowheads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7301" y="0"/>
            <a:ext cx="2044700" cy="628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37" name="Rectangle 29"/>
          <p:cNvSpPr>
            <a:spLocks noChangeArrowheads="1"/>
          </p:cNvSpPr>
          <p:nvPr userDrawn="1"/>
        </p:nvSpPr>
        <p:spPr bwMode="auto">
          <a:xfrm>
            <a:off x="9245600" y="733426"/>
            <a:ext cx="2946400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FFFFFF"/>
                </a:solidFill>
              </a:rPr>
              <a:t>Project Management Institute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FFFFFF"/>
                </a:solidFill>
              </a:rPr>
              <a:t>KARACHI PAKISTAN CHAPTER</a:t>
            </a:r>
            <a:r>
              <a:rPr lang="en-US" sz="1000">
                <a:solidFill>
                  <a:srgbClr val="FFFFFF"/>
                </a:solidFill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FFFFFF"/>
                </a:solidFill>
              </a:rPr>
              <a:t>http:///www.pmikarachi.org</a:t>
            </a:r>
          </a:p>
        </p:txBody>
      </p:sp>
    </p:spTree>
    <p:extLst>
      <p:ext uri="{BB962C8B-B14F-4D97-AF65-F5344CB8AC3E}">
        <p14:creationId xmlns:p14="http://schemas.microsoft.com/office/powerpoint/2010/main" val="1549181387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6172200"/>
            <a:ext cx="416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86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pPr fontAlgn="base">
              <a:spcAft>
                <a:spcPct val="0"/>
              </a:spcAft>
            </a:pPr>
            <a:fld id="{CB1AE5CD-12AF-4448-B43F-F0EF8EBC0EB9}" type="slidenum">
              <a:rPr lang="en-US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2438400" y="3324226"/>
            <a:ext cx="12192000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FFFFFF"/>
              </a:solidFill>
            </a:endParaRPr>
          </a:p>
        </p:txBody>
      </p:sp>
      <p:grpSp>
        <p:nvGrpSpPr>
          <p:cNvPr id="24581" name="Group 13"/>
          <p:cNvGrpSpPr>
            <a:grpSpLocks/>
          </p:cNvGrpSpPr>
          <p:nvPr/>
        </p:nvGrpSpPr>
        <p:grpSpPr bwMode="auto">
          <a:xfrm>
            <a:off x="0" y="1295400"/>
            <a:ext cx="12192000" cy="152400"/>
            <a:chOff x="0" y="1776"/>
            <a:chExt cx="5760" cy="96"/>
          </a:xfrm>
        </p:grpSpPr>
        <p:sp>
          <p:nvSpPr>
            <p:cNvPr id="68622" name="Rectangle 14"/>
            <p:cNvSpPr>
              <a:spLocks noChangeArrowheads="1"/>
            </p:cNvSpPr>
            <p:nvPr userDrawn="1"/>
          </p:nvSpPr>
          <p:spPr bwMode="auto">
            <a:xfrm>
              <a:off x="0" y="1776"/>
              <a:ext cx="5760" cy="96"/>
            </a:xfrm>
            <a:prstGeom prst="rect">
              <a:avLst/>
            </a:prstGeom>
            <a:solidFill>
              <a:srgbClr val="1287DE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3" name="Line 15"/>
            <p:cNvSpPr>
              <a:spLocks noChangeShapeType="1"/>
            </p:cNvSpPr>
            <p:nvPr userDrawn="1"/>
          </p:nvSpPr>
          <p:spPr bwMode="auto">
            <a:xfrm>
              <a:off x="0" y="1824"/>
              <a:ext cx="5760" cy="0"/>
            </a:xfrm>
            <a:prstGeom prst="line">
              <a:avLst/>
            </a:prstGeom>
            <a:noFill/>
            <a:ln w="76200" cap="sq">
              <a:solidFill>
                <a:srgbClr val="0066CC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24582" name="Group 16"/>
          <p:cNvGrpSpPr>
            <a:grpSpLocks/>
          </p:cNvGrpSpPr>
          <p:nvPr userDrawn="1"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68625" name="Freeform 17"/>
            <p:cNvSpPr>
              <a:spLocks/>
            </p:cNvSpPr>
            <p:nvPr userDrawn="1"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6" name="Freeform 18"/>
            <p:cNvSpPr>
              <a:spLocks/>
            </p:cNvSpPr>
            <p:nvPr userDrawn="1"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7" name="Freeform 19"/>
            <p:cNvSpPr>
              <a:spLocks/>
            </p:cNvSpPr>
            <p:nvPr userDrawn="1"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8" name="Freeform 20"/>
            <p:cNvSpPr>
              <a:spLocks/>
            </p:cNvSpPr>
            <p:nvPr userDrawn="1"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68636" name="Rectangle 28"/>
          <p:cNvSpPr>
            <a:spLocks noChangeArrowheads="1"/>
          </p:cNvSpPr>
          <p:nvPr userDrawn="1"/>
        </p:nvSpPr>
        <p:spPr bwMode="auto">
          <a:xfrm>
            <a:off x="1" y="2564757"/>
            <a:ext cx="184731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FFFFFF"/>
              </a:solidFill>
            </a:endParaRPr>
          </a:p>
        </p:txBody>
      </p:sp>
      <p:pic>
        <p:nvPicPr>
          <p:cNvPr id="24584" name="Picture 27"/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1" y="1"/>
            <a:ext cx="8509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5" name="Picture 26">
            <a:hlinkClick r:id="" action="ppaction://noaction"/>
          </p:cNvPr>
          <p:cNvPicPr>
            <a:picLocks noChangeAspect="1" noChangeArrowheads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7301" y="0"/>
            <a:ext cx="2044700" cy="628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37" name="Rectangle 29"/>
          <p:cNvSpPr>
            <a:spLocks noChangeArrowheads="1"/>
          </p:cNvSpPr>
          <p:nvPr userDrawn="1"/>
        </p:nvSpPr>
        <p:spPr bwMode="auto">
          <a:xfrm>
            <a:off x="9245600" y="733426"/>
            <a:ext cx="2946400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FFFFFF"/>
                </a:solidFill>
              </a:rPr>
              <a:t>Project Management Institute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FFFFFF"/>
                </a:solidFill>
              </a:rPr>
              <a:t>KARACHI PAKISTAN CHAPTER</a:t>
            </a:r>
            <a:r>
              <a:rPr lang="en-US" sz="1000">
                <a:solidFill>
                  <a:srgbClr val="FFFFFF"/>
                </a:solidFill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FFFFFF"/>
                </a:solidFill>
              </a:rPr>
              <a:t>http:///www.pmikarachi.org</a:t>
            </a:r>
          </a:p>
        </p:txBody>
      </p:sp>
    </p:spTree>
    <p:extLst>
      <p:ext uri="{BB962C8B-B14F-4D97-AF65-F5344CB8AC3E}">
        <p14:creationId xmlns:p14="http://schemas.microsoft.com/office/powerpoint/2010/main" val="320538961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6172200"/>
            <a:ext cx="416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>
                <a:solidFill>
                  <a:srgbClr val="FFFFFF"/>
                </a:solidFill>
              </a:rPr>
              <a:t>PMP Exam Prep Course @Copyright</a:t>
            </a:r>
          </a:p>
        </p:txBody>
      </p:sp>
      <p:sp>
        <p:nvSpPr>
          <p:cNvPr id="686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pPr fontAlgn="base">
              <a:spcAft>
                <a:spcPct val="0"/>
              </a:spcAft>
            </a:pPr>
            <a:fld id="{CB1AE5CD-12AF-4448-B43F-F0EF8EBC0EB9}" type="slidenum">
              <a:rPr lang="en-US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2438400" y="3324226"/>
            <a:ext cx="12192000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FFFFFF"/>
              </a:solidFill>
            </a:endParaRPr>
          </a:p>
        </p:txBody>
      </p:sp>
      <p:grpSp>
        <p:nvGrpSpPr>
          <p:cNvPr id="24581" name="Group 13"/>
          <p:cNvGrpSpPr>
            <a:grpSpLocks/>
          </p:cNvGrpSpPr>
          <p:nvPr/>
        </p:nvGrpSpPr>
        <p:grpSpPr bwMode="auto">
          <a:xfrm>
            <a:off x="0" y="1295400"/>
            <a:ext cx="12192000" cy="152400"/>
            <a:chOff x="0" y="1776"/>
            <a:chExt cx="5760" cy="96"/>
          </a:xfrm>
        </p:grpSpPr>
        <p:sp>
          <p:nvSpPr>
            <p:cNvPr id="68622" name="Rectangle 14"/>
            <p:cNvSpPr>
              <a:spLocks noChangeArrowheads="1"/>
            </p:cNvSpPr>
            <p:nvPr userDrawn="1"/>
          </p:nvSpPr>
          <p:spPr bwMode="auto">
            <a:xfrm>
              <a:off x="0" y="1776"/>
              <a:ext cx="5760" cy="96"/>
            </a:xfrm>
            <a:prstGeom prst="rect">
              <a:avLst/>
            </a:prstGeom>
            <a:solidFill>
              <a:srgbClr val="1287DE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3" name="Line 15"/>
            <p:cNvSpPr>
              <a:spLocks noChangeShapeType="1"/>
            </p:cNvSpPr>
            <p:nvPr userDrawn="1"/>
          </p:nvSpPr>
          <p:spPr bwMode="auto">
            <a:xfrm>
              <a:off x="0" y="1824"/>
              <a:ext cx="5760" cy="0"/>
            </a:xfrm>
            <a:prstGeom prst="line">
              <a:avLst/>
            </a:prstGeom>
            <a:noFill/>
            <a:ln w="76200" cap="sq">
              <a:solidFill>
                <a:srgbClr val="0066CC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24582" name="Group 16"/>
          <p:cNvGrpSpPr>
            <a:grpSpLocks/>
          </p:cNvGrpSpPr>
          <p:nvPr userDrawn="1"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68625" name="Freeform 17"/>
            <p:cNvSpPr>
              <a:spLocks/>
            </p:cNvSpPr>
            <p:nvPr userDrawn="1"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6" name="Freeform 18"/>
            <p:cNvSpPr>
              <a:spLocks/>
            </p:cNvSpPr>
            <p:nvPr userDrawn="1"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7" name="Freeform 19"/>
            <p:cNvSpPr>
              <a:spLocks/>
            </p:cNvSpPr>
            <p:nvPr userDrawn="1"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68628" name="Freeform 20"/>
            <p:cNvSpPr>
              <a:spLocks/>
            </p:cNvSpPr>
            <p:nvPr userDrawn="1"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68636" name="Rectangle 28"/>
          <p:cNvSpPr>
            <a:spLocks noChangeArrowheads="1"/>
          </p:cNvSpPr>
          <p:nvPr userDrawn="1"/>
        </p:nvSpPr>
        <p:spPr bwMode="auto">
          <a:xfrm>
            <a:off x="1" y="2564757"/>
            <a:ext cx="184731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FFFFFF"/>
              </a:solidFill>
            </a:endParaRPr>
          </a:p>
        </p:txBody>
      </p:sp>
      <p:pic>
        <p:nvPicPr>
          <p:cNvPr id="24584" name="Picture 27"/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1" y="1"/>
            <a:ext cx="8509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5" name="Picture 26">
            <a:hlinkClick r:id="" action="ppaction://noaction"/>
          </p:cNvPr>
          <p:cNvPicPr>
            <a:picLocks noChangeAspect="1" noChangeArrowheads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7301" y="0"/>
            <a:ext cx="2044700" cy="628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37" name="Rectangle 29"/>
          <p:cNvSpPr>
            <a:spLocks noChangeArrowheads="1"/>
          </p:cNvSpPr>
          <p:nvPr userDrawn="1"/>
        </p:nvSpPr>
        <p:spPr bwMode="auto">
          <a:xfrm>
            <a:off x="9245600" y="733426"/>
            <a:ext cx="2946400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FFFFFF"/>
                </a:solidFill>
              </a:rPr>
              <a:t>Project Management Institute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FFFFFF"/>
                </a:solidFill>
              </a:rPr>
              <a:t>KARACHI PAKISTAN CHAPTER</a:t>
            </a:r>
            <a:r>
              <a:rPr lang="en-US" sz="1000">
                <a:solidFill>
                  <a:srgbClr val="FFFFFF"/>
                </a:solidFill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FFFFFF"/>
                </a:solidFill>
              </a:rPr>
              <a:t>http:///www.pmikarachi.org</a:t>
            </a:r>
          </a:p>
        </p:txBody>
      </p:sp>
    </p:spTree>
    <p:extLst>
      <p:ext uri="{BB962C8B-B14F-4D97-AF65-F5344CB8AC3E}">
        <p14:creationId xmlns:p14="http://schemas.microsoft.com/office/powerpoint/2010/main" val="225310255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1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69571"/>
            <a:ext cx="9144000" cy="5029200"/>
          </a:xfrm>
        </p:spPr>
        <p:txBody>
          <a:bodyPr>
            <a:normAutofit/>
          </a:bodyPr>
          <a:lstStyle/>
          <a:p>
            <a:pPr algn="l"/>
            <a:endParaRPr lang="en-US" sz="105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050" dirty="0">
              <a:latin typeface="Arial" panose="020B0604020202020204" pitchFamily="34" charset="0"/>
            </a:endParaRPr>
          </a:p>
          <a:p>
            <a:r>
              <a:rPr lang="en-US" sz="1050" dirty="0">
                <a:latin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Fundamentals of Project Management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MS(PM) MSP </a:t>
            </a:r>
            <a:r>
              <a:rPr lang="en-US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601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Semester: 1	</a:t>
            </a:r>
            <a:r>
              <a:rPr lang="en-US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Fall </a:t>
            </a:r>
            <a:r>
              <a:rPr lang="en-US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2024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Lecture # 3</a:t>
            </a:r>
          </a:p>
          <a:p>
            <a:endParaRPr lang="en-US" b="1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FACULTY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OF MANAGEMENT </a:t>
            </a:r>
            <a:r>
              <a:rPr lang="en-US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STUDIES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BUKC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64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PROJECT?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324100" y="1462088"/>
            <a:ext cx="87630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What Do you mean by Temporary Endeavor?</a:t>
            </a:r>
            <a:endParaRPr lang="en-US" sz="24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77159" y="1921177"/>
            <a:ext cx="87630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tx1"/>
                </a:solidFill>
              </a:rPr>
              <a:t>Does Temporary Endeavor mean short term in duration?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74073" y="2895600"/>
            <a:ext cx="876300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tx1"/>
                </a:solidFill>
              </a:rPr>
              <a:t>What do you call unique result, product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and service?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And what is it?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07818" y="3851564"/>
            <a:ext cx="87630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tx1"/>
                </a:solidFill>
              </a:rPr>
              <a:t>Can elements with a project can b repeated? </a:t>
            </a:r>
            <a:r>
              <a:rPr lang="en-US" sz="2400" dirty="0" err="1" smtClean="0">
                <a:solidFill>
                  <a:schemeClr val="tx1"/>
                </a:solidFill>
              </a:rPr>
              <a:t>Eg</a:t>
            </a:r>
            <a:r>
              <a:rPr lang="en-US" sz="2400" dirty="0" smtClean="0">
                <a:solidFill>
                  <a:schemeClr val="tx1"/>
                </a:solidFill>
              </a:rPr>
              <a:t>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76200" y="4343400"/>
            <a:ext cx="9019309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tx1"/>
                </a:solidFill>
              </a:rPr>
              <a:t>Can 2 building of exactly same design cost size b still unique?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How?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554182" y="5943600"/>
            <a:ext cx="87630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tx1"/>
                </a:solidFill>
              </a:rPr>
              <a:t>What is the importance of Project Management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554182" y="5103511"/>
            <a:ext cx="876300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tx1"/>
                </a:solidFill>
              </a:rPr>
              <a:t>If I say Project enhance Business Value for project? What is BV &amp; How?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228600" y="2438400"/>
            <a:ext cx="87630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tx1"/>
                </a:solidFill>
              </a:rPr>
              <a:t>How can be the purpose to end the project?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42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</a:t>
            </a:r>
            <a:r>
              <a:rPr lang="en-US" dirty="0" smtClean="0"/>
              <a:t>Outcomes for Lecture #3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600" b="1" dirty="0"/>
              <a:t>Organizational influences and project lifecycle: </a:t>
            </a:r>
            <a:endParaRPr lang="en-US" sz="3600" b="1" dirty="0"/>
          </a:p>
          <a:p>
            <a:pPr lvl="0"/>
            <a:r>
              <a:rPr lang="en-GB" dirty="0"/>
              <a:t>Organizational influences on project management </a:t>
            </a:r>
            <a:endParaRPr lang="en-US" dirty="0"/>
          </a:p>
          <a:p>
            <a:pPr lvl="0"/>
            <a:r>
              <a:rPr lang="en-GB" dirty="0"/>
              <a:t>Project stakeholders and governance</a:t>
            </a:r>
            <a:endParaRPr lang="en-US" dirty="0"/>
          </a:p>
          <a:p>
            <a:pPr lvl="0"/>
            <a:r>
              <a:rPr lang="en-GB" dirty="0"/>
              <a:t>Project lifecycle</a:t>
            </a:r>
            <a:endParaRPr lang="en-US" dirty="0"/>
          </a:p>
          <a:p>
            <a:pPr lvl="0"/>
            <a:r>
              <a:rPr lang="en-GB" dirty="0"/>
              <a:t>The Project Manager</a:t>
            </a:r>
            <a:endParaRPr lang="en-US" dirty="0"/>
          </a:p>
          <a:p>
            <a:r>
              <a:rPr lang="en-US" dirty="0"/>
              <a:t>Drivers of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306984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12057"/>
            <a:ext cx="9144000" cy="82005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PROJECTS ENVIRONMENT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69571"/>
            <a:ext cx="9144000" cy="5029200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Projects environment influence their operation; favorable or unfavorable.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Two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major categories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are: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Enterprise Environmental Factors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(EEFs) 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Organizational Process Assets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(OPAs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EEFs originate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inside/outside the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project and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enterprise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Impact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 the organizational, portfolio, program, or project level.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OPAs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arise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from the organization itself, a portfolio, a program,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another project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or a combination of these.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23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INFLUENCES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51" y="1356072"/>
            <a:ext cx="11887200" cy="5541150"/>
          </a:xfrm>
        </p:spPr>
      </p:pic>
    </p:spTree>
    <p:extLst>
      <p:ext uri="{BB962C8B-B14F-4D97-AF65-F5344CB8AC3E}">
        <p14:creationId xmlns:p14="http://schemas.microsoft.com/office/powerpoint/2010/main" val="41224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ENTERPRISE ENVIRONMENTAL FACTORS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79653"/>
            <a:ext cx="9791700" cy="5097310"/>
          </a:xfrm>
        </p:spPr>
        <p:txBody>
          <a:bodyPr>
            <a:normAutofit fontScale="92500"/>
          </a:bodyPr>
          <a:lstStyle/>
          <a:p>
            <a:r>
              <a:rPr lang="en-US" sz="3200" dirty="0" smtClean="0"/>
              <a:t>EEFs </a:t>
            </a:r>
            <a:r>
              <a:rPr lang="en-US" sz="3200" dirty="0"/>
              <a:t>refer to conditions, not under the control of the project team, that influence</a:t>
            </a:r>
            <a:r>
              <a:rPr lang="en-US" sz="3200" dirty="0" smtClean="0"/>
              <a:t>, constrain</a:t>
            </a:r>
            <a:r>
              <a:rPr lang="en-US" sz="3200" dirty="0"/>
              <a:t>, or direct the project. </a:t>
            </a:r>
            <a:endParaRPr lang="en-US" sz="3200" dirty="0" smtClean="0"/>
          </a:p>
          <a:p>
            <a:r>
              <a:rPr lang="en-US" sz="3200" dirty="0" smtClean="0"/>
              <a:t>EEFs are considered </a:t>
            </a:r>
            <a:r>
              <a:rPr lang="en-US" sz="3200" dirty="0"/>
              <a:t>as </a:t>
            </a:r>
            <a:r>
              <a:rPr lang="en-US" sz="3200" dirty="0" smtClean="0"/>
              <a:t>inputs, for </a:t>
            </a:r>
            <a:r>
              <a:rPr lang="en-US" sz="3200" dirty="0"/>
              <a:t>most planning </a:t>
            </a:r>
            <a:r>
              <a:rPr lang="en-US" sz="3200" dirty="0" smtClean="0"/>
              <a:t>processes.</a:t>
            </a:r>
          </a:p>
          <a:p>
            <a:r>
              <a:rPr lang="en-US" sz="3200" dirty="0" smtClean="0"/>
              <a:t>May </a:t>
            </a:r>
            <a:r>
              <a:rPr lang="en-US" sz="3200" dirty="0"/>
              <a:t>enhance or constrain project management options. </a:t>
            </a:r>
            <a:endParaRPr lang="en-US" sz="3200" dirty="0" smtClean="0"/>
          </a:p>
          <a:p>
            <a:r>
              <a:rPr lang="en-US" sz="3200" dirty="0" smtClean="0"/>
              <a:t>May </a:t>
            </a:r>
            <a:r>
              <a:rPr lang="en-US" sz="3200" dirty="0"/>
              <a:t>have a positive or </a:t>
            </a:r>
            <a:r>
              <a:rPr lang="en-US" sz="3200" dirty="0" smtClean="0"/>
              <a:t>negative influence </a:t>
            </a:r>
            <a:r>
              <a:rPr lang="en-US" sz="3200" dirty="0"/>
              <a:t>on the outcome.</a:t>
            </a:r>
          </a:p>
          <a:p>
            <a:r>
              <a:rPr lang="en-US" sz="3200" dirty="0" smtClean="0"/>
              <a:t>Vary </a:t>
            </a:r>
            <a:r>
              <a:rPr lang="en-US" sz="3200" dirty="0"/>
              <a:t>widely in type or nature. </a:t>
            </a:r>
            <a:endParaRPr lang="en-US" sz="3200" dirty="0" smtClean="0"/>
          </a:p>
          <a:p>
            <a:r>
              <a:rPr lang="en-US" sz="3200" dirty="0" smtClean="0"/>
              <a:t>These </a:t>
            </a:r>
            <a:r>
              <a:rPr lang="en-US" sz="3200" dirty="0"/>
              <a:t>factors need to be considered if the project is to be effective.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7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EEFS INTERNAL TO THE ORGANIZATION</a:t>
            </a:r>
            <a:br>
              <a:rPr lang="en-US" sz="36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79653"/>
            <a:ext cx="9791700" cy="509731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b="1" dirty="0" smtClean="0"/>
              <a:t>Organizational </a:t>
            </a:r>
            <a:r>
              <a:rPr lang="en-US" b="1" dirty="0"/>
              <a:t>culture, structure, and governance. </a:t>
            </a:r>
            <a:r>
              <a:rPr lang="en-US" dirty="0"/>
              <a:t>V</a:t>
            </a:r>
            <a:r>
              <a:rPr lang="en-US" dirty="0" smtClean="0"/>
              <a:t>ision</a:t>
            </a:r>
            <a:r>
              <a:rPr lang="en-US" dirty="0"/>
              <a:t>, mission, values, beliefs, </a:t>
            </a:r>
            <a:r>
              <a:rPr lang="en-US" dirty="0" smtClean="0"/>
              <a:t>cultural norms</a:t>
            </a:r>
            <a:r>
              <a:rPr lang="en-US" dirty="0"/>
              <a:t>, leadership style, hierarchy and authority relationships, organizational style, ethics, and code of conduct.</a:t>
            </a:r>
          </a:p>
          <a:p>
            <a:r>
              <a:rPr lang="en-US" b="1" dirty="0" smtClean="0"/>
              <a:t>Geographic </a:t>
            </a:r>
            <a:r>
              <a:rPr lang="en-US" b="1" dirty="0"/>
              <a:t>distribution of facilities and resources. </a:t>
            </a:r>
            <a:r>
              <a:rPr lang="en-US" dirty="0"/>
              <a:t>F</a:t>
            </a:r>
            <a:r>
              <a:rPr lang="en-US" dirty="0" smtClean="0"/>
              <a:t>actory </a:t>
            </a:r>
            <a:r>
              <a:rPr lang="en-US" dirty="0"/>
              <a:t>locations</a:t>
            </a:r>
            <a:r>
              <a:rPr lang="en-US" dirty="0" smtClean="0"/>
              <a:t>, virtual </a:t>
            </a:r>
            <a:r>
              <a:rPr lang="en-US" dirty="0"/>
              <a:t>teams, </a:t>
            </a:r>
            <a:r>
              <a:rPr lang="en-US" dirty="0" smtClean="0"/>
              <a:t>shared systems</a:t>
            </a:r>
            <a:r>
              <a:rPr lang="en-US" dirty="0"/>
              <a:t>, and cloud computing.</a:t>
            </a:r>
          </a:p>
          <a:p>
            <a:r>
              <a:rPr lang="en-US" b="1" dirty="0" smtClean="0"/>
              <a:t>Infrastructure</a:t>
            </a:r>
            <a:r>
              <a:rPr lang="en-US" b="1" dirty="0"/>
              <a:t>. </a:t>
            </a:r>
            <a:r>
              <a:rPr lang="en-US" b="1" dirty="0" smtClean="0"/>
              <a:t> </a:t>
            </a:r>
            <a:r>
              <a:rPr lang="en-US" dirty="0" smtClean="0"/>
              <a:t>Existing </a:t>
            </a:r>
            <a:r>
              <a:rPr lang="en-US" dirty="0"/>
              <a:t>facilities, equipment, organizational telecommunications channels</a:t>
            </a:r>
            <a:r>
              <a:rPr lang="en-US" dirty="0" smtClean="0"/>
              <a:t>, IT </a:t>
            </a:r>
            <a:r>
              <a:rPr lang="en-US" dirty="0"/>
              <a:t>hardware, availability, and capacity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84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EEFS INTERNAL TO THE ORGANIZATION</a:t>
            </a:r>
            <a:br>
              <a:rPr lang="en-US" sz="36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79653"/>
            <a:ext cx="9791700" cy="509731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b="1" dirty="0" smtClean="0"/>
              <a:t>IT </a:t>
            </a:r>
            <a:r>
              <a:rPr lang="en-US" b="1" dirty="0"/>
              <a:t>software. </a:t>
            </a:r>
            <a:r>
              <a:rPr lang="en-US" dirty="0" smtClean="0"/>
              <a:t>scheduling </a:t>
            </a:r>
            <a:r>
              <a:rPr lang="en-US" dirty="0"/>
              <a:t>software tools, configuration </a:t>
            </a:r>
            <a:r>
              <a:rPr lang="en-US" dirty="0" smtClean="0"/>
              <a:t>management systems</a:t>
            </a:r>
            <a:r>
              <a:rPr lang="en-US" dirty="0"/>
              <a:t>, web interfaces to other online automated systems, and work authorization systems.</a:t>
            </a:r>
          </a:p>
          <a:p>
            <a:r>
              <a:rPr lang="en-US" b="1" dirty="0" smtClean="0"/>
              <a:t>Resource </a:t>
            </a:r>
            <a:r>
              <a:rPr lang="en-US" b="1" dirty="0"/>
              <a:t>availability. </a:t>
            </a:r>
            <a:r>
              <a:rPr lang="en-US" dirty="0" smtClean="0"/>
              <a:t>contracting </a:t>
            </a:r>
            <a:r>
              <a:rPr lang="en-US" dirty="0"/>
              <a:t>and purchasing constraints, approved </a:t>
            </a:r>
            <a:r>
              <a:rPr lang="en-US" dirty="0" smtClean="0"/>
              <a:t>providers, subcontractors</a:t>
            </a:r>
            <a:r>
              <a:rPr lang="en-US" dirty="0"/>
              <a:t>, and collaboration agreements.</a:t>
            </a:r>
          </a:p>
          <a:p>
            <a:r>
              <a:rPr lang="en-US" b="1" dirty="0" smtClean="0"/>
              <a:t>Employee </a:t>
            </a:r>
            <a:r>
              <a:rPr lang="en-US" b="1" dirty="0"/>
              <a:t>capability. </a:t>
            </a:r>
            <a:r>
              <a:rPr lang="en-US" dirty="0" smtClean="0"/>
              <a:t>Existing HR </a:t>
            </a:r>
            <a:r>
              <a:rPr lang="en-US" dirty="0"/>
              <a:t>expertise, skills, competencies, </a:t>
            </a:r>
            <a:r>
              <a:rPr lang="en-US" dirty="0" smtClean="0"/>
              <a:t>and specialized </a:t>
            </a:r>
            <a:r>
              <a:rPr lang="en-US" dirty="0"/>
              <a:t>knowledge.</a:t>
            </a:r>
          </a:p>
        </p:txBody>
      </p:sp>
    </p:spTree>
    <p:extLst>
      <p:ext uri="{BB962C8B-B14F-4D97-AF65-F5344CB8AC3E}">
        <p14:creationId xmlns:p14="http://schemas.microsoft.com/office/powerpoint/2010/main" val="328756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EEFS EXTERNAL TO </a:t>
            </a:r>
            <a:r>
              <a:rPr lang="en-US" sz="3600" dirty="0" smtClean="0"/>
              <a:t>THE ORGANIZATION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24569"/>
            <a:ext cx="9791700" cy="5152394"/>
          </a:xfrm>
        </p:spPr>
        <p:txBody>
          <a:bodyPr>
            <a:normAutofit/>
          </a:bodyPr>
          <a:lstStyle/>
          <a:p>
            <a:r>
              <a:rPr lang="en-US" b="1" dirty="0" smtClean="0"/>
              <a:t>Marketplace </a:t>
            </a:r>
            <a:r>
              <a:rPr lang="en-US" b="1" dirty="0"/>
              <a:t>conditions. </a:t>
            </a:r>
            <a:r>
              <a:rPr lang="en-US" dirty="0" smtClean="0"/>
              <a:t>Competitors</a:t>
            </a:r>
            <a:r>
              <a:rPr lang="en-US" dirty="0"/>
              <a:t>, market </a:t>
            </a:r>
            <a:r>
              <a:rPr lang="en-US" dirty="0" smtClean="0"/>
              <a:t>share, </a:t>
            </a:r>
            <a:r>
              <a:rPr lang="en-US" dirty="0"/>
              <a:t>brand recognition, and trademarks.</a:t>
            </a:r>
          </a:p>
          <a:p>
            <a:r>
              <a:rPr lang="en-US" b="1" dirty="0" smtClean="0"/>
              <a:t>Social </a:t>
            </a:r>
            <a:r>
              <a:rPr lang="en-US" b="1" dirty="0"/>
              <a:t>and cultural influences and issues. </a:t>
            </a:r>
            <a:r>
              <a:rPr lang="en-US" dirty="0" smtClean="0"/>
              <a:t>Political </a:t>
            </a:r>
            <a:r>
              <a:rPr lang="en-US" dirty="0"/>
              <a:t>climate, codes of conduct, ethics</a:t>
            </a:r>
            <a:r>
              <a:rPr lang="en-US" dirty="0" smtClean="0"/>
              <a:t>, and </a:t>
            </a:r>
            <a:r>
              <a:rPr lang="en-US" dirty="0"/>
              <a:t>perceptions.</a:t>
            </a:r>
          </a:p>
          <a:p>
            <a:r>
              <a:rPr lang="en-US" b="1" dirty="0" smtClean="0"/>
              <a:t>Legal </a:t>
            </a:r>
            <a:r>
              <a:rPr lang="en-US" b="1" dirty="0"/>
              <a:t>restrictions. </a:t>
            </a:r>
            <a:r>
              <a:rPr lang="en-US" dirty="0" smtClean="0"/>
              <a:t>Country </a:t>
            </a:r>
            <a:r>
              <a:rPr lang="en-US" dirty="0"/>
              <a:t>or local laws and regulations related to security, data protection</a:t>
            </a:r>
            <a:r>
              <a:rPr lang="en-US" dirty="0" smtClean="0"/>
              <a:t>, business </a:t>
            </a:r>
            <a:r>
              <a:rPr lang="en-US" dirty="0"/>
              <a:t>conduct, employment, and procurement.</a:t>
            </a:r>
          </a:p>
          <a:p>
            <a:r>
              <a:rPr lang="en-US" b="1" dirty="0" smtClean="0"/>
              <a:t>Commercial </a:t>
            </a:r>
            <a:r>
              <a:rPr lang="en-US" b="1" dirty="0"/>
              <a:t>databases. </a:t>
            </a:r>
            <a:r>
              <a:rPr lang="en-US" dirty="0" smtClean="0"/>
              <a:t>Benchmarking </a:t>
            </a:r>
            <a:r>
              <a:rPr lang="en-US" dirty="0"/>
              <a:t>results, standardized cost estimating data, </a:t>
            </a:r>
            <a:r>
              <a:rPr lang="en-US" dirty="0" smtClean="0"/>
              <a:t>industry risk </a:t>
            </a:r>
            <a:r>
              <a:rPr lang="en-US" dirty="0"/>
              <a:t>study information, and risk databases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71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EEFS EXTERNAL TO </a:t>
            </a:r>
            <a:r>
              <a:rPr lang="en-US" sz="3600" dirty="0" smtClean="0"/>
              <a:t>THE ORGANIZATION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24569"/>
            <a:ext cx="9791700" cy="5152394"/>
          </a:xfrm>
        </p:spPr>
        <p:txBody>
          <a:bodyPr>
            <a:normAutofit/>
          </a:bodyPr>
          <a:lstStyle/>
          <a:p>
            <a:r>
              <a:rPr lang="en-US" b="1" dirty="0" smtClean="0"/>
              <a:t>Academic </a:t>
            </a:r>
            <a:r>
              <a:rPr lang="en-US" b="1" dirty="0"/>
              <a:t>research. </a:t>
            </a:r>
            <a:r>
              <a:rPr lang="en-US" dirty="0" smtClean="0"/>
              <a:t>Industry </a:t>
            </a:r>
            <a:r>
              <a:rPr lang="en-US" dirty="0"/>
              <a:t>studies, publications, and benchmarking results.</a:t>
            </a:r>
          </a:p>
          <a:p>
            <a:r>
              <a:rPr lang="en-US" b="1" dirty="0" smtClean="0"/>
              <a:t>Government </a:t>
            </a:r>
            <a:r>
              <a:rPr lang="en-US" b="1" dirty="0"/>
              <a:t>or industry standards. </a:t>
            </a:r>
            <a:r>
              <a:rPr lang="en-US" dirty="0" smtClean="0"/>
              <a:t>Regulatory </a:t>
            </a:r>
            <a:r>
              <a:rPr lang="en-US" dirty="0"/>
              <a:t>agency regulations and standards related </a:t>
            </a:r>
            <a:r>
              <a:rPr lang="en-US" dirty="0" smtClean="0"/>
              <a:t>to products</a:t>
            </a:r>
            <a:r>
              <a:rPr lang="en-US" dirty="0"/>
              <a:t>, production, environment, quality, and workmanship.</a:t>
            </a:r>
          </a:p>
          <a:p>
            <a:r>
              <a:rPr lang="en-US" b="1" dirty="0" smtClean="0"/>
              <a:t>Financial </a:t>
            </a:r>
            <a:r>
              <a:rPr lang="en-US" b="1" dirty="0"/>
              <a:t>considerations. </a:t>
            </a:r>
            <a:r>
              <a:rPr lang="en-US" dirty="0" smtClean="0"/>
              <a:t>currency </a:t>
            </a:r>
            <a:r>
              <a:rPr lang="en-US" dirty="0"/>
              <a:t>exchange rates, interest rates, inflation rates, tariffs, </a:t>
            </a:r>
            <a:r>
              <a:rPr lang="en-US" dirty="0" smtClean="0"/>
              <a:t>and geographic </a:t>
            </a:r>
            <a:r>
              <a:rPr lang="en-US" dirty="0"/>
              <a:t>location.</a:t>
            </a:r>
          </a:p>
          <a:p>
            <a:r>
              <a:rPr lang="en-US" b="1" dirty="0" smtClean="0"/>
              <a:t>Physical </a:t>
            </a:r>
            <a:r>
              <a:rPr lang="en-US" b="1" dirty="0"/>
              <a:t>environmental elements. </a:t>
            </a:r>
            <a:r>
              <a:rPr lang="en-US" dirty="0" smtClean="0"/>
              <a:t>working </a:t>
            </a:r>
            <a:r>
              <a:rPr lang="en-US" dirty="0"/>
              <a:t>conditions, weather, and constraints.</a:t>
            </a:r>
          </a:p>
        </p:txBody>
      </p:sp>
    </p:spTree>
    <p:extLst>
      <p:ext uri="{BB962C8B-B14F-4D97-AF65-F5344CB8AC3E}">
        <p14:creationId xmlns:p14="http://schemas.microsoft.com/office/powerpoint/2010/main" val="120008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ORGANIZATIONAL PROCESS ASSETS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46602"/>
            <a:ext cx="9791700" cy="513036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Plans</a:t>
            </a:r>
            <a:r>
              <a:rPr lang="en-US" sz="3200" dirty="0"/>
              <a:t>, processes, policies, procedures, and knowledge bases </a:t>
            </a:r>
            <a:r>
              <a:rPr lang="en-US" sz="3200" dirty="0" smtClean="0"/>
              <a:t>used </a:t>
            </a:r>
            <a:r>
              <a:rPr lang="en-US" sz="3200" dirty="0"/>
              <a:t>by the </a:t>
            </a:r>
            <a:r>
              <a:rPr lang="en-US" sz="3200" dirty="0" smtClean="0"/>
              <a:t>organization</a:t>
            </a:r>
            <a:r>
              <a:rPr lang="en-US" sz="3200" dirty="0"/>
              <a:t>. </a:t>
            </a:r>
            <a:endParaRPr lang="en-US" sz="3200" dirty="0" smtClean="0"/>
          </a:p>
          <a:p>
            <a:r>
              <a:rPr lang="en-US" sz="3200" dirty="0" smtClean="0"/>
              <a:t>OPAs </a:t>
            </a:r>
            <a:r>
              <a:rPr lang="en-US" sz="3200" dirty="0"/>
              <a:t>include any artifact, practice, or knowledge </a:t>
            </a:r>
            <a:r>
              <a:rPr lang="en-US" sz="3200" dirty="0" smtClean="0"/>
              <a:t>that </a:t>
            </a:r>
            <a:r>
              <a:rPr lang="en-US" sz="3200" dirty="0"/>
              <a:t>can be used </a:t>
            </a:r>
            <a:r>
              <a:rPr lang="en-US" sz="3200" dirty="0" smtClean="0"/>
              <a:t>for the </a:t>
            </a:r>
            <a:r>
              <a:rPr lang="en-US" sz="3200" dirty="0"/>
              <a:t>project. </a:t>
            </a:r>
            <a:endParaRPr lang="en-US" sz="3200" dirty="0" smtClean="0"/>
          </a:p>
          <a:p>
            <a:r>
              <a:rPr lang="en-US" sz="3200" dirty="0" smtClean="0"/>
              <a:t>Lessons </a:t>
            </a:r>
            <a:r>
              <a:rPr lang="en-US" sz="3200" dirty="0"/>
              <a:t>learned </a:t>
            </a:r>
            <a:r>
              <a:rPr lang="en-US" sz="3200" dirty="0" smtClean="0"/>
              <a:t>from previous </a:t>
            </a:r>
            <a:r>
              <a:rPr lang="en-US" sz="3200" dirty="0"/>
              <a:t>projects and historical information. </a:t>
            </a:r>
            <a:endParaRPr lang="en-US" sz="3200" dirty="0" smtClean="0"/>
          </a:p>
          <a:p>
            <a:r>
              <a:rPr lang="en-US" sz="3200" dirty="0" smtClean="0"/>
              <a:t>Completed </a:t>
            </a:r>
            <a:r>
              <a:rPr lang="en-US" sz="3200" dirty="0"/>
              <a:t>schedules, risk data, and earned value data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4723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ORGANIZATIONAL PROCESS ASSETS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46602"/>
            <a:ext cx="9791700" cy="5130361"/>
          </a:xfrm>
        </p:spPr>
        <p:txBody>
          <a:bodyPr>
            <a:noAutofit/>
          </a:bodyPr>
          <a:lstStyle/>
          <a:p>
            <a:r>
              <a:rPr lang="en-US" sz="4000" dirty="0" smtClean="0"/>
              <a:t>Inputs </a:t>
            </a:r>
            <a:r>
              <a:rPr lang="en-US" sz="4000" dirty="0"/>
              <a:t>to many project management processes. </a:t>
            </a:r>
            <a:endParaRPr lang="en-US" sz="4000" dirty="0" smtClean="0"/>
          </a:p>
          <a:p>
            <a:r>
              <a:rPr lang="en-US" sz="4000" dirty="0" smtClean="0"/>
              <a:t>Project team members </a:t>
            </a:r>
            <a:r>
              <a:rPr lang="en-US" sz="4000" dirty="0"/>
              <a:t>may </a:t>
            </a:r>
            <a:r>
              <a:rPr lang="en-US" sz="4000" dirty="0" smtClean="0"/>
              <a:t>update </a:t>
            </a:r>
            <a:r>
              <a:rPr lang="en-US" sz="4000" dirty="0"/>
              <a:t>and add to the </a:t>
            </a:r>
            <a:r>
              <a:rPr lang="en-US" sz="4000" dirty="0" smtClean="0"/>
              <a:t>OPAs throughout </a:t>
            </a:r>
            <a:r>
              <a:rPr lang="en-US" sz="4000" dirty="0"/>
              <a:t>the project. </a:t>
            </a:r>
            <a:endParaRPr lang="en-US" sz="4000" dirty="0" smtClean="0"/>
          </a:p>
          <a:p>
            <a:r>
              <a:rPr lang="en-US" sz="4000" dirty="0" smtClean="0"/>
              <a:t>Grouped in </a:t>
            </a:r>
            <a:r>
              <a:rPr lang="en-US" sz="4000" dirty="0"/>
              <a:t>two categories:</a:t>
            </a:r>
          </a:p>
          <a:p>
            <a:r>
              <a:rPr lang="en-US" sz="4000" dirty="0" smtClean="0"/>
              <a:t>Processes</a:t>
            </a:r>
            <a:r>
              <a:rPr lang="en-US" sz="4000" dirty="0"/>
              <a:t>, policies, and procedures; </a:t>
            </a:r>
          </a:p>
          <a:p>
            <a:r>
              <a:rPr lang="en-US" sz="4000" dirty="0" smtClean="0"/>
              <a:t>Organizational </a:t>
            </a:r>
            <a:r>
              <a:rPr lang="en-US" sz="4000" dirty="0"/>
              <a:t>knowledge bases.</a:t>
            </a:r>
          </a:p>
        </p:txBody>
      </p:sp>
    </p:spTree>
    <p:extLst>
      <p:ext uri="{BB962C8B-B14F-4D97-AF65-F5344CB8AC3E}">
        <p14:creationId xmlns:p14="http://schemas.microsoft.com/office/powerpoint/2010/main" val="271274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ORGANIZATIONAL PROCESS ASSETS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46602"/>
            <a:ext cx="9791700" cy="5130361"/>
          </a:xfrm>
        </p:spPr>
        <p:txBody>
          <a:bodyPr>
            <a:noAutofit/>
          </a:bodyPr>
          <a:lstStyle/>
          <a:p>
            <a:r>
              <a:rPr lang="en-US" sz="4000" dirty="0"/>
              <a:t>Processes, policies, and procedures </a:t>
            </a:r>
            <a:r>
              <a:rPr lang="en-US" sz="4000" dirty="0" smtClean="0"/>
              <a:t>are </a:t>
            </a:r>
            <a:r>
              <a:rPr lang="en-US" sz="4000" dirty="0"/>
              <a:t>not updated as part of the project </a:t>
            </a:r>
            <a:r>
              <a:rPr lang="en-US" sz="4000" dirty="0" smtClean="0"/>
              <a:t>work, as they are usually </a:t>
            </a:r>
            <a:r>
              <a:rPr lang="en-US" sz="4000" dirty="0"/>
              <a:t>established by the </a:t>
            </a:r>
            <a:r>
              <a:rPr lang="en-US" sz="4000" dirty="0" smtClean="0"/>
              <a:t>PMO </a:t>
            </a:r>
            <a:r>
              <a:rPr lang="en-US" sz="4000" dirty="0"/>
              <a:t>or another </a:t>
            </a:r>
            <a:r>
              <a:rPr lang="en-US" sz="4000" dirty="0" smtClean="0"/>
              <a:t>function.</a:t>
            </a:r>
            <a:endParaRPr lang="en-US" sz="4000" dirty="0"/>
          </a:p>
          <a:p>
            <a:r>
              <a:rPr lang="en-US" sz="4000" dirty="0" smtClean="0"/>
              <a:t>Some </a:t>
            </a:r>
            <a:r>
              <a:rPr lang="en-US" sz="4000" dirty="0"/>
              <a:t>organizations encourage the team to tailor templates, life cycles, and checklists for </a:t>
            </a:r>
            <a:r>
              <a:rPr lang="en-US" sz="4000" dirty="0" smtClean="0"/>
              <a:t>the project</a:t>
            </a:r>
            <a:r>
              <a:rPr lang="en-US" sz="4000" dirty="0"/>
              <a:t>. 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241536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ORGANIZATIONAL PROCESS ASSETS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46602"/>
            <a:ext cx="9791700" cy="513036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Organizational </a:t>
            </a:r>
            <a:r>
              <a:rPr lang="en-US" sz="3600" dirty="0"/>
              <a:t>knowledge bases </a:t>
            </a:r>
            <a:r>
              <a:rPr lang="en-US" sz="3600" dirty="0" smtClean="0"/>
              <a:t>are </a:t>
            </a:r>
            <a:r>
              <a:rPr lang="en-US" sz="3600" dirty="0"/>
              <a:t>updated throughout the project with project information. </a:t>
            </a:r>
            <a:endParaRPr lang="en-US" sz="3600" dirty="0" smtClean="0"/>
          </a:p>
          <a:p>
            <a:r>
              <a:rPr lang="en-US" sz="3600" dirty="0" smtClean="0"/>
              <a:t>Information </a:t>
            </a:r>
            <a:r>
              <a:rPr lang="en-US" sz="3600" dirty="0"/>
              <a:t>on financial performance, lessons learned, performance </a:t>
            </a:r>
            <a:r>
              <a:rPr lang="en-US" sz="3600" dirty="0" smtClean="0"/>
              <a:t>metrics, </a:t>
            </a:r>
            <a:r>
              <a:rPr lang="en-US" sz="3600" dirty="0"/>
              <a:t>and defects are </a:t>
            </a:r>
            <a:r>
              <a:rPr lang="en-US" sz="3600" dirty="0" smtClean="0"/>
              <a:t>continually updated </a:t>
            </a:r>
            <a:r>
              <a:rPr lang="en-US" sz="3600" dirty="0"/>
              <a:t>throughout the project</a:t>
            </a:r>
            <a:r>
              <a:rPr lang="en-US" sz="3600" dirty="0" smtClean="0"/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389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Exercise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062" y="1502650"/>
            <a:ext cx="10241097" cy="482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3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Exercise - Answers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972" y="1690688"/>
            <a:ext cx="10346419" cy="459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1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Processes, Policies, and Procedures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57619"/>
            <a:ext cx="9791700" cy="5119344"/>
          </a:xfrm>
        </p:spPr>
        <p:txBody>
          <a:bodyPr>
            <a:normAutofit/>
          </a:bodyPr>
          <a:lstStyle/>
          <a:p>
            <a:r>
              <a:rPr lang="en-US" b="1" u="sng" dirty="0" smtClean="0"/>
              <a:t>Initiating </a:t>
            </a:r>
            <a:r>
              <a:rPr lang="en-US" b="1" u="sng" dirty="0"/>
              <a:t>and Planning:</a:t>
            </a:r>
          </a:p>
          <a:p>
            <a:r>
              <a:rPr lang="en-US" dirty="0" smtClean="0"/>
              <a:t>Guidelines for </a:t>
            </a:r>
            <a:r>
              <a:rPr lang="en-US" dirty="0"/>
              <a:t>tailoring the organization’s </a:t>
            </a:r>
            <a:r>
              <a:rPr lang="en-US" dirty="0" smtClean="0"/>
              <a:t>standard </a:t>
            </a:r>
            <a:r>
              <a:rPr lang="en-US" dirty="0"/>
              <a:t>processes and procedures </a:t>
            </a:r>
          </a:p>
          <a:p>
            <a:r>
              <a:rPr lang="en-US" dirty="0" smtClean="0"/>
              <a:t>Specific </a:t>
            </a:r>
            <a:r>
              <a:rPr lang="en-US" dirty="0"/>
              <a:t>organizational standards such as policies (e.g., </a:t>
            </a:r>
            <a:r>
              <a:rPr lang="en-US" dirty="0" smtClean="0"/>
              <a:t>Policies for HR, QHSE, security, confidentiality, procurement, </a:t>
            </a:r>
            <a:r>
              <a:rPr lang="en-US" dirty="0"/>
              <a:t>and </a:t>
            </a:r>
            <a:r>
              <a:rPr lang="en-US" dirty="0" smtClean="0"/>
              <a:t>environment)</a:t>
            </a:r>
            <a:endParaRPr lang="en-US" dirty="0"/>
          </a:p>
          <a:p>
            <a:r>
              <a:rPr lang="en-US" dirty="0" smtClean="0"/>
              <a:t>Product </a:t>
            </a:r>
            <a:r>
              <a:rPr lang="en-US" dirty="0"/>
              <a:t>and project life cycles, and methods and procedures (e.g., project management methods</a:t>
            </a:r>
            <a:r>
              <a:rPr lang="en-US" dirty="0" smtClean="0"/>
              <a:t>, estimation </a:t>
            </a:r>
            <a:r>
              <a:rPr lang="en-US" dirty="0"/>
              <a:t>metrics, process audits, improvement targets, checklists, and standardized process </a:t>
            </a:r>
            <a:r>
              <a:rPr lang="en-US" dirty="0" smtClean="0"/>
              <a:t>definitions for </a:t>
            </a:r>
            <a:r>
              <a:rPr lang="en-US" dirty="0"/>
              <a:t>use in the organization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38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Processes, Policies, and Procedures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57619"/>
            <a:ext cx="9791700" cy="5119344"/>
          </a:xfrm>
        </p:spPr>
        <p:txBody>
          <a:bodyPr>
            <a:normAutofit/>
          </a:bodyPr>
          <a:lstStyle/>
          <a:p>
            <a:r>
              <a:rPr lang="en-US" b="1" u="sng" dirty="0" smtClean="0"/>
              <a:t>Initiating </a:t>
            </a:r>
            <a:r>
              <a:rPr lang="en-US" b="1" u="sng" dirty="0"/>
              <a:t>and Planning:</a:t>
            </a:r>
          </a:p>
          <a:p>
            <a:r>
              <a:rPr lang="en-US" dirty="0" smtClean="0"/>
              <a:t>Templates </a:t>
            </a:r>
            <a:r>
              <a:rPr lang="en-US" dirty="0"/>
              <a:t>(e.g., project management plans, project documents, project registers, report formats, </a:t>
            </a:r>
            <a:r>
              <a:rPr lang="en-US" dirty="0" smtClean="0"/>
              <a:t>contract templates</a:t>
            </a:r>
            <a:r>
              <a:rPr lang="en-US" dirty="0"/>
              <a:t>, risk categories, risk statement templates, probability and impact definitions, probability </a:t>
            </a:r>
            <a:r>
              <a:rPr lang="en-US" dirty="0" smtClean="0"/>
              <a:t>and impact </a:t>
            </a:r>
            <a:r>
              <a:rPr lang="en-US" dirty="0"/>
              <a:t>matrices, and stakeholder register templates</a:t>
            </a:r>
            <a:r>
              <a:rPr lang="en-US" dirty="0" smtClean="0"/>
              <a:t>) </a:t>
            </a:r>
            <a:endParaRPr lang="en-US" dirty="0"/>
          </a:p>
          <a:p>
            <a:r>
              <a:rPr lang="en-US" dirty="0" smtClean="0"/>
              <a:t>Preapproved </a:t>
            </a:r>
            <a:r>
              <a:rPr lang="en-US" dirty="0"/>
              <a:t>supplier lists and various types of contractual agreements (e.g., fixed-price, cost-reimbursable</a:t>
            </a:r>
            <a:r>
              <a:rPr lang="en-US" dirty="0" smtClean="0"/>
              <a:t>, and </a:t>
            </a:r>
            <a:r>
              <a:rPr lang="en-US" dirty="0"/>
              <a:t>time and material contracts).</a:t>
            </a:r>
          </a:p>
        </p:txBody>
      </p:sp>
    </p:spTree>
    <p:extLst>
      <p:ext uri="{BB962C8B-B14F-4D97-AF65-F5344CB8AC3E}">
        <p14:creationId xmlns:p14="http://schemas.microsoft.com/office/powerpoint/2010/main" val="36517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Processes, Policies, and Procedures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57619"/>
            <a:ext cx="9791700" cy="5119344"/>
          </a:xfrm>
        </p:spPr>
        <p:txBody>
          <a:bodyPr>
            <a:normAutofit/>
          </a:bodyPr>
          <a:lstStyle/>
          <a:p>
            <a:r>
              <a:rPr lang="en-US" b="1" u="sng" dirty="0"/>
              <a:t>Executing, Monitoring, and Controlling:</a:t>
            </a:r>
          </a:p>
          <a:p>
            <a:r>
              <a:rPr lang="en-US" dirty="0" smtClean="0"/>
              <a:t>Change </a:t>
            </a:r>
            <a:r>
              <a:rPr lang="en-US" dirty="0"/>
              <a:t>control procedures, including the steps by which </a:t>
            </a:r>
            <a:r>
              <a:rPr lang="en-US" dirty="0" smtClean="0"/>
              <a:t>policies</a:t>
            </a:r>
            <a:r>
              <a:rPr lang="en-US" dirty="0"/>
              <a:t>, </a:t>
            </a:r>
            <a:r>
              <a:rPr lang="en-US" dirty="0" smtClean="0"/>
              <a:t>or </a:t>
            </a:r>
            <a:r>
              <a:rPr lang="en-US" dirty="0"/>
              <a:t>any project documents will be modified, and how any changes will be approved and validated;</a:t>
            </a:r>
          </a:p>
          <a:p>
            <a:r>
              <a:rPr lang="en-US" dirty="0" smtClean="0"/>
              <a:t>Traceability </a:t>
            </a:r>
            <a:r>
              <a:rPr lang="en-US" dirty="0"/>
              <a:t>matrices;</a:t>
            </a:r>
          </a:p>
          <a:p>
            <a:r>
              <a:rPr lang="en-US" dirty="0" smtClean="0"/>
              <a:t>Financial </a:t>
            </a:r>
            <a:r>
              <a:rPr lang="en-US" dirty="0"/>
              <a:t>controls procedures (e.g., time reporting, required expenditure and disbursement reviews</a:t>
            </a:r>
            <a:r>
              <a:rPr lang="en-US" dirty="0" smtClean="0"/>
              <a:t>, accounting </a:t>
            </a:r>
            <a:r>
              <a:rPr lang="en-US" dirty="0"/>
              <a:t>codes, and standard contract provisions</a:t>
            </a:r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79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Processes, Policies, and Procedures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57619"/>
            <a:ext cx="9791700" cy="5119344"/>
          </a:xfrm>
        </p:spPr>
        <p:txBody>
          <a:bodyPr>
            <a:normAutofit/>
          </a:bodyPr>
          <a:lstStyle/>
          <a:p>
            <a:r>
              <a:rPr lang="en-US" b="1" u="sng" dirty="0"/>
              <a:t>Executing, Monitoring, and Controlling:</a:t>
            </a:r>
          </a:p>
          <a:p>
            <a:r>
              <a:rPr lang="en-US" dirty="0" smtClean="0"/>
              <a:t>Issue </a:t>
            </a:r>
            <a:r>
              <a:rPr lang="en-US" dirty="0"/>
              <a:t>and defect management procedures </a:t>
            </a:r>
          </a:p>
          <a:p>
            <a:r>
              <a:rPr lang="en-US" dirty="0" smtClean="0"/>
              <a:t>Resource </a:t>
            </a:r>
            <a:r>
              <a:rPr lang="en-US" dirty="0"/>
              <a:t>availability control and assignment management;</a:t>
            </a:r>
          </a:p>
          <a:p>
            <a:r>
              <a:rPr lang="en-US" dirty="0" smtClean="0"/>
              <a:t>Communication </a:t>
            </a:r>
            <a:r>
              <a:rPr lang="en-US" dirty="0"/>
              <a:t>requirements </a:t>
            </a:r>
            <a:r>
              <a:rPr lang="en-US" dirty="0" smtClean="0"/>
              <a:t>(specific </a:t>
            </a:r>
            <a:r>
              <a:rPr lang="en-US" dirty="0"/>
              <a:t>communication </a:t>
            </a:r>
            <a:r>
              <a:rPr lang="en-US" dirty="0" smtClean="0"/>
              <a:t>technology, authorized media</a:t>
            </a:r>
            <a:r>
              <a:rPr lang="en-US" dirty="0"/>
              <a:t>, record retention policies, videoconferencing, </a:t>
            </a:r>
            <a:r>
              <a:rPr lang="en-US" dirty="0" smtClean="0"/>
              <a:t>and security requirements</a:t>
            </a:r>
            <a:r>
              <a:rPr lang="en-US" dirty="0"/>
              <a:t>);</a:t>
            </a:r>
          </a:p>
          <a:p>
            <a:r>
              <a:rPr lang="en-US" dirty="0" smtClean="0"/>
              <a:t>Procedures </a:t>
            </a:r>
            <a:r>
              <a:rPr lang="en-US" dirty="0"/>
              <a:t>for </a:t>
            </a:r>
            <a:r>
              <a:rPr lang="en-US" dirty="0" smtClean="0"/>
              <a:t>approving</a:t>
            </a:r>
            <a:r>
              <a:rPr lang="en-US" dirty="0"/>
              <a:t>, and issuing work authorizations;</a:t>
            </a:r>
          </a:p>
          <a:p>
            <a:r>
              <a:rPr lang="en-US" dirty="0" smtClean="0"/>
              <a:t>Templates </a:t>
            </a:r>
            <a:r>
              <a:rPr lang="en-US" dirty="0"/>
              <a:t>(e.g., risk register, issue log, and change log);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2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Processes, Policies, and Procedures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57619"/>
            <a:ext cx="9791700" cy="5119344"/>
          </a:xfrm>
        </p:spPr>
        <p:txBody>
          <a:bodyPr>
            <a:normAutofit/>
          </a:bodyPr>
          <a:lstStyle/>
          <a:p>
            <a:r>
              <a:rPr lang="en-US" b="1" u="sng" dirty="0"/>
              <a:t>Executing, Monitoring, and Controlling:</a:t>
            </a:r>
          </a:p>
          <a:p>
            <a:r>
              <a:rPr lang="en-US" dirty="0" smtClean="0"/>
              <a:t>Proposal </a:t>
            </a:r>
            <a:r>
              <a:rPr lang="en-US" dirty="0"/>
              <a:t>evaluation </a:t>
            </a:r>
            <a:r>
              <a:rPr lang="en-US" dirty="0" smtClean="0"/>
              <a:t>and </a:t>
            </a:r>
            <a:r>
              <a:rPr lang="en-US" dirty="0"/>
              <a:t>performance </a:t>
            </a:r>
            <a:r>
              <a:rPr lang="en-US" dirty="0" smtClean="0"/>
              <a:t>measurement criteria</a:t>
            </a:r>
            <a:r>
              <a:rPr lang="en-US" dirty="0"/>
              <a:t>; </a:t>
            </a:r>
          </a:p>
          <a:p>
            <a:r>
              <a:rPr lang="en-US" dirty="0" smtClean="0"/>
              <a:t>Product</a:t>
            </a:r>
            <a:r>
              <a:rPr lang="en-US" dirty="0"/>
              <a:t>, service, or result verification and validation procedures</a:t>
            </a:r>
            <a:r>
              <a:rPr lang="en-US" dirty="0" smtClean="0"/>
              <a:t>.</a:t>
            </a:r>
            <a:endParaRPr lang="en-US" dirty="0"/>
          </a:p>
          <a:p>
            <a:endParaRPr lang="en-US" b="1" u="sng" dirty="0" smtClean="0"/>
          </a:p>
          <a:p>
            <a:r>
              <a:rPr lang="en-US" b="1" u="sng" dirty="0" smtClean="0"/>
              <a:t>Closing:</a:t>
            </a:r>
          </a:p>
          <a:p>
            <a:r>
              <a:rPr lang="en-US" b="1" dirty="0" smtClean="0"/>
              <a:t> </a:t>
            </a:r>
            <a:r>
              <a:rPr lang="en-US" dirty="0"/>
              <a:t>Project closure guidelines or requirements </a:t>
            </a:r>
            <a:r>
              <a:rPr lang="en-US" dirty="0" smtClean="0"/>
              <a:t>(final </a:t>
            </a:r>
            <a:r>
              <a:rPr lang="en-US" dirty="0"/>
              <a:t>project audits, project evaluations, </a:t>
            </a:r>
            <a:r>
              <a:rPr lang="en-US" dirty="0" smtClean="0"/>
              <a:t>deliverable acceptance</a:t>
            </a:r>
            <a:r>
              <a:rPr lang="en-US" dirty="0"/>
              <a:t>, contract closure, resource reassignment, and knowledge transfer to production and/or operations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5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21185"/>
            <a:ext cx="9029700" cy="158643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ORGANIZATIONAL KNOWLEDGE REPOSITORIES</a:t>
            </a:r>
            <a:br>
              <a:rPr lang="en-US" sz="3600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57619"/>
            <a:ext cx="9791700" cy="5119344"/>
          </a:xfrm>
        </p:spPr>
        <p:txBody>
          <a:bodyPr>
            <a:normAutofit/>
          </a:bodyPr>
          <a:lstStyle/>
          <a:p>
            <a:r>
              <a:rPr lang="en-US" dirty="0" smtClean="0"/>
              <a:t>Configuration </a:t>
            </a:r>
            <a:r>
              <a:rPr lang="en-US" dirty="0"/>
              <a:t>management knowledge repositories containing the versions of </a:t>
            </a:r>
            <a:r>
              <a:rPr lang="en-US" dirty="0" smtClean="0"/>
              <a:t>software/hardware and baselines </a:t>
            </a:r>
            <a:r>
              <a:rPr lang="en-US" dirty="0"/>
              <a:t>of </a:t>
            </a:r>
            <a:r>
              <a:rPr lang="en-US" dirty="0" smtClean="0"/>
              <a:t>organization standards;</a:t>
            </a:r>
            <a:endParaRPr lang="en-US" dirty="0"/>
          </a:p>
          <a:p>
            <a:r>
              <a:rPr lang="en-US" dirty="0" smtClean="0"/>
              <a:t>Financial </a:t>
            </a:r>
            <a:r>
              <a:rPr lang="en-US" dirty="0"/>
              <a:t>data repositories </a:t>
            </a:r>
            <a:r>
              <a:rPr lang="en-US" dirty="0" smtClean="0"/>
              <a:t>such </a:t>
            </a:r>
            <a:r>
              <a:rPr lang="en-US" dirty="0"/>
              <a:t>as labor hours, incurred costs, budgets, and any </a:t>
            </a:r>
            <a:r>
              <a:rPr lang="en-US" dirty="0" smtClean="0"/>
              <a:t>project cost </a:t>
            </a:r>
            <a:r>
              <a:rPr lang="en-US" dirty="0"/>
              <a:t>overruns;</a:t>
            </a:r>
          </a:p>
          <a:p>
            <a:r>
              <a:rPr lang="en-US" dirty="0" smtClean="0"/>
              <a:t>Historical </a:t>
            </a:r>
            <a:r>
              <a:rPr lang="en-US" dirty="0"/>
              <a:t>information and lessons learned </a:t>
            </a:r>
            <a:r>
              <a:rPr lang="en-US" dirty="0" smtClean="0"/>
              <a:t>(project records, project closure documentation</a:t>
            </a:r>
            <a:r>
              <a:rPr lang="en-US" dirty="0"/>
              <a:t>, </a:t>
            </a:r>
            <a:r>
              <a:rPr lang="en-US" dirty="0" smtClean="0"/>
              <a:t>previous </a:t>
            </a:r>
            <a:r>
              <a:rPr lang="en-US" dirty="0"/>
              <a:t>project selection </a:t>
            </a:r>
            <a:r>
              <a:rPr lang="en-US" dirty="0" smtClean="0"/>
              <a:t>decisions and risk </a:t>
            </a:r>
            <a:r>
              <a:rPr lang="en-US" dirty="0"/>
              <a:t>management activities</a:t>
            </a:r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84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21185"/>
            <a:ext cx="9029700" cy="158643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ORGANIZATIONAL KNOWLEDGE REPOSITORIES</a:t>
            </a:r>
            <a:br>
              <a:rPr lang="en-US" sz="3600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057619"/>
            <a:ext cx="9791700" cy="5119344"/>
          </a:xfrm>
        </p:spPr>
        <p:txBody>
          <a:bodyPr>
            <a:normAutofit/>
          </a:bodyPr>
          <a:lstStyle/>
          <a:p>
            <a:r>
              <a:rPr lang="en-US" dirty="0" smtClean="0"/>
              <a:t>Issue </a:t>
            </a:r>
            <a:r>
              <a:rPr lang="en-US" dirty="0"/>
              <a:t>and defect management data repositories </a:t>
            </a:r>
            <a:r>
              <a:rPr lang="en-US" dirty="0" smtClean="0"/>
              <a:t>and </a:t>
            </a:r>
            <a:r>
              <a:rPr lang="en-US" dirty="0"/>
              <a:t>action item results;</a:t>
            </a:r>
          </a:p>
          <a:p>
            <a:r>
              <a:rPr lang="en-US" dirty="0" smtClean="0"/>
              <a:t>Data </a:t>
            </a:r>
            <a:r>
              <a:rPr lang="en-US" dirty="0"/>
              <a:t>repositories for metrics </a:t>
            </a:r>
            <a:r>
              <a:rPr lang="en-US" dirty="0" smtClean="0"/>
              <a:t>to </a:t>
            </a:r>
            <a:r>
              <a:rPr lang="en-US" dirty="0"/>
              <a:t>collect </a:t>
            </a:r>
            <a:r>
              <a:rPr lang="en-US" dirty="0" smtClean="0"/>
              <a:t>data </a:t>
            </a:r>
            <a:r>
              <a:rPr lang="en-US" dirty="0"/>
              <a:t>on </a:t>
            </a:r>
            <a:r>
              <a:rPr lang="en-US" dirty="0" smtClean="0"/>
              <a:t>processes </a:t>
            </a:r>
            <a:endParaRPr lang="en-US" dirty="0"/>
          </a:p>
          <a:p>
            <a:r>
              <a:rPr lang="en-US" dirty="0" smtClean="0"/>
              <a:t>Project </a:t>
            </a:r>
            <a:r>
              <a:rPr lang="en-US" dirty="0"/>
              <a:t>files from previous projects (e.g., scope, cost, schedule, and performance measurement baselines, </a:t>
            </a:r>
            <a:r>
              <a:rPr lang="en-US" dirty="0" smtClean="0"/>
              <a:t>project </a:t>
            </a:r>
            <a:r>
              <a:rPr lang="en-US" dirty="0"/>
              <a:t>schedule network diagrams, risk registers, </a:t>
            </a:r>
            <a:r>
              <a:rPr lang="en-US" dirty="0" smtClean="0"/>
              <a:t>and </a:t>
            </a:r>
            <a:r>
              <a:rPr lang="en-US" dirty="0"/>
              <a:t>stakeholder registers).</a:t>
            </a:r>
          </a:p>
        </p:txBody>
      </p:sp>
    </p:spTree>
    <p:extLst>
      <p:ext uri="{BB962C8B-B14F-4D97-AF65-F5344CB8AC3E}">
        <p14:creationId xmlns:p14="http://schemas.microsoft.com/office/powerpoint/2010/main" val="380117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ORGANIZATIONAL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991518"/>
            <a:ext cx="9791700" cy="5185445"/>
          </a:xfrm>
        </p:spPr>
        <p:txBody>
          <a:bodyPr>
            <a:normAutofit/>
          </a:bodyPr>
          <a:lstStyle/>
          <a:p>
            <a:r>
              <a:rPr lang="en-US" dirty="0" smtClean="0"/>
              <a:t>Projects </a:t>
            </a:r>
            <a:r>
              <a:rPr lang="en-US" dirty="0"/>
              <a:t>operate within the constraints imposed by the organization through their structure and governance framework.</a:t>
            </a:r>
          </a:p>
          <a:p>
            <a:r>
              <a:rPr lang="en-US" dirty="0" smtClean="0"/>
              <a:t>Project </a:t>
            </a:r>
            <a:r>
              <a:rPr lang="en-US" dirty="0"/>
              <a:t>manager needs to understand where responsibility, accountability, </a:t>
            </a:r>
            <a:r>
              <a:rPr lang="en-US" dirty="0" smtClean="0"/>
              <a:t>and authority reside. </a:t>
            </a:r>
          </a:p>
          <a:p>
            <a:r>
              <a:rPr lang="en-US" dirty="0" smtClean="0"/>
              <a:t>This will </a:t>
            </a:r>
            <a:r>
              <a:rPr lang="en-US" dirty="0"/>
              <a:t>help </a:t>
            </a:r>
            <a:r>
              <a:rPr lang="en-US" dirty="0" smtClean="0"/>
              <a:t>him to effectively </a:t>
            </a:r>
            <a:r>
              <a:rPr lang="en-US" dirty="0"/>
              <a:t>use his </a:t>
            </a:r>
            <a:r>
              <a:rPr lang="en-US" dirty="0" smtClean="0"/>
              <a:t>power</a:t>
            </a:r>
            <a:r>
              <a:rPr lang="en-US" dirty="0"/>
              <a:t>, influence, competence, leadership, and </a:t>
            </a:r>
            <a:r>
              <a:rPr lang="en-US" dirty="0" smtClean="0"/>
              <a:t>capabilities </a:t>
            </a:r>
            <a:r>
              <a:rPr lang="en-US" dirty="0"/>
              <a:t>to successfully complete the project.</a:t>
            </a:r>
          </a:p>
          <a:p>
            <a:r>
              <a:rPr lang="en-US" dirty="0"/>
              <a:t>The interaction of multiple factors </a:t>
            </a:r>
            <a:r>
              <a:rPr lang="en-US" dirty="0" smtClean="0"/>
              <a:t>creates </a:t>
            </a:r>
            <a:r>
              <a:rPr lang="en-US" dirty="0"/>
              <a:t>a unique system that impacts the </a:t>
            </a:r>
            <a:r>
              <a:rPr lang="en-US" dirty="0" smtClean="0"/>
              <a:t>project operating </a:t>
            </a:r>
            <a:r>
              <a:rPr lang="en-US" dirty="0"/>
              <a:t>in that system.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3466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ORGANIZATIONAL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991518"/>
            <a:ext cx="9791700" cy="5185445"/>
          </a:xfrm>
        </p:spPr>
        <p:txBody>
          <a:bodyPr>
            <a:normAutofit/>
          </a:bodyPr>
          <a:lstStyle/>
          <a:p>
            <a:r>
              <a:rPr lang="en-US" dirty="0" smtClean="0"/>
              <a:t>Organizational </a:t>
            </a:r>
            <a:r>
              <a:rPr lang="en-US" dirty="0"/>
              <a:t>system determines the power, influence, </a:t>
            </a:r>
            <a:r>
              <a:rPr lang="en-US" dirty="0" smtClean="0"/>
              <a:t>and competence </a:t>
            </a:r>
            <a:r>
              <a:rPr lang="en-US" dirty="0"/>
              <a:t>of the </a:t>
            </a:r>
            <a:r>
              <a:rPr lang="en-US" dirty="0" smtClean="0"/>
              <a:t>people </a:t>
            </a:r>
            <a:r>
              <a:rPr lang="en-US" dirty="0"/>
              <a:t>to act within the system.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system </a:t>
            </a:r>
            <a:r>
              <a:rPr lang="en-US" dirty="0" smtClean="0"/>
              <a:t>factors:</a:t>
            </a:r>
            <a:endParaRPr lang="en-US" dirty="0"/>
          </a:p>
          <a:p>
            <a:r>
              <a:rPr lang="en-US" dirty="0" smtClean="0"/>
              <a:t>Management </a:t>
            </a:r>
            <a:r>
              <a:rPr lang="en-US" dirty="0"/>
              <a:t>elements,</a:t>
            </a:r>
          </a:p>
          <a:p>
            <a:r>
              <a:rPr lang="en-US" dirty="0" smtClean="0"/>
              <a:t>Governance </a:t>
            </a:r>
            <a:r>
              <a:rPr lang="en-US" dirty="0"/>
              <a:t>frameworks, </a:t>
            </a:r>
          </a:p>
          <a:p>
            <a:r>
              <a:rPr lang="en-US" dirty="0" smtClean="0"/>
              <a:t>Organizational </a:t>
            </a:r>
            <a:r>
              <a:rPr lang="en-US" dirty="0"/>
              <a:t>structure types.</a:t>
            </a:r>
          </a:p>
        </p:txBody>
      </p:sp>
    </p:spTree>
    <p:extLst>
      <p:ext uri="{BB962C8B-B14F-4D97-AF65-F5344CB8AC3E}">
        <p14:creationId xmlns:p14="http://schemas.microsoft.com/office/powerpoint/2010/main" val="272777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ORGANIZATIONAL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991518"/>
            <a:ext cx="9791700" cy="5185445"/>
          </a:xfrm>
        </p:spPr>
        <p:txBody>
          <a:bodyPr>
            <a:normAutofit/>
          </a:bodyPr>
          <a:lstStyle/>
          <a:p>
            <a:r>
              <a:rPr lang="en-US" sz="3600" dirty="0"/>
              <a:t>A system is a collection of various components that </a:t>
            </a:r>
            <a:r>
              <a:rPr lang="en-US" sz="3600" dirty="0" smtClean="0"/>
              <a:t>together can </a:t>
            </a:r>
            <a:r>
              <a:rPr lang="en-US" sz="3600" dirty="0"/>
              <a:t>produce results not obtainable by the individual components alone. </a:t>
            </a:r>
            <a:endParaRPr lang="en-US" sz="3600" dirty="0" smtClean="0"/>
          </a:p>
          <a:p>
            <a:r>
              <a:rPr lang="en-US" sz="3600" dirty="0" smtClean="0"/>
              <a:t>A </a:t>
            </a:r>
            <a:r>
              <a:rPr lang="en-US" sz="3600" dirty="0"/>
              <a:t>component is an identifiable element </a:t>
            </a:r>
            <a:r>
              <a:rPr lang="en-US" sz="3600" dirty="0" smtClean="0"/>
              <a:t>within the </a:t>
            </a:r>
            <a:r>
              <a:rPr lang="en-US" sz="3600" dirty="0"/>
              <a:t>project </a:t>
            </a:r>
            <a:r>
              <a:rPr lang="en-US" sz="3600" dirty="0" smtClean="0"/>
              <a:t>that </a:t>
            </a:r>
            <a:r>
              <a:rPr lang="en-US" sz="3600" dirty="0"/>
              <a:t>provides a particular </a:t>
            </a:r>
            <a:r>
              <a:rPr lang="en-US" sz="3600" dirty="0" smtClean="0"/>
              <a:t>function. </a:t>
            </a:r>
          </a:p>
          <a:p>
            <a:r>
              <a:rPr lang="en-US" sz="3600" dirty="0" smtClean="0"/>
              <a:t>Interaction </a:t>
            </a:r>
            <a:r>
              <a:rPr lang="en-US" sz="3600" dirty="0"/>
              <a:t>of </a:t>
            </a:r>
            <a:r>
              <a:rPr lang="en-US" sz="3600" dirty="0" smtClean="0"/>
              <a:t>various system </a:t>
            </a:r>
            <a:r>
              <a:rPr lang="en-US" sz="3600" dirty="0"/>
              <a:t>components creates the organizational culture and capabilities. 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124776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ORGANIZATIONAL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991518"/>
            <a:ext cx="9791700" cy="5185445"/>
          </a:xfrm>
        </p:spPr>
        <p:txBody>
          <a:bodyPr>
            <a:normAutofit/>
          </a:bodyPr>
          <a:lstStyle/>
          <a:p>
            <a:r>
              <a:rPr lang="en-US" dirty="0" smtClean="0"/>
              <a:t>Systems principles:</a:t>
            </a:r>
            <a:endParaRPr lang="en-US" dirty="0"/>
          </a:p>
          <a:p>
            <a:r>
              <a:rPr lang="en-US" dirty="0" smtClean="0"/>
              <a:t>Dynamic</a:t>
            </a:r>
            <a:r>
              <a:rPr lang="en-US" dirty="0"/>
              <a:t>,</a:t>
            </a:r>
          </a:p>
          <a:p>
            <a:r>
              <a:rPr lang="en-US" dirty="0" smtClean="0"/>
              <a:t>Can </a:t>
            </a:r>
            <a:r>
              <a:rPr lang="en-US" dirty="0"/>
              <a:t>be optimized,</a:t>
            </a:r>
          </a:p>
          <a:p>
            <a:r>
              <a:rPr lang="en-US" dirty="0" smtClean="0"/>
              <a:t>System </a:t>
            </a:r>
            <a:r>
              <a:rPr lang="en-US" dirty="0"/>
              <a:t>components can be optimized,</a:t>
            </a:r>
          </a:p>
          <a:p>
            <a:r>
              <a:rPr lang="en-US" dirty="0" smtClean="0"/>
              <a:t>Systems </a:t>
            </a:r>
            <a:r>
              <a:rPr lang="en-US" dirty="0"/>
              <a:t>and their components cannot be optimized at the same time, </a:t>
            </a:r>
          </a:p>
          <a:p>
            <a:r>
              <a:rPr lang="en-US" dirty="0" smtClean="0"/>
              <a:t>Systems </a:t>
            </a:r>
            <a:r>
              <a:rPr lang="en-US" dirty="0"/>
              <a:t>are nonlinear in responsiveness (a change in the input does not produce a predictable change </a:t>
            </a:r>
            <a:r>
              <a:rPr lang="en-US" dirty="0" smtClean="0"/>
              <a:t>in the </a:t>
            </a:r>
            <a:r>
              <a:rPr lang="en-US" dirty="0"/>
              <a:t>output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84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772750"/>
            <a:ext cx="9029700" cy="923848"/>
          </a:xfrm>
        </p:spPr>
        <p:txBody>
          <a:bodyPr>
            <a:normAutofit fontScale="90000"/>
          </a:bodyPr>
          <a:lstStyle/>
          <a:p>
            <a:r>
              <a:rPr lang="en-US" dirty="0"/>
              <a:t>GOVERNANCE FRAMEWORK</a:t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991518"/>
            <a:ext cx="9791700" cy="5185445"/>
          </a:xfrm>
        </p:spPr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Governance </a:t>
            </a:r>
            <a:r>
              <a:rPr lang="en-US" dirty="0"/>
              <a:t>is the framework within which authority is </a:t>
            </a:r>
            <a:r>
              <a:rPr lang="en-US" dirty="0" smtClean="0"/>
              <a:t>exercised:</a:t>
            </a:r>
            <a:endParaRPr lang="en-US" dirty="0"/>
          </a:p>
          <a:p>
            <a:r>
              <a:rPr lang="en-US" dirty="0" smtClean="0"/>
              <a:t>Rules</a:t>
            </a:r>
            <a:r>
              <a:rPr lang="en-US" dirty="0"/>
              <a:t>,</a:t>
            </a:r>
          </a:p>
          <a:p>
            <a:r>
              <a:rPr lang="en-US" dirty="0" smtClean="0"/>
              <a:t>Policies</a:t>
            </a:r>
            <a:r>
              <a:rPr lang="en-US" dirty="0"/>
              <a:t>,</a:t>
            </a:r>
          </a:p>
          <a:p>
            <a:r>
              <a:rPr lang="en-US" dirty="0" smtClean="0"/>
              <a:t>Procedures</a:t>
            </a:r>
            <a:r>
              <a:rPr lang="en-US" dirty="0"/>
              <a:t>,</a:t>
            </a:r>
          </a:p>
          <a:p>
            <a:r>
              <a:rPr lang="en-US" dirty="0" smtClean="0"/>
              <a:t>Norms</a:t>
            </a:r>
            <a:r>
              <a:rPr lang="en-US" dirty="0"/>
              <a:t>,</a:t>
            </a:r>
          </a:p>
          <a:p>
            <a:r>
              <a:rPr lang="en-US" dirty="0" smtClean="0"/>
              <a:t>Relationships</a:t>
            </a:r>
            <a:r>
              <a:rPr lang="en-US" dirty="0"/>
              <a:t>,</a:t>
            </a:r>
          </a:p>
          <a:p>
            <a:r>
              <a:rPr lang="en-US" dirty="0" smtClean="0"/>
              <a:t>Systems</a:t>
            </a:r>
            <a:r>
              <a:rPr lang="en-US" dirty="0"/>
              <a:t>, and</a:t>
            </a:r>
          </a:p>
          <a:p>
            <a:r>
              <a:rPr lang="en-US" dirty="0" smtClean="0"/>
              <a:t>Processes</a:t>
            </a:r>
            <a:r>
              <a:rPr lang="en-US" dirty="0"/>
              <a:t>.</a:t>
            </a:r>
          </a:p>
          <a:p>
            <a:r>
              <a:rPr lang="en-US" dirty="0"/>
              <a:t>This framework influences how:</a:t>
            </a:r>
          </a:p>
          <a:p>
            <a:r>
              <a:rPr lang="en-US" dirty="0" smtClean="0"/>
              <a:t>Objectives </a:t>
            </a:r>
            <a:r>
              <a:rPr lang="en-US" dirty="0"/>
              <a:t>of the organization are set and achieved,</a:t>
            </a:r>
          </a:p>
          <a:p>
            <a:r>
              <a:rPr lang="en-US" dirty="0" smtClean="0"/>
              <a:t>Risk </a:t>
            </a:r>
            <a:r>
              <a:rPr lang="en-US" dirty="0"/>
              <a:t>is monitored and assessed, </a:t>
            </a:r>
          </a:p>
          <a:p>
            <a:r>
              <a:rPr lang="en-US" dirty="0" smtClean="0"/>
              <a:t>Performance </a:t>
            </a:r>
            <a:r>
              <a:rPr lang="en-US" dirty="0"/>
              <a:t>is optimized.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3499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MANAGEMENT ELEMENTS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key functions or principles of </a:t>
            </a:r>
            <a:r>
              <a:rPr lang="en-US" dirty="0" smtClean="0"/>
              <a:t>management:</a:t>
            </a:r>
            <a:endParaRPr lang="en-US" dirty="0"/>
          </a:p>
          <a:p>
            <a:r>
              <a:rPr lang="en-US" dirty="0" smtClean="0"/>
              <a:t>Division </a:t>
            </a:r>
            <a:r>
              <a:rPr lang="en-US" dirty="0"/>
              <a:t>of work using specialized skills and availability to perform work;</a:t>
            </a:r>
          </a:p>
          <a:p>
            <a:r>
              <a:rPr lang="en-US" dirty="0" smtClean="0"/>
              <a:t>Authority </a:t>
            </a:r>
            <a:r>
              <a:rPr lang="en-US" dirty="0"/>
              <a:t>given to perform work;</a:t>
            </a:r>
          </a:p>
          <a:p>
            <a:r>
              <a:rPr lang="en-US" dirty="0" smtClean="0"/>
              <a:t>Responsibility </a:t>
            </a:r>
            <a:r>
              <a:rPr lang="en-US" dirty="0"/>
              <a:t>to perform work </a:t>
            </a:r>
            <a:r>
              <a:rPr lang="en-US" dirty="0" smtClean="0"/>
              <a:t>based </a:t>
            </a:r>
            <a:r>
              <a:rPr lang="en-US" dirty="0"/>
              <a:t>on </a:t>
            </a:r>
            <a:r>
              <a:rPr lang="en-US" dirty="0" smtClean="0"/>
              <a:t>skill </a:t>
            </a:r>
            <a:r>
              <a:rPr lang="en-US" dirty="0"/>
              <a:t>and experience;</a:t>
            </a:r>
          </a:p>
          <a:p>
            <a:r>
              <a:rPr lang="en-US" dirty="0" smtClean="0"/>
              <a:t>Discipline </a:t>
            </a:r>
            <a:r>
              <a:rPr lang="en-US" dirty="0"/>
              <a:t>of action (e.g., respect for authority, people, and rules);</a:t>
            </a:r>
          </a:p>
          <a:p>
            <a:r>
              <a:rPr lang="en-US" dirty="0" smtClean="0"/>
              <a:t>Unity </a:t>
            </a:r>
            <a:r>
              <a:rPr lang="en-US" dirty="0"/>
              <a:t>of command (e.g., only one person gives orders for any </a:t>
            </a:r>
            <a:r>
              <a:rPr lang="en-US" dirty="0" smtClean="0"/>
              <a:t>action);</a:t>
            </a:r>
            <a:endParaRPr lang="en-US" dirty="0"/>
          </a:p>
          <a:p>
            <a:r>
              <a:rPr lang="en-US" dirty="0" smtClean="0"/>
              <a:t>Unity </a:t>
            </a:r>
            <a:r>
              <a:rPr lang="en-US" dirty="0"/>
              <a:t>of direction (e.g., one plan and one head for a group of activities with the same objective);</a:t>
            </a:r>
          </a:p>
          <a:p>
            <a:r>
              <a:rPr lang="en-US" dirty="0" smtClean="0"/>
              <a:t>General </a:t>
            </a:r>
            <a:r>
              <a:rPr lang="en-US" dirty="0"/>
              <a:t>goals of the organization take precedence over individual goals;</a:t>
            </a:r>
          </a:p>
          <a:p>
            <a:r>
              <a:rPr lang="en-US" dirty="0" smtClean="0"/>
              <a:t>Paid </a:t>
            </a:r>
            <a:r>
              <a:rPr lang="en-US" dirty="0"/>
              <a:t>fairly for work performed;</a:t>
            </a:r>
          </a:p>
        </p:txBody>
      </p:sp>
    </p:spTree>
    <p:extLst>
      <p:ext uri="{BB962C8B-B14F-4D97-AF65-F5344CB8AC3E}">
        <p14:creationId xmlns:p14="http://schemas.microsoft.com/office/powerpoint/2010/main" val="276433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FACTORS IN ORGANIZATION STRUCTURE SELECTION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Numerous </a:t>
            </a:r>
            <a:r>
              <a:rPr lang="en-US" dirty="0"/>
              <a:t>factors for </a:t>
            </a:r>
            <a:r>
              <a:rPr lang="en-US" dirty="0" smtClean="0"/>
              <a:t>organizational structure:</a:t>
            </a:r>
          </a:p>
          <a:p>
            <a:r>
              <a:rPr lang="en-US" dirty="0" smtClean="0"/>
              <a:t>Degree </a:t>
            </a:r>
            <a:r>
              <a:rPr lang="en-US" dirty="0"/>
              <a:t>of alignment with organizational objectives,</a:t>
            </a:r>
          </a:p>
          <a:p>
            <a:r>
              <a:rPr lang="en-US" dirty="0" smtClean="0"/>
              <a:t>Specialization </a:t>
            </a:r>
            <a:r>
              <a:rPr lang="en-US" dirty="0"/>
              <a:t>capabilities,</a:t>
            </a:r>
          </a:p>
          <a:p>
            <a:r>
              <a:rPr lang="en-US" dirty="0" smtClean="0"/>
              <a:t>Span </a:t>
            </a:r>
            <a:r>
              <a:rPr lang="en-US" dirty="0"/>
              <a:t>of control, efficiency, and effectiveness,</a:t>
            </a:r>
          </a:p>
          <a:p>
            <a:r>
              <a:rPr lang="en-US" dirty="0" smtClean="0"/>
              <a:t>Clear </a:t>
            </a:r>
            <a:r>
              <a:rPr lang="en-US" dirty="0"/>
              <a:t>path for escalation of decisions,</a:t>
            </a:r>
          </a:p>
          <a:p>
            <a:r>
              <a:rPr lang="en-US" dirty="0" smtClean="0"/>
              <a:t>Clear </a:t>
            </a:r>
            <a:r>
              <a:rPr lang="en-US" dirty="0"/>
              <a:t>line and scope of authority,</a:t>
            </a:r>
          </a:p>
          <a:p>
            <a:r>
              <a:rPr lang="en-US" dirty="0" smtClean="0"/>
              <a:t>Delegation </a:t>
            </a:r>
            <a:r>
              <a:rPr lang="en-US" dirty="0"/>
              <a:t>capabilities</a:t>
            </a:r>
            <a:r>
              <a:rPr lang="en-US" dirty="0" smtClean="0"/>
              <a:t>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FACTORS IN ORGANIZATION STRUCTURE SELECTION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Accountability </a:t>
            </a:r>
            <a:r>
              <a:rPr lang="en-US" dirty="0"/>
              <a:t>assignment,</a:t>
            </a:r>
          </a:p>
          <a:p>
            <a:r>
              <a:rPr lang="en-US" dirty="0" smtClean="0"/>
              <a:t>Responsibility </a:t>
            </a:r>
            <a:r>
              <a:rPr lang="en-US" dirty="0"/>
              <a:t>assignment,</a:t>
            </a:r>
          </a:p>
          <a:p>
            <a:r>
              <a:rPr lang="en-US" dirty="0" smtClean="0"/>
              <a:t>Adaptability </a:t>
            </a:r>
            <a:r>
              <a:rPr lang="en-US" dirty="0"/>
              <a:t>of design,</a:t>
            </a:r>
          </a:p>
          <a:p>
            <a:r>
              <a:rPr lang="en-US" dirty="0" smtClean="0"/>
              <a:t>Simplicity </a:t>
            </a:r>
            <a:r>
              <a:rPr lang="en-US" dirty="0"/>
              <a:t>of design,</a:t>
            </a:r>
          </a:p>
          <a:p>
            <a:r>
              <a:rPr lang="en-US" dirty="0" smtClean="0"/>
              <a:t>Efficiency </a:t>
            </a:r>
            <a:r>
              <a:rPr lang="en-US" dirty="0"/>
              <a:t>of performance</a:t>
            </a:r>
            <a:r>
              <a:rPr lang="en-US" dirty="0" smtClean="0"/>
              <a:t>,</a:t>
            </a:r>
          </a:p>
          <a:p>
            <a:r>
              <a:rPr lang="en-US" dirty="0"/>
              <a:t>Cost considerations,</a:t>
            </a:r>
          </a:p>
          <a:p>
            <a:r>
              <a:rPr lang="en-US" dirty="0" smtClean="0"/>
              <a:t>Physical </a:t>
            </a:r>
            <a:r>
              <a:rPr lang="en-US" dirty="0"/>
              <a:t>locations </a:t>
            </a:r>
          </a:p>
          <a:p>
            <a:r>
              <a:rPr lang="en-US" dirty="0" smtClean="0"/>
              <a:t>Clear </a:t>
            </a:r>
            <a:r>
              <a:rPr lang="en-US" dirty="0"/>
              <a:t>communication (e.g., policies, status of work, and organization’s vision).</a:t>
            </a:r>
          </a:p>
        </p:txBody>
      </p:sp>
    </p:spTree>
    <p:extLst>
      <p:ext uri="{BB962C8B-B14F-4D97-AF65-F5344CB8AC3E}">
        <p14:creationId xmlns:p14="http://schemas.microsoft.com/office/powerpoint/2010/main" val="229045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208EB10-14BF-48F0-B057-6005644CC0C3}" type="slidenum">
              <a:rPr lang="en-US" sz="1400"/>
              <a:pPr eaLnBrk="1" hangingPunct="1"/>
              <a:t>32</a:t>
            </a:fld>
            <a:endParaRPr lang="en-US" sz="1400"/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6934200" cy="10668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 eaLnBrk="1" hangingPunct="1">
              <a:defRPr/>
            </a:pPr>
            <a:r>
              <a:rPr lang="en-US"/>
              <a:t>Organizational Influences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840259"/>
            <a:ext cx="8229600" cy="556054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The </a:t>
            </a:r>
            <a:r>
              <a:rPr lang="en-US" dirty="0"/>
              <a:t>maturity of an organization with respect to its </a:t>
            </a:r>
            <a:r>
              <a:rPr lang="en-US" dirty="0" smtClean="0"/>
              <a:t>culture</a:t>
            </a:r>
            <a:r>
              <a:rPr lang="en-US" dirty="0"/>
              <a:t>, </a:t>
            </a:r>
            <a:r>
              <a:rPr lang="en-US" dirty="0" smtClean="0"/>
              <a:t>and structure </a:t>
            </a:r>
            <a:r>
              <a:rPr lang="en-US" dirty="0"/>
              <a:t>can affect projects.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PMBOK describes 6 generic organizational structures. Many organizations are a blend: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i="1" dirty="0"/>
              <a:t>Functional</a:t>
            </a:r>
            <a:r>
              <a:rPr lang="en-US" sz="2800" dirty="0"/>
              <a:t>: each employee has one clear superior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i="1" dirty="0"/>
              <a:t>Matrix</a:t>
            </a:r>
            <a:r>
              <a:rPr lang="en-US" sz="2800" dirty="0"/>
              <a:t>: people report to multiple managers (Weak, Balanced, Strong)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i="1" dirty="0" err="1"/>
              <a:t>Projectized</a:t>
            </a:r>
            <a:r>
              <a:rPr lang="en-US" sz="2800" dirty="0"/>
              <a:t>: all team members report to the Project Manager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i="1" dirty="0"/>
              <a:t>Composite</a:t>
            </a:r>
            <a:r>
              <a:rPr lang="en-US" sz="2800" dirty="0"/>
              <a:t>: involves all of the above structures at various </a:t>
            </a:r>
            <a:r>
              <a:rPr lang="en-US" sz="2800" dirty="0" smtClean="0"/>
              <a:t>levels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593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24"/>
            <a:ext cx="12344399" cy="6825849"/>
          </a:xfrm>
        </p:spPr>
      </p:pic>
    </p:spTree>
    <p:extLst>
      <p:ext uri="{BB962C8B-B14F-4D97-AF65-F5344CB8AC3E}">
        <p14:creationId xmlns:p14="http://schemas.microsoft.com/office/powerpoint/2010/main" val="255069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xfrm flipV="1">
            <a:off x="4648200" y="6721474"/>
            <a:ext cx="1443681" cy="45719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sz="1400" dirty="0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6858000" cy="10668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 eaLnBrk="1" hangingPunct="1">
              <a:defRPr/>
            </a:pPr>
            <a:r>
              <a:rPr lang="en-US"/>
              <a:t>Organizational Influences</a:t>
            </a:r>
          </a:p>
        </p:txBody>
      </p:sp>
      <p:graphicFrame>
        <p:nvGraphicFramePr>
          <p:cNvPr id="102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497290"/>
              </p:ext>
            </p:extLst>
          </p:nvPr>
        </p:nvGraphicFramePr>
        <p:xfrm>
          <a:off x="1278199" y="753762"/>
          <a:ext cx="10683142" cy="4838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Photo Editor Photo" r:id="rId4" imgW="5800000" imgH="2943636" progId="">
                  <p:embed/>
                </p:oleObj>
              </mc:Choice>
              <mc:Fallback>
                <p:oleObj name="Photo Editor Photo" r:id="rId4" imgW="5800000" imgH="294363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199" y="753762"/>
                        <a:ext cx="10683142" cy="4838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3070654" y="5592762"/>
            <a:ext cx="6858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dirty="0"/>
              <a:t>A </a:t>
            </a:r>
            <a:r>
              <a:rPr lang="en-US" sz="2800" i="1" dirty="0"/>
              <a:t>tight</a:t>
            </a:r>
            <a:r>
              <a:rPr lang="en-US" sz="2800" dirty="0"/>
              <a:t> matrix is not an organizational structure, but another word for </a:t>
            </a:r>
            <a:r>
              <a:rPr lang="en-US" sz="2800" i="1" dirty="0"/>
              <a:t>collocation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242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2272E73-0538-4911-A25A-20159C4E02EC}" type="slidenum">
              <a:rPr lang="en-US" sz="1400">
                <a:solidFill>
                  <a:srgbClr val="FFFFFF"/>
                </a:solidFill>
              </a:rPr>
              <a:pPr eaLnBrk="1" hangingPunct="1"/>
              <a:t>35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25338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0"/>
            <a:ext cx="6477000" cy="12954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 smtClean="0"/>
              <a:t>Functional Organization</a:t>
            </a:r>
          </a:p>
        </p:txBody>
      </p:sp>
      <p:graphicFrame>
        <p:nvGraphicFramePr>
          <p:cNvPr id="1126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605088" y="1860550"/>
          <a:ext cx="6915150" cy="389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Worksheet" r:id="rId4" imgW="5600823" imgH="3154680" progId="Excel.Sheet.8">
                  <p:embed/>
                </p:oleObj>
              </mc:Choice>
              <mc:Fallback>
                <p:oleObj name="Worksheet" r:id="rId4" imgW="5600823" imgH="3154680" progId="Excel.Shee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1860550"/>
                        <a:ext cx="6915150" cy="389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75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215B2E-4E05-44C3-BDA6-ADEE57EF9D8A}" type="slidenum">
              <a:rPr lang="en-US" sz="1400">
                <a:solidFill>
                  <a:srgbClr val="FFFFFF"/>
                </a:solidFill>
              </a:rPr>
              <a:pPr eaLnBrk="1" hangingPunct="1"/>
              <a:t>36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2513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6858000" cy="12954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4400" b="1"/>
              <a:t>Project based organization</a:t>
            </a:r>
          </a:p>
        </p:txBody>
      </p:sp>
      <p:graphicFrame>
        <p:nvGraphicFramePr>
          <p:cNvPr id="1229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438401" y="1296989"/>
          <a:ext cx="6799263" cy="482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Worksheet" r:id="rId4" imgW="4838700" imgH="3381375" progId="Excel.Sheet.8">
                  <p:embed/>
                </p:oleObj>
              </mc:Choice>
              <mc:Fallback>
                <p:oleObj name="Worksheet" r:id="rId4" imgW="4838700" imgH="3381375" progId="Excel.Shee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1296989"/>
                        <a:ext cx="6799263" cy="482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69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F6FC37E-C9FE-4216-B238-54D0E80C1BEF}" type="slidenum">
              <a:rPr lang="en-US" sz="1400">
                <a:solidFill>
                  <a:srgbClr val="FFFFFF"/>
                </a:solidFill>
              </a:rPr>
              <a:pPr eaLnBrk="1" hangingPunct="1"/>
              <a:t>37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2554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6934200" cy="12192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mtClean="0"/>
              <a:t>Matrix Organization</a:t>
            </a:r>
          </a:p>
        </p:txBody>
      </p:sp>
      <p:graphicFrame>
        <p:nvGraphicFramePr>
          <p:cNvPr id="1331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057400" y="1295401"/>
          <a:ext cx="7531100" cy="437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" name="Worksheet" r:id="rId4" imgW="5448300" imgH="3181350" progId="Excel.Sheet.8">
                  <p:embed/>
                </p:oleObj>
              </mc:Choice>
              <mc:Fallback>
                <p:oleObj name="Worksheet" r:id="rId4" imgW="5448300" imgH="3181350" progId="Excel.Shee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295401"/>
                        <a:ext cx="7531100" cy="437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675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274638"/>
            <a:ext cx="6629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mtClean="0">
                <a:effectLst/>
              </a:rPr>
              <a:t>Project Coordinator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mtClean="0">
                <a:effectLst/>
              </a:rPr>
              <a:t>Weaker than a Project Manager</a:t>
            </a:r>
          </a:p>
          <a:p>
            <a:r>
              <a:rPr lang="en-US" smtClean="0">
                <a:effectLst/>
              </a:rPr>
              <a:t>Not allowed to make budget decisions or overall project decisions</a:t>
            </a:r>
          </a:p>
          <a:p>
            <a:r>
              <a:rPr lang="en-US" smtClean="0">
                <a:effectLst/>
              </a:rPr>
              <a:t>May have some authority to assign / reassign some resources</a:t>
            </a:r>
          </a:p>
          <a:p>
            <a:r>
              <a:rPr lang="en-US" smtClean="0">
                <a:effectLst/>
              </a:rPr>
              <a:t>Found in a weak matrix or functional org</a:t>
            </a:r>
          </a:p>
        </p:txBody>
      </p:sp>
    </p:spTree>
    <p:extLst>
      <p:ext uri="{BB962C8B-B14F-4D97-AF65-F5344CB8AC3E}">
        <p14:creationId xmlns:p14="http://schemas.microsoft.com/office/powerpoint/2010/main" val="259485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274638"/>
            <a:ext cx="6400800" cy="9445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mtClean="0">
                <a:effectLst/>
              </a:rPr>
              <a:t>Project Expeditor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mtClean="0">
                <a:effectLst/>
              </a:rPr>
              <a:t>Weakest among all</a:t>
            </a:r>
          </a:p>
          <a:p>
            <a:r>
              <a:rPr lang="en-US" smtClean="0">
                <a:effectLst/>
              </a:rPr>
              <a:t>Staff assistant with little or no formal authority</a:t>
            </a:r>
          </a:p>
          <a:p>
            <a:r>
              <a:rPr lang="en-US" smtClean="0">
                <a:effectLst/>
              </a:rPr>
              <a:t>Reports to executives who have project responsibility</a:t>
            </a:r>
          </a:p>
          <a:p>
            <a:r>
              <a:rPr lang="en-US" smtClean="0">
                <a:effectLst/>
              </a:rPr>
              <a:t>Makes sure tasks are completed on time</a:t>
            </a:r>
          </a:p>
          <a:p>
            <a:r>
              <a:rPr lang="en-US" smtClean="0">
                <a:effectLst/>
              </a:rPr>
              <a:t>Found in a functional organization</a:t>
            </a:r>
          </a:p>
          <a:p>
            <a:pPr lvl="1"/>
            <a:r>
              <a:rPr lang="en-US" smtClean="0">
                <a:effectLst/>
              </a:rPr>
              <a:t>A part time job in most organizations</a:t>
            </a:r>
          </a:p>
        </p:txBody>
      </p:sp>
    </p:spTree>
    <p:extLst>
      <p:ext uri="{BB962C8B-B14F-4D97-AF65-F5344CB8AC3E}">
        <p14:creationId xmlns:p14="http://schemas.microsoft.com/office/powerpoint/2010/main" val="68026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507524"/>
            <a:ext cx="9791700" cy="4669439"/>
          </a:xfrm>
        </p:spPr>
        <p:txBody>
          <a:bodyPr>
            <a:normAutofit/>
          </a:bodyPr>
          <a:lstStyle/>
          <a:p>
            <a:r>
              <a:rPr lang="en-US" dirty="0" smtClean="0"/>
              <a:t>PMO standardizes </a:t>
            </a:r>
            <a:r>
              <a:rPr lang="en-US" dirty="0"/>
              <a:t>the project-related </a:t>
            </a:r>
            <a:r>
              <a:rPr lang="en-US" dirty="0" smtClean="0"/>
              <a:t>governance, facilitates sharing </a:t>
            </a:r>
            <a:r>
              <a:rPr lang="en-US" dirty="0"/>
              <a:t>of resources, methodologies, </a:t>
            </a:r>
            <a:r>
              <a:rPr lang="en-US" dirty="0" smtClean="0"/>
              <a:t>and </a:t>
            </a:r>
            <a:r>
              <a:rPr lang="en-US" dirty="0"/>
              <a:t>techniques. </a:t>
            </a:r>
            <a:endParaRPr lang="en-US" dirty="0" smtClean="0"/>
          </a:p>
          <a:p>
            <a:r>
              <a:rPr lang="en-US" dirty="0" smtClean="0"/>
              <a:t>PMO role can range from project </a:t>
            </a:r>
            <a:r>
              <a:rPr lang="en-US" dirty="0"/>
              <a:t>management support functions to the direct management of one or more projects.</a:t>
            </a:r>
          </a:p>
          <a:p>
            <a:r>
              <a:rPr lang="en-US" dirty="0" smtClean="0"/>
              <a:t>Types </a:t>
            </a:r>
            <a:r>
              <a:rPr lang="en-US" dirty="0"/>
              <a:t>of </a:t>
            </a:r>
            <a:r>
              <a:rPr lang="en-US" dirty="0" smtClean="0"/>
              <a:t>PMOs: </a:t>
            </a:r>
            <a:endParaRPr lang="en-US" dirty="0"/>
          </a:p>
          <a:p>
            <a:r>
              <a:rPr lang="en-US" b="1" dirty="0" smtClean="0"/>
              <a:t>Supportive</a:t>
            </a:r>
            <a:r>
              <a:rPr lang="en-US" b="1" dirty="0"/>
              <a:t>. </a:t>
            </a:r>
            <a:r>
              <a:rPr lang="en-US" dirty="0"/>
              <a:t>C</a:t>
            </a:r>
            <a:r>
              <a:rPr lang="en-US" dirty="0" smtClean="0"/>
              <a:t>onsultative </a:t>
            </a:r>
            <a:r>
              <a:rPr lang="en-US" dirty="0"/>
              <a:t>role </a:t>
            </a:r>
            <a:r>
              <a:rPr lang="en-US" dirty="0" smtClean="0"/>
              <a:t>through templates</a:t>
            </a:r>
            <a:r>
              <a:rPr lang="en-US" dirty="0"/>
              <a:t>, best practices</a:t>
            </a:r>
            <a:r>
              <a:rPr lang="en-US" dirty="0" smtClean="0"/>
              <a:t>, training</a:t>
            </a:r>
            <a:r>
              <a:rPr lang="en-US" dirty="0"/>
              <a:t>, </a:t>
            </a:r>
            <a:r>
              <a:rPr lang="en-US" dirty="0" smtClean="0"/>
              <a:t>and access </a:t>
            </a:r>
            <a:r>
              <a:rPr lang="en-US" dirty="0"/>
              <a:t>to </a:t>
            </a:r>
            <a:r>
              <a:rPr lang="en-US" dirty="0" smtClean="0"/>
              <a:t>information. </a:t>
            </a:r>
          </a:p>
          <a:p>
            <a:r>
              <a:rPr lang="en-US" dirty="0" smtClean="0"/>
              <a:t>Serves </a:t>
            </a:r>
            <a:r>
              <a:rPr lang="en-US" dirty="0"/>
              <a:t>as a </a:t>
            </a:r>
            <a:r>
              <a:rPr lang="en-US" dirty="0" smtClean="0"/>
              <a:t>project repository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degree of control </a:t>
            </a:r>
            <a:r>
              <a:rPr lang="en-US" dirty="0" smtClean="0"/>
              <a:t>is </a:t>
            </a:r>
            <a:r>
              <a:rPr lang="en-US" dirty="0"/>
              <a:t>low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49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00" y="1891726"/>
            <a:ext cx="9791700" cy="4351338"/>
          </a:xfrm>
        </p:spPr>
        <p:txBody>
          <a:bodyPr>
            <a:normAutofit/>
          </a:bodyPr>
          <a:lstStyle/>
          <a:p>
            <a:r>
              <a:rPr lang="en-US" b="1" dirty="0" smtClean="0"/>
              <a:t>Controlling</a:t>
            </a:r>
            <a:r>
              <a:rPr lang="en-US" b="1" dirty="0"/>
              <a:t>. </a:t>
            </a:r>
            <a:r>
              <a:rPr lang="en-US" dirty="0" smtClean="0"/>
              <a:t>support </a:t>
            </a:r>
            <a:r>
              <a:rPr lang="en-US" dirty="0"/>
              <a:t>and require compliance through various means.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degree </a:t>
            </a:r>
            <a:r>
              <a:rPr lang="en-US" dirty="0" smtClean="0"/>
              <a:t>of control is </a:t>
            </a:r>
            <a:r>
              <a:rPr lang="en-US" dirty="0"/>
              <a:t>moderate. </a:t>
            </a:r>
            <a:endParaRPr lang="en-US" dirty="0" smtClean="0"/>
          </a:p>
          <a:p>
            <a:r>
              <a:rPr lang="en-US" dirty="0" smtClean="0"/>
              <a:t>Compliance </a:t>
            </a:r>
            <a:r>
              <a:rPr lang="en-US" dirty="0"/>
              <a:t>may involve:</a:t>
            </a:r>
          </a:p>
          <a:p>
            <a:r>
              <a:rPr lang="en-US" dirty="0" smtClean="0"/>
              <a:t>Adoption </a:t>
            </a:r>
            <a:r>
              <a:rPr lang="en-US" dirty="0"/>
              <a:t>of project management frameworks or methodologies;</a:t>
            </a:r>
          </a:p>
          <a:p>
            <a:r>
              <a:rPr lang="en-US" dirty="0" smtClean="0"/>
              <a:t>Use </a:t>
            </a:r>
            <a:r>
              <a:rPr lang="en-US" dirty="0"/>
              <a:t>of specific templates, forms, and tools; and</a:t>
            </a:r>
          </a:p>
          <a:p>
            <a:r>
              <a:rPr lang="en-US" dirty="0" smtClean="0"/>
              <a:t>Conformance </a:t>
            </a:r>
            <a:r>
              <a:rPr lang="en-US" dirty="0"/>
              <a:t>to governance frameworks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79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Directive</a:t>
            </a:r>
            <a:r>
              <a:rPr lang="en-US" b="1" dirty="0"/>
              <a:t>. </a:t>
            </a:r>
            <a:r>
              <a:rPr lang="en-US" dirty="0" smtClean="0"/>
              <a:t>Directly </a:t>
            </a:r>
            <a:r>
              <a:rPr lang="en-US" dirty="0"/>
              <a:t>managing the projects. </a:t>
            </a:r>
            <a:endParaRPr lang="en-US" dirty="0" smtClean="0"/>
          </a:p>
          <a:p>
            <a:r>
              <a:rPr lang="en-US" dirty="0" smtClean="0"/>
              <a:t>Project </a:t>
            </a:r>
            <a:r>
              <a:rPr lang="en-US" dirty="0"/>
              <a:t>managers </a:t>
            </a:r>
            <a:r>
              <a:rPr lang="en-US" dirty="0" smtClean="0"/>
              <a:t>are assigned </a:t>
            </a:r>
            <a:r>
              <a:rPr lang="en-US" dirty="0"/>
              <a:t>by and report to the PMO.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degree of control </a:t>
            </a:r>
            <a:r>
              <a:rPr lang="en-US" dirty="0" smtClean="0"/>
              <a:t>is </a:t>
            </a:r>
            <a:r>
              <a:rPr lang="en-US" dirty="0"/>
              <a:t>high.</a:t>
            </a:r>
          </a:p>
          <a:p>
            <a:r>
              <a:rPr lang="en-US" dirty="0" smtClean="0"/>
              <a:t>May </a:t>
            </a:r>
            <a:r>
              <a:rPr lang="en-US" dirty="0"/>
              <a:t>have organization-wide responsibility. </a:t>
            </a:r>
            <a:endParaRPr lang="en-US" dirty="0" smtClean="0"/>
          </a:p>
          <a:p>
            <a:r>
              <a:rPr lang="en-US" dirty="0" smtClean="0"/>
              <a:t>Role </a:t>
            </a:r>
            <a:r>
              <a:rPr lang="en-US" dirty="0"/>
              <a:t>in </a:t>
            </a:r>
            <a:r>
              <a:rPr lang="en-US" dirty="0" smtClean="0"/>
              <a:t>strategic alignment </a:t>
            </a:r>
            <a:r>
              <a:rPr lang="en-US" dirty="0"/>
              <a:t>and delivering organizational value. </a:t>
            </a:r>
            <a:endParaRPr lang="en-US" dirty="0" smtClean="0"/>
          </a:p>
          <a:p>
            <a:r>
              <a:rPr lang="en-US" dirty="0" smtClean="0"/>
              <a:t>Integrates information </a:t>
            </a:r>
            <a:r>
              <a:rPr lang="en-US" dirty="0"/>
              <a:t>from </a:t>
            </a:r>
            <a:r>
              <a:rPr lang="en-US" dirty="0" smtClean="0"/>
              <a:t>strategic projects </a:t>
            </a:r>
            <a:r>
              <a:rPr lang="en-US" dirty="0"/>
              <a:t>and evaluates how </a:t>
            </a:r>
            <a:r>
              <a:rPr lang="en-US" dirty="0" smtClean="0"/>
              <a:t>strategic </a:t>
            </a:r>
            <a:r>
              <a:rPr lang="en-US" dirty="0"/>
              <a:t>objectives are being fulfilled.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2743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PMO </a:t>
            </a:r>
            <a:r>
              <a:rPr lang="en-US" dirty="0"/>
              <a:t>is the natural liaison between </a:t>
            </a:r>
            <a:r>
              <a:rPr lang="en-US" dirty="0" smtClean="0"/>
              <a:t>the organization’s </a:t>
            </a:r>
            <a:r>
              <a:rPr lang="en-US" dirty="0"/>
              <a:t>portfolios, programs, projects, and the organizational measurement systems (e.g., balanced scorecard).</a:t>
            </a:r>
          </a:p>
          <a:p>
            <a:r>
              <a:rPr lang="en-US" dirty="0"/>
              <a:t>The projects supported or administered by the PMO may not be related other than by being managed together. </a:t>
            </a:r>
            <a:endParaRPr lang="en-US" dirty="0" smtClean="0"/>
          </a:p>
          <a:p>
            <a:r>
              <a:rPr lang="en-US" dirty="0" smtClean="0"/>
              <a:t>The specific </a:t>
            </a:r>
            <a:r>
              <a:rPr lang="en-US" dirty="0"/>
              <a:t>form, function, and structure of a PMO are dependent upon the needs of the organization that it supports.</a:t>
            </a:r>
          </a:p>
        </p:txBody>
      </p:sp>
    </p:spTree>
    <p:extLst>
      <p:ext uri="{BB962C8B-B14F-4D97-AF65-F5344CB8AC3E}">
        <p14:creationId xmlns:p14="http://schemas.microsoft.com/office/powerpoint/2010/main" val="100908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PMO </a:t>
            </a:r>
            <a:r>
              <a:rPr lang="en-US" dirty="0"/>
              <a:t>may have the authority to act as an integral stakeholder and a key decision maker </a:t>
            </a:r>
            <a:r>
              <a:rPr lang="en-US" dirty="0" smtClean="0"/>
              <a:t>of each project to </a:t>
            </a:r>
            <a:r>
              <a:rPr lang="en-US" dirty="0"/>
              <a:t>keep it aligned with the business objectives.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PMO may:</a:t>
            </a:r>
          </a:p>
          <a:p>
            <a:r>
              <a:rPr lang="en-US" dirty="0" smtClean="0"/>
              <a:t>Make </a:t>
            </a:r>
            <a:r>
              <a:rPr lang="en-US" dirty="0"/>
              <a:t>recommendations,</a:t>
            </a:r>
          </a:p>
          <a:p>
            <a:r>
              <a:rPr lang="en-US" dirty="0" smtClean="0"/>
              <a:t>Lead </a:t>
            </a:r>
            <a:r>
              <a:rPr lang="en-US" dirty="0"/>
              <a:t>knowledge transfer,</a:t>
            </a:r>
          </a:p>
          <a:p>
            <a:r>
              <a:rPr lang="en-US" dirty="0" smtClean="0"/>
              <a:t>Terminate </a:t>
            </a:r>
            <a:r>
              <a:rPr lang="en-US" dirty="0"/>
              <a:t>projects, and</a:t>
            </a:r>
          </a:p>
          <a:p>
            <a:r>
              <a:rPr lang="en-US" dirty="0" smtClean="0"/>
              <a:t>Take </a:t>
            </a:r>
            <a:r>
              <a:rPr lang="en-US" dirty="0"/>
              <a:t>other actions, as required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2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Primary </a:t>
            </a:r>
            <a:r>
              <a:rPr lang="en-US" dirty="0"/>
              <a:t>function of a PMO is to support project </a:t>
            </a:r>
            <a:r>
              <a:rPr lang="en-US" dirty="0" smtClean="0"/>
              <a:t>managers:</a:t>
            </a:r>
            <a:endParaRPr lang="en-US" dirty="0"/>
          </a:p>
          <a:p>
            <a:r>
              <a:rPr lang="en-US" dirty="0" smtClean="0"/>
              <a:t>Managing </a:t>
            </a:r>
            <a:r>
              <a:rPr lang="en-US" dirty="0"/>
              <a:t>shared resources across all </a:t>
            </a:r>
            <a:r>
              <a:rPr lang="en-US" dirty="0" smtClean="0"/>
              <a:t>projects;</a:t>
            </a:r>
            <a:endParaRPr lang="en-US" dirty="0"/>
          </a:p>
          <a:p>
            <a:r>
              <a:rPr lang="en-US" dirty="0" smtClean="0"/>
              <a:t>Coaching</a:t>
            </a:r>
            <a:r>
              <a:rPr lang="en-US" dirty="0"/>
              <a:t>, mentoring, training, and oversight;</a:t>
            </a:r>
          </a:p>
          <a:p>
            <a:r>
              <a:rPr lang="en-US" dirty="0" smtClean="0"/>
              <a:t>Monitoring </a:t>
            </a:r>
            <a:r>
              <a:rPr lang="en-US" dirty="0"/>
              <a:t>compliance </a:t>
            </a:r>
            <a:r>
              <a:rPr lang="en-US" dirty="0" smtClean="0"/>
              <a:t>by </a:t>
            </a:r>
            <a:r>
              <a:rPr lang="en-US" dirty="0"/>
              <a:t>means </a:t>
            </a:r>
            <a:r>
              <a:rPr lang="en-US" dirty="0" smtClean="0"/>
              <a:t>of project </a:t>
            </a:r>
            <a:r>
              <a:rPr lang="en-US" dirty="0"/>
              <a:t>audits;</a:t>
            </a:r>
          </a:p>
          <a:p>
            <a:r>
              <a:rPr lang="en-US" dirty="0" smtClean="0"/>
              <a:t>Coordinating </a:t>
            </a:r>
            <a:r>
              <a:rPr lang="en-US" dirty="0"/>
              <a:t>communication across projects.</a:t>
            </a:r>
          </a:p>
        </p:txBody>
      </p:sp>
    </p:spTree>
    <p:extLst>
      <p:ext uri="{BB962C8B-B14F-4D97-AF65-F5344CB8AC3E}">
        <p14:creationId xmlns:p14="http://schemas.microsoft.com/office/powerpoint/2010/main" val="187043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for Lecture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Organizational strategy and Project Selection: </a:t>
            </a:r>
            <a:endParaRPr lang="en-GB" b="1" dirty="0" smtClean="0"/>
          </a:p>
          <a:p>
            <a:r>
              <a:rPr lang="en-GB" dirty="0" smtClean="0"/>
              <a:t>Strategic </a:t>
            </a:r>
            <a:r>
              <a:rPr lang="en-GB" dirty="0"/>
              <a:t>management process</a:t>
            </a:r>
            <a:endParaRPr lang="en-US" dirty="0"/>
          </a:p>
          <a:p>
            <a:pPr lvl="0"/>
            <a:r>
              <a:rPr lang="en-GB" dirty="0"/>
              <a:t>Need for project portfolio Management System</a:t>
            </a:r>
            <a:endParaRPr lang="en-US" dirty="0"/>
          </a:p>
          <a:p>
            <a:pPr lvl="0"/>
            <a:r>
              <a:rPr lang="en-GB" dirty="0"/>
              <a:t>Portfolio Management System; Classification of the project</a:t>
            </a:r>
            <a:endParaRPr lang="en-US" dirty="0"/>
          </a:p>
          <a:p>
            <a:pPr lvl="0"/>
            <a:r>
              <a:rPr lang="en-GB" dirty="0"/>
              <a:t>Financial/ Non financial selection criteria </a:t>
            </a:r>
            <a:endParaRPr lang="en-US" dirty="0"/>
          </a:p>
          <a:p>
            <a:pPr lvl="0"/>
            <a:r>
              <a:rPr lang="en-GB" dirty="0"/>
              <a:t>Applying a selection model</a:t>
            </a:r>
            <a:endParaRPr lang="en-US" dirty="0"/>
          </a:p>
          <a:p>
            <a:r>
              <a:rPr lang="en-US" dirty="0"/>
              <a:t>Managing the portfolio system</a:t>
            </a:r>
          </a:p>
        </p:txBody>
      </p:sp>
    </p:spTree>
    <p:extLst>
      <p:ext uri="{BB962C8B-B14F-4D97-AF65-F5344CB8AC3E}">
        <p14:creationId xmlns:p14="http://schemas.microsoft.com/office/powerpoint/2010/main" val="11913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oud skipper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oud skipper design slides.potx" id="{E8493412-85DD-4641-9E8A-937B29FD6AA2}" vid="{77E91E09-5010-404D-ADF4-B79FA46D727B}"/>
    </a:ext>
  </a:extLst>
</a:theme>
</file>

<file path=ppt/theme/theme2.xml><?xml version="1.0" encoding="utf-8"?>
<a:theme xmlns:a="http://schemas.openxmlformats.org/drawingml/2006/main" name="1_PMPTEMP">
  <a:themeElements>
    <a:clrScheme name="PMPTEMP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PMPTEMP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MPTEMP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PTEMP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TEMP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TEMP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PMPTEMP">
  <a:themeElements>
    <a:clrScheme name="PMPTEMP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PMPTEMP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MPTEMP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PTEMP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TEMP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TEMP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PMPTEMP">
  <a:themeElements>
    <a:clrScheme name="PMPTEMP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PMPTEMP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MPTEMP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PTEMP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TEMP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PTEMP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DD01B8-816B-49B7-8C81-03AB51D87C54}">
  <ds:schemaRefs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0262f94-9f35-4ac3-9a90-690165a166b7"/>
    <ds:schemaRef ds:uri="a4f35948-e619-41b3-aa29-22878b09cfd2"/>
  </ds:schemaRefs>
</ds:datastoreItem>
</file>

<file path=customXml/itemProps2.xml><?xml version="1.0" encoding="utf-8"?>
<ds:datastoreItem xmlns:ds="http://schemas.openxmlformats.org/officeDocument/2006/customXml" ds:itemID="{6253D857-4181-4777-8893-6E45A690F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 skipper design slides</Template>
  <TotalTime>34034</TotalTime>
  <Words>2487</Words>
  <Application>Microsoft Office PowerPoint</Application>
  <PresentationFormat>Widescreen</PresentationFormat>
  <Paragraphs>286</Paragraphs>
  <Slides>46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Arial</vt:lpstr>
      <vt:lpstr>Calibri</vt:lpstr>
      <vt:lpstr>Cambria</vt:lpstr>
      <vt:lpstr>Times New Roman</vt:lpstr>
      <vt:lpstr>Wingdings</vt:lpstr>
      <vt:lpstr>Cloud skipper design template</vt:lpstr>
      <vt:lpstr>1_PMPTEMP</vt:lpstr>
      <vt:lpstr>2_PMPTEMP</vt:lpstr>
      <vt:lpstr>3_PMPTEMP</vt:lpstr>
      <vt:lpstr>Photo Editor Photo</vt:lpstr>
      <vt:lpstr>Worksheet</vt:lpstr>
      <vt:lpstr>PowerPoint Presentation</vt:lpstr>
      <vt:lpstr>WHAT IS A PROJECT?</vt:lpstr>
      <vt:lpstr>Learning Outcomes for Lecture #3 </vt:lpstr>
      <vt:lpstr>PROJECTS ENVIRONMENT</vt:lpstr>
      <vt:lpstr>PROJECT INFLUENCES</vt:lpstr>
      <vt:lpstr>ENTERPRISE ENVIRONMENTAL FACTORS </vt:lpstr>
      <vt:lpstr>EEFS INTERNAL TO THE ORGANIZATION </vt:lpstr>
      <vt:lpstr>EEFS INTERNAL TO THE ORGANIZATION </vt:lpstr>
      <vt:lpstr>EEFS EXTERNAL TO THE ORGANIZATION </vt:lpstr>
      <vt:lpstr>EEFS EXTERNAL TO THE ORGANIZATION </vt:lpstr>
      <vt:lpstr>ORGANIZATIONAL PROCESS ASSETS </vt:lpstr>
      <vt:lpstr>ORGANIZATIONAL PROCESS ASSETS </vt:lpstr>
      <vt:lpstr>ORGANIZATIONAL PROCESS ASSETS </vt:lpstr>
      <vt:lpstr>ORGANIZATIONAL PROCESS ASSETS </vt:lpstr>
      <vt:lpstr>Class Exercise</vt:lpstr>
      <vt:lpstr>Class Exercise - Answers</vt:lpstr>
      <vt:lpstr>Processes, Policies, and Procedures </vt:lpstr>
      <vt:lpstr>Processes, Policies, and Procedures </vt:lpstr>
      <vt:lpstr>Processes, Policies, and Procedures </vt:lpstr>
      <vt:lpstr>Processes, Policies, and Procedures </vt:lpstr>
      <vt:lpstr>Processes, Policies, and Procedures </vt:lpstr>
      <vt:lpstr>ORGANIZATIONAL KNOWLEDGE REPOSITORIES  </vt:lpstr>
      <vt:lpstr>ORGANIZATIONAL KNOWLEDGE REPOSITORIES  </vt:lpstr>
      <vt:lpstr>ORGANIZATIONAL SYSTEMS </vt:lpstr>
      <vt:lpstr>ORGANIZATIONAL SYSTEMS </vt:lpstr>
      <vt:lpstr>ORGANIZATIONAL SYSTEMS </vt:lpstr>
      <vt:lpstr>ORGANIZATIONAL SYSTEMS </vt:lpstr>
      <vt:lpstr>GOVERNANCE FRAMEWORK  </vt:lpstr>
      <vt:lpstr>MANAGEMENT ELEMENTS </vt:lpstr>
      <vt:lpstr>FACTORS IN ORGANIZATION STRUCTURE SELECTION </vt:lpstr>
      <vt:lpstr>FACTORS IN ORGANIZATION STRUCTURE SELECTION </vt:lpstr>
      <vt:lpstr>Organizational Influences</vt:lpstr>
      <vt:lpstr>PowerPoint Presentation</vt:lpstr>
      <vt:lpstr>Organizational Influences</vt:lpstr>
      <vt:lpstr>Functional Organization</vt:lpstr>
      <vt:lpstr>Project based organization</vt:lpstr>
      <vt:lpstr>Matrix Organization</vt:lpstr>
      <vt:lpstr>Project Coordinator</vt:lpstr>
      <vt:lpstr>Project Expeditor</vt:lpstr>
      <vt:lpstr>PROJECT MANAGEMENT OFFICE</vt:lpstr>
      <vt:lpstr>PROJECT MANAGEMENT OFFICE</vt:lpstr>
      <vt:lpstr>PROJECT MANAGEMENT OFFICE</vt:lpstr>
      <vt:lpstr>PROJECT MANAGEMENT OFFICE</vt:lpstr>
      <vt:lpstr>PROJECT MANAGEMENT OFFICE</vt:lpstr>
      <vt:lpstr>PROJECT MANAGEMENT OFFICE</vt:lpstr>
      <vt:lpstr>Contents for Lecture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Behavior</dc:title>
  <dc:creator>Windows User</dc:creator>
  <cp:lastModifiedBy>Bahria</cp:lastModifiedBy>
  <cp:revision>224</cp:revision>
  <dcterms:created xsi:type="dcterms:W3CDTF">2018-05-26T09:36:46Z</dcterms:created>
  <dcterms:modified xsi:type="dcterms:W3CDTF">2024-09-21T08:39:48Z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