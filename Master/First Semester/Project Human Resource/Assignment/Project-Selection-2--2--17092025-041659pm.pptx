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72" r:id="rId2"/>
    <p:sldId id="262" r:id="rId3"/>
    <p:sldId id="256" r:id="rId4"/>
    <p:sldId id="257" r:id="rId5"/>
    <p:sldId id="275" r:id="rId6"/>
    <p:sldId id="258" r:id="rId7"/>
    <p:sldId id="259" r:id="rId8"/>
    <p:sldId id="260" r:id="rId9"/>
    <p:sldId id="263" r:id="rId10"/>
    <p:sldId id="264" r:id="rId11"/>
    <p:sldId id="265" r:id="rId12"/>
    <p:sldId id="273" r:id="rId13"/>
    <p:sldId id="274" r:id="rId14"/>
    <p:sldId id="266" r:id="rId15"/>
    <p:sldId id="267" r:id="rId16"/>
    <p:sldId id="268" r:id="rId17"/>
    <p:sldId id="269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E9CEC6-495E-4B63-819B-B3D14646B6F9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D4155-CF2A-46D1-A4B9-8D3F300D3A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1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dirty="0"/>
          </a:p>
        </p:txBody>
      </p:sp>
      <p:sp>
        <p:nvSpPr>
          <p:cNvPr id="138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B04370CB-B1F0-4FCF-A1D7-052A58D762D6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9192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389D8-1613-4E16-9835-B2FAD5BEAFD9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5690F8-B506-450C-A673-40DDB57C0C7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" y="2209800"/>
            <a:ext cx="9067800" cy="4076700"/>
          </a:xfrm>
        </p:spPr>
        <p:txBody>
          <a:bodyPr/>
          <a:lstStyle/>
          <a:p>
            <a:pPr algn="l">
              <a:spcBef>
                <a:spcPct val="50000"/>
              </a:spcBef>
              <a:tabLst>
                <a:tab pos="457200" algn="l"/>
                <a:tab pos="2057400" algn="l"/>
              </a:tabLst>
            </a:pPr>
            <a:br>
              <a:rPr lang="en-US" sz="1800" dirty="0"/>
            </a:br>
            <a:r>
              <a:rPr lang="en-US" sz="1800" dirty="0"/>
              <a:t> </a:t>
            </a:r>
            <a:r>
              <a:rPr lang="en-US" sz="2400" dirty="0">
                <a:solidFill>
                  <a:srgbClr val="CC3300"/>
                </a:solidFill>
              </a:rPr>
              <a:t>S</a:t>
            </a:r>
            <a:r>
              <a:rPr lang="en-US" sz="1800" dirty="0">
                <a:solidFill>
                  <a:srgbClr val="CC3300"/>
                </a:solidFill>
              </a:rPr>
              <a:t>	</a:t>
            </a:r>
            <a:r>
              <a:rPr lang="en-US" sz="1800" dirty="0"/>
              <a:t>Specific 	Be specific in targeting an objective</a:t>
            </a:r>
            <a:br>
              <a:rPr lang="en-US" sz="1800" dirty="0"/>
            </a:br>
            <a:br>
              <a:rPr lang="en-US" sz="1800" dirty="0"/>
            </a:br>
            <a:r>
              <a:rPr lang="en-US" sz="2400" dirty="0">
                <a:solidFill>
                  <a:srgbClr val="CC3300"/>
                </a:solidFill>
              </a:rPr>
              <a:t>M</a:t>
            </a:r>
            <a:r>
              <a:rPr lang="en-US" sz="1800" dirty="0"/>
              <a:t> 	Measurable 	Establish a measurable indicator(s) of progress</a:t>
            </a:r>
            <a:br>
              <a:rPr lang="en-US" sz="1800" dirty="0"/>
            </a:br>
            <a:br>
              <a:rPr lang="en-US" sz="1800" dirty="0"/>
            </a:br>
            <a:r>
              <a:rPr lang="en-US" sz="2400" dirty="0">
                <a:solidFill>
                  <a:srgbClr val="CC3300"/>
                </a:solidFill>
              </a:rPr>
              <a:t>A</a:t>
            </a:r>
            <a:r>
              <a:rPr lang="en-US" sz="1800" dirty="0"/>
              <a:t> 	Assignable 	Make the objective assignable to one person for  completion</a:t>
            </a:r>
            <a:br>
              <a:rPr lang="en-US" sz="1800" dirty="0"/>
            </a:br>
            <a:br>
              <a:rPr lang="en-US" sz="1800" dirty="0"/>
            </a:br>
            <a:r>
              <a:rPr lang="en-US" sz="2400" dirty="0">
                <a:solidFill>
                  <a:srgbClr val="CC3300"/>
                </a:solidFill>
              </a:rPr>
              <a:t>R</a:t>
            </a:r>
            <a:r>
              <a:rPr lang="en-US" sz="1800" dirty="0">
                <a:solidFill>
                  <a:srgbClr val="CC3300"/>
                </a:solidFill>
              </a:rPr>
              <a:t> </a:t>
            </a:r>
            <a:r>
              <a:rPr lang="en-US" sz="1800" dirty="0"/>
              <a:t>	Realistic 	State what can realistically be done with available			resources</a:t>
            </a:r>
            <a:br>
              <a:rPr lang="en-US" sz="1800" dirty="0"/>
            </a:br>
            <a:r>
              <a:rPr lang="en-US" sz="2400" dirty="0">
                <a:solidFill>
                  <a:srgbClr val="CC3300"/>
                </a:solidFill>
              </a:rPr>
              <a:t>T</a:t>
            </a:r>
            <a:r>
              <a:rPr lang="en-US" sz="1800" dirty="0"/>
              <a:t> 	Time related</a:t>
            </a:r>
            <a:br>
              <a:rPr lang="en-US" sz="1800" dirty="0">
                <a:latin typeface="Univers" pitchFamily="34" charset="0"/>
              </a:rPr>
            </a:br>
            <a:endParaRPr lang="en-GB" sz="1800" dirty="0">
              <a:solidFill>
                <a:schemeClr val="accent6"/>
              </a:solidFill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D3D8D9-6AFB-42AC-9AC6-B670F679F797}" type="slidenum">
              <a:rPr lang="en-US" sz="1600" b="1" smtClean="0">
                <a:solidFill>
                  <a:schemeClr val="bg1"/>
                </a:solidFill>
                <a:latin typeface="+mn-lt"/>
              </a:rPr>
              <a:pPr>
                <a:defRPr/>
              </a:pPr>
              <a:t>1</a:t>
            </a:fld>
            <a:endParaRPr lang="en-US" sz="1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066800" y="1676400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kern="0" dirty="0">
                <a:solidFill>
                  <a:srgbClr val="006600"/>
                </a:solidFill>
                <a:latin typeface="Arial"/>
                <a:ea typeface="+mj-ea"/>
                <a:cs typeface="+mj-cs"/>
              </a:rPr>
              <a:t> Characteristics of Objectives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002889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471488" y="266700"/>
            <a:ext cx="8201025" cy="757238"/>
          </a:xfrm>
          <a:noFill/>
        </p:spPr>
        <p:txBody>
          <a:bodyPr/>
          <a:lstStyle/>
          <a:p>
            <a:pPr eaLnBrk="1" hangingPunct="1"/>
            <a:r>
              <a:rPr lang="en-US" sz="4000"/>
              <a:t>Portfolio of Projects by Type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7407275" y="6080125"/>
            <a:ext cx="1279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b="1">
                <a:solidFill>
                  <a:schemeClr val="bg1"/>
                </a:solidFill>
              </a:rPr>
              <a:t>FIGURE 2.2</a:t>
            </a:r>
            <a:endParaRPr lang="en-US" sz="1200" b="1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737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38" y="1485900"/>
            <a:ext cx="5953125" cy="3895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model for managing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04800" y="1752600"/>
            <a:ext cx="7620000" cy="44958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The concept Stage</a:t>
            </a:r>
          </a:p>
          <a:p>
            <a:pPr lvl="1"/>
            <a:r>
              <a:rPr lang="en-US" dirty="0"/>
              <a:t>Someone identified a need for something</a:t>
            </a:r>
          </a:p>
          <a:p>
            <a:r>
              <a:rPr lang="en-US" dirty="0"/>
              <a:t>Develop a Problem Statement</a:t>
            </a:r>
          </a:p>
          <a:p>
            <a:pPr lvl="1"/>
            <a:r>
              <a:rPr lang="en-US" dirty="0"/>
              <a:t>A project is a problem scheduled for solution</a:t>
            </a:r>
          </a:p>
          <a:p>
            <a:r>
              <a:rPr lang="en-US" dirty="0"/>
              <a:t>Generate Alternative Project Strategies</a:t>
            </a:r>
          </a:p>
          <a:p>
            <a:pPr lvl="1"/>
            <a:r>
              <a:rPr lang="en-US" dirty="0"/>
              <a:t>There is more than one way to skin a cat. </a:t>
            </a:r>
            <a:r>
              <a:rPr lang="en-US" b="1" dirty="0">
                <a:solidFill>
                  <a:srgbClr val="FF0000"/>
                </a:solidFill>
              </a:rPr>
              <a:t>means that there are multiple methods to achieve a single goal</a:t>
            </a:r>
            <a:r>
              <a:rPr lang="en-US" dirty="0"/>
              <a:t>.</a:t>
            </a:r>
          </a:p>
          <a:p>
            <a:r>
              <a:rPr lang="en-US" dirty="0"/>
              <a:t>Select and Evaluate the Strategy</a:t>
            </a:r>
          </a:p>
          <a:p>
            <a:pPr lvl="1"/>
            <a:r>
              <a:rPr lang="en-US" dirty="0"/>
              <a:t>All P, C, T,S Requirements Met?</a:t>
            </a:r>
          </a:p>
          <a:p>
            <a:pPr lvl="2"/>
            <a:r>
              <a:rPr lang="en-US" dirty="0"/>
              <a:t>Will it do the job?</a:t>
            </a:r>
          </a:p>
          <a:p>
            <a:pPr lvl="1"/>
            <a:r>
              <a:rPr lang="en-US" dirty="0"/>
              <a:t>Are identified Risks Acceptable?</a:t>
            </a:r>
          </a:p>
          <a:p>
            <a:pPr lvl="1"/>
            <a:r>
              <a:rPr lang="en-US" dirty="0"/>
              <a:t>Are consequences Acceptable?</a:t>
            </a:r>
          </a:p>
          <a:p>
            <a:pPr lvl="1"/>
            <a:r>
              <a:rPr lang="en-US" dirty="0"/>
              <a:t>Does it Pass a Force Field Analysis?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457200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/>
              <a:t>Project Selection and Criteria of Choice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3886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Choice Criteria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Realism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Capability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Flexibility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Ease of Use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Cost</a:t>
            </a:r>
          </a:p>
          <a:p>
            <a:pPr algn="l">
              <a:buFont typeface="Arial" pitchFamily="34" charset="0"/>
              <a:buChar char="•"/>
            </a:pPr>
            <a:r>
              <a:rPr lang="en-US" dirty="0"/>
              <a:t>Easy Computerization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40C8-04BA-209E-934C-4740DDE66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</a:t>
            </a:r>
            <a:r>
              <a:rPr lang="en-US" dirty="0"/>
              <a:t> - </a:t>
            </a:r>
            <a:r>
              <a:rPr lang="en-US" b="1" dirty="0"/>
              <a:t>Performance</a:t>
            </a:r>
            <a:r>
              <a:rPr lang="en-US" dirty="0"/>
              <a:t> or </a:t>
            </a:r>
            <a:r>
              <a:rPr lang="en-US" b="1" dirty="0"/>
              <a:t>Purpose</a:t>
            </a:r>
            <a:r>
              <a:rPr lang="en-US" dirty="0"/>
              <a:t>: Does the proposed strategy fulfill the intended purpose or achieve the desired performance goals?</a:t>
            </a:r>
          </a:p>
          <a:p>
            <a:r>
              <a:rPr lang="en-US" b="1" dirty="0"/>
              <a:t>C</a:t>
            </a:r>
            <a:r>
              <a:rPr lang="en-US" dirty="0"/>
              <a:t> - </a:t>
            </a:r>
            <a:r>
              <a:rPr lang="en-US" b="1" dirty="0"/>
              <a:t>Cost</a:t>
            </a:r>
            <a:r>
              <a:rPr lang="en-US" dirty="0"/>
              <a:t> or </a:t>
            </a:r>
            <a:r>
              <a:rPr lang="en-US" b="1" dirty="0"/>
              <a:t>Capacity</a:t>
            </a:r>
            <a:r>
              <a:rPr lang="en-US" dirty="0"/>
              <a:t>: Is the strategy within budget? Do you have the necessary capacity, resources, and funding to execute it?</a:t>
            </a:r>
          </a:p>
          <a:p>
            <a:r>
              <a:rPr lang="en-US" b="1" dirty="0"/>
              <a:t>T</a:t>
            </a:r>
            <a:r>
              <a:rPr lang="en-US" dirty="0"/>
              <a:t> - </a:t>
            </a:r>
            <a:r>
              <a:rPr lang="en-US" b="1" dirty="0"/>
              <a:t>Time</a:t>
            </a:r>
            <a:r>
              <a:rPr lang="en-US" dirty="0"/>
              <a:t> or </a:t>
            </a:r>
            <a:r>
              <a:rPr lang="en-US" b="1" dirty="0"/>
              <a:t>Timeline</a:t>
            </a:r>
            <a:r>
              <a:rPr lang="en-US" dirty="0"/>
              <a:t>: Can the strategy be completed within the required timeframe or schedule?</a:t>
            </a:r>
          </a:p>
          <a:p>
            <a:r>
              <a:rPr lang="en-US" b="1" dirty="0"/>
              <a:t>S</a:t>
            </a:r>
            <a:r>
              <a:rPr lang="en-US" dirty="0"/>
              <a:t> - </a:t>
            </a:r>
            <a:r>
              <a:rPr lang="en-US" b="1" dirty="0"/>
              <a:t>Scope</a:t>
            </a:r>
            <a:r>
              <a:rPr lang="en-US" dirty="0"/>
              <a:t> or </a:t>
            </a:r>
            <a:r>
              <a:rPr lang="en-US" b="1" dirty="0"/>
              <a:t>Stakeholders</a:t>
            </a:r>
            <a:r>
              <a:rPr lang="en-US" dirty="0"/>
              <a:t>: Does the strategy address all aspects of the project's scope, and does it align with the needs and expectations of the key stakeholders?</a:t>
            </a:r>
          </a:p>
          <a:p>
            <a:r>
              <a:rPr lang="en-US" dirty="0"/>
              <a:t>The image shows a series of questions under "Select and Evaluate the Strategy" that support this interpretation:</a:t>
            </a:r>
          </a:p>
          <a:p>
            <a:r>
              <a:rPr lang="en-US" dirty="0"/>
              <a:t>"Will it do the job?" relates to </a:t>
            </a:r>
            <a:r>
              <a:rPr lang="en-US" b="1" dirty="0"/>
              <a:t>Performance</a:t>
            </a:r>
            <a:r>
              <a:rPr lang="en-US" dirty="0"/>
              <a:t> or </a:t>
            </a:r>
            <a:r>
              <a:rPr lang="en-US" b="1" dirty="0"/>
              <a:t>Purpose</a:t>
            </a:r>
            <a:r>
              <a:rPr lang="en-US" dirty="0"/>
              <a:t>.</a:t>
            </a:r>
          </a:p>
          <a:p>
            <a:r>
              <a:rPr lang="en-US" dirty="0"/>
              <a:t>"Are identified Risks Acceptable?" and "Are consequences Acceptable?" relate to the overall viability and alignment with </a:t>
            </a:r>
            <a:r>
              <a:rPr lang="en-US" b="1" dirty="0"/>
              <a:t>Stakeholders</a:t>
            </a:r>
            <a:r>
              <a:rPr lang="en-US" dirty="0"/>
              <a:t> and the project's constraints (</a:t>
            </a:r>
            <a:r>
              <a:rPr lang="en-US" b="1" dirty="0"/>
              <a:t>C</a:t>
            </a:r>
            <a:r>
              <a:rPr lang="en-US" dirty="0"/>
              <a:t> and </a:t>
            </a:r>
            <a:r>
              <a:rPr lang="en-US" b="1" dirty="0"/>
              <a:t>T</a:t>
            </a:r>
            <a:r>
              <a:rPr lang="en-US" dirty="0"/>
              <a:t>).</a:t>
            </a:r>
          </a:p>
          <a:p>
            <a:r>
              <a:rPr lang="en-US" dirty="0"/>
              <a:t>"Does it Pass a Force Field Analysis?" is a tool used to analyze the driving forces (positive) and restraining forces (negative) of a proposed change or strategy, which again relates to evaluating the </a:t>
            </a:r>
            <a:r>
              <a:rPr lang="en-US" b="1" dirty="0"/>
              <a:t>P, C, T, S</a:t>
            </a:r>
            <a:r>
              <a:rPr lang="en-US" dirty="0"/>
              <a:t> factors.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807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Nonnumeric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sz="3600" b="1" i="1" dirty="0"/>
              <a:t>Sacred Cow</a:t>
            </a:r>
            <a:r>
              <a:rPr lang="en-US" sz="3600" dirty="0"/>
              <a:t> - </a:t>
            </a:r>
            <a:r>
              <a:rPr lang="en-US" dirty="0"/>
              <a:t>project is suggested by a senior and powerful official in the organization</a:t>
            </a:r>
          </a:p>
          <a:p>
            <a:pPr>
              <a:lnSpc>
                <a:spcPct val="110000"/>
              </a:lnSpc>
            </a:pPr>
            <a:r>
              <a:rPr lang="en-US" sz="3600" b="1" i="1" dirty="0"/>
              <a:t>Operating Necessity</a:t>
            </a:r>
            <a:r>
              <a:rPr lang="en-US" sz="4000" dirty="0"/>
              <a:t> - </a:t>
            </a:r>
            <a:r>
              <a:rPr lang="en-US" dirty="0"/>
              <a:t>the project is required to keep the system running</a:t>
            </a:r>
          </a:p>
          <a:p>
            <a:pPr>
              <a:lnSpc>
                <a:spcPct val="110000"/>
              </a:lnSpc>
            </a:pPr>
            <a:r>
              <a:rPr lang="en-US" sz="3600" b="1" i="1" dirty="0"/>
              <a:t>Competitive Necessity </a:t>
            </a:r>
            <a:r>
              <a:rPr lang="en-US" sz="4000" dirty="0"/>
              <a:t>- </a:t>
            </a:r>
            <a:r>
              <a:rPr lang="en-US" dirty="0"/>
              <a:t>project is necessary to sustain a competitive position</a:t>
            </a:r>
          </a:p>
          <a:p>
            <a:pPr>
              <a:lnSpc>
                <a:spcPct val="110000"/>
              </a:lnSpc>
            </a:pPr>
            <a:r>
              <a:rPr lang="en-US" sz="3600" b="1" i="1" dirty="0"/>
              <a:t>Product Line Extension</a:t>
            </a:r>
            <a:r>
              <a:rPr lang="en-US" sz="4000" dirty="0"/>
              <a:t> - </a:t>
            </a:r>
            <a:r>
              <a:rPr lang="en-US" dirty="0"/>
              <a:t>projects are judged on how they fit with current product line, fill a gap, strengthen a weak link, or extend the line in a new desirable way.</a:t>
            </a:r>
          </a:p>
          <a:p>
            <a:pPr>
              <a:lnSpc>
                <a:spcPct val="110000"/>
              </a:lnSpc>
            </a:pPr>
            <a:r>
              <a:rPr lang="en-US" sz="3600" b="1" i="1" dirty="0"/>
              <a:t>Comparative Benefit Model</a:t>
            </a:r>
            <a:r>
              <a:rPr lang="en-US" sz="4000" dirty="0"/>
              <a:t> - </a:t>
            </a:r>
            <a:r>
              <a:rPr lang="en-US" dirty="0"/>
              <a:t>several projects are considered and the one with the most benefit to the firm is selected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Numeric </a:t>
            </a:r>
            <a:r>
              <a:rPr lang="en-US" dirty="0" err="1"/>
              <a:t>Models:Profit</a:t>
            </a:r>
            <a:r>
              <a:rPr lang="en-US" dirty="0"/>
              <a:t>/Profitability</a:t>
            </a:r>
            <a:br>
              <a:rPr lang="en-US" dirty="0"/>
            </a:br>
            <a:r>
              <a:rPr lang="en-US" dirty="0"/>
              <a:t>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10000"/>
              </a:lnSpc>
            </a:pPr>
            <a:r>
              <a:rPr lang="en-US" sz="2400" b="1" i="1" dirty="0"/>
              <a:t>Payback period</a:t>
            </a:r>
            <a:r>
              <a:rPr lang="en-US" dirty="0"/>
              <a:t> - </a:t>
            </a:r>
            <a:r>
              <a:rPr lang="en-US" sz="2000" dirty="0"/>
              <a:t>initial fixed investment/estimated annual     cash inflows from the project</a:t>
            </a:r>
          </a:p>
          <a:p>
            <a:pPr lvl="1">
              <a:lnSpc>
                <a:spcPct val="110000"/>
              </a:lnSpc>
            </a:pPr>
            <a:r>
              <a:rPr lang="en-US" sz="2400" b="1" i="1" dirty="0"/>
              <a:t>Average Rate of Return </a:t>
            </a:r>
            <a:r>
              <a:rPr lang="en-US" dirty="0"/>
              <a:t>- </a:t>
            </a:r>
            <a:r>
              <a:rPr lang="en-US" sz="2000" dirty="0"/>
              <a:t>average annual 	profit/average investment </a:t>
            </a:r>
          </a:p>
          <a:p>
            <a:pPr lvl="1">
              <a:lnSpc>
                <a:spcPct val="110000"/>
              </a:lnSpc>
            </a:pPr>
            <a:r>
              <a:rPr lang="en-US" sz="2400" b="1" i="1" dirty="0"/>
              <a:t>Discounted Cash Flow -</a:t>
            </a:r>
            <a:r>
              <a:rPr lang="en-US" sz="2000" dirty="0"/>
              <a:t>  Present Value Method </a:t>
            </a:r>
          </a:p>
          <a:p>
            <a:pPr lvl="1">
              <a:lnSpc>
                <a:spcPct val="110000"/>
              </a:lnSpc>
            </a:pPr>
            <a:r>
              <a:rPr lang="en-US" sz="2400" b="1" i="1" dirty="0"/>
              <a:t>Internal Rate of Return -</a:t>
            </a:r>
            <a:r>
              <a:rPr lang="en-US" sz="2000" dirty="0"/>
              <a:t>  Finds rate of return that equates present value of inflows and outflows</a:t>
            </a:r>
            <a:endParaRPr lang="en-US" dirty="0"/>
          </a:p>
          <a:p>
            <a:pPr lvl="1">
              <a:lnSpc>
                <a:spcPct val="110000"/>
              </a:lnSpc>
            </a:pPr>
            <a:r>
              <a:rPr lang="en-US" sz="2400" b="1" i="1" dirty="0"/>
              <a:t>Profitability Index</a:t>
            </a:r>
            <a:r>
              <a:rPr lang="en-US" dirty="0"/>
              <a:t> - </a:t>
            </a:r>
            <a:r>
              <a:rPr lang="en-US" sz="2000" dirty="0"/>
              <a:t>NPV of all future expected cash flows/initial cash investment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 Models: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Unweighted 0-1  Factor Scoring Model</a:t>
            </a:r>
          </a:p>
          <a:p>
            <a:r>
              <a:rPr lang="en-US" dirty="0"/>
              <a:t>Weighted Factor Scoring Model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/>
              <a:t>A Portfolio Management System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Selection Criteria</a:t>
            </a:r>
          </a:p>
          <a:p>
            <a:pPr lvl="1" eaLnBrk="1" hangingPunct="1"/>
            <a:r>
              <a:rPr lang="en-US" b="1"/>
              <a:t>Financial:</a:t>
            </a:r>
            <a:r>
              <a:rPr lang="en-US"/>
              <a:t> payback, net present value (NPV), internal rate of return (IRR)</a:t>
            </a:r>
          </a:p>
          <a:p>
            <a:pPr lvl="1" eaLnBrk="1" hangingPunct="1"/>
            <a:r>
              <a:rPr lang="en-US" b="1"/>
              <a:t>Non-financial:</a:t>
            </a:r>
            <a:r>
              <a:rPr lang="en-US"/>
              <a:t> projects of strategic importance to the firm.</a:t>
            </a:r>
          </a:p>
          <a:p>
            <a:pPr eaLnBrk="1" hangingPunct="1"/>
            <a:r>
              <a:rPr lang="en-US"/>
              <a:t>Multi-Weighted Scoring Models</a:t>
            </a:r>
          </a:p>
          <a:p>
            <a:pPr lvl="1" eaLnBrk="1" hangingPunct="1"/>
            <a:r>
              <a:rPr lang="en-US"/>
              <a:t>Use several weighted selection criteria to evaluate project proposals.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Financial Models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/>
              <a:t>The Payback Model</a:t>
            </a:r>
          </a:p>
          <a:p>
            <a:pPr lvl="1" eaLnBrk="1" hangingPunct="1"/>
            <a:r>
              <a:rPr lang="en-US" sz="2600"/>
              <a:t>Measures the time it will take to recover the project investment.</a:t>
            </a:r>
          </a:p>
          <a:p>
            <a:pPr lvl="1" eaLnBrk="1" hangingPunct="1"/>
            <a:r>
              <a:rPr lang="en-US" sz="2600"/>
              <a:t>Shorter paybacks are more desirable.</a:t>
            </a:r>
          </a:p>
          <a:p>
            <a:pPr lvl="1" eaLnBrk="1" hangingPunct="1"/>
            <a:r>
              <a:rPr lang="en-US" sz="2600"/>
              <a:t>Emphasizes cash flows, a key factor in business.</a:t>
            </a:r>
          </a:p>
          <a:p>
            <a:pPr lvl="1" eaLnBrk="1" hangingPunct="1"/>
            <a:r>
              <a:rPr lang="en-US" sz="2600"/>
              <a:t>Limitations of payback:</a:t>
            </a:r>
          </a:p>
          <a:p>
            <a:pPr lvl="2" eaLnBrk="1" hangingPunct="1"/>
            <a:r>
              <a:rPr lang="en-US"/>
              <a:t>Ignores the time value of money.</a:t>
            </a:r>
          </a:p>
          <a:p>
            <a:pPr lvl="2" eaLnBrk="1" hangingPunct="1"/>
            <a:r>
              <a:rPr lang="en-US"/>
              <a:t>Assumes cash inflows for the investment period (and not beyond).</a:t>
            </a:r>
          </a:p>
          <a:p>
            <a:pPr lvl="2" eaLnBrk="1" hangingPunct="1"/>
            <a:r>
              <a:rPr lang="en-US"/>
              <a:t>Does not consider profitability.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792163"/>
          </a:xfrm>
        </p:spPr>
        <p:txBody>
          <a:bodyPr/>
          <a:lstStyle/>
          <a:p>
            <a:pPr eaLnBrk="1" hangingPunct="1"/>
            <a:r>
              <a:rPr lang="en-US"/>
              <a:t>Financial Models (cont’d)</a:t>
            </a:r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050925"/>
            <a:ext cx="8229600" cy="3657600"/>
          </a:xfrm>
        </p:spPr>
        <p:txBody>
          <a:bodyPr/>
          <a:lstStyle/>
          <a:p>
            <a:pPr eaLnBrk="1" hangingPunct="1">
              <a:spcBef>
                <a:spcPct val="40000"/>
              </a:spcBef>
            </a:pPr>
            <a:r>
              <a:rPr lang="en-US" sz="2800"/>
              <a:t>The Net Present Value (NPV) Model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sz="2600"/>
              <a:t>Uses management’s minimum desired rate-of-return (discount rate) to compute the present value of all net cash inflows.</a:t>
            </a:r>
          </a:p>
          <a:p>
            <a:pPr lvl="2" eaLnBrk="1" hangingPunct="1">
              <a:spcBef>
                <a:spcPct val="40000"/>
              </a:spcBef>
            </a:pPr>
            <a:r>
              <a:rPr lang="en-US"/>
              <a:t>Positive NPV: the project meets the minimum desired rate of return and is eligible for further consideration.</a:t>
            </a:r>
          </a:p>
          <a:p>
            <a:pPr lvl="2" eaLnBrk="1" hangingPunct="1">
              <a:spcBef>
                <a:spcPct val="40000"/>
              </a:spcBef>
            </a:pPr>
            <a:r>
              <a:rPr lang="en-US"/>
              <a:t>Negative NPV: project is rejected.</a:t>
            </a:r>
          </a:p>
        </p:txBody>
      </p:sp>
      <p:pic>
        <p:nvPicPr>
          <p:cNvPr id="9114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6963" y="4800600"/>
            <a:ext cx="695007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91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1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nimBg="1" autoUpdateAnimBg="0"/>
      <p:bldP spid="91139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61F6968B-A9C9-DC20-A582-8E1D56975C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838200"/>
            <a:ext cx="8229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I0​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initial investment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one-time outflow, so this value is typically negative).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FtF_tFt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 cash inflow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period t. This represents the money that comes in during each period (e.g., year, quarter,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required rate of return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(also called the discount rate). This is the minimum return that investors expect from the project.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nnn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number of periods (the total number of time periods over which the project runs).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the specific period (for example, t=1t = 1t=1 could represent the first year, t=2t = 2t=2 the second year, etc.).</a:t>
            </a:r>
          </a:p>
        </p:txBody>
      </p:sp>
    </p:spTree>
    <p:extLst>
      <p:ext uri="{BB962C8B-B14F-4D97-AF65-F5344CB8AC3E}">
        <p14:creationId xmlns:p14="http://schemas.microsoft.com/office/powerpoint/2010/main" val="2164893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3E858-5E8E-F0AA-A9AB-B2E83E783AB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609600"/>
                <a:ext cx="8229600" cy="4525963"/>
              </a:xfrm>
            </p:spPr>
            <p:txBody>
              <a:bodyPr>
                <a:noAutofit/>
              </a:bodyPr>
              <a:lstStyle/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Initial investment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ar-AE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outflow, negative)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project lasts for 4 years (so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required rate of return </a:t>
                </a:r>
                <a14:m>
                  <m:oMath xmlns:m="http://schemas.openxmlformats.org/officeDocument/2006/math">
                    <m:r>
                      <a:rPr lang="en-US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(0.10)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 cash inflows are as follows:</a:t>
                </a: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Year 1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$30,000</a:t>
                </a: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Year 2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ar-AE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$35,000</a:t>
                </a: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Year 3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ar-AE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$40,000</a:t>
                </a: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Year 4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ar-AE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$45,000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Now, let’s calculate the NPV:</a:t>
                </a: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Formula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NPV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endParaRPr lang="ar-AE" sz="1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Calculating the discounted cash inflows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Year 1: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273</m:t>
                    </m:r>
                  </m:oMath>
                </a14:m>
                <a:endParaRPr lang="ar-AE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Year 2: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926</m:t>
                    </m:r>
                  </m:oMath>
                </a14:m>
                <a:endParaRPr lang="ar-AE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Year 3: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331</m:t>
                        </m:r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074</m:t>
                    </m:r>
                  </m:oMath>
                </a14:m>
                <a:endParaRPr lang="ar-AE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Year 4: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d>
                          <m:dPr>
                            <m:endChr m:val=""/>
                            <m:ctrlPr>
                              <a:rPr lang="ar-AE" sz="1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ar-AE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sSup>
                              <m:sSupPr>
                                <m:ctrlPr>
                                  <a:rPr lang="ar-AE" sz="12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ar-AE" sz="12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2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ar-AE" sz="12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ar-AE" sz="12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4641</m:t>
                        </m:r>
                      </m:den>
                    </m:f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ar-AE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758</m:t>
                    </m:r>
                  </m:oMath>
                </a14:m>
                <a:endParaRPr lang="ar-AE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Summing the values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200" b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NPV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000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273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926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074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758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031</m:t>
                    </m:r>
                  </m:oMath>
                </a14:m>
                <a:endParaRPr lang="en-US" sz="12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Interpretation:</a:t>
                </a:r>
              </a:p>
              <a:p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NPV of this project is </a:t>
                </a:r>
                <a:r>
                  <a:rPr lang="en-US" sz="12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$16,031</a:t>
                </a:r>
                <a:r>
                  <a:rPr lang="en-US" sz="1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Since the NPV is positive, this suggests that the project is likely to be profitable, as it exceeds the required return (10%).</a:t>
                </a:r>
              </a:p>
              <a:p>
                <a:endParaRPr lang="en-US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B3E858-5E8E-F0AA-A9AB-B2E83E783AB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09600"/>
                <a:ext cx="8229600" cy="4525963"/>
              </a:xfrm>
              <a:blipFill>
                <a:blip r:embed="rId2"/>
                <a:stretch>
                  <a:fillRect b="-28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2379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92075" y="242888"/>
            <a:ext cx="8961438" cy="892175"/>
          </a:xfrm>
          <a:noFill/>
        </p:spPr>
        <p:txBody>
          <a:bodyPr/>
          <a:lstStyle/>
          <a:p>
            <a:pPr eaLnBrk="1" hangingPunct="1"/>
            <a:r>
              <a:rPr lang="en-US" sz="2600"/>
              <a:t>Net Present Value (NPV) and Internal Rate of Return (IRR): </a:t>
            </a:r>
            <a:br>
              <a:rPr lang="en-US" sz="2600"/>
            </a:br>
            <a:r>
              <a:rPr lang="en-US" sz="2600"/>
              <a:t>Example Comparing Two Projects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7499350" y="6080125"/>
            <a:ext cx="1279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b="1">
                <a:solidFill>
                  <a:schemeClr val="bg1"/>
                </a:solidFill>
              </a:rPr>
              <a:t>EXHIBIT 2.3</a:t>
            </a:r>
            <a:endParaRPr lang="en-US" sz="1200" b="1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16388" name="Picture 5" descr="gra25154_ex0203"/>
          <p:cNvPicPr>
            <a:picLocks noChangeAspect="1" noChangeArrowheads="1"/>
          </p:cNvPicPr>
          <p:nvPr/>
        </p:nvPicPr>
        <p:blipFill>
          <a:blip r:embed="rId2"/>
          <a:srcRect t="14265"/>
          <a:stretch>
            <a:fillRect/>
          </a:stretch>
        </p:blipFill>
        <p:spPr bwMode="auto">
          <a:xfrm>
            <a:off x="1370013" y="1344613"/>
            <a:ext cx="6310312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Nonfinancial Criteria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121275"/>
          </a:xfrm>
        </p:spPr>
        <p:txBody>
          <a:bodyPr/>
          <a:lstStyle/>
          <a:p>
            <a:pPr eaLnBrk="1" hangingPunct="1"/>
            <a:r>
              <a:rPr lang="en-US" sz="3000"/>
              <a:t>To capture larger market share</a:t>
            </a:r>
          </a:p>
          <a:p>
            <a:pPr eaLnBrk="1" hangingPunct="1"/>
            <a:r>
              <a:rPr lang="en-US" sz="3000"/>
              <a:t>To make it difficult for competitors to enter the market</a:t>
            </a:r>
          </a:p>
          <a:p>
            <a:pPr eaLnBrk="1" hangingPunct="1"/>
            <a:r>
              <a:rPr lang="en-US" sz="3000"/>
              <a:t>To develop an enabler product</a:t>
            </a:r>
          </a:p>
          <a:p>
            <a:pPr eaLnBrk="1" hangingPunct="1"/>
            <a:r>
              <a:rPr lang="en-US" sz="3000"/>
              <a:t>To develop core technology that will be used in next-generation products</a:t>
            </a:r>
          </a:p>
          <a:p>
            <a:pPr eaLnBrk="1" hangingPunct="1"/>
            <a:r>
              <a:rPr lang="en-US" sz="3000"/>
              <a:t>To reduce dependency on unreliable suppliers</a:t>
            </a:r>
          </a:p>
          <a:p>
            <a:pPr eaLnBrk="1" hangingPunct="1"/>
            <a:r>
              <a:rPr lang="en-US" sz="3000"/>
              <a:t>To prevent government intervention and regulation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Checklist Selection Model</a:t>
            </a:r>
          </a:p>
        </p:txBody>
      </p:sp>
      <p:sp>
        <p:nvSpPr>
          <p:cNvPr id="18435" name="Rectangle 128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000" b="1"/>
              <a:t>Strategy alignment:     What specific organization does this project align with?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Driver:     What business problem does the project solve?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Success metrics:     How will we measure success?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Sponsorship:     Who is the project sponsor?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Risk:  What is the impact of not doing this project?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Risk:  What is the project risk to our organization? 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Benefits:     What is the value of the project to this organization?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Organization culture:    Is our organization culture right for this type of project?</a:t>
            </a:r>
            <a:r>
              <a:rPr lang="en-US" sz="2000"/>
              <a:t>   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Approach:     Will we build or buy?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Training/resources:  Will staff training be required?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Finance:     What is estimated cost of the project?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1"/>
              <a:t>Portfolio:  How does the project interact with current projects?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7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3675" y="1325563"/>
            <a:ext cx="6218238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455613" y="277813"/>
            <a:ext cx="8232775" cy="728662"/>
          </a:xfrm>
          <a:noFill/>
        </p:spPr>
        <p:txBody>
          <a:bodyPr/>
          <a:lstStyle/>
          <a:p>
            <a:pPr eaLnBrk="1" hangingPunct="1"/>
            <a:r>
              <a:rPr lang="en-US" sz="4000"/>
              <a:t>Project Screening Matrix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7589838" y="6080125"/>
            <a:ext cx="1279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b="1">
                <a:solidFill>
                  <a:schemeClr val="bg1"/>
                </a:solidFill>
              </a:rPr>
              <a:t>FIGURE 2.3</a:t>
            </a:r>
            <a:endParaRPr lang="en-US" sz="1200" b="1">
              <a:solidFill>
                <a:schemeClr val="bg1"/>
              </a:solidFill>
              <a:cs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5851525" y="2514600"/>
            <a:ext cx="2843213" cy="1736725"/>
          </a:xfrm>
          <a:noFill/>
        </p:spPr>
        <p:txBody>
          <a:bodyPr/>
          <a:lstStyle/>
          <a:p>
            <a:pPr eaLnBrk="1" hangingPunct="1"/>
            <a:r>
              <a:rPr lang="en-US" sz="3600"/>
              <a:t>Major Project Proposal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7407275" y="6080125"/>
            <a:ext cx="1279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b="1">
                <a:solidFill>
                  <a:schemeClr val="bg1"/>
                </a:solidFill>
              </a:rPr>
              <a:t>FIGURE 2.4A</a:t>
            </a:r>
            <a:endParaRPr lang="en-US" sz="1200" b="1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84163"/>
            <a:ext cx="5167313" cy="60706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675438" y="3044825"/>
            <a:ext cx="2103437" cy="1092200"/>
          </a:xfrm>
          <a:noFill/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/>
              <a:t>Risk </a:t>
            </a:r>
            <a:br>
              <a:rPr lang="en-US" sz="3600"/>
            </a:br>
            <a:r>
              <a:rPr lang="en-US" sz="3600"/>
              <a:t>Analysis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7407275" y="6080125"/>
            <a:ext cx="12795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1200" b="1">
                <a:solidFill>
                  <a:schemeClr val="bg1"/>
                </a:solidFill>
              </a:rPr>
              <a:t>FIGURE 2.4B</a:t>
            </a:r>
            <a:endParaRPr lang="en-US" sz="1200" b="1">
              <a:solidFill>
                <a:schemeClr val="bg1"/>
              </a:solidFill>
              <a:cs typeface="Arial" charset="0"/>
            </a:endParaRPr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2200" y="227013"/>
            <a:ext cx="5126038" cy="603726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1269</Words>
  <Application>Microsoft Office PowerPoint</Application>
  <PresentationFormat>On-screen Show (4:3)</PresentationFormat>
  <Paragraphs>124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Cambria Math</vt:lpstr>
      <vt:lpstr>Times New Roman</vt:lpstr>
      <vt:lpstr>Univers</vt:lpstr>
      <vt:lpstr>Office Theme</vt:lpstr>
      <vt:lpstr>  S Specific  Be specific in targeting an objective  M  Measurable  Establish a measurable indicator(s) of progress  A  Assignable  Make the objective assignable to one person for  completion  R  Realistic  State what can realistically be done with available   resources T  Time related </vt:lpstr>
      <vt:lpstr>Portfolio of Projects by Type</vt:lpstr>
      <vt:lpstr>A model for managing project</vt:lpstr>
      <vt:lpstr>Project Selection and Criteria of Choice </vt:lpstr>
      <vt:lpstr>PowerPoint Presentation</vt:lpstr>
      <vt:lpstr>Nonnumeric Models</vt:lpstr>
      <vt:lpstr>Numeric Models:Profit/Profitability  </vt:lpstr>
      <vt:lpstr>Numeric Models: Scoring</vt:lpstr>
      <vt:lpstr>A Portfolio Management System</vt:lpstr>
      <vt:lpstr>Financial Models</vt:lpstr>
      <vt:lpstr>Financial Models (cont’d)</vt:lpstr>
      <vt:lpstr>PowerPoint Presentation</vt:lpstr>
      <vt:lpstr>PowerPoint Presentation</vt:lpstr>
      <vt:lpstr>Net Present Value (NPV) and Internal Rate of Return (IRR):  Example Comparing Two Projects</vt:lpstr>
      <vt:lpstr>Nonfinancial Criteria</vt:lpstr>
      <vt:lpstr>Checklist Selection Model</vt:lpstr>
      <vt:lpstr>Project Screening Matrix</vt:lpstr>
      <vt:lpstr>Major Project Proposal</vt:lpstr>
      <vt:lpstr>Risk 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model for managing project</dc:title>
  <dc:creator>User</dc:creator>
  <cp:lastModifiedBy>rameez fayyaz</cp:lastModifiedBy>
  <cp:revision>16</cp:revision>
  <dcterms:created xsi:type="dcterms:W3CDTF">2011-12-10T12:39:22Z</dcterms:created>
  <dcterms:modified xsi:type="dcterms:W3CDTF">2025-09-14T18:55:19Z</dcterms:modified>
</cp:coreProperties>
</file>