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3" r:id="rId3"/>
    <p:sldId id="257" r:id="rId4"/>
    <p:sldId id="259" r:id="rId5"/>
    <p:sldId id="260" r:id="rId6"/>
    <p:sldId id="261" r:id="rId7"/>
    <p:sldId id="262" r:id="rId8"/>
    <p:sldId id="263" r:id="rId9"/>
    <p:sldId id="264" r:id="rId10"/>
    <p:sldId id="265" r:id="rId11"/>
    <p:sldId id="267" r:id="rId12"/>
    <p:sldId id="266" r:id="rId13"/>
    <p:sldId id="269" r:id="rId14"/>
    <p:sldId id="270" r:id="rId15"/>
    <p:sldId id="306" r:id="rId16"/>
    <p:sldId id="307" r:id="rId17"/>
    <p:sldId id="271" r:id="rId18"/>
    <p:sldId id="272" r:id="rId19"/>
    <p:sldId id="273" r:id="rId20"/>
    <p:sldId id="274" r:id="rId21"/>
    <p:sldId id="279" r:id="rId22"/>
    <p:sldId id="280" r:id="rId23"/>
    <p:sldId id="281" r:id="rId24"/>
    <p:sldId id="282" r:id="rId25"/>
    <p:sldId id="283" r:id="rId26"/>
    <p:sldId id="284" r:id="rId27"/>
    <p:sldId id="285" r:id="rId28"/>
    <p:sldId id="286" r:id="rId29"/>
    <p:sldId id="287" r:id="rId30"/>
    <p:sldId id="288" r:id="rId31"/>
    <p:sldId id="289" r:id="rId32"/>
    <p:sldId id="296" r:id="rId33"/>
    <p:sldId id="298" r:id="rId34"/>
    <p:sldId id="309" r:id="rId35"/>
    <p:sldId id="290" r:id="rId36"/>
    <p:sldId id="292" r:id="rId37"/>
    <p:sldId id="293" r:id="rId38"/>
    <p:sldId id="295" r:id="rId39"/>
    <p:sldId id="297" r:id="rId40"/>
    <p:sldId id="299" r:id="rId41"/>
    <p:sldId id="301" r:id="rId42"/>
    <p:sldId id="304" r:id="rId43"/>
    <p:sldId id="300"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99"/>
    <a:srgbClr val="5B9BD5"/>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32" autoAdjust="0"/>
    <p:restoredTop sz="94660"/>
  </p:normalViewPr>
  <p:slideViewPr>
    <p:cSldViewPr snapToGrid="0">
      <p:cViewPr>
        <p:scale>
          <a:sx n="51" d="100"/>
          <a:sy n="51" d="100"/>
        </p:scale>
        <p:origin x="1272"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B0B98A-68C5-4247-BF5D-39E94FB199BD}" type="doc">
      <dgm:prSet loTypeId="urn:microsoft.com/office/officeart/2005/8/layout/list1" loCatId="list" qsTypeId="urn:microsoft.com/office/officeart/2005/8/quickstyle/3d2" qsCatId="3D" csTypeId="urn:microsoft.com/office/officeart/2005/8/colors/colorful2" csCatId="colorful" phldr="1"/>
      <dgm:spPr/>
      <dgm:t>
        <a:bodyPr/>
        <a:lstStyle/>
        <a:p>
          <a:endParaRPr lang="en-GB"/>
        </a:p>
      </dgm:t>
    </dgm:pt>
    <dgm:pt modelId="{4E4E0F65-7802-46ED-868A-6ACD6D5A8CE6}">
      <dgm:prSet phldrT="[Text]" custT="1"/>
      <dgm:spPr/>
      <dgm:t>
        <a:bodyPr/>
        <a:lstStyle/>
        <a:p>
          <a:r>
            <a:rPr lang="en-GB" sz="2400" b="1" spc="50" dirty="0">
              <a:ln w="11430"/>
              <a:effectLst>
                <a:outerShdw blurRad="76200" dist="50800" dir="5400000" algn="tl" rotWithShape="0">
                  <a:srgbClr val="000000">
                    <a:alpha val="65000"/>
                  </a:srgbClr>
                </a:outerShdw>
              </a:effectLst>
            </a:rPr>
            <a:t>Who are the relevant stakeholders?</a:t>
          </a:r>
          <a:endParaRPr lang="en-GB" sz="2400" b="1" dirty="0"/>
        </a:p>
      </dgm:t>
    </dgm:pt>
    <dgm:pt modelId="{C9439A08-04EC-4008-89EA-3988ECB67ECF}" type="parTrans" cxnId="{0DD76C9B-7475-428B-9D43-3EDEB4BBA261}">
      <dgm:prSet/>
      <dgm:spPr/>
      <dgm:t>
        <a:bodyPr/>
        <a:lstStyle/>
        <a:p>
          <a:endParaRPr lang="en-GB" sz="2400" b="1"/>
        </a:p>
      </dgm:t>
    </dgm:pt>
    <dgm:pt modelId="{CC2D196F-88AC-43CB-84F1-C3AA2B49F2F5}" type="sibTrans" cxnId="{0DD76C9B-7475-428B-9D43-3EDEB4BBA261}">
      <dgm:prSet/>
      <dgm:spPr/>
      <dgm:t>
        <a:bodyPr/>
        <a:lstStyle/>
        <a:p>
          <a:endParaRPr lang="en-GB" sz="2400" b="1"/>
        </a:p>
      </dgm:t>
    </dgm:pt>
    <dgm:pt modelId="{8193120C-A37A-4543-9270-B581C63A91C4}">
      <dgm:prSet custT="1"/>
      <dgm:spPr/>
      <dgm:t>
        <a:bodyPr/>
        <a:lstStyle/>
        <a:p>
          <a:r>
            <a:rPr lang="en-GB" sz="2400" b="1" spc="50" dirty="0">
              <a:ln w="11430"/>
              <a:effectLst>
                <a:outerShdw blurRad="76200" dist="50800" dir="5400000" algn="tl" rotWithShape="0">
                  <a:srgbClr val="000000">
                    <a:alpha val="65000"/>
                  </a:srgbClr>
                </a:outerShdw>
              </a:effectLst>
            </a:rPr>
            <a:t>What are the interests of each stakeholder?</a:t>
          </a:r>
        </a:p>
      </dgm:t>
    </dgm:pt>
    <dgm:pt modelId="{FC763870-7ECB-4912-B025-1E3482197661}" type="parTrans" cxnId="{46A58848-9099-4D98-B957-43422CA4CCCC}">
      <dgm:prSet/>
      <dgm:spPr/>
      <dgm:t>
        <a:bodyPr/>
        <a:lstStyle/>
        <a:p>
          <a:endParaRPr lang="en-GB" sz="2400" b="1"/>
        </a:p>
      </dgm:t>
    </dgm:pt>
    <dgm:pt modelId="{CA100EE8-C7F4-4206-A25B-11BF45287FBB}" type="sibTrans" cxnId="{46A58848-9099-4D98-B957-43422CA4CCCC}">
      <dgm:prSet/>
      <dgm:spPr/>
      <dgm:t>
        <a:bodyPr/>
        <a:lstStyle/>
        <a:p>
          <a:endParaRPr lang="en-GB" sz="2400" b="1"/>
        </a:p>
      </dgm:t>
    </dgm:pt>
    <dgm:pt modelId="{467D4D63-C301-4C45-ACC8-21EA38F43DB9}">
      <dgm:prSet custT="1"/>
      <dgm:spPr/>
      <dgm:t>
        <a:bodyPr/>
        <a:lstStyle/>
        <a:p>
          <a:r>
            <a:rPr lang="en-GB" sz="2400" b="1" spc="50" dirty="0">
              <a:ln w="11430"/>
              <a:effectLst>
                <a:outerShdw blurRad="76200" dist="50800" dir="5400000" algn="tl" rotWithShape="0">
                  <a:srgbClr val="000000">
                    <a:alpha val="65000"/>
                  </a:srgbClr>
                </a:outerShdw>
              </a:effectLst>
            </a:rPr>
            <a:t>What is the power of each stakeholder?</a:t>
          </a:r>
        </a:p>
      </dgm:t>
    </dgm:pt>
    <dgm:pt modelId="{D7257CC5-E52C-4E47-AFDC-C009486E6C6B}" type="parTrans" cxnId="{1B6366F3-532E-4CEE-A374-9A4AB066BE2E}">
      <dgm:prSet/>
      <dgm:spPr/>
      <dgm:t>
        <a:bodyPr/>
        <a:lstStyle/>
        <a:p>
          <a:endParaRPr lang="en-GB" sz="2400" b="1"/>
        </a:p>
      </dgm:t>
    </dgm:pt>
    <dgm:pt modelId="{34F5CF18-169B-4B3F-957B-B473E4C89B2E}" type="sibTrans" cxnId="{1B6366F3-532E-4CEE-A374-9A4AB066BE2E}">
      <dgm:prSet/>
      <dgm:spPr/>
      <dgm:t>
        <a:bodyPr/>
        <a:lstStyle/>
        <a:p>
          <a:endParaRPr lang="en-GB" sz="2400" b="1"/>
        </a:p>
      </dgm:t>
    </dgm:pt>
    <dgm:pt modelId="{246BF354-B854-4C9E-B61D-A126CD1C349B}">
      <dgm:prSet custT="1"/>
      <dgm:spPr/>
      <dgm:t>
        <a:bodyPr/>
        <a:lstStyle/>
        <a:p>
          <a:r>
            <a:rPr lang="en-GB" sz="2400" b="1" spc="50" dirty="0">
              <a:ln w="11430"/>
              <a:effectLst>
                <a:outerShdw blurRad="76200" dist="50800" dir="5400000" algn="tl" rotWithShape="0">
                  <a:srgbClr val="000000">
                    <a:alpha val="65000"/>
                  </a:srgbClr>
                </a:outerShdw>
              </a:effectLst>
            </a:rPr>
            <a:t>How are the coalitions/mergers likely to form?</a:t>
          </a:r>
        </a:p>
      </dgm:t>
    </dgm:pt>
    <dgm:pt modelId="{8A45680C-AE00-42AE-8914-D683C4AFCF7E}" type="parTrans" cxnId="{2212CA14-8DDA-4742-BDBB-500240DB99E0}">
      <dgm:prSet/>
      <dgm:spPr/>
      <dgm:t>
        <a:bodyPr/>
        <a:lstStyle/>
        <a:p>
          <a:endParaRPr lang="en-GB" sz="2400" b="1"/>
        </a:p>
      </dgm:t>
    </dgm:pt>
    <dgm:pt modelId="{61A011A9-EE7C-46CF-8A91-A634DD2CEE95}" type="sibTrans" cxnId="{2212CA14-8DDA-4742-BDBB-500240DB99E0}">
      <dgm:prSet/>
      <dgm:spPr/>
      <dgm:t>
        <a:bodyPr/>
        <a:lstStyle/>
        <a:p>
          <a:endParaRPr lang="en-GB" sz="2400" b="1"/>
        </a:p>
      </dgm:t>
    </dgm:pt>
    <dgm:pt modelId="{8D93BFF0-51C2-47D0-9DBB-9ABF8023F912}" type="pres">
      <dgm:prSet presAssocID="{EDB0B98A-68C5-4247-BF5D-39E94FB199BD}" presName="linear" presStyleCnt="0">
        <dgm:presLayoutVars>
          <dgm:dir/>
          <dgm:animLvl val="lvl"/>
          <dgm:resizeHandles val="exact"/>
        </dgm:presLayoutVars>
      </dgm:prSet>
      <dgm:spPr/>
    </dgm:pt>
    <dgm:pt modelId="{A379B17F-D1C4-4091-B5AA-AB831B02E51A}" type="pres">
      <dgm:prSet presAssocID="{4E4E0F65-7802-46ED-868A-6ACD6D5A8CE6}" presName="parentLin" presStyleCnt="0"/>
      <dgm:spPr/>
    </dgm:pt>
    <dgm:pt modelId="{6C94B24A-BFF0-42E2-84C3-7366619619AE}" type="pres">
      <dgm:prSet presAssocID="{4E4E0F65-7802-46ED-868A-6ACD6D5A8CE6}" presName="parentLeftMargin" presStyleLbl="node1" presStyleIdx="0" presStyleCnt="4"/>
      <dgm:spPr/>
    </dgm:pt>
    <dgm:pt modelId="{1637E2E8-1CDA-4295-AC6F-72EEDA1A57C3}" type="pres">
      <dgm:prSet presAssocID="{4E4E0F65-7802-46ED-868A-6ACD6D5A8CE6}" presName="parentText" presStyleLbl="node1" presStyleIdx="0" presStyleCnt="4">
        <dgm:presLayoutVars>
          <dgm:chMax val="0"/>
          <dgm:bulletEnabled val="1"/>
        </dgm:presLayoutVars>
      </dgm:prSet>
      <dgm:spPr/>
    </dgm:pt>
    <dgm:pt modelId="{5EB99F81-8AFC-461A-BFC0-D48AF5BEED33}" type="pres">
      <dgm:prSet presAssocID="{4E4E0F65-7802-46ED-868A-6ACD6D5A8CE6}" presName="negativeSpace" presStyleCnt="0"/>
      <dgm:spPr/>
    </dgm:pt>
    <dgm:pt modelId="{516138CB-0E8C-4630-B11E-18F3B866C359}" type="pres">
      <dgm:prSet presAssocID="{4E4E0F65-7802-46ED-868A-6ACD6D5A8CE6}" presName="childText" presStyleLbl="conFgAcc1" presStyleIdx="0" presStyleCnt="4">
        <dgm:presLayoutVars>
          <dgm:bulletEnabled val="1"/>
        </dgm:presLayoutVars>
      </dgm:prSet>
      <dgm:spPr/>
    </dgm:pt>
    <dgm:pt modelId="{C0E1E703-C39F-488C-8429-8FB1FFD5E0A6}" type="pres">
      <dgm:prSet presAssocID="{CC2D196F-88AC-43CB-84F1-C3AA2B49F2F5}" presName="spaceBetweenRectangles" presStyleCnt="0"/>
      <dgm:spPr/>
    </dgm:pt>
    <dgm:pt modelId="{3705BDCF-2F56-421E-98A8-B69774942948}" type="pres">
      <dgm:prSet presAssocID="{8193120C-A37A-4543-9270-B581C63A91C4}" presName="parentLin" presStyleCnt="0"/>
      <dgm:spPr/>
    </dgm:pt>
    <dgm:pt modelId="{97449214-954B-43E1-B507-173C40201E37}" type="pres">
      <dgm:prSet presAssocID="{8193120C-A37A-4543-9270-B581C63A91C4}" presName="parentLeftMargin" presStyleLbl="node1" presStyleIdx="0" presStyleCnt="4"/>
      <dgm:spPr/>
    </dgm:pt>
    <dgm:pt modelId="{931CEF29-3FC5-496A-8DF5-31C52F6A79D6}" type="pres">
      <dgm:prSet presAssocID="{8193120C-A37A-4543-9270-B581C63A91C4}" presName="parentText" presStyleLbl="node1" presStyleIdx="1" presStyleCnt="4" custScaleX="121687">
        <dgm:presLayoutVars>
          <dgm:chMax val="0"/>
          <dgm:bulletEnabled val="1"/>
        </dgm:presLayoutVars>
      </dgm:prSet>
      <dgm:spPr/>
    </dgm:pt>
    <dgm:pt modelId="{CEE4FCBA-E392-423C-8429-E202973F86F4}" type="pres">
      <dgm:prSet presAssocID="{8193120C-A37A-4543-9270-B581C63A91C4}" presName="negativeSpace" presStyleCnt="0"/>
      <dgm:spPr/>
    </dgm:pt>
    <dgm:pt modelId="{6E62764B-D35C-4682-8E97-5BFAF3733711}" type="pres">
      <dgm:prSet presAssocID="{8193120C-A37A-4543-9270-B581C63A91C4}" presName="childText" presStyleLbl="conFgAcc1" presStyleIdx="1" presStyleCnt="4">
        <dgm:presLayoutVars>
          <dgm:bulletEnabled val="1"/>
        </dgm:presLayoutVars>
      </dgm:prSet>
      <dgm:spPr/>
    </dgm:pt>
    <dgm:pt modelId="{C32B4A4F-5450-43DB-92F1-6C6CCE0B6EE1}" type="pres">
      <dgm:prSet presAssocID="{CA100EE8-C7F4-4206-A25B-11BF45287FBB}" presName="spaceBetweenRectangles" presStyleCnt="0"/>
      <dgm:spPr/>
    </dgm:pt>
    <dgm:pt modelId="{86F1B92C-E884-403E-82EF-46D04F833232}" type="pres">
      <dgm:prSet presAssocID="{467D4D63-C301-4C45-ACC8-21EA38F43DB9}" presName="parentLin" presStyleCnt="0"/>
      <dgm:spPr/>
    </dgm:pt>
    <dgm:pt modelId="{D78ED9A1-7682-49B6-989E-71796A96EA6B}" type="pres">
      <dgm:prSet presAssocID="{467D4D63-C301-4C45-ACC8-21EA38F43DB9}" presName="parentLeftMargin" presStyleLbl="node1" presStyleIdx="1" presStyleCnt="4"/>
      <dgm:spPr/>
    </dgm:pt>
    <dgm:pt modelId="{645147F0-B7B1-4CC4-A47F-6398147D06A4}" type="pres">
      <dgm:prSet presAssocID="{467D4D63-C301-4C45-ACC8-21EA38F43DB9}" presName="parentText" presStyleLbl="node1" presStyleIdx="2" presStyleCnt="4" custScaleX="123483" custLinFactNeighborX="20032" custLinFactNeighborY="-2347">
        <dgm:presLayoutVars>
          <dgm:chMax val="0"/>
          <dgm:bulletEnabled val="1"/>
        </dgm:presLayoutVars>
      </dgm:prSet>
      <dgm:spPr/>
    </dgm:pt>
    <dgm:pt modelId="{D508BAA8-1143-479D-8B20-E2FBDCFB05E1}" type="pres">
      <dgm:prSet presAssocID="{467D4D63-C301-4C45-ACC8-21EA38F43DB9}" presName="negativeSpace" presStyleCnt="0"/>
      <dgm:spPr/>
    </dgm:pt>
    <dgm:pt modelId="{AD798453-35AC-46C5-A89C-459A9A99E254}" type="pres">
      <dgm:prSet presAssocID="{467D4D63-C301-4C45-ACC8-21EA38F43DB9}" presName="childText" presStyleLbl="conFgAcc1" presStyleIdx="2" presStyleCnt="4">
        <dgm:presLayoutVars>
          <dgm:bulletEnabled val="1"/>
        </dgm:presLayoutVars>
      </dgm:prSet>
      <dgm:spPr/>
    </dgm:pt>
    <dgm:pt modelId="{643C2185-FA62-457C-BEFF-012B8E0DCB6B}" type="pres">
      <dgm:prSet presAssocID="{34F5CF18-169B-4B3F-957B-B473E4C89B2E}" presName="spaceBetweenRectangles" presStyleCnt="0"/>
      <dgm:spPr/>
    </dgm:pt>
    <dgm:pt modelId="{779E842B-30EF-41C9-81E7-060D5DD14641}" type="pres">
      <dgm:prSet presAssocID="{246BF354-B854-4C9E-B61D-A126CD1C349B}" presName="parentLin" presStyleCnt="0"/>
      <dgm:spPr/>
    </dgm:pt>
    <dgm:pt modelId="{97C1E575-9BE6-4EBA-806B-DAC0AB025A17}" type="pres">
      <dgm:prSet presAssocID="{246BF354-B854-4C9E-B61D-A126CD1C349B}" presName="parentLeftMargin" presStyleLbl="node1" presStyleIdx="2" presStyleCnt="4"/>
      <dgm:spPr/>
    </dgm:pt>
    <dgm:pt modelId="{C6011727-0FE9-48FD-8778-05CC03F51C2E}" type="pres">
      <dgm:prSet presAssocID="{246BF354-B854-4C9E-B61D-A126CD1C349B}" presName="parentText" presStyleLbl="node1" presStyleIdx="3" presStyleCnt="4">
        <dgm:presLayoutVars>
          <dgm:chMax val="0"/>
          <dgm:bulletEnabled val="1"/>
        </dgm:presLayoutVars>
      </dgm:prSet>
      <dgm:spPr/>
    </dgm:pt>
    <dgm:pt modelId="{35114634-BD9B-448A-96C6-919E4A0E8EDD}" type="pres">
      <dgm:prSet presAssocID="{246BF354-B854-4C9E-B61D-A126CD1C349B}" presName="negativeSpace" presStyleCnt="0"/>
      <dgm:spPr/>
    </dgm:pt>
    <dgm:pt modelId="{DB93BE63-E227-4631-AE6F-A30B3ACB59FB}" type="pres">
      <dgm:prSet presAssocID="{246BF354-B854-4C9E-B61D-A126CD1C349B}" presName="childText" presStyleLbl="conFgAcc1" presStyleIdx="3" presStyleCnt="4">
        <dgm:presLayoutVars>
          <dgm:bulletEnabled val="1"/>
        </dgm:presLayoutVars>
      </dgm:prSet>
      <dgm:spPr/>
    </dgm:pt>
  </dgm:ptLst>
  <dgm:cxnLst>
    <dgm:cxn modelId="{F35DAA13-8F3A-49A1-9402-AB162615BFE3}" type="presOf" srcId="{8193120C-A37A-4543-9270-B581C63A91C4}" destId="{931CEF29-3FC5-496A-8DF5-31C52F6A79D6}" srcOrd="1" destOrd="0" presId="urn:microsoft.com/office/officeart/2005/8/layout/list1"/>
    <dgm:cxn modelId="{2212CA14-8DDA-4742-BDBB-500240DB99E0}" srcId="{EDB0B98A-68C5-4247-BF5D-39E94FB199BD}" destId="{246BF354-B854-4C9E-B61D-A126CD1C349B}" srcOrd="3" destOrd="0" parTransId="{8A45680C-AE00-42AE-8914-D683C4AFCF7E}" sibTransId="{61A011A9-EE7C-46CF-8A91-A634DD2CEE95}"/>
    <dgm:cxn modelId="{CDFCFB16-3AC0-4E8B-9A37-1318F4219F31}" type="presOf" srcId="{467D4D63-C301-4C45-ACC8-21EA38F43DB9}" destId="{D78ED9A1-7682-49B6-989E-71796A96EA6B}" srcOrd="0" destOrd="0" presId="urn:microsoft.com/office/officeart/2005/8/layout/list1"/>
    <dgm:cxn modelId="{F8869B2B-6D5C-484E-A40A-32FBCBBE3A73}" type="presOf" srcId="{EDB0B98A-68C5-4247-BF5D-39E94FB199BD}" destId="{8D93BFF0-51C2-47D0-9DBB-9ABF8023F912}" srcOrd="0" destOrd="0" presId="urn:microsoft.com/office/officeart/2005/8/layout/list1"/>
    <dgm:cxn modelId="{229E5E3C-D05E-47CD-ACF6-AB8778312E2F}" type="presOf" srcId="{4E4E0F65-7802-46ED-868A-6ACD6D5A8CE6}" destId="{6C94B24A-BFF0-42E2-84C3-7366619619AE}" srcOrd="0" destOrd="0" presId="urn:microsoft.com/office/officeart/2005/8/layout/list1"/>
    <dgm:cxn modelId="{33737864-E663-4F25-9762-3B41BA645CFC}" type="presOf" srcId="{8193120C-A37A-4543-9270-B581C63A91C4}" destId="{97449214-954B-43E1-B507-173C40201E37}" srcOrd="0" destOrd="0" presId="urn:microsoft.com/office/officeart/2005/8/layout/list1"/>
    <dgm:cxn modelId="{46A58848-9099-4D98-B957-43422CA4CCCC}" srcId="{EDB0B98A-68C5-4247-BF5D-39E94FB199BD}" destId="{8193120C-A37A-4543-9270-B581C63A91C4}" srcOrd="1" destOrd="0" parTransId="{FC763870-7ECB-4912-B025-1E3482197661}" sibTransId="{CA100EE8-C7F4-4206-A25B-11BF45287FBB}"/>
    <dgm:cxn modelId="{BD1E7582-469C-44B2-9030-3953879D03C2}" type="presOf" srcId="{467D4D63-C301-4C45-ACC8-21EA38F43DB9}" destId="{645147F0-B7B1-4CC4-A47F-6398147D06A4}" srcOrd="1" destOrd="0" presId="urn:microsoft.com/office/officeart/2005/8/layout/list1"/>
    <dgm:cxn modelId="{700B8188-AF00-423C-9B40-6A3171D10AC0}" type="presOf" srcId="{246BF354-B854-4C9E-B61D-A126CD1C349B}" destId="{C6011727-0FE9-48FD-8778-05CC03F51C2E}" srcOrd="1" destOrd="0" presId="urn:microsoft.com/office/officeart/2005/8/layout/list1"/>
    <dgm:cxn modelId="{0DD76C9B-7475-428B-9D43-3EDEB4BBA261}" srcId="{EDB0B98A-68C5-4247-BF5D-39E94FB199BD}" destId="{4E4E0F65-7802-46ED-868A-6ACD6D5A8CE6}" srcOrd="0" destOrd="0" parTransId="{C9439A08-04EC-4008-89EA-3988ECB67ECF}" sibTransId="{CC2D196F-88AC-43CB-84F1-C3AA2B49F2F5}"/>
    <dgm:cxn modelId="{0757D9D8-E6B1-45D9-89B4-EC22D10C2C65}" type="presOf" srcId="{246BF354-B854-4C9E-B61D-A126CD1C349B}" destId="{97C1E575-9BE6-4EBA-806B-DAC0AB025A17}" srcOrd="0" destOrd="0" presId="urn:microsoft.com/office/officeart/2005/8/layout/list1"/>
    <dgm:cxn modelId="{51C61BED-C2C7-44AC-B318-62C0335ACE8C}" type="presOf" srcId="{4E4E0F65-7802-46ED-868A-6ACD6D5A8CE6}" destId="{1637E2E8-1CDA-4295-AC6F-72EEDA1A57C3}" srcOrd="1" destOrd="0" presId="urn:microsoft.com/office/officeart/2005/8/layout/list1"/>
    <dgm:cxn modelId="{1B6366F3-532E-4CEE-A374-9A4AB066BE2E}" srcId="{EDB0B98A-68C5-4247-BF5D-39E94FB199BD}" destId="{467D4D63-C301-4C45-ACC8-21EA38F43DB9}" srcOrd="2" destOrd="0" parTransId="{D7257CC5-E52C-4E47-AFDC-C009486E6C6B}" sibTransId="{34F5CF18-169B-4B3F-957B-B473E4C89B2E}"/>
    <dgm:cxn modelId="{007A931E-0E52-4B78-B38B-510E4305668C}" type="presParOf" srcId="{8D93BFF0-51C2-47D0-9DBB-9ABF8023F912}" destId="{A379B17F-D1C4-4091-B5AA-AB831B02E51A}" srcOrd="0" destOrd="0" presId="urn:microsoft.com/office/officeart/2005/8/layout/list1"/>
    <dgm:cxn modelId="{CB4FAACB-7266-4745-BD45-B3A88BD89998}" type="presParOf" srcId="{A379B17F-D1C4-4091-B5AA-AB831B02E51A}" destId="{6C94B24A-BFF0-42E2-84C3-7366619619AE}" srcOrd="0" destOrd="0" presId="urn:microsoft.com/office/officeart/2005/8/layout/list1"/>
    <dgm:cxn modelId="{FE5F5334-DFEA-4464-868A-7231F6FC6F56}" type="presParOf" srcId="{A379B17F-D1C4-4091-B5AA-AB831B02E51A}" destId="{1637E2E8-1CDA-4295-AC6F-72EEDA1A57C3}" srcOrd="1" destOrd="0" presId="urn:microsoft.com/office/officeart/2005/8/layout/list1"/>
    <dgm:cxn modelId="{353CFF9B-EE98-4B86-8CE5-214CEB71AB5D}" type="presParOf" srcId="{8D93BFF0-51C2-47D0-9DBB-9ABF8023F912}" destId="{5EB99F81-8AFC-461A-BFC0-D48AF5BEED33}" srcOrd="1" destOrd="0" presId="urn:microsoft.com/office/officeart/2005/8/layout/list1"/>
    <dgm:cxn modelId="{93B52A7B-E688-4577-9152-822D441A2336}" type="presParOf" srcId="{8D93BFF0-51C2-47D0-9DBB-9ABF8023F912}" destId="{516138CB-0E8C-4630-B11E-18F3B866C359}" srcOrd="2" destOrd="0" presId="urn:microsoft.com/office/officeart/2005/8/layout/list1"/>
    <dgm:cxn modelId="{1960211E-AD79-48A9-9B16-559EAB1051D4}" type="presParOf" srcId="{8D93BFF0-51C2-47D0-9DBB-9ABF8023F912}" destId="{C0E1E703-C39F-488C-8429-8FB1FFD5E0A6}" srcOrd="3" destOrd="0" presId="urn:microsoft.com/office/officeart/2005/8/layout/list1"/>
    <dgm:cxn modelId="{AF93B38B-0E0D-468D-B487-9CF0505BAC40}" type="presParOf" srcId="{8D93BFF0-51C2-47D0-9DBB-9ABF8023F912}" destId="{3705BDCF-2F56-421E-98A8-B69774942948}" srcOrd="4" destOrd="0" presId="urn:microsoft.com/office/officeart/2005/8/layout/list1"/>
    <dgm:cxn modelId="{9FD611EE-850F-4456-B73B-A6DE98FAB4B1}" type="presParOf" srcId="{3705BDCF-2F56-421E-98A8-B69774942948}" destId="{97449214-954B-43E1-B507-173C40201E37}" srcOrd="0" destOrd="0" presId="urn:microsoft.com/office/officeart/2005/8/layout/list1"/>
    <dgm:cxn modelId="{EF8391E8-388A-42F5-95EE-E51580451B5D}" type="presParOf" srcId="{3705BDCF-2F56-421E-98A8-B69774942948}" destId="{931CEF29-3FC5-496A-8DF5-31C52F6A79D6}" srcOrd="1" destOrd="0" presId="urn:microsoft.com/office/officeart/2005/8/layout/list1"/>
    <dgm:cxn modelId="{BF4EBEE5-93FB-4C89-B8DB-0D664E226221}" type="presParOf" srcId="{8D93BFF0-51C2-47D0-9DBB-9ABF8023F912}" destId="{CEE4FCBA-E392-423C-8429-E202973F86F4}" srcOrd="5" destOrd="0" presId="urn:microsoft.com/office/officeart/2005/8/layout/list1"/>
    <dgm:cxn modelId="{DB0CC0E1-0E3F-4A02-8728-B3F25B2233E9}" type="presParOf" srcId="{8D93BFF0-51C2-47D0-9DBB-9ABF8023F912}" destId="{6E62764B-D35C-4682-8E97-5BFAF3733711}" srcOrd="6" destOrd="0" presId="urn:microsoft.com/office/officeart/2005/8/layout/list1"/>
    <dgm:cxn modelId="{095ADD55-6956-436F-AE8E-DF3AC29DAFC8}" type="presParOf" srcId="{8D93BFF0-51C2-47D0-9DBB-9ABF8023F912}" destId="{C32B4A4F-5450-43DB-92F1-6C6CCE0B6EE1}" srcOrd="7" destOrd="0" presId="urn:microsoft.com/office/officeart/2005/8/layout/list1"/>
    <dgm:cxn modelId="{28E710A2-C37E-4114-B3C9-94E574E3B1DF}" type="presParOf" srcId="{8D93BFF0-51C2-47D0-9DBB-9ABF8023F912}" destId="{86F1B92C-E884-403E-82EF-46D04F833232}" srcOrd="8" destOrd="0" presId="urn:microsoft.com/office/officeart/2005/8/layout/list1"/>
    <dgm:cxn modelId="{35DCB9F1-8C10-4137-AAE1-8526D8B6D3B0}" type="presParOf" srcId="{86F1B92C-E884-403E-82EF-46D04F833232}" destId="{D78ED9A1-7682-49B6-989E-71796A96EA6B}" srcOrd="0" destOrd="0" presId="urn:microsoft.com/office/officeart/2005/8/layout/list1"/>
    <dgm:cxn modelId="{74034CB6-29D4-4E91-B45B-19CE7430DC43}" type="presParOf" srcId="{86F1B92C-E884-403E-82EF-46D04F833232}" destId="{645147F0-B7B1-4CC4-A47F-6398147D06A4}" srcOrd="1" destOrd="0" presId="urn:microsoft.com/office/officeart/2005/8/layout/list1"/>
    <dgm:cxn modelId="{EAB1F8C4-A5EC-4061-BD0E-1970176055B5}" type="presParOf" srcId="{8D93BFF0-51C2-47D0-9DBB-9ABF8023F912}" destId="{D508BAA8-1143-479D-8B20-E2FBDCFB05E1}" srcOrd="9" destOrd="0" presId="urn:microsoft.com/office/officeart/2005/8/layout/list1"/>
    <dgm:cxn modelId="{2467A96A-9BD9-488D-8A54-BA73896A3117}" type="presParOf" srcId="{8D93BFF0-51C2-47D0-9DBB-9ABF8023F912}" destId="{AD798453-35AC-46C5-A89C-459A9A99E254}" srcOrd="10" destOrd="0" presId="urn:microsoft.com/office/officeart/2005/8/layout/list1"/>
    <dgm:cxn modelId="{5F2809FD-11D1-4FDF-994D-E0D9917694A1}" type="presParOf" srcId="{8D93BFF0-51C2-47D0-9DBB-9ABF8023F912}" destId="{643C2185-FA62-457C-BEFF-012B8E0DCB6B}" srcOrd="11" destOrd="0" presId="urn:microsoft.com/office/officeart/2005/8/layout/list1"/>
    <dgm:cxn modelId="{DEDDC6B9-1529-45B6-B32C-E77F6BF2780C}" type="presParOf" srcId="{8D93BFF0-51C2-47D0-9DBB-9ABF8023F912}" destId="{779E842B-30EF-41C9-81E7-060D5DD14641}" srcOrd="12" destOrd="0" presId="urn:microsoft.com/office/officeart/2005/8/layout/list1"/>
    <dgm:cxn modelId="{C958F63F-6287-4F4B-8A4B-8E0D15A9FA0A}" type="presParOf" srcId="{779E842B-30EF-41C9-81E7-060D5DD14641}" destId="{97C1E575-9BE6-4EBA-806B-DAC0AB025A17}" srcOrd="0" destOrd="0" presId="urn:microsoft.com/office/officeart/2005/8/layout/list1"/>
    <dgm:cxn modelId="{3B2CF535-5287-47B6-A480-44EC3C35C7F0}" type="presParOf" srcId="{779E842B-30EF-41C9-81E7-060D5DD14641}" destId="{C6011727-0FE9-48FD-8778-05CC03F51C2E}" srcOrd="1" destOrd="0" presId="urn:microsoft.com/office/officeart/2005/8/layout/list1"/>
    <dgm:cxn modelId="{327AF073-6721-496D-9BC6-E22CCD0CEEFC}" type="presParOf" srcId="{8D93BFF0-51C2-47D0-9DBB-9ABF8023F912}" destId="{35114634-BD9B-448A-96C6-919E4A0E8EDD}" srcOrd="13" destOrd="0" presId="urn:microsoft.com/office/officeart/2005/8/layout/list1"/>
    <dgm:cxn modelId="{245C1DD6-4198-4C40-8129-2B90589A72F6}" type="presParOf" srcId="{8D93BFF0-51C2-47D0-9DBB-9ABF8023F912}" destId="{DB93BE63-E227-4631-AE6F-A30B3ACB59FB}"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B0B98A-68C5-4247-BF5D-39E94FB199BD}" type="doc">
      <dgm:prSet loTypeId="urn:microsoft.com/office/officeart/2005/8/layout/list1" loCatId="list" qsTypeId="urn:microsoft.com/office/officeart/2005/8/quickstyle/3d2" qsCatId="3D" csTypeId="urn:microsoft.com/office/officeart/2005/8/colors/colorful2" csCatId="colorful" phldr="1"/>
      <dgm:spPr/>
      <dgm:t>
        <a:bodyPr/>
        <a:lstStyle/>
        <a:p>
          <a:endParaRPr lang="en-GB"/>
        </a:p>
      </dgm:t>
    </dgm:pt>
    <dgm:pt modelId="{4E4E0F65-7802-46ED-868A-6ACD6D5A8CE6}">
      <dgm:prSet phldrT="[Text]" custT="1"/>
      <dgm:spPr/>
      <dgm:t>
        <a:bodyPr/>
        <a:lstStyle/>
        <a:p>
          <a:r>
            <a:rPr lang="en-GB" sz="2400" b="1" spc="50" dirty="0">
              <a:ln w="11430"/>
              <a:effectLst>
                <a:outerShdw blurRad="76200" dist="50800" dir="5400000" algn="tl" rotWithShape="0">
                  <a:srgbClr val="000000">
                    <a:alpha val="65000"/>
                  </a:srgbClr>
                </a:outerShdw>
              </a:effectLst>
            </a:rPr>
            <a:t>Who are the relevant stakeholders?  </a:t>
          </a:r>
          <a:r>
            <a:rPr lang="en-GB" sz="2400" b="1" spc="50" dirty="0">
              <a:ln w="11430"/>
              <a:solidFill>
                <a:srgbClr val="FFFF00"/>
              </a:solidFill>
              <a:effectLst>
                <a:outerShdw blurRad="76200" dist="50800" dir="5400000" algn="tl" rotWithShape="0">
                  <a:srgbClr val="000000">
                    <a:alpha val="65000"/>
                  </a:srgbClr>
                </a:outerShdw>
              </a:effectLst>
            </a:rPr>
            <a:t>Identify and map relevant Stakeholders</a:t>
          </a:r>
          <a:endParaRPr lang="en-GB" sz="2400" b="1" dirty="0">
            <a:solidFill>
              <a:srgbClr val="FFFF00"/>
            </a:solidFill>
          </a:endParaRPr>
        </a:p>
      </dgm:t>
    </dgm:pt>
    <dgm:pt modelId="{C9439A08-04EC-4008-89EA-3988ECB67ECF}" type="parTrans" cxnId="{0DD76C9B-7475-428B-9D43-3EDEB4BBA261}">
      <dgm:prSet/>
      <dgm:spPr/>
      <dgm:t>
        <a:bodyPr/>
        <a:lstStyle/>
        <a:p>
          <a:endParaRPr lang="en-GB" sz="2400" b="1"/>
        </a:p>
      </dgm:t>
    </dgm:pt>
    <dgm:pt modelId="{CC2D196F-88AC-43CB-84F1-C3AA2B49F2F5}" type="sibTrans" cxnId="{0DD76C9B-7475-428B-9D43-3EDEB4BBA261}">
      <dgm:prSet/>
      <dgm:spPr/>
      <dgm:t>
        <a:bodyPr/>
        <a:lstStyle/>
        <a:p>
          <a:endParaRPr lang="en-GB" sz="2400" b="1"/>
        </a:p>
      </dgm:t>
    </dgm:pt>
    <dgm:pt modelId="{8193120C-A37A-4543-9270-B581C63A91C4}">
      <dgm:prSet custT="1"/>
      <dgm:spPr/>
      <dgm:t>
        <a:bodyPr/>
        <a:lstStyle/>
        <a:p>
          <a:r>
            <a:rPr lang="en-GB" sz="2400" b="1" spc="50" dirty="0">
              <a:ln w="11430"/>
              <a:effectLst>
                <a:outerShdw blurRad="76200" dist="50800" dir="5400000" algn="tl" rotWithShape="0">
                  <a:srgbClr val="000000">
                    <a:alpha val="65000"/>
                  </a:srgbClr>
                </a:outerShdw>
              </a:effectLst>
            </a:rPr>
            <a:t>What are the interests of each stakeholder? </a:t>
          </a:r>
          <a:r>
            <a:rPr lang="en-GB" sz="2400" b="1" spc="50" dirty="0">
              <a:ln w="11430"/>
              <a:solidFill>
                <a:srgbClr val="FFFF00"/>
              </a:solidFill>
              <a:effectLst>
                <a:outerShdw blurRad="76200" dist="50800" dir="5400000" algn="tl" rotWithShape="0">
                  <a:srgbClr val="000000">
                    <a:alpha val="65000"/>
                  </a:srgbClr>
                </a:outerShdw>
              </a:effectLst>
            </a:rPr>
            <a:t>Their concern and what do they want </a:t>
          </a:r>
          <a:r>
            <a:rPr lang="en-GB" sz="2400" b="1" spc="50" dirty="0" err="1">
              <a:ln w="11430"/>
              <a:solidFill>
                <a:srgbClr val="FFFF00"/>
              </a:solidFill>
              <a:effectLst>
                <a:outerShdw blurRad="76200" dist="50800" dir="5400000" algn="tl" rotWithShape="0">
                  <a:srgbClr val="000000">
                    <a:alpha val="65000"/>
                  </a:srgbClr>
                </a:outerShdw>
              </a:effectLst>
            </a:rPr>
            <a:t>Eg</a:t>
          </a:r>
          <a:r>
            <a:rPr lang="en-GB" sz="2400" b="1" spc="50" dirty="0">
              <a:ln w="11430"/>
              <a:solidFill>
                <a:srgbClr val="FFFF00"/>
              </a:solidFill>
              <a:effectLst>
                <a:outerShdw blurRad="76200" dist="50800" dir="5400000" algn="tl" rotWithShape="0">
                  <a:srgbClr val="000000">
                    <a:alpha val="65000"/>
                  </a:srgbClr>
                </a:outerShdw>
              </a:effectLst>
            </a:rPr>
            <a:t>. Employees want fair compensation</a:t>
          </a:r>
        </a:p>
      </dgm:t>
    </dgm:pt>
    <dgm:pt modelId="{FC763870-7ECB-4912-B025-1E3482197661}" type="parTrans" cxnId="{46A58848-9099-4D98-B957-43422CA4CCCC}">
      <dgm:prSet/>
      <dgm:spPr/>
      <dgm:t>
        <a:bodyPr/>
        <a:lstStyle/>
        <a:p>
          <a:endParaRPr lang="en-GB" sz="2400" b="1"/>
        </a:p>
      </dgm:t>
    </dgm:pt>
    <dgm:pt modelId="{CA100EE8-C7F4-4206-A25B-11BF45287FBB}" type="sibTrans" cxnId="{46A58848-9099-4D98-B957-43422CA4CCCC}">
      <dgm:prSet/>
      <dgm:spPr/>
      <dgm:t>
        <a:bodyPr/>
        <a:lstStyle/>
        <a:p>
          <a:endParaRPr lang="en-GB" sz="2400" b="1"/>
        </a:p>
      </dgm:t>
    </dgm:pt>
    <dgm:pt modelId="{467D4D63-C301-4C45-ACC8-21EA38F43DB9}">
      <dgm:prSet custT="1"/>
      <dgm:spPr/>
      <dgm:t>
        <a:bodyPr/>
        <a:lstStyle/>
        <a:p>
          <a:r>
            <a:rPr lang="en-GB" sz="2400" b="1" spc="50" dirty="0">
              <a:ln w="11430"/>
              <a:effectLst>
                <a:outerShdw blurRad="76200" dist="50800" dir="5400000" algn="tl" rotWithShape="0">
                  <a:srgbClr val="000000">
                    <a:alpha val="65000"/>
                  </a:srgbClr>
                </a:outerShdw>
              </a:effectLst>
            </a:rPr>
            <a:t>What is the power of each stakeholder? </a:t>
          </a:r>
          <a:r>
            <a:rPr lang="en-GB" sz="2400" b="1" spc="50" dirty="0">
              <a:ln w="11430"/>
              <a:solidFill>
                <a:srgbClr val="FFFF00"/>
              </a:solidFill>
              <a:effectLst>
                <a:outerShdw blurRad="76200" dist="50800" dir="5400000" algn="tl" rotWithShape="0">
                  <a:srgbClr val="000000">
                    <a:alpha val="65000"/>
                  </a:srgbClr>
                </a:outerShdw>
              </a:effectLst>
            </a:rPr>
            <a:t>Voting power, economic power, political power, legal power, and informational power</a:t>
          </a:r>
        </a:p>
      </dgm:t>
    </dgm:pt>
    <dgm:pt modelId="{D7257CC5-E52C-4E47-AFDC-C009486E6C6B}" type="parTrans" cxnId="{1B6366F3-532E-4CEE-A374-9A4AB066BE2E}">
      <dgm:prSet/>
      <dgm:spPr/>
      <dgm:t>
        <a:bodyPr/>
        <a:lstStyle/>
        <a:p>
          <a:endParaRPr lang="en-GB" sz="2400" b="1"/>
        </a:p>
      </dgm:t>
    </dgm:pt>
    <dgm:pt modelId="{34F5CF18-169B-4B3F-957B-B473E4C89B2E}" type="sibTrans" cxnId="{1B6366F3-532E-4CEE-A374-9A4AB066BE2E}">
      <dgm:prSet/>
      <dgm:spPr/>
      <dgm:t>
        <a:bodyPr/>
        <a:lstStyle/>
        <a:p>
          <a:endParaRPr lang="en-GB" sz="2400" b="1"/>
        </a:p>
      </dgm:t>
    </dgm:pt>
    <dgm:pt modelId="{246BF354-B854-4C9E-B61D-A126CD1C349B}">
      <dgm:prSet custT="1"/>
      <dgm:spPr/>
      <dgm:t>
        <a:bodyPr/>
        <a:lstStyle/>
        <a:p>
          <a:r>
            <a:rPr lang="en-GB" sz="2400" b="1" spc="50" dirty="0">
              <a:ln w="11430"/>
              <a:effectLst>
                <a:outerShdw blurRad="76200" dist="50800" dir="5400000" algn="tl" rotWithShape="0">
                  <a:srgbClr val="000000">
                    <a:alpha val="65000"/>
                  </a:srgbClr>
                </a:outerShdw>
              </a:effectLst>
            </a:rPr>
            <a:t>How are the coalitions likely to form?  </a:t>
          </a:r>
          <a:r>
            <a:rPr lang="en-GB" sz="2400" b="1" spc="50" dirty="0">
              <a:ln w="11430"/>
              <a:solidFill>
                <a:srgbClr val="FFFF00"/>
              </a:solidFill>
              <a:effectLst>
                <a:outerShdw blurRad="76200" dist="50800" dir="5400000" algn="tl" rotWithShape="0">
                  <a:srgbClr val="000000">
                    <a:alpha val="65000"/>
                  </a:srgbClr>
                </a:outerShdw>
              </a:effectLst>
            </a:rPr>
            <a:t>Stakeholders interests often coincide. They then form coalitions </a:t>
          </a:r>
        </a:p>
      </dgm:t>
    </dgm:pt>
    <dgm:pt modelId="{8A45680C-AE00-42AE-8914-D683C4AFCF7E}" type="parTrans" cxnId="{2212CA14-8DDA-4742-BDBB-500240DB99E0}">
      <dgm:prSet/>
      <dgm:spPr/>
      <dgm:t>
        <a:bodyPr/>
        <a:lstStyle/>
        <a:p>
          <a:endParaRPr lang="en-GB" sz="2400" b="1"/>
        </a:p>
      </dgm:t>
    </dgm:pt>
    <dgm:pt modelId="{61A011A9-EE7C-46CF-8A91-A634DD2CEE95}" type="sibTrans" cxnId="{2212CA14-8DDA-4742-BDBB-500240DB99E0}">
      <dgm:prSet/>
      <dgm:spPr/>
      <dgm:t>
        <a:bodyPr/>
        <a:lstStyle/>
        <a:p>
          <a:endParaRPr lang="en-GB" sz="2400" b="1"/>
        </a:p>
      </dgm:t>
    </dgm:pt>
    <dgm:pt modelId="{8D93BFF0-51C2-47D0-9DBB-9ABF8023F912}" type="pres">
      <dgm:prSet presAssocID="{EDB0B98A-68C5-4247-BF5D-39E94FB199BD}" presName="linear" presStyleCnt="0">
        <dgm:presLayoutVars>
          <dgm:dir/>
          <dgm:animLvl val="lvl"/>
          <dgm:resizeHandles val="exact"/>
        </dgm:presLayoutVars>
      </dgm:prSet>
      <dgm:spPr/>
    </dgm:pt>
    <dgm:pt modelId="{A379B17F-D1C4-4091-B5AA-AB831B02E51A}" type="pres">
      <dgm:prSet presAssocID="{4E4E0F65-7802-46ED-868A-6ACD6D5A8CE6}" presName="parentLin" presStyleCnt="0"/>
      <dgm:spPr/>
    </dgm:pt>
    <dgm:pt modelId="{6C94B24A-BFF0-42E2-84C3-7366619619AE}" type="pres">
      <dgm:prSet presAssocID="{4E4E0F65-7802-46ED-868A-6ACD6D5A8CE6}" presName="parentLeftMargin" presStyleLbl="node1" presStyleIdx="0" presStyleCnt="4"/>
      <dgm:spPr/>
    </dgm:pt>
    <dgm:pt modelId="{1637E2E8-1CDA-4295-AC6F-72EEDA1A57C3}" type="pres">
      <dgm:prSet presAssocID="{4E4E0F65-7802-46ED-868A-6ACD6D5A8CE6}" presName="parentText" presStyleLbl="node1" presStyleIdx="0" presStyleCnt="4" custScaleX="142857">
        <dgm:presLayoutVars>
          <dgm:chMax val="0"/>
          <dgm:bulletEnabled val="1"/>
        </dgm:presLayoutVars>
      </dgm:prSet>
      <dgm:spPr/>
    </dgm:pt>
    <dgm:pt modelId="{5EB99F81-8AFC-461A-BFC0-D48AF5BEED33}" type="pres">
      <dgm:prSet presAssocID="{4E4E0F65-7802-46ED-868A-6ACD6D5A8CE6}" presName="negativeSpace" presStyleCnt="0"/>
      <dgm:spPr/>
    </dgm:pt>
    <dgm:pt modelId="{516138CB-0E8C-4630-B11E-18F3B866C359}" type="pres">
      <dgm:prSet presAssocID="{4E4E0F65-7802-46ED-868A-6ACD6D5A8CE6}" presName="childText" presStyleLbl="conFgAcc1" presStyleIdx="0" presStyleCnt="4">
        <dgm:presLayoutVars>
          <dgm:bulletEnabled val="1"/>
        </dgm:presLayoutVars>
      </dgm:prSet>
      <dgm:spPr/>
    </dgm:pt>
    <dgm:pt modelId="{C0E1E703-C39F-488C-8429-8FB1FFD5E0A6}" type="pres">
      <dgm:prSet presAssocID="{CC2D196F-88AC-43CB-84F1-C3AA2B49F2F5}" presName="spaceBetweenRectangles" presStyleCnt="0"/>
      <dgm:spPr/>
    </dgm:pt>
    <dgm:pt modelId="{3705BDCF-2F56-421E-98A8-B69774942948}" type="pres">
      <dgm:prSet presAssocID="{8193120C-A37A-4543-9270-B581C63A91C4}" presName="parentLin" presStyleCnt="0"/>
      <dgm:spPr/>
    </dgm:pt>
    <dgm:pt modelId="{97449214-954B-43E1-B507-173C40201E37}" type="pres">
      <dgm:prSet presAssocID="{8193120C-A37A-4543-9270-B581C63A91C4}" presName="parentLeftMargin" presStyleLbl="node1" presStyleIdx="0" presStyleCnt="4"/>
      <dgm:spPr/>
    </dgm:pt>
    <dgm:pt modelId="{931CEF29-3FC5-496A-8DF5-31C52F6A79D6}" type="pres">
      <dgm:prSet presAssocID="{8193120C-A37A-4543-9270-B581C63A91C4}" presName="parentText" presStyleLbl="node1" presStyleIdx="1" presStyleCnt="4" custScaleX="142857">
        <dgm:presLayoutVars>
          <dgm:chMax val="0"/>
          <dgm:bulletEnabled val="1"/>
        </dgm:presLayoutVars>
      </dgm:prSet>
      <dgm:spPr/>
    </dgm:pt>
    <dgm:pt modelId="{CEE4FCBA-E392-423C-8429-E202973F86F4}" type="pres">
      <dgm:prSet presAssocID="{8193120C-A37A-4543-9270-B581C63A91C4}" presName="negativeSpace" presStyleCnt="0"/>
      <dgm:spPr/>
    </dgm:pt>
    <dgm:pt modelId="{6E62764B-D35C-4682-8E97-5BFAF3733711}" type="pres">
      <dgm:prSet presAssocID="{8193120C-A37A-4543-9270-B581C63A91C4}" presName="childText" presStyleLbl="conFgAcc1" presStyleIdx="1" presStyleCnt="4">
        <dgm:presLayoutVars>
          <dgm:bulletEnabled val="1"/>
        </dgm:presLayoutVars>
      </dgm:prSet>
      <dgm:spPr/>
    </dgm:pt>
    <dgm:pt modelId="{C32B4A4F-5450-43DB-92F1-6C6CCE0B6EE1}" type="pres">
      <dgm:prSet presAssocID="{CA100EE8-C7F4-4206-A25B-11BF45287FBB}" presName="spaceBetweenRectangles" presStyleCnt="0"/>
      <dgm:spPr/>
    </dgm:pt>
    <dgm:pt modelId="{86F1B92C-E884-403E-82EF-46D04F833232}" type="pres">
      <dgm:prSet presAssocID="{467D4D63-C301-4C45-ACC8-21EA38F43DB9}" presName="parentLin" presStyleCnt="0"/>
      <dgm:spPr/>
    </dgm:pt>
    <dgm:pt modelId="{D78ED9A1-7682-49B6-989E-71796A96EA6B}" type="pres">
      <dgm:prSet presAssocID="{467D4D63-C301-4C45-ACC8-21EA38F43DB9}" presName="parentLeftMargin" presStyleLbl="node1" presStyleIdx="1" presStyleCnt="4"/>
      <dgm:spPr/>
    </dgm:pt>
    <dgm:pt modelId="{645147F0-B7B1-4CC4-A47F-6398147D06A4}" type="pres">
      <dgm:prSet presAssocID="{467D4D63-C301-4C45-ACC8-21EA38F43DB9}" presName="parentText" presStyleLbl="node1" presStyleIdx="2" presStyleCnt="4" custScaleX="142857" custLinFactX="5636" custLinFactNeighborX="100000" custLinFactNeighborY="-4152">
        <dgm:presLayoutVars>
          <dgm:chMax val="0"/>
          <dgm:bulletEnabled val="1"/>
        </dgm:presLayoutVars>
      </dgm:prSet>
      <dgm:spPr/>
    </dgm:pt>
    <dgm:pt modelId="{D508BAA8-1143-479D-8B20-E2FBDCFB05E1}" type="pres">
      <dgm:prSet presAssocID="{467D4D63-C301-4C45-ACC8-21EA38F43DB9}" presName="negativeSpace" presStyleCnt="0"/>
      <dgm:spPr/>
    </dgm:pt>
    <dgm:pt modelId="{AD798453-35AC-46C5-A89C-459A9A99E254}" type="pres">
      <dgm:prSet presAssocID="{467D4D63-C301-4C45-ACC8-21EA38F43DB9}" presName="childText" presStyleLbl="conFgAcc1" presStyleIdx="2" presStyleCnt="4">
        <dgm:presLayoutVars>
          <dgm:bulletEnabled val="1"/>
        </dgm:presLayoutVars>
      </dgm:prSet>
      <dgm:spPr/>
    </dgm:pt>
    <dgm:pt modelId="{643C2185-FA62-457C-BEFF-012B8E0DCB6B}" type="pres">
      <dgm:prSet presAssocID="{34F5CF18-169B-4B3F-957B-B473E4C89B2E}" presName="spaceBetweenRectangles" presStyleCnt="0"/>
      <dgm:spPr/>
    </dgm:pt>
    <dgm:pt modelId="{779E842B-30EF-41C9-81E7-060D5DD14641}" type="pres">
      <dgm:prSet presAssocID="{246BF354-B854-4C9E-B61D-A126CD1C349B}" presName="parentLin" presStyleCnt="0"/>
      <dgm:spPr/>
    </dgm:pt>
    <dgm:pt modelId="{97C1E575-9BE6-4EBA-806B-DAC0AB025A17}" type="pres">
      <dgm:prSet presAssocID="{246BF354-B854-4C9E-B61D-A126CD1C349B}" presName="parentLeftMargin" presStyleLbl="node1" presStyleIdx="2" presStyleCnt="4"/>
      <dgm:spPr/>
    </dgm:pt>
    <dgm:pt modelId="{C6011727-0FE9-48FD-8778-05CC03F51C2E}" type="pres">
      <dgm:prSet presAssocID="{246BF354-B854-4C9E-B61D-A126CD1C349B}" presName="parentText" presStyleLbl="node1" presStyleIdx="3" presStyleCnt="4" custScaleX="142857">
        <dgm:presLayoutVars>
          <dgm:chMax val="0"/>
          <dgm:bulletEnabled val="1"/>
        </dgm:presLayoutVars>
      </dgm:prSet>
      <dgm:spPr/>
    </dgm:pt>
    <dgm:pt modelId="{35114634-BD9B-448A-96C6-919E4A0E8EDD}" type="pres">
      <dgm:prSet presAssocID="{246BF354-B854-4C9E-B61D-A126CD1C349B}" presName="negativeSpace" presStyleCnt="0"/>
      <dgm:spPr/>
    </dgm:pt>
    <dgm:pt modelId="{DB93BE63-E227-4631-AE6F-A30B3ACB59FB}" type="pres">
      <dgm:prSet presAssocID="{246BF354-B854-4C9E-B61D-A126CD1C349B}" presName="childText" presStyleLbl="conFgAcc1" presStyleIdx="3" presStyleCnt="4">
        <dgm:presLayoutVars>
          <dgm:bulletEnabled val="1"/>
        </dgm:presLayoutVars>
      </dgm:prSet>
      <dgm:spPr/>
    </dgm:pt>
  </dgm:ptLst>
  <dgm:cxnLst>
    <dgm:cxn modelId="{72577803-4C52-4256-9106-B557626738BE}" type="presOf" srcId="{8193120C-A37A-4543-9270-B581C63A91C4}" destId="{97449214-954B-43E1-B507-173C40201E37}" srcOrd="0" destOrd="0" presId="urn:microsoft.com/office/officeart/2005/8/layout/list1"/>
    <dgm:cxn modelId="{2212CA14-8DDA-4742-BDBB-500240DB99E0}" srcId="{EDB0B98A-68C5-4247-BF5D-39E94FB199BD}" destId="{246BF354-B854-4C9E-B61D-A126CD1C349B}" srcOrd="3" destOrd="0" parTransId="{8A45680C-AE00-42AE-8914-D683C4AFCF7E}" sibTransId="{61A011A9-EE7C-46CF-8A91-A634DD2CEE95}"/>
    <dgm:cxn modelId="{30168A31-8CBD-44D3-83ED-A8F0DFCC9C8E}" type="presOf" srcId="{246BF354-B854-4C9E-B61D-A126CD1C349B}" destId="{C6011727-0FE9-48FD-8778-05CC03F51C2E}" srcOrd="1" destOrd="0" presId="urn:microsoft.com/office/officeart/2005/8/layout/list1"/>
    <dgm:cxn modelId="{D1544666-3D33-44B1-B569-6983225729B4}" type="presOf" srcId="{467D4D63-C301-4C45-ACC8-21EA38F43DB9}" destId="{645147F0-B7B1-4CC4-A47F-6398147D06A4}" srcOrd="1" destOrd="0" presId="urn:microsoft.com/office/officeart/2005/8/layout/list1"/>
    <dgm:cxn modelId="{46A58848-9099-4D98-B957-43422CA4CCCC}" srcId="{EDB0B98A-68C5-4247-BF5D-39E94FB199BD}" destId="{8193120C-A37A-4543-9270-B581C63A91C4}" srcOrd="1" destOrd="0" parTransId="{FC763870-7ECB-4912-B025-1E3482197661}" sibTransId="{CA100EE8-C7F4-4206-A25B-11BF45287FBB}"/>
    <dgm:cxn modelId="{3E383857-14BC-4ABF-85DD-B30F6A888377}" type="presOf" srcId="{4E4E0F65-7802-46ED-868A-6ACD6D5A8CE6}" destId="{1637E2E8-1CDA-4295-AC6F-72EEDA1A57C3}" srcOrd="1" destOrd="0" presId="urn:microsoft.com/office/officeart/2005/8/layout/list1"/>
    <dgm:cxn modelId="{D712CA99-EC0B-42DC-A648-B1604A9F0814}" type="presOf" srcId="{EDB0B98A-68C5-4247-BF5D-39E94FB199BD}" destId="{8D93BFF0-51C2-47D0-9DBB-9ABF8023F912}" srcOrd="0" destOrd="0" presId="urn:microsoft.com/office/officeart/2005/8/layout/list1"/>
    <dgm:cxn modelId="{20FC0C9B-7702-4140-AE6A-7742F7A1998F}" type="presOf" srcId="{8193120C-A37A-4543-9270-B581C63A91C4}" destId="{931CEF29-3FC5-496A-8DF5-31C52F6A79D6}" srcOrd="1" destOrd="0" presId="urn:microsoft.com/office/officeart/2005/8/layout/list1"/>
    <dgm:cxn modelId="{0DD76C9B-7475-428B-9D43-3EDEB4BBA261}" srcId="{EDB0B98A-68C5-4247-BF5D-39E94FB199BD}" destId="{4E4E0F65-7802-46ED-868A-6ACD6D5A8CE6}" srcOrd="0" destOrd="0" parTransId="{C9439A08-04EC-4008-89EA-3988ECB67ECF}" sibTransId="{CC2D196F-88AC-43CB-84F1-C3AA2B49F2F5}"/>
    <dgm:cxn modelId="{A34859A5-FD3E-4A82-9619-D146B47F0901}" type="presOf" srcId="{4E4E0F65-7802-46ED-868A-6ACD6D5A8CE6}" destId="{6C94B24A-BFF0-42E2-84C3-7366619619AE}" srcOrd="0" destOrd="0" presId="urn:microsoft.com/office/officeart/2005/8/layout/list1"/>
    <dgm:cxn modelId="{53F5C1AD-7519-43E0-AE1C-1166A6607D3C}" type="presOf" srcId="{246BF354-B854-4C9E-B61D-A126CD1C349B}" destId="{97C1E575-9BE6-4EBA-806B-DAC0AB025A17}" srcOrd="0" destOrd="0" presId="urn:microsoft.com/office/officeart/2005/8/layout/list1"/>
    <dgm:cxn modelId="{3873B4CD-F4A2-4C1B-AB5D-8ABAE604BFE7}" type="presOf" srcId="{467D4D63-C301-4C45-ACC8-21EA38F43DB9}" destId="{D78ED9A1-7682-49B6-989E-71796A96EA6B}" srcOrd="0" destOrd="0" presId="urn:microsoft.com/office/officeart/2005/8/layout/list1"/>
    <dgm:cxn modelId="{1B6366F3-532E-4CEE-A374-9A4AB066BE2E}" srcId="{EDB0B98A-68C5-4247-BF5D-39E94FB199BD}" destId="{467D4D63-C301-4C45-ACC8-21EA38F43DB9}" srcOrd="2" destOrd="0" parTransId="{D7257CC5-E52C-4E47-AFDC-C009486E6C6B}" sibTransId="{34F5CF18-169B-4B3F-957B-B473E4C89B2E}"/>
    <dgm:cxn modelId="{69F49A41-35EA-41C8-8C92-A760D2370FE3}" type="presParOf" srcId="{8D93BFF0-51C2-47D0-9DBB-9ABF8023F912}" destId="{A379B17F-D1C4-4091-B5AA-AB831B02E51A}" srcOrd="0" destOrd="0" presId="urn:microsoft.com/office/officeart/2005/8/layout/list1"/>
    <dgm:cxn modelId="{B14F7D17-2343-4612-B4F5-968F59628879}" type="presParOf" srcId="{A379B17F-D1C4-4091-B5AA-AB831B02E51A}" destId="{6C94B24A-BFF0-42E2-84C3-7366619619AE}" srcOrd="0" destOrd="0" presId="urn:microsoft.com/office/officeart/2005/8/layout/list1"/>
    <dgm:cxn modelId="{F90AB4AD-ABE5-436B-BED5-20773AA5356E}" type="presParOf" srcId="{A379B17F-D1C4-4091-B5AA-AB831B02E51A}" destId="{1637E2E8-1CDA-4295-AC6F-72EEDA1A57C3}" srcOrd="1" destOrd="0" presId="urn:microsoft.com/office/officeart/2005/8/layout/list1"/>
    <dgm:cxn modelId="{8416D55E-7B4C-4531-A469-9CEB1139ECBA}" type="presParOf" srcId="{8D93BFF0-51C2-47D0-9DBB-9ABF8023F912}" destId="{5EB99F81-8AFC-461A-BFC0-D48AF5BEED33}" srcOrd="1" destOrd="0" presId="urn:microsoft.com/office/officeart/2005/8/layout/list1"/>
    <dgm:cxn modelId="{460221E0-2DDA-4F96-A33A-4B93151FBDBA}" type="presParOf" srcId="{8D93BFF0-51C2-47D0-9DBB-9ABF8023F912}" destId="{516138CB-0E8C-4630-B11E-18F3B866C359}" srcOrd="2" destOrd="0" presId="urn:microsoft.com/office/officeart/2005/8/layout/list1"/>
    <dgm:cxn modelId="{FF248673-C891-4C94-954C-C7DFDAC54554}" type="presParOf" srcId="{8D93BFF0-51C2-47D0-9DBB-9ABF8023F912}" destId="{C0E1E703-C39F-488C-8429-8FB1FFD5E0A6}" srcOrd="3" destOrd="0" presId="urn:microsoft.com/office/officeart/2005/8/layout/list1"/>
    <dgm:cxn modelId="{CE593D0F-A7DE-4FEE-9482-EDF42A694DA1}" type="presParOf" srcId="{8D93BFF0-51C2-47D0-9DBB-9ABF8023F912}" destId="{3705BDCF-2F56-421E-98A8-B69774942948}" srcOrd="4" destOrd="0" presId="urn:microsoft.com/office/officeart/2005/8/layout/list1"/>
    <dgm:cxn modelId="{48BD4895-9F6D-494B-8D33-4A0B9EADA3F4}" type="presParOf" srcId="{3705BDCF-2F56-421E-98A8-B69774942948}" destId="{97449214-954B-43E1-B507-173C40201E37}" srcOrd="0" destOrd="0" presId="urn:microsoft.com/office/officeart/2005/8/layout/list1"/>
    <dgm:cxn modelId="{1B753910-D960-49BA-B2D9-AD282928A248}" type="presParOf" srcId="{3705BDCF-2F56-421E-98A8-B69774942948}" destId="{931CEF29-3FC5-496A-8DF5-31C52F6A79D6}" srcOrd="1" destOrd="0" presId="urn:microsoft.com/office/officeart/2005/8/layout/list1"/>
    <dgm:cxn modelId="{68F49A50-4BBC-4B00-96DF-CEFD7DCA0C6B}" type="presParOf" srcId="{8D93BFF0-51C2-47D0-9DBB-9ABF8023F912}" destId="{CEE4FCBA-E392-423C-8429-E202973F86F4}" srcOrd="5" destOrd="0" presId="urn:microsoft.com/office/officeart/2005/8/layout/list1"/>
    <dgm:cxn modelId="{099D4E0E-FA8C-44A3-B330-88AC29B054D0}" type="presParOf" srcId="{8D93BFF0-51C2-47D0-9DBB-9ABF8023F912}" destId="{6E62764B-D35C-4682-8E97-5BFAF3733711}" srcOrd="6" destOrd="0" presId="urn:microsoft.com/office/officeart/2005/8/layout/list1"/>
    <dgm:cxn modelId="{5F7B880B-DCD8-4A85-8493-EE780B778E8C}" type="presParOf" srcId="{8D93BFF0-51C2-47D0-9DBB-9ABF8023F912}" destId="{C32B4A4F-5450-43DB-92F1-6C6CCE0B6EE1}" srcOrd="7" destOrd="0" presId="urn:microsoft.com/office/officeart/2005/8/layout/list1"/>
    <dgm:cxn modelId="{596E8593-83EC-43A9-9A99-BAC6F51E7A13}" type="presParOf" srcId="{8D93BFF0-51C2-47D0-9DBB-9ABF8023F912}" destId="{86F1B92C-E884-403E-82EF-46D04F833232}" srcOrd="8" destOrd="0" presId="urn:microsoft.com/office/officeart/2005/8/layout/list1"/>
    <dgm:cxn modelId="{075F0746-E9D5-4430-831C-D2B8AD375FAD}" type="presParOf" srcId="{86F1B92C-E884-403E-82EF-46D04F833232}" destId="{D78ED9A1-7682-49B6-989E-71796A96EA6B}" srcOrd="0" destOrd="0" presId="urn:microsoft.com/office/officeart/2005/8/layout/list1"/>
    <dgm:cxn modelId="{7D9F44B9-CE95-45D9-8398-D0D51BBB5EE0}" type="presParOf" srcId="{86F1B92C-E884-403E-82EF-46D04F833232}" destId="{645147F0-B7B1-4CC4-A47F-6398147D06A4}" srcOrd="1" destOrd="0" presId="urn:microsoft.com/office/officeart/2005/8/layout/list1"/>
    <dgm:cxn modelId="{C1BE75F0-3B2D-41A0-A0E2-9F6BFE68B158}" type="presParOf" srcId="{8D93BFF0-51C2-47D0-9DBB-9ABF8023F912}" destId="{D508BAA8-1143-479D-8B20-E2FBDCFB05E1}" srcOrd="9" destOrd="0" presId="urn:microsoft.com/office/officeart/2005/8/layout/list1"/>
    <dgm:cxn modelId="{D8FABA19-40F3-40C0-84B8-D26553329309}" type="presParOf" srcId="{8D93BFF0-51C2-47D0-9DBB-9ABF8023F912}" destId="{AD798453-35AC-46C5-A89C-459A9A99E254}" srcOrd="10" destOrd="0" presId="urn:microsoft.com/office/officeart/2005/8/layout/list1"/>
    <dgm:cxn modelId="{CA8E29BE-2BDD-4625-93CE-F1B52BCC711E}" type="presParOf" srcId="{8D93BFF0-51C2-47D0-9DBB-9ABF8023F912}" destId="{643C2185-FA62-457C-BEFF-012B8E0DCB6B}" srcOrd="11" destOrd="0" presId="urn:microsoft.com/office/officeart/2005/8/layout/list1"/>
    <dgm:cxn modelId="{616DC420-70AA-4F84-994F-6D72A76AFC7E}" type="presParOf" srcId="{8D93BFF0-51C2-47D0-9DBB-9ABF8023F912}" destId="{779E842B-30EF-41C9-81E7-060D5DD14641}" srcOrd="12" destOrd="0" presId="urn:microsoft.com/office/officeart/2005/8/layout/list1"/>
    <dgm:cxn modelId="{C0970568-FC98-470B-B4E9-E25DF3933544}" type="presParOf" srcId="{779E842B-30EF-41C9-81E7-060D5DD14641}" destId="{97C1E575-9BE6-4EBA-806B-DAC0AB025A17}" srcOrd="0" destOrd="0" presId="urn:microsoft.com/office/officeart/2005/8/layout/list1"/>
    <dgm:cxn modelId="{A6ABE26E-2A9E-48A9-ABA9-797CB22D392C}" type="presParOf" srcId="{779E842B-30EF-41C9-81E7-060D5DD14641}" destId="{C6011727-0FE9-48FD-8778-05CC03F51C2E}" srcOrd="1" destOrd="0" presId="urn:microsoft.com/office/officeart/2005/8/layout/list1"/>
    <dgm:cxn modelId="{D55AC795-BC44-4BD5-9A6C-778EFA660A41}" type="presParOf" srcId="{8D93BFF0-51C2-47D0-9DBB-9ABF8023F912}" destId="{35114634-BD9B-448A-96C6-919E4A0E8EDD}" srcOrd="13" destOrd="0" presId="urn:microsoft.com/office/officeart/2005/8/layout/list1"/>
    <dgm:cxn modelId="{5E13796A-2D89-48B4-9A14-2E9591527B9C}" type="presParOf" srcId="{8D93BFF0-51C2-47D0-9DBB-9ABF8023F912}" destId="{DB93BE63-E227-4631-AE6F-A30B3ACB59FB}"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138CB-0E8C-4630-B11E-18F3B866C359}">
      <dsp:nvSpPr>
        <dsp:cNvPr id="0" name=""/>
        <dsp:cNvSpPr/>
      </dsp:nvSpPr>
      <dsp:spPr>
        <a:xfrm>
          <a:off x="0" y="419339"/>
          <a:ext cx="7848600" cy="6552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1637E2E8-1CDA-4295-AC6F-72EEDA1A57C3}">
      <dsp:nvSpPr>
        <dsp:cNvPr id="0" name=""/>
        <dsp:cNvSpPr/>
      </dsp:nvSpPr>
      <dsp:spPr>
        <a:xfrm>
          <a:off x="392430" y="35579"/>
          <a:ext cx="5494020" cy="7675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7661" tIns="0" rIns="207661" bIns="0" numCol="1" spcCol="1270" anchor="ctr" anchorCtr="0">
          <a:noAutofit/>
        </a:bodyPr>
        <a:lstStyle/>
        <a:p>
          <a:pPr marL="0" lvl="0" indent="0" algn="l" defTabSz="1066800">
            <a:lnSpc>
              <a:spcPct val="90000"/>
            </a:lnSpc>
            <a:spcBef>
              <a:spcPct val="0"/>
            </a:spcBef>
            <a:spcAft>
              <a:spcPct val="35000"/>
            </a:spcAft>
            <a:buNone/>
          </a:pPr>
          <a:r>
            <a:rPr lang="en-GB" sz="2400" b="1" kern="1200" spc="50" dirty="0">
              <a:ln w="11430"/>
              <a:effectLst>
                <a:outerShdw blurRad="76200" dist="50800" dir="5400000" algn="tl" rotWithShape="0">
                  <a:srgbClr val="000000">
                    <a:alpha val="65000"/>
                  </a:srgbClr>
                </a:outerShdw>
              </a:effectLst>
            </a:rPr>
            <a:t>Who are the relevant stakeholders?</a:t>
          </a:r>
          <a:endParaRPr lang="en-GB" sz="2400" b="1" kern="1200" dirty="0"/>
        </a:p>
      </dsp:txBody>
      <dsp:txXfrm>
        <a:off x="429897" y="73046"/>
        <a:ext cx="5419086" cy="692586"/>
      </dsp:txXfrm>
    </dsp:sp>
    <dsp:sp modelId="{6E62764B-D35C-4682-8E97-5BFAF3733711}">
      <dsp:nvSpPr>
        <dsp:cNvPr id="0" name=""/>
        <dsp:cNvSpPr/>
      </dsp:nvSpPr>
      <dsp:spPr>
        <a:xfrm>
          <a:off x="0" y="1598699"/>
          <a:ext cx="7848600" cy="655200"/>
        </a:xfrm>
        <a:prstGeom prst="rect">
          <a:avLst/>
        </a:prstGeom>
        <a:solidFill>
          <a:schemeClr val="lt1">
            <a:alpha val="90000"/>
            <a:hueOff val="0"/>
            <a:satOff val="0"/>
            <a:lumOff val="0"/>
            <a:alphaOff val="0"/>
          </a:schemeClr>
        </a:solidFill>
        <a:ln w="6350" cap="flat" cmpd="sng" algn="ctr">
          <a:solidFill>
            <a:schemeClr val="accent2">
              <a:hueOff val="-485121"/>
              <a:satOff val="-27976"/>
              <a:lumOff val="2876"/>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931CEF29-3FC5-496A-8DF5-31C52F6A79D6}">
      <dsp:nvSpPr>
        <dsp:cNvPr id="0" name=""/>
        <dsp:cNvSpPr/>
      </dsp:nvSpPr>
      <dsp:spPr>
        <a:xfrm>
          <a:off x="392430" y="1214939"/>
          <a:ext cx="6685508" cy="767520"/>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7661" tIns="0" rIns="207661" bIns="0" numCol="1" spcCol="1270" anchor="ctr" anchorCtr="0">
          <a:noAutofit/>
        </a:bodyPr>
        <a:lstStyle/>
        <a:p>
          <a:pPr marL="0" lvl="0" indent="0" algn="l" defTabSz="1066800">
            <a:lnSpc>
              <a:spcPct val="90000"/>
            </a:lnSpc>
            <a:spcBef>
              <a:spcPct val="0"/>
            </a:spcBef>
            <a:spcAft>
              <a:spcPct val="35000"/>
            </a:spcAft>
            <a:buNone/>
          </a:pPr>
          <a:r>
            <a:rPr lang="en-GB" sz="2400" b="1" kern="1200" spc="50" dirty="0">
              <a:ln w="11430"/>
              <a:effectLst>
                <a:outerShdw blurRad="76200" dist="50800" dir="5400000" algn="tl" rotWithShape="0">
                  <a:srgbClr val="000000">
                    <a:alpha val="65000"/>
                  </a:srgbClr>
                </a:outerShdw>
              </a:effectLst>
            </a:rPr>
            <a:t>What are the interests of each stakeholder?</a:t>
          </a:r>
        </a:p>
      </dsp:txBody>
      <dsp:txXfrm>
        <a:off x="429897" y="1252406"/>
        <a:ext cx="6610574" cy="692586"/>
      </dsp:txXfrm>
    </dsp:sp>
    <dsp:sp modelId="{AD798453-35AC-46C5-A89C-459A9A99E254}">
      <dsp:nvSpPr>
        <dsp:cNvPr id="0" name=""/>
        <dsp:cNvSpPr/>
      </dsp:nvSpPr>
      <dsp:spPr>
        <a:xfrm>
          <a:off x="0" y="2778059"/>
          <a:ext cx="7848600" cy="655200"/>
        </a:xfrm>
        <a:prstGeom prst="rect">
          <a:avLst/>
        </a:prstGeom>
        <a:solidFill>
          <a:schemeClr val="lt1">
            <a:alpha val="90000"/>
            <a:hueOff val="0"/>
            <a:satOff val="0"/>
            <a:lumOff val="0"/>
            <a:alphaOff val="0"/>
          </a:schemeClr>
        </a:solidFill>
        <a:ln w="6350" cap="flat" cmpd="sng" algn="ctr">
          <a:solidFill>
            <a:schemeClr val="accent2">
              <a:hueOff val="-970242"/>
              <a:satOff val="-55952"/>
              <a:lumOff val="5752"/>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645147F0-B7B1-4CC4-A47F-6398147D06A4}">
      <dsp:nvSpPr>
        <dsp:cNvPr id="0" name=""/>
        <dsp:cNvSpPr/>
      </dsp:nvSpPr>
      <dsp:spPr>
        <a:xfrm>
          <a:off x="471041" y="2376286"/>
          <a:ext cx="6784180" cy="767520"/>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7661" tIns="0" rIns="207661" bIns="0" numCol="1" spcCol="1270" anchor="ctr" anchorCtr="0">
          <a:noAutofit/>
        </a:bodyPr>
        <a:lstStyle/>
        <a:p>
          <a:pPr marL="0" lvl="0" indent="0" algn="l" defTabSz="1066800">
            <a:lnSpc>
              <a:spcPct val="90000"/>
            </a:lnSpc>
            <a:spcBef>
              <a:spcPct val="0"/>
            </a:spcBef>
            <a:spcAft>
              <a:spcPct val="35000"/>
            </a:spcAft>
            <a:buNone/>
          </a:pPr>
          <a:r>
            <a:rPr lang="en-GB" sz="2400" b="1" kern="1200" spc="50" dirty="0">
              <a:ln w="11430"/>
              <a:effectLst>
                <a:outerShdw blurRad="76200" dist="50800" dir="5400000" algn="tl" rotWithShape="0">
                  <a:srgbClr val="000000">
                    <a:alpha val="65000"/>
                  </a:srgbClr>
                </a:outerShdw>
              </a:effectLst>
            </a:rPr>
            <a:t>What is the power of each stakeholder?</a:t>
          </a:r>
        </a:p>
      </dsp:txBody>
      <dsp:txXfrm>
        <a:off x="508508" y="2413753"/>
        <a:ext cx="6709246" cy="692586"/>
      </dsp:txXfrm>
    </dsp:sp>
    <dsp:sp modelId="{DB93BE63-E227-4631-AE6F-A30B3ACB59FB}">
      <dsp:nvSpPr>
        <dsp:cNvPr id="0" name=""/>
        <dsp:cNvSpPr/>
      </dsp:nvSpPr>
      <dsp:spPr>
        <a:xfrm>
          <a:off x="0" y="3957420"/>
          <a:ext cx="7848600" cy="6552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C6011727-0FE9-48FD-8778-05CC03F51C2E}">
      <dsp:nvSpPr>
        <dsp:cNvPr id="0" name=""/>
        <dsp:cNvSpPr/>
      </dsp:nvSpPr>
      <dsp:spPr>
        <a:xfrm>
          <a:off x="392430" y="3573660"/>
          <a:ext cx="5494020" cy="76752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07661" tIns="0" rIns="207661" bIns="0" numCol="1" spcCol="1270" anchor="ctr" anchorCtr="0">
          <a:noAutofit/>
        </a:bodyPr>
        <a:lstStyle/>
        <a:p>
          <a:pPr marL="0" lvl="0" indent="0" algn="l" defTabSz="1066800">
            <a:lnSpc>
              <a:spcPct val="90000"/>
            </a:lnSpc>
            <a:spcBef>
              <a:spcPct val="0"/>
            </a:spcBef>
            <a:spcAft>
              <a:spcPct val="35000"/>
            </a:spcAft>
            <a:buNone/>
          </a:pPr>
          <a:r>
            <a:rPr lang="en-GB" sz="2400" b="1" kern="1200" spc="50" dirty="0">
              <a:ln w="11430"/>
              <a:effectLst>
                <a:outerShdw blurRad="76200" dist="50800" dir="5400000" algn="tl" rotWithShape="0">
                  <a:srgbClr val="000000">
                    <a:alpha val="65000"/>
                  </a:srgbClr>
                </a:outerShdw>
              </a:effectLst>
            </a:rPr>
            <a:t>How are the coalitions/mergers likely to form?</a:t>
          </a:r>
        </a:p>
      </dsp:txBody>
      <dsp:txXfrm>
        <a:off x="429897" y="3611127"/>
        <a:ext cx="5419086"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138CB-0E8C-4630-B11E-18F3B866C359}">
      <dsp:nvSpPr>
        <dsp:cNvPr id="0" name=""/>
        <dsp:cNvSpPr/>
      </dsp:nvSpPr>
      <dsp:spPr>
        <a:xfrm>
          <a:off x="0" y="419339"/>
          <a:ext cx="10370127" cy="6552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1637E2E8-1CDA-4295-AC6F-72EEDA1A57C3}">
      <dsp:nvSpPr>
        <dsp:cNvPr id="0" name=""/>
        <dsp:cNvSpPr/>
      </dsp:nvSpPr>
      <dsp:spPr>
        <a:xfrm>
          <a:off x="493695" y="35579"/>
          <a:ext cx="9873890" cy="7675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4376" tIns="0" rIns="274376" bIns="0" numCol="1" spcCol="1270" anchor="ctr" anchorCtr="0">
          <a:noAutofit/>
        </a:bodyPr>
        <a:lstStyle/>
        <a:p>
          <a:pPr marL="0" lvl="0" indent="0" algn="l" defTabSz="1066800">
            <a:lnSpc>
              <a:spcPct val="90000"/>
            </a:lnSpc>
            <a:spcBef>
              <a:spcPct val="0"/>
            </a:spcBef>
            <a:spcAft>
              <a:spcPct val="35000"/>
            </a:spcAft>
            <a:buNone/>
          </a:pPr>
          <a:r>
            <a:rPr lang="en-GB" sz="2400" b="1" kern="1200" spc="50" dirty="0">
              <a:ln w="11430"/>
              <a:effectLst>
                <a:outerShdw blurRad="76200" dist="50800" dir="5400000" algn="tl" rotWithShape="0">
                  <a:srgbClr val="000000">
                    <a:alpha val="65000"/>
                  </a:srgbClr>
                </a:outerShdw>
              </a:effectLst>
            </a:rPr>
            <a:t>Who are the relevant stakeholders?  </a:t>
          </a:r>
          <a:r>
            <a:rPr lang="en-GB" sz="2400" b="1" kern="1200" spc="50" dirty="0">
              <a:ln w="11430"/>
              <a:solidFill>
                <a:srgbClr val="FFFF00"/>
              </a:solidFill>
              <a:effectLst>
                <a:outerShdw blurRad="76200" dist="50800" dir="5400000" algn="tl" rotWithShape="0">
                  <a:srgbClr val="000000">
                    <a:alpha val="65000"/>
                  </a:srgbClr>
                </a:outerShdw>
              </a:effectLst>
            </a:rPr>
            <a:t>Identify and map relevant Stakeholders</a:t>
          </a:r>
          <a:endParaRPr lang="en-GB" sz="2400" b="1" kern="1200" dirty="0">
            <a:solidFill>
              <a:srgbClr val="FFFF00"/>
            </a:solidFill>
          </a:endParaRPr>
        </a:p>
      </dsp:txBody>
      <dsp:txXfrm>
        <a:off x="531162" y="73046"/>
        <a:ext cx="9798956" cy="692586"/>
      </dsp:txXfrm>
    </dsp:sp>
    <dsp:sp modelId="{6E62764B-D35C-4682-8E97-5BFAF3733711}">
      <dsp:nvSpPr>
        <dsp:cNvPr id="0" name=""/>
        <dsp:cNvSpPr/>
      </dsp:nvSpPr>
      <dsp:spPr>
        <a:xfrm>
          <a:off x="0" y="1598699"/>
          <a:ext cx="10370127" cy="655200"/>
        </a:xfrm>
        <a:prstGeom prst="rect">
          <a:avLst/>
        </a:prstGeom>
        <a:solidFill>
          <a:schemeClr val="lt1">
            <a:alpha val="90000"/>
            <a:hueOff val="0"/>
            <a:satOff val="0"/>
            <a:lumOff val="0"/>
            <a:alphaOff val="0"/>
          </a:schemeClr>
        </a:solidFill>
        <a:ln w="6350" cap="flat" cmpd="sng" algn="ctr">
          <a:solidFill>
            <a:schemeClr val="accent2">
              <a:hueOff val="-485121"/>
              <a:satOff val="-27976"/>
              <a:lumOff val="2876"/>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931CEF29-3FC5-496A-8DF5-31C52F6A79D6}">
      <dsp:nvSpPr>
        <dsp:cNvPr id="0" name=""/>
        <dsp:cNvSpPr/>
      </dsp:nvSpPr>
      <dsp:spPr>
        <a:xfrm>
          <a:off x="493695" y="1214939"/>
          <a:ext cx="9873890" cy="767520"/>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4376" tIns="0" rIns="274376" bIns="0" numCol="1" spcCol="1270" anchor="ctr" anchorCtr="0">
          <a:noAutofit/>
        </a:bodyPr>
        <a:lstStyle/>
        <a:p>
          <a:pPr marL="0" lvl="0" indent="0" algn="l" defTabSz="1066800">
            <a:lnSpc>
              <a:spcPct val="90000"/>
            </a:lnSpc>
            <a:spcBef>
              <a:spcPct val="0"/>
            </a:spcBef>
            <a:spcAft>
              <a:spcPct val="35000"/>
            </a:spcAft>
            <a:buNone/>
          </a:pPr>
          <a:r>
            <a:rPr lang="en-GB" sz="2400" b="1" kern="1200" spc="50" dirty="0">
              <a:ln w="11430"/>
              <a:effectLst>
                <a:outerShdw blurRad="76200" dist="50800" dir="5400000" algn="tl" rotWithShape="0">
                  <a:srgbClr val="000000">
                    <a:alpha val="65000"/>
                  </a:srgbClr>
                </a:outerShdw>
              </a:effectLst>
            </a:rPr>
            <a:t>What are the interests of each stakeholder? </a:t>
          </a:r>
          <a:r>
            <a:rPr lang="en-GB" sz="2400" b="1" kern="1200" spc="50" dirty="0">
              <a:ln w="11430"/>
              <a:solidFill>
                <a:srgbClr val="FFFF00"/>
              </a:solidFill>
              <a:effectLst>
                <a:outerShdw blurRad="76200" dist="50800" dir="5400000" algn="tl" rotWithShape="0">
                  <a:srgbClr val="000000">
                    <a:alpha val="65000"/>
                  </a:srgbClr>
                </a:outerShdw>
              </a:effectLst>
            </a:rPr>
            <a:t>Their concern and what do they want </a:t>
          </a:r>
          <a:r>
            <a:rPr lang="en-GB" sz="2400" b="1" kern="1200" spc="50" dirty="0" err="1">
              <a:ln w="11430"/>
              <a:solidFill>
                <a:srgbClr val="FFFF00"/>
              </a:solidFill>
              <a:effectLst>
                <a:outerShdw blurRad="76200" dist="50800" dir="5400000" algn="tl" rotWithShape="0">
                  <a:srgbClr val="000000">
                    <a:alpha val="65000"/>
                  </a:srgbClr>
                </a:outerShdw>
              </a:effectLst>
            </a:rPr>
            <a:t>Eg</a:t>
          </a:r>
          <a:r>
            <a:rPr lang="en-GB" sz="2400" b="1" kern="1200" spc="50" dirty="0">
              <a:ln w="11430"/>
              <a:solidFill>
                <a:srgbClr val="FFFF00"/>
              </a:solidFill>
              <a:effectLst>
                <a:outerShdw blurRad="76200" dist="50800" dir="5400000" algn="tl" rotWithShape="0">
                  <a:srgbClr val="000000">
                    <a:alpha val="65000"/>
                  </a:srgbClr>
                </a:outerShdw>
              </a:effectLst>
            </a:rPr>
            <a:t>. Employees want fair compensation</a:t>
          </a:r>
        </a:p>
      </dsp:txBody>
      <dsp:txXfrm>
        <a:off x="531162" y="1252406"/>
        <a:ext cx="9798956" cy="692586"/>
      </dsp:txXfrm>
    </dsp:sp>
    <dsp:sp modelId="{AD798453-35AC-46C5-A89C-459A9A99E254}">
      <dsp:nvSpPr>
        <dsp:cNvPr id="0" name=""/>
        <dsp:cNvSpPr/>
      </dsp:nvSpPr>
      <dsp:spPr>
        <a:xfrm>
          <a:off x="0" y="2778059"/>
          <a:ext cx="10370127" cy="655200"/>
        </a:xfrm>
        <a:prstGeom prst="rect">
          <a:avLst/>
        </a:prstGeom>
        <a:solidFill>
          <a:schemeClr val="lt1">
            <a:alpha val="90000"/>
            <a:hueOff val="0"/>
            <a:satOff val="0"/>
            <a:lumOff val="0"/>
            <a:alphaOff val="0"/>
          </a:schemeClr>
        </a:solidFill>
        <a:ln w="6350" cap="flat" cmpd="sng" algn="ctr">
          <a:solidFill>
            <a:schemeClr val="accent2">
              <a:hueOff val="-970242"/>
              <a:satOff val="-55952"/>
              <a:lumOff val="5752"/>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645147F0-B7B1-4CC4-A47F-6398147D06A4}">
      <dsp:nvSpPr>
        <dsp:cNvPr id="0" name=""/>
        <dsp:cNvSpPr/>
      </dsp:nvSpPr>
      <dsp:spPr>
        <a:xfrm>
          <a:off x="496236" y="2362432"/>
          <a:ext cx="9873890" cy="767520"/>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4376" tIns="0" rIns="274376" bIns="0" numCol="1" spcCol="1270" anchor="ctr" anchorCtr="0">
          <a:noAutofit/>
        </a:bodyPr>
        <a:lstStyle/>
        <a:p>
          <a:pPr marL="0" lvl="0" indent="0" algn="l" defTabSz="1066800">
            <a:lnSpc>
              <a:spcPct val="90000"/>
            </a:lnSpc>
            <a:spcBef>
              <a:spcPct val="0"/>
            </a:spcBef>
            <a:spcAft>
              <a:spcPct val="35000"/>
            </a:spcAft>
            <a:buNone/>
          </a:pPr>
          <a:r>
            <a:rPr lang="en-GB" sz="2400" b="1" kern="1200" spc="50" dirty="0">
              <a:ln w="11430"/>
              <a:effectLst>
                <a:outerShdw blurRad="76200" dist="50800" dir="5400000" algn="tl" rotWithShape="0">
                  <a:srgbClr val="000000">
                    <a:alpha val="65000"/>
                  </a:srgbClr>
                </a:outerShdw>
              </a:effectLst>
            </a:rPr>
            <a:t>What is the power of each stakeholder? </a:t>
          </a:r>
          <a:r>
            <a:rPr lang="en-GB" sz="2400" b="1" kern="1200" spc="50" dirty="0">
              <a:ln w="11430"/>
              <a:solidFill>
                <a:srgbClr val="FFFF00"/>
              </a:solidFill>
              <a:effectLst>
                <a:outerShdw blurRad="76200" dist="50800" dir="5400000" algn="tl" rotWithShape="0">
                  <a:srgbClr val="000000">
                    <a:alpha val="65000"/>
                  </a:srgbClr>
                </a:outerShdw>
              </a:effectLst>
            </a:rPr>
            <a:t>Voting power, economic power, political power, legal power, and informational power</a:t>
          </a:r>
        </a:p>
      </dsp:txBody>
      <dsp:txXfrm>
        <a:off x="533703" y="2399899"/>
        <a:ext cx="9798956" cy="692586"/>
      </dsp:txXfrm>
    </dsp:sp>
    <dsp:sp modelId="{DB93BE63-E227-4631-AE6F-A30B3ACB59FB}">
      <dsp:nvSpPr>
        <dsp:cNvPr id="0" name=""/>
        <dsp:cNvSpPr/>
      </dsp:nvSpPr>
      <dsp:spPr>
        <a:xfrm>
          <a:off x="0" y="3957420"/>
          <a:ext cx="10370127" cy="6552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C6011727-0FE9-48FD-8778-05CC03F51C2E}">
      <dsp:nvSpPr>
        <dsp:cNvPr id="0" name=""/>
        <dsp:cNvSpPr/>
      </dsp:nvSpPr>
      <dsp:spPr>
        <a:xfrm>
          <a:off x="493695" y="3573660"/>
          <a:ext cx="9873890" cy="76752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4376" tIns="0" rIns="274376" bIns="0" numCol="1" spcCol="1270" anchor="ctr" anchorCtr="0">
          <a:noAutofit/>
        </a:bodyPr>
        <a:lstStyle/>
        <a:p>
          <a:pPr marL="0" lvl="0" indent="0" algn="l" defTabSz="1066800">
            <a:lnSpc>
              <a:spcPct val="90000"/>
            </a:lnSpc>
            <a:spcBef>
              <a:spcPct val="0"/>
            </a:spcBef>
            <a:spcAft>
              <a:spcPct val="35000"/>
            </a:spcAft>
            <a:buNone/>
          </a:pPr>
          <a:r>
            <a:rPr lang="en-GB" sz="2400" b="1" kern="1200" spc="50" dirty="0">
              <a:ln w="11430"/>
              <a:effectLst>
                <a:outerShdw blurRad="76200" dist="50800" dir="5400000" algn="tl" rotWithShape="0">
                  <a:srgbClr val="000000">
                    <a:alpha val="65000"/>
                  </a:srgbClr>
                </a:outerShdw>
              </a:effectLst>
            </a:rPr>
            <a:t>How are the coalitions likely to form?  </a:t>
          </a:r>
          <a:r>
            <a:rPr lang="en-GB" sz="2400" b="1" kern="1200" spc="50" dirty="0">
              <a:ln w="11430"/>
              <a:solidFill>
                <a:srgbClr val="FFFF00"/>
              </a:solidFill>
              <a:effectLst>
                <a:outerShdw blurRad="76200" dist="50800" dir="5400000" algn="tl" rotWithShape="0">
                  <a:srgbClr val="000000">
                    <a:alpha val="65000"/>
                  </a:srgbClr>
                </a:outerShdw>
              </a:effectLst>
            </a:rPr>
            <a:t>Stakeholders interests often coincide. They then form coalitions </a:t>
          </a:r>
        </a:p>
      </dsp:txBody>
      <dsp:txXfrm>
        <a:off x="531162" y="3611127"/>
        <a:ext cx="9798956" cy="69258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25FEEC9-23EC-4DFD-BA97-678BB60F8137}"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2420018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5FEEC9-23EC-4DFD-BA97-678BB60F8137}"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3698667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5FEEC9-23EC-4DFD-BA97-678BB60F8137}"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2427127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5FEEC9-23EC-4DFD-BA97-678BB60F8137}"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3277362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25FEEC9-23EC-4DFD-BA97-678BB60F8137}"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3807846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5FEEC9-23EC-4DFD-BA97-678BB60F8137}"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4214944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5FEEC9-23EC-4DFD-BA97-678BB60F8137}"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3290697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5FEEC9-23EC-4DFD-BA97-678BB60F8137}"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751853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5FEEC9-23EC-4DFD-BA97-678BB60F8137}"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549768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5FEEC9-23EC-4DFD-BA97-678BB60F8137}"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150994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5FEEC9-23EC-4DFD-BA97-678BB60F8137}"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CD534-5988-4134-A973-84549EBBE3B1}" type="slidenum">
              <a:rPr lang="en-US" smtClean="0"/>
              <a:t>‹#›</a:t>
            </a:fld>
            <a:endParaRPr lang="en-US"/>
          </a:p>
        </p:txBody>
      </p:sp>
    </p:spTree>
    <p:extLst>
      <p:ext uri="{BB962C8B-B14F-4D97-AF65-F5344CB8AC3E}">
        <p14:creationId xmlns:p14="http://schemas.microsoft.com/office/powerpoint/2010/main" val="1490173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609600"/>
            <a:ext cx="8789313"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0B3167-8FC7-4D11-8F9D-BAD5A85DF316}" type="datetimeFigureOut">
              <a:rPr lang="en-GB" smtClean="0"/>
              <a:t>23/11/2025</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5C98DA8D-5D57-4BE3-A3CC-7B9A27414B0A}" type="slidenum">
              <a:rPr lang="en-GB" smtClean="0"/>
              <a:t>‹#›</a:t>
            </a:fld>
            <a:endParaRPr lang="en-GB"/>
          </a:p>
        </p:txBody>
      </p:sp>
    </p:spTree>
    <p:extLst>
      <p:ext uri="{BB962C8B-B14F-4D97-AF65-F5344CB8AC3E}">
        <p14:creationId xmlns:p14="http://schemas.microsoft.com/office/powerpoint/2010/main" val="3311674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89000"/>
              </a:schemeClr>
            </a:gs>
            <a:gs pos="23000">
              <a:schemeClr val="accent5">
                <a:lumMod val="89000"/>
              </a:schemeClr>
            </a:gs>
            <a:gs pos="64000">
              <a:schemeClr val="accent5">
                <a:lumMod val="56000"/>
              </a:schemeClr>
            </a:gs>
            <a:gs pos="97000">
              <a:schemeClr val="accent5">
                <a:lumMod val="7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5FEEC9-23EC-4DFD-BA97-678BB60F8137}" type="datetimeFigureOut">
              <a:rPr lang="en-US" smtClean="0"/>
              <a:t>11/23/2025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5CD534-5988-4134-A973-84549EBBE3B1}" type="slidenum">
              <a:rPr lang="en-US" smtClean="0"/>
              <a:t>‹#›</a:t>
            </a:fld>
            <a:endParaRPr lang="en-US"/>
          </a:p>
        </p:txBody>
      </p:sp>
    </p:spTree>
    <p:extLst>
      <p:ext uri="{BB962C8B-B14F-4D97-AF65-F5344CB8AC3E}">
        <p14:creationId xmlns:p14="http://schemas.microsoft.com/office/powerpoint/2010/main" val="4262808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slideLayout" Target="../slideLayouts/slideLayout12.xml"/><Relationship Id="rId6" Type="http://schemas.openxmlformats.org/officeDocument/2006/relationships/image" Target="../media/image14.jpe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png"/><Relationship Id="rId4" Type="http://schemas.openxmlformats.org/officeDocument/2006/relationships/image" Target="../media/image30.jpeg"/></Relationships>
</file>

<file path=ppt/slides/_rels/slide3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0" y="-27710"/>
            <a:ext cx="12191999" cy="6858000"/>
            <a:chOff x="0" y="-27710"/>
            <a:chExt cx="12191999" cy="6858000"/>
          </a:xfrm>
        </p:grpSpPr>
        <p:pic>
          <p:nvPicPr>
            <p:cNvPr id="6146" name="Picture 2" descr="Arabic Islamic Calligraph Bismillah Free Stock Photo - Public Domain  Pi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710"/>
              <a:ext cx="12191999" cy="6858000"/>
            </a:xfrm>
            <a:prstGeom prst="rect">
              <a:avLst/>
            </a:prstGeom>
            <a:solidFill>
              <a:schemeClr val="accent1">
                <a:lumMod val="50000"/>
              </a:schemeClr>
            </a:solidFill>
          </p:spPr>
        </p:pic>
        <p:sp>
          <p:nvSpPr>
            <p:cNvPr id="5" name="TextBox 4"/>
            <p:cNvSpPr txBox="1"/>
            <p:nvPr/>
          </p:nvSpPr>
          <p:spPr>
            <a:xfrm>
              <a:off x="51516" y="2202286"/>
              <a:ext cx="3618962" cy="2308324"/>
            </a:xfrm>
            <a:prstGeom prst="rect">
              <a:avLst/>
            </a:prstGeom>
            <a:noFill/>
          </p:spPr>
          <p:txBody>
            <a:bodyPr wrap="square" rtlCol="0">
              <a:spAutoFit/>
            </a:bodyPr>
            <a:lstStyle/>
            <a:p>
              <a:r>
                <a:rPr lang="en-US" sz="3600" b="1" dirty="0">
                  <a:solidFill>
                    <a:schemeClr val="bg1"/>
                  </a:solidFill>
                </a:rPr>
                <a:t>IN THE NAME OF ALLAH THE MOST GRACIOUS, THE </a:t>
              </a:r>
            </a:p>
            <a:p>
              <a:r>
                <a:rPr lang="en-US" sz="3600" b="1" dirty="0">
                  <a:solidFill>
                    <a:schemeClr val="bg1"/>
                  </a:solidFill>
                </a:rPr>
                <a:t>MOST MERCIFUL</a:t>
              </a:r>
            </a:p>
          </p:txBody>
        </p:sp>
        <p:grpSp>
          <p:nvGrpSpPr>
            <p:cNvPr id="8" name="Group 7"/>
            <p:cNvGrpSpPr/>
            <p:nvPr/>
          </p:nvGrpSpPr>
          <p:grpSpPr>
            <a:xfrm>
              <a:off x="46360" y="4871981"/>
              <a:ext cx="3879436" cy="1213816"/>
              <a:chOff x="198765" y="5287621"/>
              <a:chExt cx="3879436" cy="1213816"/>
            </a:xfrm>
          </p:grpSpPr>
          <p:pic>
            <p:nvPicPr>
              <p:cNvPr id="6150" name="Picture 6" descr="Bismillah Meaning in English"/>
              <p:cNvPicPr>
                <a:picLocks noChangeAspect="1" noChangeArrowheads="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8765" y="5287621"/>
                <a:ext cx="3879436" cy="1213816"/>
              </a:xfrm>
              <a:prstGeom prst="rect">
                <a:avLst/>
              </a:prstGeom>
              <a:blipFill>
                <a:blip r:embed="rId4"/>
                <a:tile tx="0" ty="0" sx="100000" sy="100000" flip="none" algn="tl"/>
              </a:blipFill>
              <a:effectLst>
                <a:glow rad="228600">
                  <a:schemeClr val="accent1">
                    <a:satMod val="175000"/>
                    <a:alpha val="40000"/>
                  </a:schemeClr>
                </a:glow>
                <a:outerShdw blurRad="50800" dist="50800" dir="5400000" algn="ctr" rotWithShape="0">
                  <a:schemeClr val="accent1"/>
                </a:outerShdw>
              </a:effectLst>
            </p:spPr>
          </p:pic>
          <p:sp>
            <p:nvSpPr>
              <p:cNvPr id="6" name="Rectangle 5"/>
              <p:cNvSpPr/>
              <p:nvPr/>
            </p:nvSpPr>
            <p:spPr>
              <a:xfrm>
                <a:off x="198765" y="5287621"/>
                <a:ext cx="3879436" cy="683688"/>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726070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2215" y="1195353"/>
            <a:ext cx="10113818" cy="928110"/>
          </a:xfrm>
          <a:gradFill flip="none" rotWithShape="1">
            <a:gsLst>
              <a:gs pos="0">
                <a:schemeClr val="accent5">
                  <a:lumMod val="89000"/>
                </a:schemeClr>
              </a:gs>
              <a:gs pos="23000">
                <a:schemeClr val="accent5">
                  <a:lumMod val="89000"/>
                </a:schemeClr>
              </a:gs>
              <a:gs pos="64000">
                <a:schemeClr val="accent5">
                  <a:lumMod val="56000"/>
                </a:schemeClr>
              </a:gs>
              <a:gs pos="97000">
                <a:schemeClr val="accent5">
                  <a:lumMod val="70000"/>
                </a:schemeClr>
              </a:gs>
            </a:gsLst>
            <a:path path="rect">
              <a:fillToRect l="50000" t="50000" r="50000" b="50000"/>
            </a:path>
            <a:tileRect/>
          </a:gradFill>
        </p:spPr>
        <p:txBody>
          <a:bodyPr>
            <a:normAutofit fontScale="90000"/>
          </a:bodyPr>
          <a:lstStyle/>
          <a:p>
            <a:r>
              <a:rPr lang="en-US" sz="5400" b="1" dirty="0">
                <a:solidFill>
                  <a:srgbClr val="FFFF00"/>
                </a:solidFill>
                <a:latin typeface="Arial" panose="020B0604020202020204" pitchFamily="34" charset="0"/>
                <a:cs typeface="Arial" panose="020B0604020202020204" pitchFamily="34" charset="0"/>
              </a:rPr>
              <a:t>STAKEHOLDERS MANAGEMENT</a:t>
            </a:r>
          </a:p>
        </p:txBody>
      </p:sp>
      <p:grpSp>
        <p:nvGrpSpPr>
          <p:cNvPr id="4" name="Group 3"/>
          <p:cNvGrpSpPr/>
          <p:nvPr/>
        </p:nvGrpSpPr>
        <p:grpSpPr>
          <a:xfrm>
            <a:off x="1122215" y="2717800"/>
            <a:ext cx="10113818" cy="3810000"/>
            <a:chOff x="1122215" y="2717800"/>
            <a:chExt cx="10113818" cy="3810000"/>
          </a:xfrm>
        </p:grpSpPr>
        <p:pic>
          <p:nvPicPr>
            <p:cNvPr id="4098" name="Picture 2" descr="The Art of Stakeholder Mana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9700" y="2717800"/>
              <a:ext cx="4746333" cy="3810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takeholder Management: A Key to Project Success - PMP Certification Exam  Prep &amp; Training - Velocitea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2215" y="2730500"/>
              <a:ext cx="5367485" cy="37846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2554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3348"/>
          </a:xfrm>
        </p:spPr>
        <p:txBody>
          <a:bodyPr>
            <a:normAutofit/>
          </a:bodyPr>
          <a:lstStyle/>
          <a:p>
            <a:pPr algn="ctr"/>
            <a:r>
              <a:rPr lang="en-US" sz="4000" b="1" dirty="0">
                <a:solidFill>
                  <a:srgbClr val="FFFF00"/>
                </a:solidFill>
                <a:latin typeface="Arial" panose="020B0604020202020204" pitchFamily="34" charset="0"/>
                <a:cs typeface="Arial" panose="020B0604020202020204" pitchFamily="34" charset="0"/>
              </a:rPr>
              <a:t>KEY LEARNING OBJECTIVES</a:t>
            </a:r>
          </a:p>
        </p:txBody>
      </p:sp>
      <p:sp>
        <p:nvSpPr>
          <p:cNvPr id="3" name="Content Placeholder 2"/>
          <p:cNvSpPr>
            <a:spLocks noGrp="1"/>
          </p:cNvSpPr>
          <p:nvPr>
            <p:ph idx="1"/>
          </p:nvPr>
        </p:nvSpPr>
        <p:spPr>
          <a:xfrm>
            <a:off x="554181" y="1482445"/>
            <a:ext cx="10799619" cy="3477490"/>
          </a:xfrm>
        </p:spPr>
        <p:txBody>
          <a:bodyPr>
            <a:normAutofit/>
          </a:bodyPr>
          <a:lstStyle/>
          <a:p>
            <a:r>
              <a:rPr lang="en-US" b="1" dirty="0">
                <a:solidFill>
                  <a:schemeClr val="bg1"/>
                </a:solidFill>
                <a:latin typeface="Arial" panose="020B0604020202020204" pitchFamily="34" charset="0"/>
                <a:cs typeface="Arial" panose="020B0604020202020204" pitchFamily="34" charset="0"/>
              </a:rPr>
              <a:t>LO1 - Understand Relationship between Business &amp; Society</a:t>
            </a:r>
          </a:p>
          <a:p>
            <a:r>
              <a:rPr lang="en-US" b="1" dirty="0">
                <a:solidFill>
                  <a:schemeClr val="bg1"/>
                </a:solidFill>
                <a:latin typeface="Arial" panose="020B0604020202020204" pitchFamily="34" charset="0"/>
                <a:cs typeface="Arial" panose="020B0604020202020204" pitchFamily="34" charset="0"/>
              </a:rPr>
              <a:t>LO2 - What is a Stakeholder and its Theories?</a:t>
            </a:r>
          </a:p>
          <a:p>
            <a:r>
              <a:rPr lang="en-US" b="1" dirty="0">
                <a:solidFill>
                  <a:schemeClr val="bg1"/>
                </a:solidFill>
                <a:latin typeface="Arial" panose="020B0604020202020204" pitchFamily="34" charset="0"/>
                <a:cs typeface="Arial" panose="020B0604020202020204" pitchFamily="34" charset="0"/>
              </a:rPr>
              <a:t>LO3 - Kinds of Stakeholders</a:t>
            </a:r>
          </a:p>
          <a:p>
            <a:r>
              <a:rPr lang="en-US" b="1" dirty="0">
                <a:solidFill>
                  <a:schemeClr val="bg1"/>
                </a:solidFill>
                <a:latin typeface="Arial" panose="020B0604020202020204" pitchFamily="34" charset="0"/>
                <a:cs typeface="Arial" panose="020B0604020202020204" pitchFamily="34" charset="0"/>
              </a:rPr>
              <a:t>LO4 - How to conduct Stakeholder Analysis?</a:t>
            </a:r>
          </a:p>
          <a:p>
            <a:r>
              <a:rPr lang="en-US" b="1" dirty="0">
                <a:solidFill>
                  <a:schemeClr val="bg1"/>
                </a:solidFill>
                <a:latin typeface="Arial" panose="020B0604020202020204" pitchFamily="34" charset="0"/>
                <a:cs typeface="Arial" panose="020B0604020202020204" pitchFamily="34" charset="0"/>
              </a:rPr>
              <a:t>LO5 - What PMBOK 6</a:t>
            </a:r>
            <a:r>
              <a:rPr lang="en-US" b="1" baseline="30000" dirty="0">
                <a:solidFill>
                  <a:schemeClr val="bg1"/>
                </a:solidFill>
                <a:latin typeface="Arial" panose="020B0604020202020204" pitchFamily="34" charset="0"/>
                <a:cs typeface="Arial" panose="020B0604020202020204" pitchFamily="34" charset="0"/>
              </a:rPr>
              <a:t>th</a:t>
            </a:r>
            <a:r>
              <a:rPr lang="en-US" b="1" dirty="0">
                <a:solidFill>
                  <a:schemeClr val="bg1"/>
                </a:solidFill>
                <a:latin typeface="Arial" panose="020B0604020202020204" pitchFamily="34" charset="0"/>
                <a:cs typeface="Arial" panose="020B0604020202020204" pitchFamily="34" charset="0"/>
              </a:rPr>
              <a:t> Edition says about Stakeholders Management?</a:t>
            </a:r>
          </a:p>
          <a:p>
            <a:r>
              <a:rPr lang="en-US" b="1" dirty="0">
                <a:solidFill>
                  <a:schemeClr val="bg1"/>
                </a:solidFill>
                <a:latin typeface="Arial" panose="020B0604020202020204" pitchFamily="34" charset="0"/>
                <a:cs typeface="Arial" panose="020B0604020202020204" pitchFamily="34" charset="0"/>
              </a:rPr>
              <a:t>LO6 - Project Stakeholder Management Processes</a:t>
            </a:r>
          </a:p>
        </p:txBody>
      </p:sp>
    </p:spTree>
    <p:extLst>
      <p:ext uri="{BB962C8B-B14F-4D97-AF65-F5344CB8AC3E}">
        <p14:creationId xmlns:p14="http://schemas.microsoft.com/office/powerpoint/2010/main" val="2550011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9064" y="128789"/>
            <a:ext cx="11190668" cy="739464"/>
          </a:xfrm>
        </p:spPr>
        <p:txBody>
          <a:bodyPr>
            <a:normAutofit fontScale="90000"/>
          </a:bodyPr>
          <a:lstStyle/>
          <a:p>
            <a:pPr algn="r"/>
            <a:r>
              <a:rPr lang="en-US" b="1" dirty="0">
                <a:solidFill>
                  <a:srgbClr val="FFFF00"/>
                </a:solidFill>
              </a:rPr>
              <a:t>    </a:t>
            </a:r>
            <a:br>
              <a:rPr lang="en-US" b="1" dirty="0">
                <a:solidFill>
                  <a:srgbClr val="FFFF00"/>
                </a:solidFill>
              </a:rPr>
            </a:br>
            <a:r>
              <a:rPr lang="en-US" b="1" dirty="0">
                <a:solidFill>
                  <a:srgbClr val="FFFF00"/>
                </a:solidFill>
                <a:latin typeface="Arial" panose="020B0604020202020204" pitchFamily="34" charset="0"/>
                <a:cs typeface="Arial" panose="020B0604020202020204" pitchFamily="34" charset="0"/>
              </a:rPr>
              <a:t>Business &amp; Society: An interactive System</a:t>
            </a:r>
            <a:br>
              <a:rPr lang="en-US" b="1" dirty="0">
                <a:solidFill>
                  <a:srgbClr val="FFFF00"/>
                </a:solidFill>
              </a:rPr>
            </a:br>
            <a:endParaRPr lang="en-US" dirty="0"/>
          </a:p>
        </p:txBody>
      </p:sp>
      <p:sp>
        <p:nvSpPr>
          <p:cNvPr id="3" name="Content Placeholder 2"/>
          <p:cNvSpPr>
            <a:spLocks noGrp="1"/>
          </p:cNvSpPr>
          <p:nvPr>
            <p:ph idx="1"/>
          </p:nvPr>
        </p:nvSpPr>
        <p:spPr>
          <a:xfrm>
            <a:off x="303349" y="1031649"/>
            <a:ext cx="6271812" cy="5420666"/>
          </a:xfrm>
        </p:spPr>
        <p:txBody>
          <a:bodyPr>
            <a:normAutofit fontScale="92500" lnSpcReduction="10000"/>
          </a:bodyPr>
          <a:lstStyle/>
          <a:p>
            <a:pPr algn="just"/>
            <a:r>
              <a:rPr lang="en-US" sz="3000" b="1" dirty="0">
                <a:solidFill>
                  <a:srgbClr val="FFFF00"/>
                </a:solidFill>
                <a:latin typeface="Arial" panose="020B0604020202020204" pitchFamily="34" charset="0"/>
                <a:cs typeface="Arial" panose="020B0604020202020204" pitchFamily="34" charset="0"/>
              </a:rPr>
              <a:t>Business</a:t>
            </a:r>
            <a:r>
              <a:rPr lang="en-US" b="1" dirty="0">
                <a:solidFill>
                  <a:schemeClr val="bg1"/>
                </a:solidFill>
                <a:latin typeface="Arial" panose="020B0604020202020204" pitchFamily="34" charset="0"/>
                <a:cs typeface="Arial" panose="020B0604020202020204" pitchFamily="34" charset="0"/>
              </a:rPr>
              <a:t> – </a:t>
            </a:r>
            <a:r>
              <a:rPr lang="en-US" sz="2200" b="1" dirty="0">
                <a:solidFill>
                  <a:schemeClr val="bg1"/>
                </a:solidFill>
                <a:latin typeface="Arial" panose="020B0604020202020204" pitchFamily="34" charset="0"/>
                <a:cs typeface="Arial" panose="020B0604020202020204" pitchFamily="34" charset="0"/>
              </a:rPr>
              <a:t>The term business refers here to any organization that is engaged in  making a product or providing a service for a profit. It vary greatly in size and impact</a:t>
            </a:r>
          </a:p>
          <a:p>
            <a:endParaRPr lang="en-US" sz="2000" b="1" dirty="0">
              <a:solidFill>
                <a:schemeClr val="bg1"/>
              </a:solidFill>
              <a:latin typeface="Arial" panose="020B0604020202020204" pitchFamily="34" charset="0"/>
              <a:cs typeface="Arial" panose="020B0604020202020204" pitchFamily="34" charset="0"/>
            </a:endParaRPr>
          </a:p>
          <a:p>
            <a:pPr algn="just"/>
            <a:r>
              <a:rPr lang="en-US" sz="3000" b="1" dirty="0">
                <a:solidFill>
                  <a:srgbClr val="FFFF00"/>
                </a:solidFill>
                <a:latin typeface="Arial" panose="020B0604020202020204" pitchFamily="34" charset="0"/>
                <a:cs typeface="Arial" panose="020B0604020202020204" pitchFamily="34" charset="0"/>
              </a:rPr>
              <a:t>Society</a:t>
            </a:r>
            <a:r>
              <a:rPr lang="en-US" sz="2400" b="1" dirty="0">
                <a:solidFill>
                  <a:schemeClr val="bg1"/>
                </a:solidFill>
                <a:latin typeface="Arial" panose="020B0604020202020204" pitchFamily="34" charset="0"/>
                <a:cs typeface="Arial" panose="020B0604020202020204" pitchFamily="34" charset="0"/>
              </a:rPr>
              <a:t> – </a:t>
            </a:r>
          </a:p>
          <a:p>
            <a:pPr lvl="1" algn="just"/>
            <a:r>
              <a:rPr lang="en-US" sz="2200" b="1" dirty="0">
                <a:solidFill>
                  <a:schemeClr val="bg1"/>
                </a:solidFill>
                <a:latin typeface="Arial" panose="020B0604020202020204" pitchFamily="34" charset="0"/>
                <a:cs typeface="Arial" panose="020B0604020202020204" pitchFamily="34" charset="0"/>
              </a:rPr>
              <a:t>In its broad sense refers to human beings and to the social infrastructures they collectively create</a:t>
            </a:r>
          </a:p>
          <a:p>
            <a:pPr marL="457200" lvl="1" indent="0" algn="just">
              <a:buNone/>
            </a:pPr>
            <a:endParaRPr lang="en-US" sz="2200" b="1" dirty="0">
              <a:solidFill>
                <a:schemeClr val="bg1"/>
              </a:solidFill>
              <a:latin typeface="Arial" panose="020B0604020202020204" pitchFamily="34" charset="0"/>
              <a:cs typeface="Arial" panose="020B0604020202020204" pitchFamily="34" charset="0"/>
            </a:endParaRPr>
          </a:p>
          <a:p>
            <a:pPr lvl="1" algn="just"/>
            <a:r>
              <a:rPr lang="en-US" sz="2200" b="1" dirty="0">
                <a:solidFill>
                  <a:schemeClr val="bg1"/>
                </a:solidFill>
                <a:latin typeface="Arial" panose="020B0604020202020204" pitchFamily="34" charset="0"/>
                <a:cs typeface="Arial" panose="020B0604020202020204" pitchFamily="34" charset="0"/>
              </a:rPr>
              <a:t>In more specific sense, refer to segments of humankind, such as </a:t>
            </a:r>
            <a:r>
              <a:rPr lang="en-US" sz="2200" b="1" dirty="0">
                <a:solidFill>
                  <a:srgbClr val="FF0000"/>
                </a:solidFill>
                <a:latin typeface="Arial" panose="020B0604020202020204" pitchFamily="34" charset="0"/>
                <a:cs typeface="Arial" panose="020B0604020202020204" pitchFamily="34" charset="0"/>
              </a:rPr>
              <a:t>members of a particular community, nation, or interest group </a:t>
            </a:r>
          </a:p>
          <a:p>
            <a:pPr algn="just"/>
            <a:endParaRPr lang="en-US" b="1" dirty="0">
              <a:solidFill>
                <a:srgbClr val="FFFF00"/>
              </a:solidFill>
              <a:latin typeface="Arial" panose="020B0604020202020204" pitchFamily="34" charset="0"/>
              <a:cs typeface="Arial" panose="020B0604020202020204" pitchFamily="34" charset="0"/>
            </a:endParaRPr>
          </a:p>
          <a:p>
            <a:pPr algn="just"/>
            <a:r>
              <a:rPr lang="en-US" sz="3000" b="1" dirty="0">
                <a:solidFill>
                  <a:srgbClr val="FFFF00"/>
                </a:solidFill>
                <a:latin typeface="Arial" panose="020B0604020202020204" pitchFamily="34" charset="0"/>
                <a:cs typeface="Arial" panose="020B0604020202020204" pitchFamily="34" charset="0"/>
              </a:rPr>
              <a:t>Therefore</a:t>
            </a:r>
            <a:r>
              <a:rPr lang="en-US" b="1" dirty="0">
                <a:solidFill>
                  <a:schemeClr val="bg1"/>
                </a:solidFill>
                <a:latin typeface="Arial" panose="020B0604020202020204" pitchFamily="34" charset="0"/>
                <a:cs typeface="Arial" panose="020B0604020202020204" pitchFamily="34" charset="0"/>
              </a:rPr>
              <a:t>, </a:t>
            </a:r>
            <a:r>
              <a:rPr lang="en-US" sz="2200" b="1" dirty="0">
                <a:solidFill>
                  <a:schemeClr val="bg1"/>
                </a:solidFill>
                <a:latin typeface="Arial" panose="020B0604020202020204" pitchFamily="34" charset="0"/>
                <a:cs typeface="Arial" panose="020B0604020202020204" pitchFamily="34" charset="0"/>
              </a:rPr>
              <a:t>as a set of organizations are created by humans; business is clearly a part of society</a:t>
            </a:r>
          </a:p>
          <a:p>
            <a:pPr lvl="1" algn="just"/>
            <a:endParaRPr lang="en-US"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a:p>
            <a:pPr marL="457200" lvl="1" indent="0" algn="just">
              <a:buNone/>
            </a:pPr>
            <a:endParaRPr lang="en-US" b="1" dirty="0">
              <a:solidFill>
                <a:schemeClr val="bg1"/>
              </a:solidFill>
              <a:latin typeface="Arial" panose="020B0604020202020204" pitchFamily="34" charset="0"/>
              <a:cs typeface="Arial" panose="020B0604020202020204" pitchFamily="34" charset="0"/>
            </a:endParaRPr>
          </a:p>
          <a:p>
            <a:endParaRPr lang="en-US" sz="2000" b="1" dirty="0">
              <a:solidFill>
                <a:schemeClr val="bg1"/>
              </a:solidFill>
              <a:latin typeface="Arial" panose="020B0604020202020204" pitchFamily="34" charset="0"/>
              <a:cs typeface="Arial" panose="020B0604020202020204" pitchFamily="34" charset="0"/>
            </a:endParaRPr>
          </a:p>
          <a:p>
            <a:endParaRPr lang="en-US" dirty="0"/>
          </a:p>
        </p:txBody>
      </p:sp>
      <p:grpSp>
        <p:nvGrpSpPr>
          <p:cNvPr id="37" name="Group 36"/>
          <p:cNvGrpSpPr/>
          <p:nvPr/>
        </p:nvGrpSpPr>
        <p:grpSpPr>
          <a:xfrm>
            <a:off x="6757563" y="2576945"/>
            <a:ext cx="3629891" cy="3034146"/>
            <a:chOff x="6761017" y="2576945"/>
            <a:chExt cx="3629891" cy="3034146"/>
          </a:xfrm>
        </p:grpSpPr>
        <p:sp>
          <p:nvSpPr>
            <p:cNvPr id="4" name="Oval 3"/>
            <p:cNvSpPr/>
            <p:nvPr/>
          </p:nvSpPr>
          <p:spPr>
            <a:xfrm>
              <a:off x="6761017" y="2576945"/>
              <a:ext cx="3629891" cy="3034146"/>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8603678" y="4343388"/>
              <a:ext cx="1011382" cy="338554"/>
            </a:xfrm>
            <a:prstGeom prst="rect">
              <a:avLst/>
            </a:prstGeom>
            <a:noFill/>
          </p:spPr>
          <p:txBody>
            <a:bodyPr wrap="square" rtlCol="0">
              <a:spAutoFit/>
            </a:bodyPr>
            <a:lstStyle/>
            <a:p>
              <a:r>
                <a:rPr lang="en-US" sz="1600" b="1" dirty="0">
                  <a:solidFill>
                    <a:srgbClr val="FFFF00"/>
                  </a:solidFill>
                </a:rPr>
                <a:t>Business</a:t>
              </a:r>
            </a:p>
          </p:txBody>
        </p:sp>
        <p:sp>
          <p:nvSpPr>
            <p:cNvPr id="10" name="TextBox 9"/>
            <p:cNvSpPr txBox="1"/>
            <p:nvPr/>
          </p:nvSpPr>
          <p:spPr>
            <a:xfrm>
              <a:off x="7578439" y="3207318"/>
              <a:ext cx="1011382" cy="338554"/>
            </a:xfrm>
            <a:prstGeom prst="rect">
              <a:avLst/>
            </a:prstGeom>
            <a:noFill/>
          </p:spPr>
          <p:txBody>
            <a:bodyPr wrap="square" rtlCol="0">
              <a:spAutoFit/>
            </a:bodyPr>
            <a:lstStyle/>
            <a:p>
              <a:r>
                <a:rPr lang="en-US" sz="1600" b="1" dirty="0">
                  <a:solidFill>
                    <a:srgbClr val="FFFF00"/>
                  </a:solidFill>
                </a:rPr>
                <a:t>Society</a:t>
              </a:r>
            </a:p>
          </p:txBody>
        </p:sp>
        <p:cxnSp>
          <p:nvCxnSpPr>
            <p:cNvPr id="17" name="Straight Arrow Connector 16"/>
            <p:cNvCxnSpPr/>
            <p:nvPr/>
          </p:nvCxnSpPr>
          <p:spPr>
            <a:xfrm>
              <a:off x="9043554" y="3781843"/>
              <a:ext cx="10391" cy="561545"/>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9072995" y="4724406"/>
              <a:ext cx="10391" cy="561545"/>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8204783" y="4040412"/>
              <a:ext cx="568033" cy="383796"/>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8326583" y="4627421"/>
              <a:ext cx="394853" cy="495146"/>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9421077" y="4009990"/>
              <a:ext cx="285755" cy="469800"/>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9393380" y="4643187"/>
              <a:ext cx="471054" cy="354619"/>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7" name="Donut 6"/>
          <p:cNvSpPr/>
          <p:nvPr/>
        </p:nvSpPr>
        <p:spPr>
          <a:xfrm>
            <a:off x="7371776" y="2904184"/>
            <a:ext cx="1205345" cy="877659"/>
          </a:xfrm>
          <a:prstGeom prst="donu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onut 7"/>
          <p:cNvSpPr/>
          <p:nvPr/>
        </p:nvSpPr>
        <p:spPr>
          <a:xfrm>
            <a:off x="8339281" y="4017815"/>
            <a:ext cx="1454727" cy="1066800"/>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735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circle(in)">
                                      <p:cBhvr>
                                        <p:cTn id="11" dur="2000"/>
                                        <p:tgtEl>
                                          <p:spTgt spid="3">
                                            <p:txEl>
                                              <p:pRg st="2" end="2"/>
                                            </p:txEl>
                                          </p:spTgt>
                                        </p:tgtEl>
                                      </p:cBhvr>
                                    </p:animEffect>
                                  </p:childTnLst>
                                </p:cTn>
                              </p:par>
                              <p:par>
                                <p:cTn id="12" presetID="6" presetClass="entr" presetSubtype="16" fill="hold"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circle(in)">
                                      <p:cBhvr>
                                        <p:cTn id="14" dur="2000"/>
                                        <p:tgtEl>
                                          <p:spTgt spid="3">
                                            <p:txEl>
                                              <p:pRg st="3" end="3"/>
                                            </p:txEl>
                                          </p:spTgt>
                                        </p:tgtEl>
                                      </p:cBhvr>
                                    </p:animEffect>
                                  </p:childTnLst>
                                </p:cTn>
                              </p:par>
                              <p:par>
                                <p:cTn id="15" presetID="6" presetClass="entr" presetSubtype="16"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circle(in)">
                                      <p:cBhvr>
                                        <p:cTn id="17" dur="20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114300"/>
            <a:ext cx="11007436" cy="728516"/>
          </a:xfrm>
        </p:spPr>
        <p:txBody>
          <a:bodyPr>
            <a:normAutofit/>
          </a:bodyPr>
          <a:lstStyle/>
          <a:p>
            <a:pPr algn="ctr"/>
            <a:r>
              <a:rPr lang="en-US" sz="4000" b="1" dirty="0">
                <a:solidFill>
                  <a:srgbClr val="FFFF00"/>
                </a:solidFill>
                <a:latin typeface="Arial" panose="020B0604020202020204" pitchFamily="34" charset="0"/>
                <a:cs typeface="Arial" panose="020B0604020202020204" pitchFamily="34" charset="0"/>
              </a:rPr>
              <a:t>A Systems Perspective</a:t>
            </a:r>
            <a:endParaRPr lang="en-US" sz="40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003300"/>
            <a:ext cx="10661073" cy="5702300"/>
          </a:xfrm>
        </p:spPr>
        <p:txBody>
          <a:bodyPr>
            <a:normAutofit fontScale="92500" lnSpcReduction="20000"/>
          </a:bodyPr>
          <a:lstStyle/>
          <a:p>
            <a:pPr algn="just"/>
            <a:r>
              <a:rPr lang="en-US" sz="3000" b="1" dirty="0">
                <a:solidFill>
                  <a:srgbClr val="FFFF00"/>
                </a:solidFill>
                <a:latin typeface="Arial" panose="020B0604020202020204" pitchFamily="34" charset="0"/>
                <a:cs typeface="Arial" panose="020B0604020202020204" pitchFamily="34" charset="0"/>
              </a:rPr>
              <a:t>General Systems Theory</a:t>
            </a:r>
          </a:p>
          <a:p>
            <a:pPr lvl="1" algn="just"/>
            <a:r>
              <a:rPr lang="en-US" sz="2000" b="1" dirty="0">
                <a:solidFill>
                  <a:schemeClr val="bg1"/>
                </a:solidFill>
                <a:latin typeface="Arial" panose="020B0604020202020204" pitchFamily="34" charset="0"/>
                <a:cs typeface="Arial" panose="020B0604020202020204" pitchFamily="34" charset="0"/>
              </a:rPr>
              <a:t>First introduced in 1940s, argues that all Organisms are open to, and interact with, their external environment. </a:t>
            </a:r>
            <a:r>
              <a:rPr lang="en-US" sz="2000" b="1" dirty="0" err="1">
                <a:solidFill>
                  <a:schemeClr val="bg1"/>
                </a:solidFill>
                <a:latin typeface="Arial" panose="020B0604020202020204" pitchFamily="34" charset="0"/>
                <a:cs typeface="Arial" panose="020B0604020202020204" pitchFamily="34" charset="0"/>
              </a:rPr>
              <a:t>Eg</a:t>
            </a:r>
            <a:r>
              <a:rPr lang="en-US" sz="2000" b="1" dirty="0">
                <a:solidFill>
                  <a:schemeClr val="bg1"/>
                </a:solidFill>
                <a:latin typeface="Arial" panose="020B0604020202020204" pitchFamily="34" charset="0"/>
                <a:cs typeface="Arial" panose="020B0604020202020204" pitchFamily="34" charset="0"/>
              </a:rPr>
              <a:t>: In </a:t>
            </a:r>
            <a:r>
              <a:rPr lang="en-US" sz="2000" b="1" dirty="0">
                <a:solidFill>
                  <a:srgbClr val="FF0000"/>
                </a:solidFill>
                <a:latin typeface="Arial" panose="020B0604020202020204" pitchFamily="34" charset="0"/>
                <a:cs typeface="Arial" panose="020B0604020202020204" pitchFamily="34" charset="0"/>
              </a:rPr>
              <a:t>Botany, the growth of plant cannot be explained without reference to soil, light, oxygen, moisture and other environmental characteristics</a:t>
            </a:r>
          </a:p>
          <a:p>
            <a:pPr lvl="1" algn="just"/>
            <a:endParaRPr lang="en-US" sz="2000" b="1" dirty="0">
              <a:solidFill>
                <a:schemeClr val="bg1"/>
              </a:solidFill>
              <a:latin typeface="Arial" panose="020B0604020202020204" pitchFamily="34" charset="0"/>
              <a:cs typeface="Arial" panose="020B0604020202020204" pitchFamily="34" charset="0"/>
            </a:endParaRPr>
          </a:p>
          <a:p>
            <a:pPr lvl="1" algn="just"/>
            <a:r>
              <a:rPr lang="en-US" sz="2000" b="1" dirty="0">
                <a:solidFill>
                  <a:schemeClr val="bg1"/>
                </a:solidFill>
                <a:latin typeface="Arial" panose="020B0604020202020204" pitchFamily="34" charset="0"/>
                <a:cs typeface="Arial" panose="020B0604020202020204" pitchFamily="34" charset="0"/>
              </a:rPr>
              <a:t>Although most organisms have clear boundaries, they cannot be understood in insolation, but only in relationships to their surroundings</a:t>
            </a:r>
          </a:p>
          <a:p>
            <a:pPr lvl="1" algn="just"/>
            <a:endParaRPr lang="en-US" sz="2000" b="1" dirty="0">
              <a:solidFill>
                <a:schemeClr val="bg1"/>
              </a:solidFill>
              <a:latin typeface="Arial" panose="020B0604020202020204" pitchFamily="34" charset="0"/>
              <a:cs typeface="Arial" panose="020B0604020202020204" pitchFamily="34" charset="0"/>
            </a:endParaRPr>
          </a:p>
          <a:p>
            <a:pPr lvl="1" algn="just"/>
            <a:r>
              <a:rPr lang="en-US" sz="2000" b="1" dirty="0">
                <a:solidFill>
                  <a:schemeClr val="bg1"/>
                </a:solidFill>
                <a:latin typeface="Arial" panose="020B0604020202020204" pitchFamily="34" charset="0"/>
                <a:cs typeface="Arial" panose="020B0604020202020204" pitchFamily="34" charset="0"/>
              </a:rPr>
              <a:t>As part of management theory, the systems concept implies that business firms </a:t>
            </a:r>
            <a:r>
              <a:rPr lang="en-US" sz="2000" b="1" dirty="0">
                <a:solidFill>
                  <a:srgbClr val="FFFF00"/>
                </a:solidFill>
                <a:latin typeface="Arial" panose="020B0604020202020204" pitchFamily="34" charset="0"/>
                <a:cs typeface="Arial" panose="020B0604020202020204" pitchFamily="34" charset="0"/>
              </a:rPr>
              <a:t>(social organisms) </a:t>
            </a:r>
            <a:r>
              <a:rPr lang="en-US" sz="2000" b="1" dirty="0">
                <a:solidFill>
                  <a:schemeClr val="bg1"/>
                </a:solidFill>
                <a:latin typeface="Arial" panose="020B0604020202020204" pitchFamily="34" charset="0"/>
                <a:cs typeface="Arial" panose="020B0604020202020204" pitchFamily="34" charset="0"/>
              </a:rPr>
              <a:t>are</a:t>
            </a:r>
            <a:r>
              <a:rPr lang="en-US" sz="2000" b="1" dirty="0">
                <a:solidFill>
                  <a:srgbClr val="FF0000"/>
                </a:solidFill>
                <a:latin typeface="Arial" panose="020B0604020202020204" pitchFamily="34" charset="0"/>
                <a:cs typeface="Arial" panose="020B0604020202020204" pitchFamily="34" charset="0"/>
              </a:rPr>
              <a:t> embedded/fixed</a:t>
            </a:r>
            <a:r>
              <a:rPr lang="en-US" sz="2000" b="1" dirty="0">
                <a:solidFill>
                  <a:schemeClr val="bg1"/>
                </a:solidFill>
                <a:latin typeface="Arial" panose="020B0604020202020204" pitchFamily="34" charset="0"/>
                <a:cs typeface="Arial" panose="020B0604020202020204" pitchFamily="34" charset="0"/>
              </a:rPr>
              <a:t> in a broader social structure </a:t>
            </a:r>
            <a:r>
              <a:rPr lang="en-US" sz="2000" b="1" dirty="0">
                <a:solidFill>
                  <a:srgbClr val="FFFF00"/>
                </a:solidFill>
                <a:latin typeface="Arial" panose="020B0604020202020204" pitchFamily="34" charset="0"/>
                <a:cs typeface="Arial" panose="020B0604020202020204" pitchFamily="34" charset="0"/>
              </a:rPr>
              <a:t>(external environment), </a:t>
            </a:r>
            <a:r>
              <a:rPr lang="en-US" sz="2000" b="1" dirty="0">
                <a:solidFill>
                  <a:schemeClr val="bg1"/>
                </a:solidFill>
                <a:latin typeface="Arial" panose="020B0604020202020204" pitchFamily="34" charset="0"/>
                <a:cs typeface="Arial" panose="020B0604020202020204" pitchFamily="34" charset="0"/>
              </a:rPr>
              <a:t>with which they constantly interact</a:t>
            </a:r>
          </a:p>
          <a:p>
            <a:pPr lvl="1" algn="just"/>
            <a:endParaRPr lang="en-US" sz="2000" b="1" dirty="0">
              <a:solidFill>
                <a:schemeClr val="bg1"/>
              </a:solidFill>
              <a:latin typeface="Arial" panose="020B0604020202020204" pitchFamily="34" charset="0"/>
              <a:cs typeface="Arial" panose="020B0604020202020204" pitchFamily="34" charset="0"/>
            </a:endParaRPr>
          </a:p>
          <a:p>
            <a:pPr lvl="1" algn="just"/>
            <a:r>
              <a:rPr lang="en-US" sz="2000" b="1" dirty="0">
                <a:solidFill>
                  <a:schemeClr val="bg1"/>
                </a:solidFill>
                <a:latin typeface="Arial" panose="020B0604020202020204" pitchFamily="34" charset="0"/>
                <a:cs typeface="Arial" panose="020B0604020202020204" pitchFamily="34" charset="0"/>
              </a:rPr>
              <a:t>Corporations have ongoing boundary exchanges with </a:t>
            </a:r>
            <a:r>
              <a:rPr lang="en-US" sz="2000" b="1" dirty="0">
                <a:solidFill>
                  <a:schemeClr val="accent4"/>
                </a:solidFill>
                <a:latin typeface="Arial" panose="020B0604020202020204" pitchFamily="34" charset="0"/>
                <a:cs typeface="Arial" panose="020B0604020202020204" pitchFamily="34" charset="0"/>
              </a:rPr>
              <a:t>customers</a:t>
            </a:r>
            <a:r>
              <a:rPr lang="en-US" sz="2000" b="1" dirty="0">
                <a:solidFill>
                  <a:schemeClr val="bg1"/>
                </a:solidFill>
                <a:latin typeface="Arial" panose="020B0604020202020204" pitchFamily="34" charset="0"/>
                <a:cs typeface="Arial" panose="020B0604020202020204" pitchFamily="34" charset="0"/>
              </a:rPr>
              <a:t>, </a:t>
            </a:r>
            <a:r>
              <a:rPr lang="en-US" sz="2000" b="1" dirty="0">
                <a:solidFill>
                  <a:srgbClr val="00B050"/>
                </a:solidFill>
                <a:latin typeface="Arial" panose="020B0604020202020204" pitchFamily="34" charset="0"/>
                <a:cs typeface="Arial" panose="020B0604020202020204" pitchFamily="34" charset="0"/>
              </a:rPr>
              <a:t>governments</a:t>
            </a:r>
            <a:r>
              <a:rPr lang="en-US" sz="2000" b="1" dirty="0">
                <a:solidFill>
                  <a:schemeClr val="bg1"/>
                </a:solidFill>
                <a:latin typeface="Arial" panose="020B0604020202020204" pitchFamily="34" charset="0"/>
                <a:cs typeface="Arial" panose="020B0604020202020204" pitchFamily="34" charset="0"/>
              </a:rPr>
              <a:t>, </a:t>
            </a:r>
            <a:r>
              <a:rPr lang="en-US" sz="2000" b="1" dirty="0">
                <a:solidFill>
                  <a:srgbClr val="FFFF00"/>
                </a:solidFill>
                <a:latin typeface="Arial" panose="020B0604020202020204" pitchFamily="34" charset="0"/>
                <a:cs typeface="Arial" panose="020B0604020202020204" pitchFamily="34" charset="0"/>
              </a:rPr>
              <a:t>competitors</a:t>
            </a:r>
            <a:r>
              <a:rPr lang="en-US" sz="2000" b="1" dirty="0">
                <a:solidFill>
                  <a:schemeClr val="bg1"/>
                </a:solidFill>
                <a:latin typeface="Arial" panose="020B0604020202020204" pitchFamily="34" charset="0"/>
                <a:cs typeface="Arial" panose="020B0604020202020204" pitchFamily="34" charset="0"/>
              </a:rPr>
              <a:t>, </a:t>
            </a:r>
            <a:r>
              <a:rPr lang="en-US" sz="2000" b="1" dirty="0">
                <a:solidFill>
                  <a:srgbClr val="00B0F0"/>
                </a:solidFill>
                <a:latin typeface="Arial" panose="020B0604020202020204" pitchFamily="34" charset="0"/>
                <a:cs typeface="Arial" panose="020B0604020202020204" pitchFamily="34" charset="0"/>
              </a:rPr>
              <a:t>suppliers</a:t>
            </a:r>
            <a:r>
              <a:rPr lang="en-US" sz="2000" b="1" dirty="0">
                <a:solidFill>
                  <a:schemeClr val="bg1"/>
                </a:solidFill>
                <a:latin typeface="Arial" panose="020B0604020202020204" pitchFamily="34" charset="0"/>
                <a:cs typeface="Arial" panose="020B0604020202020204" pitchFamily="34" charset="0"/>
              </a:rPr>
              <a:t>, </a:t>
            </a:r>
            <a:r>
              <a:rPr lang="en-US" sz="2000" b="1" dirty="0">
                <a:solidFill>
                  <a:schemeClr val="accent6">
                    <a:lumMod val="40000"/>
                    <a:lumOff val="60000"/>
                  </a:schemeClr>
                </a:solidFill>
                <a:latin typeface="Arial" panose="020B0604020202020204" pitchFamily="34" charset="0"/>
                <a:cs typeface="Arial" panose="020B0604020202020204" pitchFamily="34" charset="0"/>
              </a:rPr>
              <a:t>communities</a:t>
            </a:r>
            <a:r>
              <a:rPr lang="en-US" sz="2000" b="1" dirty="0">
                <a:solidFill>
                  <a:schemeClr val="bg1"/>
                </a:solidFill>
                <a:latin typeface="Arial" panose="020B0604020202020204" pitchFamily="34" charset="0"/>
                <a:cs typeface="Arial" panose="020B0604020202020204" pitchFamily="34" charset="0"/>
              </a:rPr>
              <a:t> and many other individuals/groups just as good soil, water, and light help a plant to grow</a:t>
            </a:r>
          </a:p>
          <a:p>
            <a:pPr lvl="1" algn="just"/>
            <a:endParaRPr lang="en-US" sz="2000" b="1" dirty="0">
              <a:solidFill>
                <a:schemeClr val="bg1"/>
              </a:solidFill>
              <a:latin typeface="Arial" panose="020B0604020202020204" pitchFamily="34" charset="0"/>
              <a:cs typeface="Arial" panose="020B0604020202020204" pitchFamily="34" charset="0"/>
            </a:endParaRPr>
          </a:p>
          <a:p>
            <a:pPr lvl="1" algn="just"/>
            <a:r>
              <a:rPr lang="en-US" sz="2000" b="1" dirty="0">
                <a:solidFill>
                  <a:schemeClr val="bg1"/>
                </a:solidFill>
                <a:latin typeface="Arial" panose="020B0604020202020204" pitchFamily="34" charset="0"/>
                <a:cs typeface="Arial" panose="020B0604020202020204" pitchFamily="34" charset="0"/>
              </a:rPr>
              <a:t>Therefore, the key to business survival often is this ability to adapt effectively to changing conditions</a:t>
            </a:r>
          </a:p>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a:p>
            <a:pPr lvl="1" algn="just"/>
            <a:r>
              <a:rPr lang="en-US" sz="2000" b="1" dirty="0">
                <a:solidFill>
                  <a:srgbClr val="FFFF00"/>
                </a:solidFill>
                <a:latin typeface="Arial" panose="020B0604020202020204" pitchFamily="34" charset="0"/>
                <a:cs typeface="Arial" panose="020B0604020202020204" pitchFamily="34" charset="0"/>
              </a:rPr>
              <a:t>System Theory helps us understand how business and society, taken together, form an interactive social system (each needs the other, and each influences the other)</a:t>
            </a:r>
          </a:p>
          <a:p>
            <a:pPr lvl="1" algn="just"/>
            <a:endParaRPr lang="en-US" sz="2000"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221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60512"/>
            <a:ext cx="11007436" cy="728516"/>
          </a:xfrm>
        </p:spPr>
        <p:txBody>
          <a:bodyPr>
            <a:normAutofit/>
          </a:bodyPr>
          <a:lstStyle/>
          <a:p>
            <a:pPr algn="ctr"/>
            <a:r>
              <a:rPr lang="en-US" sz="4000" b="1" dirty="0">
                <a:solidFill>
                  <a:srgbClr val="FFFF00"/>
                </a:solidFill>
                <a:latin typeface="Arial" panose="020B0604020202020204" pitchFamily="34" charset="0"/>
                <a:cs typeface="Arial" panose="020B0604020202020204" pitchFamily="34" charset="0"/>
              </a:rPr>
              <a:t>STAKEHOLDER THEORY OF FIRM</a:t>
            </a:r>
            <a:endParaRPr lang="en-US" sz="40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842817"/>
            <a:ext cx="10661073" cy="5880712"/>
          </a:xfrm>
        </p:spPr>
        <p:txBody>
          <a:bodyPr>
            <a:normAutofit fontScale="92500" lnSpcReduction="20000"/>
          </a:bodyPr>
          <a:lstStyle/>
          <a:p>
            <a:pPr algn="just"/>
            <a:r>
              <a:rPr lang="en-US" sz="3000" b="1" dirty="0">
                <a:solidFill>
                  <a:srgbClr val="FFFF00"/>
                </a:solidFill>
                <a:latin typeface="Arial" panose="020B0604020202020204" pitchFamily="34" charset="0"/>
                <a:cs typeface="Arial" panose="020B0604020202020204" pitchFamily="34" charset="0"/>
              </a:rPr>
              <a:t>Ownership Theory of Firm</a:t>
            </a:r>
          </a:p>
          <a:p>
            <a:pPr marL="0" indent="0" algn="just">
              <a:buNone/>
            </a:pPr>
            <a:endParaRPr lang="en-US" sz="3000" b="1" dirty="0">
              <a:solidFill>
                <a:srgbClr val="FFFF00"/>
              </a:solidFill>
              <a:latin typeface="Arial" panose="020B0604020202020204" pitchFamily="34" charset="0"/>
              <a:cs typeface="Arial" panose="020B0604020202020204" pitchFamily="34" charset="0"/>
            </a:endParaRPr>
          </a:p>
          <a:p>
            <a:pPr lvl="1" algn="just"/>
            <a:r>
              <a:rPr lang="en-US" sz="2000" b="1" dirty="0">
                <a:solidFill>
                  <a:srgbClr val="FF0000"/>
                </a:solidFill>
                <a:latin typeface="Arial" panose="020B0604020202020204" pitchFamily="34" charset="0"/>
                <a:cs typeface="Arial" panose="020B0604020202020204" pitchFamily="34" charset="0"/>
              </a:rPr>
              <a:t>Sometimes also called property or finance theory</a:t>
            </a:r>
          </a:p>
          <a:p>
            <a:pPr lvl="1" algn="just"/>
            <a:r>
              <a:rPr lang="en-US" sz="2000" b="1" dirty="0">
                <a:solidFill>
                  <a:schemeClr val="bg1"/>
                </a:solidFill>
                <a:latin typeface="Arial" panose="020B0604020202020204" pitchFamily="34" charset="0"/>
                <a:cs typeface="Arial" panose="020B0604020202020204" pitchFamily="34" charset="0"/>
              </a:rPr>
              <a:t>The Firm is seen as the property of owners</a:t>
            </a:r>
          </a:p>
          <a:p>
            <a:pPr lvl="1" algn="just"/>
            <a:r>
              <a:rPr lang="en-US" sz="2000" b="1" dirty="0">
                <a:solidFill>
                  <a:schemeClr val="bg1"/>
                </a:solidFill>
                <a:latin typeface="Arial" panose="020B0604020202020204" pitchFamily="34" charset="0"/>
                <a:cs typeface="Arial" panose="020B0604020202020204" pitchFamily="34" charset="0"/>
              </a:rPr>
              <a:t>Purpose of firm is to maximize its long-term market value to make money for shareholders</a:t>
            </a:r>
          </a:p>
          <a:p>
            <a:pPr lvl="1" algn="just"/>
            <a:r>
              <a:rPr lang="en-US" sz="2000" b="1" dirty="0">
                <a:solidFill>
                  <a:schemeClr val="bg1"/>
                </a:solidFill>
                <a:latin typeface="Arial" panose="020B0604020202020204" pitchFamily="34" charset="0"/>
                <a:cs typeface="Arial" panose="020B0604020202020204" pitchFamily="34" charset="0"/>
              </a:rPr>
              <a:t>Managers and Board of Directors are agents of shareholders having no obligations to others, other than specified by law</a:t>
            </a:r>
          </a:p>
          <a:p>
            <a:pPr lvl="1" algn="just"/>
            <a:r>
              <a:rPr lang="en-US" sz="2000" b="1" dirty="0">
                <a:solidFill>
                  <a:srgbClr val="FFC000"/>
                </a:solidFill>
                <a:latin typeface="Arial" panose="020B0604020202020204" pitchFamily="34" charset="0"/>
                <a:cs typeface="Arial" panose="020B0604020202020204" pitchFamily="34" charset="0"/>
              </a:rPr>
              <a:t>In this view, owners interests are paramount taking precedence over the interests of others</a:t>
            </a:r>
          </a:p>
          <a:p>
            <a:pPr marL="457200" lvl="1" indent="0" algn="just">
              <a:buNone/>
            </a:pPr>
            <a:endParaRPr lang="en-US" sz="2000" b="1" dirty="0">
              <a:solidFill>
                <a:srgbClr val="FFC000"/>
              </a:solidFill>
              <a:latin typeface="Arial" panose="020B0604020202020204" pitchFamily="34" charset="0"/>
              <a:cs typeface="Arial" panose="020B0604020202020204" pitchFamily="34" charset="0"/>
            </a:endParaRPr>
          </a:p>
          <a:p>
            <a:pPr algn="just"/>
            <a:r>
              <a:rPr lang="en-US" sz="3000" b="1" dirty="0">
                <a:solidFill>
                  <a:srgbClr val="FFFF00"/>
                </a:solidFill>
                <a:latin typeface="Arial" panose="020B0604020202020204" pitchFamily="34" charset="0"/>
                <a:cs typeface="Arial" panose="020B0604020202020204" pitchFamily="34" charset="0"/>
              </a:rPr>
              <a:t>Stakeholder Theory of Firm </a:t>
            </a:r>
          </a:p>
          <a:p>
            <a:pPr algn="just"/>
            <a:endParaRPr lang="en-US" sz="3000" b="1" dirty="0">
              <a:solidFill>
                <a:srgbClr val="FFFF00"/>
              </a:solidFill>
              <a:latin typeface="Arial" panose="020B0604020202020204" pitchFamily="34" charset="0"/>
              <a:cs typeface="Arial" panose="020B0604020202020204" pitchFamily="34" charset="0"/>
            </a:endParaRPr>
          </a:p>
          <a:p>
            <a:pPr lvl="1" algn="just"/>
            <a:r>
              <a:rPr lang="en-US" sz="2000" b="1" dirty="0">
                <a:solidFill>
                  <a:schemeClr val="bg1"/>
                </a:solidFill>
                <a:latin typeface="Arial" panose="020B0604020202020204" pitchFamily="34" charset="0"/>
                <a:cs typeface="Arial" panose="020B0604020202020204" pitchFamily="34" charset="0"/>
              </a:rPr>
              <a:t>Argues that corporations serve a broad public purpose: to create values for society</a:t>
            </a:r>
          </a:p>
          <a:p>
            <a:pPr lvl="1" algn="just"/>
            <a:r>
              <a:rPr lang="en-US" sz="2000" b="1" dirty="0">
                <a:solidFill>
                  <a:schemeClr val="bg1"/>
                </a:solidFill>
                <a:latin typeface="Arial" panose="020B0604020202020204" pitchFamily="34" charset="0"/>
                <a:cs typeface="Arial" panose="020B0604020202020204" pitchFamily="34" charset="0"/>
              </a:rPr>
              <a:t>Companies must make a profit for their owners, however, they should also create other kinds of values such as professional development for employees and innovative new products for customers</a:t>
            </a:r>
          </a:p>
          <a:p>
            <a:pPr lvl="1" algn="just"/>
            <a:r>
              <a:rPr lang="en-US" sz="2000" b="1" dirty="0">
                <a:solidFill>
                  <a:srgbClr val="FFC000"/>
                </a:solidFill>
                <a:latin typeface="Arial" panose="020B0604020202020204" pitchFamily="34" charset="0"/>
                <a:cs typeface="Arial" panose="020B0604020202020204" pitchFamily="34" charset="0"/>
              </a:rPr>
              <a:t>In this view, corporations have multiple obligations, and all stakeholders interests must be taken into account</a:t>
            </a:r>
          </a:p>
          <a:p>
            <a:pPr lvl="1" algn="just"/>
            <a:endParaRPr lang="en-US" sz="2000" b="1" dirty="0">
              <a:solidFill>
                <a:schemeClr val="bg1"/>
              </a:solidFill>
              <a:latin typeface="Arial" panose="020B0604020202020204" pitchFamily="34" charset="0"/>
              <a:cs typeface="Arial" panose="020B0604020202020204" pitchFamily="34" charset="0"/>
            </a:endParaRPr>
          </a:p>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p:txBody>
      </p:sp>
      <p:pic>
        <p:nvPicPr>
          <p:cNvPr id="1026" name="Picture 2" descr="Take Ownership Images – Browse 23,743 Stock Photos, Vectors, and Video |  Adobe Stoc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06117" y="883157"/>
            <a:ext cx="2085228" cy="10935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akeholder Theory - Six Principles of Stakeholder's Theo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6116" y="3428992"/>
            <a:ext cx="2080753" cy="1036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28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heel(1)">
                                      <p:cBhvr>
                                        <p:cTn id="10" dur="2000"/>
                                        <p:tgtEl>
                                          <p:spTgt spid="3">
                                            <p:txEl>
                                              <p:pRg st="2" end="2"/>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heel(1)">
                                      <p:cBhvr>
                                        <p:cTn id="13" dur="2000"/>
                                        <p:tgtEl>
                                          <p:spTgt spid="3">
                                            <p:txEl>
                                              <p:pRg st="3" end="3"/>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heel(1)">
                                      <p:cBhvr>
                                        <p:cTn id="16" dur="2000"/>
                                        <p:tgtEl>
                                          <p:spTgt spid="3">
                                            <p:txEl>
                                              <p:pRg st="4" end="4"/>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heel(1)">
                                      <p:cBhvr>
                                        <p:cTn id="19" dur="2000"/>
                                        <p:tgtEl>
                                          <p:spTgt spid="3">
                                            <p:txEl>
                                              <p:pRg st="5" end="5"/>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heel(1)">
                                      <p:cBhvr>
                                        <p:cTn id="22" dur="20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wheel(1)">
                                      <p:cBhvr>
                                        <p:cTn id="27" dur="2000"/>
                                        <p:tgtEl>
                                          <p:spTgt spid="3">
                                            <p:txEl>
                                              <p:pRg st="8" end="8"/>
                                            </p:txEl>
                                          </p:spTgt>
                                        </p:tgtEl>
                                      </p:cBhvr>
                                    </p:animEffect>
                                  </p:childTnLst>
                                </p:cTn>
                              </p:par>
                              <p:par>
                                <p:cTn id="28" presetID="21" presetClass="entr" presetSubtype="1"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wheel(1)">
                                      <p:cBhvr>
                                        <p:cTn id="30" dur="2000"/>
                                        <p:tgtEl>
                                          <p:spTgt spid="3">
                                            <p:txEl>
                                              <p:pRg st="10" end="10"/>
                                            </p:txEl>
                                          </p:spTgt>
                                        </p:tgtEl>
                                      </p:cBhvr>
                                    </p:animEffect>
                                  </p:childTnLst>
                                </p:cTn>
                              </p:par>
                              <p:par>
                                <p:cTn id="31" presetID="21" presetClass="entr" presetSubtype="1"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animEffect transition="in" filter="wheel(1)">
                                      <p:cBhvr>
                                        <p:cTn id="33" dur="2000"/>
                                        <p:tgtEl>
                                          <p:spTgt spid="3">
                                            <p:txEl>
                                              <p:pRg st="11" end="11"/>
                                            </p:txEl>
                                          </p:spTgt>
                                        </p:tgtEl>
                                      </p:cBhvr>
                                    </p:animEffect>
                                  </p:childTnLst>
                                </p:cTn>
                              </p:par>
                              <p:par>
                                <p:cTn id="34" presetID="21" presetClass="entr" presetSubtype="1" fill="hold" nodeType="withEffect">
                                  <p:stCondLst>
                                    <p:cond delay="0"/>
                                  </p:stCondLst>
                                  <p:childTnLst>
                                    <p:set>
                                      <p:cBhvr>
                                        <p:cTn id="35" dur="1" fill="hold">
                                          <p:stCondLst>
                                            <p:cond delay="0"/>
                                          </p:stCondLst>
                                        </p:cTn>
                                        <p:tgtEl>
                                          <p:spTgt spid="3">
                                            <p:txEl>
                                              <p:pRg st="12" end="12"/>
                                            </p:txEl>
                                          </p:spTgt>
                                        </p:tgtEl>
                                        <p:attrNameLst>
                                          <p:attrName>style.visibility</p:attrName>
                                        </p:attrNameLst>
                                      </p:cBhvr>
                                      <p:to>
                                        <p:strVal val="visible"/>
                                      </p:to>
                                    </p:set>
                                    <p:animEffect transition="in" filter="wheel(1)">
                                      <p:cBhvr>
                                        <p:cTn id="36"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114300"/>
            <a:ext cx="11007436" cy="72851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STAKEHOLDER THEORY OF FIRM</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889000"/>
            <a:ext cx="10661073" cy="5702300"/>
          </a:xfrm>
        </p:spPr>
        <p:txBody>
          <a:bodyPr>
            <a:normAutofit/>
          </a:bodyPr>
          <a:lstStyle/>
          <a:p>
            <a:pPr algn="ctr"/>
            <a:r>
              <a:rPr lang="en-US" sz="3000" b="1" dirty="0">
                <a:solidFill>
                  <a:srgbClr val="FFFF00"/>
                </a:solidFill>
                <a:latin typeface="Arial" panose="020B0604020202020204" pitchFamily="34" charset="0"/>
                <a:cs typeface="Arial" panose="020B0604020202020204" pitchFamily="34" charset="0"/>
              </a:rPr>
              <a:t>Core Arguments</a:t>
            </a:r>
          </a:p>
          <a:p>
            <a:pPr algn="just"/>
            <a:r>
              <a:rPr lang="en-US" sz="3000" b="1" dirty="0">
                <a:solidFill>
                  <a:srgbClr val="FFFF00"/>
                </a:solidFill>
                <a:latin typeface="Arial" panose="020B0604020202020204" pitchFamily="34" charset="0"/>
                <a:cs typeface="Arial" panose="020B0604020202020204" pitchFamily="34" charset="0"/>
              </a:rPr>
              <a:t>Descriptive Argument:	</a:t>
            </a:r>
            <a:r>
              <a:rPr lang="en-US" sz="2000" b="1" dirty="0">
                <a:solidFill>
                  <a:schemeClr val="bg1"/>
                </a:solidFill>
                <a:latin typeface="Arial" panose="020B0604020202020204" pitchFamily="34" charset="0"/>
                <a:cs typeface="Arial" panose="020B0604020202020204" pitchFamily="34" charset="0"/>
              </a:rPr>
              <a:t>Stakeholder view is simply a more realistic description of how  companies really work. </a:t>
            </a:r>
            <a:r>
              <a:rPr lang="en-US" sz="2000" b="1" dirty="0">
                <a:solidFill>
                  <a:srgbClr val="FF0000"/>
                </a:solidFill>
                <a:latin typeface="Arial" panose="020B0604020202020204" pitchFamily="34" charset="0"/>
                <a:cs typeface="Arial" panose="020B0604020202020204" pitchFamily="34" charset="0"/>
              </a:rPr>
              <a:t>In addition to quarterly and annual financial performance by managers, they have to direct their energies towards all stakeholders and not just owners</a:t>
            </a:r>
          </a:p>
          <a:p>
            <a:pPr algn="just"/>
            <a:endParaRPr lang="en-US" sz="2000" b="1" dirty="0">
              <a:solidFill>
                <a:schemeClr val="bg1"/>
              </a:solidFill>
              <a:latin typeface="Arial" panose="020B0604020202020204" pitchFamily="34" charset="0"/>
              <a:cs typeface="Arial" panose="020B0604020202020204" pitchFamily="34" charset="0"/>
            </a:endParaRPr>
          </a:p>
          <a:p>
            <a:pPr algn="just"/>
            <a:r>
              <a:rPr lang="en-US" sz="3000" b="1" dirty="0">
                <a:solidFill>
                  <a:srgbClr val="FFFF00"/>
                </a:solidFill>
                <a:latin typeface="Arial" panose="020B0604020202020204" pitchFamily="34" charset="0"/>
                <a:cs typeface="Arial" panose="020B0604020202020204" pitchFamily="34" charset="0"/>
              </a:rPr>
              <a:t>Instrumental Argument:	</a:t>
            </a:r>
            <a:r>
              <a:rPr lang="en-US" sz="2000" b="1" dirty="0">
                <a:solidFill>
                  <a:schemeClr val="bg1"/>
                </a:solidFill>
                <a:latin typeface="Arial" panose="020B0604020202020204" pitchFamily="34" charset="0"/>
                <a:cs typeface="Arial" panose="020B0604020202020204" pitchFamily="34" charset="0"/>
              </a:rPr>
              <a:t>It is more effective as a corporate strategy. Companies behaving responsibly towards multiple stakeholders groups perform better financially, over the </a:t>
            </a:r>
            <a:r>
              <a:rPr lang="en-US" sz="2000" b="1" dirty="0">
                <a:solidFill>
                  <a:srgbClr val="FF0000"/>
                </a:solidFill>
                <a:latin typeface="Arial" panose="020B0604020202020204" pitchFamily="34" charset="0"/>
                <a:cs typeface="Arial" panose="020B0604020202020204" pitchFamily="34" charset="0"/>
              </a:rPr>
              <a:t>long run. Good relationships with stakeholders is a source of value for the firm</a:t>
            </a:r>
          </a:p>
          <a:p>
            <a:pPr algn="just"/>
            <a:endParaRPr lang="en-US" sz="2000" b="1" dirty="0">
              <a:solidFill>
                <a:schemeClr val="bg1"/>
              </a:solidFill>
              <a:latin typeface="Arial" panose="020B0604020202020204" pitchFamily="34" charset="0"/>
              <a:cs typeface="Arial" panose="020B0604020202020204" pitchFamily="34" charset="0"/>
            </a:endParaRPr>
          </a:p>
          <a:p>
            <a:pPr algn="just"/>
            <a:r>
              <a:rPr lang="en-US" sz="3000" b="1" dirty="0">
                <a:solidFill>
                  <a:srgbClr val="FFFF00"/>
                </a:solidFill>
                <a:latin typeface="Arial" panose="020B0604020202020204" pitchFamily="34" charset="0"/>
                <a:cs typeface="Arial" panose="020B0604020202020204" pitchFamily="34" charset="0"/>
              </a:rPr>
              <a:t>Normative Argument:	</a:t>
            </a:r>
            <a:r>
              <a:rPr lang="en-US" sz="2000" b="1" dirty="0">
                <a:solidFill>
                  <a:schemeClr val="bg1"/>
                </a:solidFill>
                <a:latin typeface="Arial" panose="020B0604020202020204" pitchFamily="34" charset="0"/>
                <a:cs typeface="Arial" panose="020B0604020202020204" pitchFamily="34" charset="0"/>
              </a:rPr>
              <a:t>Stakeholder management is </a:t>
            </a:r>
            <a:r>
              <a:rPr lang="en-US" sz="2000" b="1" dirty="0">
                <a:solidFill>
                  <a:srgbClr val="FF0000"/>
                </a:solidFill>
                <a:latin typeface="Arial" panose="020B0604020202020204" pitchFamily="34" charset="0"/>
                <a:cs typeface="Arial" panose="020B0604020202020204" pitchFamily="34" charset="0"/>
              </a:rPr>
              <a:t>simply the right thing to do. Owners and all stakeholders, contribute some value to the corporation</a:t>
            </a:r>
          </a:p>
          <a:p>
            <a:pPr algn="just"/>
            <a:endParaRPr lang="en-US" sz="2000"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a:p>
            <a:pPr algn="just"/>
            <a:endParaRPr lang="en-US" sz="2000"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265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114300"/>
            <a:ext cx="11007436" cy="72851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STAKEHOLDER CONCEPT</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889000"/>
            <a:ext cx="10661073" cy="5702300"/>
          </a:xfrm>
        </p:spPr>
        <p:txBody>
          <a:bodyPr>
            <a:normAutofit/>
          </a:bodyPr>
          <a:lstStyle/>
          <a:p>
            <a:pPr algn="just"/>
            <a:r>
              <a:rPr lang="en-US" sz="2400" b="1" dirty="0">
                <a:solidFill>
                  <a:schemeClr val="bg1"/>
                </a:solidFill>
                <a:latin typeface="Arial" panose="020B0604020202020204" pitchFamily="34" charset="0"/>
                <a:cs typeface="Arial" panose="020B0604020202020204" pitchFamily="34" charset="0"/>
              </a:rPr>
              <a:t>The word </a:t>
            </a:r>
            <a:r>
              <a:rPr lang="en-US" sz="2400" b="1" dirty="0">
                <a:solidFill>
                  <a:schemeClr val="accent2"/>
                </a:solidFill>
                <a:latin typeface="Arial" panose="020B0604020202020204" pitchFamily="34" charset="0"/>
                <a:cs typeface="Arial" panose="020B0604020202020204" pitchFamily="34" charset="0"/>
              </a:rPr>
              <a:t>stake</a:t>
            </a:r>
            <a:r>
              <a:rPr lang="en-US" sz="2400" b="1" dirty="0">
                <a:solidFill>
                  <a:schemeClr val="bg1"/>
                </a:solidFill>
                <a:latin typeface="Arial" panose="020B0604020202020204" pitchFamily="34" charset="0"/>
                <a:cs typeface="Arial" panose="020B0604020202020204" pitchFamily="34" charset="0"/>
              </a:rPr>
              <a:t> means an interest in or claim on a business enterprise</a:t>
            </a:r>
          </a:p>
          <a:p>
            <a:pPr algn="just"/>
            <a:endParaRPr lang="en-US" sz="2400" b="1"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Those with a </a:t>
            </a:r>
            <a:r>
              <a:rPr lang="en-US" sz="2400" b="1" dirty="0">
                <a:solidFill>
                  <a:schemeClr val="accent2"/>
                </a:solidFill>
                <a:latin typeface="Arial" panose="020B0604020202020204" pitchFamily="34" charset="0"/>
                <a:cs typeface="Arial" panose="020B0604020202020204" pitchFamily="34" charset="0"/>
              </a:rPr>
              <a:t>stake</a:t>
            </a:r>
            <a:r>
              <a:rPr lang="en-US" sz="2400" b="1" dirty="0">
                <a:solidFill>
                  <a:schemeClr val="bg1"/>
                </a:solidFill>
                <a:latin typeface="Arial" panose="020B0604020202020204" pitchFamily="34" charset="0"/>
                <a:cs typeface="Arial" panose="020B0604020202020204" pitchFamily="34" charset="0"/>
              </a:rPr>
              <a:t> in the firm’s action includes diverse groups as </a:t>
            </a:r>
            <a:r>
              <a:rPr lang="en-US" sz="2400" b="1" u="sng" dirty="0">
                <a:solidFill>
                  <a:schemeClr val="bg1"/>
                </a:solidFill>
                <a:latin typeface="Arial" panose="020B0604020202020204" pitchFamily="34" charset="0"/>
                <a:cs typeface="Arial" panose="020B0604020202020204" pitchFamily="34" charset="0"/>
              </a:rPr>
              <a:t>customers</a:t>
            </a:r>
            <a:r>
              <a:rPr lang="en-US" sz="2400" b="1" dirty="0">
                <a:solidFill>
                  <a:schemeClr val="bg1"/>
                </a:solidFill>
                <a:latin typeface="Arial" panose="020B0604020202020204" pitchFamily="34" charset="0"/>
                <a:cs typeface="Arial" panose="020B0604020202020204" pitchFamily="34" charset="0"/>
              </a:rPr>
              <a:t>, </a:t>
            </a:r>
            <a:r>
              <a:rPr lang="en-US" sz="2400" b="1" u="sng" dirty="0">
                <a:solidFill>
                  <a:schemeClr val="bg1"/>
                </a:solidFill>
                <a:latin typeface="Arial" panose="020B0604020202020204" pitchFamily="34" charset="0"/>
                <a:cs typeface="Arial" panose="020B0604020202020204" pitchFamily="34" charset="0"/>
              </a:rPr>
              <a:t>shareholders</a:t>
            </a:r>
            <a:r>
              <a:rPr lang="en-US" sz="2400" b="1" dirty="0">
                <a:solidFill>
                  <a:schemeClr val="bg1"/>
                </a:solidFill>
                <a:latin typeface="Arial" panose="020B0604020202020204" pitchFamily="34" charset="0"/>
                <a:cs typeface="Arial" panose="020B0604020202020204" pitchFamily="34" charset="0"/>
              </a:rPr>
              <a:t> (stockholders), </a:t>
            </a:r>
            <a:r>
              <a:rPr lang="en-US" sz="2400" b="1" u="sng" dirty="0">
                <a:solidFill>
                  <a:schemeClr val="bg1"/>
                </a:solidFill>
                <a:latin typeface="Arial" panose="020B0604020202020204" pitchFamily="34" charset="0"/>
                <a:cs typeface="Arial" panose="020B0604020202020204" pitchFamily="34" charset="0"/>
              </a:rPr>
              <a:t>governments</a:t>
            </a:r>
            <a:r>
              <a:rPr lang="en-US" sz="2400" b="1" dirty="0">
                <a:solidFill>
                  <a:schemeClr val="bg1"/>
                </a:solidFill>
                <a:latin typeface="Arial" panose="020B0604020202020204" pitchFamily="34" charset="0"/>
                <a:cs typeface="Arial" panose="020B0604020202020204" pitchFamily="34" charset="0"/>
              </a:rPr>
              <a:t>, </a:t>
            </a:r>
            <a:r>
              <a:rPr lang="en-US" sz="2400" b="1" u="sng" dirty="0">
                <a:solidFill>
                  <a:schemeClr val="bg1"/>
                </a:solidFill>
                <a:latin typeface="Arial" panose="020B0604020202020204" pitchFamily="34" charset="0"/>
                <a:cs typeface="Arial" panose="020B0604020202020204" pitchFamily="34" charset="0"/>
              </a:rPr>
              <a:t>suppliers</a:t>
            </a:r>
            <a:r>
              <a:rPr lang="en-US" sz="2400" b="1" dirty="0">
                <a:solidFill>
                  <a:schemeClr val="bg1"/>
                </a:solidFill>
                <a:latin typeface="Arial" panose="020B0604020202020204" pitchFamily="34" charset="0"/>
                <a:cs typeface="Arial" panose="020B0604020202020204" pitchFamily="34" charset="0"/>
              </a:rPr>
              <a:t>, </a:t>
            </a:r>
            <a:r>
              <a:rPr lang="en-US" sz="2400" b="1" u="sng" dirty="0">
                <a:solidFill>
                  <a:schemeClr val="bg1"/>
                </a:solidFill>
                <a:latin typeface="Arial" panose="020B0604020202020204" pitchFamily="34" charset="0"/>
                <a:cs typeface="Arial" panose="020B0604020202020204" pitchFamily="34" charset="0"/>
              </a:rPr>
              <a:t>employees</a:t>
            </a:r>
            <a:r>
              <a:rPr lang="en-US" sz="2400" b="1" dirty="0">
                <a:solidFill>
                  <a:schemeClr val="bg1"/>
                </a:solidFill>
                <a:latin typeface="Arial" panose="020B0604020202020204" pitchFamily="34" charset="0"/>
                <a:cs typeface="Arial" panose="020B0604020202020204" pitchFamily="34" charset="0"/>
              </a:rPr>
              <a:t>, </a:t>
            </a:r>
            <a:r>
              <a:rPr lang="en-US" sz="2400" b="1" u="sng" dirty="0">
                <a:solidFill>
                  <a:schemeClr val="bg1"/>
                </a:solidFill>
                <a:latin typeface="Arial" panose="020B0604020202020204" pitchFamily="34" charset="0"/>
                <a:cs typeface="Arial" panose="020B0604020202020204" pitchFamily="34" charset="0"/>
              </a:rPr>
              <a:t>professional and trade associations</a:t>
            </a:r>
            <a:r>
              <a:rPr lang="en-US" sz="2400" b="1" dirty="0">
                <a:solidFill>
                  <a:schemeClr val="bg1"/>
                </a:solidFill>
                <a:latin typeface="Arial" panose="020B0604020202020204" pitchFamily="34" charset="0"/>
                <a:cs typeface="Arial" panose="020B0604020202020204" pitchFamily="34" charset="0"/>
              </a:rPr>
              <a:t>, </a:t>
            </a:r>
            <a:r>
              <a:rPr lang="en-US" sz="2400" b="1" u="sng" dirty="0">
                <a:solidFill>
                  <a:schemeClr val="bg1"/>
                </a:solidFill>
                <a:latin typeface="Arial" panose="020B0604020202020204" pitchFamily="34" charset="0"/>
                <a:cs typeface="Arial" panose="020B0604020202020204" pitchFamily="34" charset="0"/>
              </a:rPr>
              <a:t>social and environmental activists</a:t>
            </a:r>
            <a:r>
              <a:rPr lang="en-US" sz="2400" b="1" dirty="0">
                <a:solidFill>
                  <a:schemeClr val="bg1"/>
                </a:solidFill>
                <a:latin typeface="Arial" panose="020B0604020202020204" pitchFamily="34" charset="0"/>
                <a:cs typeface="Arial" panose="020B0604020202020204" pitchFamily="34" charset="0"/>
              </a:rPr>
              <a:t> and </a:t>
            </a:r>
            <a:r>
              <a:rPr lang="en-US" sz="2400" b="1" u="sng" dirty="0">
                <a:solidFill>
                  <a:schemeClr val="bg1"/>
                </a:solidFill>
                <a:latin typeface="Arial" panose="020B0604020202020204" pitchFamily="34" charset="0"/>
                <a:cs typeface="Arial" panose="020B0604020202020204" pitchFamily="34" charset="0"/>
              </a:rPr>
              <a:t>NGOs</a:t>
            </a:r>
          </a:p>
          <a:p>
            <a:pPr algn="just"/>
            <a:endParaRPr lang="en-US" sz="2400" b="1"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The term </a:t>
            </a:r>
            <a:r>
              <a:rPr lang="en-US" sz="2400" b="1" dirty="0">
                <a:solidFill>
                  <a:srgbClr val="FFFF00"/>
                </a:solidFill>
                <a:latin typeface="Arial" panose="020B0604020202020204" pitchFamily="34" charset="0"/>
                <a:cs typeface="Arial" panose="020B0604020202020204" pitchFamily="34" charset="0"/>
              </a:rPr>
              <a:t>Stakeholder</a:t>
            </a:r>
            <a:r>
              <a:rPr lang="en-US" sz="2400" b="1" dirty="0">
                <a:solidFill>
                  <a:schemeClr val="bg1"/>
                </a:solidFill>
                <a:latin typeface="Arial" panose="020B0604020202020204" pitchFamily="34" charset="0"/>
                <a:cs typeface="Arial" panose="020B0604020202020204" pitchFamily="34" charset="0"/>
              </a:rPr>
              <a:t> refers to an individual, group, organization that may affect by, or perceive itself to be affected by a decision, activity, </a:t>
            </a:r>
            <a:r>
              <a:rPr lang="en-US" sz="2400" b="1" dirty="0" err="1">
                <a:solidFill>
                  <a:schemeClr val="bg1"/>
                </a:solidFill>
                <a:latin typeface="Arial" panose="020B0604020202020204" pitchFamily="34" charset="0"/>
                <a:cs typeface="Arial" panose="020B0604020202020204" pitchFamily="34" charset="0"/>
              </a:rPr>
              <a:t>ot</a:t>
            </a:r>
            <a:r>
              <a:rPr lang="en-US" sz="2400" b="1" dirty="0">
                <a:solidFill>
                  <a:schemeClr val="bg1"/>
                </a:solidFill>
                <a:latin typeface="Arial" panose="020B0604020202020204" pitchFamily="34" charset="0"/>
                <a:cs typeface="Arial" panose="020B0604020202020204" pitchFamily="34" charset="0"/>
              </a:rPr>
              <a:t> outcome of a project, program, or portfolio (PMBOK 7)</a:t>
            </a:r>
          </a:p>
          <a:p>
            <a:pPr algn="just"/>
            <a:endParaRPr lang="en-US" sz="2400"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a:p>
            <a:pPr marL="457200" lvl="1" indent="0" algn="just">
              <a:buNone/>
            </a:pPr>
            <a:endParaRPr lang="en-US" b="1" dirty="0">
              <a:solidFill>
                <a:schemeClr val="bg1"/>
              </a:solidFill>
              <a:latin typeface="Arial" panose="020B0604020202020204" pitchFamily="34" charset="0"/>
              <a:cs typeface="Arial" panose="020B0604020202020204" pitchFamily="34" charset="0"/>
            </a:endParaRPr>
          </a:p>
        </p:txBody>
      </p:sp>
      <p:pic>
        <p:nvPicPr>
          <p:cNvPr id="4" name="Picture 6" descr="Stakeholder Management Is Not What You Think - Aktia Solu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4945486"/>
            <a:ext cx="10470572" cy="1691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30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ircle(in)">
                                      <p:cBhvr>
                                        <p:cTn id="1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114300"/>
            <a:ext cx="11007436" cy="72851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KINDS OF STAKEHOLDER</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889000"/>
            <a:ext cx="10661073" cy="5702300"/>
          </a:xfrm>
        </p:spPr>
        <p:txBody>
          <a:bodyPr>
            <a:normAutofit lnSpcReduction="10000"/>
          </a:bodyPr>
          <a:lstStyle/>
          <a:p>
            <a:pPr algn="just"/>
            <a:r>
              <a:rPr lang="en-US" sz="3000" b="1" dirty="0">
                <a:solidFill>
                  <a:srgbClr val="FFFF00"/>
                </a:solidFill>
                <a:latin typeface="Arial" panose="020B0604020202020204" pitchFamily="34" charset="0"/>
                <a:cs typeface="Arial" panose="020B0604020202020204" pitchFamily="34" charset="0"/>
              </a:rPr>
              <a:t>Market Stakeholders:</a:t>
            </a:r>
            <a:r>
              <a:rPr lang="en-US" sz="3000" b="1" dirty="0">
                <a:solidFill>
                  <a:schemeClr val="bg1"/>
                </a:solidFill>
                <a:latin typeface="Arial" panose="020B0604020202020204" pitchFamily="34" charset="0"/>
                <a:cs typeface="Arial" panose="020B0604020202020204" pitchFamily="34" charset="0"/>
              </a:rPr>
              <a:t> </a:t>
            </a:r>
            <a:r>
              <a:rPr lang="en-US" sz="2000" b="1" dirty="0">
                <a:solidFill>
                  <a:schemeClr val="bg1"/>
                </a:solidFill>
                <a:latin typeface="Arial" panose="020B0604020202020204" pitchFamily="34" charset="0"/>
                <a:cs typeface="Arial" panose="020B0604020202020204" pitchFamily="34" charset="0"/>
              </a:rPr>
              <a:t>Are those in economic transactions with the company as it carries out its purpose of providing society with goods and services such as:</a:t>
            </a:r>
          </a:p>
          <a:p>
            <a:pPr lvl="1" algn="just"/>
            <a:r>
              <a:rPr lang="en-US" sz="1800" b="1" dirty="0">
                <a:solidFill>
                  <a:srgbClr val="FF0000"/>
                </a:solidFill>
                <a:latin typeface="Arial" panose="020B0604020202020204" pitchFamily="34" charset="0"/>
                <a:cs typeface="Arial" panose="020B0604020202020204" pitchFamily="34" charset="0"/>
              </a:rPr>
              <a:t>Stockholders invest to receive dividends</a:t>
            </a:r>
          </a:p>
          <a:p>
            <a:pPr lvl="1" algn="just"/>
            <a:r>
              <a:rPr lang="en-US" sz="2000" b="1" dirty="0">
                <a:solidFill>
                  <a:srgbClr val="FF0000"/>
                </a:solidFill>
                <a:latin typeface="Arial" panose="020B0604020202020204" pitchFamily="34" charset="0"/>
                <a:cs typeface="Arial" panose="020B0604020202020204" pitchFamily="34" charset="0"/>
              </a:rPr>
              <a:t>Creditors loan money and collect payments of interests</a:t>
            </a:r>
          </a:p>
          <a:p>
            <a:pPr lvl="1" algn="just"/>
            <a:r>
              <a:rPr lang="en-US" sz="2000" b="1" dirty="0">
                <a:solidFill>
                  <a:srgbClr val="FF0000"/>
                </a:solidFill>
                <a:latin typeface="Arial" panose="020B0604020202020204" pitchFamily="34" charset="0"/>
                <a:cs typeface="Arial" panose="020B0604020202020204" pitchFamily="34" charset="0"/>
              </a:rPr>
              <a:t>Employees contribute their </a:t>
            </a:r>
            <a:r>
              <a:rPr lang="en-US" sz="2000" b="1" dirty="0">
                <a:solidFill>
                  <a:schemeClr val="bg1"/>
                </a:solidFill>
                <a:latin typeface="Arial" panose="020B0604020202020204" pitchFamily="34" charset="0"/>
                <a:cs typeface="Arial" panose="020B0604020202020204" pitchFamily="34" charset="0"/>
              </a:rPr>
              <a:t>skills and knowledge in exchange of wages, benefits, professional development </a:t>
            </a:r>
            <a:r>
              <a:rPr lang="en-US" sz="2000" b="1" dirty="0" err="1">
                <a:solidFill>
                  <a:schemeClr val="bg1"/>
                </a:solidFill>
                <a:latin typeface="Arial" panose="020B0604020202020204" pitchFamily="34" charset="0"/>
                <a:cs typeface="Arial" panose="020B0604020202020204" pitchFamily="34" charset="0"/>
              </a:rPr>
              <a:t>etc</a:t>
            </a:r>
            <a:endParaRPr lang="en-US" sz="2000" b="1" dirty="0">
              <a:solidFill>
                <a:schemeClr val="bg1"/>
              </a:solidFill>
              <a:latin typeface="Arial" panose="020B0604020202020204" pitchFamily="34" charset="0"/>
              <a:cs typeface="Arial" panose="020B0604020202020204" pitchFamily="34" charset="0"/>
            </a:endParaRPr>
          </a:p>
          <a:p>
            <a:pPr lvl="1" algn="just"/>
            <a:r>
              <a:rPr lang="en-US" sz="2000" b="1" dirty="0">
                <a:solidFill>
                  <a:schemeClr val="bg1"/>
                </a:solidFill>
                <a:latin typeface="Arial" panose="020B0604020202020204" pitchFamily="34" charset="0"/>
                <a:cs typeface="Arial" panose="020B0604020202020204" pitchFamily="34" charset="0"/>
              </a:rPr>
              <a:t>In return for payment, suppliers provide raw material, energy, services, finished products </a:t>
            </a:r>
            <a:r>
              <a:rPr lang="en-US" sz="2000" b="1" dirty="0" err="1">
                <a:solidFill>
                  <a:schemeClr val="bg1"/>
                </a:solidFill>
                <a:latin typeface="Arial" panose="020B0604020202020204" pitchFamily="34" charset="0"/>
                <a:cs typeface="Arial" panose="020B0604020202020204" pitchFamily="34" charset="0"/>
              </a:rPr>
              <a:t>etc</a:t>
            </a:r>
            <a:r>
              <a:rPr lang="en-US" sz="2000" b="1" dirty="0">
                <a:solidFill>
                  <a:schemeClr val="bg1"/>
                </a:solidFill>
                <a:latin typeface="Arial" panose="020B0604020202020204" pitchFamily="34" charset="0"/>
                <a:cs typeface="Arial" panose="020B0604020202020204" pitchFamily="34" charset="0"/>
              </a:rPr>
              <a:t>, wholesalers, distributors, and retailors engage in market transactions </a:t>
            </a:r>
          </a:p>
          <a:p>
            <a:pPr algn="just"/>
            <a:r>
              <a:rPr lang="en-US" sz="3000" b="1" dirty="0">
                <a:solidFill>
                  <a:srgbClr val="FFFF00"/>
                </a:solidFill>
                <a:latin typeface="Arial" panose="020B0604020202020204" pitchFamily="34" charset="0"/>
                <a:cs typeface="Arial" panose="020B0604020202020204" pitchFamily="34" charset="0"/>
              </a:rPr>
              <a:t>Non-market Stakeholders:   </a:t>
            </a:r>
            <a:r>
              <a:rPr lang="en-US" sz="2000" b="1" dirty="0">
                <a:solidFill>
                  <a:schemeClr val="bg1"/>
                </a:solidFill>
                <a:latin typeface="Arial" panose="020B0604020202020204" pitchFamily="34" charset="0"/>
                <a:cs typeface="Arial" panose="020B0604020202020204" pitchFamily="34" charset="0"/>
              </a:rPr>
              <a:t>In contrast, are people and groups who are not directly engaged in economic exchange but are affected by or can affect its actions such as :</a:t>
            </a:r>
          </a:p>
          <a:p>
            <a:pPr lvl="1" algn="just"/>
            <a:r>
              <a:rPr lang="en-US" sz="2000" b="1" dirty="0">
                <a:solidFill>
                  <a:schemeClr val="bg1"/>
                </a:solidFill>
                <a:latin typeface="Arial" panose="020B0604020202020204" pitchFamily="34" charset="0"/>
                <a:cs typeface="Arial" panose="020B0604020202020204" pitchFamily="34" charset="0"/>
              </a:rPr>
              <a:t>The Community</a:t>
            </a:r>
          </a:p>
          <a:p>
            <a:pPr lvl="1" algn="just"/>
            <a:r>
              <a:rPr lang="en-US" sz="2000" b="1" dirty="0">
                <a:solidFill>
                  <a:schemeClr val="bg1"/>
                </a:solidFill>
                <a:latin typeface="Arial" panose="020B0604020202020204" pitchFamily="34" charset="0"/>
                <a:cs typeface="Arial" panose="020B0604020202020204" pitchFamily="34" charset="0"/>
              </a:rPr>
              <a:t>Various levels of Government</a:t>
            </a:r>
          </a:p>
          <a:p>
            <a:pPr lvl="1" algn="just"/>
            <a:r>
              <a:rPr lang="en-US" sz="2000" b="1" dirty="0">
                <a:solidFill>
                  <a:schemeClr val="bg1"/>
                </a:solidFill>
                <a:latin typeface="Arial" panose="020B0604020202020204" pitchFamily="34" charset="0"/>
                <a:cs typeface="Arial" panose="020B0604020202020204" pitchFamily="34" charset="0"/>
              </a:rPr>
              <a:t>NGOs</a:t>
            </a:r>
          </a:p>
          <a:p>
            <a:pPr lvl="1" algn="just"/>
            <a:r>
              <a:rPr lang="en-US" sz="2000" b="1" dirty="0">
                <a:solidFill>
                  <a:schemeClr val="bg1"/>
                </a:solidFill>
                <a:latin typeface="Arial" panose="020B0604020202020204" pitchFamily="34" charset="0"/>
                <a:cs typeface="Arial" panose="020B0604020202020204" pitchFamily="34" charset="0"/>
              </a:rPr>
              <a:t>Competitors</a:t>
            </a:r>
          </a:p>
          <a:p>
            <a:pPr lvl="1" algn="just"/>
            <a:r>
              <a:rPr lang="en-US" sz="2000" b="1" dirty="0">
                <a:solidFill>
                  <a:schemeClr val="bg1"/>
                </a:solidFill>
                <a:latin typeface="Arial" panose="020B0604020202020204" pitchFamily="34" charset="0"/>
                <a:cs typeface="Arial" panose="020B0604020202020204" pitchFamily="34" charset="0"/>
              </a:rPr>
              <a:t>General public </a:t>
            </a:r>
            <a:r>
              <a:rPr lang="en-US" sz="2000" b="1" dirty="0" err="1">
                <a:solidFill>
                  <a:schemeClr val="bg1"/>
                </a:solidFill>
                <a:latin typeface="Arial" panose="020B0604020202020204" pitchFamily="34" charset="0"/>
                <a:cs typeface="Arial" panose="020B0604020202020204" pitchFamily="34" charset="0"/>
              </a:rPr>
              <a:t>etc</a:t>
            </a:r>
            <a:r>
              <a:rPr lang="en-US" sz="2000" b="1" dirty="0">
                <a:solidFill>
                  <a:srgbClr val="FFFF00"/>
                </a:solidFill>
                <a:latin typeface="Arial" panose="020B0604020202020204" pitchFamily="34" charset="0"/>
                <a:cs typeface="Arial" panose="020B0604020202020204" pitchFamily="34" charset="0"/>
              </a:rPr>
              <a:t>	</a:t>
            </a:r>
            <a:endParaRPr lang="en-US" sz="2000"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a:p>
            <a:pPr algn="just"/>
            <a:endParaRPr lang="en-US" sz="2000"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5046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circle(in)">
                                      <p:cBhvr>
                                        <p:cTn id="24" dur="2000"/>
                                        <p:tgtEl>
                                          <p:spTgt spid="3">
                                            <p:txEl>
                                              <p:pRg st="5" end="5"/>
                                            </p:txEl>
                                          </p:spTgt>
                                        </p:tgtEl>
                                      </p:cBhvr>
                                    </p:animEffect>
                                  </p:childTnLst>
                                </p:cTn>
                              </p:par>
                              <p:par>
                                <p:cTn id="25" presetID="6" presetClass="entr" presetSubtype="16"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circle(in)">
                                      <p:cBhvr>
                                        <p:cTn id="27" dur="2000"/>
                                        <p:tgtEl>
                                          <p:spTgt spid="3">
                                            <p:txEl>
                                              <p:pRg st="6" end="6"/>
                                            </p:txEl>
                                          </p:spTgt>
                                        </p:tgtEl>
                                      </p:cBhvr>
                                    </p:animEffect>
                                  </p:childTnLst>
                                </p:cTn>
                              </p:par>
                              <p:par>
                                <p:cTn id="28" presetID="6" presetClass="entr" presetSubtype="16"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circle(in)">
                                      <p:cBhvr>
                                        <p:cTn id="30" dur="2000"/>
                                        <p:tgtEl>
                                          <p:spTgt spid="3">
                                            <p:txEl>
                                              <p:pRg st="7" end="7"/>
                                            </p:txEl>
                                          </p:spTgt>
                                        </p:tgtEl>
                                      </p:cBhvr>
                                    </p:animEffect>
                                  </p:childTnLst>
                                </p:cTn>
                              </p:par>
                              <p:par>
                                <p:cTn id="31" presetID="6" presetClass="entr" presetSubtype="16"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circle(in)">
                                      <p:cBhvr>
                                        <p:cTn id="33" dur="2000"/>
                                        <p:tgtEl>
                                          <p:spTgt spid="3">
                                            <p:txEl>
                                              <p:pRg st="8" end="8"/>
                                            </p:txEl>
                                          </p:spTgt>
                                        </p:tgtEl>
                                      </p:cBhvr>
                                    </p:animEffect>
                                  </p:childTnLst>
                                </p:cTn>
                              </p:par>
                              <p:par>
                                <p:cTn id="34" presetID="6" presetClass="entr" presetSubtype="16"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circle(in)">
                                      <p:cBhvr>
                                        <p:cTn id="36" dur="2000"/>
                                        <p:tgtEl>
                                          <p:spTgt spid="3">
                                            <p:txEl>
                                              <p:pRg st="9" end="9"/>
                                            </p:txEl>
                                          </p:spTgt>
                                        </p:tgtEl>
                                      </p:cBhvr>
                                    </p:animEffect>
                                  </p:childTnLst>
                                </p:cTn>
                              </p:par>
                              <p:par>
                                <p:cTn id="37" presetID="6" presetClass="entr" presetSubtype="16"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circle(in)">
                                      <p:cBhvr>
                                        <p:cTn id="39"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204453"/>
            <a:ext cx="11007436" cy="72851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ANOTHER KINDS OF STAKEHOLDERS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133701"/>
            <a:ext cx="10661073" cy="2717085"/>
          </a:xfrm>
        </p:spPr>
        <p:txBody>
          <a:bodyPr>
            <a:normAutofit/>
          </a:bodyPr>
          <a:lstStyle/>
          <a:p>
            <a:pPr algn="just"/>
            <a:r>
              <a:rPr lang="en-US" sz="3000" b="1" dirty="0">
                <a:solidFill>
                  <a:srgbClr val="FFFF00"/>
                </a:solidFill>
                <a:latin typeface="Arial" panose="020B0604020202020204" pitchFamily="34" charset="0"/>
                <a:cs typeface="Arial" panose="020B0604020202020204" pitchFamily="34" charset="0"/>
              </a:rPr>
              <a:t>Internal Stakeholders:</a:t>
            </a:r>
            <a:r>
              <a:rPr lang="en-US" sz="3000" b="1" dirty="0">
                <a:solidFill>
                  <a:schemeClr val="bg1"/>
                </a:solidFill>
                <a:latin typeface="Arial" panose="020B0604020202020204" pitchFamily="34" charset="0"/>
                <a:cs typeface="Arial" panose="020B0604020202020204" pitchFamily="34" charset="0"/>
              </a:rPr>
              <a:t> </a:t>
            </a:r>
            <a:r>
              <a:rPr lang="en-US" sz="2000" b="1" dirty="0">
                <a:solidFill>
                  <a:schemeClr val="bg1"/>
                </a:solidFill>
                <a:latin typeface="Arial" panose="020B0604020202020204" pitchFamily="34" charset="0"/>
                <a:cs typeface="Arial" panose="020B0604020202020204" pitchFamily="34" charset="0"/>
              </a:rPr>
              <a:t>Are those such as employees and managers, who are employed by the firm. They are “inside’ the firm, as they contribute their effort and skill, usually at a company worksite</a:t>
            </a:r>
          </a:p>
          <a:p>
            <a:pPr algn="just"/>
            <a:endParaRPr lang="en-US" sz="2000" b="1" dirty="0">
              <a:solidFill>
                <a:schemeClr val="bg1"/>
              </a:solidFill>
              <a:latin typeface="Arial" panose="020B0604020202020204" pitchFamily="34" charset="0"/>
              <a:cs typeface="Arial" panose="020B0604020202020204" pitchFamily="34" charset="0"/>
            </a:endParaRPr>
          </a:p>
          <a:p>
            <a:pPr algn="just"/>
            <a:r>
              <a:rPr lang="en-US" sz="3000" b="1" dirty="0">
                <a:solidFill>
                  <a:srgbClr val="FFFF00"/>
                </a:solidFill>
                <a:latin typeface="Arial" panose="020B0604020202020204" pitchFamily="34" charset="0"/>
                <a:cs typeface="Arial" panose="020B0604020202020204" pitchFamily="34" charset="0"/>
              </a:rPr>
              <a:t>External Stakeholders:  </a:t>
            </a:r>
            <a:r>
              <a:rPr lang="en-US" sz="2000" b="1" dirty="0">
                <a:solidFill>
                  <a:schemeClr val="bg1"/>
                </a:solidFill>
                <a:latin typeface="Arial" panose="020B0604020202020204" pitchFamily="34" charset="0"/>
                <a:cs typeface="Arial" panose="020B0604020202020204" pitchFamily="34" charset="0"/>
              </a:rPr>
              <a:t>Are by contrast, are those who although they may have important transactions with the firm-are not directly employed by it</a:t>
            </a:r>
          </a:p>
        </p:txBody>
      </p:sp>
    </p:spTree>
    <p:extLst>
      <p:ext uri="{BB962C8B-B14F-4D97-AF65-F5344CB8AC3E}">
        <p14:creationId xmlns:p14="http://schemas.microsoft.com/office/powerpoint/2010/main" val="145206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114300"/>
            <a:ext cx="11007436" cy="72851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STAKEHOLDER ANALYSIS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089873"/>
            <a:ext cx="10834254" cy="1485900"/>
          </a:xfrm>
        </p:spPr>
        <p:txBody>
          <a:bodyPr>
            <a:normAutofit/>
          </a:bodyPr>
          <a:lstStyle/>
          <a:p>
            <a:pPr algn="just"/>
            <a:r>
              <a:rPr lang="en-US" sz="2400" b="1" dirty="0">
                <a:solidFill>
                  <a:schemeClr val="bg1"/>
                </a:solidFill>
                <a:latin typeface="Arial" panose="020B0604020202020204" pitchFamily="34" charset="0"/>
                <a:cs typeface="Arial" panose="020B0604020202020204" pitchFamily="34" charset="0"/>
              </a:rPr>
              <a:t>An important part of </a:t>
            </a:r>
            <a:r>
              <a:rPr lang="en-US" sz="2400" b="1" dirty="0">
                <a:solidFill>
                  <a:srgbClr val="FF0000"/>
                </a:solidFill>
                <a:latin typeface="Arial" panose="020B0604020202020204" pitchFamily="34" charset="0"/>
                <a:cs typeface="Arial" panose="020B0604020202020204" pitchFamily="34" charset="0"/>
              </a:rPr>
              <a:t>the modern manager’s job is to identify relevant stakeholders and to understand their interests and the power they may have to assert these interests</a:t>
            </a:r>
            <a:r>
              <a:rPr lang="en-US" sz="2400" b="1" dirty="0">
                <a:solidFill>
                  <a:schemeClr val="bg1"/>
                </a:solidFill>
                <a:latin typeface="Arial" panose="020B0604020202020204" pitchFamily="34" charset="0"/>
                <a:cs typeface="Arial" panose="020B0604020202020204" pitchFamily="34" charset="0"/>
              </a:rPr>
              <a:t>. This process is called “Stakeholder Analysis”. </a:t>
            </a:r>
          </a:p>
          <a:p>
            <a:pPr algn="just"/>
            <a:endParaRPr lang="en-US" sz="2400"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marL="0" indent="0" algn="just">
              <a:buNone/>
            </a:pPr>
            <a:endParaRPr lang="en-US" sz="2400"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algn="just"/>
            <a:endParaRPr lang="en-US" sz="24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a:p>
            <a:pPr lvl="1" algn="just"/>
            <a:endParaRPr lang="en-US" sz="2000" b="1" dirty="0">
              <a:solidFill>
                <a:schemeClr val="bg1"/>
              </a:solidFill>
              <a:latin typeface="Arial" panose="020B0604020202020204" pitchFamily="34" charset="0"/>
              <a:cs typeface="Arial" panose="020B0604020202020204" pitchFamily="34" charset="0"/>
            </a:endParaRPr>
          </a:p>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p:txBody>
      </p:sp>
      <p:pic>
        <p:nvPicPr>
          <p:cNvPr id="4" name="Picture 4" descr="Managing Stakeholders: Going Beyond Conventional Wisd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8659" y="2859111"/>
            <a:ext cx="5512158" cy="224092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159099" y="5370488"/>
            <a:ext cx="10187188" cy="1323439"/>
          </a:xfrm>
          <a:prstGeom prst="rect">
            <a:avLst/>
          </a:prstGeom>
          <a:noFill/>
        </p:spPr>
        <p:txBody>
          <a:bodyPr wrap="square" rtlCol="0">
            <a:spAutoFit/>
          </a:bodyPr>
          <a:lstStyle/>
          <a:p>
            <a:pPr algn="ctr"/>
            <a:r>
              <a:rPr lang="en-US" sz="2000" b="1" dirty="0">
                <a:solidFill>
                  <a:srgbClr val="FFFF00"/>
                </a:solidFill>
                <a:latin typeface="Arial" panose="020B0604020202020204" pitchFamily="34" charset="0"/>
                <a:cs typeface="Arial" panose="020B0604020202020204" pitchFamily="34" charset="0"/>
              </a:rPr>
              <a:t>STAKEHOLDER ANALYSIS-PMBOK 7</a:t>
            </a:r>
          </a:p>
          <a:p>
            <a:pPr algn="ctr"/>
            <a:r>
              <a:rPr lang="en-US" sz="2000" b="1" dirty="0">
                <a:solidFill>
                  <a:schemeClr val="bg1"/>
                </a:solidFill>
                <a:latin typeface="Arial" panose="020B0604020202020204" pitchFamily="34" charset="0"/>
                <a:cs typeface="Arial" panose="020B0604020202020204" pitchFamily="34" charset="0"/>
              </a:rPr>
              <a:t>A method of systematically gathering and analyzing quantitative and qualitative information to determine whose interests should be taken into account throughout the project</a:t>
            </a:r>
          </a:p>
        </p:txBody>
      </p:sp>
    </p:spTree>
    <p:extLst>
      <p:ext uri="{BB962C8B-B14F-4D97-AF65-F5344CB8AC3E}">
        <p14:creationId xmlns:p14="http://schemas.microsoft.com/office/powerpoint/2010/main" val="59537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114300"/>
            <a:ext cx="11007436" cy="72851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COMPLEX STAKEHOLDERS WEB</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889000"/>
            <a:ext cx="10661073" cy="5702300"/>
          </a:xfrm>
        </p:spPr>
        <p:txBody>
          <a:bodyPr>
            <a:normAutofit/>
          </a:bodyPr>
          <a:lstStyle/>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p:txBody>
      </p:sp>
      <p:sp>
        <p:nvSpPr>
          <p:cNvPr id="4" name="Oval 3"/>
          <p:cNvSpPr/>
          <p:nvPr/>
        </p:nvSpPr>
        <p:spPr>
          <a:xfrm>
            <a:off x="3262855" y="2625071"/>
            <a:ext cx="2897186" cy="20993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111791" y="1206500"/>
            <a:ext cx="1371600" cy="12088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022891" y="3835400"/>
            <a:ext cx="1727200" cy="149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702591" y="5092700"/>
            <a:ext cx="1358900" cy="1130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515391" y="1104900"/>
            <a:ext cx="1644650" cy="13104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144291" y="5067300"/>
            <a:ext cx="1301749" cy="1036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035801" y="1709304"/>
            <a:ext cx="1651000" cy="149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50000"/>
                </a:schemeClr>
              </a:solidFill>
            </a:endParaRPr>
          </a:p>
        </p:txBody>
      </p:sp>
      <p:sp>
        <p:nvSpPr>
          <p:cNvPr id="12" name="Oval 11"/>
          <p:cNvSpPr/>
          <p:nvPr/>
        </p:nvSpPr>
        <p:spPr>
          <a:xfrm>
            <a:off x="9980036" y="1323307"/>
            <a:ext cx="1519236" cy="149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9366791" y="3746500"/>
            <a:ext cx="1752600" cy="149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a:off x="1822991" y="2397702"/>
            <a:ext cx="38100" cy="145530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2538954" y="1612900"/>
            <a:ext cx="1976438" cy="27970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216690" y="2308602"/>
            <a:ext cx="4903367" cy="37109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4" idx="0"/>
          </p:cNvCxnSpPr>
          <p:nvPr/>
        </p:nvCxnSpPr>
        <p:spPr>
          <a:xfrm flipH="1">
            <a:off x="4711448" y="2349500"/>
            <a:ext cx="210344" cy="27557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2682625" y="3883402"/>
            <a:ext cx="1019966" cy="38395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flipV="1">
            <a:off x="2681617" y="4762652"/>
            <a:ext cx="4462674" cy="61564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6052093" y="2821907"/>
            <a:ext cx="1092198" cy="38599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5622674" y="2733264"/>
            <a:ext cx="4652758" cy="128494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7964632" y="2273388"/>
            <a:ext cx="2134082" cy="279391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flipV="1">
            <a:off x="5622673" y="3787001"/>
            <a:ext cx="3732008" cy="60929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H="1">
            <a:off x="4903138" y="5744653"/>
            <a:ext cx="21326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4578891" y="4738132"/>
            <a:ext cx="0" cy="3545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1421355" y="1612900"/>
            <a:ext cx="808035" cy="369332"/>
          </a:xfrm>
          <a:prstGeom prst="rect">
            <a:avLst/>
          </a:prstGeom>
          <a:noFill/>
        </p:spPr>
        <p:txBody>
          <a:bodyPr wrap="square" rtlCol="0">
            <a:spAutoFit/>
          </a:bodyPr>
          <a:lstStyle/>
          <a:p>
            <a:r>
              <a:rPr lang="en-US" b="1" dirty="0">
                <a:solidFill>
                  <a:srgbClr val="FFFF00"/>
                </a:solidFill>
              </a:rPr>
              <a:t>NGOs</a:t>
            </a:r>
          </a:p>
        </p:txBody>
      </p:sp>
      <p:sp>
        <p:nvSpPr>
          <p:cNvPr id="63" name="TextBox 62"/>
          <p:cNvSpPr txBox="1"/>
          <p:nvPr/>
        </p:nvSpPr>
        <p:spPr>
          <a:xfrm>
            <a:off x="4723357" y="1511300"/>
            <a:ext cx="1328736" cy="369332"/>
          </a:xfrm>
          <a:prstGeom prst="rect">
            <a:avLst/>
          </a:prstGeom>
          <a:noFill/>
        </p:spPr>
        <p:txBody>
          <a:bodyPr wrap="square" rtlCol="0">
            <a:spAutoFit/>
          </a:bodyPr>
          <a:lstStyle/>
          <a:p>
            <a:r>
              <a:rPr lang="en-US" b="1" dirty="0">
                <a:solidFill>
                  <a:schemeClr val="accent2">
                    <a:lumMod val="40000"/>
                    <a:lumOff val="60000"/>
                  </a:schemeClr>
                </a:solidFill>
              </a:rPr>
              <a:t>Employees</a:t>
            </a:r>
          </a:p>
        </p:txBody>
      </p:sp>
      <p:sp>
        <p:nvSpPr>
          <p:cNvPr id="66" name="TextBox 65"/>
          <p:cNvSpPr txBox="1"/>
          <p:nvPr/>
        </p:nvSpPr>
        <p:spPr>
          <a:xfrm>
            <a:off x="1137193" y="4254500"/>
            <a:ext cx="1536786" cy="369332"/>
          </a:xfrm>
          <a:prstGeom prst="rect">
            <a:avLst/>
          </a:prstGeom>
          <a:noFill/>
        </p:spPr>
        <p:txBody>
          <a:bodyPr wrap="square" rtlCol="0">
            <a:spAutoFit/>
          </a:bodyPr>
          <a:lstStyle/>
          <a:p>
            <a:r>
              <a:rPr lang="en-US" b="1" dirty="0">
                <a:solidFill>
                  <a:srgbClr val="FFC000"/>
                </a:solidFill>
              </a:rPr>
              <a:t>Governments</a:t>
            </a:r>
          </a:p>
        </p:txBody>
      </p:sp>
      <p:sp>
        <p:nvSpPr>
          <p:cNvPr id="68" name="TextBox 67"/>
          <p:cNvSpPr txBox="1"/>
          <p:nvPr/>
        </p:nvSpPr>
        <p:spPr>
          <a:xfrm>
            <a:off x="3785231" y="3388406"/>
            <a:ext cx="2145416" cy="461665"/>
          </a:xfrm>
          <a:prstGeom prst="rect">
            <a:avLst/>
          </a:prstGeom>
          <a:noFill/>
        </p:spPr>
        <p:txBody>
          <a:bodyPr wrap="square" rtlCol="0">
            <a:spAutoFit/>
          </a:bodyPr>
          <a:lstStyle/>
          <a:p>
            <a:r>
              <a:rPr lang="en-US" sz="2400" b="1" dirty="0">
                <a:solidFill>
                  <a:schemeClr val="accent5">
                    <a:lumMod val="50000"/>
                  </a:schemeClr>
                </a:solidFill>
              </a:rPr>
              <a:t>Business Firm</a:t>
            </a:r>
          </a:p>
        </p:txBody>
      </p:sp>
      <p:sp>
        <p:nvSpPr>
          <p:cNvPr id="69" name="TextBox 68"/>
          <p:cNvSpPr txBox="1"/>
          <p:nvPr/>
        </p:nvSpPr>
        <p:spPr>
          <a:xfrm>
            <a:off x="10209755" y="1828800"/>
            <a:ext cx="1094289" cy="369332"/>
          </a:xfrm>
          <a:prstGeom prst="rect">
            <a:avLst/>
          </a:prstGeom>
          <a:noFill/>
        </p:spPr>
        <p:txBody>
          <a:bodyPr wrap="square" rtlCol="0">
            <a:spAutoFit/>
          </a:bodyPr>
          <a:lstStyle/>
          <a:p>
            <a:r>
              <a:rPr lang="en-US" b="1" dirty="0">
                <a:solidFill>
                  <a:schemeClr val="bg1">
                    <a:lumMod val="85000"/>
                  </a:schemeClr>
                </a:solidFill>
              </a:rPr>
              <a:t>Creditors</a:t>
            </a:r>
          </a:p>
        </p:txBody>
      </p:sp>
      <p:sp>
        <p:nvSpPr>
          <p:cNvPr id="70" name="TextBox 69"/>
          <p:cNvSpPr txBox="1"/>
          <p:nvPr/>
        </p:nvSpPr>
        <p:spPr>
          <a:xfrm>
            <a:off x="7309224" y="2222500"/>
            <a:ext cx="1378746" cy="369332"/>
          </a:xfrm>
          <a:prstGeom prst="rect">
            <a:avLst/>
          </a:prstGeom>
          <a:noFill/>
        </p:spPr>
        <p:txBody>
          <a:bodyPr wrap="square" rtlCol="0">
            <a:spAutoFit/>
          </a:bodyPr>
          <a:lstStyle/>
          <a:p>
            <a:r>
              <a:rPr lang="en-US" b="1" dirty="0">
                <a:solidFill>
                  <a:schemeClr val="accent4">
                    <a:lumMod val="50000"/>
                  </a:schemeClr>
                </a:solidFill>
              </a:rPr>
              <a:t>Customers</a:t>
            </a:r>
          </a:p>
        </p:txBody>
      </p:sp>
      <p:sp>
        <p:nvSpPr>
          <p:cNvPr id="71" name="TextBox 70"/>
          <p:cNvSpPr txBox="1"/>
          <p:nvPr/>
        </p:nvSpPr>
        <p:spPr>
          <a:xfrm>
            <a:off x="3893091" y="5384800"/>
            <a:ext cx="1206499" cy="369332"/>
          </a:xfrm>
          <a:prstGeom prst="rect">
            <a:avLst/>
          </a:prstGeom>
          <a:noFill/>
        </p:spPr>
        <p:txBody>
          <a:bodyPr wrap="square" rtlCol="0">
            <a:spAutoFit/>
          </a:bodyPr>
          <a:lstStyle/>
          <a:p>
            <a:r>
              <a:rPr lang="en-US" b="1" dirty="0">
                <a:solidFill>
                  <a:schemeClr val="bg1"/>
                </a:solidFill>
              </a:rPr>
              <a:t>Suppliers</a:t>
            </a:r>
          </a:p>
        </p:txBody>
      </p:sp>
      <p:sp>
        <p:nvSpPr>
          <p:cNvPr id="72" name="TextBox 71"/>
          <p:cNvSpPr txBox="1"/>
          <p:nvPr/>
        </p:nvSpPr>
        <p:spPr>
          <a:xfrm>
            <a:off x="9879555" y="4368800"/>
            <a:ext cx="808035" cy="369332"/>
          </a:xfrm>
          <a:prstGeom prst="rect">
            <a:avLst/>
          </a:prstGeom>
          <a:noFill/>
        </p:spPr>
        <p:txBody>
          <a:bodyPr wrap="square" rtlCol="0">
            <a:spAutoFit/>
          </a:bodyPr>
          <a:lstStyle/>
          <a:p>
            <a:r>
              <a:rPr lang="en-US" b="1" dirty="0">
                <a:solidFill>
                  <a:srgbClr val="FFFF00"/>
                </a:solidFill>
              </a:rPr>
              <a:t>NGOs</a:t>
            </a:r>
          </a:p>
        </p:txBody>
      </p:sp>
      <p:sp>
        <p:nvSpPr>
          <p:cNvPr id="73" name="TextBox 72"/>
          <p:cNvSpPr txBox="1"/>
          <p:nvPr/>
        </p:nvSpPr>
        <p:spPr>
          <a:xfrm>
            <a:off x="7120057" y="5397500"/>
            <a:ext cx="1586334" cy="369332"/>
          </a:xfrm>
          <a:prstGeom prst="rect">
            <a:avLst/>
          </a:prstGeom>
          <a:noFill/>
        </p:spPr>
        <p:txBody>
          <a:bodyPr wrap="square" rtlCol="0">
            <a:spAutoFit/>
          </a:bodyPr>
          <a:lstStyle/>
          <a:p>
            <a:r>
              <a:rPr lang="en-US" b="1" dirty="0">
                <a:solidFill>
                  <a:srgbClr val="FF0000"/>
                </a:solidFill>
              </a:rPr>
              <a:t>Competitors</a:t>
            </a:r>
          </a:p>
        </p:txBody>
      </p:sp>
    </p:spTree>
    <p:extLst>
      <p:ext uri="{BB962C8B-B14F-4D97-AF65-F5344CB8AC3E}">
        <p14:creationId xmlns:p14="http://schemas.microsoft.com/office/powerpoint/2010/main" val="32837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114300"/>
            <a:ext cx="11007436" cy="72851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STAKEHOLDER ANALYSIS- 4 KEYS QUESTIONS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889000"/>
            <a:ext cx="10661073" cy="5702300"/>
          </a:xfrm>
        </p:spPr>
        <p:txBody>
          <a:bodyPr>
            <a:normAutofit/>
          </a:bodyPr>
          <a:lstStyle/>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p:txBody>
      </p:sp>
      <p:graphicFrame>
        <p:nvGraphicFramePr>
          <p:cNvPr id="4" name="Diagram 3"/>
          <p:cNvGraphicFramePr/>
          <p:nvPr>
            <p:extLst>
              <p:ext uri="{D42A27DB-BD31-4B8C-83A1-F6EECF244321}">
                <p14:modId xmlns:p14="http://schemas.microsoft.com/office/powerpoint/2010/main" val="1278770684"/>
              </p:ext>
            </p:extLst>
          </p:nvPr>
        </p:nvGraphicFramePr>
        <p:xfrm>
          <a:off x="2133600" y="1205347"/>
          <a:ext cx="78486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262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114300"/>
            <a:ext cx="11007436" cy="72851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STAKEHOLDER ANALYSIS- 4 KEYS QUESTIONS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889000"/>
            <a:ext cx="10661073" cy="5702300"/>
          </a:xfrm>
        </p:spPr>
        <p:txBody>
          <a:bodyPr>
            <a:normAutofit/>
          </a:bodyPr>
          <a:lstStyle/>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p:txBody>
      </p:sp>
      <p:graphicFrame>
        <p:nvGraphicFramePr>
          <p:cNvPr id="4" name="Diagram 3"/>
          <p:cNvGraphicFramePr/>
          <p:nvPr>
            <p:extLst>
              <p:ext uri="{D42A27DB-BD31-4B8C-83A1-F6EECF244321}">
                <p14:modId xmlns:p14="http://schemas.microsoft.com/office/powerpoint/2010/main" val="1043329714"/>
              </p:ext>
            </p:extLst>
          </p:nvPr>
        </p:nvGraphicFramePr>
        <p:xfrm>
          <a:off x="838199" y="1205347"/>
          <a:ext cx="10370127"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59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69656" y="692696"/>
            <a:ext cx="1346424" cy="792088"/>
          </a:xfrm>
        </p:spPr>
        <p:txBody>
          <a:bodyPr>
            <a:normAutofit/>
          </a:bodyPr>
          <a:lstStyle/>
          <a:p>
            <a:r>
              <a:rPr lang="en-US" sz="2800" b="1" dirty="0">
                <a:solidFill>
                  <a:srgbClr val="FFFF00"/>
                </a:solidFill>
              </a:rPr>
              <a:t>Identify</a:t>
            </a:r>
          </a:p>
        </p:txBody>
      </p:sp>
      <p:sp>
        <p:nvSpPr>
          <p:cNvPr id="4" name="Text Placeholder 2"/>
          <p:cNvSpPr txBox="1">
            <a:spLocks/>
          </p:cNvSpPr>
          <p:nvPr/>
        </p:nvSpPr>
        <p:spPr>
          <a:xfrm>
            <a:off x="8076220" y="1772816"/>
            <a:ext cx="1840512" cy="792088"/>
          </a:xfrm>
          <a:prstGeom prst="rect">
            <a:avLst/>
          </a:prstGeom>
        </p:spPr>
        <p:txBody>
          <a:bodyPr vert="horz" lIns="91440" tIns="45720" rIns="91440" bIns="45720" rtlCol="0" anchor="ctr">
            <a:normAutofit fontScale="92500"/>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9pPr>
          </a:lstStyle>
          <a:p>
            <a:r>
              <a:rPr lang="en-US" sz="2800" b="1" dirty="0">
                <a:solidFill>
                  <a:srgbClr val="FFFF00"/>
                </a:solidFill>
              </a:rPr>
              <a:t>Understand</a:t>
            </a:r>
          </a:p>
        </p:txBody>
      </p:sp>
      <p:sp>
        <p:nvSpPr>
          <p:cNvPr id="5" name="Text Placeholder 2"/>
          <p:cNvSpPr txBox="1">
            <a:spLocks/>
          </p:cNvSpPr>
          <p:nvPr/>
        </p:nvSpPr>
        <p:spPr>
          <a:xfrm>
            <a:off x="8616280" y="2780928"/>
            <a:ext cx="1080120" cy="792088"/>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9pPr>
          </a:lstStyle>
          <a:p>
            <a:endParaRPr lang="en-US" sz="2800" b="1" dirty="0"/>
          </a:p>
        </p:txBody>
      </p:sp>
      <p:sp>
        <p:nvSpPr>
          <p:cNvPr id="6" name="Text Placeholder 2"/>
          <p:cNvSpPr txBox="1">
            <a:spLocks/>
          </p:cNvSpPr>
          <p:nvPr/>
        </p:nvSpPr>
        <p:spPr>
          <a:xfrm>
            <a:off x="5303912" y="4509120"/>
            <a:ext cx="1728192" cy="792088"/>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9pPr>
          </a:lstStyle>
          <a:p>
            <a:r>
              <a:rPr lang="en-US" sz="2800" b="1" dirty="0">
                <a:solidFill>
                  <a:srgbClr val="FFFF00"/>
                </a:solidFill>
              </a:rPr>
              <a:t>Prioritize</a:t>
            </a:r>
          </a:p>
        </p:txBody>
      </p:sp>
      <p:sp>
        <p:nvSpPr>
          <p:cNvPr id="8" name="Text Placeholder 2"/>
          <p:cNvSpPr txBox="1">
            <a:spLocks/>
          </p:cNvSpPr>
          <p:nvPr/>
        </p:nvSpPr>
        <p:spPr>
          <a:xfrm>
            <a:off x="8269117" y="3196611"/>
            <a:ext cx="1660493" cy="792088"/>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9pPr>
          </a:lstStyle>
          <a:p>
            <a:r>
              <a:rPr lang="en-US" sz="2800" b="1" dirty="0">
                <a:solidFill>
                  <a:srgbClr val="FFFF00"/>
                </a:solidFill>
              </a:rPr>
              <a:t>Analyze</a:t>
            </a:r>
          </a:p>
        </p:txBody>
      </p:sp>
      <p:sp>
        <p:nvSpPr>
          <p:cNvPr id="9" name="Text Placeholder 2"/>
          <p:cNvSpPr txBox="1">
            <a:spLocks/>
          </p:cNvSpPr>
          <p:nvPr/>
        </p:nvSpPr>
        <p:spPr>
          <a:xfrm>
            <a:off x="2711624" y="3284984"/>
            <a:ext cx="1944216" cy="792088"/>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9pPr>
          </a:lstStyle>
          <a:p>
            <a:r>
              <a:rPr lang="en-US" sz="2800" b="1" dirty="0">
                <a:solidFill>
                  <a:srgbClr val="FFFF00"/>
                </a:solidFill>
              </a:rPr>
              <a:t>Engage</a:t>
            </a:r>
          </a:p>
        </p:txBody>
      </p:sp>
      <p:sp>
        <p:nvSpPr>
          <p:cNvPr id="10" name="Text Placeholder 2"/>
          <p:cNvSpPr txBox="1">
            <a:spLocks/>
          </p:cNvSpPr>
          <p:nvPr/>
        </p:nvSpPr>
        <p:spPr>
          <a:xfrm>
            <a:off x="2701092" y="1556791"/>
            <a:ext cx="1420146" cy="792088"/>
          </a:xfrm>
          <a:prstGeom prst="rect">
            <a:avLst/>
          </a:prstGeom>
        </p:spPr>
        <p:txBody>
          <a:bodyPr vert="horz" lIns="91440" tIns="45720" rIns="91440" bIns="45720" rtlCol="0" anchor="ctr">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Font typeface="Wingdings 3" charset="2"/>
              <a:buNone/>
              <a:defRPr sz="1800" kern="1200">
                <a:solidFill>
                  <a:schemeClr val="tx1">
                    <a:tint val="7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9pPr>
          </a:lstStyle>
          <a:p>
            <a:r>
              <a:rPr lang="en-US" sz="2800" b="1" dirty="0">
                <a:solidFill>
                  <a:srgbClr val="FFFF00"/>
                </a:solidFill>
              </a:rPr>
              <a:t>Monitor</a:t>
            </a:r>
          </a:p>
        </p:txBody>
      </p:sp>
      <p:sp>
        <p:nvSpPr>
          <p:cNvPr id="11" name="Oval 10"/>
          <p:cNvSpPr/>
          <p:nvPr/>
        </p:nvSpPr>
        <p:spPr>
          <a:xfrm>
            <a:off x="4871864" y="2595696"/>
            <a:ext cx="2952328" cy="13373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2207207">
            <a:off x="7295462" y="1145568"/>
            <a:ext cx="1013886" cy="432048"/>
          </a:xfrm>
          <a:prstGeom prst="rightArrow">
            <a:avLst>
              <a:gd name="adj1" fmla="val 4180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8904312" y="2348879"/>
            <a:ext cx="360040" cy="10640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Left Arrow 15"/>
          <p:cNvSpPr/>
          <p:nvPr/>
        </p:nvSpPr>
        <p:spPr>
          <a:xfrm rot="19233206">
            <a:off x="7419585" y="4279375"/>
            <a:ext cx="1317017" cy="36004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Up Arrow 16"/>
          <p:cNvSpPr/>
          <p:nvPr/>
        </p:nvSpPr>
        <p:spPr>
          <a:xfrm rot="18353284">
            <a:off x="4078794" y="3842130"/>
            <a:ext cx="352147" cy="119007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Up Arrow 17"/>
          <p:cNvSpPr/>
          <p:nvPr/>
        </p:nvSpPr>
        <p:spPr>
          <a:xfrm>
            <a:off x="3047686" y="2420887"/>
            <a:ext cx="365215" cy="99201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524258" y="5718220"/>
            <a:ext cx="7172141" cy="830997"/>
          </a:xfrm>
          <a:prstGeom prst="rect">
            <a:avLst/>
          </a:prstGeom>
          <a:noFill/>
        </p:spPr>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“Navigating Effective Stakeholder Engagement”</a:t>
            </a:r>
          </a:p>
          <a:p>
            <a:pPr algn="ctr"/>
            <a:r>
              <a:rPr lang="en-US" sz="2400" b="1" dirty="0">
                <a:solidFill>
                  <a:srgbClr val="FFFF00"/>
                </a:solidFill>
                <a:latin typeface="Arial" panose="020B0604020202020204" pitchFamily="34" charset="0"/>
                <a:cs typeface="Arial" panose="020B0604020202020204" pitchFamily="34" charset="0"/>
              </a:rPr>
              <a:t>(PMBOK-7)</a:t>
            </a:r>
          </a:p>
        </p:txBody>
      </p:sp>
      <p:sp>
        <p:nvSpPr>
          <p:cNvPr id="22" name="Up Arrow 21"/>
          <p:cNvSpPr/>
          <p:nvPr/>
        </p:nvSpPr>
        <p:spPr>
          <a:xfrm rot="3884434">
            <a:off x="4243272" y="834638"/>
            <a:ext cx="365215" cy="99201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92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nodePh="1">
                                  <p:stCondLst>
                                    <p:cond delay="0"/>
                                  </p:stCondLst>
                                  <p:endCondLst>
                                    <p:cond evt="begin" delay="0">
                                      <p:tn val="23"/>
                                    </p:cond>
                                  </p:end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down)">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down)">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animEffect transition="in" filter="wipe(down)">
                                      <p:cBhvr>
                                        <p:cTn id="47" dur="500"/>
                                        <p:tgtEl>
                                          <p:spTgt spid="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down)">
                                      <p:cBhvr>
                                        <p:cTn id="56" dur="5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10" grpId="0"/>
      <p:bldP spid="12" grpId="0" animBg="1"/>
      <p:bldP spid="14" grpId="0" animBg="1"/>
      <p:bldP spid="16" grpId="0" animBg="1"/>
      <p:bldP spid="17" grpId="0" animBg="1"/>
      <p:bldP spid="18" grpId="0" animBg="1"/>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2744" y="184593"/>
            <a:ext cx="7186410" cy="729803"/>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STAKEHOLDER SATISFACTION</a:t>
            </a:r>
          </a:p>
        </p:txBody>
      </p:sp>
      <p:sp>
        <p:nvSpPr>
          <p:cNvPr id="4" name="TextBox 3"/>
          <p:cNvSpPr txBox="1"/>
          <p:nvPr/>
        </p:nvSpPr>
        <p:spPr>
          <a:xfrm>
            <a:off x="391613" y="1210614"/>
            <a:ext cx="10529672" cy="5324535"/>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1"/>
                </a:solidFill>
                <a:latin typeface="Arial" panose="020B0604020202020204" pitchFamily="34" charset="0"/>
                <a:cs typeface="Arial" panose="020B0604020202020204" pitchFamily="34" charset="0"/>
              </a:rPr>
              <a:t>Net Promoter Score – NPS measures the degree to which a stakeholder (customer) is willing to recommend a product or service to others (Range from -100 to + 100)</a:t>
            </a:r>
          </a:p>
          <a:p>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b="1" dirty="0">
                <a:solidFill>
                  <a:schemeClr val="bg1"/>
                </a:solidFill>
                <a:latin typeface="Arial" panose="020B0604020202020204" pitchFamily="34" charset="0"/>
                <a:cs typeface="Arial" panose="020B0604020202020204" pitchFamily="34" charset="0"/>
              </a:rPr>
              <a:t>Mood Chart</a:t>
            </a: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b="1" dirty="0">
                <a:solidFill>
                  <a:schemeClr val="bg1"/>
                </a:solidFill>
                <a:latin typeface="Arial" panose="020B0604020202020204" pitchFamily="34" charset="0"/>
                <a:cs typeface="Arial" panose="020B0604020202020204" pitchFamily="34" charset="0"/>
              </a:rPr>
              <a:t>Morale</a:t>
            </a:r>
          </a:p>
          <a:p>
            <a:pPr marL="285750" indent="-285750">
              <a:buFont typeface="Arial" panose="020B0604020202020204" pitchFamily="34" charset="0"/>
              <a:buChar char="•"/>
            </a:pPr>
            <a:endParaRPr lang="en-US" sz="2000" b="1"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b="1" dirty="0">
                <a:solidFill>
                  <a:schemeClr val="bg1"/>
                </a:solidFill>
                <a:latin typeface="Arial" panose="020B0604020202020204" pitchFamily="34" charset="0"/>
                <a:cs typeface="Arial" panose="020B0604020202020204" pitchFamily="34" charset="0"/>
              </a:rPr>
              <a:t>Turnover</a:t>
            </a:r>
          </a:p>
        </p:txBody>
      </p:sp>
      <p:graphicFrame>
        <p:nvGraphicFramePr>
          <p:cNvPr id="6" name="Table 5"/>
          <p:cNvGraphicFramePr>
            <a:graphicFrameLocks noGrp="1"/>
          </p:cNvGraphicFramePr>
          <p:nvPr>
            <p:extLst>
              <p:ext uri="{D42A27DB-BD31-4B8C-83A1-F6EECF244321}">
                <p14:modId xmlns:p14="http://schemas.microsoft.com/office/powerpoint/2010/main" val="715789897"/>
              </p:ext>
            </p:extLst>
          </p:nvPr>
        </p:nvGraphicFramePr>
        <p:xfrm>
          <a:off x="2305320" y="2163651"/>
          <a:ext cx="9298547" cy="3392030"/>
        </p:xfrm>
        <a:graphic>
          <a:graphicData uri="http://schemas.openxmlformats.org/drawingml/2006/table">
            <a:tbl>
              <a:tblPr firstRow="1" bandRow="1">
                <a:tableStyleId>{5C22544A-7EE6-4342-B048-85BDC9FD1C3A}</a:tableStyleId>
              </a:tblPr>
              <a:tblGrid>
                <a:gridCol w="1159098">
                  <a:extLst>
                    <a:ext uri="{9D8B030D-6E8A-4147-A177-3AD203B41FA5}">
                      <a16:colId xmlns:a16="http://schemas.microsoft.com/office/drawing/2014/main" val="20000"/>
                    </a:ext>
                  </a:extLst>
                </a:gridCol>
                <a:gridCol w="1017431">
                  <a:extLst>
                    <a:ext uri="{9D8B030D-6E8A-4147-A177-3AD203B41FA5}">
                      <a16:colId xmlns:a16="http://schemas.microsoft.com/office/drawing/2014/main" val="20001"/>
                    </a:ext>
                  </a:extLst>
                </a:gridCol>
                <a:gridCol w="1107583">
                  <a:extLst>
                    <a:ext uri="{9D8B030D-6E8A-4147-A177-3AD203B41FA5}">
                      <a16:colId xmlns:a16="http://schemas.microsoft.com/office/drawing/2014/main" val="20002"/>
                    </a:ext>
                  </a:extLst>
                </a:gridCol>
                <a:gridCol w="1056067">
                  <a:extLst>
                    <a:ext uri="{9D8B030D-6E8A-4147-A177-3AD203B41FA5}">
                      <a16:colId xmlns:a16="http://schemas.microsoft.com/office/drawing/2014/main" val="20003"/>
                    </a:ext>
                  </a:extLst>
                </a:gridCol>
                <a:gridCol w="1292326">
                  <a:extLst>
                    <a:ext uri="{9D8B030D-6E8A-4147-A177-3AD203B41FA5}">
                      <a16:colId xmlns:a16="http://schemas.microsoft.com/office/drawing/2014/main" val="20004"/>
                    </a:ext>
                  </a:extLst>
                </a:gridCol>
                <a:gridCol w="1292245">
                  <a:extLst>
                    <a:ext uri="{9D8B030D-6E8A-4147-A177-3AD203B41FA5}">
                      <a16:colId xmlns:a16="http://schemas.microsoft.com/office/drawing/2014/main" val="20005"/>
                    </a:ext>
                  </a:extLst>
                </a:gridCol>
                <a:gridCol w="969183">
                  <a:extLst>
                    <a:ext uri="{9D8B030D-6E8A-4147-A177-3AD203B41FA5}">
                      <a16:colId xmlns:a16="http://schemas.microsoft.com/office/drawing/2014/main" val="20006"/>
                    </a:ext>
                  </a:extLst>
                </a:gridCol>
                <a:gridCol w="1404614">
                  <a:extLst>
                    <a:ext uri="{9D8B030D-6E8A-4147-A177-3AD203B41FA5}">
                      <a16:colId xmlns:a16="http://schemas.microsoft.com/office/drawing/2014/main" val="20007"/>
                    </a:ext>
                  </a:extLst>
                </a:gridCol>
              </a:tblGrid>
              <a:tr h="678406">
                <a:tc>
                  <a:txBody>
                    <a:bodyPr/>
                    <a:lstStyle/>
                    <a:p>
                      <a:endParaRPr lang="en-US" dirty="0"/>
                    </a:p>
                  </a:txBody>
                  <a:tcPr/>
                </a:tc>
                <a:tc>
                  <a:txBody>
                    <a:bodyPr/>
                    <a:lstStyle/>
                    <a:p>
                      <a:r>
                        <a:rPr lang="en-US" dirty="0"/>
                        <a:t>Sunday</a:t>
                      </a:r>
                    </a:p>
                  </a:txBody>
                  <a:tcPr/>
                </a:tc>
                <a:tc>
                  <a:txBody>
                    <a:bodyPr/>
                    <a:lstStyle/>
                    <a:p>
                      <a:r>
                        <a:rPr lang="en-US" dirty="0"/>
                        <a:t>Monday</a:t>
                      </a:r>
                    </a:p>
                  </a:txBody>
                  <a:tcPr/>
                </a:tc>
                <a:tc>
                  <a:txBody>
                    <a:bodyPr/>
                    <a:lstStyle/>
                    <a:p>
                      <a:r>
                        <a:rPr lang="en-US" dirty="0"/>
                        <a:t>Tuesday</a:t>
                      </a:r>
                    </a:p>
                  </a:txBody>
                  <a:tcPr/>
                </a:tc>
                <a:tc>
                  <a:txBody>
                    <a:bodyPr/>
                    <a:lstStyle/>
                    <a:p>
                      <a:r>
                        <a:rPr lang="en-US" dirty="0"/>
                        <a:t>Wednesday</a:t>
                      </a:r>
                    </a:p>
                  </a:txBody>
                  <a:tcPr/>
                </a:tc>
                <a:tc>
                  <a:txBody>
                    <a:bodyPr/>
                    <a:lstStyle/>
                    <a:p>
                      <a:r>
                        <a:rPr lang="en-US" dirty="0"/>
                        <a:t>Thursday</a:t>
                      </a:r>
                    </a:p>
                  </a:txBody>
                  <a:tcPr/>
                </a:tc>
                <a:tc>
                  <a:txBody>
                    <a:bodyPr/>
                    <a:lstStyle/>
                    <a:p>
                      <a:r>
                        <a:rPr lang="en-US" dirty="0"/>
                        <a:t>Friday</a:t>
                      </a:r>
                    </a:p>
                  </a:txBody>
                  <a:tcPr/>
                </a:tc>
                <a:tc>
                  <a:txBody>
                    <a:bodyPr/>
                    <a:lstStyle/>
                    <a:p>
                      <a:r>
                        <a:rPr lang="en-US" dirty="0"/>
                        <a:t>Saturday</a:t>
                      </a:r>
                    </a:p>
                    <a:p>
                      <a:endParaRPr lang="en-US" dirty="0"/>
                    </a:p>
                  </a:txBody>
                  <a:tcPr/>
                </a:tc>
                <a:extLst>
                  <a:ext uri="{0D108BD9-81ED-4DB2-BD59-A6C34878D82A}">
                    <a16:rowId xmlns:a16="http://schemas.microsoft.com/office/drawing/2014/main" val="10000"/>
                  </a:ext>
                </a:extLst>
              </a:tr>
              <a:tr h="678406">
                <a:tc>
                  <a:txBody>
                    <a:bodyPr/>
                    <a:lstStyle/>
                    <a:p>
                      <a:r>
                        <a:rPr lang="en-US" dirty="0" err="1"/>
                        <a:t>Owais</a:t>
                      </a:r>
                      <a:r>
                        <a:rPr lang="en-US" dirty="0"/>
                        <a:t> Khan</a:t>
                      </a:r>
                    </a:p>
                  </a:txBody>
                  <a:tcPr/>
                </a:tc>
                <a:tc>
                  <a:txBody>
                    <a:bodyPr/>
                    <a:lstStyle/>
                    <a:p>
                      <a:endParaRPr lang="en-US" dirty="0"/>
                    </a:p>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1"/>
                  </a:ext>
                </a:extLst>
              </a:tr>
              <a:tr h="678406">
                <a:tc>
                  <a:txBody>
                    <a:bodyPr/>
                    <a:lstStyle/>
                    <a:p>
                      <a:r>
                        <a:rPr lang="en-US" dirty="0" err="1"/>
                        <a:t>Pakiza</a:t>
                      </a:r>
                      <a:endParaRPr lang="en-US" dirty="0"/>
                    </a:p>
                    <a:p>
                      <a:r>
                        <a:rPr lang="en-US" dirty="0"/>
                        <a:t>Khan</a:t>
                      </a:r>
                    </a:p>
                  </a:txBody>
                  <a:tcPr/>
                </a:tc>
                <a:tc>
                  <a:txBody>
                    <a:bodyPr/>
                    <a:lstStyle/>
                    <a:p>
                      <a:endParaRPr lang="en-US" dirty="0"/>
                    </a:p>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678406">
                <a:tc>
                  <a:txBody>
                    <a:bodyPr/>
                    <a:lstStyle/>
                    <a:p>
                      <a:r>
                        <a:rPr lang="en-US" dirty="0" err="1"/>
                        <a:t>Umair</a:t>
                      </a:r>
                      <a:endParaRPr lang="en-US" dirty="0"/>
                    </a:p>
                    <a:p>
                      <a:r>
                        <a:rPr lang="en-US" dirty="0"/>
                        <a:t>Khan</a:t>
                      </a:r>
                    </a:p>
                  </a:txBody>
                  <a:tcPr/>
                </a:tc>
                <a:tc>
                  <a:txBody>
                    <a:bodyPr/>
                    <a:lstStyle/>
                    <a:p>
                      <a:endParaRPr lang="en-US" dirty="0"/>
                    </a:p>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678406">
                <a:tc>
                  <a:txBody>
                    <a:bodyPr/>
                    <a:lstStyle/>
                    <a:p>
                      <a:r>
                        <a:rPr lang="en-US" dirty="0"/>
                        <a:t>Adnan</a:t>
                      </a:r>
                    </a:p>
                    <a:p>
                      <a:r>
                        <a:rPr lang="en-US" dirty="0"/>
                        <a:t>Khan</a:t>
                      </a:r>
                    </a:p>
                  </a:txBody>
                  <a:tcPr/>
                </a:tc>
                <a:tc>
                  <a:txBody>
                    <a:bodyPr/>
                    <a:lstStyle/>
                    <a:p>
                      <a:endParaRPr lang="en-US" dirty="0"/>
                    </a:p>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pic>
        <p:nvPicPr>
          <p:cNvPr id="1026" name="Picture 2" descr="Emoji | Definition, Examples, History, &amp; Facts | Britannic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64067" y="2879826"/>
            <a:ext cx="715618" cy="5565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ere are the 10 most used Emojis in 20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5091" y="3606832"/>
            <a:ext cx="687628" cy="54561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mojihub 😀 - All Emojis To Copy And Past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04225" y="4256937"/>
            <a:ext cx="715618" cy="5708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15 Facts You Never Knew About Emojis | NC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67797" y="4995043"/>
            <a:ext cx="583098" cy="4378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ere are the 10 most used Emojis in 202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77431" y="2886828"/>
            <a:ext cx="800643" cy="5456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ad Face Emoji Vector Art, Icons, and Graphics for Free Download"/>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89450" y="3593953"/>
            <a:ext cx="800642" cy="53349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moji Anger Smiley Emoticon Icon PNG - Free Download | Emoji, Angry emoji,  Emotico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11668" y="4248064"/>
            <a:ext cx="898339" cy="45076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oker Face Emoji Stock Illustrations – 98 Poker Face Emoji Stock  Illustrations, Vectors &amp; Clipart - Dreamstim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05345" y="4927566"/>
            <a:ext cx="695458" cy="4944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arty All Night | ID#: 240 | Funny Emoticons"/>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06085" y="2781834"/>
            <a:ext cx="759855" cy="69883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6" descr="Party All Night | ID#: 240 | Funny Emoticons"/>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42574" y="3449392"/>
            <a:ext cx="759855" cy="69883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arty All Night | ID#: 240 | Funny Emoticons"/>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81211" y="4927566"/>
            <a:ext cx="684729" cy="58581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6" descr="Party All Night | ID#: 240 | Funny Emoticons"/>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81211" y="4256937"/>
            <a:ext cx="592428" cy="586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395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017" y="2175161"/>
            <a:ext cx="11007436" cy="1330036"/>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PROJECT STAKEHOLDER MANAGEMENT</a:t>
            </a:r>
            <a:br>
              <a:rPr lang="en-US" sz="3600" b="1" dirty="0">
                <a:solidFill>
                  <a:srgbClr val="FFFF00"/>
                </a:solidFill>
                <a:latin typeface="Arial" panose="020B0604020202020204" pitchFamily="34" charset="0"/>
                <a:cs typeface="Arial" panose="020B0604020202020204" pitchFamily="34" charset="0"/>
              </a:rPr>
            </a:br>
            <a:r>
              <a:rPr lang="en-US" sz="3600" b="1" dirty="0">
                <a:solidFill>
                  <a:srgbClr val="FFFF00"/>
                </a:solidFill>
                <a:latin typeface="Arial" panose="020B0604020202020204" pitchFamily="34" charset="0"/>
                <a:cs typeface="Arial" panose="020B0604020202020204" pitchFamily="34" charset="0"/>
              </a:rPr>
              <a:t>(PMBOK-6 GUIDELINES)</a:t>
            </a:r>
            <a:endParaRPr lang="en-US" sz="3600"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056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9705"/>
            <a:ext cx="11007436" cy="964911"/>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PROJECT STAKEHOLDER MANAGEMENT</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330036"/>
            <a:ext cx="10661073" cy="5375564"/>
          </a:xfrm>
        </p:spPr>
        <p:txBody>
          <a:bodyPr>
            <a:normAutofit/>
          </a:bodyPr>
          <a:lstStyle/>
          <a:p>
            <a:pPr algn="just"/>
            <a:r>
              <a:rPr lang="en-US" b="1" dirty="0">
                <a:solidFill>
                  <a:srgbClr val="FFFF00"/>
                </a:solidFill>
                <a:latin typeface="Arial" panose="020B0604020202020204" pitchFamily="34" charset="0"/>
                <a:cs typeface="Arial" panose="020B0604020202020204" pitchFamily="34" charset="0"/>
              </a:rPr>
              <a:t>Includes:</a:t>
            </a:r>
          </a:p>
          <a:p>
            <a:pPr lvl="1" algn="just"/>
            <a:r>
              <a:rPr lang="en-US" b="1" dirty="0">
                <a:solidFill>
                  <a:schemeClr val="bg1"/>
                </a:solidFill>
                <a:latin typeface="Arial" panose="020B0604020202020204" pitchFamily="34" charset="0"/>
                <a:cs typeface="Arial" panose="020B0604020202020204" pitchFamily="34" charset="0"/>
              </a:rPr>
              <a:t>The processes required to identify the people, groups, or organizations that could impact or be impacted by the project</a:t>
            </a:r>
          </a:p>
          <a:p>
            <a:pPr lvl="1" algn="just"/>
            <a:endParaRPr lang="en-US" b="1" dirty="0">
              <a:solidFill>
                <a:schemeClr val="bg1"/>
              </a:solidFill>
              <a:latin typeface="Arial" panose="020B0604020202020204" pitchFamily="34" charset="0"/>
              <a:cs typeface="Arial" panose="020B0604020202020204" pitchFamily="34" charset="0"/>
            </a:endParaRPr>
          </a:p>
          <a:p>
            <a:pPr lvl="1" algn="just"/>
            <a:r>
              <a:rPr lang="en-US" b="1" dirty="0">
                <a:solidFill>
                  <a:schemeClr val="bg1"/>
                </a:solidFill>
                <a:latin typeface="Arial" panose="020B0604020202020204" pitchFamily="34" charset="0"/>
                <a:cs typeface="Arial" panose="020B0604020202020204" pitchFamily="34" charset="0"/>
              </a:rPr>
              <a:t>To analyze stakeholder expectations and their impact on the project, and</a:t>
            </a:r>
          </a:p>
          <a:p>
            <a:pPr lvl="1" algn="just"/>
            <a:endParaRPr lang="en-US" b="1" dirty="0">
              <a:solidFill>
                <a:schemeClr val="bg1"/>
              </a:solidFill>
              <a:latin typeface="Arial" panose="020B0604020202020204" pitchFamily="34" charset="0"/>
              <a:cs typeface="Arial" panose="020B0604020202020204" pitchFamily="34" charset="0"/>
            </a:endParaRPr>
          </a:p>
          <a:p>
            <a:pPr lvl="1" algn="just"/>
            <a:r>
              <a:rPr lang="en-US" b="1" dirty="0">
                <a:solidFill>
                  <a:schemeClr val="bg1"/>
                </a:solidFill>
                <a:latin typeface="Arial" panose="020B0604020202020204" pitchFamily="34" charset="0"/>
                <a:cs typeface="Arial" panose="020B0604020202020204" pitchFamily="34" charset="0"/>
              </a:rPr>
              <a:t>To develop appropriate management strategies for effectively engaging stakeholders in project decisions and executions</a:t>
            </a:r>
          </a:p>
          <a:p>
            <a:pPr lvl="1" algn="just"/>
            <a:endParaRPr lang="en-US"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511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010"/>
            <a:ext cx="11007436" cy="743245"/>
          </a:xfrm>
        </p:spPr>
        <p:txBody>
          <a:bodyPr>
            <a:normAutofit fontScale="90000"/>
          </a:bodyPr>
          <a:lstStyle/>
          <a:p>
            <a:pPr algn="ctr"/>
            <a:r>
              <a:rPr lang="en-US" sz="3600" b="1" dirty="0">
                <a:solidFill>
                  <a:srgbClr val="FFFF00"/>
                </a:solidFill>
                <a:latin typeface="Arial" panose="020B0604020202020204" pitchFamily="34" charset="0"/>
                <a:cs typeface="Arial" panose="020B0604020202020204" pitchFamily="34" charset="0"/>
              </a:rPr>
              <a:t>PROJECT STAKEHOLDER MANAGEMENT PROCESSES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066800"/>
            <a:ext cx="10661073" cy="5638800"/>
          </a:xfrm>
        </p:spPr>
        <p:txBody>
          <a:bodyPr>
            <a:normAutofit fontScale="92500" lnSpcReduction="10000"/>
          </a:bodyPr>
          <a:lstStyle/>
          <a:p>
            <a:pPr algn="just"/>
            <a:r>
              <a:rPr lang="en-US" b="1" dirty="0">
                <a:solidFill>
                  <a:srgbClr val="FFFF00"/>
                </a:solidFill>
                <a:latin typeface="Arial" panose="020B0604020202020204" pitchFamily="34" charset="0"/>
                <a:cs typeface="Arial" panose="020B0604020202020204" pitchFamily="34" charset="0"/>
              </a:rPr>
              <a:t>13.1  Identify Stakeholders – </a:t>
            </a:r>
            <a:r>
              <a:rPr lang="en-US" sz="2000" b="1" dirty="0">
                <a:solidFill>
                  <a:schemeClr val="bg1"/>
                </a:solidFill>
                <a:latin typeface="Arial" panose="020B0604020202020204" pitchFamily="34" charset="0"/>
                <a:cs typeface="Arial" panose="020B0604020202020204" pitchFamily="34" charset="0"/>
              </a:rPr>
              <a:t>The process of identifying stakeholders regularly and </a:t>
            </a:r>
            <a:r>
              <a:rPr lang="en-US" sz="2000" b="1" dirty="0">
                <a:solidFill>
                  <a:srgbClr val="FF0000"/>
                </a:solidFill>
                <a:latin typeface="Arial" panose="020B0604020202020204" pitchFamily="34" charset="0"/>
                <a:cs typeface="Arial" panose="020B0604020202020204" pitchFamily="34" charset="0"/>
              </a:rPr>
              <a:t>analyzing and documenting relevant information </a:t>
            </a:r>
            <a:r>
              <a:rPr lang="en-US" sz="2000" b="1" dirty="0">
                <a:solidFill>
                  <a:schemeClr val="bg1"/>
                </a:solidFill>
                <a:latin typeface="Arial" panose="020B0604020202020204" pitchFamily="34" charset="0"/>
                <a:cs typeface="Arial" panose="020B0604020202020204" pitchFamily="34" charset="0"/>
              </a:rPr>
              <a:t>regarding their interests, involvement, interdependencies, influence, and potential impact on project success</a:t>
            </a:r>
          </a:p>
          <a:p>
            <a:pPr algn="just"/>
            <a:endParaRPr lang="en-US" b="1" dirty="0">
              <a:solidFill>
                <a:srgbClr val="FFFF00"/>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13.2	   Plan Stakeholder Engagement – </a:t>
            </a:r>
            <a:r>
              <a:rPr lang="en-US" sz="2000" b="1" dirty="0">
                <a:solidFill>
                  <a:schemeClr val="bg1"/>
                </a:solidFill>
                <a:latin typeface="Arial" panose="020B0604020202020204" pitchFamily="34" charset="0"/>
                <a:cs typeface="Arial" panose="020B0604020202020204" pitchFamily="34" charset="0"/>
              </a:rPr>
              <a:t>The process of developing approaches to involve project stakeholders</a:t>
            </a:r>
            <a:r>
              <a:rPr lang="en-US" sz="2000" b="1" dirty="0">
                <a:solidFill>
                  <a:srgbClr val="FF0000"/>
                </a:solidFill>
                <a:latin typeface="Arial" panose="020B0604020202020204" pitchFamily="34" charset="0"/>
                <a:cs typeface="Arial" panose="020B0604020202020204" pitchFamily="34" charset="0"/>
              </a:rPr>
              <a:t> based on their needs, expectations, interests, and potential impact on the project</a:t>
            </a:r>
          </a:p>
          <a:p>
            <a:pPr algn="just"/>
            <a:endParaRPr lang="en-US" b="1" dirty="0">
              <a:solidFill>
                <a:srgbClr val="FFFF00"/>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13.3	   Manage Stakeholder Engagement – </a:t>
            </a:r>
            <a:r>
              <a:rPr lang="en-US" sz="2200" b="1" dirty="0">
                <a:solidFill>
                  <a:schemeClr val="bg1"/>
                </a:solidFill>
                <a:latin typeface="Arial" panose="020B0604020202020204" pitchFamily="34" charset="0"/>
                <a:cs typeface="Arial" panose="020B0604020202020204" pitchFamily="34" charset="0"/>
              </a:rPr>
              <a:t>The process of communicating and working with stakeholders to meet their needs and </a:t>
            </a:r>
            <a:r>
              <a:rPr lang="en-US" sz="2200" b="1" dirty="0">
                <a:solidFill>
                  <a:srgbClr val="FF0000"/>
                </a:solidFill>
                <a:latin typeface="Arial" panose="020B0604020202020204" pitchFamily="34" charset="0"/>
                <a:cs typeface="Arial" panose="020B0604020202020204" pitchFamily="34" charset="0"/>
              </a:rPr>
              <a:t>expectations, address issues, and foster appropriate stakeholder engagement involvement</a:t>
            </a:r>
          </a:p>
          <a:p>
            <a:pPr algn="just"/>
            <a:endParaRPr lang="en-US" b="1" dirty="0">
              <a:solidFill>
                <a:srgbClr val="FFFF00"/>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13.4  Monitor Stakeholder Engagement – </a:t>
            </a:r>
            <a:r>
              <a:rPr lang="en-US" sz="2200" b="1" dirty="0">
                <a:solidFill>
                  <a:schemeClr val="bg1"/>
                </a:solidFill>
                <a:latin typeface="Arial" panose="020B0604020202020204" pitchFamily="34" charset="0"/>
                <a:cs typeface="Arial" panose="020B0604020202020204" pitchFamily="34" charset="0"/>
              </a:rPr>
              <a:t>The process of monitoring stakeholder relationships and </a:t>
            </a:r>
            <a:r>
              <a:rPr lang="en-US" sz="2200" b="1" dirty="0">
                <a:solidFill>
                  <a:srgbClr val="FF0000"/>
                </a:solidFill>
                <a:latin typeface="Arial" panose="020B0604020202020204" pitchFamily="34" charset="0"/>
                <a:cs typeface="Arial" panose="020B0604020202020204" pitchFamily="34" charset="0"/>
              </a:rPr>
              <a:t>tailoring strategies for engaging stakeholders through the modification or engagement strategies and plans</a:t>
            </a:r>
          </a:p>
          <a:p>
            <a:pPr lvl="1" algn="just"/>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585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ircle(in)">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circle(in)">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1055" y="105202"/>
            <a:ext cx="11720945" cy="587494"/>
          </a:xfrm>
          <a:ln>
            <a:solidFill>
              <a:schemeClr val="tx1"/>
            </a:solidFill>
          </a:ln>
        </p:spPr>
        <p:txBody>
          <a:bodyPr>
            <a:noAutofit/>
          </a:bodyPr>
          <a:lstStyle/>
          <a:p>
            <a:pPr algn="ctr"/>
            <a:r>
              <a:rPr lang="en-GB" sz="3200" b="1" dirty="0">
                <a:solidFill>
                  <a:srgbClr val="FFFF00"/>
                </a:solidFill>
                <a:latin typeface="Arial" pitchFamily="34" charset="0"/>
                <a:cs typeface="Arial" pitchFamily="34" charset="0"/>
              </a:rPr>
              <a:t>PROJECT STAKEHOLDER MANAGEMENT OVERVIEW</a:t>
            </a:r>
          </a:p>
        </p:txBody>
      </p:sp>
      <p:sp>
        <p:nvSpPr>
          <p:cNvPr id="5" name="Rectangle 4"/>
          <p:cNvSpPr/>
          <p:nvPr/>
        </p:nvSpPr>
        <p:spPr>
          <a:xfrm>
            <a:off x="348807" y="1208182"/>
            <a:ext cx="2664296" cy="53171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chemeClr val="tx1"/>
              </a:solidFill>
              <a:latin typeface="Arial" pitchFamily="34" charset="0"/>
              <a:cs typeface="Arial" pitchFamily="34" charset="0"/>
            </a:endParaRPr>
          </a:p>
          <a:p>
            <a:pPr algn="ctr"/>
            <a:r>
              <a:rPr lang="en-GB" sz="1400" b="1" dirty="0">
                <a:solidFill>
                  <a:schemeClr val="tx1"/>
                </a:solidFill>
                <a:latin typeface="Arial" pitchFamily="34" charset="0"/>
                <a:cs typeface="Arial" pitchFamily="34" charset="0"/>
              </a:rPr>
              <a:t>13.1 Identify Stakeholders</a:t>
            </a:r>
          </a:p>
          <a:p>
            <a:pPr marL="342900" indent="-342900">
              <a:buAutoNum type="arabicPeriod"/>
            </a:pPr>
            <a:r>
              <a:rPr lang="en-GB" sz="1100" b="1" dirty="0">
                <a:solidFill>
                  <a:schemeClr val="tx1"/>
                </a:solidFill>
                <a:latin typeface="Arial" pitchFamily="34" charset="0"/>
                <a:cs typeface="Arial" pitchFamily="34" charset="0"/>
              </a:rPr>
              <a:t>Inputs </a:t>
            </a:r>
          </a:p>
          <a:p>
            <a:r>
              <a:rPr lang="en-GB" sz="1100" b="1" dirty="0">
                <a:solidFill>
                  <a:schemeClr val="tx1"/>
                </a:solidFill>
                <a:latin typeface="Arial" pitchFamily="34" charset="0"/>
                <a:cs typeface="Arial" pitchFamily="34" charset="0"/>
              </a:rPr>
              <a:t>       1 Project Charter</a:t>
            </a:r>
          </a:p>
          <a:p>
            <a:r>
              <a:rPr lang="en-GB" sz="1100" b="1" dirty="0">
                <a:solidFill>
                  <a:schemeClr val="tx1"/>
                </a:solidFill>
                <a:latin typeface="Arial" pitchFamily="34" charset="0"/>
                <a:cs typeface="Arial" pitchFamily="34" charset="0"/>
              </a:rPr>
              <a:t>       2 Business documents</a:t>
            </a:r>
          </a:p>
          <a:p>
            <a:r>
              <a:rPr lang="en-GB" sz="1100" b="1" dirty="0">
                <a:solidFill>
                  <a:schemeClr val="tx1"/>
                </a:solidFill>
                <a:latin typeface="Arial" pitchFamily="34" charset="0"/>
                <a:cs typeface="Arial" pitchFamily="34" charset="0"/>
              </a:rPr>
              <a:t>       3 Project Management plan</a:t>
            </a:r>
          </a:p>
          <a:p>
            <a:r>
              <a:rPr lang="en-GB" sz="1100" b="1" dirty="0">
                <a:solidFill>
                  <a:schemeClr val="tx1"/>
                </a:solidFill>
                <a:latin typeface="Arial" pitchFamily="34" charset="0"/>
                <a:cs typeface="Arial" pitchFamily="34" charset="0"/>
              </a:rPr>
              <a:t>       4 Project documents</a:t>
            </a:r>
          </a:p>
          <a:p>
            <a:r>
              <a:rPr lang="en-GB" sz="1100" b="1" dirty="0">
                <a:solidFill>
                  <a:schemeClr val="tx1"/>
                </a:solidFill>
                <a:latin typeface="Arial" pitchFamily="34" charset="0"/>
                <a:cs typeface="Arial" pitchFamily="34" charset="0"/>
              </a:rPr>
              <a:t>       5 Agreements</a:t>
            </a:r>
          </a:p>
          <a:p>
            <a:r>
              <a:rPr lang="en-GB" sz="1100" b="1" dirty="0">
                <a:solidFill>
                  <a:schemeClr val="tx1"/>
                </a:solidFill>
                <a:latin typeface="Arial" pitchFamily="34" charset="0"/>
                <a:cs typeface="Arial" pitchFamily="34" charset="0"/>
              </a:rPr>
              <a:t>       6 Enterprise environmental </a:t>
            </a:r>
          </a:p>
          <a:p>
            <a:r>
              <a:rPr lang="en-GB" sz="1100" b="1" dirty="0">
                <a:solidFill>
                  <a:schemeClr val="tx1"/>
                </a:solidFill>
                <a:latin typeface="Arial" pitchFamily="34" charset="0"/>
                <a:cs typeface="Arial" pitchFamily="34" charset="0"/>
              </a:rPr>
              <a:t>         factors</a:t>
            </a:r>
          </a:p>
          <a:p>
            <a:r>
              <a:rPr lang="en-GB" sz="1100" b="1" dirty="0">
                <a:solidFill>
                  <a:schemeClr val="tx1"/>
                </a:solidFill>
                <a:latin typeface="Arial" pitchFamily="34" charset="0"/>
                <a:cs typeface="Arial" pitchFamily="34" charset="0"/>
              </a:rPr>
              <a:t>       7 Organizational process </a:t>
            </a:r>
          </a:p>
          <a:p>
            <a:r>
              <a:rPr lang="en-GB" sz="1100" b="1" dirty="0">
                <a:solidFill>
                  <a:schemeClr val="tx1"/>
                </a:solidFill>
                <a:latin typeface="Arial" pitchFamily="34" charset="0"/>
                <a:cs typeface="Arial" pitchFamily="34" charset="0"/>
              </a:rPr>
              <a:t>       assets</a:t>
            </a:r>
          </a:p>
          <a:p>
            <a:endParaRPr lang="en-GB" sz="1100" b="1" dirty="0">
              <a:solidFill>
                <a:schemeClr val="tx1"/>
              </a:solidFill>
              <a:latin typeface="Arial" pitchFamily="34" charset="0"/>
              <a:cs typeface="Arial" pitchFamily="34" charset="0"/>
            </a:endParaRPr>
          </a:p>
          <a:p>
            <a:pPr marL="342900" indent="-342900">
              <a:buAutoNum type="arabicPeriod" startAt="2"/>
            </a:pPr>
            <a:r>
              <a:rPr lang="en-GB" sz="1100" b="1" dirty="0">
                <a:solidFill>
                  <a:schemeClr val="tx1"/>
                </a:solidFill>
                <a:latin typeface="Arial" pitchFamily="34" charset="0"/>
                <a:cs typeface="Arial" pitchFamily="34" charset="0"/>
              </a:rPr>
              <a:t>Tools &amp; Techniques</a:t>
            </a:r>
          </a:p>
          <a:p>
            <a:r>
              <a:rPr lang="en-GB" sz="1100" b="1" dirty="0">
                <a:solidFill>
                  <a:schemeClr val="tx1"/>
                </a:solidFill>
                <a:latin typeface="Arial" pitchFamily="34" charset="0"/>
                <a:cs typeface="Arial" pitchFamily="34" charset="0"/>
              </a:rPr>
              <a:t>        1 Expert Judgment</a:t>
            </a:r>
          </a:p>
          <a:p>
            <a:r>
              <a:rPr lang="en-GB" sz="1100" b="1" dirty="0">
                <a:solidFill>
                  <a:schemeClr val="tx1"/>
                </a:solidFill>
                <a:latin typeface="Arial" pitchFamily="34" charset="0"/>
                <a:cs typeface="Arial" pitchFamily="34" charset="0"/>
              </a:rPr>
              <a:t>        2 Data gathering</a:t>
            </a:r>
          </a:p>
          <a:p>
            <a:r>
              <a:rPr lang="en-GB" sz="1100" b="1" dirty="0">
                <a:solidFill>
                  <a:schemeClr val="tx1"/>
                </a:solidFill>
                <a:latin typeface="Arial" pitchFamily="34" charset="0"/>
                <a:cs typeface="Arial" pitchFamily="34" charset="0"/>
              </a:rPr>
              <a:t>        3 Data Analysis</a:t>
            </a:r>
          </a:p>
          <a:p>
            <a:r>
              <a:rPr lang="en-GB" sz="1100" b="1" dirty="0">
                <a:solidFill>
                  <a:schemeClr val="tx1"/>
                </a:solidFill>
                <a:latin typeface="Arial" pitchFamily="34" charset="0"/>
                <a:cs typeface="Arial" pitchFamily="34" charset="0"/>
              </a:rPr>
              <a:t>        4 Data representation</a:t>
            </a:r>
          </a:p>
          <a:p>
            <a:r>
              <a:rPr lang="en-GB" sz="1100" b="1" dirty="0">
                <a:solidFill>
                  <a:schemeClr val="tx1"/>
                </a:solidFill>
                <a:latin typeface="Arial" pitchFamily="34" charset="0"/>
                <a:cs typeface="Arial" pitchFamily="34" charset="0"/>
              </a:rPr>
              <a:t>        5 Meetings</a:t>
            </a:r>
          </a:p>
          <a:p>
            <a:endParaRPr lang="en-GB" sz="1050" b="1" dirty="0">
              <a:solidFill>
                <a:schemeClr val="tx1"/>
              </a:solidFill>
              <a:latin typeface="Arial" pitchFamily="34" charset="0"/>
              <a:cs typeface="Arial" pitchFamily="34" charset="0"/>
            </a:endParaRPr>
          </a:p>
          <a:p>
            <a:pPr marL="342900" indent="-342900">
              <a:buAutoNum type="arabicPeriod" startAt="3"/>
            </a:pPr>
            <a:r>
              <a:rPr lang="en-GB" sz="1100" b="1" dirty="0">
                <a:solidFill>
                  <a:schemeClr val="tx1"/>
                </a:solidFill>
                <a:latin typeface="Arial" pitchFamily="34" charset="0"/>
                <a:cs typeface="Arial" pitchFamily="34" charset="0"/>
              </a:rPr>
              <a:t>Outputs</a:t>
            </a:r>
          </a:p>
          <a:p>
            <a:endParaRPr lang="en-GB" sz="1100" b="1" dirty="0">
              <a:solidFill>
                <a:schemeClr val="tx1"/>
              </a:solidFill>
              <a:latin typeface="Arial" pitchFamily="34" charset="0"/>
              <a:cs typeface="Arial" pitchFamily="34" charset="0"/>
            </a:endParaRPr>
          </a:p>
          <a:p>
            <a:r>
              <a:rPr lang="en-GB" sz="1100" b="1" dirty="0">
                <a:solidFill>
                  <a:schemeClr val="tx1"/>
                </a:solidFill>
                <a:latin typeface="Arial" pitchFamily="34" charset="0"/>
                <a:cs typeface="Arial" pitchFamily="34" charset="0"/>
              </a:rPr>
              <a:t>        1 Stakeholder register</a:t>
            </a:r>
          </a:p>
          <a:p>
            <a:r>
              <a:rPr lang="en-GB" sz="1100" b="1" dirty="0">
                <a:solidFill>
                  <a:schemeClr val="tx1"/>
                </a:solidFill>
                <a:latin typeface="Arial" pitchFamily="34" charset="0"/>
                <a:cs typeface="Arial" pitchFamily="34" charset="0"/>
              </a:rPr>
              <a:t>        2 Change requests</a:t>
            </a:r>
          </a:p>
          <a:p>
            <a:r>
              <a:rPr lang="en-GB" sz="1100" b="1" dirty="0">
                <a:solidFill>
                  <a:schemeClr val="tx1"/>
                </a:solidFill>
                <a:latin typeface="Arial" pitchFamily="34" charset="0"/>
                <a:cs typeface="Arial" pitchFamily="34" charset="0"/>
              </a:rPr>
              <a:t>        3 PMP updates</a:t>
            </a:r>
          </a:p>
          <a:p>
            <a:r>
              <a:rPr lang="en-GB" sz="1100" b="1" dirty="0">
                <a:solidFill>
                  <a:schemeClr val="tx1"/>
                </a:solidFill>
                <a:latin typeface="Arial" pitchFamily="34" charset="0"/>
                <a:cs typeface="Arial" pitchFamily="34" charset="0"/>
              </a:rPr>
              <a:t>        4 Project documents updates </a:t>
            </a:r>
          </a:p>
          <a:p>
            <a:endParaRPr lang="en-GB" sz="1100" b="1" dirty="0">
              <a:solidFill>
                <a:schemeClr val="tx1"/>
              </a:solidFill>
              <a:latin typeface="Arial" pitchFamily="34" charset="0"/>
              <a:cs typeface="Arial" pitchFamily="34" charset="0"/>
            </a:endParaRPr>
          </a:p>
        </p:txBody>
      </p:sp>
      <p:sp>
        <p:nvSpPr>
          <p:cNvPr id="8" name="Rectangle 7"/>
          <p:cNvSpPr/>
          <p:nvPr/>
        </p:nvSpPr>
        <p:spPr>
          <a:xfrm>
            <a:off x="3389111" y="1208182"/>
            <a:ext cx="2724874" cy="53171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latin typeface="Arial" pitchFamily="34" charset="0"/>
                <a:cs typeface="Arial" pitchFamily="34" charset="0"/>
              </a:rPr>
              <a:t>13.2 Plan Stakeholder Engagement</a:t>
            </a:r>
          </a:p>
          <a:p>
            <a:pPr marL="342900" indent="-342900">
              <a:buAutoNum type="arabicPeriod"/>
            </a:pPr>
            <a:r>
              <a:rPr lang="en-GB" sz="1100" b="1" dirty="0">
                <a:solidFill>
                  <a:schemeClr val="tx1"/>
                </a:solidFill>
                <a:latin typeface="Arial" pitchFamily="34" charset="0"/>
                <a:cs typeface="Arial" pitchFamily="34" charset="0"/>
              </a:rPr>
              <a:t>Inputs</a:t>
            </a:r>
          </a:p>
          <a:p>
            <a:r>
              <a:rPr lang="en-GB" sz="1100" b="1" dirty="0">
                <a:solidFill>
                  <a:schemeClr val="tx1"/>
                </a:solidFill>
                <a:latin typeface="Arial" pitchFamily="34" charset="0"/>
                <a:cs typeface="Arial" pitchFamily="34" charset="0"/>
              </a:rPr>
              <a:t>        1 Project Charter</a:t>
            </a:r>
          </a:p>
          <a:p>
            <a:r>
              <a:rPr lang="en-GB" sz="1100" b="1" dirty="0">
                <a:solidFill>
                  <a:schemeClr val="tx1"/>
                </a:solidFill>
                <a:latin typeface="Arial" pitchFamily="34" charset="0"/>
                <a:cs typeface="Arial" pitchFamily="34" charset="0"/>
              </a:rPr>
              <a:t>        2 PMP</a:t>
            </a:r>
          </a:p>
          <a:p>
            <a:r>
              <a:rPr lang="en-GB" sz="1100" b="1" dirty="0">
                <a:solidFill>
                  <a:schemeClr val="tx1"/>
                </a:solidFill>
                <a:latin typeface="Arial" pitchFamily="34" charset="0"/>
                <a:cs typeface="Arial" pitchFamily="34" charset="0"/>
              </a:rPr>
              <a:t>        3 Project documents</a:t>
            </a:r>
          </a:p>
          <a:p>
            <a:r>
              <a:rPr lang="en-GB" sz="1100" b="1" dirty="0">
                <a:solidFill>
                  <a:schemeClr val="tx1"/>
                </a:solidFill>
                <a:latin typeface="Arial" pitchFamily="34" charset="0"/>
                <a:cs typeface="Arial" pitchFamily="34" charset="0"/>
              </a:rPr>
              <a:t>        4 Agreements</a:t>
            </a:r>
          </a:p>
          <a:p>
            <a:r>
              <a:rPr lang="en-GB" sz="1100" b="1" dirty="0">
                <a:solidFill>
                  <a:schemeClr val="tx1"/>
                </a:solidFill>
                <a:latin typeface="Arial" pitchFamily="34" charset="0"/>
                <a:cs typeface="Arial" pitchFamily="34" charset="0"/>
              </a:rPr>
              <a:t>        5 EEFs</a:t>
            </a:r>
          </a:p>
          <a:p>
            <a:r>
              <a:rPr lang="en-GB" sz="1100" b="1" dirty="0">
                <a:solidFill>
                  <a:schemeClr val="tx1"/>
                </a:solidFill>
                <a:latin typeface="Arial" pitchFamily="34" charset="0"/>
                <a:cs typeface="Arial" pitchFamily="34" charset="0"/>
              </a:rPr>
              <a:t>        6  OPAs</a:t>
            </a:r>
          </a:p>
          <a:p>
            <a:endParaRPr lang="en-GB" sz="1100" b="1" dirty="0">
              <a:solidFill>
                <a:schemeClr val="tx1"/>
              </a:solidFill>
              <a:latin typeface="Arial" pitchFamily="34" charset="0"/>
              <a:cs typeface="Arial" pitchFamily="34" charset="0"/>
            </a:endParaRPr>
          </a:p>
          <a:p>
            <a:pPr marL="342900" indent="-342900">
              <a:buAutoNum type="arabicPeriod" startAt="2"/>
            </a:pPr>
            <a:r>
              <a:rPr lang="en-GB" sz="1100" b="1" dirty="0">
                <a:solidFill>
                  <a:schemeClr val="tx1"/>
                </a:solidFill>
                <a:latin typeface="Arial" pitchFamily="34" charset="0"/>
                <a:cs typeface="Arial" pitchFamily="34" charset="0"/>
              </a:rPr>
              <a:t>Tools &amp; Techniques</a:t>
            </a:r>
          </a:p>
          <a:p>
            <a:r>
              <a:rPr lang="en-GB" sz="1100" b="1" dirty="0">
                <a:solidFill>
                  <a:schemeClr val="tx1"/>
                </a:solidFill>
                <a:latin typeface="Arial" pitchFamily="34" charset="0"/>
                <a:cs typeface="Arial" pitchFamily="34" charset="0"/>
              </a:rPr>
              <a:t>        1 Expert judgement</a:t>
            </a:r>
          </a:p>
          <a:p>
            <a:r>
              <a:rPr lang="en-GB" sz="1100" b="1" dirty="0">
                <a:solidFill>
                  <a:schemeClr val="tx1"/>
                </a:solidFill>
                <a:latin typeface="Arial" pitchFamily="34" charset="0"/>
                <a:cs typeface="Arial" pitchFamily="34" charset="0"/>
              </a:rPr>
              <a:t>        2 Data gathering</a:t>
            </a:r>
          </a:p>
          <a:p>
            <a:r>
              <a:rPr lang="en-GB" sz="1100" b="1" dirty="0">
                <a:solidFill>
                  <a:schemeClr val="tx1"/>
                </a:solidFill>
                <a:latin typeface="Arial" pitchFamily="34" charset="0"/>
                <a:cs typeface="Arial" pitchFamily="34" charset="0"/>
              </a:rPr>
              <a:t>        3 Data analysis</a:t>
            </a:r>
          </a:p>
          <a:p>
            <a:r>
              <a:rPr lang="en-GB" sz="1100" b="1" dirty="0">
                <a:solidFill>
                  <a:schemeClr val="tx1"/>
                </a:solidFill>
                <a:latin typeface="Arial" pitchFamily="34" charset="0"/>
                <a:cs typeface="Arial" pitchFamily="34" charset="0"/>
              </a:rPr>
              <a:t>        4 Decision making</a:t>
            </a:r>
          </a:p>
          <a:p>
            <a:r>
              <a:rPr lang="en-GB" sz="1100" b="1" dirty="0">
                <a:solidFill>
                  <a:schemeClr val="tx1"/>
                </a:solidFill>
                <a:latin typeface="Arial" pitchFamily="34" charset="0"/>
                <a:cs typeface="Arial" pitchFamily="34" charset="0"/>
              </a:rPr>
              <a:t>        5 Data representation</a:t>
            </a:r>
          </a:p>
          <a:p>
            <a:r>
              <a:rPr lang="en-GB" sz="1100" b="1" dirty="0">
                <a:solidFill>
                  <a:schemeClr val="tx1"/>
                </a:solidFill>
                <a:latin typeface="Arial" pitchFamily="34" charset="0"/>
                <a:cs typeface="Arial" pitchFamily="34" charset="0"/>
              </a:rPr>
              <a:t>        6 Meetings</a:t>
            </a:r>
          </a:p>
          <a:p>
            <a:endParaRPr lang="en-GB" sz="1100" b="1" dirty="0">
              <a:solidFill>
                <a:schemeClr val="tx1"/>
              </a:solidFill>
              <a:latin typeface="Arial" pitchFamily="34" charset="0"/>
              <a:cs typeface="Arial" pitchFamily="34" charset="0"/>
            </a:endParaRPr>
          </a:p>
          <a:p>
            <a:pPr marL="342900" indent="-342900">
              <a:buAutoNum type="arabicPeriod" startAt="3"/>
            </a:pPr>
            <a:r>
              <a:rPr lang="en-GB" sz="1100" b="1" dirty="0">
                <a:solidFill>
                  <a:schemeClr val="tx1"/>
                </a:solidFill>
                <a:latin typeface="Arial" pitchFamily="34" charset="0"/>
                <a:cs typeface="Arial" pitchFamily="34" charset="0"/>
              </a:rPr>
              <a:t>Outputs</a:t>
            </a:r>
          </a:p>
          <a:p>
            <a:endParaRPr lang="en-GB" sz="1100" b="1" dirty="0">
              <a:solidFill>
                <a:schemeClr val="tx1"/>
              </a:solidFill>
              <a:latin typeface="Arial" pitchFamily="34" charset="0"/>
              <a:cs typeface="Arial" pitchFamily="34" charset="0"/>
            </a:endParaRPr>
          </a:p>
          <a:p>
            <a:r>
              <a:rPr lang="en-GB" sz="1100" b="1" dirty="0">
                <a:solidFill>
                  <a:schemeClr val="tx1"/>
                </a:solidFill>
                <a:latin typeface="Arial" pitchFamily="34" charset="0"/>
                <a:cs typeface="Arial" pitchFamily="34" charset="0"/>
              </a:rPr>
              <a:t>        1 Stakeholder Engagement Plan</a:t>
            </a:r>
          </a:p>
          <a:p>
            <a:endParaRPr lang="en-GB" sz="1100" b="1" dirty="0">
              <a:solidFill>
                <a:schemeClr val="tx1"/>
              </a:solidFill>
              <a:latin typeface="Arial" pitchFamily="34" charset="0"/>
              <a:cs typeface="Arial" pitchFamily="34" charset="0"/>
            </a:endParaRPr>
          </a:p>
        </p:txBody>
      </p:sp>
      <p:sp>
        <p:nvSpPr>
          <p:cNvPr id="9" name="Rectangle 8"/>
          <p:cNvSpPr/>
          <p:nvPr/>
        </p:nvSpPr>
        <p:spPr>
          <a:xfrm>
            <a:off x="6514281" y="1208182"/>
            <a:ext cx="2592288" cy="53171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latin typeface="Arial" pitchFamily="34" charset="0"/>
                <a:cs typeface="Arial" pitchFamily="34" charset="0"/>
              </a:rPr>
              <a:t>13.3 Manage Stakeholder Engagement</a:t>
            </a:r>
          </a:p>
          <a:p>
            <a:pPr marL="342900" indent="-342900">
              <a:buAutoNum type="arabicPeriod"/>
            </a:pPr>
            <a:endParaRPr lang="en-GB" sz="1100" b="1" dirty="0">
              <a:solidFill>
                <a:schemeClr val="tx1"/>
              </a:solidFill>
              <a:latin typeface="Arial" pitchFamily="34" charset="0"/>
              <a:cs typeface="Arial" pitchFamily="34" charset="0"/>
            </a:endParaRPr>
          </a:p>
          <a:p>
            <a:pPr marL="342900" indent="-342900">
              <a:buAutoNum type="arabicPeriod"/>
            </a:pPr>
            <a:r>
              <a:rPr lang="en-GB" sz="1100" b="1" dirty="0">
                <a:solidFill>
                  <a:schemeClr val="tx1"/>
                </a:solidFill>
                <a:latin typeface="Arial" pitchFamily="34" charset="0"/>
                <a:cs typeface="Arial" pitchFamily="34" charset="0"/>
              </a:rPr>
              <a:t>Inputs</a:t>
            </a:r>
          </a:p>
          <a:p>
            <a:r>
              <a:rPr lang="en-GB" sz="1100" b="1" dirty="0">
                <a:solidFill>
                  <a:schemeClr val="tx1"/>
                </a:solidFill>
                <a:latin typeface="Arial" pitchFamily="34" charset="0"/>
                <a:cs typeface="Arial" pitchFamily="34" charset="0"/>
              </a:rPr>
              <a:t>       1 Project Management plan</a:t>
            </a:r>
          </a:p>
          <a:p>
            <a:r>
              <a:rPr lang="en-GB" sz="1100" b="1" dirty="0">
                <a:solidFill>
                  <a:schemeClr val="tx1"/>
                </a:solidFill>
                <a:latin typeface="Arial" pitchFamily="34" charset="0"/>
                <a:cs typeface="Arial" pitchFamily="34" charset="0"/>
              </a:rPr>
              <a:t>       2 Project Documents</a:t>
            </a:r>
          </a:p>
          <a:p>
            <a:r>
              <a:rPr lang="en-GB" sz="1100" b="1" dirty="0">
                <a:solidFill>
                  <a:schemeClr val="tx1"/>
                </a:solidFill>
                <a:latin typeface="Arial" pitchFamily="34" charset="0"/>
                <a:cs typeface="Arial" pitchFamily="34" charset="0"/>
              </a:rPr>
              <a:t>       3 Enterprise environmental </a:t>
            </a:r>
          </a:p>
          <a:p>
            <a:r>
              <a:rPr lang="en-GB" sz="1100" b="1" dirty="0">
                <a:solidFill>
                  <a:schemeClr val="tx1"/>
                </a:solidFill>
                <a:latin typeface="Arial" pitchFamily="34" charset="0"/>
                <a:cs typeface="Arial" pitchFamily="34" charset="0"/>
              </a:rPr>
              <a:t>        factors</a:t>
            </a:r>
          </a:p>
          <a:p>
            <a:r>
              <a:rPr lang="en-GB" sz="1100" b="1" dirty="0">
                <a:solidFill>
                  <a:schemeClr val="tx1"/>
                </a:solidFill>
                <a:latin typeface="Arial" pitchFamily="34" charset="0"/>
                <a:cs typeface="Arial" pitchFamily="34" charset="0"/>
              </a:rPr>
              <a:t>       4 Organizational process </a:t>
            </a:r>
          </a:p>
          <a:p>
            <a:r>
              <a:rPr lang="en-GB" sz="1100" b="1" dirty="0">
                <a:solidFill>
                  <a:schemeClr val="tx1"/>
                </a:solidFill>
                <a:latin typeface="Arial" pitchFamily="34" charset="0"/>
                <a:cs typeface="Arial" pitchFamily="34" charset="0"/>
              </a:rPr>
              <a:t>       assets</a:t>
            </a:r>
          </a:p>
          <a:p>
            <a:endParaRPr lang="en-GB" sz="1100" b="1" dirty="0">
              <a:solidFill>
                <a:schemeClr val="tx1"/>
              </a:solidFill>
              <a:latin typeface="Arial" pitchFamily="34" charset="0"/>
              <a:cs typeface="Arial" pitchFamily="34" charset="0"/>
            </a:endParaRPr>
          </a:p>
          <a:p>
            <a:pPr marL="342900" indent="-342900">
              <a:buAutoNum type="arabicPeriod" startAt="2"/>
            </a:pPr>
            <a:r>
              <a:rPr lang="en-GB" sz="1100" b="1" dirty="0">
                <a:solidFill>
                  <a:schemeClr val="tx1"/>
                </a:solidFill>
                <a:latin typeface="Arial" pitchFamily="34" charset="0"/>
                <a:cs typeface="Arial" pitchFamily="34" charset="0"/>
              </a:rPr>
              <a:t>Tools &amp; Techniques</a:t>
            </a:r>
          </a:p>
          <a:p>
            <a:r>
              <a:rPr lang="en-GB" sz="1100" b="1" dirty="0">
                <a:solidFill>
                  <a:schemeClr val="tx1"/>
                </a:solidFill>
                <a:latin typeface="Arial" pitchFamily="34" charset="0"/>
                <a:cs typeface="Arial" pitchFamily="34" charset="0"/>
              </a:rPr>
              <a:t>        1 Expert Judgment</a:t>
            </a:r>
          </a:p>
          <a:p>
            <a:r>
              <a:rPr lang="en-GB" sz="1100" b="1" dirty="0">
                <a:solidFill>
                  <a:schemeClr val="tx1"/>
                </a:solidFill>
                <a:latin typeface="Arial" pitchFamily="34" charset="0"/>
                <a:cs typeface="Arial" pitchFamily="34" charset="0"/>
              </a:rPr>
              <a:t>        2 Communication skills</a:t>
            </a:r>
          </a:p>
          <a:p>
            <a:r>
              <a:rPr lang="en-GB" sz="1100" b="1" dirty="0">
                <a:solidFill>
                  <a:schemeClr val="tx1"/>
                </a:solidFill>
                <a:latin typeface="Arial" pitchFamily="34" charset="0"/>
                <a:cs typeface="Arial" pitchFamily="34" charset="0"/>
              </a:rPr>
              <a:t>        3 Interpersonal and team skills</a:t>
            </a:r>
          </a:p>
          <a:p>
            <a:r>
              <a:rPr lang="en-GB" sz="1100" b="1" dirty="0">
                <a:solidFill>
                  <a:schemeClr val="tx1"/>
                </a:solidFill>
                <a:latin typeface="Arial" pitchFamily="34" charset="0"/>
                <a:cs typeface="Arial" pitchFamily="34" charset="0"/>
              </a:rPr>
              <a:t>        4 Ground rules</a:t>
            </a:r>
          </a:p>
          <a:p>
            <a:r>
              <a:rPr lang="en-GB" sz="1100" b="1" dirty="0">
                <a:solidFill>
                  <a:schemeClr val="tx1"/>
                </a:solidFill>
                <a:latin typeface="Arial" pitchFamily="34" charset="0"/>
                <a:cs typeface="Arial" pitchFamily="34" charset="0"/>
              </a:rPr>
              <a:t>        5 Meetings</a:t>
            </a:r>
          </a:p>
          <a:p>
            <a:endParaRPr lang="en-GB" sz="1100" b="1" dirty="0">
              <a:solidFill>
                <a:schemeClr val="tx1"/>
              </a:solidFill>
              <a:latin typeface="Arial" pitchFamily="34" charset="0"/>
              <a:cs typeface="Arial" pitchFamily="34" charset="0"/>
            </a:endParaRPr>
          </a:p>
          <a:p>
            <a:pPr marL="342900" indent="-342900">
              <a:buAutoNum type="arabicPeriod" startAt="3"/>
            </a:pPr>
            <a:r>
              <a:rPr lang="en-GB" sz="1100" b="1" dirty="0">
                <a:solidFill>
                  <a:schemeClr val="tx1"/>
                </a:solidFill>
                <a:latin typeface="Arial" pitchFamily="34" charset="0"/>
                <a:cs typeface="Arial" pitchFamily="34" charset="0"/>
              </a:rPr>
              <a:t>Outputs</a:t>
            </a:r>
          </a:p>
          <a:p>
            <a:pPr marL="342900" indent="-342900">
              <a:buAutoNum type="arabicPeriod" startAt="3"/>
            </a:pPr>
            <a:endParaRPr lang="en-GB" sz="1100" b="1" dirty="0">
              <a:solidFill>
                <a:schemeClr val="tx1"/>
              </a:solidFill>
              <a:latin typeface="Arial" pitchFamily="34" charset="0"/>
              <a:cs typeface="Arial" pitchFamily="34" charset="0"/>
            </a:endParaRPr>
          </a:p>
          <a:p>
            <a:r>
              <a:rPr lang="en-GB" sz="1100" b="1" dirty="0">
                <a:solidFill>
                  <a:schemeClr val="tx1"/>
                </a:solidFill>
                <a:latin typeface="Arial" pitchFamily="34" charset="0"/>
                <a:cs typeface="Arial" pitchFamily="34" charset="0"/>
              </a:rPr>
              <a:t>        1 Change requests</a:t>
            </a:r>
          </a:p>
          <a:p>
            <a:r>
              <a:rPr lang="en-GB" sz="1100" b="1" dirty="0">
                <a:solidFill>
                  <a:schemeClr val="tx1"/>
                </a:solidFill>
                <a:latin typeface="Arial" pitchFamily="34" charset="0"/>
                <a:cs typeface="Arial" pitchFamily="34" charset="0"/>
              </a:rPr>
              <a:t>        3 Project Management plan</a:t>
            </a:r>
          </a:p>
          <a:p>
            <a:r>
              <a:rPr lang="en-GB" sz="1100" b="1" dirty="0">
                <a:solidFill>
                  <a:schemeClr val="tx1"/>
                </a:solidFill>
                <a:latin typeface="Arial" pitchFamily="34" charset="0"/>
                <a:cs typeface="Arial" pitchFamily="34" charset="0"/>
              </a:rPr>
              <a:t>        updates</a:t>
            </a:r>
          </a:p>
          <a:p>
            <a:r>
              <a:rPr lang="en-GB" sz="1100" b="1" dirty="0">
                <a:solidFill>
                  <a:schemeClr val="tx1"/>
                </a:solidFill>
                <a:latin typeface="Arial" pitchFamily="34" charset="0"/>
                <a:cs typeface="Arial" pitchFamily="34" charset="0"/>
              </a:rPr>
              <a:t>        4 Project documents update</a:t>
            </a:r>
          </a:p>
          <a:p>
            <a:endParaRPr lang="en-GB" sz="1100" b="1" dirty="0">
              <a:solidFill>
                <a:schemeClr val="tx1"/>
              </a:solidFill>
              <a:latin typeface="Arial" pitchFamily="34" charset="0"/>
              <a:cs typeface="Arial" pitchFamily="34" charset="0"/>
            </a:endParaRPr>
          </a:p>
        </p:txBody>
      </p:sp>
      <p:sp>
        <p:nvSpPr>
          <p:cNvPr id="15" name="Rectangle 14"/>
          <p:cNvSpPr/>
          <p:nvPr/>
        </p:nvSpPr>
        <p:spPr>
          <a:xfrm>
            <a:off x="9409902" y="1222032"/>
            <a:ext cx="2592288" cy="53171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latin typeface="Arial" pitchFamily="34" charset="0"/>
                <a:cs typeface="Arial" pitchFamily="34" charset="0"/>
              </a:rPr>
              <a:t>13.4 Monitor Stakeholder Engagement</a:t>
            </a:r>
          </a:p>
          <a:p>
            <a:pPr marL="342900" indent="-342900">
              <a:buAutoNum type="arabicPeriod"/>
            </a:pPr>
            <a:endParaRPr lang="en-GB" sz="1100" b="1" dirty="0">
              <a:solidFill>
                <a:schemeClr val="tx1"/>
              </a:solidFill>
              <a:latin typeface="Arial" pitchFamily="34" charset="0"/>
              <a:cs typeface="Arial" pitchFamily="34" charset="0"/>
            </a:endParaRPr>
          </a:p>
          <a:p>
            <a:pPr marL="342900" indent="-342900">
              <a:buAutoNum type="arabicPeriod"/>
            </a:pPr>
            <a:r>
              <a:rPr lang="en-GB" sz="1100" b="1" dirty="0">
                <a:solidFill>
                  <a:schemeClr val="tx1"/>
                </a:solidFill>
                <a:latin typeface="Arial" pitchFamily="34" charset="0"/>
                <a:cs typeface="Arial" pitchFamily="34" charset="0"/>
              </a:rPr>
              <a:t>Inputs</a:t>
            </a:r>
          </a:p>
          <a:p>
            <a:r>
              <a:rPr lang="en-GB" sz="1100" b="1" dirty="0">
                <a:solidFill>
                  <a:schemeClr val="tx1"/>
                </a:solidFill>
                <a:latin typeface="Arial" pitchFamily="34" charset="0"/>
                <a:cs typeface="Arial" pitchFamily="34" charset="0"/>
              </a:rPr>
              <a:t>       1 Project Management plan</a:t>
            </a:r>
          </a:p>
          <a:p>
            <a:r>
              <a:rPr lang="en-GB" sz="1100" b="1" dirty="0">
                <a:solidFill>
                  <a:schemeClr val="tx1"/>
                </a:solidFill>
                <a:latin typeface="Arial" pitchFamily="34" charset="0"/>
                <a:cs typeface="Arial" pitchFamily="34" charset="0"/>
              </a:rPr>
              <a:t>       2 Project Documents</a:t>
            </a:r>
          </a:p>
          <a:p>
            <a:r>
              <a:rPr lang="en-GB" sz="1100" b="1" dirty="0">
                <a:solidFill>
                  <a:schemeClr val="tx1"/>
                </a:solidFill>
                <a:latin typeface="Arial" pitchFamily="34" charset="0"/>
                <a:cs typeface="Arial" pitchFamily="34" charset="0"/>
              </a:rPr>
              <a:t>       3 Work performance data</a:t>
            </a:r>
          </a:p>
          <a:p>
            <a:r>
              <a:rPr lang="en-GB" sz="1100" b="1" dirty="0">
                <a:solidFill>
                  <a:schemeClr val="tx1"/>
                </a:solidFill>
                <a:latin typeface="Arial" pitchFamily="34" charset="0"/>
                <a:cs typeface="Arial" pitchFamily="34" charset="0"/>
              </a:rPr>
              <a:t>       4 Enterprise environmental </a:t>
            </a:r>
          </a:p>
          <a:p>
            <a:r>
              <a:rPr lang="en-GB" sz="1100" b="1" dirty="0">
                <a:solidFill>
                  <a:schemeClr val="tx1"/>
                </a:solidFill>
                <a:latin typeface="Arial" pitchFamily="34" charset="0"/>
                <a:cs typeface="Arial" pitchFamily="34" charset="0"/>
              </a:rPr>
              <a:t>        factors</a:t>
            </a:r>
          </a:p>
          <a:p>
            <a:r>
              <a:rPr lang="en-GB" sz="1100" b="1" dirty="0">
                <a:solidFill>
                  <a:schemeClr val="tx1"/>
                </a:solidFill>
                <a:latin typeface="Arial" pitchFamily="34" charset="0"/>
                <a:cs typeface="Arial" pitchFamily="34" charset="0"/>
              </a:rPr>
              <a:t>       5 Organizational process </a:t>
            </a:r>
          </a:p>
          <a:p>
            <a:r>
              <a:rPr lang="en-GB" sz="1100" b="1" dirty="0">
                <a:solidFill>
                  <a:schemeClr val="tx1"/>
                </a:solidFill>
                <a:latin typeface="Arial" pitchFamily="34" charset="0"/>
                <a:cs typeface="Arial" pitchFamily="34" charset="0"/>
              </a:rPr>
              <a:t>       assets</a:t>
            </a:r>
          </a:p>
          <a:p>
            <a:endParaRPr lang="en-GB" sz="1100" b="1" dirty="0">
              <a:solidFill>
                <a:schemeClr val="tx1"/>
              </a:solidFill>
              <a:latin typeface="Arial" pitchFamily="34" charset="0"/>
              <a:cs typeface="Arial" pitchFamily="34" charset="0"/>
            </a:endParaRPr>
          </a:p>
          <a:p>
            <a:pPr marL="342900" indent="-342900">
              <a:buAutoNum type="arabicPeriod" startAt="2"/>
            </a:pPr>
            <a:r>
              <a:rPr lang="en-GB" sz="1100" b="1" dirty="0">
                <a:solidFill>
                  <a:schemeClr val="tx1"/>
                </a:solidFill>
                <a:latin typeface="Arial" pitchFamily="34" charset="0"/>
                <a:cs typeface="Arial" pitchFamily="34" charset="0"/>
              </a:rPr>
              <a:t>Tools &amp; Techniques</a:t>
            </a:r>
          </a:p>
          <a:p>
            <a:r>
              <a:rPr lang="en-GB" sz="1100" b="1" dirty="0">
                <a:solidFill>
                  <a:schemeClr val="tx1"/>
                </a:solidFill>
                <a:latin typeface="Arial" pitchFamily="34" charset="0"/>
                <a:cs typeface="Arial" pitchFamily="34" charset="0"/>
              </a:rPr>
              <a:t>        1 Data analysis</a:t>
            </a:r>
          </a:p>
          <a:p>
            <a:r>
              <a:rPr lang="en-GB" sz="1100" b="1" dirty="0">
                <a:solidFill>
                  <a:schemeClr val="tx1"/>
                </a:solidFill>
                <a:latin typeface="Arial" pitchFamily="34" charset="0"/>
                <a:cs typeface="Arial" pitchFamily="34" charset="0"/>
              </a:rPr>
              <a:t>        2 Decision making</a:t>
            </a:r>
          </a:p>
          <a:p>
            <a:r>
              <a:rPr lang="en-GB" sz="1100" b="1" dirty="0">
                <a:solidFill>
                  <a:schemeClr val="tx1"/>
                </a:solidFill>
                <a:latin typeface="Arial" pitchFamily="34" charset="0"/>
                <a:cs typeface="Arial" pitchFamily="34" charset="0"/>
              </a:rPr>
              <a:t>        3 Data Representation</a:t>
            </a:r>
          </a:p>
          <a:p>
            <a:r>
              <a:rPr lang="en-GB" sz="1100" b="1" dirty="0">
                <a:solidFill>
                  <a:schemeClr val="tx1"/>
                </a:solidFill>
                <a:latin typeface="Arial" pitchFamily="34" charset="0"/>
                <a:cs typeface="Arial" pitchFamily="34" charset="0"/>
              </a:rPr>
              <a:t>        4 Communication skills</a:t>
            </a:r>
          </a:p>
          <a:p>
            <a:r>
              <a:rPr lang="en-GB" sz="1100" b="1" dirty="0">
                <a:solidFill>
                  <a:schemeClr val="tx1"/>
                </a:solidFill>
                <a:latin typeface="Arial" pitchFamily="34" charset="0"/>
                <a:cs typeface="Arial" pitchFamily="34" charset="0"/>
              </a:rPr>
              <a:t>        5 Interpersonal and team skills</a:t>
            </a:r>
          </a:p>
          <a:p>
            <a:r>
              <a:rPr lang="en-GB" sz="1100" b="1" dirty="0">
                <a:solidFill>
                  <a:schemeClr val="tx1"/>
                </a:solidFill>
                <a:latin typeface="Arial" pitchFamily="34" charset="0"/>
                <a:cs typeface="Arial" pitchFamily="34" charset="0"/>
              </a:rPr>
              <a:t>        6 Meetings</a:t>
            </a:r>
          </a:p>
          <a:p>
            <a:endParaRPr lang="en-GB" sz="1100" b="1" dirty="0">
              <a:solidFill>
                <a:schemeClr val="tx1"/>
              </a:solidFill>
              <a:latin typeface="Arial" pitchFamily="34" charset="0"/>
              <a:cs typeface="Arial" pitchFamily="34" charset="0"/>
            </a:endParaRPr>
          </a:p>
          <a:p>
            <a:pPr marL="342900" indent="-342900">
              <a:buAutoNum type="arabicPeriod" startAt="3"/>
            </a:pPr>
            <a:r>
              <a:rPr lang="en-GB" sz="1100" b="1" dirty="0">
                <a:solidFill>
                  <a:schemeClr val="tx1"/>
                </a:solidFill>
                <a:latin typeface="Arial" pitchFamily="34" charset="0"/>
                <a:cs typeface="Arial" pitchFamily="34" charset="0"/>
              </a:rPr>
              <a:t>Outputs</a:t>
            </a:r>
          </a:p>
          <a:p>
            <a:pPr marL="342900" indent="-342900">
              <a:buAutoNum type="arabicPeriod" startAt="3"/>
            </a:pPr>
            <a:endParaRPr lang="en-GB" sz="1100" b="1" dirty="0">
              <a:solidFill>
                <a:schemeClr val="tx1"/>
              </a:solidFill>
              <a:latin typeface="Arial" pitchFamily="34" charset="0"/>
              <a:cs typeface="Arial" pitchFamily="34" charset="0"/>
            </a:endParaRPr>
          </a:p>
          <a:p>
            <a:r>
              <a:rPr lang="en-GB" sz="1100" b="1" dirty="0">
                <a:solidFill>
                  <a:schemeClr val="tx1"/>
                </a:solidFill>
                <a:latin typeface="Arial" pitchFamily="34" charset="0"/>
                <a:cs typeface="Arial" pitchFamily="34" charset="0"/>
              </a:rPr>
              <a:t>        1 Work Performance </a:t>
            </a:r>
          </a:p>
          <a:p>
            <a:r>
              <a:rPr lang="en-GB" sz="1100" b="1" dirty="0">
                <a:solidFill>
                  <a:schemeClr val="tx1"/>
                </a:solidFill>
                <a:latin typeface="Arial" pitchFamily="34" charset="0"/>
                <a:cs typeface="Arial" pitchFamily="34" charset="0"/>
              </a:rPr>
              <a:t>        Information</a:t>
            </a:r>
          </a:p>
          <a:p>
            <a:r>
              <a:rPr lang="en-GB" sz="1100" b="1" dirty="0">
                <a:solidFill>
                  <a:schemeClr val="tx1"/>
                </a:solidFill>
                <a:latin typeface="Arial" pitchFamily="34" charset="0"/>
                <a:cs typeface="Arial" pitchFamily="34" charset="0"/>
              </a:rPr>
              <a:t>        2 Change requests</a:t>
            </a:r>
          </a:p>
          <a:p>
            <a:r>
              <a:rPr lang="en-GB" sz="1100" b="1" dirty="0">
                <a:solidFill>
                  <a:schemeClr val="tx1"/>
                </a:solidFill>
                <a:latin typeface="Arial" pitchFamily="34" charset="0"/>
                <a:cs typeface="Arial" pitchFamily="34" charset="0"/>
              </a:rPr>
              <a:t>        3 Project Management plan</a:t>
            </a:r>
          </a:p>
          <a:p>
            <a:r>
              <a:rPr lang="en-GB" sz="1100" b="1" dirty="0">
                <a:solidFill>
                  <a:schemeClr val="tx1"/>
                </a:solidFill>
                <a:latin typeface="Arial" pitchFamily="34" charset="0"/>
                <a:cs typeface="Arial" pitchFamily="34" charset="0"/>
              </a:rPr>
              <a:t>        updates</a:t>
            </a:r>
          </a:p>
          <a:p>
            <a:r>
              <a:rPr lang="en-GB" sz="1100" b="1" dirty="0">
                <a:solidFill>
                  <a:schemeClr val="tx1"/>
                </a:solidFill>
                <a:latin typeface="Arial" pitchFamily="34" charset="0"/>
                <a:cs typeface="Arial" pitchFamily="34" charset="0"/>
              </a:rPr>
              <a:t>        4 Project documents updates</a:t>
            </a:r>
          </a:p>
          <a:p>
            <a:endParaRPr lang="en-GB" sz="1100" b="1"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554600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010"/>
            <a:ext cx="11007436" cy="1389790"/>
          </a:xfrm>
        </p:spPr>
        <p:txBody>
          <a:bodyPr>
            <a:noAutofit/>
          </a:bodyPr>
          <a:lstStyle/>
          <a:p>
            <a:pPr algn="ctr"/>
            <a:r>
              <a:rPr lang="en-US" sz="2400" b="1" dirty="0">
                <a:solidFill>
                  <a:srgbClr val="FFC000"/>
                </a:solidFill>
                <a:latin typeface="Arial" panose="020B0604020202020204" pitchFamily="34" charset="0"/>
                <a:cs typeface="Arial" panose="020B0604020202020204" pitchFamily="34" charset="0"/>
              </a:rPr>
              <a:t>Key Concept!</a:t>
            </a:r>
            <a:br>
              <a:rPr lang="en-US" sz="2400" b="1" dirty="0">
                <a:solidFill>
                  <a:srgbClr val="FFC000"/>
                </a:solidFill>
                <a:latin typeface="Arial" panose="020B0604020202020204" pitchFamily="34" charset="0"/>
                <a:cs typeface="Arial" panose="020B0604020202020204" pitchFamily="34" charset="0"/>
              </a:rPr>
            </a:br>
            <a:r>
              <a:rPr lang="en-US" sz="2400" b="1" dirty="0">
                <a:solidFill>
                  <a:srgbClr val="FFFF00"/>
                </a:solidFill>
                <a:latin typeface="Arial" panose="020B0604020202020204" pitchFamily="34" charset="0"/>
                <a:cs typeface="Arial" panose="020B0604020202020204" pitchFamily="34" charset="0"/>
              </a:rPr>
              <a:t>The ability of the Project Manager and Team to </a:t>
            </a:r>
            <a:r>
              <a:rPr lang="en-US" sz="2400" b="1" u="sng" dirty="0">
                <a:solidFill>
                  <a:schemeClr val="bg1"/>
                </a:solidFill>
                <a:latin typeface="Arial" panose="020B0604020202020204" pitchFamily="34" charset="0"/>
                <a:cs typeface="Arial" panose="020B0604020202020204" pitchFamily="34" charset="0"/>
              </a:rPr>
              <a:t>correctly identify</a:t>
            </a:r>
            <a:r>
              <a:rPr lang="en-US" sz="2400" b="1" dirty="0">
                <a:solidFill>
                  <a:srgbClr val="FFFF00"/>
                </a:solidFill>
                <a:latin typeface="Arial" panose="020B0604020202020204" pitchFamily="34" charset="0"/>
                <a:cs typeface="Arial" panose="020B0604020202020204" pitchFamily="34" charset="0"/>
              </a:rPr>
              <a:t> and </a:t>
            </a:r>
            <a:r>
              <a:rPr lang="en-US" sz="2400" b="1" u="sng" dirty="0">
                <a:solidFill>
                  <a:schemeClr val="bg1"/>
                </a:solidFill>
                <a:latin typeface="Arial" panose="020B0604020202020204" pitchFamily="34" charset="0"/>
                <a:cs typeface="Arial" panose="020B0604020202020204" pitchFamily="34" charset="0"/>
              </a:rPr>
              <a:t>engage all stakeholders</a:t>
            </a:r>
            <a:r>
              <a:rPr lang="en-US" sz="2400" b="1" dirty="0">
                <a:solidFill>
                  <a:srgbClr val="FFFF00"/>
                </a:solidFill>
                <a:latin typeface="Arial" panose="020B0604020202020204" pitchFamily="34" charset="0"/>
                <a:cs typeface="Arial" panose="020B0604020202020204" pitchFamily="34" charset="0"/>
              </a:rPr>
              <a:t> in an appropriate way can make the difference between a project success or failure</a:t>
            </a:r>
            <a:endParaRPr lang="en-US" sz="2400" dirty="0">
              <a:solidFill>
                <a:srgbClr val="FFFF00"/>
              </a:solidFill>
              <a:latin typeface="Arial" panose="020B0604020202020204" pitchFamily="34" charset="0"/>
              <a:cs typeface="Arial" panose="020B0604020202020204" pitchFamily="34" charset="0"/>
            </a:endParaRPr>
          </a:p>
        </p:txBody>
      </p:sp>
      <p:pic>
        <p:nvPicPr>
          <p:cNvPr id="4" name="Picture 2" descr="5 Ways to Improve Project Success - Ap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6600" y="1727200"/>
            <a:ext cx="8369300" cy="454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1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304" y="185010"/>
            <a:ext cx="11665332" cy="2227990"/>
          </a:xfrm>
        </p:spPr>
        <p:txBody>
          <a:bodyPr>
            <a:noAutofit/>
          </a:bodyPr>
          <a:lstStyle/>
          <a:p>
            <a:pPr algn="ctr"/>
            <a:r>
              <a:rPr lang="en-US" sz="2400" b="1" dirty="0">
                <a:solidFill>
                  <a:srgbClr val="FFC000"/>
                </a:solidFill>
                <a:latin typeface="Arial" panose="020B0604020202020204" pitchFamily="34" charset="0"/>
                <a:cs typeface="Arial" panose="020B0604020202020204" pitchFamily="34" charset="0"/>
              </a:rPr>
              <a:t>Key to SH Engagement!</a:t>
            </a:r>
            <a:br>
              <a:rPr lang="en-US" sz="2400" b="1" dirty="0">
                <a:solidFill>
                  <a:srgbClr val="FFC000"/>
                </a:solidFill>
                <a:latin typeface="Arial" panose="020B0604020202020204" pitchFamily="34" charset="0"/>
                <a:cs typeface="Arial" panose="020B0604020202020204" pitchFamily="34" charset="0"/>
              </a:rPr>
            </a:br>
            <a:r>
              <a:rPr lang="en-US" sz="2400" b="1" dirty="0">
                <a:solidFill>
                  <a:srgbClr val="FFFF00"/>
                </a:solidFill>
                <a:latin typeface="Arial" panose="020B0604020202020204" pitchFamily="34" charset="0"/>
                <a:cs typeface="Arial" panose="020B0604020202020204" pitchFamily="34" charset="0"/>
              </a:rPr>
              <a:t>As a Project Manager, focus on continuous communication with all stakeholders, including team members, to understand their needs and expectations, address issues as they occur, manage conflicting interests, and foster appropriate stakeholder engagement in project decisions and activities</a:t>
            </a:r>
            <a:br>
              <a:rPr lang="en-US" sz="2400" b="1" dirty="0">
                <a:solidFill>
                  <a:srgbClr val="FFFF00"/>
                </a:solidFill>
                <a:latin typeface="Arial" panose="020B0604020202020204" pitchFamily="34" charset="0"/>
                <a:cs typeface="Arial" panose="020B0604020202020204" pitchFamily="34" charset="0"/>
              </a:rPr>
            </a:br>
            <a:endParaRPr lang="en-US" sz="2400" b="1" dirty="0">
              <a:solidFill>
                <a:srgbClr val="FFFF00"/>
              </a:solidFill>
              <a:latin typeface="Arial" panose="020B0604020202020204" pitchFamily="34" charset="0"/>
              <a:cs typeface="Arial" panose="020B0604020202020204" pitchFamily="34" charset="0"/>
            </a:endParaRPr>
          </a:p>
        </p:txBody>
      </p:sp>
      <p:pic>
        <p:nvPicPr>
          <p:cNvPr id="5122" name="Picture 2" descr="Project Management (x470) - ppt downloa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9400" y="2514600"/>
            <a:ext cx="8953500" cy="4041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528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50900"/>
            <a:ext cx="5054600" cy="5372100"/>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Update SHs </a:t>
            </a:r>
            <a:br>
              <a:rPr lang="en-US" sz="3600" b="1" dirty="0">
                <a:solidFill>
                  <a:srgbClr val="FFFF00"/>
                </a:solidFill>
                <a:latin typeface="Arial" panose="020B0604020202020204" pitchFamily="34" charset="0"/>
                <a:cs typeface="Arial" panose="020B0604020202020204" pitchFamily="34" charset="0"/>
              </a:rPr>
            </a:br>
            <a:r>
              <a:rPr lang="en-US" sz="3600" b="1" dirty="0">
                <a:solidFill>
                  <a:srgbClr val="FFFF00"/>
                </a:solidFill>
                <a:latin typeface="Arial" panose="020B0604020202020204" pitchFamily="34" charset="0"/>
                <a:cs typeface="Arial" panose="020B0604020202020204" pitchFamily="34" charset="0"/>
              </a:rPr>
              <a:t>at least:</a:t>
            </a:r>
            <a:br>
              <a:rPr lang="en-US" sz="3600" b="1" dirty="0">
                <a:solidFill>
                  <a:srgbClr val="FFFF00"/>
                </a:solidFill>
                <a:latin typeface="Arial" panose="020B0604020202020204" pitchFamily="34" charset="0"/>
                <a:cs typeface="Arial" panose="020B0604020202020204" pitchFamily="34" charset="0"/>
              </a:rPr>
            </a:br>
            <a:br>
              <a:rPr lang="en-US" sz="3600" b="1" dirty="0">
                <a:solidFill>
                  <a:srgbClr val="FFFF00"/>
                </a:solidFill>
                <a:latin typeface="Arial" panose="020B0604020202020204" pitchFamily="34" charset="0"/>
                <a:cs typeface="Arial" panose="020B0604020202020204" pitchFamily="34" charset="0"/>
              </a:rPr>
            </a:br>
            <a:r>
              <a:rPr lang="en-US" sz="2000" b="1" dirty="0">
                <a:solidFill>
                  <a:srgbClr val="FFFF00"/>
                </a:solidFill>
                <a:latin typeface="Arial" panose="020B0604020202020204" pitchFamily="34" charset="0"/>
                <a:cs typeface="Arial" panose="020B0604020202020204" pitchFamily="34" charset="0"/>
              </a:rPr>
              <a:t>* When project moves through different phases in its life cycle</a:t>
            </a:r>
            <a:br>
              <a:rPr lang="en-US" sz="2000" b="1" dirty="0">
                <a:solidFill>
                  <a:srgbClr val="FFFF00"/>
                </a:solidFill>
                <a:latin typeface="Arial" panose="020B0604020202020204" pitchFamily="34" charset="0"/>
                <a:cs typeface="Arial" panose="020B0604020202020204" pitchFamily="34" charset="0"/>
              </a:rPr>
            </a:br>
            <a:br>
              <a:rPr lang="en-US" sz="2000" b="1" dirty="0">
                <a:solidFill>
                  <a:srgbClr val="FFFF00"/>
                </a:solidFill>
                <a:latin typeface="Arial" panose="020B0604020202020204" pitchFamily="34" charset="0"/>
                <a:cs typeface="Arial" panose="020B0604020202020204" pitchFamily="34" charset="0"/>
              </a:rPr>
            </a:br>
            <a:r>
              <a:rPr lang="en-US" sz="2000" b="1" dirty="0">
                <a:solidFill>
                  <a:srgbClr val="FFFF00"/>
                </a:solidFill>
                <a:latin typeface="Arial" panose="020B0604020202020204" pitchFamily="34" charset="0"/>
                <a:cs typeface="Arial" panose="020B0604020202020204" pitchFamily="34" charset="0"/>
              </a:rPr>
              <a:t>* When current stakeholders are no longer involved in the work of the project or new stakeholders joins</a:t>
            </a:r>
            <a:br>
              <a:rPr lang="en-US" sz="2000" b="1" dirty="0">
                <a:solidFill>
                  <a:srgbClr val="FFFF00"/>
                </a:solidFill>
                <a:latin typeface="Arial" panose="020B0604020202020204" pitchFamily="34" charset="0"/>
                <a:cs typeface="Arial" panose="020B0604020202020204" pitchFamily="34" charset="0"/>
              </a:rPr>
            </a:br>
            <a:br>
              <a:rPr lang="en-US" sz="2000" b="1" dirty="0">
                <a:solidFill>
                  <a:srgbClr val="FFFF00"/>
                </a:solidFill>
                <a:latin typeface="Arial" panose="020B0604020202020204" pitchFamily="34" charset="0"/>
                <a:cs typeface="Arial" panose="020B0604020202020204" pitchFamily="34" charset="0"/>
              </a:rPr>
            </a:br>
            <a:r>
              <a:rPr lang="en-US" sz="2000" b="1" dirty="0">
                <a:solidFill>
                  <a:srgbClr val="FFFF00"/>
                </a:solidFill>
                <a:latin typeface="Arial" panose="020B0604020202020204" pitchFamily="34" charset="0"/>
                <a:cs typeface="Arial" panose="020B0604020202020204" pitchFamily="34" charset="0"/>
              </a:rPr>
              <a:t>* When there are significant changes in the organization or the wider stakeholder community</a:t>
            </a:r>
            <a:br>
              <a:rPr lang="en-US" sz="2000" b="1" dirty="0">
                <a:solidFill>
                  <a:srgbClr val="FFFF00"/>
                </a:solidFill>
                <a:latin typeface="Arial" panose="020B0604020202020204" pitchFamily="34" charset="0"/>
                <a:cs typeface="Arial" panose="020B0604020202020204" pitchFamily="34" charset="0"/>
              </a:rPr>
            </a:br>
            <a:br>
              <a:rPr lang="en-US" sz="2000" b="1" dirty="0">
                <a:solidFill>
                  <a:srgbClr val="FFFF00"/>
                </a:solidFill>
                <a:latin typeface="Arial" panose="020B0604020202020204" pitchFamily="34" charset="0"/>
                <a:cs typeface="Arial" panose="020B0604020202020204" pitchFamily="34" charset="0"/>
              </a:rPr>
            </a:br>
            <a:r>
              <a:rPr lang="en-US" sz="2000" b="1" dirty="0">
                <a:solidFill>
                  <a:srgbClr val="FFFF00"/>
                </a:solidFill>
                <a:latin typeface="Arial" panose="020B0604020202020204" pitchFamily="34" charset="0"/>
                <a:cs typeface="Arial" panose="020B0604020202020204" pitchFamily="34" charset="0"/>
              </a:rPr>
              <a:t>* or as planned</a:t>
            </a:r>
            <a:endParaRPr lang="en-US" sz="2000" dirty="0">
              <a:solidFill>
                <a:srgbClr val="FFFF00"/>
              </a:solidFill>
              <a:latin typeface="Arial" panose="020B0604020202020204" pitchFamily="34" charset="0"/>
              <a:cs typeface="Arial" panose="020B0604020202020204" pitchFamily="34" charset="0"/>
            </a:endParaRPr>
          </a:p>
        </p:txBody>
      </p:sp>
      <p:pic>
        <p:nvPicPr>
          <p:cNvPr id="7182" name="Picture 14" descr="How To Use Project Status Updates (Explained with Examp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02300" y="850900"/>
            <a:ext cx="5969000" cy="537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8909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010"/>
            <a:ext cx="11007436" cy="743245"/>
          </a:xfrm>
        </p:spPr>
        <p:txBody>
          <a:bodyPr>
            <a:normAutofit/>
          </a:bodyPr>
          <a:lstStyle/>
          <a:p>
            <a:pPr algn="ctr"/>
            <a:r>
              <a:rPr lang="en-US" sz="3200" b="1" dirty="0">
                <a:solidFill>
                  <a:srgbClr val="FFFF00"/>
                </a:solidFill>
                <a:latin typeface="Arial" panose="020B0604020202020204" pitchFamily="34" charset="0"/>
                <a:cs typeface="Arial" panose="020B0604020202020204" pitchFamily="34" charset="0"/>
              </a:rPr>
              <a:t>13.1  Identify Stakeholders-Inputs </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066800"/>
            <a:ext cx="10661073" cy="5638800"/>
          </a:xfrm>
        </p:spPr>
        <p:txBody>
          <a:bodyPr>
            <a:normAutofit lnSpcReduction="10000"/>
          </a:bodyPr>
          <a:lstStyle/>
          <a:p>
            <a:pPr algn="just"/>
            <a:r>
              <a:rPr lang="en-US" b="1" dirty="0">
                <a:solidFill>
                  <a:srgbClr val="FFFF00"/>
                </a:solidFill>
                <a:latin typeface="Arial" panose="020B0604020202020204" pitchFamily="34" charset="0"/>
                <a:cs typeface="Arial" panose="020B0604020202020204" pitchFamily="34" charset="0"/>
              </a:rPr>
              <a:t>13.1.1.1 – Project Charter	- </a:t>
            </a:r>
            <a:r>
              <a:rPr lang="en-US" sz="2200" b="1" dirty="0">
                <a:solidFill>
                  <a:schemeClr val="bg1"/>
                </a:solidFill>
                <a:latin typeface="Arial" panose="020B0604020202020204" pitchFamily="34" charset="0"/>
                <a:cs typeface="Arial" panose="020B0604020202020204" pitchFamily="34" charset="0"/>
              </a:rPr>
              <a:t>Identify key stakeholder list and their responsibilities, if any </a:t>
            </a:r>
          </a:p>
          <a:p>
            <a:pPr algn="just"/>
            <a:endParaRPr lang="en-US" b="1" dirty="0">
              <a:solidFill>
                <a:srgbClr val="FFFF00"/>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13.1.1.2	   Business Documents - </a:t>
            </a:r>
            <a:r>
              <a:rPr lang="en-US" sz="2200" b="1" dirty="0">
                <a:solidFill>
                  <a:schemeClr val="bg1"/>
                </a:solidFill>
                <a:latin typeface="Arial" panose="020B0604020202020204" pitchFamily="34" charset="0"/>
                <a:cs typeface="Arial" panose="020B0604020202020204" pitchFamily="34" charset="0"/>
              </a:rPr>
              <a:t>In the first iteration of the identify stakeholder process, the “Business Case” and the “Benefits Management Plan (BMP)” are the sources of information about project’s stakeholders</a:t>
            </a:r>
          </a:p>
          <a:p>
            <a:pPr lvl="1" algn="just"/>
            <a:r>
              <a:rPr lang="en-US" sz="2000" b="1" dirty="0">
                <a:solidFill>
                  <a:srgbClr val="FFFF00"/>
                </a:solidFill>
                <a:latin typeface="Arial" panose="020B0604020202020204" pitchFamily="34" charset="0"/>
                <a:cs typeface="Arial" panose="020B0604020202020204" pitchFamily="34" charset="0"/>
              </a:rPr>
              <a:t>Business Case </a:t>
            </a:r>
            <a:r>
              <a:rPr lang="en-US" sz="2000" b="1" dirty="0">
                <a:solidFill>
                  <a:schemeClr val="bg1"/>
                </a:solidFill>
                <a:latin typeface="Arial" panose="020B0604020202020204" pitchFamily="34" charset="0"/>
                <a:cs typeface="Arial" panose="020B0604020202020204" pitchFamily="34" charset="0"/>
              </a:rPr>
              <a:t>– Identifies project objectives and identify an initial list of SHs</a:t>
            </a:r>
          </a:p>
          <a:p>
            <a:pPr lvl="1" algn="just"/>
            <a:r>
              <a:rPr lang="en-US" sz="2000" b="1" dirty="0">
                <a:solidFill>
                  <a:srgbClr val="FFFF00"/>
                </a:solidFill>
                <a:latin typeface="Arial" panose="020B0604020202020204" pitchFamily="34" charset="0"/>
                <a:cs typeface="Arial" panose="020B0604020202020204" pitchFamily="34" charset="0"/>
              </a:rPr>
              <a:t>Benefits Management Plan (BMP)</a:t>
            </a:r>
            <a:r>
              <a:rPr lang="en-US" sz="2000" b="1" dirty="0">
                <a:solidFill>
                  <a:schemeClr val="bg1"/>
                </a:solidFill>
                <a:latin typeface="Arial" panose="020B0604020202020204" pitchFamily="34" charset="0"/>
                <a:cs typeface="Arial" panose="020B0604020202020204" pitchFamily="34" charset="0"/>
              </a:rPr>
              <a:t> – Describes expected plan for realizing the benefits claimed in the business case. It may identify individuals and groups that will benefit from the delivery outcomes of the project </a:t>
            </a:r>
          </a:p>
          <a:p>
            <a:pPr lvl="1" algn="just"/>
            <a:endParaRPr lang="en-US" sz="2000" b="1" dirty="0">
              <a:solidFill>
                <a:srgbClr val="FFFF00"/>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13.1.1.3	   Project Management Plan – </a:t>
            </a:r>
            <a:r>
              <a:rPr lang="en-US" sz="2200" b="1" dirty="0">
                <a:solidFill>
                  <a:schemeClr val="bg1"/>
                </a:solidFill>
                <a:latin typeface="Arial" panose="020B0604020202020204" pitchFamily="34" charset="0"/>
                <a:cs typeface="Arial" panose="020B0604020202020204" pitchFamily="34" charset="0"/>
              </a:rPr>
              <a:t>Initially not available while identifying SHs but once prepared may include:</a:t>
            </a:r>
          </a:p>
          <a:p>
            <a:pPr lvl="1" algn="just"/>
            <a:r>
              <a:rPr lang="en-US" sz="1800" b="1" dirty="0">
                <a:solidFill>
                  <a:srgbClr val="FFFF00"/>
                </a:solidFill>
                <a:latin typeface="Arial" panose="020B0604020202020204" pitchFamily="34" charset="0"/>
                <a:cs typeface="Arial" panose="020B0604020202020204" pitchFamily="34" charset="0"/>
              </a:rPr>
              <a:t>Communication Management Plan (CMP)</a:t>
            </a:r>
            <a:r>
              <a:rPr lang="en-US" sz="1800" b="1" dirty="0">
                <a:solidFill>
                  <a:schemeClr val="bg1"/>
                </a:solidFill>
                <a:latin typeface="Arial" panose="020B0604020202020204" pitchFamily="34" charset="0"/>
                <a:cs typeface="Arial" panose="020B0604020202020204" pitchFamily="34" charset="0"/>
              </a:rPr>
              <a:t> – Communications and stakeholder engagement are strongly linked. CMP is a big source of knowledge about SHs</a:t>
            </a:r>
          </a:p>
          <a:p>
            <a:pPr lvl="1" algn="just"/>
            <a:r>
              <a:rPr lang="en-US" sz="1800" b="1" dirty="0">
                <a:solidFill>
                  <a:srgbClr val="FFFF00"/>
                </a:solidFill>
                <a:latin typeface="Arial" panose="020B0604020202020204" pitchFamily="34" charset="0"/>
                <a:cs typeface="Arial" panose="020B0604020202020204" pitchFamily="34" charset="0"/>
              </a:rPr>
              <a:t>Stakeholder Engagement Plan </a:t>
            </a:r>
            <a:r>
              <a:rPr lang="en-US" sz="1800" b="1" dirty="0">
                <a:solidFill>
                  <a:schemeClr val="bg1"/>
                </a:solidFill>
                <a:latin typeface="Arial" panose="020B0604020202020204" pitchFamily="34" charset="0"/>
                <a:cs typeface="Arial" panose="020B0604020202020204" pitchFamily="34" charset="0"/>
              </a:rPr>
              <a:t>– Identifies management strategies and actions required to effectively engage SHs </a:t>
            </a:r>
          </a:p>
          <a:p>
            <a:pPr algn="just"/>
            <a:endParaRPr lang="en-US" b="1"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086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circle(in)">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circle(in)">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circle(in)">
                                      <p:cBhvr>
                                        <p:cTn id="3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010"/>
            <a:ext cx="11007436" cy="743245"/>
          </a:xfrm>
        </p:spPr>
        <p:txBody>
          <a:bodyPr>
            <a:normAutofit/>
          </a:bodyPr>
          <a:lstStyle/>
          <a:p>
            <a:pPr algn="ctr"/>
            <a:r>
              <a:rPr lang="en-US" sz="3200" b="1" dirty="0">
                <a:solidFill>
                  <a:srgbClr val="FFFF00"/>
                </a:solidFill>
                <a:latin typeface="Arial" panose="020B0604020202020204" pitchFamily="34" charset="0"/>
                <a:cs typeface="Arial" panose="020B0604020202020204" pitchFamily="34" charset="0"/>
              </a:rPr>
              <a:t>13.1  Identify Stakeholders - Inputs </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066800"/>
            <a:ext cx="10661073" cy="5638800"/>
          </a:xfrm>
        </p:spPr>
        <p:txBody>
          <a:bodyPr>
            <a:normAutofit fontScale="92500" lnSpcReduction="20000"/>
          </a:bodyPr>
          <a:lstStyle/>
          <a:p>
            <a:pPr algn="just"/>
            <a:r>
              <a:rPr lang="en-US" b="1" dirty="0">
                <a:solidFill>
                  <a:srgbClr val="FFFF00"/>
                </a:solidFill>
                <a:latin typeface="Arial" panose="020B0604020202020204" pitchFamily="34" charset="0"/>
                <a:cs typeface="Arial" panose="020B0604020202020204" pitchFamily="34" charset="0"/>
              </a:rPr>
              <a:t>13.1.1.4  Project Documents – </a:t>
            </a:r>
            <a:r>
              <a:rPr lang="en-US" sz="2200" b="1" dirty="0">
                <a:solidFill>
                  <a:schemeClr val="bg1"/>
                </a:solidFill>
                <a:latin typeface="Arial" panose="020B0604020202020204" pitchFamily="34" charset="0"/>
                <a:cs typeface="Arial" panose="020B0604020202020204" pitchFamily="34" charset="0"/>
              </a:rPr>
              <a:t>It is unlikely that PDs will be an input for initial stakeholder identification. It continues throughout the project. Few documents which can help in SHs identification are:</a:t>
            </a:r>
          </a:p>
          <a:p>
            <a:pPr lvl="1" algn="just"/>
            <a:r>
              <a:rPr lang="en-US" sz="1800" b="1" dirty="0">
                <a:solidFill>
                  <a:srgbClr val="FFFF00"/>
                </a:solidFill>
                <a:latin typeface="Arial" panose="020B0604020202020204" pitchFamily="34" charset="0"/>
                <a:cs typeface="Arial" panose="020B0604020202020204" pitchFamily="34" charset="0"/>
              </a:rPr>
              <a:t>Change Log (Section 4.6.3.3) </a:t>
            </a:r>
            <a:r>
              <a:rPr lang="en-US" sz="1800" b="1" dirty="0">
                <a:solidFill>
                  <a:schemeClr val="bg1"/>
                </a:solidFill>
                <a:latin typeface="Arial" panose="020B0604020202020204" pitchFamily="34" charset="0"/>
                <a:cs typeface="Arial" panose="020B0604020202020204" pitchFamily="34" charset="0"/>
              </a:rPr>
              <a:t>– May introduce a new stakeholder or change the nature of existing SH’s relationship to the project</a:t>
            </a:r>
          </a:p>
          <a:p>
            <a:pPr lvl="1" algn="just"/>
            <a:r>
              <a:rPr lang="en-US" sz="1800" b="1" dirty="0">
                <a:solidFill>
                  <a:srgbClr val="FFFF00"/>
                </a:solidFill>
                <a:latin typeface="Arial" panose="020B0604020202020204" pitchFamily="34" charset="0"/>
                <a:cs typeface="Arial" panose="020B0604020202020204" pitchFamily="34" charset="0"/>
              </a:rPr>
              <a:t>Issue Log (Section 4.3.3.3) </a:t>
            </a:r>
            <a:r>
              <a:rPr lang="en-US" sz="1800" b="1" dirty="0">
                <a:solidFill>
                  <a:schemeClr val="bg1"/>
                </a:solidFill>
                <a:latin typeface="Arial" panose="020B0604020202020204" pitchFamily="34" charset="0"/>
                <a:cs typeface="Arial" panose="020B0604020202020204" pitchFamily="34" charset="0"/>
              </a:rPr>
              <a:t>– Records issues that may introduce new SHs or change the type of participation of existing SHs</a:t>
            </a:r>
          </a:p>
          <a:p>
            <a:pPr lvl="1" algn="just"/>
            <a:r>
              <a:rPr lang="en-US" sz="1800" b="1" dirty="0">
                <a:solidFill>
                  <a:srgbClr val="FFFF00"/>
                </a:solidFill>
                <a:latin typeface="Arial" panose="020B0604020202020204" pitchFamily="34" charset="0"/>
                <a:cs typeface="Arial" panose="020B0604020202020204" pitchFamily="34" charset="0"/>
              </a:rPr>
              <a:t>Requirements documentation (Section 5.2.3.1) </a:t>
            </a:r>
            <a:r>
              <a:rPr lang="en-US" sz="1800" b="1" dirty="0">
                <a:solidFill>
                  <a:schemeClr val="bg1"/>
                </a:solidFill>
                <a:latin typeface="Arial" panose="020B0604020202020204" pitchFamily="34" charset="0"/>
                <a:cs typeface="Arial" panose="020B0604020202020204" pitchFamily="34" charset="0"/>
              </a:rPr>
              <a:t>– Requirements can provide information on potential SHs</a:t>
            </a:r>
          </a:p>
          <a:p>
            <a:pPr lvl="1" algn="just"/>
            <a:endParaRPr lang="en-US" b="1" dirty="0">
              <a:solidFill>
                <a:schemeClr val="bg1"/>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13.1.1.5  Agreements– </a:t>
            </a:r>
            <a:r>
              <a:rPr lang="en-US" sz="2200" b="1" dirty="0">
                <a:solidFill>
                  <a:schemeClr val="bg1"/>
                </a:solidFill>
                <a:latin typeface="Arial" panose="020B0604020202020204" pitchFamily="34" charset="0"/>
                <a:cs typeface="Arial" panose="020B0604020202020204" pitchFamily="34" charset="0"/>
              </a:rPr>
              <a:t>The parties of an agreement are project SHs. Agreement can contain references to additional SHs</a:t>
            </a:r>
          </a:p>
          <a:p>
            <a:pPr algn="just"/>
            <a:endParaRPr lang="en-US" sz="2200" b="1" dirty="0">
              <a:solidFill>
                <a:schemeClr val="bg1"/>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13.1.1.6  EEFs </a:t>
            </a:r>
            <a:r>
              <a:rPr lang="en-US" sz="2400" b="1" dirty="0">
                <a:solidFill>
                  <a:srgbClr val="FFFF00"/>
                </a:solidFill>
                <a:latin typeface="Arial" panose="020B0604020202020204" pitchFamily="34" charset="0"/>
                <a:cs typeface="Arial" panose="020B0604020202020204" pitchFamily="34" charset="0"/>
              </a:rPr>
              <a:t>– </a:t>
            </a:r>
            <a:r>
              <a:rPr lang="en-US" sz="2200" b="1" dirty="0">
                <a:solidFill>
                  <a:schemeClr val="bg1"/>
                </a:solidFill>
                <a:latin typeface="Arial" panose="020B0604020202020204" pitchFamily="34" charset="0"/>
                <a:cs typeface="Arial" panose="020B0604020202020204" pitchFamily="34" charset="0"/>
              </a:rPr>
              <a:t>EEFs which can influence like org culture, political climate, governance framework, geographical distribution of duties </a:t>
            </a:r>
            <a:r>
              <a:rPr lang="en-US" sz="2200" b="1" dirty="0" err="1">
                <a:solidFill>
                  <a:schemeClr val="bg1"/>
                </a:solidFill>
                <a:latin typeface="Arial" panose="020B0604020202020204" pitchFamily="34" charset="0"/>
                <a:cs typeface="Arial" panose="020B0604020202020204" pitchFamily="34" charset="0"/>
              </a:rPr>
              <a:t>etc</a:t>
            </a:r>
            <a:endParaRPr lang="en-US" sz="2200" b="1" dirty="0">
              <a:solidFill>
                <a:schemeClr val="bg1"/>
              </a:solidFill>
              <a:latin typeface="Arial" panose="020B0604020202020204" pitchFamily="34" charset="0"/>
              <a:cs typeface="Arial" panose="020B0604020202020204" pitchFamily="34" charset="0"/>
            </a:endParaRPr>
          </a:p>
          <a:p>
            <a:pPr marL="0" indent="0" algn="just">
              <a:buNone/>
            </a:pPr>
            <a:endParaRPr lang="en-US" sz="2200" b="1" dirty="0">
              <a:solidFill>
                <a:schemeClr val="bg1"/>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13.1.1.7  OPAs </a:t>
            </a:r>
            <a:r>
              <a:rPr lang="en-US" sz="1800" b="1" dirty="0">
                <a:solidFill>
                  <a:srgbClr val="FFFF00"/>
                </a:solidFill>
                <a:latin typeface="Arial" panose="020B0604020202020204" pitchFamily="34" charset="0"/>
                <a:cs typeface="Arial" panose="020B0604020202020204" pitchFamily="34" charset="0"/>
              </a:rPr>
              <a:t>– </a:t>
            </a:r>
            <a:r>
              <a:rPr lang="en-US" sz="2200" b="1" dirty="0">
                <a:solidFill>
                  <a:schemeClr val="bg1"/>
                </a:solidFill>
                <a:latin typeface="Arial" panose="020B0604020202020204" pitchFamily="34" charset="0"/>
                <a:cs typeface="Arial" panose="020B0604020202020204" pitchFamily="34" charset="0"/>
              </a:rPr>
              <a:t>OPAs which can influence the identify SHs process are SH Register templates and instructions, SH register from previous projects, lessons learnt with info about preferences, actions, and involvement of SHs</a:t>
            </a: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497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circle(in)">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circle(in)">
                                      <p:cBhvr>
                                        <p:cTn id="37"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010"/>
            <a:ext cx="11007436" cy="743245"/>
          </a:xfrm>
        </p:spPr>
        <p:txBody>
          <a:bodyPr>
            <a:normAutofit/>
          </a:bodyPr>
          <a:lstStyle/>
          <a:p>
            <a:pPr algn="ctr"/>
            <a:r>
              <a:rPr lang="en-US" sz="3200" b="1" dirty="0">
                <a:solidFill>
                  <a:srgbClr val="FFFF00"/>
                </a:solidFill>
                <a:latin typeface="Arial" panose="020B0604020202020204" pitchFamily="34" charset="0"/>
                <a:cs typeface="Arial" panose="020B0604020202020204" pitchFamily="34" charset="0"/>
              </a:rPr>
              <a:t>13.1  Identify Stakeholders – Tools &amp; Techniques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066800"/>
            <a:ext cx="10661073" cy="5638800"/>
          </a:xfrm>
        </p:spPr>
        <p:txBody>
          <a:bodyPr>
            <a:normAutofit lnSpcReduction="10000"/>
          </a:bodyPr>
          <a:lstStyle/>
          <a:p>
            <a:pPr algn="just"/>
            <a:r>
              <a:rPr lang="en-US" b="1" dirty="0">
                <a:solidFill>
                  <a:srgbClr val="FFFF00"/>
                </a:solidFill>
                <a:latin typeface="Arial" panose="020B0604020202020204" pitchFamily="34" charset="0"/>
                <a:cs typeface="Arial" panose="020B0604020202020204" pitchFamily="34" charset="0"/>
              </a:rPr>
              <a:t>13.1.2.1  Expert Judgment (Section 4.1.2.1)– </a:t>
            </a:r>
            <a:r>
              <a:rPr lang="en-US" sz="2200" b="1" dirty="0">
                <a:solidFill>
                  <a:schemeClr val="bg1"/>
                </a:solidFill>
                <a:latin typeface="Arial" panose="020B0604020202020204" pitchFamily="34" charset="0"/>
                <a:cs typeface="Arial" panose="020B0604020202020204" pitchFamily="34" charset="0"/>
              </a:rPr>
              <a:t>Expertise should be considered from expert individuals or groups on following:</a:t>
            </a:r>
          </a:p>
          <a:p>
            <a:pPr lvl="1" algn="just"/>
            <a:r>
              <a:rPr lang="en-US" sz="2100" b="1" dirty="0">
                <a:solidFill>
                  <a:srgbClr val="FFFF00"/>
                </a:solidFill>
                <a:latin typeface="Arial" panose="020B0604020202020204" pitchFamily="34" charset="0"/>
                <a:cs typeface="Arial" panose="020B0604020202020204" pitchFamily="34" charset="0"/>
              </a:rPr>
              <a:t>Understanding the politics and power structures in the organization</a:t>
            </a:r>
            <a:endParaRPr lang="en-US" sz="2100" b="1" dirty="0">
              <a:solidFill>
                <a:schemeClr val="bg1"/>
              </a:solidFill>
              <a:latin typeface="Arial" panose="020B0604020202020204" pitchFamily="34" charset="0"/>
              <a:cs typeface="Arial" panose="020B0604020202020204" pitchFamily="34" charset="0"/>
            </a:endParaRPr>
          </a:p>
          <a:p>
            <a:pPr lvl="1" algn="just"/>
            <a:r>
              <a:rPr lang="en-US" sz="2100" b="1" dirty="0">
                <a:solidFill>
                  <a:srgbClr val="FFFF00"/>
                </a:solidFill>
                <a:latin typeface="Arial" panose="020B0604020202020204" pitchFamily="34" charset="0"/>
                <a:cs typeface="Arial" panose="020B0604020202020204" pitchFamily="34" charset="0"/>
              </a:rPr>
              <a:t>Knowledge of environment and culture of organizations, other affected organizations including customers and the wider environment</a:t>
            </a:r>
            <a:endParaRPr lang="en-US" sz="2100" b="1" dirty="0">
              <a:solidFill>
                <a:schemeClr val="bg1"/>
              </a:solidFill>
              <a:latin typeface="Arial" panose="020B0604020202020204" pitchFamily="34" charset="0"/>
              <a:cs typeface="Arial" panose="020B0604020202020204" pitchFamily="34" charset="0"/>
            </a:endParaRPr>
          </a:p>
          <a:p>
            <a:pPr lvl="1" algn="just"/>
            <a:r>
              <a:rPr lang="en-US" sz="2100" b="1" dirty="0">
                <a:solidFill>
                  <a:srgbClr val="FFFF00"/>
                </a:solidFill>
                <a:latin typeface="Arial" panose="020B0604020202020204" pitchFamily="34" charset="0"/>
                <a:cs typeface="Arial" panose="020B0604020202020204" pitchFamily="34" charset="0"/>
              </a:rPr>
              <a:t>Knowledge of industry or type of project deliverable, and</a:t>
            </a:r>
          </a:p>
          <a:p>
            <a:pPr lvl="1" algn="just"/>
            <a:r>
              <a:rPr lang="en-US" sz="2100" b="1" dirty="0">
                <a:solidFill>
                  <a:srgbClr val="FFFF00"/>
                </a:solidFill>
                <a:latin typeface="Arial" panose="020B0604020202020204" pitchFamily="34" charset="0"/>
                <a:cs typeface="Arial" panose="020B0604020202020204" pitchFamily="34" charset="0"/>
              </a:rPr>
              <a:t>Knowledge of individual team member contributions and expertise</a:t>
            </a:r>
            <a:endParaRPr lang="en-US" sz="21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13.1.2.2	</a:t>
            </a:r>
            <a:r>
              <a:rPr lang="en-US" sz="2200" b="1" dirty="0">
                <a:solidFill>
                  <a:schemeClr val="bg1"/>
                </a:solidFill>
                <a:latin typeface="Arial" panose="020B0604020202020204" pitchFamily="34" charset="0"/>
                <a:cs typeface="Arial" panose="020B0604020202020204" pitchFamily="34" charset="0"/>
              </a:rPr>
              <a:t>Techniques that can be used are:</a:t>
            </a:r>
          </a:p>
          <a:p>
            <a:pPr lvl="1" algn="just"/>
            <a:r>
              <a:rPr lang="en-US" sz="2100" b="1" dirty="0">
                <a:solidFill>
                  <a:srgbClr val="FFFF00"/>
                </a:solidFill>
                <a:latin typeface="Arial" panose="020B0604020202020204" pitchFamily="34" charset="0"/>
                <a:cs typeface="Arial" panose="020B0604020202020204" pitchFamily="34" charset="0"/>
              </a:rPr>
              <a:t>Questionnaires and surveys – Data Gathering one-on-one reviews, focus group sessions </a:t>
            </a:r>
            <a:r>
              <a:rPr lang="en-US" sz="2100" b="1" dirty="0" err="1">
                <a:solidFill>
                  <a:srgbClr val="FFFF00"/>
                </a:solidFill>
                <a:latin typeface="Arial" panose="020B0604020202020204" pitchFamily="34" charset="0"/>
                <a:cs typeface="Arial" panose="020B0604020202020204" pitchFamily="34" charset="0"/>
              </a:rPr>
              <a:t>etc</a:t>
            </a:r>
            <a:endParaRPr lang="en-US" sz="2100" b="1" dirty="0">
              <a:solidFill>
                <a:srgbClr val="FFFF00"/>
              </a:solidFill>
              <a:latin typeface="Arial" panose="020B0604020202020204" pitchFamily="34" charset="0"/>
              <a:cs typeface="Arial" panose="020B0604020202020204" pitchFamily="34" charset="0"/>
            </a:endParaRPr>
          </a:p>
          <a:p>
            <a:pPr lvl="1" algn="just"/>
            <a:r>
              <a:rPr lang="en-US" sz="2100" b="1" dirty="0">
                <a:solidFill>
                  <a:srgbClr val="FFFF00"/>
                </a:solidFill>
                <a:latin typeface="Arial" panose="020B0604020202020204" pitchFamily="34" charset="0"/>
                <a:cs typeface="Arial" panose="020B0604020202020204" pitchFamily="34" charset="0"/>
              </a:rPr>
              <a:t>Brainstorming</a:t>
            </a:r>
          </a:p>
          <a:p>
            <a:pPr lvl="2" algn="just"/>
            <a:r>
              <a:rPr lang="en-US" sz="2100" b="1" dirty="0">
                <a:solidFill>
                  <a:srgbClr val="FFFF00"/>
                </a:solidFill>
                <a:latin typeface="Arial" panose="020B0604020202020204" pitchFamily="34" charset="0"/>
                <a:cs typeface="Arial" panose="020B0604020202020204" pitchFamily="34" charset="0"/>
              </a:rPr>
              <a:t>Brainstorming – </a:t>
            </a:r>
            <a:r>
              <a:rPr lang="en-US" sz="2100" b="1" dirty="0">
                <a:solidFill>
                  <a:schemeClr val="bg1"/>
                </a:solidFill>
                <a:latin typeface="Arial" panose="020B0604020202020204" pitchFamily="34" charset="0"/>
                <a:cs typeface="Arial" panose="020B0604020202020204" pitchFamily="34" charset="0"/>
              </a:rPr>
              <a:t>A general data gathering technique that elicits input from groups such as team members or SMEs</a:t>
            </a:r>
          </a:p>
          <a:p>
            <a:pPr lvl="2" algn="just"/>
            <a:r>
              <a:rPr lang="en-US" sz="2100" b="1" dirty="0">
                <a:solidFill>
                  <a:srgbClr val="FFFF00"/>
                </a:solidFill>
                <a:latin typeface="Arial" panose="020B0604020202020204" pitchFamily="34" charset="0"/>
                <a:cs typeface="Arial" panose="020B0604020202020204" pitchFamily="34" charset="0"/>
              </a:rPr>
              <a:t>Brain writing – </a:t>
            </a:r>
            <a:r>
              <a:rPr lang="en-US" sz="2100" b="1" dirty="0">
                <a:solidFill>
                  <a:schemeClr val="bg1"/>
                </a:solidFill>
                <a:latin typeface="Arial" panose="020B0604020202020204" pitchFamily="34" charset="0"/>
                <a:cs typeface="Arial" panose="020B0604020202020204" pitchFamily="34" charset="0"/>
              </a:rPr>
              <a:t>A refinement of brainstorming that allows individuals participants time to consider the question individually before the group creativity session is held using face-to-face  or virtual environment</a:t>
            </a: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690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circle(in)">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circle(in)">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circle(in)">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circle(in)">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circle(in)">
                                      <p:cBhvr>
                                        <p:cTn id="52"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010"/>
            <a:ext cx="11007436" cy="743245"/>
          </a:xfrm>
        </p:spPr>
        <p:txBody>
          <a:bodyPr>
            <a:normAutofit/>
          </a:bodyPr>
          <a:lstStyle/>
          <a:p>
            <a:pPr algn="ctr"/>
            <a:r>
              <a:rPr lang="en-US" sz="3200" b="1" dirty="0">
                <a:solidFill>
                  <a:srgbClr val="FFFF00"/>
                </a:solidFill>
                <a:latin typeface="Arial" panose="020B0604020202020204" pitchFamily="34" charset="0"/>
                <a:cs typeface="Arial" panose="020B0604020202020204" pitchFamily="34" charset="0"/>
              </a:rPr>
              <a:t>13.1  Identify Stakeholders – Tools &amp; Techniques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066800"/>
            <a:ext cx="10661073" cy="5638800"/>
          </a:xfrm>
        </p:spPr>
        <p:txBody>
          <a:bodyPr>
            <a:normAutofit/>
          </a:bodyPr>
          <a:lstStyle/>
          <a:p>
            <a:pPr algn="just"/>
            <a:r>
              <a:rPr lang="en-US" b="1" dirty="0">
                <a:solidFill>
                  <a:srgbClr val="FFFF00"/>
                </a:solidFill>
                <a:latin typeface="Arial" panose="020B0604020202020204" pitchFamily="34" charset="0"/>
                <a:cs typeface="Arial" panose="020B0604020202020204" pitchFamily="34" charset="0"/>
              </a:rPr>
              <a:t>13.1.2.3  Data Analysis– </a:t>
            </a:r>
            <a:r>
              <a:rPr lang="en-US" sz="2200" b="1" dirty="0">
                <a:solidFill>
                  <a:schemeClr val="bg1"/>
                </a:solidFill>
                <a:latin typeface="Arial" panose="020B0604020202020204" pitchFamily="34" charset="0"/>
                <a:cs typeface="Arial" panose="020B0604020202020204" pitchFamily="34" charset="0"/>
              </a:rPr>
              <a:t>Techniques which can be used are:</a:t>
            </a:r>
          </a:p>
          <a:p>
            <a:pPr lvl="1" algn="just"/>
            <a:r>
              <a:rPr lang="en-US" sz="2000" b="1" dirty="0">
                <a:solidFill>
                  <a:srgbClr val="FFFF00"/>
                </a:solidFill>
                <a:latin typeface="Arial" panose="020B0604020202020204" pitchFamily="34" charset="0"/>
                <a:cs typeface="Arial" panose="020B0604020202020204" pitchFamily="34" charset="0"/>
              </a:rPr>
              <a:t>Stakeholder analysis: </a:t>
            </a:r>
            <a:r>
              <a:rPr lang="en-US" sz="2000" b="1" dirty="0">
                <a:solidFill>
                  <a:schemeClr val="bg1"/>
                </a:solidFill>
                <a:latin typeface="Arial" panose="020B0604020202020204" pitchFamily="34" charset="0"/>
                <a:cs typeface="Arial" panose="020B0604020202020204" pitchFamily="34" charset="0"/>
              </a:rPr>
              <a:t>Results in getting relevant information such as SHs positions in the org, roles on the project, “stakes”, expectations, attitudes (their level od support),and their interest in information about the project</a:t>
            </a:r>
          </a:p>
          <a:p>
            <a:pPr lvl="2" algn="just"/>
            <a:r>
              <a:rPr lang="en-US" sz="1700" b="1" dirty="0">
                <a:solidFill>
                  <a:srgbClr val="FFFF00"/>
                </a:solidFill>
                <a:latin typeface="Arial" panose="020B0604020202020204" pitchFamily="34" charset="0"/>
                <a:cs typeface="Arial" panose="020B0604020202020204" pitchFamily="34" charset="0"/>
              </a:rPr>
              <a:t>Stakes can include:</a:t>
            </a:r>
          </a:p>
          <a:p>
            <a:pPr lvl="3" algn="just"/>
            <a:r>
              <a:rPr lang="en-US" sz="1600" b="1" dirty="0">
                <a:solidFill>
                  <a:srgbClr val="FFFF00"/>
                </a:solidFill>
                <a:latin typeface="Arial" panose="020B0604020202020204" pitchFamily="34" charset="0"/>
                <a:cs typeface="Arial" panose="020B0604020202020204" pitchFamily="34" charset="0"/>
              </a:rPr>
              <a:t>Interest – </a:t>
            </a:r>
            <a:r>
              <a:rPr lang="en-US" sz="1600" b="1" dirty="0">
                <a:solidFill>
                  <a:schemeClr val="bg1"/>
                </a:solidFill>
                <a:latin typeface="Arial" panose="020B0604020202020204" pitchFamily="34" charset="0"/>
                <a:cs typeface="Arial" panose="020B0604020202020204" pitchFamily="34" charset="0"/>
              </a:rPr>
              <a:t>A person or group can be affected by a decision related to project or its outcomes</a:t>
            </a:r>
          </a:p>
          <a:p>
            <a:pPr lvl="3" algn="just"/>
            <a:r>
              <a:rPr lang="en-US" sz="1600" b="1" dirty="0">
                <a:solidFill>
                  <a:srgbClr val="FFFF00"/>
                </a:solidFill>
                <a:latin typeface="Arial" panose="020B0604020202020204" pitchFamily="34" charset="0"/>
                <a:cs typeface="Arial" panose="020B0604020202020204" pitchFamily="34" charset="0"/>
              </a:rPr>
              <a:t>Rights (Legal or moral rights) – </a:t>
            </a:r>
            <a:r>
              <a:rPr lang="en-US" sz="1600" b="1" dirty="0">
                <a:solidFill>
                  <a:schemeClr val="bg1"/>
                </a:solidFill>
                <a:latin typeface="Arial" panose="020B0604020202020204" pitchFamily="34" charset="0"/>
                <a:cs typeface="Arial" panose="020B0604020202020204" pitchFamily="34" charset="0"/>
              </a:rPr>
              <a:t>Legal rights of a country for occupational health and safety; moral may involves concepts of protection of historical sites or environmental sustainability</a:t>
            </a:r>
          </a:p>
          <a:p>
            <a:pPr lvl="3" algn="just"/>
            <a:r>
              <a:rPr lang="en-US" sz="1600" b="1" dirty="0">
                <a:solidFill>
                  <a:srgbClr val="FFFF00"/>
                </a:solidFill>
                <a:latin typeface="Arial" panose="020B0604020202020204" pitchFamily="34" charset="0"/>
                <a:cs typeface="Arial" panose="020B0604020202020204" pitchFamily="34" charset="0"/>
              </a:rPr>
              <a:t>Ownership – </a:t>
            </a:r>
            <a:r>
              <a:rPr lang="en-US" sz="1600" b="1" dirty="0">
                <a:solidFill>
                  <a:schemeClr val="bg1"/>
                </a:solidFill>
                <a:latin typeface="Arial" panose="020B0604020202020204" pitchFamily="34" charset="0"/>
                <a:cs typeface="Arial" panose="020B0604020202020204" pitchFamily="34" charset="0"/>
              </a:rPr>
              <a:t>A person or group has a legal title to an asset or property</a:t>
            </a:r>
          </a:p>
          <a:p>
            <a:pPr lvl="3" algn="just"/>
            <a:r>
              <a:rPr lang="en-US" sz="1600" b="1" dirty="0">
                <a:solidFill>
                  <a:srgbClr val="FFFF00"/>
                </a:solidFill>
                <a:latin typeface="Arial" panose="020B0604020202020204" pitchFamily="34" charset="0"/>
                <a:cs typeface="Arial" panose="020B0604020202020204" pitchFamily="34" charset="0"/>
              </a:rPr>
              <a:t>Knowledge – </a:t>
            </a:r>
            <a:r>
              <a:rPr lang="en-US" sz="1600" b="1" dirty="0">
                <a:solidFill>
                  <a:schemeClr val="bg1"/>
                </a:solidFill>
                <a:latin typeface="Arial" panose="020B0604020202020204" pitchFamily="34" charset="0"/>
                <a:cs typeface="Arial" panose="020B0604020202020204" pitchFamily="34" charset="0"/>
              </a:rPr>
              <a:t>Specialist knowledge, which can benefit the project through more effective delivery </a:t>
            </a:r>
            <a:r>
              <a:rPr lang="en-US" sz="1600" b="1" dirty="0" err="1">
                <a:solidFill>
                  <a:schemeClr val="bg1"/>
                </a:solidFill>
                <a:latin typeface="Arial" panose="020B0604020202020204" pitchFamily="34" charset="0"/>
                <a:cs typeface="Arial" panose="020B0604020202020204" pitchFamily="34" charset="0"/>
              </a:rPr>
              <a:t>etc</a:t>
            </a:r>
            <a:endParaRPr lang="en-US" sz="1600" b="1" dirty="0">
              <a:solidFill>
                <a:schemeClr val="bg1"/>
              </a:solidFill>
              <a:latin typeface="Arial" panose="020B0604020202020204" pitchFamily="34" charset="0"/>
              <a:cs typeface="Arial" panose="020B0604020202020204" pitchFamily="34" charset="0"/>
            </a:endParaRPr>
          </a:p>
          <a:p>
            <a:pPr lvl="3" algn="just"/>
            <a:r>
              <a:rPr lang="en-US" sz="1600" b="1" dirty="0">
                <a:solidFill>
                  <a:srgbClr val="FFFF00"/>
                </a:solidFill>
                <a:latin typeface="Arial" panose="020B0604020202020204" pitchFamily="34" charset="0"/>
                <a:cs typeface="Arial" panose="020B0604020202020204" pitchFamily="34" charset="0"/>
              </a:rPr>
              <a:t>Contribution – </a:t>
            </a:r>
            <a:r>
              <a:rPr lang="en-US" sz="1600" b="1" dirty="0">
                <a:solidFill>
                  <a:schemeClr val="bg1"/>
                </a:solidFill>
                <a:latin typeface="Arial" panose="020B0604020202020204" pitchFamily="34" charset="0"/>
                <a:cs typeface="Arial" panose="020B0604020202020204" pitchFamily="34" charset="0"/>
              </a:rPr>
              <a:t>Provision of funds or other resources, including HR, or providing support in advocacy of promoting objectives or acting as a buffer between the project and power structures of the organization and its politics</a:t>
            </a:r>
          </a:p>
          <a:p>
            <a:pPr lvl="3" algn="just"/>
            <a:endParaRPr lang="en-US" sz="1600" b="1" dirty="0">
              <a:solidFill>
                <a:schemeClr val="bg1"/>
              </a:solidFill>
              <a:latin typeface="Arial" panose="020B0604020202020204" pitchFamily="34" charset="0"/>
              <a:cs typeface="Arial" panose="020B0604020202020204" pitchFamily="34" charset="0"/>
            </a:endParaRPr>
          </a:p>
          <a:p>
            <a:pPr lvl="1" algn="just"/>
            <a:r>
              <a:rPr lang="en-US" sz="2000" b="1" dirty="0">
                <a:solidFill>
                  <a:srgbClr val="FFFF00"/>
                </a:solidFill>
                <a:latin typeface="Arial" panose="020B0604020202020204" pitchFamily="34" charset="0"/>
                <a:cs typeface="Arial" panose="020B0604020202020204" pitchFamily="34" charset="0"/>
              </a:rPr>
              <a:t>Document analysis (section 5.2.2.3): </a:t>
            </a:r>
            <a:r>
              <a:rPr lang="en-US" sz="2000" b="1" dirty="0">
                <a:solidFill>
                  <a:schemeClr val="bg1"/>
                </a:solidFill>
                <a:latin typeface="Arial" panose="020B0604020202020204" pitchFamily="34" charset="0"/>
                <a:cs typeface="Arial" panose="020B0604020202020204" pitchFamily="34" charset="0"/>
              </a:rPr>
              <a:t>Assessing the available project documentation and lessons learned from previous projects to identify SHs and other supporting information</a:t>
            </a:r>
          </a:p>
          <a:p>
            <a:pPr lvl="3" algn="just"/>
            <a:endParaRPr lang="en-US" sz="1600" b="1" dirty="0">
              <a:solidFill>
                <a:schemeClr val="bg1"/>
              </a:solidFill>
              <a:latin typeface="Arial" panose="020B0604020202020204" pitchFamily="34" charset="0"/>
              <a:cs typeface="Arial" panose="020B0604020202020204" pitchFamily="34" charset="0"/>
            </a:endParaRPr>
          </a:p>
          <a:p>
            <a:pPr lvl="3" algn="just"/>
            <a:endParaRPr lang="en-US" sz="16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481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ircle(in)">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circle(in)">
                                      <p:cBhvr>
                                        <p:cTn id="47"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310"/>
            <a:ext cx="11007436" cy="743245"/>
          </a:xfrm>
        </p:spPr>
        <p:txBody>
          <a:bodyPr>
            <a:normAutofit/>
          </a:bodyPr>
          <a:lstStyle/>
          <a:p>
            <a:pPr algn="ctr"/>
            <a:r>
              <a:rPr lang="en-US" sz="3200" b="1" dirty="0">
                <a:solidFill>
                  <a:srgbClr val="FFFF00"/>
                </a:solidFill>
                <a:latin typeface="Arial" panose="020B0604020202020204" pitchFamily="34" charset="0"/>
                <a:cs typeface="Arial" panose="020B0604020202020204" pitchFamily="34" charset="0"/>
              </a:rPr>
              <a:t>13.1  Identify Stakeholders – Tools &amp; Techniques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35001" y="774700"/>
            <a:ext cx="10864272" cy="5930900"/>
          </a:xfrm>
        </p:spPr>
        <p:txBody>
          <a:bodyPr>
            <a:normAutofit fontScale="92500" lnSpcReduction="20000"/>
          </a:bodyPr>
          <a:lstStyle/>
          <a:p>
            <a:pPr algn="just"/>
            <a:r>
              <a:rPr lang="en-US" b="1" dirty="0">
                <a:solidFill>
                  <a:srgbClr val="FFFF00"/>
                </a:solidFill>
                <a:latin typeface="Arial" panose="020B0604020202020204" pitchFamily="34" charset="0"/>
                <a:cs typeface="Arial" panose="020B0604020202020204" pitchFamily="34" charset="0"/>
              </a:rPr>
              <a:t>13.1.2.4  Data Representation– </a:t>
            </a:r>
            <a:r>
              <a:rPr lang="en-US" sz="2200" b="1" dirty="0">
                <a:solidFill>
                  <a:schemeClr val="bg1"/>
                </a:solidFill>
                <a:latin typeface="Arial" panose="020B0604020202020204" pitchFamily="34" charset="0"/>
                <a:cs typeface="Arial" panose="020B0604020202020204" pitchFamily="34" charset="0"/>
              </a:rPr>
              <a:t>Techniques which can be used are:</a:t>
            </a:r>
          </a:p>
          <a:p>
            <a:pPr lvl="1" algn="just"/>
            <a:r>
              <a:rPr lang="en-US" sz="2000" b="1" dirty="0">
                <a:solidFill>
                  <a:srgbClr val="FFFF00"/>
                </a:solidFill>
                <a:latin typeface="Arial" panose="020B0604020202020204" pitchFamily="34" charset="0"/>
                <a:cs typeface="Arial" panose="020B0604020202020204" pitchFamily="34" charset="0"/>
              </a:rPr>
              <a:t>Power/interest grid, power/influence grid, or impact/influence grid:      </a:t>
            </a:r>
            <a:r>
              <a:rPr lang="en-US" sz="2000" b="1" dirty="0">
                <a:solidFill>
                  <a:schemeClr val="bg1"/>
                </a:solidFill>
                <a:latin typeface="Arial" panose="020B0604020202020204" pitchFamily="34" charset="0"/>
                <a:cs typeface="Arial" panose="020B0604020202020204" pitchFamily="34" charset="0"/>
              </a:rPr>
              <a:t>Each supports a grouping of SHs according to their level of authority (power), level of concern (interest), ability to influence (Influence), or ability to cause changes to the project planning or execution (generally used for small projects or for projects with simple relationships between SHs and the project)</a:t>
            </a:r>
          </a:p>
          <a:p>
            <a:pPr lvl="1" algn="just"/>
            <a:r>
              <a:rPr lang="en-US" sz="2000" b="1" dirty="0">
                <a:solidFill>
                  <a:srgbClr val="FFFF00"/>
                </a:solidFill>
                <a:latin typeface="Arial" panose="020B0604020202020204" pitchFamily="34" charset="0"/>
                <a:cs typeface="Arial" panose="020B0604020202020204" pitchFamily="34" charset="0"/>
              </a:rPr>
              <a:t>Stakeholder Cube</a:t>
            </a:r>
            <a:r>
              <a:rPr lang="en-US" sz="2000" b="1" dirty="0">
                <a:solidFill>
                  <a:schemeClr val="bg1"/>
                </a:solidFill>
                <a:latin typeface="Arial" panose="020B0604020202020204" pitchFamily="34" charset="0"/>
                <a:cs typeface="Arial" panose="020B0604020202020204" pitchFamily="34" charset="0"/>
              </a:rPr>
              <a:t>:   This is a refinement of the grid models above. It combines elements into a three-dimensional model that can be useful for PMs and teams in identifying and engaging their stakeholder community.</a:t>
            </a:r>
          </a:p>
          <a:p>
            <a:pPr lvl="1" algn="just"/>
            <a:r>
              <a:rPr lang="en-US" sz="2000" b="1" dirty="0">
                <a:solidFill>
                  <a:srgbClr val="FFFF00"/>
                </a:solidFill>
                <a:latin typeface="Arial" panose="020B0604020202020204" pitchFamily="34" charset="0"/>
                <a:cs typeface="Arial" panose="020B0604020202020204" pitchFamily="34" charset="0"/>
              </a:rPr>
              <a:t>Salience Model</a:t>
            </a:r>
            <a:r>
              <a:rPr lang="en-US" sz="2000" b="1" dirty="0">
                <a:solidFill>
                  <a:schemeClr val="bg1"/>
                </a:solidFill>
                <a:latin typeface="Arial" panose="020B0604020202020204" pitchFamily="34" charset="0"/>
                <a:cs typeface="Arial" panose="020B0604020202020204" pitchFamily="34" charset="0"/>
              </a:rPr>
              <a:t>:	    Describes classes of stakeholders based on assessments of their power (level of authority or ability to influence outcomes) urgency (need for immediate attention), legitimacy (their involvement is appropriate)- Useful for large complex communities of SHs or where we have complex relationships within community</a:t>
            </a:r>
          </a:p>
          <a:p>
            <a:pPr lvl="1" algn="just"/>
            <a:r>
              <a:rPr lang="en-US" sz="2000" b="1" dirty="0">
                <a:solidFill>
                  <a:srgbClr val="FFFF00"/>
                </a:solidFill>
                <a:latin typeface="Arial" panose="020B0604020202020204" pitchFamily="34" charset="0"/>
                <a:cs typeface="Arial" panose="020B0604020202020204" pitchFamily="34" charset="0"/>
              </a:rPr>
              <a:t>Directions of influence</a:t>
            </a:r>
            <a:r>
              <a:rPr lang="en-US" sz="2000" b="1" dirty="0">
                <a:solidFill>
                  <a:schemeClr val="bg1"/>
                </a:solidFill>
                <a:latin typeface="Arial" panose="020B0604020202020204" pitchFamily="34" charset="0"/>
                <a:cs typeface="Arial" panose="020B0604020202020204" pitchFamily="34" charset="0"/>
              </a:rPr>
              <a:t>:    Classifies SHs according to their influence on the work or project team itself. SHs can be classified as:</a:t>
            </a:r>
          </a:p>
          <a:p>
            <a:pPr lvl="2" algn="just"/>
            <a:r>
              <a:rPr lang="en-US" sz="1600" b="1" dirty="0">
                <a:solidFill>
                  <a:srgbClr val="FFFF00"/>
                </a:solidFill>
                <a:latin typeface="Arial" panose="020B0604020202020204" pitchFamily="34" charset="0"/>
                <a:cs typeface="Arial" panose="020B0604020202020204" pitchFamily="34" charset="0"/>
              </a:rPr>
              <a:t>Upward</a:t>
            </a:r>
            <a:r>
              <a:rPr lang="en-US" sz="1600" b="1" dirty="0">
                <a:solidFill>
                  <a:schemeClr val="bg1"/>
                </a:solidFill>
                <a:latin typeface="Arial" panose="020B0604020202020204" pitchFamily="34" charset="0"/>
                <a:cs typeface="Arial" panose="020B0604020202020204" pitchFamily="34" charset="0"/>
              </a:rPr>
              <a:t> (Senior management, sponsor, steering committee </a:t>
            </a:r>
            <a:r>
              <a:rPr lang="en-US" sz="1600" b="1" dirty="0" err="1">
                <a:solidFill>
                  <a:schemeClr val="bg1"/>
                </a:solidFill>
                <a:latin typeface="Arial" panose="020B0604020202020204" pitchFamily="34" charset="0"/>
                <a:cs typeface="Arial" panose="020B0604020202020204" pitchFamily="34" charset="0"/>
              </a:rPr>
              <a:t>etc</a:t>
            </a:r>
            <a:r>
              <a:rPr lang="en-US" sz="1600" b="1" dirty="0">
                <a:solidFill>
                  <a:schemeClr val="bg1"/>
                </a:solidFill>
                <a:latin typeface="Arial" panose="020B0604020202020204" pitchFamily="34" charset="0"/>
                <a:cs typeface="Arial" panose="020B0604020202020204" pitchFamily="34" charset="0"/>
              </a:rPr>
              <a:t>)</a:t>
            </a:r>
          </a:p>
          <a:p>
            <a:pPr lvl="2" algn="just"/>
            <a:r>
              <a:rPr lang="en-US" sz="1600" b="1" dirty="0">
                <a:solidFill>
                  <a:srgbClr val="FFFF00"/>
                </a:solidFill>
                <a:latin typeface="Arial" panose="020B0604020202020204" pitchFamily="34" charset="0"/>
                <a:cs typeface="Arial" panose="020B0604020202020204" pitchFamily="34" charset="0"/>
              </a:rPr>
              <a:t>Downward</a:t>
            </a:r>
            <a:r>
              <a:rPr lang="en-US" sz="1600" b="1" dirty="0">
                <a:solidFill>
                  <a:schemeClr val="bg1"/>
                </a:solidFill>
                <a:latin typeface="Arial" panose="020B0604020202020204" pitchFamily="34" charset="0"/>
                <a:cs typeface="Arial" panose="020B0604020202020204" pitchFamily="34" charset="0"/>
              </a:rPr>
              <a:t> (Team or specialists contributing in TY capacity)</a:t>
            </a:r>
          </a:p>
          <a:p>
            <a:pPr lvl="2" algn="just"/>
            <a:r>
              <a:rPr lang="en-US" sz="1600" b="1" dirty="0">
                <a:solidFill>
                  <a:srgbClr val="FFFF00"/>
                </a:solidFill>
                <a:latin typeface="Arial" panose="020B0604020202020204" pitchFamily="34" charset="0"/>
                <a:cs typeface="Arial" panose="020B0604020202020204" pitchFamily="34" charset="0"/>
              </a:rPr>
              <a:t>Outward </a:t>
            </a:r>
            <a:r>
              <a:rPr lang="en-US" sz="1600" b="1" dirty="0">
                <a:solidFill>
                  <a:schemeClr val="bg1"/>
                </a:solidFill>
                <a:latin typeface="Arial" panose="020B0604020202020204" pitchFamily="34" charset="0"/>
                <a:cs typeface="Arial" panose="020B0604020202020204" pitchFamily="34" charset="0"/>
              </a:rPr>
              <a:t>( SH groups and their representatives outside the project team. Such as suppliers, government departments, the public, end-users and regulators</a:t>
            </a:r>
          </a:p>
          <a:p>
            <a:pPr lvl="2" algn="just"/>
            <a:r>
              <a:rPr lang="en-US" sz="1600" b="1" dirty="0">
                <a:solidFill>
                  <a:srgbClr val="FFFF00"/>
                </a:solidFill>
                <a:latin typeface="Arial" panose="020B0604020202020204" pitchFamily="34" charset="0"/>
                <a:cs typeface="Arial" panose="020B0604020202020204" pitchFamily="34" charset="0"/>
              </a:rPr>
              <a:t>Sideward</a:t>
            </a:r>
            <a:r>
              <a:rPr lang="en-US" sz="1600" b="1" dirty="0">
                <a:solidFill>
                  <a:schemeClr val="bg1"/>
                </a:solidFill>
                <a:latin typeface="Arial" panose="020B0604020202020204" pitchFamily="34" charset="0"/>
                <a:cs typeface="Arial" panose="020B0604020202020204" pitchFamily="34" charset="0"/>
              </a:rPr>
              <a:t> ( the peers of the PM)</a:t>
            </a:r>
            <a:endParaRPr lang="en-US" sz="2000" b="1" dirty="0">
              <a:solidFill>
                <a:schemeClr val="bg1"/>
              </a:solidFill>
              <a:latin typeface="Arial" panose="020B0604020202020204" pitchFamily="34" charset="0"/>
              <a:cs typeface="Arial" panose="020B0604020202020204" pitchFamily="34" charset="0"/>
            </a:endParaRPr>
          </a:p>
          <a:p>
            <a:pPr lvl="1" algn="just"/>
            <a:r>
              <a:rPr lang="en-US" sz="2000" b="1" dirty="0">
                <a:solidFill>
                  <a:srgbClr val="FFFF00"/>
                </a:solidFill>
                <a:latin typeface="Arial" panose="020B0604020202020204" pitchFamily="34" charset="0"/>
                <a:cs typeface="Arial" panose="020B0604020202020204" pitchFamily="34" charset="0"/>
              </a:rPr>
              <a:t>Prioritization: </a:t>
            </a:r>
            <a:r>
              <a:rPr lang="en-US" sz="2000" b="1" dirty="0">
                <a:solidFill>
                  <a:schemeClr val="bg1"/>
                </a:solidFill>
                <a:latin typeface="Arial" panose="020B0604020202020204" pitchFamily="34" charset="0"/>
                <a:cs typeface="Arial" panose="020B0604020202020204" pitchFamily="34" charset="0"/>
              </a:rPr>
              <a:t>Prioritization of SHs may be necessary for projects with a large number of SHs, or SHs changing frequently, or when relationships between SHs and the project team or within SH community are complex</a:t>
            </a:r>
          </a:p>
          <a:p>
            <a:pPr marL="457200" lvl="1" indent="0" algn="just">
              <a:buNone/>
            </a:pPr>
            <a:endParaRPr lang="en-US" sz="2000" b="1" dirty="0">
              <a:solidFill>
                <a:schemeClr val="bg1"/>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13.1.2.5	Meetings	</a:t>
            </a:r>
            <a:r>
              <a:rPr lang="en-US" sz="2100" b="1" dirty="0">
                <a:solidFill>
                  <a:schemeClr val="bg1"/>
                </a:solidFill>
                <a:latin typeface="Arial" panose="020B0604020202020204" pitchFamily="34" charset="0"/>
                <a:cs typeface="Arial" panose="020B0604020202020204" pitchFamily="34" charset="0"/>
              </a:rPr>
              <a:t>Used to develop an understanding of significant project SHs</a:t>
            </a:r>
          </a:p>
          <a:p>
            <a:pPr lvl="3" algn="just"/>
            <a:endParaRPr lang="en-US" sz="1600" b="1" dirty="0">
              <a:solidFill>
                <a:schemeClr val="bg1"/>
              </a:solidFill>
              <a:latin typeface="Arial" panose="020B0604020202020204" pitchFamily="34" charset="0"/>
              <a:cs typeface="Arial" panose="020B0604020202020204" pitchFamily="34" charset="0"/>
            </a:endParaRPr>
          </a:p>
          <a:p>
            <a:pPr lvl="3" algn="just"/>
            <a:endParaRPr lang="en-US" sz="16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345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ircle(in)">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circle(in)">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circle(in)">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circle(in)">
                                      <p:cBhvr>
                                        <p:cTn id="57"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310"/>
            <a:ext cx="11007436" cy="743245"/>
          </a:xfrm>
        </p:spPr>
        <p:txBody>
          <a:bodyPr>
            <a:normAutofit/>
          </a:bodyPr>
          <a:lstStyle/>
          <a:p>
            <a:pPr algn="ctr"/>
            <a:r>
              <a:rPr lang="en-US" sz="3200" b="1" dirty="0">
                <a:solidFill>
                  <a:srgbClr val="FFFF00"/>
                </a:solidFill>
                <a:latin typeface="Arial" panose="020B0604020202020204" pitchFamily="34" charset="0"/>
                <a:cs typeface="Arial" panose="020B0604020202020204" pitchFamily="34" charset="0"/>
              </a:rPr>
              <a:t>13.1  Identify Stakeholders – Outputs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35001" y="774700"/>
            <a:ext cx="10864272" cy="5930900"/>
          </a:xfrm>
        </p:spPr>
        <p:txBody>
          <a:bodyPr>
            <a:normAutofit/>
          </a:bodyPr>
          <a:lstStyle/>
          <a:p>
            <a:pPr algn="just"/>
            <a:r>
              <a:rPr lang="en-US" b="1" dirty="0">
                <a:solidFill>
                  <a:srgbClr val="FFFF00"/>
                </a:solidFill>
                <a:latin typeface="Arial" panose="020B0604020202020204" pitchFamily="34" charset="0"/>
                <a:cs typeface="Arial" panose="020B0604020202020204" pitchFamily="34" charset="0"/>
              </a:rPr>
              <a:t>13.1.3.1  Stakeholder Register– </a:t>
            </a:r>
            <a:r>
              <a:rPr lang="en-US" sz="2200" b="1" dirty="0">
                <a:solidFill>
                  <a:schemeClr val="bg1"/>
                </a:solidFill>
                <a:latin typeface="Arial" panose="020B0604020202020204" pitchFamily="34" charset="0"/>
                <a:cs typeface="Arial" panose="020B0604020202020204" pitchFamily="34" charset="0"/>
              </a:rPr>
              <a:t>This document includes but is not limited to:</a:t>
            </a:r>
          </a:p>
          <a:p>
            <a:pPr lvl="1" algn="just"/>
            <a:r>
              <a:rPr lang="en-US" sz="2000" b="1" dirty="0">
                <a:solidFill>
                  <a:srgbClr val="FFFF00"/>
                </a:solidFill>
                <a:latin typeface="Arial" panose="020B0604020202020204" pitchFamily="34" charset="0"/>
                <a:cs typeface="Arial" panose="020B0604020202020204" pitchFamily="34" charset="0"/>
              </a:rPr>
              <a:t>Identification Information: </a:t>
            </a:r>
            <a:r>
              <a:rPr lang="en-US" sz="1800" b="1" dirty="0">
                <a:solidFill>
                  <a:schemeClr val="bg1"/>
                </a:solidFill>
                <a:latin typeface="Arial" panose="020B0604020202020204" pitchFamily="34" charset="0"/>
                <a:cs typeface="Arial" panose="020B0604020202020204" pitchFamily="34" charset="0"/>
              </a:rPr>
              <a:t>Name, organization position, location and contact details, role</a:t>
            </a:r>
          </a:p>
          <a:p>
            <a:pPr lvl="1" algn="just"/>
            <a:r>
              <a:rPr lang="en-US" sz="2000" b="1" dirty="0">
                <a:solidFill>
                  <a:srgbClr val="FFFF00"/>
                </a:solidFill>
                <a:latin typeface="Arial" panose="020B0604020202020204" pitchFamily="34" charset="0"/>
                <a:cs typeface="Arial" panose="020B0604020202020204" pitchFamily="34" charset="0"/>
              </a:rPr>
              <a:t>Assessment Information: </a:t>
            </a:r>
            <a:r>
              <a:rPr lang="en-US" sz="1800" b="1" dirty="0">
                <a:solidFill>
                  <a:schemeClr val="bg1"/>
                </a:solidFill>
                <a:latin typeface="Arial" panose="020B0604020202020204" pitchFamily="34" charset="0"/>
                <a:cs typeface="Arial" panose="020B0604020202020204" pitchFamily="34" charset="0"/>
              </a:rPr>
              <a:t>Major requirements, expectations, potential for influencing project outcomes, and the phase of the project life cycle where the SH has the most influence or impact</a:t>
            </a:r>
          </a:p>
          <a:p>
            <a:pPr lvl="1" algn="just"/>
            <a:r>
              <a:rPr lang="en-US" sz="2000" b="1" dirty="0">
                <a:solidFill>
                  <a:srgbClr val="FFFF00"/>
                </a:solidFill>
                <a:latin typeface="Arial" panose="020B0604020202020204" pitchFamily="34" charset="0"/>
                <a:cs typeface="Arial" panose="020B0604020202020204" pitchFamily="34" charset="0"/>
              </a:rPr>
              <a:t>Stakeholder classification: </a:t>
            </a:r>
            <a:r>
              <a:rPr lang="en-US" sz="1800" b="1" dirty="0">
                <a:solidFill>
                  <a:schemeClr val="bg1"/>
                </a:solidFill>
                <a:latin typeface="Arial" panose="020B0604020202020204" pitchFamily="34" charset="0"/>
                <a:cs typeface="Arial" panose="020B0604020202020204" pitchFamily="34" charset="0"/>
              </a:rPr>
              <a:t>Internal/external, impact/influence/power/interest, direction of influence (upward/downward, outwards, sideward), or any other classification model chosen by PM</a:t>
            </a:r>
          </a:p>
          <a:p>
            <a:pPr lvl="1"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sz="1800" b="1" dirty="0">
              <a:solidFill>
                <a:schemeClr val="bg1"/>
              </a:solidFill>
              <a:latin typeface="Arial" panose="020B0604020202020204" pitchFamily="34" charset="0"/>
              <a:cs typeface="Arial" panose="020B0604020202020204" pitchFamily="34" charset="0"/>
            </a:endParaRPr>
          </a:p>
          <a:p>
            <a:pPr algn="just"/>
            <a:r>
              <a:rPr lang="en-US" b="1" dirty="0">
                <a:solidFill>
                  <a:srgbClr val="FFFF00"/>
                </a:solidFill>
                <a:latin typeface="Arial" panose="020B0604020202020204" pitchFamily="34" charset="0"/>
                <a:cs typeface="Arial" panose="020B0604020202020204" pitchFamily="34" charset="0"/>
              </a:rPr>
              <a:t>13.1.3.2	Change Requests (Section 4.3.3.4)	</a:t>
            </a:r>
            <a:r>
              <a:rPr lang="en-US" sz="1800" b="1" dirty="0">
                <a:solidFill>
                  <a:schemeClr val="bg1"/>
                </a:solidFill>
                <a:latin typeface="Arial" panose="020B0604020202020204" pitchFamily="34" charset="0"/>
                <a:cs typeface="Arial" panose="020B0604020202020204" pitchFamily="34" charset="0"/>
              </a:rPr>
              <a:t>During first iteration of identifying SHs, there will be no change requests. But as we progress, new stakeholders join, or new information on SHs received, may result in change requests through PIIC (Performed Integrated Change Control)</a:t>
            </a:r>
          </a:p>
          <a:p>
            <a:pPr lvl="3" algn="just"/>
            <a:endParaRPr lang="en-US" sz="1600" b="1" dirty="0">
              <a:solidFill>
                <a:schemeClr val="bg1"/>
              </a:solidFill>
              <a:latin typeface="Arial" panose="020B0604020202020204" pitchFamily="34" charset="0"/>
              <a:cs typeface="Arial" panose="020B0604020202020204" pitchFamily="34" charset="0"/>
            </a:endParaRPr>
          </a:p>
          <a:p>
            <a:pPr lvl="3" algn="just"/>
            <a:endParaRPr lang="en-US" sz="16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798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circle(in)">
                                      <p:cBhvr>
                                        <p:cTn id="2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48"/>
            <a:ext cx="11007436" cy="456966"/>
          </a:xfrm>
        </p:spPr>
        <p:txBody>
          <a:bodyPr>
            <a:normAutofit fontScale="90000"/>
          </a:bodyPr>
          <a:lstStyle/>
          <a:p>
            <a:pPr algn="ctr"/>
            <a:r>
              <a:rPr lang="en-US" sz="3200" b="1" dirty="0">
                <a:solidFill>
                  <a:srgbClr val="FFFF00"/>
                </a:solidFill>
                <a:latin typeface="Arial" panose="020B0604020202020204" pitchFamily="34" charset="0"/>
                <a:cs typeface="Arial" panose="020B0604020202020204" pitchFamily="34" charset="0"/>
              </a:rPr>
              <a:t>How Stakeholders can affect a project?</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35001" y="774700"/>
            <a:ext cx="10864272" cy="5930900"/>
          </a:xfrm>
        </p:spPr>
        <p:txBody>
          <a:bodyPr>
            <a:normAutofit/>
          </a:bodyPr>
          <a:lstStyle/>
          <a:p>
            <a:pPr lvl="2" algn="just"/>
            <a:endParaRPr lang="en-US" sz="17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233640867"/>
              </p:ext>
            </p:extLst>
          </p:nvPr>
        </p:nvGraphicFramePr>
        <p:xfrm>
          <a:off x="373487" y="577997"/>
          <a:ext cx="11472149" cy="6108984"/>
        </p:xfrm>
        <a:graphic>
          <a:graphicData uri="http://schemas.openxmlformats.org/drawingml/2006/table">
            <a:tbl>
              <a:tblPr firstRow="1" bandRow="1">
                <a:tableStyleId>{5C22544A-7EE6-4342-B048-85BDC9FD1C3A}</a:tableStyleId>
              </a:tblPr>
              <a:tblGrid>
                <a:gridCol w="2472744">
                  <a:extLst>
                    <a:ext uri="{9D8B030D-6E8A-4147-A177-3AD203B41FA5}">
                      <a16:colId xmlns:a16="http://schemas.microsoft.com/office/drawing/2014/main" val="20000"/>
                    </a:ext>
                  </a:extLst>
                </a:gridCol>
                <a:gridCol w="8999405">
                  <a:extLst>
                    <a:ext uri="{9D8B030D-6E8A-4147-A177-3AD203B41FA5}">
                      <a16:colId xmlns:a16="http://schemas.microsoft.com/office/drawing/2014/main" val="20001"/>
                    </a:ext>
                  </a:extLst>
                </a:gridCol>
              </a:tblGrid>
              <a:tr h="489303">
                <a:tc>
                  <a:txBody>
                    <a:bodyPr/>
                    <a:lstStyle/>
                    <a:p>
                      <a:pPr algn="ctr"/>
                      <a:r>
                        <a:rPr lang="en-US" b="1" dirty="0">
                          <a:latin typeface="Arial" panose="020B0604020202020204" pitchFamily="34" charset="0"/>
                          <a:cs typeface="Arial" panose="020B0604020202020204" pitchFamily="34" charset="0"/>
                        </a:rPr>
                        <a:t>Aspects</a:t>
                      </a:r>
                    </a:p>
                  </a:txBody>
                  <a:tcPr/>
                </a:tc>
                <a:tc>
                  <a:txBody>
                    <a:bodyPr/>
                    <a:lstStyle/>
                    <a:p>
                      <a:pPr algn="ctr"/>
                      <a:r>
                        <a:rPr lang="en-US" b="1" dirty="0">
                          <a:latin typeface="Arial" panose="020B0604020202020204" pitchFamily="34" charset="0"/>
                          <a:cs typeface="Arial" panose="020B0604020202020204" pitchFamily="34" charset="0"/>
                        </a:rPr>
                        <a:t>Affect</a:t>
                      </a:r>
                    </a:p>
                  </a:txBody>
                  <a:tcPr/>
                </a:tc>
                <a:extLst>
                  <a:ext uri="{0D108BD9-81ED-4DB2-BD59-A6C34878D82A}">
                    <a16:rowId xmlns:a16="http://schemas.microsoft.com/office/drawing/2014/main" val="10000"/>
                  </a:ext>
                </a:extLst>
              </a:tr>
              <a:tr h="489303">
                <a:tc>
                  <a:txBody>
                    <a:bodyPr/>
                    <a:lstStyle/>
                    <a:p>
                      <a:r>
                        <a:rPr lang="en-US" b="1" dirty="0">
                          <a:solidFill>
                            <a:srgbClr val="CC0099"/>
                          </a:solidFill>
                          <a:latin typeface="Arial" panose="020B0604020202020204" pitchFamily="34" charset="0"/>
                          <a:cs typeface="Arial" panose="020B0604020202020204" pitchFamily="34" charset="0"/>
                        </a:rPr>
                        <a:t>Scope/requirements</a:t>
                      </a:r>
                    </a:p>
                  </a:txBody>
                  <a:tcPr/>
                </a:tc>
                <a:tc>
                  <a:txBody>
                    <a:bodyPr/>
                    <a:lstStyle/>
                    <a:p>
                      <a:r>
                        <a:rPr lang="en-US" sz="1500" b="1" dirty="0">
                          <a:latin typeface="Arial" panose="020B0604020202020204" pitchFamily="34" charset="0"/>
                          <a:cs typeface="Arial" panose="020B0604020202020204" pitchFamily="34" charset="0"/>
                        </a:rPr>
                        <a:t>By revealing the need to add, adjust, or remove elements of scope and/or project requirements</a:t>
                      </a:r>
                    </a:p>
                  </a:txBody>
                  <a:tcPr/>
                </a:tc>
                <a:extLst>
                  <a:ext uri="{0D108BD9-81ED-4DB2-BD59-A6C34878D82A}">
                    <a16:rowId xmlns:a16="http://schemas.microsoft.com/office/drawing/2014/main" val="10001"/>
                  </a:ext>
                </a:extLst>
              </a:tr>
              <a:tr h="489303">
                <a:tc>
                  <a:txBody>
                    <a:bodyPr/>
                    <a:lstStyle/>
                    <a:p>
                      <a:r>
                        <a:rPr lang="en-US" b="1" dirty="0">
                          <a:solidFill>
                            <a:srgbClr val="CC0099"/>
                          </a:solidFill>
                          <a:latin typeface="Arial" panose="020B0604020202020204" pitchFamily="34" charset="0"/>
                          <a:cs typeface="Arial" panose="020B0604020202020204" pitchFamily="34" charset="0"/>
                        </a:rPr>
                        <a:t>Schedule</a:t>
                      </a:r>
                    </a:p>
                  </a:txBody>
                  <a:tcPr/>
                </a:tc>
                <a:tc>
                  <a:txBody>
                    <a:bodyPr/>
                    <a:lstStyle/>
                    <a:p>
                      <a:r>
                        <a:rPr lang="en-US" sz="1500" b="1" dirty="0">
                          <a:latin typeface="Arial" panose="020B0604020202020204" pitchFamily="34" charset="0"/>
                          <a:cs typeface="Arial" panose="020B0604020202020204" pitchFamily="34" charset="0"/>
                        </a:rPr>
                        <a:t>By offering ideas to accelerate delivery or by slowing down or</a:t>
                      </a:r>
                      <a:r>
                        <a:rPr lang="en-US" sz="1500" b="1" baseline="0" dirty="0">
                          <a:latin typeface="Arial" panose="020B0604020202020204" pitchFamily="34" charset="0"/>
                          <a:cs typeface="Arial" panose="020B0604020202020204" pitchFamily="34" charset="0"/>
                        </a:rPr>
                        <a:t> stop delivery of key project activities</a:t>
                      </a:r>
                      <a:endParaRPr lang="en-US" sz="15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489303">
                <a:tc>
                  <a:txBody>
                    <a:bodyPr/>
                    <a:lstStyle/>
                    <a:p>
                      <a:r>
                        <a:rPr lang="en-US" b="1" dirty="0">
                          <a:solidFill>
                            <a:srgbClr val="CC0099"/>
                          </a:solidFill>
                          <a:latin typeface="Arial" panose="020B0604020202020204" pitchFamily="34" charset="0"/>
                          <a:cs typeface="Arial" panose="020B0604020202020204" pitchFamily="34" charset="0"/>
                        </a:rPr>
                        <a:t>Cost</a:t>
                      </a:r>
                    </a:p>
                  </a:txBody>
                  <a:tcPr/>
                </a:tc>
                <a:tc>
                  <a:txBody>
                    <a:bodyPr/>
                    <a:lstStyle/>
                    <a:p>
                      <a:r>
                        <a:rPr lang="en-US" sz="1500" b="1" dirty="0">
                          <a:latin typeface="Arial" panose="020B0604020202020204" pitchFamily="34" charset="0"/>
                          <a:cs typeface="Arial" panose="020B0604020202020204" pitchFamily="34" charset="0"/>
                        </a:rPr>
                        <a:t>By helping to reduce</a:t>
                      </a:r>
                      <a:r>
                        <a:rPr lang="en-US" sz="1500" b="1" baseline="0" dirty="0">
                          <a:latin typeface="Arial" panose="020B0604020202020204" pitchFamily="34" charset="0"/>
                          <a:cs typeface="Arial" panose="020B0604020202020204" pitchFamily="34" charset="0"/>
                        </a:rPr>
                        <a:t> or eliminate planned expenditures or by adding steps, requirements, or restrictions that increase cost or require additional resources</a:t>
                      </a:r>
                      <a:endParaRPr lang="en-US" sz="15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489303">
                <a:tc>
                  <a:txBody>
                    <a:bodyPr/>
                    <a:lstStyle/>
                    <a:p>
                      <a:r>
                        <a:rPr lang="en-US" b="1" dirty="0">
                          <a:solidFill>
                            <a:srgbClr val="CC0099"/>
                          </a:solidFill>
                          <a:latin typeface="Arial" panose="020B0604020202020204" pitchFamily="34" charset="0"/>
                          <a:cs typeface="Arial" panose="020B0604020202020204" pitchFamily="34" charset="0"/>
                        </a:rPr>
                        <a:t>Project Team</a:t>
                      </a:r>
                    </a:p>
                  </a:txBody>
                  <a:tcPr/>
                </a:tc>
                <a:tc>
                  <a:txBody>
                    <a:bodyPr/>
                    <a:lstStyle/>
                    <a:p>
                      <a:r>
                        <a:rPr lang="en-US" sz="1500" b="1" dirty="0">
                          <a:latin typeface="Arial" panose="020B0604020202020204" pitchFamily="34" charset="0"/>
                          <a:cs typeface="Arial" panose="020B0604020202020204" pitchFamily="34" charset="0"/>
                        </a:rPr>
                        <a:t>By restricting or enabling access to people with the skills, knowledge, and experience needed to deliver the intended outcomes</a:t>
                      </a:r>
                    </a:p>
                  </a:txBody>
                  <a:tcPr/>
                </a:tc>
                <a:extLst>
                  <a:ext uri="{0D108BD9-81ED-4DB2-BD59-A6C34878D82A}">
                    <a16:rowId xmlns:a16="http://schemas.microsoft.com/office/drawing/2014/main" val="10004"/>
                  </a:ext>
                </a:extLst>
              </a:tr>
              <a:tr h="489303">
                <a:tc>
                  <a:txBody>
                    <a:bodyPr/>
                    <a:lstStyle/>
                    <a:p>
                      <a:r>
                        <a:rPr lang="en-US" b="1" dirty="0">
                          <a:solidFill>
                            <a:srgbClr val="CC0099"/>
                          </a:solidFill>
                          <a:latin typeface="Arial" panose="020B0604020202020204" pitchFamily="34" charset="0"/>
                          <a:cs typeface="Arial" panose="020B0604020202020204" pitchFamily="34" charset="0"/>
                        </a:rPr>
                        <a:t>Plans</a:t>
                      </a:r>
                    </a:p>
                  </a:txBody>
                  <a:tcPr/>
                </a:tc>
                <a:tc>
                  <a:txBody>
                    <a:bodyPr/>
                    <a:lstStyle/>
                    <a:p>
                      <a:r>
                        <a:rPr lang="en-US" sz="1500" b="1" dirty="0">
                          <a:latin typeface="Arial" panose="020B0604020202020204" pitchFamily="34" charset="0"/>
                          <a:cs typeface="Arial" panose="020B0604020202020204" pitchFamily="34" charset="0"/>
                        </a:rPr>
                        <a:t>By providing information for plans or by advocating for changes to work</a:t>
                      </a:r>
                    </a:p>
                  </a:txBody>
                  <a:tcPr/>
                </a:tc>
                <a:extLst>
                  <a:ext uri="{0D108BD9-81ED-4DB2-BD59-A6C34878D82A}">
                    <a16:rowId xmlns:a16="http://schemas.microsoft.com/office/drawing/2014/main" val="10005"/>
                  </a:ext>
                </a:extLst>
              </a:tr>
              <a:tr h="489303">
                <a:tc>
                  <a:txBody>
                    <a:bodyPr/>
                    <a:lstStyle/>
                    <a:p>
                      <a:r>
                        <a:rPr lang="en-US" b="1" dirty="0">
                          <a:solidFill>
                            <a:srgbClr val="CC0099"/>
                          </a:solidFill>
                          <a:latin typeface="Arial" panose="020B0604020202020204" pitchFamily="34" charset="0"/>
                          <a:cs typeface="Arial" panose="020B0604020202020204" pitchFamily="34" charset="0"/>
                        </a:rPr>
                        <a:t>Outcomes</a:t>
                      </a:r>
                    </a:p>
                  </a:txBody>
                  <a:tcPr/>
                </a:tc>
                <a:tc>
                  <a:txBody>
                    <a:bodyPr/>
                    <a:lstStyle/>
                    <a:p>
                      <a:r>
                        <a:rPr lang="en-US" sz="1500" b="1" dirty="0">
                          <a:latin typeface="Arial" panose="020B0604020202020204" pitchFamily="34" charset="0"/>
                          <a:cs typeface="Arial" panose="020B0604020202020204" pitchFamily="34" charset="0"/>
                        </a:rPr>
                        <a:t>By enabling or blocking work required for the desired outcomes</a:t>
                      </a:r>
                    </a:p>
                  </a:txBody>
                  <a:tcPr/>
                </a:tc>
                <a:extLst>
                  <a:ext uri="{0D108BD9-81ED-4DB2-BD59-A6C34878D82A}">
                    <a16:rowId xmlns:a16="http://schemas.microsoft.com/office/drawing/2014/main" val="10006"/>
                  </a:ext>
                </a:extLst>
              </a:tr>
              <a:tr h="489303">
                <a:tc>
                  <a:txBody>
                    <a:bodyPr/>
                    <a:lstStyle/>
                    <a:p>
                      <a:r>
                        <a:rPr lang="en-US" b="1" dirty="0">
                          <a:solidFill>
                            <a:srgbClr val="CC0099"/>
                          </a:solidFill>
                          <a:latin typeface="Arial" panose="020B0604020202020204" pitchFamily="34" charset="0"/>
                          <a:cs typeface="Arial" panose="020B0604020202020204" pitchFamily="34" charset="0"/>
                        </a:rPr>
                        <a:t>Culture</a:t>
                      </a:r>
                    </a:p>
                  </a:txBody>
                  <a:tcPr/>
                </a:tc>
                <a:tc>
                  <a:txBody>
                    <a:bodyPr/>
                    <a:lstStyle/>
                    <a:p>
                      <a:r>
                        <a:rPr lang="en-US" sz="1500" b="1" dirty="0">
                          <a:latin typeface="Arial" panose="020B0604020202020204" pitchFamily="34" charset="0"/>
                          <a:cs typeface="Arial" panose="020B0604020202020204" pitchFamily="34" charset="0"/>
                        </a:rPr>
                        <a:t>By establishing or influencing or even defining the level and character of engagement of the project team and broader organization</a:t>
                      </a:r>
                    </a:p>
                  </a:txBody>
                  <a:tcPr/>
                </a:tc>
                <a:extLst>
                  <a:ext uri="{0D108BD9-81ED-4DB2-BD59-A6C34878D82A}">
                    <a16:rowId xmlns:a16="http://schemas.microsoft.com/office/drawing/2014/main" val="10007"/>
                  </a:ext>
                </a:extLst>
              </a:tr>
              <a:tr h="489303">
                <a:tc>
                  <a:txBody>
                    <a:bodyPr/>
                    <a:lstStyle/>
                    <a:p>
                      <a:r>
                        <a:rPr lang="en-US" b="1" dirty="0">
                          <a:solidFill>
                            <a:srgbClr val="CC0099"/>
                          </a:solidFill>
                          <a:latin typeface="Arial" panose="020B0604020202020204" pitchFamily="34" charset="0"/>
                          <a:cs typeface="Arial" panose="020B0604020202020204" pitchFamily="34" charset="0"/>
                        </a:rPr>
                        <a:t>Benefits realization</a:t>
                      </a:r>
                    </a:p>
                  </a:txBody>
                  <a:tcPr/>
                </a:tc>
                <a:tc>
                  <a:txBody>
                    <a:bodyPr/>
                    <a:lstStyle/>
                    <a:p>
                      <a:r>
                        <a:rPr lang="en-US" sz="1500" b="1" dirty="0">
                          <a:latin typeface="Arial" panose="020B0604020202020204" pitchFamily="34" charset="0"/>
                          <a:cs typeface="Arial" panose="020B0604020202020204" pitchFamily="34" charset="0"/>
                        </a:rPr>
                        <a:t>By generating and identifying long-term</a:t>
                      </a:r>
                      <a:r>
                        <a:rPr lang="en-US" sz="1500" b="1" baseline="0" dirty="0">
                          <a:latin typeface="Arial" panose="020B0604020202020204" pitchFamily="34" charset="0"/>
                          <a:cs typeface="Arial" panose="020B0604020202020204" pitchFamily="34" charset="0"/>
                        </a:rPr>
                        <a:t> goals to deliver value</a:t>
                      </a:r>
                      <a:endParaRPr lang="en-US" sz="15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8"/>
                  </a:ext>
                </a:extLst>
              </a:tr>
              <a:tr h="489303">
                <a:tc>
                  <a:txBody>
                    <a:bodyPr/>
                    <a:lstStyle/>
                    <a:p>
                      <a:r>
                        <a:rPr lang="en-US" b="1" dirty="0">
                          <a:solidFill>
                            <a:srgbClr val="CC0099"/>
                          </a:solidFill>
                          <a:latin typeface="Arial" panose="020B0604020202020204" pitchFamily="34" charset="0"/>
                          <a:cs typeface="Arial" panose="020B0604020202020204" pitchFamily="34" charset="0"/>
                        </a:rPr>
                        <a:t>Risk</a:t>
                      </a:r>
                    </a:p>
                  </a:txBody>
                  <a:tcPr/>
                </a:tc>
                <a:tc>
                  <a:txBody>
                    <a:bodyPr/>
                    <a:lstStyle/>
                    <a:p>
                      <a:r>
                        <a:rPr lang="en-US" sz="1500" b="1" dirty="0">
                          <a:latin typeface="Arial" panose="020B0604020202020204" pitchFamily="34" charset="0"/>
                          <a:cs typeface="Arial" panose="020B0604020202020204" pitchFamily="34" charset="0"/>
                        </a:rPr>
                        <a:t>By defining risk thresholds of project, as well as participating in risk management activities</a:t>
                      </a:r>
                    </a:p>
                  </a:txBody>
                  <a:tcPr/>
                </a:tc>
                <a:extLst>
                  <a:ext uri="{0D108BD9-81ED-4DB2-BD59-A6C34878D82A}">
                    <a16:rowId xmlns:a16="http://schemas.microsoft.com/office/drawing/2014/main" val="10009"/>
                  </a:ext>
                </a:extLst>
              </a:tr>
              <a:tr h="489303">
                <a:tc>
                  <a:txBody>
                    <a:bodyPr/>
                    <a:lstStyle/>
                    <a:p>
                      <a:r>
                        <a:rPr lang="en-US" b="1" dirty="0">
                          <a:solidFill>
                            <a:srgbClr val="CC0099"/>
                          </a:solidFill>
                          <a:latin typeface="Arial" panose="020B0604020202020204" pitchFamily="34" charset="0"/>
                          <a:cs typeface="Arial" panose="020B0604020202020204" pitchFamily="34" charset="0"/>
                        </a:rPr>
                        <a:t>Quality</a:t>
                      </a:r>
                    </a:p>
                  </a:txBody>
                  <a:tcPr/>
                </a:tc>
                <a:tc>
                  <a:txBody>
                    <a:bodyPr/>
                    <a:lstStyle/>
                    <a:p>
                      <a:r>
                        <a:rPr lang="en-US" sz="1500" b="1" dirty="0">
                          <a:latin typeface="Arial" panose="020B0604020202020204" pitchFamily="34" charset="0"/>
                          <a:cs typeface="Arial" panose="020B0604020202020204" pitchFamily="34" charset="0"/>
                        </a:rPr>
                        <a:t>By identifying and requiring quality requirements</a:t>
                      </a:r>
                    </a:p>
                  </a:txBody>
                  <a:tcPr/>
                </a:tc>
                <a:extLst>
                  <a:ext uri="{0D108BD9-81ED-4DB2-BD59-A6C34878D82A}">
                    <a16:rowId xmlns:a16="http://schemas.microsoft.com/office/drawing/2014/main" val="10010"/>
                  </a:ext>
                </a:extLst>
              </a:tr>
              <a:tr h="489303">
                <a:tc>
                  <a:txBody>
                    <a:bodyPr/>
                    <a:lstStyle/>
                    <a:p>
                      <a:r>
                        <a:rPr lang="en-US" b="1" dirty="0">
                          <a:solidFill>
                            <a:srgbClr val="CC0099"/>
                          </a:solidFill>
                          <a:latin typeface="Arial" panose="020B0604020202020204" pitchFamily="34" charset="0"/>
                          <a:cs typeface="Arial" panose="020B0604020202020204" pitchFamily="34" charset="0"/>
                        </a:rPr>
                        <a:t>Success</a:t>
                      </a:r>
                    </a:p>
                  </a:txBody>
                  <a:tcPr/>
                </a:tc>
                <a:tc>
                  <a:txBody>
                    <a:bodyPr/>
                    <a:lstStyle/>
                    <a:p>
                      <a:r>
                        <a:rPr lang="en-US" sz="1500" b="1" dirty="0">
                          <a:latin typeface="Arial" panose="020B0604020202020204" pitchFamily="34" charset="0"/>
                          <a:cs typeface="Arial" panose="020B0604020202020204" pitchFamily="34" charset="0"/>
                        </a:rPr>
                        <a:t>By defining success factors and participating in the evaluation of success</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10861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6832" y="83947"/>
            <a:ext cx="6993229" cy="817573"/>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Stakeholders Analysis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35001" y="774700"/>
            <a:ext cx="10864272" cy="5930900"/>
          </a:xfrm>
        </p:spPr>
        <p:txBody>
          <a:bodyPr>
            <a:normAutofit/>
          </a:bodyPr>
          <a:lstStyle/>
          <a:p>
            <a:pPr lvl="2" algn="just"/>
            <a:endParaRPr lang="en-US" sz="17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pic>
        <p:nvPicPr>
          <p:cNvPr id="5" name="Picture 2" descr="Stakeholder management: The most critical soft ski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144" y="1052891"/>
            <a:ext cx="8036318" cy="43513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078051" y="5589432"/>
            <a:ext cx="6928832" cy="369332"/>
          </a:xfrm>
          <a:prstGeom prst="rect">
            <a:avLst/>
          </a:prstGeom>
          <a:noFill/>
        </p:spPr>
        <p:txBody>
          <a:bodyPr wrap="square" rtlCol="0">
            <a:spAutoFit/>
          </a:bodyPr>
          <a:lstStyle/>
          <a:p>
            <a:r>
              <a:rPr lang="en-US" b="1" dirty="0">
                <a:solidFill>
                  <a:srgbClr val="FFFF00"/>
                </a:solidFill>
                <a:latin typeface="Arial" panose="020B0604020202020204" pitchFamily="34" charset="0"/>
                <a:cs typeface="Arial" panose="020B0604020202020204" pitchFamily="34" charset="0"/>
              </a:rPr>
              <a:t>Stakeholder Analysis using the Power and Interest Grid</a:t>
            </a:r>
          </a:p>
        </p:txBody>
      </p:sp>
      <p:sp>
        <p:nvSpPr>
          <p:cNvPr id="4" name="Rectangle 3"/>
          <p:cNvSpPr/>
          <p:nvPr/>
        </p:nvSpPr>
        <p:spPr>
          <a:xfrm>
            <a:off x="2820474" y="6117465"/>
            <a:ext cx="6915956" cy="5881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The Power-Interest matrix also known as the </a:t>
            </a:r>
            <a:r>
              <a:rPr lang="en-US" b="1" dirty="0" err="1">
                <a:latin typeface="Arial" panose="020B0604020202020204" pitchFamily="34" charset="0"/>
                <a:cs typeface="Arial" panose="020B0604020202020204" pitchFamily="34" charset="0"/>
              </a:rPr>
              <a:t>Mendelow</a:t>
            </a:r>
            <a:r>
              <a:rPr lang="en-US" b="1" dirty="0">
                <a:latin typeface="Arial" panose="020B0604020202020204" pitchFamily="34" charset="0"/>
                <a:cs typeface="Arial" panose="020B0604020202020204" pitchFamily="34" charset="0"/>
              </a:rPr>
              <a:t> Matrix, was proposed by Aubrey </a:t>
            </a:r>
            <a:r>
              <a:rPr lang="en-US" b="1" dirty="0" err="1">
                <a:latin typeface="Arial" panose="020B0604020202020204" pitchFamily="34" charset="0"/>
                <a:cs typeface="Arial" panose="020B0604020202020204" pitchFamily="34" charset="0"/>
              </a:rPr>
              <a:t>Mendelow</a:t>
            </a:r>
            <a:r>
              <a:rPr lang="en-US" b="1" dirty="0">
                <a:latin typeface="Arial" panose="020B0604020202020204" pitchFamily="34" charset="0"/>
                <a:cs typeface="Arial" panose="020B0604020202020204" pitchFamily="34" charset="0"/>
              </a:rPr>
              <a:t> in 1991</a:t>
            </a:r>
          </a:p>
        </p:txBody>
      </p:sp>
    </p:spTree>
    <p:extLst>
      <p:ext uri="{BB962C8B-B14F-4D97-AF65-F5344CB8AC3E}">
        <p14:creationId xmlns:p14="http://schemas.microsoft.com/office/powerpoint/2010/main" val="1658142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9708" y="193183"/>
            <a:ext cx="9234151" cy="888642"/>
          </a:xfrm>
        </p:spPr>
        <p:txBody>
          <a:bodyPr>
            <a:normAutofit/>
          </a:bodyPr>
          <a:lstStyle/>
          <a:p>
            <a:pPr fontAlgn="auto"/>
            <a:r>
              <a:rPr lang="en-US" sz="2800" b="1" dirty="0">
                <a:solidFill>
                  <a:srgbClr val="FFFF00"/>
                </a:solidFill>
                <a:latin typeface="Arial" panose="020B0604020202020204" pitchFamily="34" charset="0"/>
                <a:cs typeface="Arial" panose="020B0604020202020204" pitchFamily="34" charset="0"/>
              </a:rPr>
              <a:t>Stakeholder Analysis using Stakeholder Cube Model</a:t>
            </a:r>
          </a:p>
        </p:txBody>
      </p:sp>
      <p:sp>
        <p:nvSpPr>
          <p:cNvPr id="3" name="Content Placeholder 2"/>
          <p:cNvSpPr>
            <a:spLocks noGrp="1"/>
          </p:cNvSpPr>
          <p:nvPr>
            <p:ph idx="1"/>
          </p:nvPr>
        </p:nvSpPr>
        <p:spPr>
          <a:xfrm>
            <a:off x="635001" y="774700"/>
            <a:ext cx="10864272" cy="5930900"/>
          </a:xfrm>
        </p:spPr>
        <p:txBody>
          <a:bodyPr>
            <a:normAutofit/>
          </a:bodyPr>
          <a:lstStyle/>
          <a:p>
            <a:pPr lvl="3" algn="just"/>
            <a:endParaRPr lang="en-US" sz="1600" b="1" dirty="0">
              <a:solidFill>
                <a:schemeClr val="bg1"/>
              </a:solidFill>
              <a:latin typeface="Arial" panose="020B0604020202020204" pitchFamily="34" charset="0"/>
              <a:cs typeface="Arial" panose="020B0604020202020204" pitchFamily="34" charset="0"/>
            </a:endParaRPr>
          </a:p>
          <a:p>
            <a:pPr lvl="3" algn="just"/>
            <a:endParaRPr lang="en-US" sz="16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
        <p:nvSpPr>
          <p:cNvPr id="4" name="TextBox 3"/>
          <p:cNvSpPr txBox="1"/>
          <p:nvPr/>
        </p:nvSpPr>
        <p:spPr>
          <a:xfrm>
            <a:off x="413196" y="1352288"/>
            <a:ext cx="11589913" cy="2308324"/>
          </a:xfrm>
          <a:prstGeom prst="rect">
            <a:avLst/>
          </a:prstGeom>
          <a:noFill/>
        </p:spPr>
        <p:txBody>
          <a:bodyPr wrap="square" rtlCol="0">
            <a:spAutoFit/>
          </a:bodyPr>
          <a:lstStyle/>
          <a:p>
            <a:pPr marL="342900" indent="-342900" fontAlgn="auto">
              <a:buFont typeface="Arial" panose="020B0604020202020204" pitchFamily="34" charset="0"/>
              <a:buChar char="•"/>
            </a:pPr>
            <a:r>
              <a:rPr lang="en-US" sz="2400" b="1" dirty="0">
                <a:solidFill>
                  <a:schemeClr val="bg1"/>
                </a:solidFill>
                <a:latin typeface="Arial" panose="020B0604020202020204" pitchFamily="34" charset="0"/>
                <a:cs typeface="Arial" panose="020B0604020202020204" pitchFamily="34" charset="0"/>
              </a:rPr>
              <a:t>Conduct the analysis in a Diverse Team</a:t>
            </a:r>
          </a:p>
          <a:p>
            <a:pPr marL="342900" indent="-342900" fontAlgn="auto">
              <a:buFont typeface="Arial" panose="020B0604020202020204" pitchFamily="34" charset="0"/>
              <a:buChar char="•"/>
            </a:pPr>
            <a:endParaRPr lang="en-US" sz="2400" b="1" dirty="0">
              <a:solidFill>
                <a:schemeClr val="bg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b="1" dirty="0">
                <a:solidFill>
                  <a:schemeClr val="bg1"/>
                </a:solidFill>
                <a:latin typeface="Arial" panose="020B0604020202020204" pitchFamily="34" charset="0"/>
                <a:cs typeface="Arial" panose="020B0604020202020204" pitchFamily="34" charset="0"/>
              </a:rPr>
              <a:t>Examine each stakeholder individually from three Perspectives</a:t>
            </a:r>
          </a:p>
          <a:p>
            <a:pPr marL="342900" indent="-342900" fontAlgn="auto">
              <a:buFont typeface="Arial" panose="020B0604020202020204" pitchFamily="34" charset="0"/>
              <a:buChar char="•"/>
            </a:pPr>
            <a:endParaRPr lang="en-US" sz="2400" b="1" dirty="0">
              <a:solidFill>
                <a:schemeClr val="bg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b="1" dirty="0">
                <a:solidFill>
                  <a:schemeClr val="bg1"/>
                </a:solidFill>
                <a:latin typeface="Arial" panose="020B0604020202020204" pitchFamily="34" charset="0"/>
                <a:cs typeface="Arial" panose="020B0604020202020204" pitchFamily="34" charset="0"/>
              </a:rPr>
              <a:t>Evaluate the Current State</a:t>
            </a:r>
          </a:p>
          <a:p>
            <a:pPr fontAlgn="auto"/>
            <a:endParaRPr lang="en-US" sz="2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886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akeholder Analysis:Salience Model"/>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8034" y="502276"/>
            <a:ext cx="11153104" cy="602731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556124" y="6219520"/>
            <a:ext cx="1687132" cy="1674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507606" y="5937160"/>
            <a:ext cx="4610635" cy="5666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Developed by Ronald Mitchell, Bradley </a:t>
            </a:r>
            <a:r>
              <a:rPr lang="en-US" b="1" dirty="0" err="1"/>
              <a:t>Agle</a:t>
            </a:r>
            <a:r>
              <a:rPr lang="en-US" b="1" dirty="0"/>
              <a:t>, and Donna Wood in 1997</a:t>
            </a:r>
          </a:p>
        </p:txBody>
      </p:sp>
    </p:spTree>
    <p:extLst>
      <p:ext uri="{BB962C8B-B14F-4D97-AF65-F5344CB8AC3E}">
        <p14:creationId xmlns:p14="http://schemas.microsoft.com/office/powerpoint/2010/main" val="1159316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7DD40D-834C-304E-2351-8A3C6E562706}"/>
              </a:ext>
            </a:extLst>
          </p:cNvPr>
          <p:cNvSpPr>
            <a:spLocks noGrp="1"/>
          </p:cNvSpPr>
          <p:nvPr>
            <p:ph idx="1"/>
          </p:nvPr>
        </p:nvSpPr>
        <p:spPr>
          <a:xfrm>
            <a:off x="559526" y="310334"/>
            <a:ext cx="10515600" cy="4351338"/>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1 Dormant (Kind of sleeping) </a:t>
            </a:r>
            <a:r>
              <a:rPr lang="en-US" sz="1800" dirty="0">
                <a:latin typeface="Times New Roman" panose="02020603050405020304" pitchFamily="18" charset="0"/>
                <a:cs typeface="Times New Roman" panose="02020603050405020304" pitchFamily="18" charset="0"/>
              </a:rPr>
              <a:t>Stakeholder:  They have power but don’t use it because they have no urgency or legitimacy. </a:t>
            </a:r>
            <a:r>
              <a:rPr lang="en-US" sz="1800" dirty="0">
                <a:solidFill>
                  <a:srgbClr val="FF0000"/>
                </a:solidFill>
                <a:latin typeface="Times New Roman" panose="02020603050405020304" pitchFamily="18" charset="0"/>
                <a:cs typeface="Times New Roman" panose="02020603050405020304" pitchFamily="18" charset="0"/>
              </a:rPr>
              <a:t>For e.g., A government minister who has influence but is not currently interested in your project</a:t>
            </a:r>
            <a:r>
              <a:rPr lang="en-US" sz="1800" dirty="0">
                <a:latin typeface="Times New Roman" panose="02020603050405020304" pitchFamily="18" charset="0"/>
                <a:cs typeface="Times New Roman" panose="02020603050405020304" pitchFamily="18" charset="0"/>
              </a:rPr>
              <a:t>.</a:t>
            </a:r>
          </a:p>
          <a:p>
            <a:pPr marL="0" indent="0">
              <a:buNone/>
            </a:pPr>
            <a:r>
              <a:rPr lang="en-US" sz="1800" b="1" dirty="0">
                <a:latin typeface="Times New Roman" panose="02020603050405020304" pitchFamily="18" charset="0"/>
                <a:cs typeface="Times New Roman" panose="02020603050405020304" pitchFamily="18" charset="0"/>
              </a:rPr>
              <a:t>2 Discretionary Stakeholders (Legitimacy only): </a:t>
            </a:r>
            <a:r>
              <a:rPr lang="en-US" sz="1800" dirty="0">
                <a:latin typeface="Times New Roman" panose="02020603050405020304" pitchFamily="18" charset="0"/>
                <a:cs typeface="Times New Roman" panose="02020603050405020304" pitchFamily="18" charset="0"/>
              </a:rPr>
              <a:t>They have legitimate claims but no power or urgency. </a:t>
            </a:r>
            <a:r>
              <a:rPr lang="en-US" sz="1800" dirty="0">
                <a:solidFill>
                  <a:srgbClr val="FF0000"/>
                </a:solidFill>
                <a:latin typeface="Times New Roman" panose="02020603050405020304" pitchFamily="18" charset="0"/>
                <a:cs typeface="Times New Roman" panose="02020603050405020304" pitchFamily="18" charset="0"/>
              </a:rPr>
              <a:t>For e.g., A charity organization asking for environmental responsibility from your company.</a:t>
            </a:r>
          </a:p>
          <a:p>
            <a:pPr marL="0" indent="0">
              <a:buNone/>
            </a:pPr>
            <a:r>
              <a:rPr lang="en-US" sz="1800" b="1" dirty="0">
                <a:latin typeface="Times New Roman" panose="02020603050405020304" pitchFamily="18" charset="0"/>
                <a:cs typeface="Times New Roman" panose="02020603050405020304" pitchFamily="18" charset="0"/>
              </a:rPr>
              <a:t>3. Demanding Stakeholders (Urgency only)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They have urgent needs but no power or legitimacy. </a:t>
            </a:r>
            <a:r>
              <a:rPr lang="en-US" sz="1800" dirty="0" err="1">
                <a:solidFill>
                  <a:srgbClr val="FF0000"/>
                </a:solidFill>
                <a:latin typeface="Times New Roman" panose="02020603050405020304" pitchFamily="18" charset="0"/>
                <a:cs typeface="Times New Roman" panose="02020603050405020304" pitchFamily="18" charset="0"/>
              </a:rPr>
              <a:t>E.g</a:t>
            </a:r>
            <a:r>
              <a:rPr lang="en-US" sz="1800" dirty="0">
                <a:solidFill>
                  <a:srgbClr val="FF0000"/>
                </a:solidFill>
                <a:latin typeface="Times New Roman" panose="02020603050405020304" pitchFamily="18" charset="0"/>
                <a:cs typeface="Times New Roman" panose="02020603050405020304" pitchFamily="18" charset="0"/>
              </a:rPr>
              <a:t> A customer who keeps complaining loudly but has no power or legitimate claim. </a:t>
            </a:r>
          </a:p>
          <a:p>
            <a:pPr marL="0" indent="0">
              <a:buNone/>
            </a:pPr>
            <a:r>
              <a:rPr lang="en-US" sz="1800" dirty="0">
                <a:latin typeface="Times New Roman" panose="02020603050405020304" pitchFamily="18" charset="0"/>
                <a:cs typeface="Times New Roman" panose="02020603050405020304" pitchFamily="18" charset="0"/>
              </a:rPr>
              <a:t>4. </a:t>
            </a:r>
            <a:r>
              <a:rPr lang="en-US" sz="1800" b="1" dirty="0">
                <a:latin typeface="Times New Roman" panose="02020603050405020304" pitchFamily="18" charset="0"/>
                <a:cs typeface="Times New Roman" panose="02020603050405020304" pitchFamily="18" charset="0"/>
              </a:rPr>
              <a:t>Dominant Stakeholder</a:t>
            </a:r>
            <a:r>
              <a:rPr lang="en-US" sz="1800" dirty="0">
                <a:latin typeface="Times New Roman" panose="02020603050405020304" pitchFamily="18" charset="0"/>
                <a:cs typeface="Times New Roman" panose="02020603050405020304" pitchFamily="18" charset="0"/>
              </a:rPr>
              <a:t> (Power + Legitimacy). They have both power and legitimacy. They influence decisions strongly. </a:t>
            </a:r>
            <a:r>
              <a:rPr lang="en-US" sz="1800" dirty="0">
                <a:solidFill>
                  <a:srgbClr val="FF0000"/>
                </a:solidFill>
                <a:latin typeface="Times New Roman" panose="02020603050405020304" pitchFamily="18" charset="0"/>
                <a:cs typeface="Times New Roman" panose="02020603050405020304" pitchFamily="18" charset="0"/>
              </a:rPr>
              <a:t>For </a:t>
            </a:r>
            <a:r>
              <a:rPr lang="en-US" sz="1800" dirty="0" err="1">
                <a:solidFill>
                  <a:srgbClr val="FF0000"/>
                </a:solidFill>
                <a:latin typeface="Times New Roman" panose="02020603050405020304" pitchFamily="18" charset="0"/>
                <a:cs typeface="Times New Roman" panose="02020603050405020304" pitchFamily="18" charset="0"/>
              </a:rPr>
              <a:t>e.,g</a:t>
            </a:r>
            <a:r>
              <a:rPr lang="en-US" sz="1800" dirty="0">
                <a:solidFill>
                  <a:srgbClr val="FF0000"/>
                </a:solidFill>
                <a:latin typeface="Times New Roman" panose="02020603050405020304" pitchFamily="18" charset="0"/>
                <a:cs typeface="Times New Roman" panose="02020603050405020304" pitchFamily="18" charset="0"/>
              </a:rPr>
              <a:t> Company owners or senior executives</a:t>
            </a:r>
            <a:r>
              <a:rPr lang="en-US" sz="1800" dirty="0">
                <a:latin typeface="Times New Roman" panose="02020603050405020304" pitchFamily="18" charset="0"/>
                <a:cs typeface="Times New Roman" panose="02020603050405020304" pitchFamily="18" charset="0"/>
              </a:rPr>
              <a:t>.</a:t>
            </a:r>
          </a:p>
          <a:p>
            <a:pPr marL="0" indent="0">
              <a:buNone/>
            </a:pPr>
            <a:r>
              <a:rPr lang="en-US" sz="1800" b="1" dirty="0">
                <a:latin typeface="Times New Roman" panose="02020603050405020304" pitchFamily="18" charset="0"/>
                <a:cs typeface="Times New Roman" panose="02020603050405020304" pitchFamily="18" charset="0"/>
              </a:rPr>
              <a:t>5. Dangerous Stakeholders (Power + Urgency)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They have power and urgent demands, but no legitimacy thus they may take extreme actions. For e.g., </a:t>
            </a:r>
            <a:r>
              <a:rPr lang="en-US" sz="1800" dirty="0">
                <a:solidFill>
                  <a:srgbClr val="FF0000"/>
                </a:solidFill>
                <a:latin typeface="Times New Roman" panose="02020603050405020304" pitchFamily="18" charset="0"/>
                <a:cs typeface="Times New Roman" panose="02020603050405020304" pitchFamily="18" charset="0"/>
              </a:rPr>
              <a:t>A labor union threatening to go on strike without legal justification.</a:t>
            </a:r>
          </a:p>
          <a:p>
            <a:pPr marL="0" indent="0">
              <a:buNone/>
            </a:pPr>
            <a:r>
              <a:rPr lang="en-US" sz="1800" b="1" dirty="0">
                <a:latin typeface="Times New Roman" panose="02020603050405020304" pitchFamily="18" charset="0"/>
                <a:cs typeface="Times New Roman" panose="02020603050405020304" pitchFamily="18" charset="0"/>
              </a:rPr>
              <a:t>6. Dependent Stakeholders (Legitimacy + Urgency)</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Their claim is urgent and legitimate but they lack power , thus they depend on you.  </a:t>
            </a:r>
            <a:r>
              <a:rPr lang="en-US" sz="1800" dirty="0">
                <a:solidFill>
                  <a:srgbClr val="FF0000"/>
                </a:solidFill>
                <a:latin typeface="Times New Roman" panose="02020603050405020304" pitchFamily="18" charset="0"/>
                <a:cs typeface="Times New Roman" panose="02020603050405020304" pitchFamily="18" charset="0"/>
              </a:rPr>
              <a:t>For e.g., Local community affected by your factory operations.</a:t>
            </a:r>
          </a:p>
          <a:p>
            <a:pPr marL="0" indent="0">
              <a:buNone/>
            </a:pPr>
            <a:r>
              <a:rPr lang="en-US" sz="1800" b="1" dirty="0">
                <a:latin typeface="Times New Roman" panose="02020603050405020304" pitchFamily="18" charset="0"/>
                <a:cs typeface="Times New Roman" panose="02020603050405020304" pitchFamily="18" charset="0"/>
              </a:rPr>
              <a:t>7. Definitive Stakeholders (All three attributes)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They have power + legitimacy + urgency thus opt for </a:t>
            </a:r>
            <a:r>
              <a:rPr lang="en-US" sz="1800" b="1" dirty="0">
                <a:latin typeface="Times New Roman" panose="02020603050405020304" pitchFamily="18" charset="0"/>
                <a:cs typeface="Times New Roman" panose="02020603050405020304" pitchFamily="18" charset="0"/>
              </a:rPr>
              <a:t>top priority stakeholders</a:t>
            </a:r>
            <a:r>
              <a:rPr lang="en-US" sz="1800" dirty="0">
                <a:latin typeface="Times New Roman" panose="02020603050405020304" pitchFamily="18" charset="0"/>
                <a:cs typeface="Times New Roman" panose="02020603050405020304" pitchFamily="18" charset="0"/>
              </a:rPr>
              <a:t>. </a:t>
            </a:r>
            <a:r>
              <a:rPr lang="en-US" sz="1800" b="1" dirty="0">
                <a:solidFill>
                  <a:srgbClr val="FF0000"/>
                </a:solidFill>
                <a:latin typeface="Times New Roman" panose="02020603050405020304" pitchFamily="18" charset="0"/>
                <a:cs typeface="Times New Roman" panose="02020603050405020304" pitchFamily="18" charset="0"/>
              </a:rPr>
              <a:t>For </a:t>
            </a:r>
            <a:r>
              <a:rPr lang="en-US" sz="1800" b="1" dirty="0" err="1">
                <a:solidFill>
                  <a:srgbClr val="FF0000"/>
                </a:solidFill>
                <a:latin typeface="Times New Roman" panose="02020603050405020304" pitchFamily="18" charset="0"/>
                <a:cs typeface="Times New Roman" panose="02020603050405020304" pitchFamily="18" charset="0"/>
              </a:rPr>
              <a:t>e.g</a:t>
            </a:r>
            <a:r>
              <a:rPr lang="en-US" sz="1800" b="1" dirty="0">
                <a:solidFill>
                  <a:srgbClr val="FF0000"/>
                </a:solidFill>
                <a:latin typeface="Times New Roman" panose="02020603050405020304" pitchFamily="18" charset="0"/>
                <a:cs typeface="Times New Roman" panose="02020603050405020304" pitchFamily="18" charset="0"/>
              </a:rPr>
              <a:t> </a:t>
            </a:r>
            <a:r>
              <a:rPr lang="en-US" sz="1800" dirty="0">
                <a:solidFill>
                  <a:srgbClr val="FF0000"/>
                </a:solidFill>
                <a:latin typeface="Times New Roman" panose="02020603050405020304" pitchFamily="18" charset="0"/>
                <a:cs typeface="Times New Roman" panose="02020603050405020304" pitchFamily="18" charset="0"/>
              </a:rPr>
              <a:t>Project sponsor who has full power, legitimate authority, and urgent deadlines.</a:t>
            </a:r>
          </a:p>
          <a:p>
            <a:pPr marL="0" indent="0">
              <a:buNone/>
            </a:pPr>
            <a:r>
              <a:rPr lang="en-US" sz="1800" b="1" dirty="0">
                <a:latin typeface="Times New Roman" panose="02020603050405020304" pitchFamily="18" charset="0"/>
                <a:cs typeface="Times New Roman" panose="02020603050405020304" pitchFamily="18" charset="0"/>
              </a:rPr>
              <a:t>8. Non-Stakeholders :They hold none of the three attribute </a:t>
            </a:r>
            <a:r>
              <a:rPr lang="en-US" sz="1800" b="1" dirty="0">
                <a:solidFill>
                  <a:srgbClr val="FF0000"/>
                </a:solidFill>
                <a:latin typeface="Times New Roman" panose="02020603050405020304" pitchFamily="18" charset="0"/>
                <a:cs typeface="Times New Roman" panose="02020603050405020304" pitchFamily="18" charset="0"/>
              </a:rPr>
              <a:t>for </a:t>
            </a:r>
            <a:r>
              <a:rPr lang="en-US" sz="1800" b="1" dirty="0" err="1">
                <a:solidFill>
                  <a:srgbClr val="FF0000"/>
                </a:solidFill>
                <a:latin typeface="Times New Roman" panose="02020603050405020304" pitchFamily="18" charset="0"/>
                <a:cs typeface="Times New Roman" panose="02020603050405020304" pitchFamily="18" charset="0"/>
              </a:rPr>
              <a:t>e.g</a:t>
            </a:r>
            <a:r>
              <a:rPr lang="en-US" sz="1800" b="1" dirty="0">
                <a:solidFill>
                  <a:srgbClr val="FF0000"/>
                </a:solidFill>
                <a:latin typeface="Times New Roman" panose="02020603050405020304" pitchFamily="18" charset="0"/>
                <a:cs typeface="Times New Roman" panose="02020603050405020304" pitchFamily="18" charset="0"/>
              </a:rPr>
              <a:t>, People who are completely unrelated to the company or project</a:t>
            </a:r>
            <a:endParaRPr lang="en-US" sz="1800" dirty="0">
              <a:solidFill>
                <a:srgbClr val="FF0000"/>
              </a:solidFill>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4145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6832" y="83947"/>
            <a:ext cx="6993229" cy="817573"/>
          </a:xfrm>
        </p:spPr>
        <p:txBody>
          <a:bodyPr>
            <a:normAutofit/>
          </a:bodyPr>
          <a:lstStyle/>
          <a:p>
            <a:pPr algn="ctr"/>
            <a:r>
              <a:rPr lang="en-US" sz="3600" b="1" dirty="0">
                <a:solidFill>
                  <a:srgbClr val="FFFF00"/>
                </a:solidFill>
                <a:latin typeface="Arial" panose="020B0604020202020204" pitchFamily="34" charset="0"/>
                <a:cs typeface="Arial" panose="020B0604020202020204" pitchFamily="34" charset="0"/>
              </a:rPr>
              <a:t>Various Characters</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35001" y="774700"/>
            <a:ext cx="10864272" cy="5930900"/>
          </a:xfrm>
        </p:spPr>
        <p:txBody>
          <a:bodyPr>
            <a:normAutofit/>
          </a:bodyPr>
          <a:lstStyle/>
          <a:p>
            <a:pPr lvl="2" algn="just"/>
            <a:endParaRPr lang="en-US" sz="17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
        <p:nvSpPr>
          <p:cNvPr id="6" name="TextBox 5"/>
          <p:cNvSpPr txBox="1"/>
          <p:nvPr/>
        </p:nvSpPr>
        <p:spPr>
          <a:xfrm>
            <a:off x="4855331" y="6014432"/>
            <a:ext cx="2382593" cy="369332"/>
          </a:xfrm>
          <a:prstGeom prst="rect">
            <a:avLst/>
          </a:prstGeom>
          <a:noFill/>
        </p:spPr>
        <p:txBody>
          <a:bodyPr wrap="square" rtlCol="0">
            <a:spAutoFit/>
          </a:bodyPr>
          <a:lstStyle/>
          <a:p>
            <a:r>
              <a:rPr lang="en-US" b="1" dirty="0">
                <a:solidFill>
                  <a:srgbClr val="FFFF00"/>
                </a:solidFill>
                <a:latin typeface="Arial" panose="020B0604020202020204" pitchFamily="34" charset="0"/>
                <a:cs typeface="Arial" panose="020B0604020202020204" pitchFamily="34" charset="0"/>
              </a:rPr>
              <a:t>Stakeholder Cube</a:t>
            </a:r>
          </a:p>
        </p:txBody>
      </p:sp>
      <p:pic>
        <p:nvPicPr>
          <p:cNvPr id="7" name="Picture 6" descr="https://media.licdn.com/dms/image/D5612AQEsxJUjKzMtTA/article-inline_image-shrink_1500_2232/0/1693471916032?e=1718841600&amp;v=beta&amp;t=8oWR8XFPRzWmIVrT9xYfR8M2ohoH2JH8YvMYIEAJw5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1685" y="1154382"/>
            <a:ext cx="6246252" cy="4808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800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1553" y="45311"/>
            <a:ext cx="3939862" cy="600842"/>
          </a:xfrm>
        </p:spPr>
        <p:txBody>
          <a:bodyPr>
            <a:normAutofit fontScale="90000"/>
          </a:bodyPr>
          <a:lstStyle/>
          <a:p>
            <a:pPr algn="ctr"/>
            <a:r>
              <a:rPr lang="en-US" sz="3200" b="1" dirty="0">
                <a:solidFill>
                  <a:srgbClr val="FFFF00"/>
                </a:solidFill>
                <a:latin typeface="Arial" panose="020B0604020202020204" pitchFamily="34" charset="0"/>
                <a:cs typeface="Arial" panose="020B0604020202020204" pitchFamily="34" charset="0"/>
              </a:rPr>
              <a:t>Three Grid of Model</a:t>
            </a:r>
            <a:endParaRPr lang="en-US" sz="3600" dirty="0">
              <a:solidFill>
                <a:srgbClr val="FFFF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35001" y="774700"/>
            <a:ext cx="10864272" cy="5930900"/>
          </a:xfrm>
        </p:spPr>
        <p:txBody>
          <a:bodyPr>
            <a:normAutofit/>
          </a:bodyPr>
          <a:lstStyle/>
          <a:p>
            <a:pPr lvl="3" algn="just"/>
            <a:endParaRPr lang="en-US" sz="1600" b="1" dirty="0">
              <a:solidFill>
                <a:schemeClr val="bg1"/>
              </a:solidFill>
              <a:latin typeface="Arial" panose="020B0604020202020204" pitchFamily="34" charset="0"/>
              <a:cs typeface="Arial" panose="020B0604020202020204" pitchFamily="34" charset="0"/>
            </a:endParaRPr>
          </a:p>
          <a:p>
            <a:pPr lvl="3" algn="just"/>
            <a:endParaRPr lang="en-US" sz="16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2" algn="just"/>
            <a:endParaRPr lang="en-US" sz="1700" b="1" dirty="0">
              <a:solidFill>
                <a:schemeClr val="bg1"/>
              </a:solidFill>
              <a:latin typeface="Arial" panose="020B0604020202020204" pitchFamily="34" charset="0"/>
              <a:cs typeface="Arial" panose="020B0604020202020204" pitchFamily="34" charset="0"/>
            </a:endParaRPr>
          </a:p>
          <a:p>
            <a:pPr lvl="1" algn="just"/>
            <a:endParaRPr lang="en-US" sz="2100" b="1" dirty="0">
              <a:solidFill>
                <a:schemeClr val="bg1"/>
              </a:solidFill>
              <a:latin typeface="Arial" panose="020B0604020202020204" pitchFamily="34" charset="0"/>
              <a:cs typeface="Arial" panose="020B0604020202020204" pitchFamily="34" charset="0"/>
            </a:endParaRPr>
          </a:p>
          <a:p>
            <a:pPr algn="just"/>
            <a:endParaRPr lang="en-US" sz="14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22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algn="just"/>
            <a:endParaRPr lang="en-US" sz="1800" b="1" dirty="0">
              <a:solidFill>
                <a:schemeClr val="bg1"/>
              </a:solidFill>
              <a:latin typeface="Arial" panose="020B0604020202020204" pitchFamily="34" charset="0"/>
              <a:cs typeface="Arial" panose="020B0604020202020204" pitchFamily="34" charset="0"/>
            </a:endParaRPr>
          </a:p>
          <a:p>
            <a:pPr lvl="1" algn="just"/>
            <a:endParaRPr lang="en-US" b="1" dirty="0">
              <a:solidFill>
                <a:schemeClr val="bg1"/>
              </a:solidFill>
              <a:latin typeface="Arial" panose="020B0604020202020204" pitchFamily="34" charset="0"/>
              <a:cs typeface="Arial" panose="020B0604020202020204" pitchFamily="34" charset="0"/>
            </a:endParaRPr>
          </a:p>
        </p:txBody>
      </p:sp>
      <p:sp>
        <p:nvSpPr>
          <p:cNvPr id="4" name="TextBox 3"/>
          <p:cNvSpPr txBox="1"/>
          <p:nvPr/>
        </p:nvSpPr>
        <p:spPr>
          <a:xfrm>
            <a:off x="413196" y="721221"/>
            <a:ext cx="11589913" cy="5909310"/>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FFFF00"/>
                </a:solidFill>
                <a:latin typeface="Arial" panose="020B0604020202020204" pitchFamily="34" charset="0"/>
                <a:cs typeface="Arial" panose="020B0604020202020204" pitchFamily="34" charset="0"/>
              </a:rPr>
              <a:t>Attitude Grid - Do they offer support? or Do they express opposition?</a:t>
            </a:r>
          </a:p>
          <a:p>
            <a:pPr marL="742950" lvl="1" indent="-285750">
              <a:buFont typeface="Arial" panose="020B0604020202020204" pitchFamily="34" charset="0"/>
              <a:buChar char="•"/>
            </a:pPr>
            <a:r>
              <a:rPr lang="en-US" b="1" dirty="0">
                <a:solidFill>
                  <a:srgbClr val="FFFF00"/>
                </a:solidFill>
                <a:latin typeface="Arial" panose="020B0604020202020204" pitchFamily="34" charset="0"/>
                <a:cs typeface="Arial" panose="020B0604020202020204" pitchFamily="34" charset="0"/>
              </a:rPr>
              <a:t>Subsequent Questions</a:t>
            </a:r>
          </a:p>
          <a:p>
            <a:pPr marL="742950" lvl="1" indent="-285750">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Is there a clash of interests between the stakeholder and the project?</a:t>
            </a:r>
          </a:p>
          <a:p>
            <a:pPr marL="742950" lvl="1" indent="-285750">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Does the stakeholder exhibit emotional endorsement of the project?</a:t>
            </a:r>
          </a:p>
          <a:p>
            <a:pPr marL="742950" lvl="1" indent="-285750">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Is the stakeholder voicing opposition to the project?</a:t>
            </a:r>
          </a:p>
          <a:p>
            <a:pPr marL="742950" lvl="1" indent="-285750">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Is the stakeholder demonstrating actions in favor of the project?</a:t>
            </a:r>
          </a:p>
          <a:p>
            <a:pPr lvl="2"/>
            <a:endParaRPr lang="en-US" b="1" dirty="0">
              <a:solidFill>
                <a:srgbClr val="FFFF00"/>
              </a:solidFill>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b="1" dirty="0">
                <a:solidFill>
                  <a:srgbClr val="FFFF00"/>
                </a:solidFill>
                <a:latin typeface="Arial" panose="020B0604020202020204" pitchFamily="34" charset="0"/>
                <a:cs typeface="Arial" panose="020B0604020202020204" pitchFamily="34" charset="0"/>
              </a:rPr>
              <a:t>Power Grid - Do they possess the capability to impact the project?</a:t>
            </a:r>
          </a:p>
          <a:p>
            <a:pPr marL="742950" lvl="1" indent="-285750" algn="just">
              <a:buFont typeface="Arial" panose="020B0604020202020204" pitchFamily="34" charset="0"/>
              <a:buChar char="•"/>
            </a:pPr>
            <a:r>
              <a:rPr lang="en-US" b="1" dirty="0">
                <a:solidFill>
                  <a:srgbClr val="FFFF00"/>
                </a:solidFill>
                <a:latin typeface="Arial" panose="020B0604020202020204" pitchFamily="34" charset="0"/>
                <a:cs typeface="Arial" panose="020B0604020202020204" pitchFamily="34" charset="0"/>
              </a:rPr>
              <a:t>Subsequent Questions</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Is the stakeholder positioned to exert an impact on the project's direction?</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Can the stakeholder play a role in steering the project away from a crisis?</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Could the stakeholder's actions contribute to the project's failure?</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Does the stakeholder possess the ability to influence project sponsors?</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Does the stakeholder hold influence over key members of the project team?</a:t>
            </a:r>
          </a:p>
          <a:p>
            <a:pPr marL="1200150" lvl="2" indent="-285750" algn="just">
              <a:buFont typeface="Arial" panose="020B0604020202020204" pitchFamily="34" charset="0"/>
              <a:buChar char="•"/>
            </a:pPr>
            <a:endParaRPr lang="en-US" b="1" dirty="0">
              <a:solidFill>
                <a:srgbClr val="FFFF00"/>
              </a:solidFill>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b="1" dirty="0">
                <a:solidFill>
                  <a:srgbClr val="FFFF00"/>
                </a:solidFill>
                <a:latin typeface="Arial" panose="020B0604020202020204" pitchFamily="34" charset="0"/>
                <a:cs typeface="Arial" panose="020B0604020202020204" pitchFamily="34" charset="0"/>
              </a:rPr>
              <a:t>Interest Grid - Do they emotionally committed to the project?</a:t>
            </a:r>
          </a:p>
          <a:p>
            <a:pPr marL="742950" lvl="1" indent="-285750" algn="just">
              <a:buFont typeface="Arial" panose="020B0604020202020204" pitchFamily="34" charset="0"/>
              <a:buChar char="•"/>
            </a:pPr>
            <a:r>
              <a:rPr lang="en-US" b="1" dirty="0">
                <a:solidFill>
                  <a:srgbClr val="FFFF00"/>
                </a:solidFill>
                <a:latin typeface="Arial" panose="020B0604020202020204" pitchFamily="34" charset="0"/>
                <a:cs typeface="Arial" panose="020B0604020202020204" pitchFamily="34" charset="0"/>
              </a:rPr>
              <a:t>Subsequent questions</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Is the stakeholder present at project meetings?</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Does the stakeholder engage in discussions related to the project?</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Is the stakeholder actively seeking relevant information about the project?</a:t>
            </a:r>
          </a:p>
          <a:p>
            <a:pPr marL="1200150" lvl="2" indent="-285750" algn="just">
              <a:buFont typeface="Arial" panose="020B0604020202020204" pitchFamily="34" charset="0"/>
              <a:buChar char="•"/>
            </a:pPr>
            <a:r>
              <a:rPr lang="en-US" b="1" dirty="0">
                <a:solidFill>
                  <a:schemeClr val="bg1"/>
                </a:solidFill>
                <a:latin typeface="Arial" panose="020B0604020202020204" pitchFamily="34" charset="0"/>
                <a:cs typeface="Arial" panose="020B0604020202020204" pitchFamily="34" charset="0"/>
              </a:rPr>
              <a:t>Does the stakeholder exhibit signs of willingness to participate in the project?</a:t>
            </a:r>
          </a:p>
        </p:txBody>
      </p:sp>
      <p:pic>
        <p:nvPicPr>
          <p:cNvPr id="5" name="Picture 2" descr="https://media.licdn.com/dms/image/D5612AQF0rJuGAYtJhw/article-inline_image-shrink_1500_2232/0/1693481645946?e=1718841600&amp;v=beta&amp;t=fl4jRxpGYgkVHIWAhnMmssmCnGDuZTWitqqqOAaQQF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7186" y="1326525"/>
            <a:ext cx="1674256" cy="123637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s://media.licdn.com/dms/image/D5612AQGUJGomNAPuJg/article-inline_image-shrink_1500_2232/0/1693481806679?e=1718841600&amp;v=beta&amp;t=2Uoz2Mw918ep-qzqjEPyi9lJkG3PZSQzP1Plw3cIsT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26867" y="3219719"/>
            <a:ext cx="1673211" cy="13007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ttps://media.licdn.com/dms/image/D5612AQHkfFIx1M2nSg/article-inline_image-shrink_1000_1488/0/1693482227714?e=1718841600&amp;v=beta&amp;t=fGSLtVNejGyXwuXunnd1GegNSSY48dDgrjeq4tKFQ5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90218" y="5396248"/>
            <a:ext cx="1648512" cy="1165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548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90727099"/>
              </p:ext>
            </p:extLst>
          </p:nvPr>
        </p:nvGraphicFramePr>
        <p:xfrm>
          <a:off x="1" y="-84789"/>
          <a:ext cx="12192000" cy="7254240"/>
        </p:xfrm>
        <a:graphic>
          <a:graphicData uri="http://schemas.openxmlformats.org/drawingml/2006/table">
            <a:tbl>
              <a:tblPr firstRow="1" bandRow="1">
                <a:tableStyleId>{5C22544A-7EE6-4342-B048-85BDC9FD1C3A}</a:tableStyleId>
              </a:tblPr>
              <a:tblGrid>
                <a:gridCol w="1297842">
                  <a:extLst>
                    <a:ext uri="{9D8B030D-6E8A-4147-A177-3AD203B41FA5}">
                      <a16:colId xmlns:a16="http://schemas.microsoft.com/office/drawing/2014/main" val="20000"/>
                    </a:ext>
                  </a:extLst>
                </a:gridCol>
                <a:gridCol w="10894158">
                  <a:extLst>
                    <a:ext uri="{9D8B030D-6E8A-4147-A177-3AD203B41FA5}">
                      <a16:colId xmlns:a16="http://schemas.microsoft.com/office/drawing/2014/main" val="20001"/>
                    </a:ext>
                  </a:extLst>
                </a:gridCol>
              </a:tblGrid>
              <a:tr h="340590">
                <a:tc>
                  <a:txBody>
                    <a:bodyPr/>
                    <a:lstStyle/>
                    <a:p>
                      <a:endParaRPr lang="en-US" sz="1600" dirty="0"/>
                    </a:p>
                  </a:txBody>
                  <a:tcPr/>
                </a:tc>
                <a:tc>
                  <a:txBody>
                    <a:bodyPr/>
                    <a:lstStyle/>
                    <a:p>
                      <a:pPr algn="ctr"/>
                      <a:r>
                        <a:rPr lang="en-US" sz="1800" b="1" dirty="0">
                          <a:solidFill>
                            <a:srgbClr val="FFFF00"/>
                          </a:solidFill>
                          <a:latin typeface="Arial" panose="020B0604020202020204" pitchFamily="34" charset="0"/>
                          <a:cs typeface="Arial" panose="020B0604020202020204" pitchFamily="34" charset="0"/>
                        </a:rPr>
                        <a:t>Eight Characters</a:t>
                      </a:r>
                      <a:r>
                        <a:rPr lang="en-US" sz="1800" b="1" baseline="0" dirty="0">
                          <a:solidFill>
                            <a:srgbClr val="FFFF00"/>
                          </a:solidFill>
                          <a:latin typeface="Arial" panose="020B0604020202020204" pitchFamily="34" charset="0"/>
                          <a:cs typeface="Arial" panose="020B0604020202020204" pitchFamily="34" charset="0"/>
                        </a:rPr>
                        <a:t>  of Model</a:t>
                      </a:r>
                      <a:endParaRPr lang="en-US" sz="1800" b="1" dirty="0">
                        <a:solidFill>
                          <a:srgbClr val="FFFF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1021769">
                <a:tc>
                  <a:txBody>
                    <a:bodyPr/>
                    <a:lstStyle/>
                    <a:p>
                      <a:r>
                        <a:rPr lang="en-US" sz="1600" b="1" dirty="0"/>
                        <a:t>Savior</a:t>
                      </a:r>
                    </a:p>
                  </a:txBody>
                  <a:tcPr/>
                </a:tc>
                <a:tc>
                  <a:txBody>
                    <a:bodyPr/>
                    <a:lstStyle/>
                    <a:p>
                      <a:r>
                        <a:rPr lang="en-US" sz="1600" b="0" i="0" kern="1200" dirty="0">
                          <a:solidFill>
                            <a:schemeClr val="dk1"/>
                          </a:solidFill>
                          <a:effectLst/>
                          <a:latin typeface="+mn-lt"/>
                          <a:ea typeface="+mn-ea"/>
                          <a:cs typeface="+mn-cs"/>
                        </a:rPr>
                        <a:t>Influential active backer (High Power - Positive Attitude - High Interest</a:t>
                      </a:r>
                      <a:r>
                        <a:rPr lang="en-US" sz="1600" b="0" i="0" kern="1200" dirty="0">
                          <a:solidFill>
                            <a:srgbClr val="FF0000"/>
                          </a:solidFill>
                          <a:effectLst/>
                          <a:latin typeface="+mn-lt"/>
                          <a:ea typeface="+mn-ea"/>
                          <a:cs typeface="+mn-cs"/>
                        </a:rPr>
                        <a:t>) E.G </a:t>
                      </a:r>
                      <a:r>
                        <a:rPr lang="en-US" sz="1600" dirty="0">
                          <a:solidFill>
                            <a:srgbClr val="FF0000"/>
                          </a:solidFill>
                        </a:rPr>
                        <a:t>CEO who strongly</a:t>
                      </a:r>
                    </a:p>
                    <a:p>
                      <a:r>
                        <a:rPr lang="en-US" sz="1600" dirty="0">
                          <a:solidFill>
                            <a:srgbClr val="FF0000"/>
                          </a:solidFill>
                        </a:rPr>
                        <a:t> supports the project.</a:t>
                      </a:r>
                      <a:endParaRPr lang="en-US" sz="1600" b="0" i="0" kern="1200" dirty="0">
                        <a:solidFill>
                          <a:srgbClr val="FF0000"/>
                        </a:solidFill>
                        <a:effectLst/>
                        <a:latin typeface="+mn-lt"/>
                        <a:ea typeface="+mn-ea"/>
                        <a:cs typeface="+mn-cs"/>
                      </a:endParaRPr>
                    </a:p>
                    <a:p>
                      <a:pPr fontAlgn="auto"/>
                      <a:r>
                        <a:rPr lang="en-US" sz="1600" b="1" i="0" kern="1200" dirty="0">
                          <a:solidFill>
                            <a:schemeClr val="dk1"/>
                          </a:solidFill>
                          <a:effectLst/>
                          <a:latin typeface="+mn-lt"/>
                          <a:ea typeface="+mn-ea"/>
                          <a:cs typeface="+mn-cs"/>
                        </a:rPr>
                        <a:t>Primary Strategy:</a:t>
                      </a:r>
                      <a:r>
                        <a:rPr lang="en-US" sz="1600" b="0" i="0" kern="1200" dirty="0">
                          <a:solidFill>
                            <a:schemeClr val="dk1"/>
                          </a:solidFill>
                          <a:effectLst/>
                          <a:latin typeface="+mn-lt"/>
                          <a:ea typeface="+mn-ea"/>
                          <a:cs typeface="+mn-cs"/>
                        </a:rPr>
                        <a:t> Prioritize them, further strengthen the bonding.</a:t>
                      </a:r>
                    </a:p>
                    <a:p>
                      <a:pPr fontAlgn="auto"/>
                      <a:r>
                        <a:rPr lang="en-US" sz="1600" b="1" i="0" kern="1200" dirty="0">
                          <a:solidFill>
                            <a:schemeClr val="dk1"/>
                          </a:solidFill>
                          <a:effectLst/>
                          <a:latin typeface="+mn-lt"/>
                          <a:ea typeface="+mn-ea"/>
                          <a:cs typeface="+mn-cs"/>
                        </a:rPr>
                        <a:t>Secondary Strategy:</a:t>
                      </a:r>
                      <a:r>
                        <a:rPr lang="en-US" sz="1600" b="0" i="0" kern="1200" dirty="0">
                          <a:solidFill>
                            <a:schemeClr val="dk1"/>
                          </a:solidFill>
                          <a:effectLst/>
                          <a:latin typeface="+mn-lt"/>
                          <a:ea typeface="+mn-ea"/>
                          <a:cs typeface="+mn-cs"/>
                        </a:rPr>
                        <a:t> Maintain their interest, show them the potential.</a:t>
                      </a:r>
                      <a:endParaRPr lang="en-US" sz="1600" dirty="0"/>
                    </a:p>
                  </a:txBody>
                  <a:tcPr/>
                </a:tc>
                <a:extLst>
                  <a:ext uri="{0D108BD9-81ED-4DB2-BD59-A6C34878D82A}">
                    <a16:rowId xmlns:a16="http://schemas.microsoft.com/office/drawing/2014/main" val="10001"/>
                  </a:ext>
                </a:extLst>
              </a:tr>
              <a:tr h="12575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Sleeping Giant</a:t>
                      </a:r>
                    </a:p>
                    <a:p>
                      <a:endParaRPr lang="en-US" sz="1600" dirty="0"/>
                    </a:p>
                  </a:txBody>
                  <a:tcPr/>
                </a:tc>
                <a:tc>
                  <a:txBody>
                    <a:bodyPr/>
                    <a:lstStyle/>
                    <a:p>
                      <a:r>
                        <a:rPr lang="en-US" sz="1600" b="0" i="0" kern="1200" dirty="0">
                          <a:solidFill>
                            <a:schemeClr val="dk1"/>
                          </a:solidFill>
                          <a:effectLst/>
                          <a:latin typeface="+mn-lt"/>
                          <a:ea typeface="+mn-ea"/>
                          <a:cs typeface="+mn-cs"/>
                        </a:rPr>
                        <a:t>Influential passive backer (High Power - Positive Attitude - Low Interest</a:t>
                      </a:r>
                      <a:r>
                        <a:rPr lang="en-US" sz="1600" b="1" i="0" kern="1200" dirty="0">
                          <a:solidFill>
                            <a:srgbClr val="FF0000"/>
                          </a:solidFill>
                          <a:effectLst/>
                          <a:latin typeface="+mn-lt"/>
                          <a:ea typeface="+mn-ea"/>
                          <a:cs typeface="+mn-cs"/>
                        </a:rPr>
                        <a:t>) E.G </a:t>
                      </a:r>
                      <a:r>
                        <a:rPr lang="en-US" sz="1600" b="1" dirty="0">
                          <a:solidFill>
                            <a:srgbClr val="FF0000"/>
                          </a:solidFill>
                        </a:rPr>
                        <a:t>A senior director</a:t>
                      </a:r>
                    </a:p>
                    <a:p>
                      <a:r>
                        <a:rPr lang="en-US" sz="1600" b="1" dirty="0">
                          <a:solidFill>
                            <a:srgbClr val="FF0000"/>
                          </a:solidFill>
                        </a:rPr>
                        <a:t> who likes your project but doesn’t actively engage.</a:t>
                      </a:r>
                      <a:endParaRPr lang="en-US" sz="1600" b="1" i="0" kern="1200" dirty="0">
                        <a:solidFill>
                          <a:srgbClr val="FF0000"/>
                        </a:solidFill>
                        <a:effectLst/>
                        <a:latin typeface="+mn-lt"/>
                        <a:ea typeface="+mn-ea"/>
                        <a:cs typeface="+mn-cs"/>
                      </a:endParaRPr>
                    </a:p>
                    <a:p>
                      <a:pPr fontAlgn="auto"/>
                      <a:r>
                        <a:rPr lang="en-US" sz="1600" b="1" i="0" kern="1200" dirty="0">
                          <a:solidFill>
                            <a:schemeClr val="dk1"/>
                          </a:solidFill>
                          <a:effectLst/>
                          <a:latin typeface="+mn-lt"/>
                          <a:ea typeface="+mn-ea"/>
                          <a:cs typeface="+mn-cs"/>
                        </a:rPr>
                        <a:t>Primary Strategy:</a:t>
                      </a:r>
                      <a:r>
                        <a:rPr lang="en-US" sz="1600" b="0" i="0" kern="1200" dirty="0">
                          <a:solidFill>
                            <a:schemeClr val="dk1"/>
                          </a:solidFill>
                          <a:effectLst/>
                          <a:latin typeface="+mn-lt"/>
                          <a:ea typeface="+mn-ea"/>
                          <a:cs typeface="+mn-cs"/>
                        </a:rPr>
                        <a:t> Gain their interest. Align and communicate their benefit.</a:t>
                      </a:r>
                    </a:p>
                    <a:p>
                      <a:pPr fontAlgn="auto"/>
                      <a:r>
                        <a:rPr lang="en-US" sz="1600" b="1" i="0" kern="1200" dirty="0">
                          <a:solidFill>
                            <a:schemeClr val="dk1"/>
                          </a:solidFill>
                          <a:effectLst/>
                          <a:latin typeface="+mn-lt"/>
                          <a:ea typeface="+mn-ea"/>
                          <a:cs typeface="+mn-cs"/>
                        </a:rPr>
                        <a:t>Secondary Strategy:</a:t>
                      </a:r>
                      <a:r>
                        <a:rPr lang="en-US" sz="1600" b="0" i="0" kern="1200" dirty="0">
                          <a:solidFill>
                            <a:schemeClr val="dk1"/>
                          </a:solidFill>
                          <a:effectLst/>
                          <a:latin typeface="+mn-lt"/>
                          <a:ea typeface="+mn-ea"/>
                          <a:cs typeface="+mn-cs"/>
                        </a:rPr>
                        <a:t> Keep them informed. Ensure information always available.</a:t>
                      </a:r>
                    </a:p>
                    <a:p>
                      <a:endParaRPr lang="en-US" sz="1600" dirty="0"/>
                    </a:p>
                  </a:txBody>
                  <a:tcPr/>
                </a:tc>
                <a:extLst>
                  <a:ext uri="{0D108BD9-81ED-4DB2-BD59-A6C34878D82A}">
                    <a16:rowId xmlns:a16="http://schemas.microsoft.com/office/drawing/2014/main" val="10002"/>
                  </a:ext>
                </a:extLst>
              </a:tr>
              <a:tr h="12575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Saboteur</a:t>
                      </a:r>
                    </a:p>
                    <a:p>
                      <a:endParaRPr lang="en-US" sz="1600" dirty="0"/>
                    </a:p>
                  </a:txBody>
                  <a:tcPr/>
                </a:tc>
                <a:tc>
                  <a:txBody>
                    <a:bodyPr/>
                    <a:lstStyle/>
                    <a:p>
                      <a:r>
                        <a:rPr lang="en-US" sz="1600" b="0" i="0" kern="1200" dirty="0">
                          <a:solidFill>
                            <a:schemeClr val="dk1"/>
                          </a:solidFill>
                          <a:effectLst/>
                          <a:latin typeface="+mn-lt"/>
                          <a:ea typeface="+mn-ea"/>
                          <a:cs typeface="+mn-cs"/>
                        </a:rPr>
                        <a:t>Influential active blocker (High Power - Negative Attitude - High Interest) </a:t>
                      </a:r>
                      <a:r>
                        <a:rPr lang="en-US" sz="1600" b="1" dirty="0">
                          <a:solidFill>
                            <a:srgbClr val="FF0000"/>
                          </a:solidFill>
                        </a:rPr>
                        <a:t>Example:</a:t>
                      </a:r>
                    </a:p>
                    <a:p>
                      <a:r>
                        <a:rPr lang="en-US" sz="1600" dirty="0">
                          <a:solidFill>
                            <a:srgbClr val="FF0000"/>
                          </a:solidFill>
                        </a:rPr>
                        <a:t>A competitor inside the company who wants your project to fail.</a:t>
                      </a:r>
                    </a:p>
                    <a:p>
                      <a:pPr fontAlgn="auto"/>
                      <a:r>
                        <a:rPr lang="en-US" sz="1600" b="1" i="0" kern="1200" dirty="0">
                          <a:solidFill>
                            <a:schemeClr val="dk1"/>
                          </a:solidFill>
                          <a:effectLst/>
                          <a:latin typeface="+mn-lt"/>
                          <a:ea typeface="+mn-ea"/>
                          <a:cs typeface="+mn-cs"/>
                        </a:rPr>
                        <a:t>Primary Strategy:</a:t>
                      </a:r>
                      <a:r>
                        <a:rPr lang="en-US" sz="1600" b="0" i="0" kern="1200" dirty="0">
                          <a:solidFill>
                            <a:schemeClr val="dk1"/>
                          </a:solidFill>
                          <a:effectLst/>
                          <a:latin typeface="+mn-lt"/>
                          <a:ea typeface="+mn-ea"/>
                          <a:cs typeface="+mn-cs"/>
                        </a:rPr>
                        <a:t> Convert their Attitude, realign the conflict, reframe the scenario.</a:t>
                      </a:r>
                    </a:p>
                    <a:p>
                      <a:pPr fontAlgn="auto"/>
                      <a:r>
                        <a:rPr lang="en-US" sz="1600" b="1" i="0" kern="1200" dirty="0">
                          <a:solidFill>
                            <a:schemeClr val="dk1"/>
                          </a:solidFill>
                          <a:effectLst/>
                          <a:latin typeface="+mn-lt"/>
                          <a:ea typeface="+mn-ea"/>
                          <a:cs typeface="+mn-cs"/>
                        </a:rPr>
                        <a:t>Secondary Strategy:</a:t>
                      </a:r>
                      <a:r>
                        <a:rPr lang="en-US" sz="1600" b="0" i="0" kern="1200" dirty="0">
                          <a:solidFill>
                            <a:schemeClr val="dk1"/>
                          </a:solidFill>
                          <a:effectLst/>
                          <a:latin typeface="+mn-lt"/>
                          <a:ea typeface="+mn-ea"/>
                          <a:cs typeface="+mn-cs"/>
                        </a:rPr>
                        <a:t> Reduce their Power, tone down their scope, damage control.</a:t>
                      </a:r>
                    </a:p>
                    <a:p>
                      <a:endParaRPr lang="en-US" sz="1600" dirty="0"/>
                    </a:p>
                  </a:txBody>
                  <a:tcPr/>
                </a:tc>
                <a:extLst>
                  <a:ext uri="{0D108BD9-81ED-4DB2-BD59-A6C34878D82A}">
                    <a16:rowId xmlns:a16="http://schemas.microsoft.com/office/drawing/2014/main" val="10003"/>
                  </a:ext>
                </a:extLst>
              </a:tr>
              <a:tr h="149335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Time Bomb</a:t>
                      </a:r>
                    </a:p>
                    <a:p>
                      <a:endParaRPr lang="en-US" sz="1600" dirty="0"/>
                    </a:p>
                  </a:txBody>
                  <a:tcPr/>
                </a:tc>
                <a:tc>
                  <a:txBody>
                    <a:bodyPr/>
                    <a:lstStyle/>
                    <a:p>
                      <a:r>
                        <a:rPr lang="en-US" sz="1600" b="0" i="0" kern="1200" dirty="0">
                          <a:solidFill>
                            <a:schemeClr val="dk1"/>
                          </a:solidFill>
                          <a:effectLst/>
                          <a:latin typeface="+mn-lt"/>
                          <a:ea typeface="+mn-ea"/>
                          <a:cs typeface="+mn-cs"/>
                        </a:rPr>
                        <a:t>Influential passive blocker (High Power - Negative Attitude - Low Interest) </a:t>
                      </a:r>
                      <a:r>
                        <a:rPr lang="en-US" sz="1600" b="1" dirty="0">
                          <a:solidFill>
                            <a:srgbClr val="FF0000"/>
                          </a:solidFill>
                        </a:rPr>
                        <a:t>Example:</a:t>
                      </a:r>
                    </a:p>
                    <a:p>
                      <a:r>
                        <a:rPr lang="en-US" sz="1600" dirty="0">
                          <a:solidFill>
                            <a:srgbClr val="FF0000"/>
                          </a:solidFill>
                        </a:rPr>
                        <a:t>A finance head who does not care about the project but can stop your funding anytime.</a:t>
                      </a:r>
                    </a:p>
                    <a:p>
                      <a:pPr fontAlgn="auto"/>
                      <a:endParaRPr lang="en-US" sz="1600" b="1" i="0" kern="1200" dirty="0">
                        <a:solidFill>
                          <a:schemeClr val="dk1"/>
                        </a:solidFill>
                        <a:effectLst/>
                        <a:latin typeface="+mn-lt"/>
                        <a:ea typeface="+mn-ea"/>
                        <a:cs typeface="+mn-cs"/>
                      </a:endParaRPr>
                    </a:p>
                    <a:p>
                      <a:pPr fontAlgn="auto"/>
                      <a:r>
                        <a:rPr lang="en-US" sz="1600" b="1" i="0" kern="1200" dirty="0">
                          <a:solidFill>
                            <a:schemeClr val="dk1"/>
                          </a:solidFill>
                          <a:effectLst/>
                          <a:latin typeface="+mn-lt"/>
                          <a:ea typeface="+mn-ea"/>
                          <a:cs typeface="+mn-cs"/>
                        </a:rPr>
                        <a:t>Primary Strategy:</a:t>
                      </a:r>
                      <a:r>
                        <a:rPr lang="en-US" sz="1600" b="0" i="0" kern="1200" dirty="0">
                          <a:solidFill>
                            <a:schemeClr val="dk1"/>
                          </a:solidFill>
                          <a:effectLst/>
                          <a:latin typeface="+mn-lt"/>
                          <a:ea typeface="+mn-ea"/>
                          <a:cs typeface="+mn-cs"/>
                        </a:rPr>
                        <a:t> Maintain their low interest, stay low profile.</a:t>
                      </a:r>
                    </a:p>
                    <a:p>
                      <a:pPr fontAlgn="auto"/>
                      <a:r>
                        <a:rPr lang="en-US" sz="1600" b="1" i="0" kern="1200" dirty="0">
                          <a:solidFill>
                            <a:schemeClr val="dk1"/>
                          </a:solidFill>
                          <a:effectLst/>
                          <a:latin typeface="+mn-lt"/>
                          <a:ea typeface="+mn-ea"/>
                          <a:cs typeface="+mn-cs"/>
                        </a:rPr>
                        <a:t>Secondary Strategy:</a:t>
                      </a:r>
                      <a:r>
                        <a:rPr lang="en-US" sz="1600" b="0" i="0" kern="1200" dirty="0">
                          <a:solidFill>
                            <a:schemeClr val="dk1"/>
                          </a:solidFill>
                          <a:effectLst/>
                          <a:latin typeface="+mn-lt"/>
                          <a:ea typeface="+mn-ea"/>
                          <a:cs typeface="+mn-cs"/>
                        </a:rPr>
                        <a:t> Further reduce their interest, isolate them from any news.</a:t>
                      </a:r>
                      <a:endParaRPr lang="en-US" sz="1600" dirty="0"/>
                    </a:p>
                    <a:p>
                      <a:endParaRPr lang="en-US" sz="1600" dirty="0"/>
                    </a:p>
                  </a:txBody>
                  <a:tcPr/>
                </a:tc>
                <a:extLst>
                  <a:ext uri="{0D108BD9-81ED-4DB2-BD59-A6C34878D82A}">
                    <a16:rowId xmlns:a16="http://schemas.microsoft.com/office/drawing/2014/main" val="10004"/>
                  </a:ext>
                </a:extLst>
              </a:tr>
              <a:tr h="12575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Friend</a:t>
                      </a:r>
                    </a:p>
                    <a:p>
                      <a:endParaRPr lang="en-US" sz="1600" dirty="0"/>
                    </a:p>
                  </a:txBody>
                  <a:tcPr/>
                </a:tc>
                <a:tc>
                  <a:txBody>
                    <a:bodyPr/>
                    <a:lstStyle/>
                    <a:p>
                      <a:r>
                        <a:rPr lang="en-US" sz="1600" b="0" i="0" kern="1200" dirty="0">
                          <a:solidFill>
                            <a:schemeClr val="dk1"/>
                          </a:solidFill>
                          <a:effectLst/>
                          <a:latin typeface="+mn-lt"/>
                          <a:ea typeface="+mn-ea"/>
                          <a:cs typeface="+mn-cs"/>
                        </a:rPr>
                        <a:t>Insignificant active backer (Low Power - Positive Attitude - High Interest) </a:t>
                      </a:r>
                      <a:r>
                        <a:rPr lang="en-US" sz="1600" dirty="0">
                          <a:solidFill>
                            <a:srgbClr val="FF0000"/>
                          </a:solidFill>
                        </a:rPr>
                        <a:t>A motivated junior team member </a:t>
                      </a:r>
                    </a:p>
                    <a:p>
                      <a:r>
                        <a:rPr lang="en-US" sz="1600" dirty="0">
                          <a:solidFill>
                            <a:srgbClr val="FF0000"/>
                          </a:solidFill>
                        </a:rPr>
                        <a:t>supporting your project.</a:t>
                      </a:r>
                    </a:p>
                    <a:p>
                      <a:pPr fontAlgn="auto"/>
                      <a:r>
                        <a:rPr lang="en-US" sz="1600" b="1" i="0" kern="1200" dirty="0">
                          <a:solidFill>
                            <a:schemeClr val="dk1"/>
                          </a:solidFill>
                          <a:effectLst/>
                          <a:latin typeface="+mn-lt"/>
                          <a:ea typeface="+mn-ea"/>
                          <a:cs typeface="+mn-cs"/>
                        </a:rPr>
                        <a:t>Primary Strategy:</a:t>
                      </a:r>
                      <a:r>
                        <a:rPr lang="en-US" sz="1600" b="0" i="0" kern="1200" dirty="0">
                          <a:solidFill>
                            <a:schemeClr val="dk1"/>
                          </a:solidFill>
                          <a:effectLst/>
                          <a:latin typeface="+mn-lt"/>
                          <a:ea typeface="+mn-ea"/>
                          <a:cs typeface="+mn-cs"/>
                        </a:rPr>
                        <a:t> Improve their Power, find opportunity to bring them into your project.</a:t>
                      </a:r>
                    </a:p>
                    <a:p>
                      <a:pPr fontAlgn="auto"/>
                      <a:r>
                        <a:rPr lang="en-US" sz="1600" b="1" i="0" kern="1200" dirty="0">
                          <a:solidFill>
                            <a:schemeClr val="dk1"/>
                          </a:solidFill>
                          <a:effectLst/>
                          <a:latin typeface="+mn-lt"/>
                          <a:ea typeface="+mn-ea"/>
                          <a:cs typeface="+mn-cs"/>
                        </a:rPr>
                        <a:t>Secondary Strategy:</a:t>
                      </a:r>
                      <a:r>
                        <a:rPr lang="en-US" sz="1600" b="0" i="0" kern="1200" dirty="0">
                          <a:solidFill>
                            <a:schemeClr val="dk1"/>
                          </a:solidFill>
                          <a:effectLst/>
                          <a:latin typeface="+mn-lt"/>
                          <a:ea typeface="+mn-ea"/>
                          <a:cs typeface="+mn-cs"/>
                        </a:rPr>
                        <a:t> Keep them as a Friend, moral support is also crucial.</a:t>
                      </a:r>
                      <a:endParaRPr lang="en-US" sz="1600" dirty="0"/>
                    </a:p>
                    <a:p>
                      <a:endParaRPr lang="en-US" sz="1600" dirty="0"/>
                    </a:p>
                  </a:txBody>
                  <a:tcPr/>
                </a:tc>
                <a:extLst>
                  <a:ext uri="{0D108BD9-81ED-4DB2-BD59-A6C34878D82A}">
                    <a16:rowId xmlns:a16="http://schemas.microsoft.com/office/drawing/2014/main" val="10005"/>
                  </a:ext>
                </a:extLst>
              </a:tr>
              <a:tr h="314390">
                <a:tc gridSpan="2">
                  <a:txBody>
                    <a:bodyPr/>
                    <a:lstStyle/>
                    <a:p>
                      <a:endParaRPr lang="en-US" sz="1600" dirty="0"/>
                    </a:p>
                  </a:txBody>
                  <a:tcPr/>
                </a:tc>
                <a:tc hMerge="1">
                  <a:txBody>
                    <a:bodyPr/>
                    <a:lstStyle/>
                    <a:p>
                      <a:endParaRPr lang="en-US" dirty="0"/>
                    </a:p>
                  </a:txBody>
                  <a:tcPr/>
                </a:tc>
                <a:extLst>
                  <a:ext uri="{0D108BD9-81ED-4DB2-BD59-A6C34878D82A}">
                    <a16:rowId xmlns:a16="http://schemas.microsoft.com/office/drawing/2014/main" val="10006"/>
                  </a:ext>
                </a:extLst>
              </a:tr>
            </a:tbl>
          </a:graphicData>
        </a:graphic>
      </p:graphicFrame>
      <p:pic>
        <p:nvPicPr>
          <p:cNvPr id="5" name="Picture 2" descr="https://media.licdn.com/dms/image/D5612AQHrPO4UgvjKyg/article-inline_image-shrink_1500_2232/0/1693500139220?e=1718841600&amp;v=beta&amp;t=hJimuasIrdHxd6UUh57zMcn2Sf8B92rTrgDl2w90DE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22040" y="631064"/>
            <a:ext cx="1352282" cy="7856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s://media.licdn.com/dms/image/D5612AQGtM62_9ZTGjA/article-inline_image-shrink_1000_1488/0/1693500329691?e=1718841600&amp;v=beta&amp;t=UYXqMJ7ZrDeJgLfhld8xX4xuFLzezhK6Bgki8SF1Jq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73554" y="1584099"/>
            <a:ext cx="1300780" cy="95303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ttps://media.licdn.com/dms/image/D5612AQEuR6NBjMlK9g/article-inline_image-shrink_1500_2232/0/1693500881689?e=1718841600&amp;v=beta&amp;t=fJwY_UhVOU7ECT2abPKBZRfzlRoPMdV2Ut3Vp8j_AW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73555" y="2756077"/>
            <a:ext cx="1300768" cy="10303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https://media.licdn.com/dms/image/D5612AQHpqoIHljDToQ/article-inline_image-shrink_1500_2232/0/1693501617752?e=1718841600&amp;v=beta&amp;t=FTA2Shhvlc98iYMdkY9edeRmKeL1d1ZRvVQ32YkTSv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573554" y="3953811"/>
            <a:ext cx="1262138" cy="100455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https://media.licdn.com/dms/image/D5612AQEauqNffBmtUQ/article-inline_image-shrink_1500_2232/0/1693502051237?e=1718841600&amp;v=beta&amp;t=ZM_t9vq78cjLf3HDHt-UUOd-MOtpYGo1KtgWy_an2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73553" y="5177304"/>
            <a:ext cx="1275027" cy="991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0611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p:cNvGraphicFramePr>
            <a:graphicFrameLocks noGrp="1"/>
          </p:cNvGraphicFramePr>
          <p:nvPr>
            <p:ph idx="1"/>
            <p:extLst>
              <p:ext uri="{D42A27DB-BD31-4B8C-83A1-F6EECF244321}">
                <p14:modId xmlns:p14="http://schemas.microsoft.com/office/powerpoint/2010/main" val="1282482070"/>
              </p:ext>
            </p:extLst>
          </p:nvPr>
        </p:nvGraphicFramePr>
        <p:xfrm>
          <a:off x="180304" y="143176"/>
          <a:ext cx="11797048" cy="6431280"/>
        </p:xfrm>
        <a:graphic>
          <a:graphicData uri="http://schemas.openxmlformats.org/drawingml/2006/table">
            <a:tbl>
              <a:tblPr firstRow="1" bandRow="1">
                <a:tableStyleId>{5C22544A-7EE6-4342-B048-85BDC9FD1C3A}</a:tableStyleId>
              </a:tblPr>
              <a:tblGrid>
                <a:gridCol w="1558344">
                  <a:extLst>
                    <a:ext uri="{9D8B030D-6E8A-4147-A177-3AD203B41FA5}">
                      <a16:colId xmlns:a16="http://schemas.microsoft.com/office/drawing/2014/main" val="20000"/>
                    </a:ext>
                  </a:extLst>
                </a:gridCol>
                <a:gridCol w="10238704">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FFFF00"/>
                          </a:solidFill>
                          <a:latin typeface="Arial" panose="020B0604020202020204" pitchFamily="34" charset="0"/>
                          <a:cs typeface="Arial" panose="020B0604020202020204" pitchFamily="34" charset="0"/>
                        </a:rPr>
                        <a:t>Eight Characteristics</a:t>
                      </a:r>
                      <a:r>
                        <a:rPr lang="en-US" sz="2000" b="1" baseline="0" dirty="0">
                          <a:solidFill>
                            <a:srgbClr val="FFFF00"/>
                          </a:solidFill>
                          <a:latin typeface="Arial" panose="020B0604020202020204" pitchFamily="34" charset="0"/>
                          <a:cs typeface="Arial" panose="020B0604020202020204" pitchFamily="34" charset="0"/>
                        </a:rPr>
                        <a:t>  of Model</a:t>
                      </a:r>
                      <a:endParaRPr lang="en-US" sz="2000" b="1" dirty="0">
                        <a:solidFill>
                          <a:srgbClr val="FFFF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0">
                <a:tc>
                  <a:txBody>
                    <a:bodyPr/>
                    <a:lstStyle/>
                    <a:p>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Acquaintance  (</a:t>
                      </a:r>
                      <a:r>
                        <a:rPr lang="en-US" sz="1800" b="1" i="0" kern="1200" dirty="0">
                          <a:solidFill>
                            <a:srgbClr val="FF0000"/>
                          </a:solidFill>
                          <a:effectLst/>
                          <a:latin typeface="+mn-lt"/>
                          <a:ea typeface="+mn-ea"/>
                          <a:cs typeface="+mn-cs"/>
                        </a:rPr>
                        <a:t>Kind of Know-how)</a:t>
                      </a:r>
                    </a:p>
                    <a:p>
                      <a:endParaRPr lang="en-US" dirty="0"/>
                    </a:p>
                    <a:p>
                      <a:endParaRPr lang="en-US" dirty="0"/>
                    </a:p>
                    <a:p>
                      <a:endParaRPr lang="en-US" dirty="0"/>
                    </a:p>
                  </a:txBody>
                  <a:tcPr/>
                </a:tc>
                <a:tc>
                  <a:txBody>
                    <a:bodyPr/>
                    <a:lstStyle/>
                    <a:p>
                      <a:r>
                        <a:rPr lang="en-US" sz="1800" b="0" i="0" kern="1200" dirty="0">
                          <a:solidFill>
                            <a:schemeClr val="dk1"/>
                          </a:solidFill>
                          <a:effectLst/>
                          <a:latin typeface="+mn-lt"/>
                          <a:ea typeface="+mn-ea"/>
                          <a:cs typeface="+mn-cs"/>
                        </a:rPr>
                        <a:t>Insignificant passive backer (Low Power - Positive Attitude - Low Interest)</a:t>
                      </a:r>
                    </a:p>
                    <a:p>
                      <a:pPr fontAlgn="auto"/>
                      <a:r>
                        <a:rPr lang="en-US" sz="1800" b="1" i="0" kern="1200" dirty="0">
                          <a:solidFill>
                            <a:schemeClr val="dk1"/>
                          </a:solidFill>
                          <a:effectLst/>
                          <a:latin typeface="+mn-lt"/>
                          <a:ea typeface="+mn-ea"/>
                          <a:cs typeface="+mn-cs"/>
                        </a:rPr>
                        <a:t>Primary Strategy:</a:t>
                      </a:r>
                      <a:r>
                        <a:rPr lang="en-US" sz="1800" b="0" i="0" kern="1200" dirty="0">
                          <a:solidFill>
                            <a:schemeClr val="dk1"/>
                          </a:solidFill>
                          <a:effectLst/>
                          <a:latin typeface="+mn-lt"/>
                          <a:ea typeface="+mn-ea"/>
                          <a:cs typeface="+mn-cs"/>
                        </a:rPr>
                        <a:t> Keep them informed with no expectation.</a:t>
                      </a:r>
                    </a:p>
                    <a:p>
                      <a:pPr fontAlgn="auto"/>
                      <a:r>
                        <a:rPr lang="en-US" sz="1800" b="1" i="0" kern="1200" dirty="0">
                          <a:solidFill>
                            <a:schemeClr val="dk1"/>
                          </a:solidFill>
                          <a:effectLst/>
                          <a:latin typeface="+mn-lt"/>
                          <a:ea typeface="+mn-ea"/>
                          <a:cs typeface="+mn-cs"/>
                        </a:rPr>
                        <a:t>Secondary Strategy:</a:t>
                      </a:r>
                      <a:r>
                        <a:rPr lang="en-US" sz="1800" b="0" i="0" kern="1200" dirty="0">
                          <a:solidFill>
                            <a:schemeClr val="dk1"/>
                          </a:solidFill>
                          <a:effectLst/>
                          <a:latin typeface="+mn-lt"/>
                          <a:ea typeface="+mn-ea"/>
                          <a:cs typeface="+mn-cs"/>
                        </a:rPr>
                        <a:t> Work on their interest, good to have more friends.</a:t>
                      </a:r>
                    </a:p>
                    <a:p>
                      <a:pPr fontAlgn="auto"/>
                      <a:r>
                        <a:rPr lang="en-US" sz="1200" dirty="0">
                          <a:solidFill>
                            <a:srgbClr val="FF0000"/>
                          </a:solidFill>
                          <a:latin typeface="Times New Roman" panose="02020603050405020304" pitchFamily="18" charset="0"/>
                          <a:cs typeface="Times New Roman" panose="02020603050405020304" pitchFamily="18" charset="0"/>
                        </a:rPr>
                        <a:t>A </a:t>
                      </a:r>
                      <a:r>
                        <a:rPr lang="en-US" sz="1200" b="1" dirty="0">
                          <a:solidFill>
                            <a:srgbClr val="FF0000"/>
                          </a:solidFill>
                          <a:latin typeface="Times New Roman" panose="02020603050405020304" pitchFamily="18" charset="0"/>
                          <a:cs typeface="Times New Roman" panose="02020603050405020304" pitchFamily="18" charset="0"/>
                        </a:rPr>
                        <a:t>junior member from a different department</a:t>
                      </a:r>
                      <a:r>
                        <a:rPr lang="en-US" sz="1200" dirty="0">
                          <a:solidFill>
                            <a:srgbClr val="FF0000"/>
                          </a:solidFill>
                          <a:latin typeface="Times New Roman" panose="02020603050405020304" pitchFamily="18" charset="0"/>
                          <a:cs typeface="Times New Roman" panose="02020603050405020304" pitchFamily="18" charset="0"/>
                        </a:rPr>
                        <a:t>. They appreciate your work, but their decisions cannot impact your project, </a:t>
                      </a:r>
                    </a:p>
                    <a:p>
                      <a:pPr fontAlgn="auto"/>
                      <a:r>
                        <a:rPr lang="en-US" sz="1200" dirty="0">
                          <a:solidFill>
                            <a:srgbClr val="FF0000"/>
                          </a:solidFill>
                          <a:latin typeface="Times New Roman" panose="02020603050405020304" pitchFamily="18" charset="0"/>
                          <a:cs typeface="Times New Roman" panose="02020603050405020304" pitchFamily="18" charset="0"/>
                        </a:rPr>
                        <a:t>and they don't want to dedicate much time to it either.</a:t>
                      </a:r>
                    </a:p>
                  </a:txBody>
                  <a:tcPr/>
                </a:tc>
                <a:extLst>
                  <a:ext uri="{0D108BD9-81ED-4DB2-BD59-A6C34878D82A}">
                    <a16:rowId xmlns:a16="http://schemas.microsoft.com/office/drawing/2014/main" val="10001"/>
                  </a:ext>
                </a:extLst>
              </a:tr>
              <a:tr h="370840">
                <a:tc>
                  <a:txBody>
                    <a:bodyPr/>
                    <a:lstStyle/>
                    <a:p>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Irritant</a:t>
                      </a:r>
                    </a:p>
                    <a:p>
                      <a:endParaRPr lang="en-US" dirty="0"/>
                    </a:p>
                  </a:txBody>
                  <a:tcPr/>
                </a:tc>
                <a:tc>
                  <a:txBody>
                    <a:bodyPr/>
                    <a:lstStyle/>
                    <a:p>
                      <a:r>
                        <a:rPr lang="en-US" sz="1800" b="0" i="0" kern="1200" dirty="0">
                          <a:solidFill>
                            <a:schemeClr val="dk1"/>
                          </a:solidFill>
                          <a:effectLst/>
                          <a:latin typeface="+mn-lt"/>
                          <a:ea typeface="+mn-ea"/>
                          <a:cs typeface="+mn-cs"/>
                        </a:rPr>
                        <a:t>Insignificant active blocker (Low Power - Negative Attitude - High Interest)</a:t>
                      </a:r>
                    </a:p>
                    <a:p>
                      <a:pPr fontAlgn="auto"/>
                      <a:r>
                        <a:rPr lang="en-US" sz="1800" b="1" i="0" kern="1200" dirty="0">
                          <a:solidFill>
                            <a:schemeClr val="dk1"/>
                          </a:solidFill>
                          <a:effectLst/>
                          <a:latin typeface="+mn-lt"/>
                          <a:ea typeface="+mn-ea"/>
                          <a:cs typeface="+mn-cs"/>
                        </a:rPr>
                        <a:t>Primary Strategy:</a:t>
                      </a:r>
                      <a:r>
                        <a:rPr lang="en-US" sz="1800" b="0" i="0" kern="1200" dirty="0">
                          <a:solidFill>
                            <a:schemeClr val="dk1"/>
                          </a:solidFill>
                          <a:effectLst/>
                          <a:latin typeface="+mn-lt"/>
                          <a:ea typeface="+mn-ea"/>
                          <a:cs typeface="+mn-cs"/>
                        </a:rPr>
                        <a:t> Avoid power gain, manage their expectation.</a:t>
                      </a:r>
                    </a:p>
                    <a:p>
                      <a:pPr fontAlgn="auto"/>
                      <a:r>
                        <a:rPr lang="en-US" sz="1800" b="1" i="0" kern="1200" dirty="0">
                          <a:solidFill>
                            <a:schemeClr val="dk1"/>
                          </a:solidFill>
                          <a:effectLst/>
                          <a:latin typeface="+mn-lt"/>
                          <a:ea typeface="+mn-ea"/>
                          <a:cs typeface="+mn-cs"/>
                        </a:rPr>
                        <a:t>Secondary Strategy:</a:t>
                      </a:r>
                      <a:r>
                        <a:rPr lang="en-US" sz="1800" b="0" i="0" kern="1200" dirty="0">
                          <a:solidFill>
                            <a:schemeClr val="dk1"/>
                          </a:solidFill>
                          <a:effectLst/>
                          <a:latin typeface="+mn-lt"/>
                          <a:ea typeface="+mn-ea"/>
                          <a:cs typeface="+mn-cs"/>
                        </a:rPr>
                        <a:t> Reduce their interest, keep them busy.</a:t>
                      </a:r>
                    </a:p>
                    <a:p>
                      <a:endParaRPr lang="en-US" dirty="0">
                        <a:solidFill>
                          <a:srgbClr val="FF0000"/>
                        </a:solidFill>
                      </a:endParaRPr>
                    </a:p>
                    <a:p>
                      <a:r>
                        <a:rPr lang="en-US" dirty="0">
                          <a:solidFill>
                            <a:srgbClr val="FF0000"/>
                          </a:solidFill>
                        </a:rPr>
                        <a:t>A </a:t>
                      </a:r>
                      <a:r>
                        <a:rPr lang="en-US" b="1" dirty="0">
                          <a:solidFill>
                            <a:srgbClr val="FF0000"/>
                          </a:solidFill>
                        </a:rPr>
                        <a:t>team member who prefers the old system</a:t>
                      </a:r>
                      <a:r>
                        <a:rPr lang="en-US" dirty="0">
                          <a:solidFill>
                            <a:srgbClr val="FF0000"/>
                          </a:solidFill>
                        </a:rPr>
                        <a:t> and constantly points out flaws </a:t>
                      </a:r>
                    </a:p>
                    <a:p>
                      <a:r>
                        <a:rPr lang="en-US" dirty="0">
                          <a:solidFill>
                            <a:srgbClr val="FF0000"/>
                          </a:solidFill>
                        </a:rPr>
                        <a:t>in your new software solution. </a:t>
                      </a:r>
                    </a:p>
                    <a:p>
                      <a:endParaRPr lang="en-US" dirty="0"/>
                    </a:p>
                  </a:txBody>
                  <a:tcPr/>
                </a:tc>
                <a:extLst>
                  <a:ext uri="{0D108BD9-81ED-4DB2-BD59-A6C34878D82A}">
                    <a16:rowId xmlns:a16="http://schemas.microsoft.com/office/drawing/2014/main" val="10002"/>
                  </a:ext>
                </a:extLst>
              </a:tr>
              <a:tr h="370840">
                <a:tc>
                  <a:txBody>
                    <a:bodyPr/>
                    <a:lstStyle/>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Tripwire </a:t>
                      </a:r>
                    </a:p>
                    <a:p>
                      <a:endParaRPr lang="en-US" dirty="0"/>
                    </a:p>
                    <a:p>
                      <a:endParaRPr lang="en-US" dirty="0"/>
                    </a:p>
                    <a:p>
                      <a:endParaRPr lang="en-US" dirty="0"/>
                    </a:p>
                    <a:p>
                      <a:endParaRPr lang="en-US" dirty="0"/>
                    </a:p>
                  </a:txBody>
                  <a:tcPr/>
                </a:tc>
                <a:tc>
                  <a:txBody>
                    <a:bodyPr/>
                    <a:lstStyle/>
                    <a:p>
                      <a:r>
                        <a:rPr lang="en-US" sz="1800" b="0" i="0" kern="1200" dirty="0">
                          <a:solidFill>
                            <a:schemeClr val="dk1"/>
                          </a:solidFill>
                          <a:effectLst/>
                          <a:latin typeface="+mn-lt"/>
                          <a:ea typeface="+mn-ea"/>
                          <a:cs typeface="+mn-cs"/>
                        </a:rPr>
                        <a:t>Insignificant passive blocker (Low Power - Negative Attitude - Low Interest)</a:t>
                      </a:r>
                    </a:p>
                    <a:p>
                      <a:pPr fontAlgn="auto"/>
                      <a:r>
                        <a:rPr lang="en-US" sz="1800" b="1" i="0" kern="1200" dirty="0">
                          <a:solidFill>
                            <a:schemeClr val="dk1"/>
                          </a:solidFill>
                          <a:effectLst/>
                          <a:latin typeface="+mn-lt"/>
                          <a:ea typeface="+mn-ea"/>
                          <a:cs typeface="+mn-cs"/>
                        </a:rPr>
                        <a:t>Primary Strategy:</a:t>
                      </a:r>
                      <a:r>
                        <a:rPr lang="en-US" sz="1800" b="0" i="0" kern="1200" dirty="0">
                          <a:solidFill>
                            <a:schemeClr val="dk1"/>
                          </a:solidFill>
                          <a:effectLst/>
                          <a:latin typeface="+mn-lt"/>
                          <a:ea typeface="+mn-ea"/>
                          <a:cs typeface="+mn-cs"/>
                        </a:rPr>
                        <a:t> Isolate information, keep them far from your project.</a:t>
                      </a:r>
                    </a:p>
                    <a:p>
                      <a:pPr fontAlgn="auto"/>
                      <a:r>
                        <a:rPr lang="en-US" sz="1800" b="1" i="0" kern="1200" dirty="0">
                          <a:solidFill>
                            <a:schemeClr val="dk1"/>
                          </a:solidFill>
                          <a:effectLst/>
                          <a:latin typeface="+mn-lt"/>
                          <a:ea typeface="+mn-ea"/>
                          <a:cs typeface="+mn-cs"/>
                        </a:rPr>
                        <a:t>Secondary Strategy:</a:t>
                      </a:r>
                      <a:r>
                        <a:rPr lang="en-US" sz="1800" b="0" i="0" kern="1200" dirty="0">
                          <a:solidFill>
                            <a:schemeClr val="dk1"/>
                          </a:solidFill>
                          <a:effectLst/>
                          <a:latin typeface="+mn-lt"/>
                          <a:ea typeface="+mn-ea"/>
                          <a:cs typeface="+mn-cs"/>
                        </a:rPr>
                        <a:t> Monitor their interest, don't let them come near.</a:t>
                      </a:r>
                      <a:endParaRPr lang="en-US" sz="1800" b="0" i="0" kern="1200" dirty="0">
                        <a:solidFill>
                          <a:srgbClr val="FF0000"/>
                        </a:solidFill>
                        <a:effectLst/>
                        <a:latin typeface="+mn-lt"/>
                        <a:ea typeface="+mn-ea"/>
                        <a:cs typeface="+mn-cs"/>
                      </a:endParaRPr>
                    </a:p>
                    <a:p>
                      <a:r>
                        <a:rPr lang="en-US" dirty="0">
                          <a:solidFill>
                            <a:srgbClr val="FF0000"/>
                          </a:solidFill>
                        </a:rPr>
                        <a:t>An </a:t>
                      </a:r>
                      <a:r>
                        <a:rPr lang="en-US" b="1" dirty="0">
                          <a:solidFill>
                            <a:srgbClr val="FF0000"/>
                          </a:solidFill>
                        </a:rPr>
                        <a:t>older employee in another division</a:t>
                      </a:r>
                      <a:r>
                        <a:rPr lang="en-US" dirty="0">
                          <a:solidFill>
                            <a:srgbClr val="FF0000"/>
                          </a:solidFill>
                        </a:rPr>
                        <a:t> who considers the project unnecessary. Since the project is outside their domain, their interest is low. However, if they stumble and make blunder upon information that could harm your project, they wouldn't hesitate to use it.</a:t>
                      </a:r>
                    </a:p>
                  </a:txBody>
                  <a:tcPr/>
                </a:tc>
                <a:extLst>
                  <a:ext uri="{0D108BD9-81ED-4DB2-BD59-A6C34878D82A}">
                    <a16:rowId xmlns:a16="http://schemas.microsoft.com/office/drawing/2014/main" val="10003"/>
                  </a:ext>
                </a:extLst>
              </a:tr>
            </a:tbl>
          </a:graphicData>
        </a:graphic>
      </p:graphicFrame>
      <p:pic>
        <p:nvPicPr>
          <p:cNvPr id="6" name="Picture 12" descr="https://media.licdn.com/dms/image/D5612AQEulCtiQnmRbA/article-inline_image-shrink_1500_2232/0/1693502600421?e=1718841600&amp;v=beta&amp;t=nfpTWNINKw7P4bcPemhoOgTfYEj7iSfWX34ouuCenD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3854" y="700144"/>
            <a:ext cx="1681207" cy="139084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descr="https://media.licdn.com/dms/image/D5612AQFYMtc3Bv_Ljw/article-inline_image-shrink_1500_2232/0/1693503520950?e=1718841600&amp;v=beta&amp;t=Zlw1cfEYpLQl81hTIa87xabOs2errmR41awYJlFF9K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3854" y="2374328"/>
            <a:ext cx="1790163" cy="148113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descr="https://media.licdn.com/dms/image/D5612AQFN4rFPu9HGXg/article-inline_image-shrink_1500_2232/0/1693504035708?e=1718841600&amp;v=beta&amp;t=mnbWgx3s8uCtrVZ7_AKQ4fC73Ockn8R8kh_B5X9tqg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3854" y="4138803"/>
            <a:ext cx="1712910" cy="1384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55547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licdn.com/dms/image/D5612AQGYRCDhBgfAsQ/article-inline_image-shrink_1500_2232/0/1693482267364?e=1718841600&amp;v=beta&amp;t=jBXd39umbOwLFt76DYCPVAS3VbYBvbORa3kkLdTPlXw"/>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5745" y="263236"/>
            <a:ext cx="11055928" cy="6414655"/>
          </a:xfrm>
          <a:prstGeom prst="rect">
            <a:avLst/>
          </a:prstGeom>
          <a:noFill/>
          <a:ln>
            <a:noFill/>
          </a:ln>
        </p:spPr>
      </p:pic>
    </p:spTree>
    <p:extLst>
      <p:ext uri="{BB962C8B-B14F-4D97-AF65-F5344CB8AC3E}">
        <p14:creationId xmlns:p14="http://schemas.microsoft.com/office/powerpoint/2010/main" val="313659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takeholder Register PowerPoint Template - SlideBazaa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182" y="167424"/>
            <a:ext cx="11809927" cy="6593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657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takeholder Register For Project Management With Needs Assessment"/>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77" t="2157" r="1177" b="-2157"/>
          <a:stretch>
            <a:fillRect/>
          </a:stretch>
        </p:blipFill>
        <p:spPr bwMode="auto">
          <a:xfrm>
            <a:off x="231821" y="141668"/>
            <a:ext cx="11706894" cy="656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43206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5015" y="695458"/>
            <a:ext cx="10515600" cy="6027313"/>
          </a:xfrm>
        </p:spPr>
        <p:txBody>
          <a:bodyPr/>
          <a:lstStyle/>
          <a:p>
            <a:pPr marL="0" indent="0" algn="ctr">
              <a:buNone/>
            </a:pPr>
            <a:r>
              <a:rPr lang="en-US" sz="4000" b="1" dirty="0">
                <a:solidFill>
                  <a:srgbClr val="FFFF00"/>
                </a:solidFill>
                <a:latin typeface="Arial" panose="020B0604020202020204" pitchFamily="34" charset="0"/>
                <a:cs typeface="Arial" panose="020B0604020202020204" pitchFamily="34" charset="0"/>
              </a:rPr>
              <a:t>THANK YOU</a:t>
            </a:r>
          </a:p>
          <a:p>
            <a:pPr marL="0" indent="0" algn="ctr">
              <a:buNone/>
            </a:pPr>
            <a:endParaRPr lang="en-US" sz="4000" b="1" dirty="0">
              <a:solidFill>
                <a:srgbClr val="FFFF00"/>
              </a:solidFill>
              <a:latin typeface="Arial" panose="020B0604020202020204" pitchFamily="34" charset="0"/>
              <a:cs typeface="Arial" panose="020B0604020202020204" pitchFamily="34" charset="0"/>
            </a:endParaRPr>
          </a:p>
        </p:txBody>
      </p:sp>
      <p:pic>
        <p:nvPicPr>
          <p:cNvPr id="1026" name="Picture 2" descr="Juggling Stakeholder Priorities With Humor The Funny Girl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6225" y="1893194"/>
            <a:ext cx="8049296" cy="4597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6418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takeholder Cube Template &amp; Exampl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184" y="115910"/>
            <a:ext cx="11668258" cy="6606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8060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1525</TotalTime>
  <Words>4173</Words>
  <Application>Microsoft Office PowerPoint</Application>
  <PresentationFormat>Widescreen</PresentationFormat>
  <Paragraphs>544</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Times New Roman</vt:lpstr>
      <vt:lpstr>Office Theme</vt:lpstr>
      <vt:lpstr>PowerPoint Presentation</vt:lpstr>
      <vt:lpstr>STAKEHOLDERS MANAGEMENT</vt:lpstr>
      <vt:lpstr>KEY LEARNING OBJECTIVES</vt:lpstr>
      <vt:lpstr>     Business &amp; Society: An interactive System </vt:lpstr>
      <vt:lpstr>A Systems Perspective</vt:lpstr>
      <vt:lpstr>STAKEHOLDER THEORY OF FIRM</vt:lpstr>
      <vt:lpstr>STAKEHOLDER THEORY OF FIRM</vt:lpstr>
      <vt:lpstr>STAKEHOLDER CONCEPT</vt:lpstr>
      <vt:lpstr>KINDS OF STAKEHOLDER</vt:lpstr>
      <vt:lpstr>ANOTHER KINDS OF STAKEHOLDERS</vt:lpstr>
      <vt:lpstr>STAKEHOLDER ANALYSIS</vt:lpstr>
      <vt:lpstr>COMPLEX STAKEHOLDERS WEB</vt:lpstr>
      <vt:lpstr>STAKEHOLDER ANALYSIS- 4 KEYS QUESTIONS</vt:lpstr>
      <vt:lpstr>STAKEHOLDER ANALYSIS- 4 KEYS QUESTIONS</vt:lpstr>
      <vt:lpstr>PowerPoint Presentation</vt:lpstr>
      <vt:lpstr>STAKEHOLDER SATISFACTION</vt:lpstr>
      <vt:lpstr>PROJECT STAKEHOLDER MANAGEMENT (PMBOK-6 GUIDELINES)</vt:lpstr>
      <vt:lpstr>PROJECT STAKEHOLDER MANAGEMENT</vt:lpstr>
      <vt:lpstr>PROJECT STAKEHOLDER MANAGEMENT PROCESSES</vt:lpstr>
      <vt:lpstr>PROJECT STAKEHOLDER MANAGEMENT OVERVIEW</vt:lpstr>
      <vt:lpstr>Key Concept! The ability of the Project Manager and Team to correctly identify and engage all stakeholders in an appropriate way can make the difference between a project success or failure</vt:lpstr>
      <vt:lpstr>Key to SH Engagement! As a Project Manager, focus on continuous communication with all stakeholders, including team members, to understand their needs and expectations, address issues as they occur, manage conflicting interests, and foster appropriate stakeholder engagement in project decisions and activities </vt:lpstr>
      <vt:lpstr>Update SHs  at least:  * When project moves through different phases in its life cycle  * When current stakeholders are no longer involved in the work of the project or new stakeholders joins  * When there are significant changes in the organization or the wider stakeholder community  * or as planned</vt:lpstr>
      <vt:lpstr>13.1  Identify Stakeholders-Inputs </vt:lpstr>
      <vt:lpstr>13.1  Identify Stakeholders - Inputs </vt:lpstr>
      <vt:lpstr>13.1  Identify Stakeholders – Tools &amp; Techniques</vt:lpstr>
      <vt:lpstr>13.1  Identify Stakeholders – Tools &amp; Techniques</vt:lpstr>
      <vt:lpstr>13.1  Identify Stakeholders – Tools &amp; Techniques</vt:lpstr>
      <vt:lpstr>13.1  Identify Stakeholders – Outputs</vt:lpstr>
      <vt:lpstr>How Stakeholders can affect a project?</vt:lpstr>
      <vt:lpstr>Stakeholders Analysis</vt:lpstr>
      <vt:lpstr>Stakeholder Analysis using Stakeholder Cube Model</vt:lpstr>
      <vt:lpstr>PowerPoint Presentation</vt:lpstr>
      <vt:lpstr>PowerPoint Presentation</vt:lpstr>
      <vt:lpstr>Various Characters</vt:lpstr>
      <vt:lpstr>Three Grid of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STAKEHOLDERS MANAGEMENT</dc:title>
  <dc:creator>BUKC</dc:creator>
  <cp:lastModifiedBy>Arsalan Fayyaz</cp:lastModifiedBy>
  <cp:revision>173</cp:revision>
  <dcterms:created xsi:type="dcterms:W3CDTF">2024-04-16T05:33:50Z</dcterms:created>
  <dcterms:modified xsi:type="dcterms:W3CDTF">2025-11-23T07:04:44Z</dcterms:modified>
</cp:coreProperties>
</file>