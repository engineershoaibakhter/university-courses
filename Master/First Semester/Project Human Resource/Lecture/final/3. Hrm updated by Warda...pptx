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067" r:id="rId1"/>
  </p:sldMasterIdLst>
  <p:sldIdLst>
    <p:sldId id="270" r:id="rId2"/>
    <p:sldId id="257" r:id="rId3"/>
    <p:sldId id="284" r:id="rId4"/>
    <p:sldId id="286" r:id="rId5"/>
    <p:sldId id="285" r:id="rId6"/>
    <p:sldId id="259" r:id="rId7"/>
    <p:sldId id="287" r:id="rId8"/>
    <p:sldId id="278" r:id="rId9"/>
    <p:sldId id="279" r:id="rId10"/>
    <p:sldId id="280" r:id="rId11"/>
    <p:sldId id="282" r:id="rId12"/>
    <p:sldId id="283" r:id="rId13"/>
    <p:sldId id="281" r:id="rId14"/>
    <p:sldId id="261" r:id="rId15"/>
    <p:sldId id="273" r:id="rId16"/>
    <p:sldId id="262" r:id="rId17"/>
    <p:sldId id="263" r:id="rId18"/>
    <p:sldId id="264" r:id="rId19"/>
    <p:sldId id="274" r:id="rId20"/>
    <p:sldId id="275" r:id="rId21"/>
    <p:sldId id="277" r:id="rId22"/>
    <p:sldId id="276" r:id="rId23"/>
    <p:sldId id="265" r:id="rId24"/>
    <p:sldId id="272" r:id="rId2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C66"/>
    <a:srgbClr val="EDEDC9"/>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07" autoAdjust="0"/>
    <p:restoredTop sz="94660"/>
  </p:normalViewPr>
  <p:slideViewPr>
    <p:cSldViewPr snapToGrid="0" snapToObjects="1">
      <p:cViewPr varScale="1">
        <p:scale>
          <a:sx n="72" d="100"/>
          <a:sy n="72" d="100"/>
        </p:scale>
        <p:origin x="414" y="6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presProps" Target="presProps.xml" /><Relationship Id="rId3" Type="http://schemas.openxmlformats.org/officeDocument/2006/relationships/slide" Target="slides/slide2.xml" /><Relationship Id="rId21" Type="http://schemas.openxmlformats.org/officeDocument/2006/relationships/slide" Target="slides/slide20.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slide" Target="slides/slide24.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29" Type="http://schemas.openxmlformats.org/officeDocument/2006/relationships/tableStyles" Target="tableStyle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slide" Target="slides/slide23.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theme" Target="theme/theme1.xml" /><Relationship Id="rId10" Type="http://schemas.openxmlformats.org/officeDocument/2006/relationships/slide" Target="slides/slide9.xml" /><Relationship Id="rId19" Type="http://schemas.openxmlformats.org/officeDocument/2006/relationships/slide" Target="slides/slide18.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viewProps" Target="viewProps.xml" /></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242851"/>
            <a:ext cx="6726063" cy="275942"/>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33787" y="4243845"/>
            <a:ext cx="2307831" cy="276940"/>
          </a:xfrm>
          <a:prstGeom prst="rect">
            <a:avLst/>
          </a:prstGeom>
        </p:spPr>
      </p:pic>
      <p:sp>
        <p:nvSpPr>
          <p:cNvPr id="9" name="Rectangle 8"/>
          <p:cNvSpPr/>
          <p:nvPr/>
        </p:nvSpPr>
        <p:spPr bwMode="ltGray">
          <a:xfrm>
            <a:off x="0" y="2590078"/>
            <a:ext cx="6726064" cy="1660332"/>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6833787" y="2590078"/>
            <a:ext cx="2307832"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510242" y="2733709"/>
            <a:ext cx="6069268" cy="1373070"/>
          </a:xfrm>
        </p:spPr>
        <p:txBody>
          <a:bodyPr anchor="b">
            <a:noAutofit/>
          </a:bodyPr>
          <a:lstStyle>
            <a:lvl1pPr algn="r">
              <a:defRPr sz="4800"/>
            </a:lvl1pPr>
          </a:lstStyle>
          <a:p>
            <a:r>
              <a:rPr lang="en-US"/>
              <a:t>Click to edit Master title style</a:t>
            </a:r>
            <a:endParaRPr lang="en-US" dirty="0"/>
          </a:p>
        </p:txBody>
      </p:sp>
      <p:sp>
        <p:nvSpPr>
          <p:cNvPr id="3" name="Subtitle 2"/>
          <p:cNvSpPr>
            <a:spLocks noGrp="1"/>
          </p:cNvSpPr>
          <p:nvPr>
            <p:ph type="subTitle" idx="1"/>
          </p:nvPr>
        </p:nvSpPr>
        <p:spPr>
          <a:xfrm>
            <a:off x="510241" y="4394040"/>
            <a:ext cx="6108101" cy="1117687"/>
          </a:xfrm>
        </p:spPr>
        <p:txBody>
          <a:bodyPr>
            <a:normAutofit/>
          </a:bodyPr>
          <a:lstStyle>
            <a:lvl1pPr marL="0" indent="0" algn="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4555655" y="5936188"/>
            <a:ext cx="2057400" cy="365125"/>
          </a:xfrm>
        </p:spPr>
        <p:txBody>
          <a:bodyPr/>
          <a:lstStyle/>
          <a:p>
            <a:fld id="{5BCAD085-E8A6-8845-BD4E-CB4CCA059FC4}" type="datetimeFigureOut">
              <a:rPr lang="en-US" smtClean="0"/>
              <a:t>12/7/2025</a:t>
            </a:fld>
            <a:endParaRPr lang="en-US"/>
          </a:p>
        </p:txBody>
      </p:sp>
      <p:sp>
        <p:nvSpPr>
          <p:cNvPr id="5" name="Footer Placeholder 4"/>
          <p:cNvSpPr>
            <a:spLocks noGrp="1"/>
          </p:cNvSpPr>
          <p:nvPr>
            <p:ph type="ftr" sz="quarter" idx="11"/>
          </p:nvPr>
        </p:nvSpPr>
        <p:spPr>
          <a:xfrm>
            <a:off x="533401" y="5936189"/>
            <a:ext cx="4021666" cy="365125"/>
          </a:xfrm>
        </p:spPr>
        <p:txBody>
          <a:bodyPr/>
          <a:lstStyle/>
          <a:p>
            <a:endParaRPr lang="en-US"/>
          </a:p>
        </p:txBody>
      </p:sp>
      <p:sp>
        <p:nvSpPr>
          <p:cNvPr id="6" name="Slide Number Placeholder 5"/>
          <p:cNvSpPr>
            <a:spLocks noGrp="1"/>
          </p:cNvSpPr>
          <p:nvPr>
            <p:ph type="sldNum" sz="quarter" idx="12"/>
          </p:nvPr>
        </p:nvSpPr>
        <p:spPr>
          <a:xfrm>
            <a:off x="7010399" y="2750337"/>
            <a:ext cx="1370293" cy="1356442"/>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852865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27" name="Group 26"/>
          <p:cNvGrpSpPr/>
          <p:nvPr/>
        </p:nvGrpSpPr>
        <p:grpSpPr>
          <a:xfrm>
            <a:off x="0" y="609600"/>
            <a:ext cx="9161969" cy="1677035"/>
            <a:chOff x="0" y="2895600"/>
            <a:chExt cx="9161969" cy="1677035"/>
          </a:xfrm>
        </p:grpSpPr>
        <p:pic>
          <p:nvPicPr>
            <p:cNvPr id="28" name="Picture 27"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29" name="Picture 28"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30" name="Rectangle 29"/>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1" name="Rectangle 30"/>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169856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18" name="Group 17"/>
          <p:cNvGrpSpPr/>
          <p:nvPr/>
        </p:nvGrpSpPr>
        <p:grpSpPr>
          <a:xfrm>
            <a:off x="0" y="2728432"/>
            <a:ext cx="9161969" cy="1677035"/>
            <a:chOff x="0" y="2895600"/>
            <a:chExt cx="9161969" cy="1677035"/>
          </a:xfrm>
        </p:grpSpPr>
        <p:pic>
          <p:nvPicPr>
            <p:cNvPr id="19" name="Picture 18"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20" name="Picture 19"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21" name="Rectangle 20"/>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2" name="Rectangle 21"/>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531639" y="2869895"/>
            <a:ext cx="6889150" cy="1090788"/>
          </a:xfrm>
        </p:spPr>
        <p:txBody>
          <a:bodyPr anchor="ctr">
            <a:normAutofit/>
          </a:bodyPr>
          <a:lstStyle>
            <a:lvl1pPr algn="r">
              <a:defRPr sz="3600"/>
            </a:lvl1pPr>
          </a:lstStyle>
          <a:p>
            <a:r>
              <a:rPr lang="en-US"/>
              <a:t>Click to edit Master title style</a:t>
            </a:r>
            <a:endParaRPr lang="en-US" dirty="0"/>
          </a:p>
        </p:txBody>
      </p:sp>
      <p:sp>
        <p:nvSpPr>
          <p:cNvPr id="3" name="Text Placeholder 2"/>
          <p:cNvSpPr>
            <a:spLocks noGrp="1"/>
          </p:cNvSpPr>
          <p:nvPr>
            <p:ph type="body" idx="1"/>
          </p:nvPr>
        </p:nvSpPr>
        <p:spPr>
          <a:xfrm>
            <a:off x="531639" y="4232172"/>
            <a:ext cx="6889150" cy="1704017"/>
          </a:xfrm>
        </p:spPr>
        <p:txBody>
          <a:bodyPr>
            <a:normAutofit/>
          </a:bodyPr>
          <a:lstStyle>
            <a:lvl1pPr marL="0" indent="0" algn="r">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65810" y="5936188"/>
            <a:ext cx="2057400" cy="365125"/>
          </a:xfrm>
        </p:spPr>
        <p:txBody>
          <a:bodyPr/>
          <a:lstStyle/>
          <a:p>
            <a:fld id="{5BCAD085-E8A6-8845-BD4E-CB4CCA059FC4}" type="datetimeFigureOut">
              <a:rPr lang="en-US" smtClean="0"/>
              <a:t>12/7/2025</a:t>
            </a:fld>
            <a:endParaRPr lang="en-US"/>
          </a:p>
        </p:txBody>
      </p:sp>
      <p:sp>
        <p:nvSpPr>
          <p:cNvPr id="5" name="Footer Placeholder 4"/>
          <p:cNvSpPr>
            <a:spLocks noGrp="1"/>
          </p:cNvSpPr>
          <p:nvPr>
            <p:ph type="ftr" sz="quarter" idx="11"/>
          </p:nvPr>
        </p:nvSpPr>
        <p:spPr>
          <a:xfrm>
            <a:off x="533400" y="5936189"/>
            <a:ext cx="4834673" cy="365125"/>
          </a:xfrm>
        </p:spPr>
        <p:txBody>
          <a:bodyPr/>
          <a:lstStyle/>
          <a:p>
            <a:endParaRPr lang="en-US"/>
          </a:p>
        </p:txBody>
      </p:sp>
      <p:sp>
        <p:nvSpPr>
          <p:cNvPr id="6" name="Slide Number Placeholder 5"/>
          <p:cNvSpPr>
            <a:spLocks noGrp="1"/>
          </p:cNvSpPr>
          <p:nvPr>
            <p:ph type="sldNum" sz="quarter" idx="12"/>
          </p:nvPr>
        </p:nvSpPr>
        <p:spPr>
          <a:xfrm>
            <a:off x="7856438" y="2869896"/>
            <a:ext cx="1149836" cy="1090789"/>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844563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grpSp>
        <p:nvGrpSpPr>
          <p:cNvPr id="17" name="Group 16"/>
          <p:cNvGrpSpPr/>
          <p:nvPr/>
        </p:nvGrpSpPr>
        <p:grpSpPr>
          <a:xfrm>
            <a:off x="0" y="609600"/>
            <a:ext cx="9161969" cy="1677035"/>
            <a:chOff x="0" y="2895600"/>
            <a:chExt cx="9161969" cy="1677035"/>
          </a:xfrm>
        </p:grpSpPr>
        <p:pic>
          <p:nvPicPr>
            <p:cNvPr id="18" name="Picture 17"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19" name="Picture 18"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20" name="Rectangle 19"/>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Rectangle 20"/>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533400" y="753228"/>
            <a:ext cx="6887390" cy="1080938"/>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33400" y="2336873"/>
            <a:ext cx="3357899"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061128" y="2336873"/>
            <a:ext cx="3359661"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743743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grpSp>
        <p:nvGrpSpPr>
          <p:cNvPr id="28" name="Group 27"/>
          <p:cNvGrpSpPr/>
          <p:nvPr/>
        </p:nvGrpSpPr>
        <p:grpSpPr>
          <a:xfrm>
            <a:off x="0" y="609600"/>
            <a:ext cx="9161969" cy="1677035"/>
            <a:chOff x="0" y="2895600"/>
            <a:chExt cx="9161969" cy="1677035"/>
          </a:xfrm>
        </p:grpSpPr>
        <p:pic>
          <p:nvPicPr>
            <p:cNvPr id="29" name="Picture 28"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30" name="Picture 29"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31" name="Rectangle 30"/>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2" name="Rectangle 31"/>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531639" y="753230"/>
            <a:ext cx="6896534" cy="1080937"/>
          </a:xfrm>
        </p:spPr>
        <p:txBody>
          <a:bodyPr/>
          <a:lstStyle/>
          <a:p>
            <a:r>
              <a:rPr lang="en-US"/>
              <a:t>Click to edit Master title style</a:t>
            </a:r>
            <a:endParaRPr lang="en-US" dirty="0"/>
          </a:p>
        </p:txBody>
      </p:sp>
      <p:sp>
        <p:nvSpPr>
          <p:cNvPr id="3" name="Text Placeholder 2"/>
          <p:cNvSpPr>
            <a:spLocks noGrp="1"/>
          </p:cNvSpPr>
          <p:nvPr>
            <p:ph type="body" idx="1"/>
          </p:nvPr>
        </p:nvSpPr>
        <p:spPr>
          <a:xfrm>
            <a:off x="760988" y="2336874"/>
            <a:ext cx="3145080" cy="6931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31638" y="3030009"/>
            <a:ext cx="3367045"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282646" y="2336873"/>
            <a:ext cx="3145527" cy="69207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061129" y="3030009"/>
            <a:ext cx="3367044"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12/7/2025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060664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grpSp>
        <p:nvGrpSpPr>
          <p:cNvPr id="15" name="Group 14"/>
          <p:cNvGrpSpPr/>
          <p:nvPr/>
        </p:nvGrpSpPr>
        <p:grpSpPr>
          <a:xfrm>
            <a:off x="0" y="609600"/>
            <a:ext cx="9161969" cy="1677035"/>
            <a:chOff x="0" y="2895600"/>
            <a:chExt cx="9161969" cy="1677035"/>
          </a:xfrm>
        </p:grpSpPr>
        <p:pic>
          <p:nvPicPr>
            <p:cNvPr id="16" name="Picture 15"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17" name="Picture 16"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18" name="Rectangle 17"/>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 name="Rectangle 18"/>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12/7/2025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7753425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12" name="Picture 11" descr="HD-ShadowShort.png"/>
          <p:cNvPicPr>
            <a:picLocks noChangeAspect="1"/>
          </p:cNvPicPr>
          <p:nvPr/>
        </p:nvPicPr>
        <p:blipFill rotWithShape="1">
          <a:blip r:embed="rId2">
            <a:extLst>
              <a:ext uri="{28A0092B-C50C-407E-A947-70E740481C1C}">
                <a14:useLocalDpi xmlns:a14="http://schemas.microsoft.com/office/drawing/2010/main" val="0"/>
              </a:ext>
            </a:extLst>
          </a:blip>
          <a:srcRect r="9871"/>
          <a:stretch/>
        </p:blipFill>
        <p:spPr>
          <a:xfrm>
            <a:off x="7717217" y="1973262"/>
            <a:ext cx="1444752" cy="144270"/>
          </a:xfrm>
          <a:prstGeom prst="rect">
            <a:avLst/>
          </a:prstGeom>
        </p:spPr>
      </p:pic>
      <p:sp>
        <p:nvSpPr>
          <p:cNvPr id="14" name="Rectangle 13"/>
          <p:cNvSpPr/>
          <p:nvPr/>
        </p:nvSpPr>
        <p:spPr>
          <a:xfrm>
            <a:off x="7710769" y="609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5BCAD085-E8A6-8845-BD4E-CB4CCA059FC4}" type="datetimeFigureOut">
              <a:rPr lang="en-US" smtClean="0"/>
              <a:t>12/7/2025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073385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17" name="Group 16"/>
          <p:cNvGrpSpPr/>
          <p:nvPr/>
        </p:nvGrpSpPr>
        <p:grpSpPr>
          <a:xfrm>
            <a:off x="0" y="609600"/>
            <a:ext cx="9161969" cy="1677035"/>
            <a:chOff x="0" y="2895600"/>
            <a:chExt cx="9161969" cy="1677035"/>
          </a:xfrm>
        </p:grpSpPr>
        <p:pic>
          <p:nvPicPr>
            <p:cNvPr id="18" name="Picture 17"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19" name="Picture 18"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20" name="Rectangle 19"/>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Rectangle 20"/>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531639" y="753227"/>
            <a:ext cx="6896534" cy="1080940"/>
          </a:xfrm>
        </p:spPr>
        <p:txBody>
          <a:bodyPr anchor="ct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a:xfrm>
            <a:off x="3514385" y="2336874"/>
            <a:ext cx="3913788" cy="35993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33401" y="2336873"/>
            <a:ext cx="2796240" cy="359931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175633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17" name="Group 16"/>
          <p:cNvGrpSpPr/>
          <p:nvPr/>
        </p:nvGrpSpPr>
        <p:grpSpPr>
          <a:xfrm>
            <a:off x="0" y="609600"/>
            <a:ext cx="9161969" cy="1677035"/>
            <a:chOff x="0" y="2895600"/>
            <a:chExt cx="9161969" cy="1677035"/>
          </a:xfrm>
        </p:grpSpPr>
        <p:pic>
          <p:nvPicPr>
            <p:cNvPr id="18" name="Picture 17"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19" name="Picture 18"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20" name="Rectangle 19"/>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Rectangle 20"/>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531639" y="753228"/>
            <a:ext cx="6896534" cy="1080938"/>
          </a:xfrm>
        </p:spPr>
        <p:txBody>
          <a:bodyPr anchor="ctr">
            <a:normAutofit/>
          </a:bodyPr>
          <a:lstStyle>
            <a:lvl1pPr>
              <a:defRPr sz="36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510956" y="2336874"/>
            <a:ext cx="3917217" cy="3599312"/>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531638" y="2336874"/>
            <a:ext cx="2798487" cy="3599315"/>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12/7/2025</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057372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20" name="Group 19"/>
          <p:cNvGrpSpPr/>
          <p:nvPr/>
        </p:nvGrpSpPr>
        <p:grpSpPr>
          <a:xfrm>
            <a:off x="0" y="4572000"/>
            <a:ext cx="9161969" cy="1677035"/>
            <a:chOff x="0" y="2895600"/>
            <a:chExt cx="9161969" cy="1677035"/>
          </a:xfrm>
        </p:grpSpPr>
        <p:pic>
          <p:nvPicPr>
            <p:cNvPr id="24" name="Picture 23"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25" name="Picture 24"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26" name="Rectangle 25"/>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533403" y="4711617"/>
            <a:ext cx="6894770" cy="544482"/>
          </a:xfrm>
        </p:spPr>
        <p:txBody>
          <a:bodyPr anchor="b">
            <a:normAutofit/>
          </a:bodyPr>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31639" y="609598"/>
            <a:ext cx="6896534" cy="3589575"/>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533401" y="5256098"/>
            <a:ext cx="6894772" cy="547819"/>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7856438" y="4711310"/>
            <a:ext cx="1149836" cy="1090789"/>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412245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grpSp>
        <p:nvGrpSpPr>
          <p:cNvPr id="21" name="Group 20"/>
          <p:cNvGrpSpPr/>
          <p:nvPr/>
        </p:nvGrpSpPr>
        <p:grpSpPr>
          <a:xfrm>
            <a:off x="0" y="4572000"/>
            <a:ext cx="9161969" cy="1677035"/>
            <a:chOff x="0" y="2895600"/>
            <a:chExt cx="9161969" cy="1677035"/>
          </a:xfrm>
        </p:grpSpPr>
        <p:pic>
          <p:nvPicPr>
            <p:cNvPr id="22" name="Picture 21"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23" name="Picture 22"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24" name="Rectangle 23"/>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524255" y="609597"/>
            <a:ext cx="6896534" cy="3592750"/>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531638" y="4710340"/>
            <a:ext cx="6889151" cy="1101764"/>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7856438" y="4711616"/>
            <a:ext cx="1149836" cy="1090789"/>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638612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grpSp>
        <p:nvGrpSpPr>
          <p:cNvPr id="29" name="Group 28"/>
          <p:cNvGrpSpPr/>
          <p:nvPr/>
        </p:nvGrpSpPr>
        <p:grpSpPr>
          <a:xfrm>
            <a:off x="0" y="4572000"/>
            <a:ext cx="9161969" cy="1677035"/>
            <a:chOff x="0" y="2895600"/>
            <a:chExt cx="9161969" cy="1677035"/>
          </a:xfrm>
        </p:grpSpPr>
        <p:pic>
          <p:nvPicPr>
            <p:cNvPr id="30" name="Picture 29"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31" name="Picture 30"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32" name="Rectangle 31"/>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3" name="Rectangle 32"/>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767921" y="616983"/>
            <a:ext cx="6425147" cy="3036061"/>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989438" y="3660763"/>
            <a:ext cx="5987731"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531638" y="4710340"/>
            <a:ext cx="6903919" cy="1101764"/>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7856438" y="4709926"/>
            <a:ext cx="1149836" cy="1090789"/>
          </a:xfrm>
        </p:spPr>
        <p:txBody>
          <a:bodyPr/>
          <a:lstStyle/>
          <a:p>
            <a:fld id="{C1FF6DA9-008F-8B48-92A6-B652298478BF}" type="slidenum">
              <a:rPr lang="en-US" smtClean="0"/>
              <a:t>‹#›</a:t>
            </a:fld>
            <a:endParaRPr lang="en-US"/>
          </a:p>
        </p:txBody>
      </p:sp>
      <p:sp>
        <p:nvSpPr>
          <p:cNvPr id="27" name="TextBox 26"/>
          <p:cNvSpPr txBox="1"/>
          <p:nvPr/>
        </p:nvSpPr>
        <p:spPr>
          <a:xfrm>
            <a:off x="270932" y="748116"/>
            <a:ext cx="5334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7200" dirty="0">
                <a:solidFill>
                  <a:schemeClr val="tx1"/>
                </a:solidFill>
                <a:effectLst/>
              </a:rPr>
              <a:t>“</a:t>
            </a:r>
          </a:p>
        </p:txBody>
      </p:sp>
      <p:sp>
        <p:nvSpPr>
          <p:cNvPr id="28" name="TextBox 27"/>
          <p:cNvSpPr txBox="1"/>
          <p:nvPr/>
        </p:nvSpPr>
        <p:spPr>
          <a:xfrm>
            <a:off x="6967191" y="2998573"/>
            <a:ext cx="457200" cy="584777"/>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7200" dirty="0">
                <a:solidFill>
                  <a:schemeClr val="tx1"/>
                </a:solidFill>
                <a:effectLst/>
              </a:rPr>
              <a:t>”</a:t>
            </a:r>
          </a:p>
        </p:txBody>
      </p:sp>
    </p:spTree>
    <p:extLst>
      <p:ext uri="{BB962C8B-B14F-4D97-AF65-F5344CB8AC3E}">
        <p14:creationId xmlns:p14="http://schemas.microsoft.com/office/powerpoint/2010/main" val="31622653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grpSp>
        <p:nvGrpSpPr>
          <p:cNvPr id="22" name="Group 21"/>
          <p:cNvGrpSpPr/>
          <p:nvPr/>
        </p:nvGrpSpPr>
        <p:grpSpPr>
          <a:xfrm>
            <a:off x="0" y="4572000"/>
            <a:ext cx="9161969" cy="1677035"/>
            <a:chOff x="0" y="2895600"/>
            <a:chExt cx="9161969" cy="1677035"/>
          </a:xfrm>
        </p:grpSpPr>
        <p:pic>
          <p:nvPicPr>
            <p:cNvPr id="23" name="Picture 22"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24" name="Picture 23"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25" name="Rectangle 24"/>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Rectangle 25"/>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531638" y="4710340"/>
            <a:ext cx="6896534" cy="589812"/>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531639" y="5300150"/>
            <a:ext cx="6896534" cy="511954"/>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7856438" y="4709926"/>
            <a:ext cx="1149836" cy="1090789"/>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883953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grpSp>
        <p:nvGrpSpPr>
          <p:cNvPr id="23" name="Group 22"/>
          <p:cNvGrpSpPr/>
          <p:nvPr/>
        </p:nvGrpSpPr>
        <p:grpSpPr>
          <a:xfrm>
            <a:off x="0" y="609600"/>
            <a:ext cx="9161969" cy="1677035"/>
            <a:chOff x="0" y="2895600"/>
            <a:chExt cx="9161969" cy="1677035"/>
          </a:xfrm>
        </p:grpSpPr>
        <p:pic>
          <p:nvPicPr>
            <p:cNvPr id="24" name="Picture 23"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25" name="Picture 24"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26" name="Rectangle 25"/>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15" name="Title 1"/>
          <p:cNvSpPr>
            <a:spLocks noGrp="1"/>
          </p:cNvSpPr>
          <p:nvPr>
            <p:ph type="title"/>
          </p:nvPr>
        </p:nvSpPr>
        <p:spPr>
          <a:xfrm>
            <a:off x="531639" y="753228"/>
            <a:ext cx="6896534" cy="1080938"/>
          </a:xfrm>
        </p:spPr>
        <p:txBody>
          <a:bodyPr/>
          <a:lstStyle/>
          <a:p>
            <a:r>
              <a:rPr lang="en-US"/>
              <a:t>Click to edit Master title style</a:t>
            </a:r>
            <a:endParaRPr lang="en-US" dirty="0"/>
          </a:p>
        </p:txBody>
      </p:sp>
      <p:sp>
        <p:nvSpPr>
          <p:cNvPr id="7" name="Text Placeholder 2"/>
          <p:cNvSpPr>
            <a:spLocks noGrp="1"/>
          </p:cNvSpPr>
          <p:nvPr>
            <p:ph type="body" idx="1"/>
          </p:nvPr>
        </p:nvSpPr>
        <p:spPr>
          <a:xfrm>
            <a:off x="532629" y="2329489"/>
            <a:ext cx="219456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539777" y="3015290"/>
            <a:ext cx="219456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2878413" y="2336873"/>
            <a:ext cx="219456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2879710" y="3007906"/>
            <a:ext cx="219456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5226136" y="2336873"/>
            <a:ext cx="219456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5233520" y="3007905"/>
            <a:ext cx="219456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12/7/2025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824983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grpSp>
        <p:nvGrpSpPr>
          <p:cNvPr id="34" name="Group 33"/>
          <p:cNvGrpSpPr/>
          <p:nvPr/>
        </p:nvGrpSpPr>
        <p:grpSpPr>
          <a:xfrm>
            <a:off x="0" y="609600"/>
            <a:ext cx="9161969" cy="1677035"/>
            <a:chOff x="0" y="2895600"/>
            <a:chExt cx="9161969" cy="1677035"/>
          </a:xfrm>
        </p:grpSpPr>
        <p:pic>
          <p:nvPicPr>
            <p:cNvPr id="35" name="Picture 34"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36" name="Picture 35"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37" name="Rectangle 36"/>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8" name="Rectangle 37"/>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30" name="Title 1"/>
          <p:cNvSpPr>
            <a:spLocks noGrp="1"/>
          </p:cNvSpPr>
          <p:nvPr>
            <p:ph type="title"/>
          </p:nvPr>
        </p:nvSpPr>
        <p:spPr>
          <a:xfrm>
            <a:off x="531639" y="753228"/>
            <a:ext cx="6896534" cy="1080938"/>
          </a:xfrm>
        </p:spPr>
        <p:txBody>
          <a:bodyPr/>
          <a:lstStyle/>
          <a:p>
            <a:r>
              <a:rPr lang="en-US"/>
              <a:t>Click to edit Master title style</a:t>
            </a:r>
            <a:endParaRPr lang="en-US" dirty="0"/>
          </a:p>
        </p:txBody>
      </p:sp>
      <p:sp>
        <p:nvSpPr>
          <p:cNvPr id="19" name="Text Placeholder 2"/>
          <p:cNvSpPr>
            <a:spLocks noGrp="1"/>
          </p:cNvSpPr>
          <p:nvPr>
            <p:ph type="body" idx="1"/>
          </p:nvPr>
        </p:nvSpPr>
        <p:spPr>
          <a:xfrm>
            <a:off x="532391" y="4297503"/>
            <a:ext cx="2192257"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532391" y="2336873"/>
            <a:ext cx="2192257"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532391" y="4873765"/>
            <a:ext cx="2192257"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2870497" y="4297503"/>
            <a:ext cx="221507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2870497" y="2336873"/>
            <a:ext cx="2215070"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2869483" y="4873764"/>
            <a:ext cx="2218004"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5231028" y="4297503"/>
            <a:ext cx="2194333"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5231027" y="2336873"/>
            <a:ext cx="2194333"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5230934" y="4873762"/>
            <a:ext cx="2197239"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12/7/2025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9707659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grpSp>
        <p:nvGrpSpPr>
          <p:cNvPr id="16" name="Group 15"/>
          <p:cNvGrpSpPr/>
          <p:nvPr/>
        </p:nvGrpSpPr>
        <p:grpSpPr>
          <a:xfrm>
            <a:off x="0" y="609600"/>
            <a:ext cx="9161969" cy="1677035"/>
            <a:chOff x="0" y="2895600"/>
            <a:chExt cx="9161969" cy="1677035"/>
          </a:xfrm>
        </p:grpSpPr>
        <p:pic>
          <p:nvPicPr>
            <p:cNvPr id="17" name="Picture 16"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18" name="Picture 17"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19" name="Rectangle 18"/>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Rectangle 19"/>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531639" y="753228"/>
            <a:ext cx="6896534" cy="1080938"/>
          </a:xfrm>
        </p:spPr>
        <p:txBody>
          <a:bodyPr/>
          <a:lstStyle>
            <a:lvl1pPr algn="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1445725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grpSp>
        <p:nvGrpSpPr>
          <p:cNvPr id="14" name="Group 13"/>
          <p:cNvGrpSpPr/>
          <p:nvPr/>
        </p:nvGrpSpPr>
        <p:grpSpPr>
          <a:xfrm rot="5400000">
            <a:off x="4575305" y="2747178"/>
            <a:ext cx="6862555" cy="1368199"/>
            <a:chOff x="2281445" y="609600"/>
            <a:chExt cx="6862555" cy="1368199"/>
          </a:xfrm>
        </p:grpSpPr>
        <p:sp>
          <p:nvSpPr>
            <p:cNvPr id="12" name="Rectangle 11"/>
            <p:cNvSpPr/>
            <p:nvPr/>
          </p:nvSpPr>
          <p:spPr bwMode="ltGray">
            <a:xfrm>
              <a:off x="2281445" y="609601"/>
              <a:ext cx="5285695"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7710769" y="609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Vertical Title 1"/>
          <p:cNvSpPr>
            <a:spLocks noGrp="1"/>
          </p:cNvSpPr>
          <p:nvPr>
            <p:ph type="title" orient="vert"/>
          </p:nvPr>
        </p:nvSpPr>
        <p:spPr>
          <a:xfrm>
            <a:off x="7464798" y="609597"/>
            <a:ext cx="1069602" cy="4461936"/>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10241" y="609598"/>
            <a:ext cx="6576359" cy="53265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5029144" y="5936188"/>
            <a:ext cx="2057400" cy="365125"/>
          </a:xfrm>
        </p:spPr>
        <p:txBody>
          <a:bodyPr/>
          <a:lstStyle/>
          <a:p>
            <a:fld id="{5BCAD085-E8A6-8845-BD4E-CB4CCA059FC4}" type="datetimeFigureOut">
              <a:rPr lang="en-US" smtClean="0"/>
              <a:t>12/7/2025</a:t>
            </a:fld>
            <a:endParaRPr lang="en-US"/>
          </a:p>
        </p:txBody>
      </p:sp>
      <p:sp>
        <p:nvSpPr>
          <p:cNvPr id="5" name="Footer Placeholder 4"/>
          <p:cNvSpPr>
            <a:spLocks noGrp="1"/>
          </p:cNvSpPr>
          <p:nvPr>
            <p:ph type="ftr" sz="quarter" idx="11"/>
          </p:nvPr>
        </p:nvSpPr>
        <p:spPr>
          <a:xfrm>
            <a:off x="510241" y="5936189"/>
            <a:ext cx="4518959" cy="365125"/>
          </a:xfrm>
        </p:spPr>
        <p:txBody>
          <a:bodyPr/>
          <a:lstStyle/>
          <a:p>
            <a:endParaRPr lang="en-US"/>
          </a:p>
        </p:txBody>
      </p:sp>
      <p:sp>
        <p:nvSpPr>
          <p:cNvPr id="6" name="Slide Number Placeholder 5"/>
          <p:cNvSpPr>
            <a:spLocks noGrp="1"/>
          </p:cNvSpPr>
          <p:nvPr>
            <p:ph type="sldNum" sz="quarter" idx="12"/>
          </p:nvPr>
        </p:nvSpPr>
        <p:spPr>
          <a:xfrm>
            <a:off x="7431152" y="5432500"/>
            <a:ext cx="1149636" cy="1273100"/>
          </a:xfrm>
        </p:spPr>
        <p:txBody>
          <a:bodyPr anchor="t"/>
          <a:lstStyle>
            <a:lvl1pPr algn="ctr">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1960707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slideLayout" Target="../slideLayouts/slideLayout13.xml" /><Relationship Id="rId18" Type="http://schemas.openxmlformats.org/officeDocument/2006/relationships/theme" Target="../theme/theme1.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17" Type="http://schemas.openxmlformats.org/officeDocument/2006/relationships/slideLayout" Target="../slideLayouts/slideLayout17.xml" /><Relationship Id="rId2" Type="http://schemas.openxmlformats.org/officeDocument/2006/relationships/slideLayout" Target="../slideLayouts/slideLayout2.xml" /><Relationship Id="rId16" Type="http://schemas.openxmlformats.org/officeDocument/2006/relationships/slideLayout" Target="../slideLayouts/slideLayout16.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5" Type="http://schemas.openxmlformats.org/officeDocument/2006/relationships/slideLayout" Target="../slideLayouts/slideLayout15.xml" /><Relationship Id="rId10" Type="http://schemas.openxmlformats.org/officeDocument/2006/relationships/slideLayout" Target="../slideLayouts/slideLayout10.xml" /><Relationship Id="rId19" Type="http://schemas.openxmlformats.org/officeDocument/2006/relationships/image" Target="../media/image1.png"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slideLayout" Target="../slideLayouts/slideLayout14.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1027" name="Picture 3" descr="C:\Users\James\Desktop\msft\Berlin\build Assets\hashOverlaySD-FullResolve.png"/>
          <p:cNvPicPr>
            <a:picLocks noChangeAspect="1" noChangeArrowheads="1"/>
          </p:cNvPicPr>
          <p:nvPr/>
        </p:nvPicPr>
        <p:blipFill>
          <a:blip r:embed="rId19">
            <a:alphaModFix amt="10000"/>
            <a:extLst>
              <a:ext uri="{28A0092B-C50C-407E-A947-70E740481C1C}">
                <a14:useLocalDpi xmlns:a14="http://schemas.microsoft.com/office/drawing/2010/main" val="0"/>
              </a:ext>
            </a:extLst>
          </a:blip>
          <a:srcRect/>
          <a:stretch>
            <a:fillRect/>
          </a:stretch>
        </p:blipFill>
        <p:spPr bwMode="auto">
          <a:xfrm>
            <a:off x="0" y="1"/>
            <a:ext cx="9144000" cy="6858000"/>
          </a:xfrm>
          <a:prstGeom prst="rect">
            <a:avLst/>
          </a:prstGeom>
          <a:extLst>
            <a:ext uri="{909E8E84-426E-40dd-AFC4-6F175D3DCCD1}">
              <a14:hiddenFill xmlns="" xmlns:a14="http://schemas.microsoft.com/office/drawing/2010/main">
                <a:solidFill>
                  <a:srgbClr val="FFFFFF"/>
                </a:solidFill>
              </a14:hiddenFill>
            </a:ext>
          </a:extLst>
        </p:spPr>
      </p:pic>
      <p:sp>
        <p:nvSpPr>
          <p:cNvPr id="2" name="Title Placeholder 1"/>
          <p:cNvSpPr>
            <a:spLocks noGrp="1"/>
          </p:cNvSpPr>
          <p:nvPr>
            <p:ph type="title"/>
          </p:nvPr>
        </p:nvSpPr>
        <p:spPr>
          <a:xfrm>
            <a:off x="531639" y="753228"/>
            <a:ext cx="6896534" cy="108093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33400" y="2336873"/>
            <a:ext cx="6887389" cy="35993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367881" y="5936188"/>
            <a:ext cx="20574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5BCAD085-E8A6-8845-BD4E-CB4CCA059FC4}" type="datetimeFigureOut">
              <a:rPr lang="en-US" smtClean="0"/>
              <a:t>12/7/2025</a:t>
            </a:fld>
            <a:endParaRPr lang="en-US"/>
          </a:p>
        </p:txBody>
      </p:sp>
      <p:sp>
        <p:nvSpPr>
          <p:cNvPr id="5" name="Footer Placeholder 4"/>
          <p:cNvSpPr>
            <a:spLocks noGrp="1"/>
          </p:cNvSpPr>
          <p:nvPr>
            <p:ph type="ftr" sz="quarter" idx="3"/>
          </p:nvPr>
        </p:nvSpPr>
        <p:spPr>
          <a:xfrm>
            <a:off x="533400" y="5936189"/>
            <a:ext cx="4834673"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848600" y="753228"/>
            <a:ext cx="1157674" cy="1090789"/>
          </a:xfrm>
          <a:prstGeom prst="rect">
            <a:avLst/>
          </a:prstGeom>
        </p:spPr>
        <p:txBody>
          <a:bodyPr vert="horz" lIns="91440" tIns="45720" rIns="91440" bIns="45720" rtlCol="0" anchor="ctr"/>
          <a:lstStyle>
            <a:lvl1pPr algn="l">
              <a:defRPr sz="36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77074572"/>
      </p:ext>
    </p:extLst>
  </p:cSld>
  <p:clrMap bg1="lt1" tx1="dk1" bg2="lt2" tx2="dk2" accent1="accent1" accent2="accent2" accent3="accent3" accent4="accent4" accent5="accent5" accent6="accent6" hlink="hlink" folHlink="folHlink"/>
  <p:sldLayoutIdLst>
    <p:sldLayoutId id="2147484068" r:id="rId1"/>
    <p:sldLayoutId id="2147484069" r:id="rId2"/>
    <p:sldLayoutId id="2147484070" r:id="rId3"/>
    <p:sldLayoutId id="2147484071" r:id="rId4"/>
    <p:sldLayoutId id="2147484072" r:id="rId5"/>
    <p:sldLayoutId id="2147484073" r:id="rId6"/>
    <p:sldLayoutId id="2147484074" r:id="rId7"/>
    <p:sldLayoutId id="2147484075" r:id="rId8"/>
    <p:sldLayoutId id="2147484076" r:id="rId9"/>
    <p:sldLayoutId id="2147484077" r:id="rId10"/>
    <p:sldLayoutId id="2147484078" r:id="rId11"/>
    <p:sldLayoutId id="2147484079" r:id="rId12"/>
    <p:sldLayoutId id="2147484080" r:id="rId13"/>
    <p:sldLayoutId id="2147484081" r:id="rId14"/>
    <p:sldLayoutId id="2147484082" r:id="rId15"/>
    <p:sldLayoutId id="2147484083" r:id="rId16"/>
    <p:sldLayoutId id="2147484084" r:id="rId17"/>
  </p:sldLayoutIdLst>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2" Type="http://schemas.openxmlformats.org/officeDocument/2006/relationships/image" Target="../media/image5.png" /><Relationship Id="rId1" Type="http://schemas.openxmlformats.org/officeDocument/2006/relationships/slideLayout" Target="../slideLayouts/slideLayout8.xml" /></Relationships>
</file>

<file path=ppt/slides/_rels/slide4.xml.rels><?xml version="1.0" encoding="UTF-8" standalone="yes"?>
<Relationships xmlns="http://schemas.openxmlformats.org/package/2006/relationships"><Relationship Id="rId2" Type="http://schemas.openxmlformats.org/officeDocument/2006/relationships/image" Target="../media/image6.png" /><Relationship Id="rId1" Type="http://schemas.openxmlformats.org/officeDocument/2006/relationships/slideLayout" Target="../slideLayouts/slideLayout8.xml" /></Relationships>
</file>

<file path=ppt/slides/_rels/slide5.xml.rels><?xml version="1.0" encoding="UTF-8" standalone="yes"?>
<Relationships xmlns="http://schemas.openxmlformats.org/package/2006/relationships"><Relationship Id="rId3" Type="http://schemas.openxmlformats.org/officeDocument/2006/relationships/image" Target="../media/image8.png" /><Relationship Id="rId2" Type="http://schemas.openxmlformats.org/officeDocument/2006/relationships/image" Target="../media/image7.png" /><Relationship Id="rId1" Type="http://schemas.openxmlformats.org/officeDocument/2006/relationships/slideLayout" Target="../slideLayouts/slideLayout8.xml" /></Relationships>
</file>

<file path=ppt/slides/_rels/slide6.xml.rels><?xml version="1.0" encoding="UTF-8" standalone="yes"?>
<Relationships xmlns="http://schemas.openxmlformats.org/package/2006/relationships"><Relationship Id="rId2" Type="http://schemas.openxmlformats.org/officeDocument/2006/relationships/image" Target="../media/image9.png" /><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2" Type="http://schemas.openxmlformats.org/officeDocument/2006/relationships/image" Target="../media/image10.png" /><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2" Type="http://schemas.openxmlformats.org/officeDocument/2006/relationships/image" Target="../media/image11.png" /><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2" Type="http://schemas.openxmlformats.org/officeDocument/2006/relationships/image" Target="../media/image11.png" /><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2" Type="http://schemas.openxmlformats.org/officeDocument/2006/relationships/image" Target="../media/image12.png" /><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2" Type="http://schemas.openxmlformats.org/officeDocument/2006/relationships/image" Target="../media/image13.png" /><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2" Type="http://schemas.openxmlformats.org/officeDocument/2006/relationships/image" Target="../media/image11.png" /><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2" Type="http://schemas.openxmlformats.org/officeDocument/2006/relationships/image" Target="../media/image14.jpeg" /><Relationship Id="rId1" Type="http://schemas.openxmlformats.org/officeDocument/2006/relationships/slideLayout" Target="../slideLayouts/slideLayout2.xml" /></Relationships>
</file>

<file path=ppt/slides/_rels/slide16.xml.rels><?xml version="1.0" encoding="UTF-8" standalone="yes"?>
<Relationships xmlns="http://schemas.openxmlformats.org/package/2006/relationships"><Relationship Id="rId2" Type="http://schemas.openxmlformats.org/officeDocument/2006/relationships/image" Target="../media/image15.png" /><Relationship Id="rId1" Type="http://schemas.openxmlformats.org/officeDocument/2006/relationships/slideLayout" Target="../slideLayouts/slideLayout2.xml" /></Relationships>
</file>

<file path=ppt/slides/_rels/slide17.xml.rels><?xml version="1.0" encoding="UTF-8" standalone="yes"?>
<Relationships xmlns="http://schemas.openxmlformats.org/package/2006/relationships"><Relationship Id="rId2" Type="http://schemas.openxmlformats.org/officeDocument/2006/relationships/image" Target="../media/image16.jpeg" /><Relationship Id="rId1" Type="http://schemas.openxmlformats.org/officeDocument/2006/relationships/slideLayout" Target="../slideLayouts/slideLayout2.xml" /></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 standalone="yes"?>
<Relationships xmlns="http://schemas.openxmlformats.org/package/2006/relationships"><Relationship Id="rId2" Type="http://schemas.openxmlformats.org/officeDocument/2006/relationships/image" Target="../media/image17.png" /><Relationship Id="rId1" Type="http://schemas.openxmlformats.org/officeDocument/2006/relationships/slideLayout" Target="../slideLayouts/slideLayout2.xml" /></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1951" y="2330974"/>
            <a:ext cx="6069268" cy="1373070"/>
          </a:xfrm>
        </p:spPr>
        <p:txBody>
          <a:bodyPr/>
          <a:lstStyle/>
          <a:p>
            <a:pPr algn="ctr"/>
            <a:r>
              <a:rPr lang="en-US" sz="3500" dirty="0"/>
              <a:t>Agile Adaptation in HR</a:t>
            </a:r>
          </a:p>
        </p:txBody>
      </p:sp>
      <p:sp>
        <p:nvSpPr>
          <p:cNvPr id="3" name="Subtitle 2"/>
          <p:cNvSpPr>
            <a:spLocks noGrp="1"/>
          </p:cNvSpPr>
          <p:nvPr>
            <p:ph type="subTitle" idx="1"/>
          </p:nvPr>
        </p:nvSpPr>
        <p:spPr>
          <a:xfrm>
            <a:off x="510241" y="4394040"/>
            <a:ext cx="2184833" cy="1621749"/>
          </a:xfrm>
        </p:spPr>
        <p:txBody>
          <a:bodyPr>
            <a:normAutofit fontScale="92500" lnSpcReduction="10000"/>
          </a:bodyPr>
          <a:lstStyle/>
          <a:p>
            <a:pPr algn="l"/>
            <a:r>
              <a:rPr lang="en-US" sz="1600" b="1" i="1" dirty="0"/>
              <a:t>Group</a:t>
            </a:r>
            <a:r>
              <a:rPr lang="en-US" sz="1600" dirty="0"/>
              <a:t> </a:t>
            </a:r>
            <a:r>
              <a:rPr lang="en-US" sz="1600" b="1" i="1" dirty="0"/>
              <a:t>Members</a:t>
            </a:r>
          </a:p>
          <a:p>
            <a:pPr algn="l"/>
            <a:r>
              <a:rPr lang="en-US" sz="1600" b="1" dirty="0"/>
              <a:t>WARDA ZUBAIR</a:t>
            </a:r>
          </a:p>
          <a:p>
            <a:pPr algn="l"/>
            <a:r>
              <a:rPr lang="en-US" sz="1600" b="1" dirty="0"/>
              <a:t>MAHEEN AHMED </a:t>
            </a:r>
          </a:p>
          <a:p>
            <a:pPr algn="l"/>
            <a:r>
              <a:rPr lang="en-US" sz="1600" b="1" dirty="0"/>
              <a:t>ARWA AMIR</a:t>
            </a:r>
          </a:p>
          <a:p>
            <a:pPr algn="l"/>
            <a:r>
              <a:rPr lang="en-US" sz="1600" b="1" dirty="0"/>
              <a:t>ALISHBA</a:t>
            </a:r>
            <a:r>
              <a:rPr lang="en-US" sz="1600" dirty="0"/>
              <a:t> </a:t>
            </a:r>
            <a:r>
              <a:rPr lang="en-US" sz="1600" b="1" dirty="0"/>
              <a:t>ALI</a:t>
            </a:r>
          </a:p>
        </p:txBody>
      </p:sp>
      <p:sp>
        <p:nvSpPr>
          <p:cNvPr id="4" name="Rectangle 3"/>
          <p:cNvSpPr/>
          <p:nvPr/>
        </p:nvSpPr>
        <p:spPr>
          <a:xfrm>
            <a:off x="5298351" y="4420084"/>
            <a:ext cx="4572000" cy="1569660"/>
          </a:xfrm>
          <a:prstGeom prst="rect">
            <a:avLst/>
          </a:prstGeom>
        </p:spPr>
        <p:txBody>
          <a:bodyPr>
            <a:spAutoFit/>
          </a:bodyPr>
          <a:lstStyle/>
          <a:p>
            <a:pPr>
              <a:defRPr sz="2000"/>
            </a:pPr>
            <a:r>
              <a:rPr lang="en-US" sz="1600" dirty="0"/>
              <a:t>Subject: Project Human Resource </a:t>
            </a:r>
          </a:p>
          <a:p>
            <a:pPr>
              <a:defRPr sz="2000"/>
            </a:pPr>
            <a:r>
              <a:rPr lang="en-US" sz="1600" dirty="0"/>
              <a:t>and Stakeholder Management</a:t>
            </a:r>
          </a:p>
          <a:p>
            <a:pPr>
              <a:defRPr sz="2000"/>
            </a:pPr>
            <a:r>
              <a:rPr lang="en-US" sz="1600" dirty="0"/>
              <a:t>Teacher: ARSALAN FAYYAZ</a:t>
            </a:r>
          </a:p>
          <a:p>
            <a:pPr>
              <a:defRPr sz="2000"/>
            </a:pPr>
            <a:r>
              <a:rPr lang="en-US" sz="1600" dirty="0"/>
              <a:t>Date: 30-11-2025</a:t>
            </a:r>
            <a:br>
              <a:rPr lang="en-US" sz="1600" dirty="0"/>
            </a:br>
            <a:r>
              <a:rPr lang="en-US" sz="1600" dirty="0"/>
              <a:t>Program: MSPM Weekend</a:t>
            </a:r>
            <a:br>
              <a:rPr lang="en-US" sz="1600" dirty="0"/>
            </a:br>
            <a:endParaRPr lang="en-US" sz="1600" dirty="0"/>
          </a:p>
        </p:txBody>
      </p:sp>
      <p:sp>
        <p:nvSpPr>
          <p:cNvPr id="13" name="AutoShape 7" descr="Bismillah Islamic Calligraphy Design"/>
          <p:cNvSpPr>
            <a:spLocks noChangeAspect="1" noChangeArrowheads="1"/>
          </p:cNvSpPr>
          <p:nvPr/>
        </p:nvSpPr>
        <p:spPr bwMode="auto">
          <a:xfrm>
            <a:off x="155575" y="-144463"/>
            <a:ext cx="3291010" cy="329102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993336549"/>
      </p:ext>
    </p:extLst>
  </p:cSld>
  <p:clrMapOvr>
    <a:masterClrMapping/>
  </p:clrMapOvr>
  <p:transition spd="slow">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3400" dirty="0"/>
              <a:t>Introduction</a:t>
            </a:r>
          </a:p>
        </p:txBody>
      </p:sp>
      <p:sp>
        <p:nvSpPr>
          <p:cNvPr id="3" name="Content Placeholder 2"/>
          <p:cNvSpPr>
            <a:spLocks noGrp="1"/>
          </p:cNvSpPr>
          <p:nvPr>
            <p:ph idx="1"/>
          </p:nvPr>
        </p:nvSpPr>
        <p:spPr>
          <a:xfrm>
            <a:off x="533399" y="2336873"/>
            <a:ext cx="8391659" cy="4144138"/>
          </a:xfrm>
        </p:spPr>
        <p:txBody>
          <a:bodyPr>
            <a:normAutofit lnSpcReduction="10000"/>
          </a:bodyPr>
          <a:lstStyle/>
          <a:p>
            <a:pPr marL="0" indent="0" algn="just">
              <a:lnSpc>
                <a:spcPct val="150000"/>
              </a:lnSpc>
              <a:buNone/>
              <a:defRPr sz="2000"/>
            </a:pPr>
            <a:r>
              <a:rPr lang="en-US" sz="2800" b="1" dirty="0"/>
              <a:t>What</a:t>
            </a:r>
            <a:r>
              <a:rPr lang="en-US" sz="2800" dirty="0"/>
              <a:t> </a:t>
            </a:r>
            <a:r>
              <a:rPr lang="en-US" sz="2800" b="1" dirty="0"/>
              <a:t>is</a:t>
            </a:r>
            <a:r>
              <a:rPr lang="en-US" sz="2800" dirty="0"/>
              <a:t> </a:t>
            </a:r>
            <a:r>
              <a:rPr lang="en-US" sz="2800" b="1" dirty="0"/>
              <a:t>Agile</a:t>
            </a:r>
            <a:r>
              <a:rPr lang="en-US" sz="2800" dirty="0"/>
              <a:t>?</a:t>
            </a:r>
          </a:p>
          <a:p>
            <a:pPr algn="just">
              <a:lnSpc>
                <a:spcPct val="150000"/>
              </a:lnSpc>
              <a:buFont typeface="Wingdings" panose="05000000000000000000" pitchFamily="2" charset="2"/>
              <a:buChar char="q"/>
              <a:defRPr sz="2000"/>
            </a:pPr>
            <a:r>
              <a:rPr lang="en-US" sz="2200" dirty="0"/>
              <a:t>A set of principles that breaks large projects into small, manageable cycles.</a:t>
            </a:r>
          </a:p>
          <a:p>
            <a:pPr algn="just">
              <a:lnSpc>
                <a:spcPct val="150000"/>
              </a:lnSpc>
              <a:buFont typeface="Wingdings" panose="05000000000000000000" pitchFamily="2" charset="2"/>
              <a:buChar char="q"/>
              <a:defRPr sz="2000"/>
            </a:pPr>
            <a:r>
              <a:rPr lang="en-US" sz="2200" dirty="0"/>
              <a:t>Flexible, iterative approach to project management and product development.</a:t>
            </a:r>
          </a:p>
          <a:p>
            <a:pPr algn="just">
              <a:lnSpc>
                <a:spcPct val="150000"/>
              </a:lnSpc>
              <a:buFont typeface="Wingdings" panose="05000000000000000000" pitchFamily="2" charset="2"/>
              <a:buChar char="q"/>
              <a:defRPr sz="2000"/>
            </a:pPr>
            <a:r>
              <a:rPr lang="en-US" sz="2200" dirty="0"/>
              <a:t>Focuses on continuous improvement and </a:t>
            </a:r>
          </a:p>
          <a:p>
            <a:pPr marL="0" indent="0" algn="just">
              <a:lnSpc>
                <a:spcPct val="150000"/>
              </a:lnSpc>
              <a:buNone/>
              <a:defRPr sz="2000"/>
            </a:pPr>
            <a:r>
              <a:rPr lang="en-US" sz="2200" dirty="0"/>
              <a:t>quick adjustments</a:t>
            </a:r>
          </a:p>
          <a:p>
            <a:pPr marL="0" indent="0" algn="just">
              <a:lnSpc>
                <a:spcPct val="150000"/>
              </a:lnSpc>
              <a:buNone/>
              <a:defRPr sz="2000"/>
            </a:pPr>
            <a:endParaRPr lang="en-US" sz="2800" dirty="0"/>
          </a:p>
        </p:txBody>
      </p:sp>
      <p:pic>
        <p:nvPicPr>
          <p:cNvPr id="4" name="Picture 3"/>
          <p:cNvPicPr>
            <a:picLocks noChangeAspect="1"/>
          </p:cNvPicPr>
          <p:nvPr/>
        </p:nvPicPr>
        <p:blipFill>
          <a:blip r:embed="rId2"/>
          <a:stretch>
            <a:fillRect/>
          </a:stretch>
        </p:blipFill>
        <p:spPr>
          <a:xfrm>
            <a:off x="6967470" y="5048518"/>
            <a:ext cx="1957588" cy="1432493"/>
          </a:xfrm>
          <a:prstGeom prst="rect">
            <a:avLst/>
          </a:prstGeom>
        </p:spPr>
      </p:pic>
    </p:spTree>
  </p:cSld>
  <p:clrMapOvr>
    <a:masterClrMapping/>
  </p:clrMapOvr>
  <p:transition spd="slow">
    <p:wipe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b="1" dirty="0"/>
              <a:t>What</a:t>
            </a:r>
            <a:r>
              <a:rPr lang="en-US" dirty="0"/>
              <a:t> </a:t>
            </a:r>
            <a:r>
              <a:rPr lang="en-US" b="1" dirty="0"/>
              <a:t>is</a:t>
            </a:r>
            <a:r>
              <a:rPr lang="en-US" dirty="0"/>
              <a:t> </a:t>
            </a:r>
            <a:r>
              <a:rPr lang="en-US" b="1" dirty="0"/>
              <a:t>Agile</a:t>
            </a:r>
            <a:r>
              <a:rPr lang="en-US" dirty="0"/>
              <a:t> </a:t>
            </a:r>
            <a:r>
              <a:rPr lang="en-US" b="1" dirty="0"/>
              <a:t>Adaptation</a:t>
            </a:r>
          </a:p>
        </p:txBody>
      </p:sp>
      <p:sp>
        <p:nvSpPr>
          <p:cNvPr id="7" name="Text Placeholder 6"/>
          <p:cNvSpPr>
            <a:spLocks noGrp="1"/>
          </p:cNvSpPr>
          <p:nvPr>
            <p:ph type="body" sz="half" idx="2"/>
          </p:nvPr>
        </p:nvSpPr>
        <p:spPr>
          <a:xfrm>
            <a:off x="115910" y="2336873"/>
            <a:ext cx="5563673" cy="4373020"/>
          </a:xfrm>
        </p:spPr>
        <p:txBody>
          <a:bodyPr>
            <a:normAutofit/>
          </a:bodyPr>
          <a:lstStyle/>
          <a:p>
            <a:r>
              <a:rPr lang="en-US" sz="4400" b="1" dirty="0"/>
              <a:t>It is the process of  adjusting quickly and effectively to changes during a project.</a:t>
            </a:r>
          </a:p>
        </p:txBody>
      </p:sp>
      <p:pic>
        <p:nvPicPr>
          <p:cNvPr id="15" name="Content Placeholder 14"/>
          <p:cNvPicPr>
            <a:picLocks noGrp="1" noChangeAspect="1"/>
          </p:cNvPicPr>
          <p:nvPr>
            <p:ph idx="1"/>
          </p:nvPr>
        </p:nvPicPr>
        <p:blipFill>
          <a:blip r:embed="rId2"/>
          <a:stretch>
            <a:fillRect/>
          </a:stretch>
        </p:blipFill>
        <p:spPr>
          <a:xfrm>
            <a:off x="5241700" y="2099256"/>
            <a:ext cx="3696237" cy="4610637"/>
          </a:xfrm>
          <a:prstGeom prst="rect">
            <a:avLst/>
          </a:prstGeom>
        </p:spPr>
      </p:pic>
    </p:spTree>
    <p:extLst>
      <p:ext uri="{BB962C8B-B14F-4D97-AF65-F5344CB8AC3E}">
        <p14:creationId xmlns:p14="http://schemas.microsoft.com/office/powerpoint/2010/main" val="26125735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244698" y="0"/>
            <a:ext cx="9388698" cy="6858000"/>
          </a:xfrm>
          <a:prstGeom prst="rect">
            <a:avLst/>
          </a:prstGeom>
        </p:spPr>
      </p:pic>
    </p:spTree>
    <p:extLst>
      <p:ext uri="{BB962C8B-B14F-4D97-AF65-F5344CB8AC3E}">
        <p14:creationId xmlns:p14="http://schemas.microsoft.com/office/powerpoint/2010/main" val="29583371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b="1" dirty="0"/>
              <a:t>Agile Adaptation in Human Resource</a:t>
            </a:r>
          </a:p>
        </p:txBody>
      </p:sp>
      <p:sp>
        <p:nvSpPr>
          <p:cNvPr id="4" name="Text Placeholder 3"/>
          <p:cNvSpPr>
            <a:spLocks noGrp="1"/>
          </p:cNvSpPr>
          <p:nvPr>
            <p:ph type="body" sz="half" idx="2"/>
          </p:nvPr>
        </p:nvSpPr>
        <p:spPr>
          <a:xfrm>
            <a:off x="533401" y="2336873"/>
            <a:ext cx="2415861" cy="3599317"/>
          </a:xfrm>
        </p:spPr>
        <p:txBody>
          <a:bodyPr/>
          <a:lstStyle/>
          <a:p>
            <a:endParaRPr lang="en-US" dirty="0"/>
          </a:p>
          <a:p>
            <a:r>
              <a:rPr lang="en-US" dirty="0"/>
              <a:t>It shifts HR from a traditional ,rules-based model to a more flexible and responsive one.</a:t>
            </a:r>
          </a:p>
          <a:p>
            <a:r>
              <a:rPr lang="en-US" dirty="0"/>
              <a:t>It helps respond faster to employee and business needs.</a:t>
            </a:r>
          </a:p>
          <a:p>
            <a:endParaRPr lang="en-US" dirty="0"/>
          </a:p>
          <a:p>
            <a:endParaRPr lang="en-US" dirty="0"/>
          </a:p>
        </p:txBody>
      </p:sp>
      <p:pic>
        <p:nvPicPr>
          <p:cNvPr id="7" name="Content Placeholder 6"/>
          <p:cNvPicPr>
            <a:picLocks noGrp="1" noChangeAspect="1"/>
          </p:cNvPicPr>
          <p:nvPr>
            <p:ph idx="1"/>
          </p:nvPr>
        </p:nvPicPr>
        <p:blipFill>
          <a:blip r:embed="rId2"/>
          <a:stretch>
            <a:fillRect/>
          </a:stretch>
        </p:blipFill>
        <p:spPr>
          <a:xfrm>
            <a:off x="4778062" y="2336800"/>
            <a:ext cx="2768958" cy="2009913"/>
          </a:xfrm>
          <a:prstGeom prst="rect">
            <a:avLst/>
          </a:prstGeom>
        </p:spPr>
      </p:pic>
      <p:pic>
        <p:nvPicPr>
          <p:cNvPr id="8" name="Picture 7"/>
          <p:cNvPicPr>
            <a:picLocks noChangeAspect="1"/>
          </p:cNvPicPr>
          <p:nvPr/>
        </p:nvPicPr>
        <p:blipFill>
          <a:blip r:embed="rId3"/>
          <a:stretch>
            <a:fillRect/>
          </a:stretch>
        </p:blipFill>
        <p:spPr>
          <a:xfrm>
            <a:off x="2949262" y="4500496"/>
            <a:ext cx="6194737" cy="2099087"/>
          </a:xfrm>
          <a:prstGeom prst="rect">
            <a:avLst/>
          </a:prstGeom>
        </p:spPr>
      </p:pic>
    </p:spTree>
    <p:extLst>
      <p:ext uri="{BB962C8B-B14F-4D97-AF65-F5344CB8AC3E}">
        <p14:creationId xmlns:p14="http://schemas.microsoft.com/office/powerpoint/2010/main" val="16913944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Agile</a:t>
            </a:r>
            <a:r>
              <a:rPr lang="en-US" dirty="0"/>
              <a:t> </a:t>
            </a:r>
            <a:r>
              <a:rPr lang="en-US" b="1" dirty="0"/>
              <a:t>Principles</a:t>
            </a:r>
            <a:r>
              <a:rPr lang="en-US" dirty="0"/>
              <a:t> </a:t>
            </a:r>
            <a:r>
              <a:rPr lang="en-US" b="1" dirty="0"/>
              <a:t>in</a:t>
            </a:r>
            <a:r>
              <a:rPr lang="en-US" dirty="0"/>
              <a:t> </a:t>
            </a:r>
            <a:r>
              <a:rPr lang="en-US" b="1" dirty="0"/>
              <a:t>HR</a:t>
            </a:r>
            <a:endParaRPr b="1" dirty="0"/>
          </a:p>
        </p:txBody>
      </p:sp>
      <p:sp>
        <p:nvSpPr>
          <p:cNvPr id="7" name="Content Placeholder 3"/>
          <p:cNvSpPr>
            <a:spLocks noGrp="1"/>
          </p:cNvSpPr>
          <p:nvPr>
            <p:ph idx="1"/>
          </p:nvPr>
        </p:nvSpPr>
        <p:spPr>
          <a:xfrm>
            <a:off x="533400" y="2336872"/>
            <a:ext cx="3021169" cy="4267127"/>
          </a:xfrm>
        </p:spPr>
        <p:txBody>
          <a:bodyPr>
            <a:normAutofit/>
          </a:bodyPr>
          <a:lstStyle/>
          <a:p>
            <a:pPr algn="just">
              <a:lnSpc>
                <a:spcPct val="150000"/>
              </a:lnSpc>
            </a:pPr>
            <a:r>
              <a:rPr lang="en-US" sz="1600" dirty="0">
                <a:latin typeface="Arial" panose="020B0604020202020204" pitchFamily="34" charset="0"/>
                <a:cs typeface="Arial" panose="020B0604020202020204" pitchFamily="34" charset="0"/>
              </a:rPr>
              <a:t>Enhance collaboration and teamwork.</a:t>
            </a:r>
          </a:p>
          <a:p>
            <a:pPr algn="just">
              <a:lnSpc>
                <a:spcPct val="150000"/>
              </a:lnSpc>
            </a:pPr>
            <a:r>
              <a:rPr lang="en-US" sz="1600" dirty="0">
                <a:latin typeface="Arial" panose="020B0604020202020204" pitchFamily="34" charset="0"/>
                <a:cs typeface="Arial" panose="020B0604020202020204" pitchFamily="34" charset="0"/>
              </a:rPr>
              <a:t>Work is broken into small tasks for faster results.</a:t>
            </a:r>
          </a:p>
          <a:p>
            <a:pPr algn="just">
              <a:lnSpc>
                <a:spcPct val="150000"/>
              </a:lnSpc>
            </a:pPr>
            <a:r>
              <a:rPr lang="en-US" sz="1600" dirty="0">
                <a:latin typeface="Arial" panose="020B0604020202020204" pitchFamily="34" charset="0"/>
                <a:cs typeface="Arial" panose="020B0604020202020204" pitchFamily="34" charset="0"/>
              </a:rPr>
              <a:t>Continuous improvement through regular feedback.</a:t>
            </a:r>
          </a:p>
          <a:p>
            <a:pPr algn="just">
              <a:lnSpc>
                <a:spcPct val="150000"/>
              </a:lnSpc>
            </a:pPr>
            <a:r>
              <a:rPr lang="en-US" sz="1700" dirty="0">
                <a:latin typeface="Arial" panose="020B0604020202020204" pitchFamily="34" charset="0"/>
                <a:cs typeface="Arial" panose="020B0604020202020204" pitchFamily="34" charset="0"/>
              </a:rPr>
              <a:t>Employee needs and experiences stay at the center.</a:t>
            </a:r>
          </a:p>
        </p:txBody>
      </p:sp>
      <p:pic>
        <p:nvPicPr>
          <p:cNvPr id="3" name="Picture 2"/>
          <p:cNvPicPr>
            <a:picLocks noChangeAspect="1"/>
          </p:cNvPicPr>
          <p:nvPr/>
        </p:nvPicPr>
        <p:blipFill>
          <a:blip r:embed="rId2"/>
          <a:stretch>
            <a:fillRect/>
          </a:stretch>
        </p:blipFill>
        <p:spPr>
          <a:xfrm>
            <a:off x="3773511" y="2336872"/>
            <a:ext cx="5215944" cy="4300429"/>
          </a:xfrm>
          <a:prstGeom prst="rect">
            <a:avLst/>
          </a:prstGeom>
        </p:spPr>
      </p:pic>
    </p:spTree>
  </p:cSld>
  <p:clrMapOvr>
    <a:masterClrMapping/>
  </p:clrMapOvr>
  <p:transition spd="slow">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347730" y="360608"/>
            <a:ext cx="7080443" cy="6497391"/>
          </a:xfrm>
          <a:prstGeom prst="rect">
            <a:avLst/>
          </a:prstGeom>
        </p:spPr>
      </p:pic>
    </p:spTree>
    <p:extLst>
      <p:ext uri="{BB962C8B-B14F-4D97-AF65-F5344CB8AC3E}">
        <p14:creationId xmlns:p14="http://schemas.microsoft.com/office/powerpoint/2010/main" val="3596896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Agile Frameworks in HR</a:t>
            </a:r>
            <a:endParaRPr sz="2000" dirty="0"/>
          </a:p>
        </p:txBody>
      </p:sp>
      <p:sp>
        <p:nvSpPr>
          <p:cNvPr id="8" name="Rectangle 7"/>
          <p:cNvSpPr/>
          <p:nvPr/>
        </p:nvSpPr>
        <p:spPr>
          <a:xfrm>
            <a:off x="0" y="2596411"/>
            <a:ext cx="2068643" cy="1754326"/>
          </a:xfrm>
          <a:prstGeom prst="rect">
            <a:avLst/>
          </a:prstGeom>
        </p:spPr>
        <p:txBody>
          <a:bodyPr wrap="square">
            <a:spAutoFit/>
          </a:bodyPr>
          <a:lstStyle/>
          <a:p>
            <a:pPr marL="285750" indent="-285750">
              <a:buFont typeface="Arial" panose="020B0604020202020204" pitchFamily="34" charset="0"/>
              <a:buChar char="•"/>
            </a:pPr>
            <a:r>
              <a:rPr lang="en-US" dirty="0"/>
              <a:t>Short “sprints” to complete tasks quickly.</a:t>
            </a:r>
          </a:p>
          <a:p>
            <a:pPr marL="285750" indent="-285750">
              <a:buFont typeface="Arial" panose="020B0604020202020204" pitchFamily="34" charset="0"/>
              <a:buChar char="•"/>
            </a:pPr>
            <a:r>
              <a:rPr lang="en-US" dirty="0"/>
              <a:t>Daily brief meetings for alignment</a:t>
            </a:r>
          </a:p>
        </p:txBody>
      </p:sp>
      <p:sp>
        <p:nvSpPr>
          <p:cNvPr id="9" name="Rectangle 8"/>
          <p:cNvSpPr/>
          <p:nvPr/>
        </p:nvSpPr>
        <p:spPr>
          <a:xfrm>
            <a:off x="7058996" y="2508374"/>
            <a:ext cx="2068643" cy="2031325"/>
          </a:xfrm>
          <a:prstGeom prst="rect">
            <a:avLst/>
          </a:prstGeom>
        </p:spPr>
        <p:txBody>
          <a:bodyPr wrap="square">
            <a:spAutoFit/>
          </a:bodyPr>
          <a:lstStyle/>
          <a:p>
            <a:pPr marL="285750" indent="-285750">
              <a:buFont typeface="Arial" panose="020B0604020202020204" pitchFamily="34" charset="0"/>
              <a:buChar char="•"/>
            </a:pPr>
            <a:r>
              <a:rPr lang="en-US" dirty="0"/>
              <a:t>Removes unnecessary steps from HR processes.</a:t>
            </a:r>
          </a:p>
          <a:p>
            <a:pPr marL="285750" indent="-285750">
              <a:buFont typeface="Arial" panose="020B0604020202020204" pitchFamily="34" charset="0"/>
              <a:buChar char="•"/>
            </a:pPr>
            <a:r>
              <a:rPr lang="en-US" dirty="0"/>
              <a:t>Focuses on efficiency and saving time</a:t>
            </a:r>
          </a:p>
        </p:txBody>
      </p:sp>
      <p:sp>
        <p:nvSpPr>
          <p:cNvPr id="10" name="Rectangle 9"/>
          <p:cNvSpPr/>
          <p:nvPr/>
        </p:nvSpPr>
        <p:spPr>
          <a:xfrm>
            <a:off x="3537678" y="4721969"/>
            <a:ext cx="2558322" cy="1477328"/>
          </a:xfrm>
          <a:prstGeom prst="rect">
            <a:avLst/>
          </a:prstGeom>
        </p:spPr>
        <p:txBody>
          <a:bodyPr wrap="square">
            <a:spAutoFit/>
          </a:bodyPr>
          <a:lstStyle/>
          <a:p>
            <a:pPr marL="285750" indent="-285750">
              <a:buFont typeface="Arial" panose="020B0604020202020204" pitchFamily="34" charset="0"/>
              <a:buChar char="•"/>
            </a:pPr>
            <a:r>
              <a:rPr lang="en-US" dirty="0"/>
              <a:t>Visual boards (To-Do → Doing → Done). </a:t>
            </a:r>
          </a:p>
          <a:p>
            <a:pPr marL="285750" indent="-285750">
              <a:buFont typeface="Arial" panose="020B0604020202020204" pitchFamily="34" charset="0"/>
              <a:buChar char="•"/>
            </a:pPr>
            <a:r>
              <a:rPr lang="en-US" dirty="0"/>
              <a:t>Helps HR manage workload and track progress clearly</a:t>
            </a:r>
          </a:p>
        </p:txBody>
      </p:sp>
      <p:pic>
        <p:nvPicPr>
          <p:cNvPr id="12" name="Picture 4" descr="Agile, Lean, Scrum, Kanban… ¿cuál es la diferenci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67727" y="2508374"/>
            <a:ext cx="4873308" cy="20610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5662812"/>
      </p:ext>
    </p:extLst>
  </p:cSld>
  <p:clrMapOvr>
    <a:masterClrMapping/>
  </p:clrMapOvr>
  <p:transition spd="slow">
    <p:wipe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Agile Frameworks in HR</a:t>
            </a:r>
            <a:br>
              <a:rPr lang="en-US" dirty="0"/>
            </a:br>
            <a:r>
              <a:rPr lang="en-US" sz="1600" dirty="0"/>
              <a:t>Scrum Scenario</a:t>
            </a:r>
            <a:endParaRPr sz="1600" dirty="0"/>
          </a:p>
        </p:txBody>
      </p:sp>
      <p:sp>
        <p:nvSpPr>
          <p:cNvPr id="7" name="Content Placeholder 3"/>
          <p:cNvSpPr>
            <a:spLocks noGrp="1"/>
          </p:cNvSpPr>
          <p:nvPr>
            <p:ph idx="1"/>
          </p:nvPr>
        </p:nvSpPr>
        <p:spPr>
          <a:xfrm>
            <a:off x="263577" y="2067049"/>
            <a:ext cx="8271933" cy="4267127"/>
          </a:xfrm>
        </p:spPr>
        <p:txBody>
          <a:bodyPr>
            <a:noAutofit/>
          </a:bodyPr>
          <a:lstStyle/>
          <a:p>
            <a:r>
              <a:rPr lang="en-US" sz="1800" b="1" dirty="0"/>
              <a:t>Big loop </a:t>
            </a:r>
            <a:r>
              <a:rPr lang="en-US" sz="1800" dirty="0"/>
              <a:t>→ The whole recruitment cycle.</a:t>
            </a:r>
          </a:p>
          <a:p>
            <a:r>
              <a:rPr lang="en-US" sz="1800" dirty="0"/>
              <a:t>Small inner loop → Daily standups + quick problem-solving cycles that happen </a:t>
            </a:r>
            <a:r>
              <a:rPr lang="en-US" sz="1800" i="1" dirty="0"/>
              <a:t>inside</a:t>
            </a:r>
            <a:r>
              <a:rPr lang="en-US" sz="1800" dirty="0"/>
              <a:t> the big sprint.</a:t>
            </a:r>
          </a:p>
          <a:p>
            <a:r>
              <a:rPr lang="en-US" sz="1800" dirty="0"/>
              <a:t>HR is running a 2-week recruitment sprint.</a:t>
            </a:r>
          </a:p>
          <a:p>
            <a:r>
              <a:rPr lang="en-US" sz="1800" dirty="0"/>
              <a:t>The big loop = The 2-week hiring </a:t>
            </a:r>
            <a:r>
              <a:rPr lang="en-US" sz="1800" dirty="0" err="1"/>
              <a:t>procesz</a:t>
            </a:r>
            <a:r>
              <a:rPr lang="en-US" sz="1800" dirty="0"/>
              <a:t>. </a:t>
            </a:r>
          </a:p>
          <a:p>
            <a:r>
              <a:rPr lang="en-US" sz="1800" dirty="0"/>
              <a:t>Each day, HR team does a small loop (daily stand-up):</a:t>
            </a:r>
          </a:p>
          <a:p>
            <a:pPr lvl="1"/>
            <a:r>
              <a:rPr lang="en-US" sz="1800" dirty="0"/>
              <a:t>“What did we do yesterday?”</a:t>
            </a:r>
          </a:p>
          <a:p>
            <a:pPr lvl="1"/>
            <a:r>
              <a:rPr lang="en-US" sz="1800" dirty="0"/>
              <a:t>“What’s blocking us?”</a:t>
            </a:r>
          </a:p>
          <a:p>
            <a:pPr lvl="1"/>
            <a:r>
              <a:rPr lang="en-US" sz="1800" dirty="0"/>
              <a:t>“How do we fix problems quickly today?”</a:t>
            </a:r>
            <a:endParaRPr lang="en-US" sz="1800" b="1" dirty="0"/>
          </a:p>
          <a:p>
            <a:r>
              <a:rPr lang="en-US" sz="1800" b="1" dirty="0"/>
              <a:t>Example:</a:t>
            </a:r>
            <a:br>
              <a:rPr lang="en-US" sz="1800" dirty="0"/>
            </a:br>
            <a:r>
              <a:rPr lang="en-US" sz="1800" dirty="0"/>
              <a:t>A candidate cancels the interview.</a:t>
            </a:r>
            <a:br>
              <a:rPr lang="en-US" sz="1800" dirty="0"/>
            </a:br>
            <a:r>
              <a:rPr lang="en-US" sz="1800" dirty="0"/>
              <a:t>➡️ HR immediately adjusts inside the small loop (re-schedule, move next candidate up, update hiring manager).</a:t>
            </a:r>
            <a:br>
              <a:rPr lang="en-US" sz="1800" dirty="0"/>
            </a:br>
            <a:r>
              <a:rPr lang="en-US" sz="1800" dirty="0"/>
              <a:t>They don’t wait weeks — they fix the problem that is causing inner loop.</a:t>
            </a:r>
          </a:p>
        </p:txBody>
      </p:sp>
      <p:pic>
        <p:nvPicPr>
          <p:cNvPr id="4" name="Picture 4" descr="Agile, Lean, Scrum, Kanban… ¿cuál es la diferencia?"/>
          <p:cNvPicPr>
            <a:picLocks noChangeAspect="1" noChangeArrowheads="1"/>
          </p:cNvPicPr>
          <p:nvPr/>
        </p:nvPicPr>
        <p:blipFill rotWithShape="1">
          <a:blip r:embed="rId2">
            <a:extLst>
              <a:ext uri="{28A0092B-C50C-407E-A947-70E740481C1C}">
                <a14:useLocalDpi xmlns:a14="http://schemas.microsoft.com/office/drawing/2010/main" val="0"/>
              </a:ext>
            </a:extLst>
          </a:blip>
          <a:srcRect r="59994"/>
          <a:stretch/>
        </p:blipFill>
        <p:spPr bwMode="auto">
          <a:xfrm>
            <a:off x="6258940" y="2963470"/>
            <a:ext cx="2276570" cy="24066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18499716"/>
      </p:ext>
    </p:extLst>
  </p:cSld>
  <p:clrMapOvr>
    <a:masterClrMapping/>
  </p:clrMapOvr>
  <p:transition spd="slow">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Agile Frameworks in HR</a:t>
            </a:r>
            <a:br>
              <a:rPr lang="en-US" dirty="0"/>
            </a:br>
            <a:r>
              <a:rPr lang="en-US" sz="2000" dirty="0"/>
              <a:t>Kanban Scenario</a:t>
            </a:r>
            <a:endParaRPr sz="2000" dirty="0"/>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24302" y="2010228"/>
            <a:ext cx="6400800" cy="4267200"/>
          </a:xfrm>
        </p:spPr>
      </p:pic>
    </p:spTree>
    <p:extLst>
      <p:ext uri="{BB962C8B-B14F-4D97-AF65-F5344CB8AC3E}">
        <p14:creationId xmlns:p14="http://schemas.microsoft.com/office/powerpoint/2010/main" val="4067551524"/>
      </p:ext>
    </p:extLst>
  </p:cSld>
  <p:clrMapOvr>
    <a:masterClrMapping/>
  </p:clrMapOvr>
  <p:transition spd="slow">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Agile Frameworks in HR</a:t>
            </a:r>
            <a:br>
              <a:rPr lang="en-US" dirty="0"/>
            </a:br>
            <a:r>
              <a:rPr lang="en-US" sz="2000" dirty="0"/>
              <a:t>Kanban</a:t>
            </a:r>
            <a:endParaRPr sz="2000" dirty="0"/>
          </a:p>
        </p:txBody>
      </p:sp>
      <p:sp>
        <p:nvSpPr>
          <p:cNvPr id="7" name="Content Placeholder 3"/>
          <p:cNvSpPr>
            <a:spLocks noGrp="1"/>
          </p:cNvSpPr>
          <p:nvPr>
            <p:ph idx="1"/>
          </p:nvPr>
        </p:nvSpPr>
        <p:spPr>
          <a:xfrm>
            <a:off x="533400" y="2336872"/>
            <a:ext cx="8271933" cy="4267127"/>
          </a:xfrm>
        </p:spPr>
        <p:txBody>
          <a:bodyPr>
            <a:normAutofit/>
          </a:bodyPr>
          <a:lstStyle/>
          <a:p>
            <a:pPr algn="just">
              <a:lnSpc>
                <a:spcPct val="150000"/>
              </a:lnSpc>
            </a:pPr>
            <a:endParaRPr lang="en-US" sz="2000" dirty="0">
              <a:latin typeface="Arial" panose="020B0604020202020204" pitchFamily="34" charset="0"/>
              <a:cs typeface="Arial" panose="020B0604020202020204" pitchFamily="34" charset="0"/>
            </a:endParaRPr>
          </a:p>
        </p:txBody>
      </p:sp>
      <p:pic>
        <p:nvPicPr>
          <p:cNvPr id="1026" name="Picture 2" descr="Employee onboarding templat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4833" y="2192581"/>
            <a:ext cx="8550499" cy="44114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41318979"/>
      </p:ext>
    </p:extLst>
  </p:cSld>
  <p:clrMapOvr>
    <a:masterClrMapping/>
  </p:clrMapOvr>
  <p:transition spd="slow">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Agile Frameworks in HR</a:t>
            </a:r>
            <a:br>
              <a:rPr lang="en-US" dirty="0"/>
            </a:br>
            <a:r>
              <a:rPr lang="en-US" sz="2000" dirty="0"/>
              <a:t>Kanban ( Activity )</a:t>
            </a:r>
            <a:endParaRPr sz="2000" dirty="0"/>
          </a:p>
        </p:txBody>
      </p:sp>
      <p:sp>
        <p:nvSpPr>
          <p:cNvPr id="7" name="Content Placeholder 3"/>
          <p:cNvSpPr>
            <a:spLocks noGrp="1"/>
          </p:cNvSpPr>
          <p:nvPr>
            <p:ph idx="1"/>
          </p:nvPr>
        </p:nvSpPr>
        <p:spPr>
          <a:xfrm>
            <a:off x="533400" y="2336872"/>
            <a:ext cx="8271933" cy="4267127"/>
          </a:xfrm>
        </p:spPr>
        <p:txBody>
          <a:bodyPr>
            <a:normAutofit/>
          </a:bodyPr>
          <a:lstStyle/>
          <a:p>
            <a:pPr marL="0" indent="0" algn="ctr">
              <a:lnSpc>
                <a:spcPct val="150000"/>
              </a:lnSpc>
              <a:buNone/>
            </a:pPr>
            <a:r>
              <a:rPr lang="en-US" sz="2300" b="1" dirty="0">
                <a:latin typeface="Arial" panose="020B0604020202020204" pitchFamily="34" charset="0"/>
                <a:cs typeface="Arial" panose="020B0604020202020204" pitchFamily="34" charset="0"/>
              </a:rPr>
              <a:t>Create a Kanban board for a 15-day recruitment process.</a:t>
            </a:r>
          </a:p>
          <a:p>
            <a:pPr marL="0" indent="0" algn="ctr">
              <a:lnSpc>
                <a:spcPct val="150000"/>
              </a:lnSpc>
              <a:buNone/>
            </a:pPr>
            <a:r>
              <a:rPr lang="en-US" sz="2300" b="1" dirty="0">
                <a:latin typeface="Arial" panose="020B0604020202020204" pitchFamily="34" charset="0"/>
                <a:cs typeface="Arial" panose="020B0604020202020204" pitchFamily="34" charset="0"/>
              </a:rPr>
              <a:t>At Day 1, everything is in To Do, and by Day 15 everything is Done, but you must show the board on Day 8, with some tasks still To Do, some In Progress, and some Done.</a:t>
            </a:r>
          </a:p>
          <a:p>
            <a:pPr marL="0" indent="0" algn="ctr">
              <a:lnSpc>
                <a:spcPct val="150000"/>
              </a:lnSpc>
              <a:buNone/>
            </a:pPr>
            <a:r>
              <a:rPr lang="en-US" sz="2300" b="1" dirty="0">
                <a:latin typeface="Arial" panose="020B0604020202020204" pitchFamily="34" charset="0"/>
                <a:cs typeface="Arial" panose="020B0604020202020204" pitchFamily="34" charset="0"/>
              </a:rPr>
              <a:t>Make your board realistic and balanced for Day 8.</a:t>
            </a:r>
          </a:p>
        </p:txBody>
      </p:sp>
    </p:spTree>
    <p:extLst>
      <p:ext uri="{BB962C8B-B14F-4D97-AF65-F5344CB8AC3E}">
        <p14:creationId xmlns:p14="http://schemas.microsoft.com/office/powerpoint/2010/main" val="3659706249"/>
      </p:ext>
    </p:extLst>
  </p:cSld>
  <p:clrMapOvr>
    <a:masterClrMapping/>
  </p:clrMapOvr>
  <p:transition spd="slow">
    <p:wipe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Agile Frameworks in HR</a:t>
            </a:r>
            <a:br>
              <a:rPr lang="en-US" dirty="0"/>
            </a:br>
            <a:r>
              <a:rPr lang="en-US" sz="2000" dirty="0"/>
              <a:t>Lean Scenario</a:t>
            </a:r>
            <a:endParaRPr sz="2000" dirty="0"/>
          </a:p>
        </p:txBody>
      </p:sp>
      <p:sp>
        <p:nvSpPr>
          <p:cNvPr id="7" name="Content Placeholder 3"/>
          <p:cNvSpPr>
            <a:spLocks noGrp="1"/>
          </p:cNvSpPr>
          <p:nvPr>
            <p:ph idx="1"/>
          </p:nvPr>
        </p:nvSpPr>
        <p:spPr>
          <a:xfrm>
            <a:off x="533400" y="2336872"/>
            <a:ext cx="8271933" cy="4267127"/>
          </a:xfrm>
        </p:spPr>
        <p:txBody>
          <a:bodyPr>
            <a:normAutofit/>
          </a:bodyPr>
          <a:lstStyle/>
          <a:p>
            <a:r>
              <a:rPr lang="en-US" sz="2000" b="1" dirty="0"/>
              <a:t>Problem (Before Lean):</a:t>
            </a:r>
          </a:p>
          <a:p>
            <a:r>
              <a:rPr lang="en-US" sz="2000" dirty="0"/>
              <a:t>Employee applied for leave through email.</a:t>
            </a:r>
          </a:p>
          <a:p>
            <a:r>
              <a:rPr lang="en-US" sz="2000" dirty="0"/>
              <a:t>Request moved Employee → Team Lead → </a:t>
            </a:r>
          </a:p>
          <a:p>
            <a:pPr marL="0" indent="0">
              <a:buNone/>
            </a:pPr>
            <a:r>
              <a:rPr lang="en-US" sz="2000" dirty="0"/>
              <a:t>              Manager → HR → Department Head.</a:t>
            </a:r>
          </a:p>
          <a:p>
            <a:r>
              <a:rPr lang="en-US" sz="2000" dirty="0"/>
              <a:t>Extra signatures caused delays and confusion.</a:t>
            </a:r>
          </a:p>
          <a:p>
            <a:r>
              <a:rPr lang="en-US" sz="2000" b="1" dirty="0"/>
              <a:t>Lean Action:</a:t>
            </a:r>
          </a:p>
          <a:p>
            <a:r>
              <a:rPr lang="en-US" sz="2000" dirty="0"/>
              <a:t>HR mapped the workflow and identified non-value-adding approvals.</a:t>
            </a:r>
          </a:p>
          <a:p>
            <a:r>
              <a:rPr lang="en-US" sz="2000" dirty="0"/>
              <a:t>Removed HR and Department Head from the chain.</a:t>
            </a:r>
          </a:p>
          <a:p>
            <a:r>
              <a:rPr lang="en-US" sz="2000" dirty="0"/>
              <a:t>Introduced a self-service HR.</a:t>
            </a:r>
          </a:p>
          <a:p>
            <a:r>
              <a:rPr lang="en-US" sz="2000" dirty="0"/>
              <a:t>Now the request goes directly to the immediate manager only.</a:t>
            </a:r>
          </a:p>
          <a:p>
            <a:pPr algn="just">
              <a:lnSpc>
                <a:spcPct val="150000"/>
              </a:lnSpc>
            </a:pPr>
            <a:endParaRPr lang="en-US" sz="2000" dirty="0">
              <a:latin typeface="Arial" panose="020B0604020202020204" pitchFamily="34" charset="0"/>
              <a:cs typeface="Arial" panose="020B0604020202020204" pitchFamily="34" charset="0"/>
            </a:endParaRPr>
          </a:p>
        </p:txBody>
      </p:sp>
      <p:pic>
        <p:nvPicPr>
          <p:cNvPr id="4" name="Picture 4" descr="Agile, Lean, Scrum, Kanban… ¿cuál es la diferencia?"/>
          <p:cNvPicPr>
            <a:picLocks noChangeAspect="1" noChangeArrowheads="1"/>
          </p:cNvPicPr>
          <p:nvPr/>
        </p:nvPicPr>
        <p:blipFill rotWithShape="1">
          <a:blip r:embed="rId2">
            <a:extLst>
              <a:ext uri="{28A0092B-C50C-407E-A947-70E740481C1C}">
                <a14:useLocalDpi xmlns:a14="http://schemas.microsoft.com/office/drawing/2010/main" val="0"/>
              </a:ext>
            </a:extLst>
          </a:blip>
          <a:srcRect l="71690" t="-727" r="-70440" b="727"/>
          <a:stretch/>
        </p:blipFill>
        <p:spPr bwMode="auto">
          <a:xfrm>
            <a:off x="6355413" y="2409431"/>
            <a:ext cx="6292311" cy="20610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2657144"/>
      </p:ext>
    </p:extLst>
  </p:cSld>
  <p:clrMapOvr>
    <a:masterClrMapping/>
  </p:clrMapOvr>
  <p:transition spd="slow">
    <p:wipe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Tradition VS Agile</a:t>
            </a:r>
            <a:br>
              <a:rPr lang="en-US" dirty="0"/>
            </a:br>
            <a:r>
              <a:rPr lang="en-US" sz="1600" dirty="0"/>
              <a:t>example</a:t>
            </a:r>
            <a:endParaRPr sz="1600"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316199507"/>
              </p:ext>
            </p:extLst>
          </p:nvPr>
        </p:nvGraphicFramePr>
        <p:xfrm>
          <a:off x="541869" y="2184400"/>
          <a:ext cx="8060264" cy="4401849"/>
        </p:xfrm>
        <a:graphic>
          <a:graphicData uri="http://schemas.openxmlformats.org/drawingml/2006/table">
            <a:tbl>
              <a:tblPr firstRow="1" bandRow="1">
                <a:tableStyleId>{5C22544A-7EE6-4342-B048-85BDC9FD1C3A}</a:tableStyleId>
              </a:tblPr>
              <a:tblGrid>
                <a:gridCol w="4030132">
                  <a:extLst>
                    <a:ext uri="{9D8B030D-6E8A-4147-A177-3AD203B41FA5}">
                      <a16:colId xmlns:a16="http://schemas.microsoft.com/office/drawing/2014/main" val="20000"/>
                    </a:ext>
                  </a:extLst>
                </a:gridCol>
                <a:gridCol w="4030132">
                  <a:extLst>
                    <a:ext uri="{9D8B030D-6E8A-4147-A177-3AD203B41FA5}">
                      <a16:colId xmlns:a16="http://schemas.microsoft.com/office/drawing/2014/main" val="20001"/>
                    </a:ext>
                  </a:extLst>
                </a:gridCol>
              </a:tblGrid>
              <a:tr h="393204">
                <a:tc>
                  <a:txBody>
                    <a:bodyPr/>
                    <a:lstStyle/>
                    <a:p>
                      <a:r>
                        <a:rPr lang="en-US" sz="2000" b="1" dirty="0"/>
                        <a:t>Traditional HR</a:t>
                      </a:r>
                    </a:p>
                  </a:txBody>
                  <a:tcPr/>
                </a:tc>
                <a:tc>
                  <a:txBody>
                    <a:bodyPr/>
                    <a:lstStyle/>
                    <a:p>
                      <a:r>
                        <a:rPr lang="en-US" sz="2000" b="1" dirty="0"/>
                        <a:t>Scrum</a:t>
                      </a:r>
                    </a:p>
                  </a:txBody>
                  <a:tcPr/>
                </a:tc>
                <a:extLst>
                  <a:ext uri="{0D108BD9-81ED-4DB2-BD59-A6C34878D82A}">
                    <a16:rowId xmlns:a16="http://schemas.microsoft.com/office/drawing/2014/main" val="10000"/>
                  </a:ext>
                </a:extLst>
              </a:tr>
              <a:tr h="998132">
                <a:tc>
                  <a:txBody>
                    <a:bodyPr/>
                    <a:lstStyle/>
                    <a:p>
                      <a:r>
                        <a:rPr lang="en-US" sz="1800" b="0" dirty="0"/>
                        <a:t>HR follows a step-by-step hiring plan and reviews progress only at the end.</a:t>
                      </a:r>
                    </a:p>
                  </a:txBody>
                  <a:tcPr/>
                </a:tc>
                <a:tc>
                  <a:txBody>
                    <a:bodyPr/>
                    <a:lstStyle/>
                    <a:p>
                      <a:r>
                        <a:rPr lang="en-US" sz="1800" b="0" dirty="0"/>
                        <a:t>HR breaks hiring into weekly sprints and reviews progress every day to adjust quickly.</a:t>
                      </a:r>
                    </a:p>
                  </a:txBody>
                  <a:tcPr/>
                </a:tc>
                <a:extLst>
                  <a:ext uri="{0D108BD9-81ED-4DB2-BD59-A6C34878D82A}">
                    <a16:rowId xmlns:a16="http://schemas.microsoft.com/office/drawing/2014/main" val="10001"/>
                  </a:ext>
                </a:extLst>
              </a:tr>
              <a:tr h="393204">
                <a:tc>
                  <a:txBody>
                    <a:bodyPr/>
                    <a:lstStyle/>
                    <a:p>
                      <a:r>
                        <a:rPr lang="en-US" sz="2000" b="1" dirty="0"/>
                        <a:t>Traditional HR</a:t>
                      </a:r>
                    </a:p>
                  </a:txBody>
                  <a:tcPr/>
                </a:tc>
                <a:tc>
                  <a:txBody>
                    <a:bodyPr/>
                    <a:lstStyle/>
                    <a:p>
                      <a:r>
                        <a:rPr lang="en-US" sz="2000" b="1" dirty="0"/>
                        <a:t>Kanban</a:t>
                      </a:r>
                    </a:p>
                  </a:txBody>
                  <a:tcPr/>
                </a:tc>
                <a:extLst>
                  <a:ext uri="{0D108BD9-81ED-4DB2-BD59-A6C34878D82A}">
                    <a16:rowId xmlns:a16="http://schemas.microsoft.com/office/drawing/2014/main" val="10002"/>
                  </a:ext>
                </a:extLst>
              </a:tr>
              <a:tr h="1300597">
                <a:tc>
                  <a:txBody>
                    <a:bodyPr/>
                    <a:lstStyle/>
                    <a:p>
                      <a:r>
                        <a:rPr lang="en-US" sz="1800" dirty="0"/>
                        <a:t>HR manages tasks through emails and files, so it’s harder to see overall progress at one glance.</a:t>
                      </a:r>
                      <a:endParaRPr lang="en-US" sz="1800" b="1" dirty="0"/>
                    </a:p>
                  </a:txBody>
                  <a:tcPr/>
                </a:tc>
                <a:tc>
                  <a:txBody>
                    <a:bodyPr/>
                    <a:lstStyle/>
                    <a:p>
                      <a:r>
                        <a:rPr lang="en-US" sz="1800" dirty="0"/>
                        <a:t>HR uses a visual board where all tasks move from To-Do → Doing → Done.</a:t>
                      </a:r>
                      <a:endParaRPr lang="en-US" sz="1800" b="1" dirty="0"/>
                    </a:p>
                  </a:txBody>
                  <a:tcPr/>
                </a:tc>
                <a:extLst>
                  <a:ext uri="{0D108BD9-81ED-4DB2-BD59-A6C34878D82A}">
                    <a16:rowId xmlns:a16="http://schemas.microsoft.com/office/drawing/2014/main" val="10003"/>
                  </a:ext>
                </a:extLst>
              </a:tr>
              <a:tr h="393204">
                <a:tc>
                  <a:txBody>
                    <a:bodyPr/>
                    <a:lstStyle/>
                    <a:p>
                      <a:r>
                        <a:rPr lang="en-US" sz="2000" b="1" dirty="0"/>
                        <a:t>Traditional HR</a:t>
                      </a:r>
                    </a:p>
                  </a:txBody>
                  <a:tcPr/>
                </a:tc>
                <a:tc>
                  <a:txBody>
                    <a:bodyPr/>
                    <a:lstStyle/>
                    <a:p>
                      <a:r>
                        <a:rPr lang="en-US" sz="2000" b="1" dirty="0"/>
                        <a:t>Lean</a:t>
                      </a:r>
                    </a:p>
                  </a:txBody>
                  <a:tcPr/>
                </a:tc>
                <a:extLst>
                  <a:ext uri="{0D108BD9-81ED-4DB2-BD59-A6C34878D82A}">
                    <a16:rowId xmlns:a16="http://schemas.microsoft.com/office/drawing/2014/main" val="10004"/>
                  </a:ext>
                </a:extLst>
              </a:tr>
              <a:tr h="907393">
                <a:tc>
                  <a:txBody>
                    <a:bodyPr/>
                    <a:lstStyle/>
                    <a:p>
                      <a:r>
                        <a:rPr lang="en-US" dirty="0"/>
                        <a:t>Hiring a new employee needs 5 approvals from different departments.</a:t>
                      </a:r>
                    </a:p>
                  </a:txBody>
                  <a:tcPr/>
                </a:tc>
                <a:tc>
                  <a:txBody>
                    <a:bodyPr/>
                    <a:lstStyle/>
                    <a:p>
                      <a:r>
                        <a:rPr lang="en-US" dirty="0"/>
                        <a:t>Hiring is approved by only 1–2 key people to avoid extra steps.</a:t>
                      </a:r>
                    </a:p>
                  </a:txBody>
                  <a:tcPr/>
                </a:tc>
                <a:extLst>
                  <a:ext uri="{0D108BD9-81ED-4DB2-BD59-A6C34878D82A}">
                    <a16:rowId xmlns:a16="http://schemas.microsoft.com/office/drawing/2014/main" val="10005"/>
                  </a:ext>
                </a:extLst>
              </a:tr>
            </a:tbl>
          </a:graphicData>
        </a:graphic>
      </p:graphicFrame>
    </p:spTree>
  </p:cSld>
  <p:clrMapOvr>
    <a:masterClrMapping/>
  </p:clrMapOvr>
  <p:transition spd="slow">
    <p:wipe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Where HR Applies Agile</a:t>
            </a:r>
            <a:endParaRPr dirty="0"/>
          </a:p>
        </p:txBody>
      </p:sp>
      <p:sp>
        <p:nvSpPr>
          <p:cNvPr id="3" name="Content Placeholder 2"/>
          <p:cNvSpPr>
            <a:spLocks noGrp="1"/>
          </p:cNvSpPr>
          <p:nvPr>
            <p:ph idx="1"/>
          </p:nvPr>
        </p:nvSpPr>
        <p:spPr/>
        <p:txBody>
          <a:bodyPr/>
          <a:lstStyle/>
          <a:p>
            <a:endParaRPr lang="en-US"/>
          </a:p>
        </p:txBody>
      </p:sp>
      <p:pic>
        <p:nvPicPr>
          <p:cNvPr id="4098" name="Picture 2" descr="Embracing Agility: How Agile HR Practices Transform the Workplac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2093118"/>
            <a:ext cx="8839200" cy="46124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11257226"/>
      </p:ext>
    </p:extLst>
  </p:cSld>
  <p:clrMapOvr>
    <a:masterClrMapping/>
  </p:clrMapOvr>
  <p:transition spd="slow">
    <p:wipe dir="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Benefits of Agile HR</a:t>
            </a:r>
            <a:endParaRPr dirty="0"/>
          </a:p>
        </p:txBody>
      </p:sp>
      <p:sp>
        <p:nvSpPr>
          <p:cNvPr id="3" name="Content Placeholder 2"/>
          <p:cNvSpPr>
            <a:spLocks noGrp="1"/>
          </p:cNvSpPr>
          <p:nvPr>
            <p:ph idx="1"/>
          </p:nvPr>
        </p:nvSpPr>
        <p:spPr>
          <a:xfrm>
            <a:off x="355600" y="2576716"/>
            <a:ext cx="5046133" cy="3925684"/>
          </a:xfrm>
        </p:spPr>
        <p:txBody>
          <a:bodyPr>
            <a:normAutofit fontScale="77500" lnSpcReduction="20000"/>
          </a:bodyPr>
          <a:lstStyle/>
          <a:p>
            <a:pPr algn="just">
              <a:lnSpc>
                <a:spcPct val="150000"/>
              </a:lnSpc>
              <a:defRPr sz="2000"/>
            </a:pPr>
            <a:r>
              <a:rPr lang="en-US" dirty="0"/>
              <a:t>Faster decision-making and quicker problem solving.</a:t>
            </a:r>
          </a:p>
          <a:p>
            <a:pPr algn="just">
              <a:lnSpc>
                <a:spcPct val="150000"/>
              </a:lnSpc>
              <a:defRPr sz="2000"/>
            </a:pPr>
            <a:r>
              <a:rPr lang="en-US" dirty="0"/>
              <a:t>Increased transparency because everyone sees task progress.</a:t>
            </a:r>
          </a:p>
          <a:p>
            <a:pPr algn="just">
              <a:lnSpc>
                <a:spcPct val="150000"/>
              </a:lnSpc>
              <a:defRPr sz="2000"/>
            </a:pPr>
            <a:r>
              <a:rPr lang="en-US" dirty="0"/>
              <a:t>Better teamwork and communication within HR. </a:t>
            </a:r>
          </a:p>
          <a:p>
            <a:pPr algn="just">
              <a:lnSpc>
                <a:spcPct val="150000"/>
              </a:lnSpc>
              <a:defRPr sz="2000"/>
            </a:pPr>
            <a:r>
              <a:rPr lang="en-US" dirty="0"/>
              <a:t>Higher employee engagement due to regular feedback. </a:t>
            </a:r>
          </a:p>
          <a:p>
            <a:pPr algn="just">
              <a:lnSpc>
                <a:spcPct val="150000"/>
              </a:lnSpc>
              <a:defRPr sz="2000"/>
            </a:pPr>
            <a:r>
              <a:rPr lang="en-US" dirty="0"/>
              <a:t>HR processes become faster, smoother, and more effective</a:t>
            </a:r>
            <a:endParaRPr b="1" dirty="0"/>
          </a:p>
        </p:txBody>
      </p:sp>
      <p:pic>
        <p:nvPicPr>
          <p:cNvPr id="6" name="Picture 5"/>
          <p:cNvPicPr>
            <a:picLocks noChangeAspect="1"/>
          </p:cNvPicPr>
          <p:nvPr/>
        </p:nvPicPr>
        <p:blipFill>
          <a:blip r:embed="rId2"/>
          <a:stretch>
            <a:fillRect/>
          </a:stretch>
        </p:blipFill>
        <p:spPr>
          <a:xfrm>
            <a:off x="5537200" y="2712182"/>
            <a:ext cx="3379140" cy="2878667"/>
          </a:xfrm>
          <a:prstGeom prst="rect">
            <a:avLst/>
          </a:prstGeom>
        </p:spPr>
      </p:pic>
    </p:spTree>
  </p:cSld>
  <p:clrMapOvr>
    <a:masterClrMapping/>
  </p:clrMapOvr>
  <p:transition spd="slow">
    <p:wipe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Challenges in Adopting Agile</a:t>
            </a:r>
            <a:endParaRPr dirty="0"/>
          </a:p>
        </p:txBody>
      </p:sp>
      <p:sp>
        <p:nvSpPr>
          <p:cNvPr id="3" name="Content Placeholder 2"/>
          <p:cNvSpPr>
            <a:spLocks noGrp="1"/>
          </p:cNvSpPr>
          <p:nvPr>
            <p:ph idx="1"/>
          </p:nvPr>
        </p:nvSpPr>
        <p:spPr>
          <a:xfrm>
            <a:off x="388716" y="2565472"/>
            <a:ext cx="5233151" cy="3599316"/>
          </a:xfrm>
        </p:spPr>
        <p:txBody>
          <a:bodyPr>
            <a:normAutofit fontScale="85000" lnSpcReduction="10000"/>
          </a:bodyPr>
          <a:lstStyle/>
          <a:p>
            <a:pPr algn="just">
              <a:lnSpc>
                <a:spcPct val="150000"/>
              </a:lnSpc>
              <a:defRPr sz="2000"/>
            </a:pPr>
            <a:r>
              <a:rPr lang="en-US" dirty="0"/>
              <a:t>Employees may resist the change due to old habits. </a:t>
            </a:r>
          </a:p>
          <a:p>
            <a:pPr algn="just">
              <a:lnSpc>
                <a:spcPct val="150000"/>
              </a:lnSpc>
              <a:defRPr sz="2000"/>
            </a:pPr>
            <a:r>
              <a:rPr lang="en-US" dirty="0"/>
              <a:t>Lack of proper Agile training creates confusion. </a:t>
            </a:r>
          </a:p>
          <a:p>
            <a:pPr algn="just">
              <a:lnSpc>
                <a:spcPct val="150000"/>
              </a:lnSpc>
              <a:defRPr sz="2000"/>
            </a:pPr>
            <a:r>
              <a:rPr lang="en-US" dirty="0"/>
              <a:t>HR may struggle to shift from traditional methods. </a:t>
            </a:r>
          </a:p>
          <a:p>
            <a:pPr algn="just">
              <a:lnSpc>
                <a:spcPct val="150000"/>
              </a:lnSpc>
              <a:defRPr sz="2000"/>
            </a:pPr>
            <a:r>
              <a:rPr lang="en-US" dirty="0"/>
              <a:t>Misunderstandings like “Agile means no rules” slow down adoption.</a:t>
            </a:r>
          </a:p>
          <a:p>
            <a:pPr algn="just">
              <a:lnSpc>
                <a:spcPct val="150000"/>
              </a:lnSpc>
              <a:defRPr sz="2000"/>
            </a:pPr>
            <a:r>
              <a:rPr lang="en-US" dirty="0"/>
              <a:t>Requires mindset change across the organization</a:t>
            </a:r>
            <a:endParaRPr dirty="0"/>
          </a:p>
        </p:txBody>
      </p:sp>
      <p:pic>
        <p:nvPicPr>
          <p:cNvPr id="6147" name="Picture 3" descr="The Impact of Lazy Employees: Navigating Productivity Challenges in the Workplace&#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21867" y="2565473"/>
            <a:ext cx="3285066" cy="347257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wipe dir="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Real-World Examples</a:t>
            </a:r>
            <a:endParaRPr dirty="0"/>
          </a:p>
        </p:txBody>
      </p:sp>
      <p:sp>
        <p:nvSpPr>
          <p:cNvPr id="3" name="Content Placeholder 2"/>
          <p:cNvSpPr>
            <a:spLocks noGrp="1"/>
          </p:cNvSpPr>
          <p:nvPr>
            <p:ph idx="1"/>
          </p:nvPr>
        </p:nvSpPr>
        <p:spPr>
          <a:xfrm>
            <a:off x="805797" y="2433126"/>
            <a:ext cx="7532405" cy="3599316"/>
          </a:xfrm>
        </p:spPr>
        <p:txBody>
          <a:bodyPr>
            <a:normAutofit/>
          </a:bodyPr>
          <a:lstStyle/>
          <a:p>
            <a:pPr>
              <a:lnSpc>
                <a:spcPct val="150000"/>
              </a:lnSpc>
              <a:defRPr sz="2000"/>
            </a:pPr>
            <a:r>
              <a:rPr lang="en-US" b="1" dirty="0"/>
              <a:t>Spotify</a:t>
            </a:r>
            <a:r>
              <a:rPr lang="en-US" dirty="0"/>
              <a:t>: uses “</a:t>
            </a:r>
            <a:r>
              <a:rPr lang="en-US" b="1" dirty="0"/>
              <a:t>squads</a:t>
            </a:r>
            <a:r>
              <a:rPr lang="en-US" dirty="0"/>
              <a:t>” for quick decisions and innovation.</a:t>
            </a:r>
          </a:p>
          <a:p>
            <a:pPr>
              <a:lnSpc>
                <a:spcPct val="150000"/>
              </a:lnSpc>
              <a:defRPr sz="2000"/>
            </a:pPr>
            <a:r>
              <a:rPr lang="en-US" b="1" dirty="0"/>
              <a:t>Google</a:t>
            </a:r>
            <a:r>
              <a:rPr lang="en-US" dirty="0"/>
              <a:t>: continuous feedback culture replaces annual reviews.</a:t>
            </a:r>
          </a:p>
          <a:p>
            <a:pPr>
              <a:lnSpc>
                <a:spcPct val="150000"/>
              </a:lnSpc>
              <a:defRPr sz="2000"/>
            </a:pPr>
            <a:r>
              <a:rPr lang="en-US" b="1" dirty="0"/>
              <a:t>ING</a:t>
            </a:r>
            <a:r>
              <a:rPr lang="en-US" dirty="0"/>
              <a:t> </a:t>
            </a:r>
            <a:r>
              <a:rPr lang="en-US" b="1" dirty="0"/>
              <a:t>Bank</a:t>
            </a:r>
            <a:r>
              <a:rPr lang="en-US" dirty="0"/>
              <a:t>: small cross-functional HR teams for faster workflows. </a:t>
            </a:r>
          </a:p>
          <a:p>
            <a:pPr marL="0" indent="0" algn="ctr">
              <a:lnSpc>
                <a:spcPct val="150000"/>
              </a:lnSpc>
              <a:buNone/>
              <a:defRPr sz="2000"/>
            </a:pPr>
            <a:r>
              <a:rPr lang="en-US" dirty="0"/>
              <a:t>These companies show how Agile improves speed and responsiveness</a:t>
            </a:r>
            <a:endParaRPr b="1" dirty="0"/>
          </a:p>
        </p:txBody>
      </p:sp>
    </p:spTree>
  </p:cSld>
  <p:clrMapOvr>
    <a:masterClrMapping/>
  </p:clrMapOvr>
  <p:transition spd="slow">
    <p:wipe dir="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Real-World Examples</a:t>
            </a:r>
            <a:endParaRPr dirty="0"/>
          </a:p>
        </p:txBody>
      </p:sp>
      <p:sp>
        <p:nvSpPr>
          <p:cNvPr id="5" name="Content Placeholder 4"/>
          <p:cNvSpPr>
            <a:spLocks noGrp="1"/>
          </p:cNvSpPr>
          <p:nvPr>
            <p:ph idx="1"/>
          </p:nvPr>
        </p:nvSpPr>
        <p:spPr>
          <a:xfrm>
            <a:off x="162983" y="2100287"/>
            <a:ext cx="5018617" cy="4319131"/>
          </a:xfrm>
          <a:prstGeom prst="rect">
            <a:avLst/>
          </a:prstGeom>
        </p:spPr>
        <p:txBody>
          <a:bodyPr wrap="square">
            <a:spAutoFit/>
          </a:bodyPr>
          <a:lstStyle/>
          <a:p>
            <a:pPr marL="0" indent="0">
              <a:lnSpc>
                <a:spcPct val="150000"/>
              </a:lnSpc>
              <a:buNone/>
              <a:defRPr sz="2000"/>
            </a:pPr>
            <a:r>
              <a:rPr lang="en-US" b="1" dirty="0"/>
              <a:t>Spotify Squads</a:t>
            </a:r>
          </a:p>
          <a:p>
            <a:pPr>
              <a:lnSpc>
                <a:spcPct val="150000"/>
              </a:lnSpc>
              <a:defRPr sz="2000"/>
            </a:pPr>
            <a:r>
              <a:rPr lang="en-US" sz="1900" dirty="0"/>
              <a:t>Spotify squads are small, independent teams that work like mini-startups inside the company. Each squad decides its own goals, tools, and solutions to improve one specific part of the product. </a:t>
            </a:r>
          </a:p>
          <a:p>
            <a:pPr>
              <a:lnSpc>
                <a:spcPct val="150000"/>
              </a:lnSpc>
              <a:defRPr sz="2000"/>
            </a:pPr>
            <a:r>
              <a:rPr lang="en-US" sz="1900" dirty="0"/>
              <a:t>Ex: One squad only works on the “music recommendations” feature, while another squad focuses only on “playlist creation.”</a:t>
            </a:r>
          </a:p>
        </p:txBody>
      </p:sp>
      <p:pic>
        <p:nvPicPr>
          <p:cNvPr id="7172" name="Picture 4" descr="The Spotify Squads - Practiprojec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81600" y="2641600"/>
            <a:ext cx="3708400" cy="32850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07328659"/>
      </p:ext>
    </p:extLst>
  </p:cSld>
  <p:clrMapOvr>
    <a:masterClrMapping/>
  </p:clrMapOvr>
  <p:transition spd="slow">
    <p:wipe dir="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VUCA Environment</a:t>
            </a:r>
          </a:p>
        </p:txBody>
      </p:sp>
      <p:sp>
        <p:nvSpPr>
          <p:cNvPr id="3" name="Content Placeholder 2"/>
          <p:cNvSpPr>
            <a:spLocks noGrp="1"/>
          </p:cNvSpPr>
          <p:nvPr>
            <p:ph idx="1"/>
          </p:nvPr>
        </p:nvSpPr>
        <p:spPr/>
        <p:txBody>
          <a:bodyPr/>
          <a:lstStyle/>
          <a:p>
            <a:r>
              <a:rPr lang="en-US" b="1" dirty="0"/>
              <a:t>VUCA (Volatility, Uncertainty, Complexity, Ambiguity)</a:t>
            </a:r>
            <a:r>
              <a:rPr lang="en-US" dirty="0"/>
              <a:t> is closely connected to </a:t>
            </a:r>
            <a:r>
              <a:rPr lang="en-US" b="1" dirty="0"/>
              <a:t>Agile Adaptation</a:t>
            </a:r>
            <a:r>
              <a:rPr lang="en-US" dirty="0"/>
              <a:t>, especially in </a:t>
            </a:r>
            <a:r>
              <a:rPr lang="en-US" b="1" dirty="0"/>
              <a:t>HR Management</a:t>
            </a:r>
            <a:r>
              <a:rPr lang="en-US" dirty="0"/>
              <a:t> and </a:t>
            </a:r>
            <a:r>
              <a:rPr lang="en-US" b="1" dirty="0"/>
              <a:t>Project Management</a:t>
            </a:r>
            <a:r>
              <a:rPr lang="en-US" dirty="0"/>
              <a:t>.</a:t>
            </a:r>
          </a:p>
          <a:p>
            <a:r>
              <a:rPr lang="en-US" dirty="0"/>
              <a:t>If your project has high levels of VUCA parameters, it’s a good sign that you should consider an Agile approach.</a:t>
            </a:r>
          </a:p>
          <a:p>
            <a:r>
              <a:rPr lang="en-US" dirty="0"/>
              <a:t>An agile approach will lead to better outcomes.</a:t>
            </a:r>
          </a:p>
          <a:p>
            <a:endParaRPr lang="en-US" dirty="0"/>
          </a:p>
        </p:txBody>
      </p:sp>
    </p:spTree>
    <p:extLst>
      <p:ext uri="{BB962C8B-B14F-4D97-AF65-F5344CB8AC3E}">
        <p14:creationId xmlns:p14="http://schemas.microsoft.com/office/powerpoint/2010/main" val="24946815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t>Agile Response in VUCA </a:t>
            </a:r>
            <a:r>
              <a:rPr lang="en-US" sz="3200" dirty="0" err="1"/>
              <a:t>Enironment</a:t>
            </a:r>
            <a:endParaRPr lang="en-US" sz="3200"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414250802"/>
              </p:ext>
            </p:extLst>
          </p:nvPr>
        </p:nvGraphicFramePr>
        <p:xfrm>
          <a:off x="531639" y="2105890"/>
          <a:ext cx="8127453" cy="4516584"/>
        </p:xfrm>
        <a:graphic>
          <a:graphicData uri="http://schemas.openxmlformats.org/drawingml/2006/table">
            <a:tbl>
              <a:tblPr>
                <a:tableStyleId>{08FB837D-C827-4EFA-A057-4D05807E0F7C}</a:tableStyleId>
              </a:tblPr>
              <a:tblGrid>
                <a:gridCol w="2709151">
                  <a:extLst>
                    <a:ext uri="{9D8B030D-6E8A-4147-A177-3AD203B41FA5}">
                      <a16:colId xmlns:a16="http://schemas.microsoft.com/office/drawing/2014/main" val="2778082075"/>
                    </a:ext>
                  </a:extLst>
                </a:gridCol>
                <a:gridCol w="2709151">
                  <a:extLst>
                    <a:ext uri="{9D8B030D-6E8A-4147-A177-3AD203B41FA5}">
                      <a16:colId xmlns:a16="http://schemas.microsoft.com/office/drawing/2014/main" val="2312646817"/>
                    </a:ext>
                  </a:extLst>
                </a:gridCol>
                <a:gridCol w="2709151">
                  <a:extLst>
                    <a:ext uri="{9D8B030D-6E8A-4147-A177-3AD203B41FA5}">
                      <a16:colId xmlns:a16="http://schemas.microsoft.com/office/drawing/2014/main" val="1360166936"/>
                    </a:ext>
                  </a:extLst>
                </a:gridCol>
              </a:tblGrid>
              <a:tr h="279756">
                <a:tc>
                  <a:txBody>
                    <a:bodyPr/>
                    <a:lstStyle/>
                    <a:p>
                      <a:r>
                        <a:rPr lang="en-US" sz="1100"/>
                        <a:t>VUCA Element</a:t>
                      </a:r>
                    </a:p>
                  </a:txBody>
                  <a:tcPr marL="55367" marR="55367" marT="27684" marB="27684" anchor="ctr"/>
                </a:tc>
                <a:tc>
                  <a:txBody>
                    <a:bodyPr/>
                    <a:lstStyle/>
                    <a:p>
                      <a:r>
                        <a:rPr lang="en-US" sz="1100"/>
                        <a:t>What It Means</a:t>
                      </a:r>
                    </a:p>
                  </a:txBody>
                  <a:tcPr marL="55367" marR="55367" marT="27684" marB="27684" anchor="ctr"/>
                </a:tc>
                <a:tc>
                  <a:txBody>
                    <a:bodyPr/>
                    <a:lstStyle/>
                    <a:p>
                      <a:r>
                        <a:rPr lang="en-US" sz="1100"/>
                        <a:t>How Agile Responds</a:t>
                      </a:r>
                    </a:p>
                  </a:txBody>
                  <a:tcPr marL="55367" marR="55367" marT="27684" marB="27684" anchor="ctr"/>
                </a:tc>
                <a:extLst>
                  <a:ext uri="{0D108BD9-81ED-4DB2-BD59-A6C34878D82A}">
                    <a16:rowId xmlns:a16="http://schemas.microsoft.com/office/drawing/2014/main" val="3561029993"/>
                  </a:ext>
                </a:extLst>
              </a:tr>
              <a:tr h="1111299">
                <a:tc>
                  <a:txBody>
                    <a:bodyPr/>
                    <a:lstStyle/>
                    <a:p>
                      <a:r>
                        <a:rPr lang="en-US" sz="1100"/>
                        <a:t>Volatility</a:t>
                      </a:r>
                    </a:p>
                  </a:txBody>
                  <a:tcPr marL="55367" marR="55367" marT="27684" marB="27684" anchor="ctr"/>
                </a:tc>
                <a:tc>
                  <a:txBody>
                    <a:bodyPr/>
                    <a:lstStyle/>
                    <a:p>
                      <a:r>
                        <a:rPr lang="en-US" sz="1100"/>
                        <a:t>Frequent and unpredictable changes</a:t>
                      </a:r>
                    </a:p>
                  </a:txBody>
                  <a:tcPr marL="55367" marR="55367" marT="27684" marB="27684" anchor="ctr"/>
                </a:tc>
                <a:tc>
                  <a:txBody>
                    <a:bodyPr/>
                    <a:lstStyle/>
                    <a:p>
                      <a:r>
                        <a:rPr lang="en-US" sz="1100"/>
                        <a:t>Agile uses short iterations, continuous feedback, and flexible planning</a:t>
                      </a:r>
                    </a:p>
                  </a:txBody>
                  <a:tcPr marL="55367" marR="55367" marT="27684" marB="27684" anchor="ctr"/>
                </a:tc>
                <a:extLst>
                  <a:ext uri="{0D108BD9-81ED-4DB2-BD59-A6C34878D82A}">
                    <a16:rowId xmlns:a16="http://schemas.microsoft.com/office/drawing/2014/main" val="3313894424"/>
                  </a:ext>
                </a:extLst>
              </a:tr>
              <a:tr h="902931">
                <a:tc>
                  <a:txBody>
                    <a:bodyPr/>
                    <a:lstStyle/>
                    <a:p>
                      <a:r>
                        <a:rPr lang="en-US" sz="1100"/>
                        <a:t>Uncertainty</a:t>
                      </a:r>
                    </a:p>
                  </a:txBody>
                  <a:tcPr marL="55367" marR="55367" marT="27684" marB="27684" anchor="ctr"/>
                </a:tc>
                <a:tc>
                  <a:txBody>
                    <a:bodyPr/>
                    <a:lstStyle/>
                    <a:p>
                      <a:r>
                        <a:rPr lang="en-US" sz="1100"/>
                        <a:t>Lack of clarity about the present or future</a:t>
                      </a:r>
                    </a:p>
                  </a:txBody>
                  <a:tcPr marL="55367" marR="55367" marT="27684" marB="27684" anchor="ctr"/>
                </a:tc>
                <a:tc>
                  <a:txBody>
                    <a:bodyPr/>
                    <a:lstStyle/>
                    <a:p>
                      <a:r>
                        <a:rPr lang="en-US" sz="1100"/>
                        <a:t>Agile emphasizes experiments, quick learning, and adaptability</a:t>
                      </a:r>
                    </a:p>
                  </a:txBody>
                  <a:tcPr marL="55367" marR="55367" marT="27684" marB="27684" anchor="ctr"/>
                </a:tc>
                <a:extLst>
                  <a:ext uri="{0D108BD9-81ED-4DB2-BD59-A6C34878D82A}">
                    <a16:rowId xmlns:a16="http://schemas.microsoft.com/office/drawing/2014/main" val="3144234912"/>
                  </a:ext>
                </a:extLst>
              </a:tr>
              <a:tr h="1111299">
                <a:tc>
                  <a:txBody>
                    <a:bodyPr/>
                    <a:lstStyle/>
                    <a:p>
                      <a:r>
                        <a:rPr lang="en-US" sz="1100"/>
                        <a:t>Complexity</a:t>
                      </a:r>
                    </a:p>
                  </a:txBody>
                  <a:tcPr marL="55367" marR="55367" marT="27684" marB="27684" anchor="ctr"/>
                </a:tc>
                <a:tc>
                  <a:txBody>
                    <a:bodyPr/>
                    <a:lstStyle/>
                    <a:p>
                      <a:r>
                        <a:rPr lang="en-US" sz="1100"/>
                        <a:t>Many interconnected variables</a:t>
                      </a:r>
                    </a:p>
                  </a:txBody>
                  <a:tcPr marL="55367" marR="55367" marT="27684" marB="27684" anchor="ctr"/>
                </a:tc>
                <a:tc>
                  <a:txBody>
                    <a:bodyPr/>
                    <a:lstStyle/>
                    <a:p>
                      <a:r>
                        <a:rPr lang="en-US" sz="1100"/>
                        <a:t>Agile breaks work into smaller tasks and encourages cross-functional teams</a:t>
                      </a:r>
                    </a:p>
                  </a:txBody>
                  <a:tcPr marL="55367" marR="55367" marT="27684" marB="27684" anchor="ctr"/>
                </a:tc>
                <a:extLst>
                  <a:ext uri="{0D108BD9-81ED-4DB2-BD59-A6C34878D82A}">
                    <a16:rowId xmlns:a16="http://schemas.microsoft.com/office/drawing/2014/main" val="3403533007"/>
                  </a:ext>
                </a:extLst>
              </a:tr>
              <a:tr h="1111299">
                <a:tc>
                  <a:txBody>
                    <a:bodyPr/>
                    <a:lstStyle/>
                    <a:p>
                      <a:r>
                        <a:rPr lang="en-US" sz="1100"/>
                        <a:t>Ambiguity</a:t>
                      </a:r>
                    </a:p>
                  </a:txBody>
                  <a:tcPr marL="55367" marR="55367" marT="27684" marB="27684" anchor="ctr"/>
                </a:tc>
                <a:tc>
                  <a:txBody>
                    <a:bodyPr/>
                    <a:lstStyle/>
                    <a:p>
                      <a:r>
                        <a:rPr lang="en-US" sz="1100"/>
                        <a:t>No clear cause-effect, unclear instructions</a:t>
                      </a:r>
                    </a:p>
                  </a:txBody>
                  <a:tcPr marL="55367" marR="55367" marT="27684" marB="27684" anchor="ctr"/>
                </a:tc>
                <a:tc>
                  <a:txBody>
                    <a:bodyPr/>
                    <a:lstStyle/>
                    <a:p>
                      <a:r>
                        <a:rPr lang="en-US" sz="1100" dirty="0"/>
                        <a:t>Agile promotes clarity through collaboration, stand-ups, and refinement</a:t>
                      </a:r>
                    </a:p>
                  </a:txBody>
                  <a:tcPr marL="55367" marR="55367" marT="27684" marB="27684" anchor="ctr"/>
                </a:tc>
                <a:extLst>
                  <a:ext uri="{0D108BD9-81ED-4DB2-BD59-A6C34878D82A}">
                    <a16:rowId xmlns:a16="http://schemas.microsoft.com/office/drawing/2014/main" val="3386486850"/>
                  </a:ext>
                </a:extLst>
              </a:tr>
            </a:tbl>
          </a:graphicData>
        </a:graphic>
      </p:graphicFrame>
    </p:spTree>
    <p:extLst>
      <p:ext uri="{BB962C8B-B14F-4D97-AF65-F5344CB8AC3E}">
        <p14:creationId xmlns:p14="http://schemas.microsoft.com/office/powerpoint/2010/main" val="40675309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10977058"/>
              </p:ext>
            </p:extLst>
          </p:nvPr>
        </p:nvGraphicFramePr>
        <p:xfrm>
          <a:off x="671361" y="2336800"/>
          <a:ext cx="8084712" cy="4105564"/>
        </p:xfrm>
        <a:graphic>
          <a:graphicData uri="http://schemas.openxmlformats.org/drawingml/2006/table">
            <a:tbl>
              <a:tblPr>
                <a:tableStyleId>{08FB837D-C827-4EFA-A057-4D05807E0F7C}</a:tableStyleId>
              </a:tblPr>
              <a:tblGrid>
                <a:gridCol w="2694904">
                  <a:extLst>
                    <a:ext uri="{9D8B030D-6E8A-4147-A177-3AD203B41FA5}">
                      <a16:colId xmlns:a16="http://schemas.microsoft.com/office/drawing/2014/main" val="3294832580"/>
                    </a:ext>
                  </a:extLst>
                </a:gridCol>
                <a:gridCol w="2694904">
                  <a:extLst>
                    <a:ext uri="{9D8B030D-6E8A-4147-A177-3AD203B41FA5}">
                      <a16:colId xmlns:a16="http://schemas.microsoft.com/office/drawing/2014/main" val="3024999482"/>
                    </a:ext>
                  </a:extLst>
                </a:gridCol>
                <a:gridCol w="2694904">
                  <a:extLst>
                    <a:ext uri="{9D8B030D-6E8A-4147-A177-3AD203B41FA5}">
                      <a16:colId xmlns:a16="http://schemas.microsoft.com/office/drawing/2014/main" val="18518174"/>
                    </a:ext>
                  </a:extLst>
                </a:gridCol>
              </a:tblGrid>
              <a:tr h="400543">
                <a:tc>
                  <a:txBody>
                    <a:bodyPr/>
                    <a:lstStyle/>
                    <a:p>
                      <a:r>
                        <a:rPr lang="en-US" sz="1700"/>
                        <a:t>VUCA Challenge</a:t>
                      </a:r>
                    </a:p>
                  </a:txBody>
                  <a:tcPr marL="87777" marR="87777" marT="43889" marB="43889" anchor="ctr"/>
                </a:tc>
                <a:tc>
                  <a:txBody>
                    <a:bodyPr/>
                    <a:lstStyle/>
                    <a:p>
                      <a:r>
                        <a:rPr lang="en-US" sz="1700" dirty="0"/>
                        <a:t>Healthcare Example</a:t>
                      </a:r>
                    </a:p>
                  </a:txBody>
                  <a:tcPr marL="87777" marR="87777" marT="43889" marB="43889" anchor="ctr"/>
                </a:tc>
                <a:tc>
                  <a:txBody>
                    <a:bodyPr/>
                    <a:lstStyle/>
                    <a:p>
                      <a:r>
                        <a:rPr lang="en-US" sz="1700"/>
                        <a:t>Agile Response</a:t>
                      </a:r>
                    </a:p>
                  </a:txBody>
                  <a:tcPr marL="87777" marR="87777" marT="43889" marB="43889" anchor="ctr"/>
                </a:tc>
                <a:extLst>
                  <a:ext uri="{0D108BD9-81ED-4DB2-BD59-A6C34878D82A}">
                    <a16:rowId xmlns:a16="http://schemas.microsoft.com/office/drawing/2014/main" val="3449212839"/>
                  </a:ext>
                </a:extLst>
              </a:tr>
              <a:tr h="1001357">
                <a:tc>
                  <a:txBody>
                    <a:bodyPr/>
                    <a:lstStyle/>
                    <a:p>
                      <a:r>
                        <a:rPr lang="en-US" sz="1700"/>
                        <a:t>Volatility</a:t>
                      </a:r>
                    </a:p>
                  </a:txBody>
                  <a:tcPr marL="87777" marR="87777" marT="43889" marB="43889" anchor="ctr"/>
                </a:tc>
                <a:tc>
                  <a:txBody>
                    <a:bodyPr/>
                    <a:lstStyle/>
                    <a:p>
                      <a:r>
                        <a:rPr lang="en-US" sz="1700"/>
                        <a:t>Sudden patient load increase</a:t>
                      </a:r>
                    </a:p>
                  </a:txBody>
                  <a:tcPr marL="87777" marR="87777" marT="43889" marB="43889" anchor="ctr"/>
                </a:tc>
                <a:tc>
                  <a:txBody>
                    <a:bodyPr/>
                    <a:lstStyle/>
                    <a:p>
                      <a:r>
                        <a:rPr lang="en-US" sz="1700"/>
                        <a:t>Short planning cycles, rapid staffing changes</a:t>
                      </a:r>
                    </a:p>
                  </a:txBody>
                  <a:tcPr marL="87777" marR="87777" marT="43889" marB="43889" anchor="ctr"/>
                </a:tc>
                <a:extLst>
                  <a:ext uri="{0D108BD9-81ED-4DB2-BD59-A6C34878D82A}">
                    <a16:rowId xmlns:a16="http://schemas.microsoft.com/office/drawing/2014/main" val="1411415141"/>
                  </a:ext>
                </a:extLst>
              </a:tr>
              <a:tr h="700950">
                <a:tc>
                  <a:txBody>
                    <a:bodyPr/>
                    <a:lstStyle/>
                    <a:p>
                      <a:r>
                        <a:rPr lang="en-US" sz="1700"/>
                        <a:t>Uncertainty</a:t>
                      </a:r>
                    </a:p>
                  </a:txBody>
                  <a:tcPr marL="87777" marR="87777" marT="43889" marB="43889" anchor="ctr"/>
                </a:tc>
                <a:tc>
                  <a:txBody>
                    <a:bodyPr/>
                    <a:lstStyle/>
                    <a:p>
                      <a:r>
                        <a:rPr lang="en-US" sz="1700"/>
                        <a:t>New medical guidelines</a:t>
                      </a:r>
                    </a:p>
                  </a:txBody>
                  <a:tcPr marL="87777" marR="87777" marT="43889" marB="43889" anchor="ctr"/>
                </a:tc>
                <a:tc>
                  <a:txBody>
                    <a:bodyPr/>
                    <a:lstStyle/>
                    <a:p>
                      <a:r>
                        <a:rPr lang="en-US" sz="1700"/>
                        <a:t>Training sprints, continuous updates</a:t>
                      </a:r>
                    </a:p>
                  </a:txBody>
                  <a:tcPr marL="87777" marR="87777" marT="43889" marB="43889" anchor="ctr"/>
                </a:tc>
                <a:extLst>
                  <a:ext uri="{0D108BD9-81ED-4DB2-BD59-A6C34878D82A}">
                    <a16:rowId xmlns:a16="http://schemas.microsoft.com/office/drawing/2014/main" val="2020307344"/>
                  </a:ext>
                </a:extLst>
              </a:tr>
              <a:tr h="1001357">
                <a:tc>
                  <a:txBody>
                    <a:bodyPr/>
                    <a:lstStyle/>
                    <a:p>
                      <a:r>
                        <a:rPr lang="en-US" sz="1700"/>
                        <a:t>Complexity</a:t>
                      </a:r>
                    </a:p>
                  </a:txBody>
                  <a:tcPr marL="87777" marR="87777" marT="43889" marB="43889" anchor="ctr"/>
                </a:tc>
                <a:tc>
                  <a:txBody>
                    <a:bodyPr/>
                    <a:lstStyle/>
                    <a:p>
                      <a:r>
                        <a:rPr lang="en-US" sz="1700"/>
                        <a:t>Many interdependent departments</a:t>
                      </a:r>
                    </a:p>
                  </a:txBody>
                  <a:tcPr marL="87777" marR="87777" marT="43889" marB="43889" anchor="ctr"/>
                </a:tc>
                <a:tc>
                  <a:txBody>
                    <a:bodyPr/>
                    <a:lstStyle/>
                    <a:p>
                      <a:r>
                        <a:rPr lang="en-US" sz="1700"/>
                        <a:t>Cross-functional teams, visual workflows</a:t>
                      </a:r>
                    </a:p>
                  </a:txBody>
                  <a:tcPr marL="87777" marR="87777" marT="43889" marB="43889" anchor="ctr"/>
                </a:tc>
                <a:extLst>
                  <a:ext uri="{0D108BD9-81ED-4DB2-BD59-A6C34878D82A}">
                    <a16:rowId xmlns:a16="http://schemas.microsoft.com/office/drawing/2014/main" val="2219341682"/>
                  </a:ext>
                </a:extLst>
              </a:tr>
              <a:tr h="1001357">
                <a:tc>
                  <a:txBody>
                    <a:bodyPr/>
                    <a:lstStyle/>
                    <a:p>
                      <a:r>
                        <a:rPr lang="en-US" sz="1700"/>
                        <a:t>Ambiguity</a:t>
                      </a:r>
                    </a:p>
                  </a:txBody>
                  <a:tcPr marL="87777" marR="87777" marT="43889" marB="43889" anchor="ctr"/>
                </a:tc>
                <a:tc>
                  <a:txBody>
                    <a:bodyPr/>
                    <a:lstStyle/>
                    <a:p>
                      <a:r>
                        <a:rPr lang="en-US" sz="1700"/>
                        <a:t>Unclear cause of low patient satisfaction</a:t>
                      </a:r>
                    </a:p>
                  </a:txBody>
                  <a:tcPr marL="87777" marR="87777" marT="43889" marB="43889" anchor="ctr"/>
                </a:tc>
                <a:tc>
                  <a:txBody>
                    <a:bodyPr/>
                    <a:lstStyle/>
                    <a:p>
                      <a:r>
                        <a:rPr lang="en-US" sz="1700" dirty="0"/>
                        <a:t>Pilot testing, feedback loops</a:t>
                      </a:r>
                    </a:p>
                  </a:txBody>
                  <a:tcPr marL="87777" marR="87777" marT="43889" marB="43889" anchor="ctr"/>
                </a:tc>
                <a:extLst>
                  <a:ext uri="{0D108BD9-81ED-4DB2-BD59-A6C34878D82A}">
                    <a16:rowId xmlns:a16="http://schemas.microsoft.com/office/drawing/2014/main" val="3762137269"/>
                  </a:ext>
                </a:extLst>
              </a:tr>
            </a:tbl>
          </a:graphicData>
        </a:graphic>
      </p:graphicFrame>
    </p:spTree>
    <p:extLst>
      <p:ext uri="{BB962C8B-B14F-4D97-AF65-F5344CB8AC3E}">
        <p14:creationId xmlns:p14="http://schemas.microsoft.com/office/powerpoint/2010/main" val="11613946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Conclusion</a:t>
            </a:r>
            <a:endParaRPr dirty="0"/>
          </a:p>
        </p:txBody>
      </p:sp>
      <p:sp>
        <p:nvSpPr>
          <p:cNvPr id="3" name="Content Placeholder 2"/>
          <p:cNvSpPr>
            <a:spLocks noGrp="1"/>
          </p:cNvSpPr>
          <p:nvPr>
            <p:ph idx="1"/>
          </p:nvPr>
        </p:nvSpPr>
        <p:spPr>
          <a:xfrm>
            <a:off x="404486" y="2687602"/>
            <a:ext cx="8335027" cy="3599316"/>
          </a:xfrm>
        </p:spPr>
        <p:txBody>
          <a:bodyPr/>
          <a:lstStyle/>
          <a:p>
            <a:pPr>
              <a:lnSpc>
                <a:spcPct val="150000"/>
              </a:lnSpc>
              <a:defRPr sz="2000"/>
            </a:pPr>
            <a:r>
              <a:rPr lang="en-US" dirty="0"/>
              <a:t>Agile HR = flexibility, speed, teamwork, continuous improvement.</a:t>
            </a:r>
          </a:p>
          <a:p>
            <a:pPr>
              <a:lnSpc>
                <a:spcPct val="150000"/>
              </a:lnSpc>
              <a:defRPr sz="2000"/>
            </a:pPr>
            <a:r>
              <a:rPr lang="en-US" dirty="0"/>
              <a:t>Helps HR respond better to employees and organizational needs.</a:t>
            </a:r>
          </a:p>
          <a:p>
            <a:pPr>
              <a:lnSpc>
                <a:spcPct val="150000"/>
              </a:lnSpc>
              <a:defRPr sz="2000"/>
            </a:pPr>
            <a:r>
              <a:rPr lang="en-US" dirty="0"/>
              <a:t>Makes HR processes faster, clearer, and more efficient.</a:t>
            </a:r>
          </a:p>
          <a:p>
            <a:pPr>
              <a:lnSpc>
                <a:spcPct val="150000"/>
              </a:lnSpc>
              <a:defRPr sz="2000"/>
            </a:pPr>
            <a:r>
              <a:rPr lang="en-US" dirty="0"/>
              <a:t>Agile is essential for modern, competitive organizations</a:t>
            </a:r>
            <a:endParaRPr b="1" dirty="0"/>
          </a:p>
        </p:txBody>
      </p:sp>
    </p:spTree>
  </p:cSld>
  <p:clrMapOvr>
    <a:masterClrMapping/>
  </p:clrMapOvr>
  <p:transition spd="slow">
    <p:wipe dir="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804704" y="2848708"/>
            <a:ext cx="5534592" cy="1323439"/>
          </a:xfrm>
          <a:prstGeom prst="rect">
            <a:avLst/>
          </a:prstGeom>
          <a:noFill/>
        </p:spPr>
        <p:txBody>
          <a:bodyPr wrap="none" rtlCol="0">
            <a:spAutoFit/>
          </a:bodyPr>
          <a:lstStyle/>
          <a:p>
            <a:r>
              <a:rPr lang="en-US" sz="8000" dirty="0"/>
              <a:t>THANK YOU</a:t>
            </a:r>
          </a:p>
        </p:txBody>
      </p:sp>
    </p:spTree>
    <p:extLst>
      <p:ext uri="{BB962C8B-B14F-4D97-AF65-F5344CB8AC3E}">
        <p14:creationId xmlns:p14="http://schemas.microsoft.com/office/powerpoint/2010/main" val="2570694150"/>
      </p:ext>
    </p:extLst>
  </p:cSld>
  <p:clrMapOvr>
    <a:masterClrMapping/>
  </p:clrMapOvr>
  <p:transition spd="slow">
    <p:wipe dir="r"/>
  </p:transition>
</p:sld>
</file>

<file path=ppt/theme/theme1.xml><?xml version="1.0" encoding="utf-8"?>
<a:theme xmlns:a="http://schemas.openxmlformats.org/drawingml/2006/main" name="Berlin">
  <a:themeElements>
    <a:clrScheme name="Custom 22">
      <a:dk1>
        <a:sysClr val="windowText" lastClr="000000"/>
      </a:dk1>
      <a:lt1>
        <a:sysClr val="window" lastClr="FFFFFF"/>
      </a:lt1>
      <a:dk2>
        <a:srgbClr val="39302A"/>
      </a:dk2>
      <a:lt2>
        <a:srgbClr val="E5DEDB"/>
      </a:lt2>
      <a:accent1>
        <a:srgbClr val="BCA0A0"/>
      </a:accent1>
      <a:accent2>
        <a:srgbClr val="F8931D"/>
      </a:accent2>
      <a:accent3>
        <a:srgbClr val="CE8D3E"/>
      </a:accent3>
      <a:accent4>
        <a:srgbClr val="EC7016"/>
      </a:accent4>
      <a:accent5>
        <a:srgbClr val="E64823"/>
      </a:accent5>
      <a:accent6>
        <a:srgbClr val="9C6A6A"/>
      </a:accent6>
      <a:hlink>
        <a:srgbClr val="2998E3"/>
      </a:hlink>
      <a:folHlink>
        <a:srgbClr val="7F723D"/>
      </a:folHlink>
    </a:clrScheme>
    <a:fontScheme name="Berlin">
      <a:majorFont>
        <a:latin typeface="Trebuchet MS" panose="020B0603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rebuchet MS" panose="020B0603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erlin">
      <a:fillStyleLst>
        <a:solidFill>
          <a:schemeClr val="phClr"/>
        </a:solidFill>
        <a:gradFill rotWithShape="1">
          <a:gsLst>
            <a:gs pos="0">
              <a:schemeClr val="phClr">
                <a:tint val="60000"/>
                <a:satMod val="100000"/>
                <a:lumMod val="110000"/>
              </a:schemeClr>
            </a:gs>
            <a:gs pos="100000">
              <a:schemeClr val="phClr">
                <a:tint val="70000"/>
                <a:satMod val="100000"/>
                <a:lumMod val="100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hueMod val="270000"/>
                <a:satMod val="200000"/>
                <a:lumMod val="128000"/>
              </a:schemeClr>
            </a:gs>
            <a:gs pos="50000">
              <a:schemeClr val="phClr">
                <a:shade val="100000"/>
                <a:hueMod val="100000"/>
                <a:satMod val="110000"/>
                <a:lumMod val="130000"/>
              </a:schemeClr>
            </a:gs>
            <a:gs pos="100000">
              <a:schemeClr val="phClr">
                <a:shade val="78000"/>
                <a:hueMod val="44000"/>
                <a:satMod val="200000"/>
                <a:lumMod val="69000"/>
              </a:schemeClr>
            </a:gs>
          </a:gsLst>
          <a:lin ang="2520000" scaled="0"/>
        </a:gradFill>
      </a:bgFillStyleLst>
    </a:fmtScheme>
  </a:themeElements>
  <a:objectDefaults/>
  <a:extraClrSchemeLst/>
  <a:extLst>
    <a:ext uri="{05A4C25C-085E-4340-85A3-A5531E510DB2}">
      <thm15:themeFamily xmlns:thm15="http://schemas.microsoft.com/office/thememl/2012/main" name="Berlin" id="{7B5DBA9E-B069-418E-9360-A61BDD0615A4}" vid="{C0CBE056-4EF4-4D92-969E-947779DA7AAA}"/>
    </a:ext>
  </a:extLst>
</a:theme>
</file>

<file path=docProps/app.xml><?xml version="1.0" encoding="utf-8"?>
<Properties xmlns="http://schemas.openxmlformats.org/officeDocument/2006/extended-properties" xmlns:vt="http://schemas.openxmlformats.org/officeDocument/2006/docPropsVTypes">
  <Template>TM04033917[[fn=Berlin]]</Template>
  <TotalTime>439</TotalTime>
  <Words>963</Words>
  <Application>Microsoft Office PowerPoint</Application>
  <PresentationFormat>On-screen Show (4:3)</PresentationFormat>
  <Paragraphs>138</Paragraphs>
  <Slides>24</Slides>
  <Notes>0</Notes>
  <HiddenSlides>0</HiddenSlides>
  <MMClips>0</MMClip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Berlin</vt:lpstr>
      <vt:lpstr>Agile Adaptation in HR</vt:lpstr>
      <vt:lpstr>Introduction</vt:lpstr>
      <vt:lpstr>What is Agile Adaptation</vt:lpstr>
      <vt:lpstr>PowerPoint Presentation</vt:lpstr>
      <vt:lpstr>Agile Adaptation in Human Resource</vt:lpstr>
      <vt:lpstr>Agile Principles in HR</vt:lpstr>
      <vt:lpstr>PowerPoint Presentation</vt:lpstr>
      <vt:lpstr>Agile Frameworks in HR</vt:lpstr>
      <vt:lpstr>Agile Frameworks in HR Scrum Scenario</vt:lpstr>
      <vt:lpstr>Agile Frameworks in HR Kanban Scenario</vt:lpstr>
      <vt:lpstr>Agile Frameworks in HR Kanban</vt:lpstr>
      <vt:lpstr>Agile Frameworks in HR Kanban ( Activity )</vt:lpstr>
      <vt:lpstr>Agile Frameworks in HR Lean Scenario</vt:lpstr>
      <vt:lpstr>Tradition VS Agile example</vt:lpstr>
      <vt:lpstr>Where HR Applies Agile</vt:lpstr>
      <vt:lpstr>Benefits of Agile HR</vt:lpstr>
      <vt:lpstr>Challenges in Adopting Agile</vt:lpstr>
      <vt:lpstr>Real-World Examples</vt:lpstr>
      <vt:lpstr>Real-World Examples</vt:lpstr>
      <vt:lpstr>VUCA Environment</vt:lpstr>
      <vt:lpstr>Agile Response in VUCA Enironment</vt:lpstr>
      <vt:lpstr>Example</vt:lpstr>
      <vt:lpstr>Conclusion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Study of Personal Pronouns in the Holy Qur’an</dc:title>
  <dc:subject/>
  <dc:creator>Dell</dc:creator>
  <cp:keywords/>
  <dc:description>generated using python-pptx</dc:description>
  <cp:lastModifiedBy>Warda Zubair</cp:lastModifiedBy>
  <cp:revision>51</cp:revision>
  <dcterms:created xsi:type="dcterms:W3CDTF">2013-01-27T09:14:16Z</dcterms:created>
  <dcterms:modified xsi:type="dcterms:W3CDTF">2025-12-06T19:11:43Z</dcterms:modified>
  <cp:category/>
</cp:coreProperties>
</file>