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44" r:id="rId2"/>
    <p:sldId id="345" r:id="rId3"/>
    <p:sldId id="347" r:id="rId4"/>
    <p:sldId id="348" r:id="rId5"/>
    <p:sldId id="351" r:id="rId6"/>
    <p:sldId id="349" r:id="rId7"/>
    <p:sldId id="353" r:id="rId8"/>
    <p:sldId id="354" r:id="rId9"/>
    <p:sldId id="355" r:id="rId10"/>
    <p:sldId id="356" r:id="rId11"/>
    <p:sldId id="358" r:id="rId12"/>
    <p:sldId id="360" r:id="rId13"/>
    <p:sldId id="361" r:id="rId14"/>
    <p:sldId id="362" r:id="rId15"/>
    <p:sldId id="363" r:id="rId16"/>
    <p:sldId id="365" r:id="rId17"/>
    <p:sldId id="364" r:id="rId18"/>
    <p:sldId id="367" r:id="rId19"/>
    <p:sldId id="368" r:id="rId20"/>
    <p:sldId id="369" r:id="rId21"/>
    <p:sldId id="501" r:id="rId22"/>
    <p:sldId id="370" r:id="rId23"/>
    <p:sldId id="371" r:id="rId24"/>
    <p:sldId id="372" r:id="rId25"/>
    <p:sldId id="373" r:id="rId26"/>
    <p:sldId id="376" r:id="rId27"/>
    <p:sldId id="377" r:id="rId28"/>
    <p:sldId id="378" r:id="rId29"/>
    <p:sldId id="379" r:id="rId30"/>
    <p:sldId id="380" r:id="rId31"/>
    <p:sldId id="375" r:id="rId32"/>
    <p:sldId id="381" r:id="rId33"/>
    <p:sldId id="383" r:id="rId34"/>
    <p:sldId id="384" r:id="rId35"/>
    <p:sldId id="38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Machine A Vs Machine</a:t>
            </a:r>
            <a:r>
              <a:rPr lang="en-US" baseline="0"/>
              <a:t> B</a:t>
            </a:r>
            <a:endParaRPr lang="en-US"/>
          </a:p>
        </c:rich>
      </c:tx>
      <c:overlay val="0"/>
      <c:spPr>
        <a:noFill/>
        <a:ln>
          <a:noFill/>
        </a:ln>
        <a:effectLst/>
      </c:spPr>
    </c:title>
    <c:autoTitleDeleted val="0"/>
    <c:plotArea>
      <c:layout/>
      <c:barChart>
        <c:barDir val="col"/>
        <c:grouping val="clustered"/>
        <c:varyColors val="0"/>
        <c:ser>
          <c:idx val="0"/>
          <c:order val="0"/>
          <c:tx>
            <c:strRef>
              <c:f>Sheet1!$A$1</c:f>
              <c:strCache>
                <c:ptCount val="1"/>
                <c:pt idx="0">
                  <c:v>Machine A</c:v>
                </c:pt>
              </c:strCache>
            </c:strRef>
          </c:tx>
          <c:spPr>
            <a:solidFill>
              <a:schemeClr val="accent1"/>
            </a:solidFill>
            <a:ln>
              <a:noFill/>
            </a:ln>
            <a:effectLst/>
          </c:spPr>
          <c:invertIfNegative val="0"/>
          <c:val>
            <c:numRef>
              <c:f>Sheet1!$A$2:$A$8</c:f>
              <c:numCache>
                <c:formatCode>General</c:formatCode>
                <c:ptCount val="7"/>
                <c:pt idx="0">
                  <c:v>4</c:v>
                </c:pt>
                <c:pt idx="1">
                  <c:v>8</c:v>
                </c:pt>
                <c:pt idx="2">
                  <c:v>7</c:v>
                </c:pt>
                <c:pt idx="3">
                  <c:v>15</c:v>
                </c:pt>
                <c:pt idx="4">
                  <c:v>16</c:v>
                </c:pt>
                <c:pt idx="5">
                  <c:v>20</c:v>
                </c:pt>
                <c:pt idx="6">
                  <c:v>14</c:v>
                </c:pt>
              </c:numCache>
            </c:numRef>
          </c:val>
          <c:extLst>
            <c:ext xmlns:c16="http://schemas.microsoft.com/office/drawing/2014/chart" uri="{C3380CC4-5D6E-409C-BE32-E72D297353CC}">
              <c16:uniqueId val="{00000000-C913-4EEF-930D-ADCBF29FBF46}"/>
            </c:ext>
          </c:extLst>
        </c:ser>
        <c:ser>
          <c:idx val="1"/>
          <c:order val="1"/>
          <c:tx>
            <c:strRef>
              <c:f>Sheet1!$B$1</c:f>
              <c:strCache>
                <c:ptCount val="1"/>
                <c:pt idx="0">
                  <c:v>Machine B</c:v>
                </c:pt>
              </c:strCache>
            </c:strRef>
          </c:tx>
          <c:spPr>
            <a:solidFill>
              <a:schemeClr val="accent2"/>
            </a:solidFill>
            <a:ln>
              <a:noFill/>
            </a:ln>
            <a:effectLst/>
          </c:spPr>
          <c:invertIfNegative val="0"/>
          <c:val>
            <c:numRef>
              <c:f>Sheet1!$B$2:$B$8</c:f>
              <c:numCache>
                <c:formatCode>General</c:formatCode>
                <c:ptCount val="7"/>
                <c:pt idx="0">
                  <c:v>5</c:v>
                </c:pt>
                <c:pt idx="1">
                  <c:v>10</c:v>
                </c:pt>
                <c:pt idx="2">
                  <c:v>5</c:v>
                </c:pt>
                <c:pt idx="3">
                  <c:v>12</c:v>
                </c:pt>
                <c:pt idx="4">
                  <c:v>15</c:v>
                </c:pt>
                <c:pt idx="5">
                  <c:v>18</c:v>
                </c:pt>
                <c:pt idx="6">
                  <c:v>15</c:v>
                </c:pt>
              </c:numCache>
            </c:numRef>
          </c:val>
          <c:extLst>
            <c:ext xmlns:c16="http://schemas.microsoft.com/office/drawing/2014/chart" uri="{C3380CC4-5D6E-409C-BE32-E72D297353CC}">
              <c16:uniqueId val="{00000001-C913-4EEF-930D-ADCBF29FBF46}"/>
            </c:ext>
          </c:extLst>
        </c:ser>
        <c:dLbls>
          <c:showLegendKey val="0"/>
          <c:showVal val="0"/>
          <c:showCatName val="0"/>
          <c:showSerName val="0"/>
          <c:showPercent val="0"/>
          <c:showBubbleSize val="0"/>
        </c:dLbls>
        <c:gapWidth val="219"/>
        <c:overlap val="-27"/>
        <c:axId val="201321856"/>
        <c:axId val="201323648"/>
      </c:barChart>
      <c:catAx>
        <c:axId val="20132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323648"/>
        <c:crosses val="autoZero"/>
        <c:auto val="1"/>
        <c:lblAlgn val="ctr"/>
        <c:lblOffset val="100"/>
        <c:noMultiLvlLbl val="0"/>
      </c:catAx>
      <c:valAx>
        <c:axId val="2013236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3218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0"/>
          <c:order val="0"/>
          <c:tx>
            <c:strRef>
              <c:f>Sheet1!$A$1</c:f>
              <c:strCache>
                <c:ptCount val="1"/>
                <c:pt idx="0">
                  <c:v>Machine A</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Sheet1!$A$2:$A$8</c:f>
              <c:numCache>
                <c:formatCode>General</c:formatCode>
                <c:ptCount val="7"/>
                <c:pt idx="0">
                  <c:v>4</c:v>
                </c:pt>
                <c:pt idx="1">
                  <c:v>8</c:v>
                </c:pt>
                <c:pt idx="2">
                  <c:v>7</c:v>
                </c:pt>
                <c:pt idx="3">
                  <c:v>15</c:v>
                </c:pt>
                <c:pt idx="4">
                  <c:v>16</c:v>
                </c:pt>
                <c:pt idx="5">
                  <c:v>20</c:v>
                </c:pt>
                <c:pt idx="6">
                  <c:v>14</c:v>
                </c:pt>
              </c:numCache>
            </c:numRef>
          </c:val>
          <c:extLst>
            <c:ext xmlns:c16="http://schemas.microsoft.com/office/drawing/2014/chart" uri="{C3380CC4-5D6E-409C-BE32-E72D297353CC}">
              <c16:uniqueId val="{00000000-216F-44B4-89F8-6793BD7314BC}"/>
            </c:ext>
          </c:extLst>
        </c:ser>
        <c:ser>
          <c:idx val="1"/>
          <c:order val="1"/>
          <c:tx>
            <c:strRef>
              <c:f>Sheet1!$B$1</c:f>
              <c:strCache>
                <c:ptCount val="1"/>
                <c:pt idx="0">
                  <c:v>Machine B</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Sheet1!$B$2:$B$8</c:f>
              <c:numCache>
                <c:formatCode>General</c:formatCode>
                <c:ptCount val="7"/>
                <c:pt idx="0">
                  <c:v>5</c:v>
                </c:pt>
                <c:pt idx="1">
                  <c:v>10</c:v>
                </c:pt>
                <c:pt idx="2">
                  <c:v>5</c:v>
                </c:pt>
                <c:pt idx="3">
                  <c:v>12</c:v>
                </c:pt>
                <c:pt idx="4">
                  <c:v>15</c:v>
                </c:pt>
                <c:pt idx="5">
                  <c:v>18</c:v>
                </c:pt>
                <c:pt idx="6">
                  <c:v>15</c:v>
                </c:pt>
              </c:numCache>
            </c:numRef>
          </c:val>
          <c:extLst>
            <c:ext xmlns:c16="http://schemas.microsoft.com/office/drawing/2014/chart" uri="{C3380CC4-5D6E-409C-BE32-E72D297353CC}">
              <c16:uniqueId val="{00000001-216F-44B4-89F8-6793BD7314BC}"/>
            </c:ext>
          </c:extLst>
        </c:ser>
        <c:dLbls>
          <c:showLegendKey val="0"/>
          <c:showVal val="0"/>
          <c:showCatName val="0"/>
          <c:showSerName val="0"/>
          <c:showPercent val="0"/>
          <c:showBubbleSize val="0"/>
        </c:dLbls>
        <c:gapWidth val="150"/>
        <c:overlap val="100"/>
        <c:axId val="201403008"/>
        <c:axId val="201412992"/>
      </c:barChart>
      <c:catAx>
        <c:axId val="201403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412992"/>
        <c:crosses val="autoZero"/>
        <c:auto val="1"/>
        <c:lblAlgn val="ctr"/>
        <c:lblOffset val="100"/>
        <c:noMultiLvlLbl val="0"/>
      </c:catAx>
      <c:valAx>
        <c:axId val="2014129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403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6E5A76-8460-4227-B46B-3AB06271D5EC}" type="datetimeFigureOut">
              <a:rPr lang="en-US" smtClean="0"/>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0CC4B-D1CA-44D2-8EF6-4A0EEDBA98FB}" type="slidenum">
              <a:rPr lang="en-US" smtClean="0"/>
              <a:t>‹#›</a:t>
            </a:fld>
            <a:endParaRPr lang="en-US"/>
          </a:p>
        </p:txBody>
      </p:sp>
    </p:spTree>
    <p:extLst>
      <p:ext uri="{BB962C8B-B14F-4D97-AF65-F5344CB8AC3E}">
        <p14:creationId xmlns:p14="http://schemas.microsoft.com/office/powerpoint/2010/main" val="3889457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a:t>
            </a:fld>
            <a:endParaRPr lang="en-US"/>
          </a:p>
        </p:txBody>
      </p:sp>
    </p:spTree>
    <p:extLst>
      <p:ext uri="{BB962C8B-B14F-4D97-AF65-F5344CB8AC3E}">
        <p14:creationId xmlns:p14="http://schemas.microsoft.com/office/powerpoint/2010/main" val="3054398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a:t>
            </a:fld>
            <a:endParaRPr lang="en-US"/>
          </a:p>
        </p:txBody>
      </p:sp>
    </p:spTree>
    <p:extLst>
      <p:ext uri="{BB962C8B-B14F-4D97-AF65-F5344CB8AC3E}">
        <p14:creationId xmlns:p14="http://schemas.microsoft.com/office/powerpoint/2010/main" val="2870523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3</a:t>
            </a:fld>
            <a:endParaRPr lang="en-US"/>
          </a:p>
        </p:txBody>
      </p:sp>
    </p:spTree>
    <p:extLst>
      <p:ext uri="{BB962C8B-B14F-4D97-AF65-F5344CB8AC3E}">
        <p14:creationId xmlns:p14="http://schemas.microsoft.com/office/powerpoint/2010/main" val="473949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4</a:t>
            </a:fld>
            <a:endParaRPr lang="en-US"/>
          </a:p>
        </p:txBody>
      </p:sp>
    </p:spTree>
    <p:extLst>
      <p:ext uri="{BB962C8B-B14F-4D97-AF65-F5344CB8AC3E}">
        <p14:creationId xmlns:p14="http://schemas.microsoft.com/office/powerpoint/2010/main" val="2561975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5</a:t>
            </a:fld>
            <a:endParaRPr lang="en-US"/>
          </a:p>
        </p:txBody>
      </p:sp>
    </p:spTree>
    <p:extLst>
      <p:ext uri="{BB962C8B-B14F-4D97-AF65-F5344CB8AC3E}">
        <p14:creationId xmlns:p14="http://schemas.microsoft.com/office/powerpoint/2010/main" val="3351399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6</a:t>
            </a:fld>
            <a:endParaRPr lang="en-US"/>
          </a:p>
        </p:txBody>
      </p:sp>
    </p:spTree>
    <p:extLst>
      <p:ext uri="{BB962C8B-B14F-4D97-AF65-F5344CB8AC3E}">
        <p14:creationId xmlns:p14="http://schemas.microsoft.com/office/powerpoint/2010/main" val="4286439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7</a:t>
            </a:fld>
            <a:endParaRPr lang="en-US"/>
          </a:p>
        </p:txBody>
      </p:sp>
    </p:spTree>
    <p:extLst>
      <p:ext uri="{BB962C8B-B14F-4D97-AF65-F5344CB8AC3E}">
        <p14:creationId xmlns:p14="http://schemas.microsoft.com/office/powerpoint/2010/main" val="502812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8</a:t>
            </a:fld>
            <a:endParaRPr lang="en-US"/>
          </a:p>
        </p:txBody>
      </p:sp>
    </p:spTree>
    <p:extLst>
      <p:ext uri="{BB962C8B-B14F-4D97-AF65-F5344CB8AC3E}">
        <p14:creationId xmlns:p14="http://schemas.microsoft.com/office/powerpoint/2010/main" val="197863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9</a:t>
            </a:fld>
            <a:endParaRPr lang="en-US"/>
          </a:p>
        </p:txBody>
      </p:sp>
    </p:spTree>
    <p:extLst>
      <p:ext uri="{BB962C8B-B14F-4D97-AF65-F5344CB8AC3E}">
        <p14:creationId xmlns:p14="http://schemas.microsoft.com/office/powerpoint/2010/main" val="24069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10</a:t>
            </a:fld>
            <a:endParaRPr lang="en-US"/>
          </a:p>
        </p:txBody>
      </p:sp>
    </p:spTree>
    <p:extLst>
      <p:ext uri="{BB962C8B-B14F-4D97-AF65-F5344CB8AC3E}">
        <p14:creationId xmlns:p14="http://schemas.microsoft.com/office/powerpoint/2010/main" val="2994051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11</a:t>
            </a:fld>
            <a:endParaRPr lang="en-US"/>
          </a:p>
        </p:txBody>
      </p:sp>
    </p:spTree>
    <p:extLst>
      <p:ext uri="{BB962C8B-B14F-4D97-AF65-F5344CB8AC3E}">
        <p14:creationId xmlns:p14="http://schemas.microsoft.com/office/powerpoint/2010/main" val="1341748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12</a:t>
            </a:fld>
            <a:endParaRPr lang="en-US"/>
          </a:p>
        </p:txBody>
      </p:sp>
    </p:spTree>
    <p:extLst>
      <p:ext uri="{BB962C8B-B14F-4D97-AF65-F5344CB8AC3E}">
        <p14:creationId xmlns:p14="http://schemas.microsoft.com/office/powerpoint/2010/main" val="2086623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13</a:t>
            </a:fld>
            <a:endParaRPr lang="en-US"/>
          </a:p>
        </p:txBody>
      </p:sp>
    </p:spTree>
    <p:extLst>
      <p:ext uri="{BB962C8B-B14F-4D97-AF65-F5344CB8AC3E}">
        <p14:creationId xmlns:p14="http://schemas.microsoft.com/office/powerpoint/2010/main" val="1239005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14</a:t>
            </a:fld>
            <a:endParaRPr lang="en-US"/>
          </a:p>
        </p:txBody>
      </p:sp>
    </p:spTree>
    <p:extLst>
      <p:ext uri="{BB962C8B-B14F-4D97-AF65-F5344CB8AC3E}">
        <p14:creationId xmlns:p14="http://schemas.microsoft.com/office/powerpoint/2010/main" val="2638435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15</a:t>
            </a:fld>
            <a:endParaRPr lang="en-US"/>
          </a:p>
        </p:txBody>
      </p:sp>
    </p:spTree>
    <p:extLst>
      <p:ext uri="{BB962C8B-B14F-4D97-AF65-F5344CB8AC3E}">
        <p14:creationId xmlns:p14="http://schemas.microsoft.com/office/powerpoint/2010/main" val="2859038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17</a:t>
            </a:fld>
            <a:endParaRPr lang="en-US"/>
          </a:p>
        </p:txBody>
      </p:sp>
    </p:spTree>
    <p:extLst>
      <p:ext uri="{BB962C8B-B14F-4D97-AF65-F5344CB8AC3E}">
        <p14:creationId xmlns:p14="http://schemas.microsoft.com/office/powerpoint/2010/main" val="2669867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18</a:t>
            </a:fld>
            <a:endParaRPr lang="en-US"/>
          </a:p>
        </p:txBody>
      </p:sp>
    </p:spTree>
    <p:extLst>
      <p:ext uri="{BB962C8B-B14F-4D97-AF65-F5344CB8AC3E}">
        <p14:creationId xmlns:p14="http://schemas.microsoft.com/office/powerpoint/2010/main" val="1483797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19</a:t>
            </a:fld>
            <a:endParaRPr lang="en-US"/>
          </a:p>
        </p:txBody>
      </p:sp>
    </p:spTree>
    <p:extLst>
      <p:ext uri="{BB962C8B-B14F-4D97-AF65-F5344CB8AC3E}">
        <p14:creationId xmlns:p14="http://schemas.microsoft.com/office/powerpoint/2010/main" val="346246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20</a:t>
            </a:fld>
            <a:endParaRPr lang="en-US"/>
          </a:p>
        </p:txBody>
      </p:sp>
    </p:spTree>
    <p:extLst>
      <p:ext uri="{BB962C8B-B14F-4D97-AF65-F5344CB8AC3E}">
        <p14:creationId xmlns:p14="http://schemas.microsoft.com/office/powerpoint/2010/main" val="15591398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21</a:t>
            </a:fld>
            <a:endParaRPr lang="en-US"/>
          </a:p>
        </p:txBody>
      </p:sp>
    </p:spTree>
    <p:extLst>
      <p:ext uri="{BB962C8B-B14F-4D97-AF65-F5344CB8AC3E}">
        <p14:creationId xmlns:p14="http://schemas.microsoft.com/office/powerpoint/2010/main" val="15591398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22</a:t>
            </a:fld>
            <a:endParaRPr lang="en-US"/>
          </a:p>
        </p:txBody>
      </p:sp>
    </p:spTree>
    <p:extLst>
      <p:ext uri="{BB962C8B-B14F-4D97-AF65-F5344CB8AC3E}">
        <p14:creationId xmlns:p14="http://schemas.microsoft.com/office/powerpoint/2010/main" val="1769879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23</a:t>
            </a:fld>
            <a:endParaRPr lang="en-US"/>
          </a:p>
        </p:txBody>
      </p:sp>
    </p:spTree>
    <p:extLst>
      <p:ext uri="{BB962C8B-B14F-4D97-AF65-F5344CB8AC3E}">
        <p14:creationId xmlns:p14="http://schemas.microsoft.com/office/powerpoint/2010/main" val="968015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24</a:t>
            </a:fld>
            <a:endParaRPr lang="en-US"/>
          </a:p>
        </p:txBody>
      </p:sp>
    </p:spTree>
    <p:extLst>
      <p:ext uri="{BB962C8B-B14F-4D97-AF65-F5344CB8AC3E}">
        <p14:creationId xmlns:p14="http://schemas.microsoft.com/office/powerpoint/2010/main" val="443027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25</a:t>
            </a:fld>
            <a:endParaRPr lang="en-US"/>
          </a:p>
        </p:txBody>
      </p:sp>
    </p:spTree>
    <p:extLst>
      <p:ext uri="{BB962C8B-B14F-4D97-AF65-F5344CB8AC3E}">
        <p14:creationId xmlns:p14="http://schemas.microsoft.com/office/powerpoint/2010/main" val="26899739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26</a:t>
            </a:fld>
            <a:endParaRPr lang="en-US"/>
          </a:p>
        </p:txBody>
      </p:sp>
    </p:spTree>
    <p:extLst>
      <p:ext uri="{BB962C8B-B14F-4D97-AF65-F5344CB8AC3E}">
        <p14:creationId xmlns:p14="http://schemas.microsoft.com/office/powerpoint/2010/main" val="29463665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27</a:t>
            </a:fld>
            <a:endParaRPr lang="en-US"/>
          </a:p>
        </p:txBody>
      </p:sp>
    </p:spTree>
    <p:extLst>
      <p:ext uri="{BB962C8B-B14F-4D97-AF65-F5344CB8AC3E}">
        <p14:creationId xmlns:p14="http://schemas.microsoft.com/office/powerpoint/2010/main" val="682854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28</a:t>
            </a:fld>
            <a:endParaRPr lang="en-US"/>
          </a:p>
        </p:txBody>
      </p:sp>
    </p:spTree>
    <p:extLst>
      <p:ext uri="{BB962C8B-B14F-4D97-AF65-F5344CB8AC3E}">
        <p14:creationId xmlns:p14="http://schemas.microsoft.com/office/powerpoint/2010/main" val="21281929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29</a:t>
            </a:fld>
            <a:endParaRPr lang="en-US"/>
          </a:p>
        </p:txBody>
      </p:sp>
    </p:spTree>
    <p:extLst>
      <p:ext uri="{BB962C8B-B14F-4D97-AF65-F5344CB8AC3E}">
        <p14:creationId xmlns:p14="http://schemas.microsoft.com/office/powerpoint/2010/main" val="1971639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30</a:t>
            </a:fld>
            <a:endParaRPr lang="en-US"/>
          </a:p>
        </p:txBody>
      </p:sp>
    </p:spTree>
    <p:extLst>
      <p:ext uri="{BB962C8B-B14F-4D97-AF65-F5344CB8AC3E}">
        <p14:creationId xmlns:p14="http://schemas.microsoft.com/office/powerpoint/2010/main" val="6592510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31</a:t>
            </a:fld>
            <a:endParaRPr lang="en-US"/>
          </a:p>
        </p:txBody>
      </p:sp>
    </p:spTree>
    <p:extLst>
      <p:ext uri="{BB962C8B-B14F-4D97-AF65-F5344CB8AC3E}">
        <p14:creationId xmlns:p14="http://schemas.microsoft.com/office/powerpoint/2010/main" val="23201511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32</a:t>
            </a:fld>
            <a:endParaRPr lang="en-US"/>
          </a:p>
        </p:txBody>
      </p:sp>
    </p:spTree>
    <p:extLst>
      <p:ext uri="{BB962C8B-B14F-4D97-AF65-F5344CB8AC3E}">
        <p14:creationId xmlns:p14="http://schemas.microsoft.com/office/powerpoint/2010/main" val="37651419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33</a:t>
            </a:fld>
            <a:endParaRPr lang="en-US"/>
          </a:p>
        </p:txBody>
      </p:sp>
    </p:spTree>
    <p:extLst>
      <p:ext uri="{BB962C8B-B14F-4D97-AF65-F5344CB8AC3E}">
        <p14:creationId xmlns:p14="http://schemas.microsoft.com/office/powerpoint/2010/main" val="36041461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34</a:t>
            </a:fld>
            <a:endParaRPr lang="en-US"/>
          </a:p>
        </p:txBody>
      </p:sp>
    </p:spTree>
    <p:extLst>
      <p:ext uri="{BB962C8B-B14F-4D97-AF65-F5344CB8AC3E}">
        <p14:creationId xmlns:p14="http://schemas.microsoft.com/office/powerpoint/2010/main" val="33724665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1D5BEBE5-4EB7-49F8-BB12-29B9C3E34FCF}" type="slidenum">
              <a:rPr lang="en-US" smtClean="0"/>
              <a:pPr/>
              <a:t>35</a:t>
            </a:fld>
            <a:endParaRPr lang="en-US"/>
          </a:p>
        </p:txBody>
      </p:sp>
    </p:spTree>
    <p:extLst>
      <p:ext uri="{BB962C8B-B14F-4D97-AF65-F5344CB8AC3E}">
        <p14:creationId xmlns:p14="http://schemas.microsoft.com/office/powerpoint/2010/main" val="3284795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6629F-C8F7-E983-C363-E4C2C6DE77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2111E1-20C7-A22C-1D68-6677F7F3E4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6CD300-1188-91D1-10E6-FA296F051DAF}"/>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5" name="Footer Placeholder 4">
            <a:extLst>
              <a:ext uri="{FF2B5EF4-FFF2-40B4-BE49-F238E27FC236}">
                <a16:creationId xmlns:a16="http://schemas.microsoft.com/office/drawing/2014/main" id="{2E603CB7-D843-9DE0-6581-ED0B4B280E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1B770-BB74-B5BC-3174-3E90267400D8}"/>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1937960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2C9B1-AD10-F4BE-D589-29CEEBD9BB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8A62F7-6F2E-0FD1-4097-B59BD40680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D2D07-21DA-4497-D3B2-076B0218C415}"/>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5" name="Footer Placeholder 4">
            <a:extLst>
              <a:ext uri="{FF2B5EF4-FFF2-40B4-BE49-F238E27FC236}">
                <a16:creationId xmlns:a16="http://schemas.microsoft.com/office/drawing/2014/main" id="{52164459-AE12-FBA7-B58E-098A87B0D4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F5F3E-2700-03FC-E5E5-0F6DE1EB07EE}"/>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3822429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92AF-403C-D268-7602-CBE5695B74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53E16C-C020-EB6D-47F4-7E8AF68DD3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5CE60B-7CC1-1781-A726-5E2DDA7673C3}"/>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5" name="Footer Placeholder 4">
            <a:extLst>
              <a:ext uri="{FF2B5EF4-FFF2-40B4-BE49-F238E27FC236}">
                <a16:creationId xmlns:a16="http://schemas.microsoft.com/office/drawing/2014/main" id="{62E58C5E-48C9-4DE3-3C57-B5085E511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FB392D-1480-543C-ACC8-6108E7569B96}"/>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137874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47600-0B74-0D82-3E76-1CE8B3899F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ECAA1-F4A6-334B-A4C1-5949FDAA52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0FDD80-6576-888E-1210-8686FE004C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9C46C1-F477-E72D-7727-803738C6D66D}"/>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6" name="Footer Placeholder 5">
            <a:extLst>
              <a:ext uri="{FF2B5EF4-FFF2-40B4-BE49-F238E27FC236}">
                <a16:creationId xmlns:a16="http://schemas.microsoft.com/office/drawing/2014/main" id="{D29D264D-864B-7006-8240-6E3ADC982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E90359-D083-6824-1D9F-4F889107AF4F}"/>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2487382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87215-3E21-C5E8-4300-657D09AF20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8E1242-A67F-A80D-FAE5-FB7B349BAC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1639DE-58A3-2CB7-A328-1441B3DE64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173903-4CD0-1AC9-AA16-340C3CE389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8999DC-97D3-4918-0B43-8B74682A30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8961E-E5E3-425F-C41A-F310F9512CF7}"/>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8" name="Footer Placeholder 7">
            <a:extLst>
              <a:ext uri="{FF2B5EF4-FFF2-40B4-BE49-F238E27FC236}">
                <a16:creationId xmlns:a16="http://schemas.microsoft.com/office/drawing/2014/main" id="{07A36653-9E4A-AE0B-B754-619BC4B07A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AE5BAD-700C-BD40-4944-BCF44F23796D}"/>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328095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0AE05-CB60-CAAF-3392-37EFF7073E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B5F1E2-00F4-5D52-2BA6-66743F276109}"/>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4" name="Footer Placeholder 3">
            <a:extLst>
              <a:ext uri="{FF2B5EF4-FFF2-40B4-BE49-F238E27FC236}">
                <a16:creationId xmlns:a16="http://schemas.microsoft.com/office/drawing/2014/main" id="{4550CCC5-A787-204C-CB21-DA0D3771B5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077C2B-EECC-72D0-9D74-CBADC5F4B195}"/>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1851034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4A1FAD-8EFA-5016-4181-7610D54E99E5}"/>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3" name="Footer Placeholder 2">
            <a:extLst>
              <a:ext uri="{FF2B5EF4-FFF2-40B4-BE49-F238E27FC236}">
                <a16:creationId xmlns:a16="http://schemas.microsoft.com/office/drawing/2014/main" id="{A3134E9E-6157-A8A0-2234-DCB3CA34AE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E2B90D-CC44-9418-94D8-DB97874997E5}"/>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4215969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9442-38A0-6DD9-9747-47882C2A99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856669-D199-F555-DD8E-2AA34A0EE0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3A7889-6B50-A17D-25C0-C6586A3808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EE072B-9C17-1136-195D-80A38AED5323}"/>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6" name="Footer Placeholder 5">
            <a:extLst>
              <a:ext uri="{FF2B5EF4-FFF2-40B4-BE49-F238E27FC236}">
                <a16:creationId xmlns:a16="http://schemas.microsoft.com/office/drawing/2014/main" id="{06553E06-16E3-28B2-0FAC-AC6D5FB92B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8326FB-49D4-6870-9484-91E89AB17E3F}"/>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345834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2A55-A4BD-C0DD-9654-61C8B19AC3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370349-6F4D-BA02-1E9A-1CFF021782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B63F79-BD57-93B3-5B09-976090667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9B0015-DE82-4242-AF36-3BD33DE43B0C}"/>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6" name="Footer Placeholder 5">
            <a:extLst>
              <a:ext uri="{FF2B5EF4-FFF2-40B4-BE49-F238E27FC236}">
                <a16:creationId xmlns:a16="http://schemas.microsoft.com/office/drawing/2014/main" id="{2D2AE532-7229-5F7B-30A1-4AF5D40B18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1DA353-839C-E4C2-C5BF-96EF30285DE4}"/>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2653808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9F02F-C1ED-57CB-1E1F-A28C25878E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1B4037-70BD-2926-E0A6-3319147401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E332DD-C5A9-DD1C-C6AF-EFCED2549CA0}"/>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5" name="Footer Placeholder 4">
            <a:extLst>
              <a:ext uri="{FF2B5EF4-FFF2-40B4-BE49-F238E27FC236}">
                <a16:creationId xmlns:a16="http://schemas.microsoft.com/office/drawing/2014/main" id="{C23977DD-A3AE-3CDF-9437-9DA2FCEA87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49F625-2B3C-BE56-8C63-F5EC67D472CB}"/>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543167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BEADE2-1167-4262-3A45-6E86365B02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87466B-CAA8-9D27-EE6E-83A4E011FB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A07F8B-DA5E-416E-70C0-5589EB09D8B1}"/>
              </a:ext>
            </a:extLst>
          </p:cNvPr>
          <p:cNvSpPr>
            <a:spLocks noGrp="1"/>
          </p:cNvSpPr>
          <p:nvPr>
            <p:ph type="dt" sz="half" idx="10"/>
          </p:nvPr>
        </p:nvSpPr>
        <p:spPr/>
        <p:txBody>
          <a:bodyPr/>
          <a:lstStyle/>
          <a:p>
            <a:fld id="{CDE84478-DBD2-4967-8D13-C4F5D5473ECE}" type="datetimeFigureOut">
              <a:rPr lang="en-US" smtClean="0"/>
              <a:t>12/21/2025</a:t>
            </a:fld>
            <a:endParaRPr lang="en-US"/>
          </a:p>
        </p:txBody>
      </p:sp>
      <p:sp>
        <p:nvSpPr>
          <p:cNvPr id="5" name="Footer Placeholder 4">
            <a:extLst>
              <a:ext uri="{FF2B5EF4-FFF2-40B4-BE49-F238E27FC236}">
                <a16:creationId xmlns:a16="http://schemas.microsoft.com/office/drawing/2014/main" id="{5E9C5F43-6360-3B6D-0433-536614D89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B5D37-C642-94C7-D347-241A2BD6CD47}"/>
              </a:ext>
            </a:extLst>
          </p:cNvPr>
          <p:cNvSpPr>
            <a:spLocks noGrp="1"/>
          </p:cNvSpPr>
          <p:nvPr>
            <p:ph type="sldNum" sz="quarter" idx="12"/>
          </p:nvPr>
        </p:nvSpPr>
        <p:spPr/>
        <p:txBody>
          <a:bodyPr/>
          <a:lstStyle/>
          <a:p>
            <a:fld id="{B30C9E78-A66A-45A6-94DD-C59D96AAF198}" type="slidenum">
              <a:rPr lang="en-US" smtClean="0"/>
              <a:t>‹#›</a:t>
            </a:fld>
            <a:endParaRPr lang="en-US"/>
          </a:p>
        </p:txBody>
      </p:sp>
    </p:spTree>
    <p:extLst>
      <p:ext uri="{BB962C8B-B14F-4D97-AF65-F5344CB8AC3E}">
        <p14:creationId xmlns:p14="http://schemas.microsoft.com/office/powerpoint/2010/main" val="3226603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8A058-6A59-30CB-F3F4-38CE6363B0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351BA7-38CD-70D5-0477-48E0199D0B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A6DF48-9C92-E1F7-EEB4-EA585182DD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E84478-DBD2-4967-8D13-C4F5D5473ECE}" type="datetimeFigureOut">
              <a:rPr lang="en-US" smtClean="0"/>
              <a:t>12/21/2025</a:t>
            </a:fld>
            <a:endParaRPr lang="en-US"/>
          </a:p>
        </p:txBody>
      </p:sp>
      <p:sp>
        <p:nvSpPr>
          <p:cNvPr id="5" name="Footer Placeholder 4">
            <a:extLst>
              <a:ext uri="{FF2B5EF4-FFF2-40B4-BE49-F238E27FC236}">
                <a16:creationId xmlns:a16="http://schemas.microsoft.com/office/drawing/2014/main" id="{DEE796DD-4FFA-BDF7-209F-D07526B5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C916B2-3AD4-31B2-1490-37393533D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C9E78-A66A-45A6-94DD-C59D96AAF198}" type="slidenum">
              <a:rPr lang="en-US" smtClean="0"/>
              <a:t>‹#›</a:t>
            </a:fld>
            <a:endParaRPr lang="en-US"/>
          </a:p>
        </p:txBody>
      </p:sp>
    </p:spTree>
    <p:extLst>
      <p:ext uri="{BB962C8B-B14F-4D97-AF65-F5344CB8AC3E}">
        <p14:creationId xmlns:p14="http://schemas.microsoft.com/office/powerpoint/2010/main" val="3631465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11.w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jpeg"/><Relationship Id="rId7" Type="http://schemas.openxmlformats.org/officeDocument/2006/relationships/image" Target="../media/image18.wm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11.wmf"/><Relationship Id="rId4" Type="http://schemas.openxmlformats.org/officeDocument/2006/relationships/oleObject" Target="../embeddings/oleObject3.bin"/><Relationship Id="rId9" Type="http://schemas.openxmlformats.org/officeDocument/2006/relationships/image" Target="../media/image19.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jpeg"/><Relationship Id="rId7" Type="http://schemas.openxmlformats.org/officeDocument/2006/relationships/image" Target="../media/image21.wm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20.wmf"/><Relationship Id="rId4" Type="http://schemas.openxmlformats.org/officeDocument/2006/relationships/oleObject" Target="../embeddings/oleObject6.bin"/><Relationship Id="rId9" Type="http://schemas.openxmlformats.org/officeDocument/2006/relationships/image" Target="../media/image22.wmf"/></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w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oleObject" Target="../embeddings/oleObject10.bin"/><Relationship Id="rId5" Type="http://schemas.openxmlformats.org/officeDocument/2006/relationships/image" Target="../media/image20.wmf"/><Relationship Id="rId4" Type="http://schemas.openxmlformats.org/officeDocument/2006/relationships/oleObject" Target="../embeddings/oleObject9.bin"/></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3.emf"/></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3.emf"/><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29.emf"/><Relationship Id="rId4" Type="http://schemas.openxmlformats.org/officeDocument/2006/relationships/oleObject" Target="../embeddings/oleObject11.bin"/></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Check Sheet</a:t>
            </a:r>
          </a:p>
        </p:txBody>
      </p:sp>
      <p:sp>
        <p:nvSpPr>
          <p:cNvPr id="52" name="Rectangle 6"/>
          <p:cNvSpPr>
            <a:spLocks noChangeArrowheads="1"/>
          </p:cNvSpPr>
          <p:nvPr/>
        </p:nvSpPr>
        <p:spPr bwMode="auto">
          <a:xfrm>
            <a:off x="1824042" y="1667713"/>
            <a:ext cx="7416800" cy="1448923"/>
          </a:xfrm>
          <a:prstGeom prst="rect">
            <a:avLst/>
          </a:prstGeom>
          <a:noFill/>
          <a:ln w="9525">
            <a:noFill/>
            <a:miter lim="800000"/>
            <a:headEnd/>
            <a:tailEnd/>
          </a:ln>
          <a:effectLst/>
        </p:spPr>
        <p:txBody>
          <a:bodyPr anchor="ctr">
            <a:spAutoFit/>
          </a:bodyPr>
          <a:lstStyle/>
          <a:p>
            <a:pPr marL="342900" indent="-342900" fontAlgn="base">
              <a:lnSpc>
                <a:spcPct val="115000"/>
              </a:lnSpc>
              <a:spcBef>
                <a:spcPct val="20000"/>
              </a:spcBef>
              <a:spcAft>
                <a:spcPct val="0"/>
              </a:spcAft>
              <a:buClr>
                <a:srgbClr val="000000"/>
              </a:buClr>
              <a:buFont typeface="Wingdings" panose="05000000000000000000" pitchFamily="2" charset="2"/>
              <a:buChar char="q"/>
            </a:pPr>
            <a:r>
              <a:rPr lang="en-US" kern="0" dirty="0">
                <a:solidFill>
                  <a:srgbClr val="000000"/>
                </a:solidFill>
                <a:latin typeface="Century Gothic" panose="020B0502020202020204" pitchFamily="34" charset="0"/>
                <a:ea typeface="ＭＳ Ｐゴシック" charset="-128"/>
              </a:rPr>
              <a:t> A convenient and compact format for data collection </a:t>
            </a:r>
          </a:p>
          <a:p>
            <a:pPr marL="342900" indent="-342900" fontAlgn="base">
              <a:lnSpc>
                <a:spcPct val="115000"/>
              </a:lnSpc>
              <a:spcBef>
                <a:spcPct val="20000"/>
              </a:spcBef>
              <a:spcAft>
                <a:spcPct val="0"/>
              </a:spcAft>
              <a:buClr>
                <a:srgbClr val="000000"/>
              </a:buClr>
              <a:buFont typeface="Wingdings" panose="05000000000000000000" pitchFamily="2" charset="2"/>
              <a:buChar char="q"/>
            </a:pPr>
            <a:endParaRPr lang="en-US" kern="0" dirty="0">
              <a:solidFill>
                <a:srgbClr val="000000"/>
              </a:solidFill>
              <a:latin typeface="Century Gothic" panose="020B0502020202020204" pitchFamily="34" charset="0"/>
              <a:ea typeface="ＭＳ Ｐゴシック" charset="-128"/>
            </a:endParaRPr>
          </a:p>
          <a:p>
            <a:pPr marL="342900" indent="-342900" fontAlgn="base">
              <a:lnSpc>
                <a:spcPct val="115000"/>
              </a:lnSpc>
              <a:spcBef>
                <a:spcPct val="20000"/>
              </a:spcBef>
              <a:spcAft>
                <a:spcPct val="0"/>
              </a:spcAft>
              <a:buClr>
                <a:srgbClr val="000000"/>
              </a:buClr>
              <a:buFont typeface="Wingdings" panose="05000000000000000000" pitchFamily="2" charset="2"/>
              <a:buChar char="q"/>
            </a:pPr>
            <a:r>
              <a:rPr lang="en-US" kern="0" dirty="0">
                <a:solidFill>
                  <a:srgbClr val="000000"/>
                </a:solidFill>
                <a:latin typeface="Century Gothic" panose="020B0502020202020204" pitchFamily="34" charset="0"/>
                <a:ea typeface="ＭＳ Ｐゴシック" charset="-128"/>
              </a:rPr>
              <a:t> A Simple rule– Maximum information with  minimum  writing efforts and easy to fill</a:t>
            </a:r>
            <a:endParaRPr lang="en-US" dirty="0">
              <a:latin typeface="Century Gothic" panose="020B0502020202020204" pitchFamily="34" charset="0"/>
              <a:cs typeface="Times New Roman" pitchFamily="18" charset="0"/>
            </a:endParaRPr>
          </a:p>
        </p:txBody>
      </p:sp>
    </p:spTree>
    <p:extLst>
      <p:ext uri="{BB962C8B-B14F-4D97-AF65-F5344CB8AC3E}">
        <p14:creationId xmlns:p14="http://schemas.microsoft.com/office/powerpoint/2010/main" val="2316057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Check Sheet</a:t>
            </a:r>
          </a:p>
        </p:txBody>
      </p:sp>
      <p:pic>
        <p:nvPicPr>
          <p:cNvPr id="212993" name="Picture 1"/>
          <p:cNvPicPr>
            <a:picLocks noChangeAspect="1" noChangeArrowheads="1"/>
          </p:cNvPicPr>
          <p:nvPr/>
        </p:nvPicPr>
        <p:blipFill>
          <a:blip r:embed="rId4"/>
          <a:srcRect l="1667" t="19556" r="42778" b="32444"/>
          <a:stretch>
            <a:fillRect/>
          </a:stretch>
        </p:blipFill>
        <p:spPr bwMode="auto">
          <a:xfrm>
            <a:off x="2362200" y="1676400"/>
            <a:ext cx="7620000" cy="411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94529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Graphs &amp; Charts</a:t>
            </a:r>
          </a:p>
        </p:txBody>
      </p:sp>
      <p:sp>
        <p:nvSpPr>
          <p:cNvPr id="52" name="Rectangle 6"/>
          <p:cNvSpPr>
            <a:spLocks noChangeArrowheads="1"/>
          </p:cNvSpPr>
          <p:nvPr/>
        </p:nvSpPr>
        <p:spPr bwMode="auto">
          <a:xfrm>
            <a:off x="1828800" y="1497256"/>
            <a:ext cx="8534400" cy="4122667"/>
          </a:xfrm>
          <a:prstGeom prst="rect">
            <a:avLst/>
          </a:prstGeom>
          <a:noFill/>
          <a:ln w="9525">
            <a:noFill/>
            <a:miter lim="800000"/>
            <a:headEnd/>
            <a:tailEnd/>
          </a:ln>
          <a:effectLst/>
        </p:spPr>
        <p:txBody>
          <a:bodyPr wrap="square" anchor="ctr">
            <a:spAutoFit/>
          </a:bodyPr>
          <a:lstStyle/>
          <a:p>
            <a:pPr>
              <a:lnSpc>
                <a:spcPct val="110000"/>
              </a:lnSpc>
            </a:pPr>
            <a:r>
              <a:rPr lang="en-GB" b="1" dirty="0">
                <a:latin typeface="Century Gothic" panose="020B0502020202020204" pitchFamily="34" charset="0"/>
              </a:rPr>
              <a:t>Graphs represent data pictorially. A picture can see what 1000 words can not tell. </a:t>
            </a:r>
          </a:p>
          <a:p>
            <a:pPr>
              <a:lnSpc>
                <a:spcPct val="110000"/>
              </a:lnSpc>
            </a:pPr>
            <a:r>
              <a:rPr lang="en-GB" dirty="0">
                <a:latin typeface="Arial" pitchFamily="34" charset="0"/>
              </a:rPr>
              <a:t>We have different types of charts, few common types are given below.</a:t>
            </a:r>
          </a:p>
          <a:p>
            <a:pPr>
              <a:lnSpc>
                <a:spcPct val="110000"/>
              </a:lnSpc>
            </a:pPr>
            <a:endParaRPr lang="en-GB" dirty="0">
              <a:latin typeface="Arial" pitchFamily="34" charset="0"/>
            </a:endParaRPr>
          </a:p>
          <a:p>
            <a:pPr marL="285750" indent="-285750">
              <a:lnSpc>
                <a:spcPct val="110000"/>
              </a:lnSpc>
              <a:buFont typeface="Arial" panose="020B0604020202020204" pitchFamily="34" charset="0"/>
              <a:buChar char="•"/>
            </a:pPr>
            <a:r>
              <a:rPr lang="en-GB" b="1" dirty="0">
                <a:latin typeface="Century Gothic" panose="020B0502020202020204" pitchFamily="34" charset="0"/>
              </a:rPr>
              <a:t>Line Chart</a:t>
            </a:r>
          </a:p>
          <a:p>
            <a:pPr marL="285750" indent="-285750">
              <a:lnSpc>
                <a:spcPct val="110000"/>
              </a:lnSpc>
              <a:buFont typeface="Arial" panose="020B0604020202020204" pitchFamily="34" charset="0"/>
              <a:buChar char="•"/>
            </a:pPr>
            <a:r>
              <a:rPr lang="en-GB" b="1" dirty="0">
                <a:latin typeface="Century Gothic" panose="020B0502020202020204" pitchFamily="34" charset="0"/>
              </a:rPr>
              <a:t>Bar Chart</a:t>
            </a:r>
          </a:p>
          <a:p>
            <a:pPr marL="285750" indent="-285750">
              <a:lnSpc>
                <a:spcPct val="110000"/>
              </a:lnSpc>
              <a:buFont typeface="Arial" panose="020B0604020202020204" pitchFamily="34" charset="0"/>
              <a:buChar char="•"/>
            </a:pPr>
            <a:r>
              <a:rPr lang="en-GB" b="1" dirty="0">
                <a:latin typeface="Century Gothic" panose="020B0502020202020204" pitchFamily="34" charset="0"/>
              </a:rPr>
              <a:t>Multiple bar chart</a:t>
            </a:r>
          </a:p>
          <a:p>
            <a:pPr marL="285750" indent="-285750">
              <a:lnSpc>
                <a:spcPct val="110000"/>
              </a:lnSpc>
              <a:buFont typeface="Arial" panose="020B0604020202020204" pitchFamily="34" charset="0"/>
              <a:buChar char="•"/>
            </a:pPr>
            <a:r>
              <a:rPr lang="en-GB" b="1" dirty="0">
                <a:latin typeface="Century Gothic" panose="020B0502020202020204" pitchFamily="34" charset="0"/>
              </a:rPr>
              <a:t>Pie Chart</a:t>
            </a:r>
          </a:p>
          <a:p>
            <a:pPr marL="285750" indent="-285750">
              <a:lnSpc>
                <a:spcPct val="110000"/>
              </a:lnSpc>
              <a:buFont typeface="Arial" panose="020B0604020202020204" pitchFamily="34" charset="0"/>
              <a:buChar char="•"/>
            </a:pPr>
            <a:r>
              <a:rPr lang="en-GB" b="1" dirty="0">
                <a:latin typeface="Century Gothic" panose="020B0502020202020204" pitchFamily="34" charset="0"/>
              </a:rPr>
              <a:t>Gantt chart etc..</a:t>
            </a:r>
          </a:p>
          <a:p>
            <a:pPr>
              <a:lnSpc>
                <a:spcPct val="110000"/>
              </a:lnSpc>
            </a:pPr>
            <a:endParaRPr lang="en-GB" dirty="0">
              <a:latin typeface="Arial" pitchFamily="34" charset="0"/>
            </a:endParaRP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spTree>
    <p:extLst>
      <p:ext uri="{BB962C8B-B14F-4D97-AF65-F5344CB8AC3E}">
        <p14:creationId xmlns:p14="http://schemas.microsoft.com/office/powerpoint/2010/main" val="318475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Graphs &amp; Charts</a:t>
            </a:r>
          </a:p>
        </p:txBody>
      </p:sp>
      <p:sp>
        <p:nvSpPr>
          <p:cNvPr id="52" name="Rectangle 6"/>
          <p:cNvSpPr>
            <a:spLocks noChangeArrowheads="1"/>
          </p:cNvSpPr>
          <p:nvPr/>
        </p:nvSpPr>
        <p:spPr bwMode="auto">
          <a:xfrm>
            <a:off x="1752600" y="1561514"/>
            <a:ext cx="8534400" cy="1380378"/>
          </a:xfrm>
          <a:prstGeom prst="rect">
            <a:avLst/>
          </a:prstGeom>
          <a:noFill/>
          <a:ln w="9525">
            <a:noFill/>
            <a:miter lim="800000"/>
            <a:headEnd/>
            <a:tailEnd/>
          </a:ln>
          <a:effectLst/>
        </p:spPr>
        <p:txBody>
          <a:bodyPr wrap="square" anchor="ctr">
            <a:spAutoFit/>
          </a:bodyPr>
          <a:lstStyle/>
          <a:p>
            <a:pPr>
              <a:lnSpc>
                <a:spcPct val="110000"/>
              </a:lnSpc>
            </a:pPr>
            <a:endParaRPr lang="en-GB" dirty="0">
              <a:latin typeface="Arial" pitchFamily="34" charset="0"/>
            </a:endParaRP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sp>
        <p:nvSpPr>
          <p:cNvPr id="50" name="Rectangle 6"/>
          <p:cNvSpPr>
            <a:spLocks noChangeArrowheads="1"/>
          </p:cNvSpPr>
          <p:nvPr/>
        </p:nvSpPr>
        <p:spPr bwMode="auto">
          <a:xfrm>
            <a:off x="1931485" y="1268620"/>
            <a:ext cx="5829300" cy="8083751"/>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Line Graph</a:t>
            </a:r>
          </a:p>
          <a:p>
            <a:pPr>
              <a:lnSpc>
                <a:spcPct val="110000"/>
              </a:lnSpc>
            </a:pPr>
            <a:endParaRPr lang="en-GB" b="1" dirty="0">
              <a:effectLst>
                <a:outerShdw blurRad="38100" dist="38100" dir="2700000" algn="tl">
                  <a:srgbClr val="000000">
                    <a:alpha val="43137"/>
                  </a:srgbClr>
                </a:outerShdw>
              </a:effectLst>
              <a:latin typeface="Century Gothic" panose="020B0502020202020204" pitchFamily="34" charset="0"/>
            </a:endParaRPr>
          </a:p>
          <a:p>
            <a:pPr>
              <a:lnSpc>
                <a:spcPct val="110000"/>
              </a:lnSpc>
            </a:pPr>
            <a:r>
              <a:rPr lang="en-GB" dirty="0">
                <a:latin typeface="Century Gothic" panose="020B0502020202020204" pitchFamily="34" charset="0"/>
                <a:cs typeface="Times New Roman" pitchFamily="18" charset="0"/>
              </a:rPr>
              <a:t>Line graphs manifest the overall trend in time series data by direction of their lines.</a:t>
            </a:r>
          </a:p>
          <a:p>
            <a:pPr>
              <a:lnSpc>
                <a:spcPct val="110000"/>
              </a:lnSpc>
            </a:pPr>
            <a:endParaRPr lang="en-GB" dirty="0">
              <a:latin typeface="Arial" pitchFamily="34" charset="0"/>
              <a:cs typeface="Times New Roman" pitchFamily="18" charset="0"/>
            </a:endParaRPr>
          </a:p>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Bar chart</a:t>
            </a:r>
          </a:p>
          <a:p>
            <a:pPr>
              <a:lnSpc>
                <a:spcPct val="110000"/>
              </a:lnSpc>
            </a:pPr>
            <a:endParaRPr lang="en-GB" b="1" dirty="0">
              <a:effectLst>
                <a:outerShdw blurRad="38100" dist="38100" dir="2700000" algn="tl">
                  <a:srgbClr val="000000">
                    <a:alpha val="43137"/>
                  </a:srgbClr>
                </a:outerShdw>
              </a:effectLst>
              <a:latin typeface="Century Gothic" panose="020B0502020202020204" pitchFamily="34" charset="0"/>
            </a:endParaRPr>
          </a:p>
          <a:p>
            <a:pPr>
              <a:lnSpc>
                <a:spcPct val="110000"/>
              </a:lnSpc>
            </a:pPr>
            <a:r>
              <a:rPr lang="en-GB" dirty="0">
                <a:latin typeface="Century Gothic" panose="020B0502020202020204" pitchFamily="34" charset="0"/>
                <a:cs typeface="Times New Roman" pitchFamily="18" charset="0"/>
              </a:rPr>
              <a:t>Bar graphs are parallel bars of identical width but differing length to compare size of different quantities / things.</a:t>
            </a:r>
            <a:endParaRPr lang="en-US" dirty="0">
              <a:latin typeface="Century Gothic" panose="020B0502020202020204" pitchFamily="34" charset="0"/>
              <a:cs typeface="Times New Roman" pitchFamily="18" charset="0"/>
            </a:endParaRPr>
          </a:p>
          <a:p>
            <a:pPr>
              <a:lnSpc>
                <a:spcPct val="110000"/>
              </a:lnSpc>
            </a:pPr>
            <a:endParaRPr lang="en-GB" dirty="0">
              <a:latin typeface="Arial" pitchFamily="34" charset="0"/>
              <a:cs typeface="Times New Roman" pitchFamily="18" charset="0"/>
            </a:endParaRPr>
          </a:p>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Pie Chart</a:t>
            </a:r>
          </a:p>
          <a:p>
            <a:pPr>
              <a:lnSpc>
                <a:spcPct val="110000"/>
              </a:lnSpc>
            </a:pPr>
            <a:endParaRPr lang="en-GB" dirty="0">
              <a:latin typeface="Arial" pitchFamily="34" charset="0"/>
              <a:cs typeface="Times New Roman" pitchFamily="18" charset="0"/>
            </a:endParaRPr>
          </a:p>
          <a:p>
            <a:pPr>
              <a:lnSpc>
                <a:spcPct val="110000"/>
              </a:lnSpc>
            </a:pPr>
            <a:r>
              <a:rPr lang="en-GB" dirty="0">
                <a:latin typeface="Century Gothic" panose="020B0502020202020204" pitchFamily="34" charset="0"/>
                <a:cs typeface="Times New Roman" pitchFamily="18" charset="0"/>
              </a:rPr>
              <a:t>Pie charts makes it easy to grasp the breakdown of the components of a quantity over a certain period.</a:t>
            </a:r>
            <a:endParaRPr lang="en-GB" dirty="0">
              <a:latin typeface="Century Gothic" panose="020B0502020202020204" pitchFamily="34" charset="0"/>
            </a:endParaRPr>
          </a:p>
          <a:p>
            <a:pPr>
              <a:lnSpc>
                <a:spcPct val="110000"/>
              </a:lnSpc>
            </a:pPr>
            <a:endParaRPr lang="en-GB" dirty="0">
              <a:latin typeface="Arial" pitchFamily="34" charset="0"/>
              <a:cs typeface="Times New Roman" pitchFamily="18" charset="0"/>
            </a:endParaRPr>
          </a:p>
          <a:p>
            <a:pPr>
              <a:lnSpc>
                <a:spcPct val="110000"/>
              </a:lnSpc>
            </a:pPr>
            <a:endParaRPr lang="en-GB" dirty="0">
              <a:latin typeface="Arial" pitchFamily="34" charset="0"/>
              <a:cs typeface="Times New Roman" pitchFamily="18" charset="0"/>
            </a:endParaRPr>
          </a:p>
          <a:p>
            <a:pPr>
              <a:lnSpc>
                <a:spcPct val="110000"/>
              </a:lnSpc>
            </a:pPr>
            <a:endParaRPr lang="en-GB" dirty="0">
              <a:latin typeface="Arial" pitchFamily="34" charset="0"/>
              <a:cs typeface="Times New Roman" pitchFamily="18" charset="0"/>
            </a:endParaRPr>
          </a:p>
          <a:p>
            <a:pPr>
              <a:lnSpc>
                <a:spcPct val="110000"/>
              </a:lnSpc>
            </a:pPr>
            <a:endParaRPr lang="en-GB" dirty="0">
              <a:latin typeface="Arial" pitchFamily="34" charset="0"/>
              <a:cs typeface="Times New Roman" pitchFamily="18" charset="0"/>
            </a:endParaRPr>
          </a:p>
          <a:p>
            <a:pPr>
              <a:lnSpc>
                <a:spcPct val="110000"/>
              </a:lnSpc>
            </a:pPr>
            <a:endParaRPr lang="en-US" dirty="0">
              <a:latin typeface="Arial" pitchFamily="34" charset="0"/>
            </a:endParaRPr>
          </a:p>
          <a:p>
            <a:pPr>
              <a:lnSpc>
                <a:spcPct val="110000"/>
              </a:lnSpc>
            </a:pPr>
            <a:endParaRPr lang="en-GB" b="1" dirty="0">
              <a:effectLst>
                <a:outerShdw blurRad="38100" dist="38100" dir="2700000" algn="tl">
                  <a:srgbClr val="000000">
                    <a:alpha val="43137"/>
                  </a:srgbClr>
                </a:outerShdw>
              </a:effectLst>
              <a:latin typeface="Century Gothic" panose="020B0502020202020204" pitchFamily="34" charset="0"/>
            </a:endParaRPr>
          </a:p>
          <a:p>
            <a:pPr>
              <a:lnSpc>
                <a:spcPct val="110000"/>
              </a:lnSpc>
            </a:pPr>
            <a:endParaRPr lang="en-GB" dirty="0">
              <a:latin typeface="Arial" pitchFamily="34" charset="0"/>
            </a:endParaRP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pic>
        <p:nvPicPr>
          <p:cNvPr id="53" name="Picture 14" descr="j0297169[1]"/>
          <p:cNvPicPr>
            <a:picLocks noChangeAspect="1" noChangeArrowheads="1"/>
          </p:cNvPicPr>
          <p:nvPr/>
        </p:nvPicPr>
        <p:blipFill>
          <a:blip r:embed="rId4" cstate="print"/>
          <a:srcRect/>
          <a:stretch>
            <a:fillRect/>
          </a:stretch>
        </p:blipFill>
        <p:spPr bwMode="auto">
          <a:xfrm>
            <a:off x="8389938" y="1128661"/>
            <a:ext cx="1820863" cy="1700213"/>
          </a:xfrm>
          <a:prstGeom prst="rect">
            <a:avLst/>
          </a:prstGeom>
          <a:noFill/>
        </p:spPr>
      </p:pic>
      <p:pic>
        <p:nvPicPr>
          <p:cNvPr id="54" name="Picture 12" descr="j0439817[1]"/>
          <p:cNvPicPr>
            <a:picLocks noChangeAspect="1" noChangeArrowheads="1"/>
          </p:cNvPicPr>
          <p:nvPr/>
        </p:nvPicPr>
        <p:blipFill>
          <a:blip r:embed="rId5" cstate="print"/>
          <a:srcRect/>
          <a:stretch>
            <a:fillRect/>
          </a:stretch>
        </p:blipFill>
        <p:spPr bwMode="auto">
          <a:xfrm>
            <a:off x="8389938" y="4648200"/>
            <a:ext cx="1820863" cy="1521954"/>
          </a:xfrm>
          <a:prstGeom prst="rect">
            <a:avLst/>
          </a:prstGeom>
          <a:noFill/>
        </p:spPr>
      </p:pic>
      <p:pic>
        <p:nvPicPr>
          <p:cNvPr id="55" name="Picture 13" descr="j0432543[1]"/>
          <p:cNvPicPr>
            <a:picLocks noChangeAspect="1" noChangeArrowheads="1"/>
          </p:cNvPicPr>
          <p:nvPr/>
        </p:nvPicPr>
        <p:blipFill>
          <a:blip r:embed="rId6" cstate="print"/>
          <a:srcRect/>
          <a:stretch>
            <a:fillRect/>
          </a:stretch>
        </p:blipFill>
        <p:spPr bwMode="auto">
          <a:xfrm>
            <a:off x="8305800" y="3227315"/>
            <a:ext cx="2051593" cy="1209675"/>
          </a:xfrm>
          <a:prstGeom prst="rect">
            <a:avLst/>
          </a:prstGeom>
          <a:noFill/>
        </p:spPr>
      </p:pic>
    </p:spTree>
    <p:extLst>
      <p:ext uri="{BB962C8B-B14F-4D97-AF65-F5344CB8AC3E}">
        <p14:creationId xmlns:p14="http://schemas.microsoft.com/office/powerpoint/2010/main" val="4050201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Graphs &amp; Charts</a:t>
            </a:r>
          </a:p>
        </p:txBody>
      </p:sp>
      <p:sp>
        <p:nvSpPr>
          <p:cNvPr id="52" name="Rectangle 6"/>
          <p:cNvSpPr>
            <a:spLocks noChangeArrowheads="1"/>
          </p:cNvSpPr>
          <p:nvPr/>
        </p:nvSpPr>
        <p:spPr bwMode="auto">
          <a:xfrm>
            <a:off x="1752600" y="1561514"/>
            <a:ext cx="8534400" cy="1380378"/>
          </a:xfrm>
          <a:prstGeom prst="rect">
            <a:avLst/>
          </a:prstGeom>
          <a:noFill/>
          <a:ln w="9525">
            <a:noFill/>
            <a:miter lim="800000"/>
            <a:headEnd/>
            <a:tailEnd/>
          </a:ln>
          <a:effectLst/>
        </p:spPr>
        <p:txBody>
          <a:bodyPr wrap="square" anchor="ctr">
            <a:spAutoFit/>
          </a:bodyPr>
          <a:lstStyle/>
          <a:p>
            <a:pPr>
              <a:lnSpc>
                <a:spcPct val="110000"/>
              </a:lnSpc>
            </a:pPr>
            <a:endParaRPr lang="en-GB" dirty="0">
              <a:latin typeface="Arial" pitchFamily="34" charset="0"/>
            </a:endParaRP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sp>
        <p:nvSpPr>
          <p:cNvPr id="50" name="Rectangle 6"/>
          <p:cNvSpPr>
            <a:spLocks noChangeArrowheads="1"/>
          </p:cNvSpPr>
          <p:nvPr/>
        </p:nvSpPr>
        <p:spPr bwMode="auto">
          <a:xfrm>
            <a:off x="1858298" y="1320154"/>
            <a:ext cx="3402515" cy="6560257"/>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Multiple Bar Chart</a:t>
            </a:r>
          </a:p>
          <a:p>
            <a:pPr>
              <a:lnSpc>
                <a:spcPct val="110000"/>
              </a:lnSpc>
            </a:pPr>
            <a:endParaRPr lang="en-GB" b="1" dirty="0">
              <a:effectLst>
                <a:outerShdw blurRad="38100" dist="38100" dir="2700000" algn="tl">
                  <a:srgbClr val="000000">
                    <a:alpha val="43137"/>
                  </a:srgbClr>
                </a:outerShdw>
              </a:effectLst>
              <a:latin typeface="Century Gothic" panose="020B0502020202020204" pitchFamily="34" charset="0"/>
            </a:endParaRPr>
          </a:p>
          <a:p>
            <a:pPr>
              <a:lnSpc>
                <a:spcPct val="110000"/>
              </a:lnSpc>
            </a:pPr>
            <a:r>
              <a:rPr lang="en-GB" dirty="0">
                <a:latin typeface="Century Gothic" panose="020B0502020202020204" pitchFamily="34" charset="0"/>
                <a:cs typeface="Times New Roman" pitchFamily="18" charset="0"/>
              </a:rPr>
              <a:t>Used for the comparison purpose. Like to compare the production of Machine A &amp; B</a:t>
            </a:r>
          </a:p>
          <a:p>
            <a:pPr>
              <a:lnSpc>
                <a:spcPct val="110000"/>
              </a:lnSpc>
            </a:pPr>
            <a:endParaRPr lang="en-GB" dirty="0">
              <a:latin typeface="Century Gothic" panose="020B0502020202020204" pitchFamily="34" charset="0"/>
              <a:cs typeface="Times New Roman" pitchFamily="18" charset="0"/>
            </a:endParaRPr>
          </a:p>
          <a:p>
            <a:pPr>
              <a:lnSpc>
                <a:spcPct val="110000"/>
              </a:lnSpc>
            </a:pPr>
            <a:endParaRPr lang="en-GB" dirty="0">
              <a:latin typeface="Century Gothic" panose="020B0502020202020204" pitchFamily="34" charset="0"/>
              <a:cs typeface="Times New Roman" pitchFamily="18" charset="0"/>
            </a:endParaRPr>
          </a:p>
          <a:p>
            <a:pPr>
              <a:lnSpc>
                <a:spcPct val="110000"/>
              </a:lnSpc>
            </a:pPr>
            <a:endParaRPr lang="en-GB" dirty="0">
              <a:latin typeface="Century Gothic" panose="020B0502020202020204" pitchFamily="34" charset="0"/>
              <a:cs typeface="Times New Roman" pitchFamily="18" charset="0"/>
            </a:endParaRPr>
          </a:p>
          <a:p>
            <a:pPr>
              <a:lnSpc>
                <a:spcPct val="110000"/>
              </a:lnSpc>
            </a:pPr>
            <a:endParaRPr lang="en-GB" b="1" dirty="0">
              <a:effectLst>
                <a:outerShdw blurRad="38100" dist="38100" dir="2700000" algn="tl">
                  <a:srgbClr val="000000">
                    <a:alpha val="43137"/>
                  </a:srgbClr>
                </a:outerShdw>
              </a:effectLst>
              <a:latin typeface="Century Gothic" panose="020B0502020202020204" pitchFamily="34" charset="0"/>
            </a:endParaRPr>
          </a:p>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Component Bar Chart</a:t>
            </a:r>
          </a:p>
          <a:p>
            <a:pPr>
              <a:lnSpc>
                <a:spcPct val="110000"/>
              </a:lnSpc>
            </a:pPr>
            <a:endParaRPr lang="en-GB" dirty="0">
              <a:latin typeface="Arial" pitchFamily="34" charset="0"/>
              <a:cs typeface="Times New Roman" pitchFamily="18" charset="0"/>
            </a:endParaRPr>
          </a:p>
          <a:p>
            <a:pPr>
              <a:lnSpc>
                <a:spcPct val="110000"/>
              </a:lnSpc>
            </a:pPr>
            <a:r>
              <a:rPr lang="en-GB" dirty="0">
                <a:latin typeface="Century Gothic" panose="020B0502020202020204" pitchFamily="34" charset="0"/>
                <a:cs typeface="Times New Roman" pitchFamily="18" charset="0"/>
              </a:rPr>
              <a:t>Used for comparison as well as to show contribution</a:t>
            </a:r>
          </a:p>
          <a:p>
            <a:pPr>
              <a:lnSpc>
                <a:spcPct val="110000"/>
              </a:lnSpc>
            </a:pPr>
            <a:endParaRPr lang="en-GB" dirty="0">
              <a:latin typeface="Arial" pitchFamily="34" charset="0"/>
              <a:cs typeface="Times New Roman" pitchFamily="18" charset="0"/>
            </a:endParaRPr>
          </a:p>
          <a:p>
            <a:pPr>
              <a:lnSpc>
                <a:spcPct val="110000"/>
              </a:lnSpc>
            </a:pPr>
            <a:endParaRPr lang="en-US" dirty="0">
              <a:latin typeface="Arial" pitchFamily="34" charset="0"/>
            </a:endParaRPr>
          </a:p>
          <a:p>
            <a:pPr>
              <a:lnSpc>
                <a:spcPct val="110000"/>
              </a:lnSpc>
            </a:pPr>
            <a:endParaRPr lang="en-GB" b="1" dirty="0">
              <a:effectLst>
                <a:outerShdw blurRad="38100" dist="38100" dir="2700000" algn="tl">
                  <a:srgbClr val="000000">
                    <a:alpha val="43137"/>
                  </a:srgbClr>
                </a:outerShdw>
              </a:effectLst>
              <a:latin typeface="Century Gothic" panose="020B0502020202020204" pitchFamily="34" charset="0"/>
            </a:endParaRPr>
          </a:p>
          <a:p>
            <a:pPr>
              <a:lnSpc>
                <a:spcPct val="110000"/>
              </a:lnSpc>
            </a:pPr>
            <a:endParaRPr lang="en-GB" dirty="0">
              <a:latin typeface="Arial" pitchFamily="34" charset="0"/>
            </a:endParaRP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graphicFrame>
        <p:nvGraphicFramePr>
          <p:cNvPr id="57" name="Chart 56"/>
          <p:cNvGraphicFramePr>
            <a:graphicFrameLocks/>
          </p:cNvGraphicFramePr>
          <p:nvPr/>
        </p:nvGraphicFramePr>
        <p:xfrm>
          <a:off x="5372100" y="966307"/>
          <a:ext cx="5105400" cy="30137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9" name="Chart 58"/>
          <p:cNvGraphicFramePr>
            <a:graphicFrameLocks/>
          </p:cNvGraphicFramePr>
          <p:nvPr/>
        </p:nvGraphicFramePr>
        <p:xfrm>
          <a:off x="5388631" y="3826442"/>
          <a:ext cx="5050769" cy="249815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736447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Graphs &amp; Charts</a:t>
            </a:r>
          </a:p>
        </p:txBody>
      </p:sp>
      <p:sp>
        <p:nvSpPr>
          <p:cNvPr id="52" name="Rectangle 6"/>
          <p:cNvSpPr>
            <a:spLocks noChangeArrowheads="1"/>
          </p:cNvSpPr>
          <p:nvPr/>
        </p:nvSpPr>
        <p:spPr bwMode="auto">
          <a:xfrm>
            <a:off x="1752600" y="1561514"/>
            <a:ext cx="8534400" cy="1380378"/>
          </a:xfrm>
          <a:prstGeom prst="rect">
            <a:avLst/>
          </a:prstGeom>
          <a:noFill/>
          <a:ln w="9525">
            <a:noFill/>
            <a:miter lim="800000"/>
            <a:headEnd/>
            <a:tailEnd/>
          </a:ln>
          <a:effectLst/>
        </p:spPr>
        <p:txBody>
          <a:bodyPr wrap="square" anchor="ctr">
            <a:spAutoFit/>
          </a:bodyPr>
          <a:lstStyle/>
          <a:p>
            <a:pPr>
              <a:lnSpc>
                <a:spcPct val="110000"/>
              </a:lnSpc>
            </a:pPr>
            <a:endParaRPr lang="en-GB" dirty="0">
              <a:latin typeface="Arial" pitchFamily="34" charset="0"/>
            </a:endParaRP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sp>
        <p:nvSpPr>
          <p:cNvPr id="50" name="Rectangle 6"/>
          <p:cNvSpPr>
            <a:spLocks noChangeArrowheads="1"/>
          </p:cNvSpPr>
          <p:nvPr/>
        </p:nvSpPr>
        <p:spPr bwMode="auto">
          <a:xfrm>
            <a:off x="1828801" y="1154737"/>
            <a:ext cx="8337755" cy="1311128"/>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Gantt Chart</a:t>
            </a:r>
          </a:p>
          <a:p>
            <a:pPr>
              <a:lnSpc>
                <a:spcPct val="110000"/>
              </a:lnSpc>
            </a:pPr>
            <a:r>
              <a:rPr lang="en-GB" dirty="0">
                <a:latin typeface="Century Gothic" panose="020B0502020202020204" pitchFamily="34" charset="0"/>
                <a:cs typeface="Times New Roman" pitchFamily="18" charset="0"/>
              </a:rPr>
              <a:t>Gantt Charts makes it easy to understand the details of a plan and progress in its implementation schedule.</a:t>
            </a:r>
            <a:endParaRPr lang="en-US" dirty="0">
              <a:latin typeface="Century Gothic" panose="020B0502020202020204" pitchFamily="34" charset="0"/>
              <a:cs typeface="Times New Roman" pitchFamily="18" charset="0"/>
            </a:endParaRPr>
          </a:p>
          <a:p>
            <a:pPr>
              <a:lnSpc>
                <a:spcPct val="110000"/>
              </a:lnSpc>
            </a:pPr>
            <a:endParaRPr lang="en-GB" b="1" dirty="0">
              <a:effectLst>
                <a:outerShdw blurRad="38100" dist="38100" dir="2700000" algn="tl">
                  <a:srgbClr val="000000">
                    <a:alpha val="43137"/>
                  </a:srgbClr>
                </a:outerShdw>
              </a:effectLst>
              <a:latin typeface="Century Gothic" panose="020B0502020202020204" pitchFamily="34" charset="0"/>
            </a:endParaRPr>
          </a:p>
        </p:txBody>
      </p:sp>
      <p:graphicFrame>
        <p:nvGraphicFramePr>
          <p:cNvPr id="60" name="Group 60"/>
          <p:cNvGraphicFramePr>
            <a:graphicFrameLocks noGrp="1"/>
          </p:cNvGraphicFramePr>
          <p:nvPr/>
        </p:nvGraphicFramePr>
        <p:xfrm>
          <a:off x="1981200" y="2306180"/>
          <a:ext cx="7493000" cy="3863975"/>
        </p:xfrm>
        <a:graphic>
          <a:graphicData uri="http://schemas.openxmlformats.org/drawingml/2006/table">
            <a:tbl>
              <a:tblPr>
                <a:tableStyleId>{1FECB4D8-DB02-4DC6-A0A2-4F2EBAE1DC90}</a:tableStyleId>
              </a:tblPr>
              <a:tblGrid>
                <a:gridCol w="2252663">
                  <a:extLst>
                    <a:ext uri="{9D8B030D-6E8A-4147-A177-3AD203B41FA5}">
                      <a16:colId xmlns:a16="http://schemas.microsoft.com/office/drawing/2014/main" val="20000"/>
                    </a:ext>
                  </a:extLst>
                </a:gridCol>
                <a:gridCol w="415925">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3387">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503238">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3387">
                  <a:extLst>
                    <a:ext uri="{9D8B030D-6E8A-4147-A177-3AD203B41FA5}">
                      <a16:colId xmlns:a16="http://schemas.microsoft.com/office/drawing/2014/main" val="20009"/>
                    </a:ext>
                  </a:extLst>
                </a:gridCol>
                <a:gridCol w="431800">
                  <a:extLst>
                    <a:ext uri="{9D8B030D-6E8A-4147-A177-3AD203B41FA5}">
                      <a16:colId xmlns:a16="http://schemas.microsoft.com/office/drawing/2014/main" val="20010"/>
                    </a:ext>
                  </a:extLst>
                </a:gridCol>
                <a:gridCol w="431800">
                  <a:extLst>
                    <a:ext uri="{9D8B030D-6E8A-4147-A177-3AD203B41FA5}">
                      <a16:colId xmlns:a16="http://schemas.microsoft.com/office/drawing/2014/main" val="20011"/>
                    </a:ext>
                  </a:extLst>
                </a:gridCol>
                <a:gridCol w="431800">
                  <a:extLst>
                    <a:ext uri="{9D8B030D-6E8A-4147-A177-3AD203B41FA5}">
                      <a16:colId xmlns:a16="http://schemas.microsoft.com/office/drawing/2014/main" val="20012"/>
                    </a:ext>
                  </a:extLst>
                </a:gridCol>
              </a:tblGrid>
              <a:tr h="358775">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Type of work</a:t>
                      </a:r>
                      <a:endParaRPr kumimoji="0" lang="en-US" sz="1400" b="0" i="0" u="none" strike="noStrike" cap="none" normalizeH="0" baseline="0" dirty="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1</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2</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3</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4</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5</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6</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7</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8</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9</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10</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a:ln>
                            <a:noFill/>
                          </a:ln>
                          <a:effectLst/>
                        </a:rPr>
                        <a:t>11</a:t>
                      </a: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just"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100" u="none" strike="noStrike" cap="none" normalizeH="0" baseline="0" dirty="0">
                          <a:ln>
                            <a:noFill/>
                          </a:ln>
                          <a:effectLst/>
                        </a:rPr>
                        <a:t>12</a:t>
                      </a:r>
                      <a:endParaRPr kumimoji="0" lang="en-US" sz="1100" b="0" i="0" u="none" strike="noStrike" cap="none" normalizeH="0" baseline="0" dirty="0">
                        <a:ln>
                          <a:noFill/>
                        </a:ln>
                        <a:solidFill>
                          <a:schemeClr val="tx1"/>
                        </a:solidFill>
                        <a:effectLst/>
                        <a:latin typeface="PalmSprings" charset="0"/>
                      </a:endParaRPr>
                    </a:p>
                  </a:txBody>
                  <a:tcPr horzOverflow="overflow"/>
                </a:tc>
                <a:extLst>
                  <a:ext uri="{0D108BD9-81ED-4DB2-BD59-A6C34878D82A}">
                    <a16:rowId xmlns:a16="http://schemas.microsoft.com/office/drawing/2014/main" val="10000"/>
                  </a:ext>
                </a:extLst>
              </a:tr>
              <a:tr h="2738438">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Foundation work</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Frame work</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Dry-walling</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Exterior touch up</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Sheetrock work</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Plumbing</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Electrical wiring</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Fit Fixtures</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Paint interior wall</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Interior touch up</a:t>
                      </a:r>
                    </a:p>
                    <a:p>
                      <a:pPr marL="0" marR="0" lvl="0" indent="0" algn="l" defTabSz="914400" rtl="0" eaLnBrk="0" fontAlgn="base" latinLnBrk="0" hangingPunct="0">
                        <a:lnSpc>
                          <a:spcPct val="100000"/>
                        </a:lnSpc>
                        <a:spcBef>
                          <a:spcPct val="0"/>
                        </a:spcBef>
                        <a:spcAft>
                          <a:spcPct val="50000"/>
                        </a:spcAft>
                        <a:buClrTx/>
                        <a:buSzPct val="100000"/>
                        <a:buFontTx/>
                        <a:buNone/>
                        <a:tabLst>
                          <a:tab pos="274638" algn="l"/>
                          <a:tab pos="457200" algn="l"/>
                        </a:tabLst>
                      </a:pPr>
                      <a:r>
                        <a:rPr kumimoji="0" lang="en-US" sz="1400" u="none" strike="noStrike" cap="none" normalizeH="0" baseline="0" dirty="0">
                          <a:ln>
                            <a:noFill/>
                          </a:ln>
                          <a:effectLst/>
                        </a:rPr>
                        <a:t>Inspection delivery</a:t>
                      </a:r>
                      <a:endParaRPr kumimoji="0" lang="en-US" sz="1400" b="0" i="0" u="none" strike="noStrike" cap="none" normalizeH="0" baseline="0" dirty="0">
                        <a:ln>
                          <a:noFill/>
                        </a:ln>
                        <a:solidFill>
                          <a:schemeClr val="tx1"/>
                        </a:solidFill>
                        <a:effectLst/>
                        <a:latin typeface="Times New Roman" pitchFamily="18" charset="0"/>
                        <a:cs typeface="Times New Roman" pitchFamily="18"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dirty="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a:ln>
                          <a:noFill/>
                        </a:ln>
                        <a:solidFill>
                          <a:schemeClr val="tx1"/>
                        </a:solidFill>
                        <a:effectLst/>
                        <a:latin typeface="PalmSprings"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50000"/>
                        </a:spcAft>
                        <a:buClrTx/>
                        <a:buSzPct val="100000"/>
                        <a:buFontTx/>
                        <a:buNone/>
                        <a:tabLst/>
                      </a:pPr>
                      <a:endParaRPr kumimoji="0" lang="en-US" sz="1100" b="0" i="0" u="none" strike="noStrike" cap="none" normalizeH="0" baseline="0" dirty="0">
                        <a:ln>
                          <a:noFill/>
                        </a:ln>
                        <a:solidFill>
                          <a:schemeClr val="tx1"/>
                        </a:solidFill>
                        <a:effectLst/>
                        <a:latin typeface="PalmSprings" charset="0"/>
                      </a:endParaRPr>
                    </a:p>
                  </a:txBody>
                  <a:tcPr horzOverflow="overflow"/>
                </a:tc>
                <a:extLst>
                  <a:ext uri="{0D108BD9-81ED-4DB2-BD59-A6C34878D82A}">
                    <a16:rowId xmlns:a16="http://schemas.microsoft.com/office/drawing/2014/main" val="10001"/>
                  </a:ext>
                </a:extLst>
              </a:tr>
            </a:tbl>
          </a:graphicData>
        </a:graphic>
      </p:graphicFrame>
      <p:sp>
        <p:nvSpPr>
          <p:cNvPr id="4" name="Rectangle 3"/>
          <p:cNvSpPr/>
          <p:nvPr/>
        </p:nvSpPr>
        <p:spPr>
          <a:xfrm>
            <a:off x="4355230" y="2748094"/>
            <a:ext cx="1816970" cy="101085"/>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6172200" y="3031786"/>
            <a:ext cx="381000" cy="99621"/>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6553200" y="3344189"/>
            <a:ext cx="381000" cy="99621"/>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6934200" y="3656592"/>
            <a:ext cx="381000" cy="99621"/>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6948948" y="3968995"/>
            <a:ext cx="381000" cy="99621"/>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5402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Pareto Diagram</a:t>
            </a:r>
          </a:p>
        </p:txBody>
      </p:sp>
      <p:sp>
        <p:nvSpPr>
          <p:cNvPr id="52" name="Rectangle 6"/>
          <p:cNvSpPr>
            <a:spLocks noChangeArrowheads="1"/>
          </p:cNvSpPr>
          <p:nvPr/>
        </p:nvSpPr>
        <p:spPr bwMode="auto">
          <a:xfrm>
            <a:off x="1828800" y="1430616"/>
            <a:ext cx="8534400" cy="2751522"/>
          </a:xfrm>
          <a:prstGeom prst="rect">
            <a:avLst/>
          </a:prstGeom>
          <a:noFill/>
          <a:ln w="9525">
            <a:noFill/>
            <a:miter lim="800000"/>
            <a:headEnd/>
            <a:tailEnd/>
          </a:ln>
          <a:effectLst/>
        </p:spPr>
        <p:txBody>
          <a:bodyPr wrap="square" anchor="ctr">
            <a:spAutoFit/>
          </a:bodyPr>
          <a:lstStyle/>
          <a:p>
            <a:pPr marL="461963" indent="-461963" fontAlgn="base">
              <a:lnSpc>
                <a:spcPct val="115000"/>
              </a:lnSpc>
              <a:spcBef>
                <a:spcPct val="0"/>
              </a:spcBef>
              <a:spcAft>
                <a:spcPct val="50000"/>
              </a:spcAft>
              <a:buClr>
                <a:srgbClr val="000000"/>
              </a:buClr>
              <a:buSzPct val="100000"/>
              <a:buFont typeface="Wingdings" panose="05000000000000000000" pitchFamily="2" charset="2"/>
              <a:buChar char="q"/>
            </a:pPr>
            <a:r>
              <a:rPr lang="en-US" dirty="0">
                <a:solidFill>
                  <a:schemeClr val="tx1">
                    <a:lumMod val="95000"/>
                    <a:lumOff val="5000"/>
                  </a:schemeClr>
                </a:solidFill>
                <a:latin typeface="Century Gothic" panose="020B0502020202020204" pitchFamily="34" charset="0"/>
                <a:ea typeface="ＭＳ Ｐゴシック" charset="-128"/>
              </a:rPr>
              <a:t>80% of problems are caused by less than 20% of probable causes. </a:t>
            </a:r>
          </a:p>
          <a:p>
            <a:pPr marL="461963" indent="-461963" fontAlgn="base">
              <a:lnSpc>
                <a:spcPct val="115000"/>
              </a:lnSpc>
              <a:spcBef>
                <a:spcPct val="0"/>
              </a:spcBef>
              <a:spcAft>
                <a:spcPct val="50000"/>
              </a:spcAft>
              <a:buClr>
                <a:srgbClr val="000000"/>
              </a:buClr>
              <a:buSzPct val="100000"/>
              <a:buFont typeface="Wingdings" panose="05000000000000000000" pitchFamily="2" charset="2"/>
              <a:buChar char="q"/>
            </a:pPr>
            <a:r>
              <a:rPr lang="en-US" dirty="0">
                <a:solidFill>
                  <a:schemeClr val="tx1">
                    <a:lumMod val="95000"/>
                    <a:lumOff val="5000"/>
                  </a:schemeClr>
                </a:solidFill>
                <a:latin typeface="Century Gothic" panose="020B0502020202020204" pitchFamily="34" charset="0"/>
                <a:ea typeface="ＭＳ Ｐゴシック" charset="-128"/>
              </a:rPr>
              <a:t>Establishes proof of the need.</a:t>
            </a:r>
          </a:p>
          <a:p>
            <a:pPr marL="461963" indent="-461963" fontAlgn="base">
              <a:lnSpc>
                <a:spcPct val="115000"/>
              </a:lnSpc>
              <a:spcBef>
                <a:spcPct val="0"/>
              </a:spcBef>
              <a:spcAft>
                <a:spcPct val="50000"/>
              </a:spcAft>
              <a:buClr>
                <a:srgbClr val="000000"/>
              </a:buClr>
              <a:buSzPct val="100000"/>
              <a:buFont typeface="Wingdings" panose="05000000000000000000" pitchFamily="2" charset="2"/>
              <a:buChar char="q"/>
            </a:pPr>
            <a:r>
              <a:rPr lang="en-US" dirty="0">
                <a:solidFill>
                  <a:schemeClr val="tx1">
                    <a:lumMod val="95000"/>
                    <a:lumOff val="5000"/>
                  </a:schemeClr>
                </a:solidFill>
                <a:latin typeface="Century Gothic" panose="020B0502020202020204" pitchFamily="34" charset="0"/>
                <a:ea typeface="ＭＳ Ｐゴシック" charset="-128"/>
              </a:rPr>
              <a:t>Identifies vital few.</a:t>
            </a:r>
          </a:p>
          <a:p>
            <a:pPr>
              <a:lnSpc>
                <a:spcPct val="110000"/>
              </a:lnSpc>
            </a:pPr>
            <a:endParaRPr lang="en-GB" dirty="0">
              <a:latin typeface="Century Gothic" panose="020B0502020202020204" pitchFamily="34" charset="0"/>
            </a:endParaRP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spTree>
    <p:extLst>
      <p:ext uri="{BB962C8B-B14F-4D97-AF65-F5344CB8AC3E}">
        <p14:creationId xmlns:p14="http://schemas.microsoft.com/office/powerpoint/2010/main" val="3918403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Pareto Diagram</a:t>
            </a:r>
          </a:p>
        </p:txBody>
      </p:sp>
      <p:sp>
        <p:nvSpPr>
          <p:cNvPr id="52" name="Rectangle 6"/>
          <p:cNvSpPr>
            <a:spLocks noChangeArrowheads="1"/>
          </p:cNvSpPr>
          <p:nvPr/>
        </p:nvSpPr>
        <p:spPr bwMode="auto">
          <a:xfrm>
            <a:off x="1828800" y="1184469"/>
            <a:ext cx="8534400" cy="1380378"/>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Example: Personal Expense</a:t>
            </a:r>
          </a:p>
          <a:p>
            <a:pPr>
              <a:lnSpc>
                <a:spcPct val="110000"/>
              </a:lnSpc>
            </a:pPr>
            <a:endParaRPr lang="en-GB" dirty="0">
              <a:latin typeface="Arial" pitchFamily="34" charset="0"/>
            </a:endParaRPr>
          </a:p>
          <a:p>
            <a:pPr>
              <a:lnSpc>
                <a:spcPct val="110000"/>
              </a:lnSpc>
            </a:pPr>
            <a:endParaRPr lang="en-US" dirty="0">
              <a:latin typeface="Arial" pitchFamily="34" charset="0"/>
            </a:endParaRPr>
          </a:p>
          <a:p>
            <a:pPr lvl="0" fontAlgn="base">
              <a:lnSpc>
                <a:spcPct val="115000"/>
              </a:lnSpc>
              <a:spcBef>
                <a:spcPct val="20000"/>
              </a:spcBef>
              <a:spcAft>
                <a:spcPct val="0"/>
              </a:spcAft>
              <a:buClr>
                <a:srgbClr val="000000"/>
              </a:buClr>
            </a:pPr>
            <a:endParaRPr lang="en-US" dirty="0">
              <a:latin typeface="Century Gothic" panose="020B0502020202020204" pitchFamily="34" charset="0"/>
              <a:cs typeface="Times New Roman" pitchFamily="18" charset="0"/>
            </a:endParaRPr>
          </a:p>
        </p:txBody>
      </p:sp>
      <p:graphicFrame>
        <p:nvGraphicFramePr>
          <p:cNvPr id="5" name="Table 4"/>
          <p:cNvGraphicFramePr>
            <a:graphicFrameLocks noGrp="1"/>
          </p:cNvGraphicFramePr>
          <p:nvPr/>
        </p:nvGraphicFramePr>
        <p:xfrm>
          <a:off x="2971799" y="1676397"/>
          <a:ext cx="6096000" cy="4267200"/>
        </p:xfrm>
        <a:graphic>
          <a:graphicData uri="http://schemas.openxmlformats.org/drawingml/2006/table">
            <a:tbl>
              <a:tblPr/>
              <a:tblGrid>
                <a:gridCol w="1219201">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761710">
                  <a:extLst>
                    <a:ext uri="{9D8B030D-6E8A-4147-A177-3AD203B41FA5}">
                      <a16:colId xmlns:a16="http://schemas.microsoft.com/office/drawing/2014/main" val="20002"/>
                    </a:ext>
                  </a:extLst>
                </a:gridCol>
                <a:gridCol w="2124489">
                  <a:extLst>
                    <a:ext uri="{9D8B030D-6E8A-4147-A177-3AD203B41FA5}">
                      <a16:colId xmlns:a16="http://schemas.microsoft.com/office/drawing/2014/main" val="20003"/>
                    </a:ext>
                  </a:extLst>
                </a:gridCol>
              </a:tblGrid>
              <a:tr h="609600">
                <a:tc>
                  <a:txBody>
                    <a:bodyPr/>
                    <a:lstStyle/>
                    <a:p>
                      <a:pPr algn="ctr" fontAlgn="b"/>
                      <a:r>
                        <a:rPr lang="en-US" sz="2000" b="1" i="0" u="none" strike="noStrike" dirty="0">
                          <a:solidFill>
                            <a:srgbClr val="FFFFFF"/>
                          </a:solidFill>
                          <a:effectLst/>
                          <a:latin typeface="Calibri" panose="020F0502020204030204" pitchFamily="34" charset="0"/>
                        </a:rPr>
                        <a:t>Head</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2000" b="1" i="0" u="none" strike="noStrike">
                          <a:solidFill>
                            <a:srgbClr val="FFFFFF"/>
                          </a:solidFill>
                          <a:effectLst/>
                          <a:latin typeface="Calibri" panose="020F0502020204030204" pitchFamily="34" charset="0"/>
                        </a:rPr>
                        <a:t>Expense</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2000" b="1" i="0" u="none" strike="noStrike" dirty="0">
                          <a:solidFill>
                            <a:srgbClr val="FFFFFF"/>
                          </a:solidFill>
                          <a:effectLst/>
                          <a:latin typeface="Calibri" panose="020F0502020204030204" pitchFamily="34" charset="0"/>
                        </a:rPr>
                        <a:t>Ratio to total</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2000" b="1" i="0" u="none" strike="noStrike" dirty="0">
                          <a:solidFill>
                            <a:srgbClr val="FFFFFF"/>
                          </a:solidFill>
                          <a:effectLst/>
                          <a:latin typeface="Calibri" panose="020F0502020204030204" pitchFamily="34" charset="0"/>
                        </a:rPr>
                        <a:t>Comm. Frequency</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609600">
                <a:tc>
                  <a:txBody>
                    <a:bodyPr/>
                    <a:lstStyle/>
                    <a:p>
                      <a:pPr algn="ctr" fontAlgn="b"/>
                      <a:r>
                        <a:rPr lang="en-US" sz="2000" b="1" i="0" u="none" strike="noStrike" dirty="0">
                          <a:solidFill>
                            <a:srgbClr val="000000"/>
                          </a:solidFill>
                          <a:effectLst/>
                          <a:latin typeface="Century Gothic" panose="020B0502020202020204" pitchFamily="34" charset="0"/>
                        </a:rPr>
                        <a:t>Eidi</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4500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28.3%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28.3%</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1"/>
                  </a:ext>
                </a:extLst>
              </a:tr>
              <a:tr h="609600">
                <a:tc>
                  <a:txBody>
                    <a:bodyPr/>
                    <a:lstStyle/>
                    <a:p>
                      <a:pPr algn="ctr" fontAlgn="b"/>
                      <a:r>
                        <a:rPr lang="en-US" sz="2000" b="1" i="0" u="none" strike="noStrike" dirty="0">
                          <a:solidFill>
                            <a:srgbClr val="000000"/>
                          </a:solidFill>
                          <a:effectLst/>
                          <a:latin typeface="Century Gothic" panose="020B0502020202020204" pitchFamily="34" charset="0"/>
                        </a:rPr>
                        <a:t>Dress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53.5%</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2"/>
                  </a:ext>
                </a:extLst>
              </a:tr>
              <a:tr h="609600">
                <a:tc>
                  <a:txBody>
                    <a:bodyPr/>
                    <a:lstStyle/>
                    <a:p>
                      <a:pPr algn="ctr" fontAlgn="b"/>
                      <a:r>
                        <a:rPr lang="en-US" sz="2000" b="1" i="0" u="none" strike="noStrike">
                          <a:solidFill>
                            <a:srgbClr val="000000"/>
                          </a:solidFill>
                          <a:effectLst/>
                          <a:latin typeface="Century Gothic" panose="020B0502020202020204" pitchFamily="34" charset="0"/>
                        </a:rPr>
                        <a:t>Perfume</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78.6%</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3"/>
                  </a:ext>
                </a:extLst>
              </a:tr>
              <a:tr h="609600">
                <a:tc>
                  <a:txBody>
                    <a:bodyPr/>
                    <a:lstStyle/>
                    <a:p>
                      <a:pPr algn="ctr" fontAlgn="b"/>
                      <a:r>
                        <a:rPr lang="en-US" sz="2000" b="1" i="0" u="none" strike="noStrike">
                          <a:solidFill>
                            <a:srgbClr val="000000"/>
                          </a:solidFill>
                          <a:effectLst/>
                          <a:latin typeface="Century Gothic" panose="020B0502020202020204" pitchFamily="34" charset="0"/>
                        </a:rPr>
                        <a:t>Shoes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2400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15.1%</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93.7%</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4"/>
                  </a:ext>
                </a:extLst>
              </a:tr>
              <a:tr h="609600">
                <a:tc>
                  <a:txBody>
                    <a:bodyPr/>
                    <a:lstStyle/>
                    <a:p>
                      <a:pPr algn="ctr" fontAlgn="b"/>
                      <a:r>
                        <a:rPr lang="en-US" sz="2000" b="1" i="0" u="none" strike="noStrike" dirty="0">
                          <a:solidFill>
                            <a:srgbClr val="000000"/>
                          </a:solidFill>
                          <a:effectLst/>
                          <a:latin typeface="Century Gothic" panose="020B0502020202020204" pitchFamily="34" charset="0"/>
                        </a:rPr>
                        <a:t>Others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1000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6.3%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100.0%</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5"/>
                  </a:ext>
                </a:extLst>
              </a:tr>
              <a:tr h="609600">
                <a:tc>
                  <a:txBody>
                    <a:bodyPr/>
                    <a:lstStyle/>
                    <a:p>
                      <a:pPr algn="ctr" fontAlgn="b"/>
                      <a:r>
                        <a:rPr lang="en-US" sz="2000" b="1" i="1" u="none" strike="noStrike" dirty="0">
                          <a:solidFill>
                            <a:schemeClr val="accent6">
                              <a:lumMod val="75000"/>
                            </a:schemeClr>
                          </a:solidFill>
                          <a:effectLst/>
                          <a:latin typeface="Century Gothic" panose="020B0502020202020204" pitchFamily="34" charset="0"/>
                        </a:rPr>
                        <a:t>Total</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2000" b="1" i="1" u="none" strike="noStrike" dirty="0">
                          <a:solidFill>
                            <a:schemeClr val="accent6">
                              <a:lumMod val="75000"/>
                            </a:schemeClr>
                          </a:solidFill>
                          <a:effectLst/>
                          <a:latin typeface="Century Gothic" panose="020B0502020202020204" pitchFamily="34" charset="0"/>
                        </a:rPr>
                        <a:t>15900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95043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Pareto Diagram</a:t>
            </a:r>
          </a:p>
        </p:txBody>
      </p:sp>
      <p:sp>
        <p:nvSpPr>
          <p:cNvPr id="52" name="Rectangle 6"/>
          <p:cNvSpPr>
            <a:spLocks noChangeArrowheads="1"/>
          </p:cNvSpPr>
          <p:nvPr/>
        </p:nvSpPr>
        <p:spPr bwMode="auto">
          <a:xfrm>
            <a:off x="1828800" y="1115171"/>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Solution by Minitab: Step by Step</a:t>
            </a:r>
          </a:p>
        </p:txBody>
      </p:sp>
      <p:graphicFrame>
        <p:nvGraphicFramePr>
          <p:cNvPr id="5" name="Table 4"/>
          <p:cNvGraphicFramePr>
            <a:graphicFrameLocks noGrp="1"/>
          </p:cNvGraphicFramePr>
          <p:nvPr/>
        </p:nvGraphicFramePr>
        <p:xfrm>
          <a:off x="7503211" y="228600"/>
          <a:ext cx="2895601" cy="2286004"/>
        </p:xfrm>
        <a:graphic>
          <a:graphicData uri="http://schemas.openxmlformats.org/drawingml/2006/table">
            <a:tbl>
              <a:tblPr/>
              <a:tblGrid>
                <a:gridCol w="579121">
                  <a:extLst>
                    <a:ext uri="{9D8B030D-6E8A-4147-A177-3AD203B41FA5}">
                      <a16:colId xmlns:a16="http://schemas.microsoft.com/office/drawing/2014/main" val="20000"/>
                    </a:ext>
                  </a:extLst>
                </a:gridCol>
                <a:gridCol w="563881">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199">
                  <a:extLst>
                    <a:ext uri="{9D8B030D-6E8A-4147-A177-3AD203B41FA5}">
                      <a16:colId xmlns:a16="http://schemas.microsoft.com/office/drawing/2014/main" val="20003"/>
                    </a:ext>
                  </a:extLst>
                </a:gridCol>
              </a:tblGrid>
              <a:tr h="350792">
                <a:tc>
                  <a:txBody>
                    <a:bodyPr/>
                    <a:lstStyle/>
                    <a:p>
                      <a:pPr algn="ctr" fontAlgn="b"/>
                      <a:r>
                        <a:rPr lang="en-US" sz="1100" b="1" i="0" u="none" strike="noStrike" dirty="0">
                          <a:solidFill>
                            <a:srgbClr val="FFFFFF"/>
                          </a:solidFill>
                          <a:effectLst/>
                          <a:latin typeface="Calibri" panose="020F0502020204030204" pitchFamily="34" charset="0"/>
                        </a:rPr>
                        <a:t>Head</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a:solidFill>
                            <a:srgbClr val="FFFFFF"/>
                          </a:solidFill>
                          <a:effectLst/>
                          <a:latin typeface="Calibri" panose="020F0502020204030204" pitchFamily="34" charset="0"/>
                        </a:rPr>
                        <a:t>Expense</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FFFFFF"/>
                          </a:solidFill>
                          <a:effectLst/>
                          <a:latin typeface="Calibri" panose="020F0502020204030204" pitchFamily="34" charset="0"/>
                        </a:rPr>
                        <a:t>Ratio to total</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FFFFFF"/>
                          </a:solidFill>
                          <a:effectLst/>
                          <a:latin typeface="Calibri" panose="020F0502020204030204" pitchFamily="34" charset="0"/>
                        </a:rPr>
                        <a:t>Comm. Frequency</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Eidi</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4500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28.3%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28.3%</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1"/>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Dress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53.5%</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2"/>
                  </a:ext>
                </a:extLst>
              </a:tr>
              <a:tr h="350792">
                <a:tc>
                  <a:txBody>
                    <a:bodyPr/>
                    <a:lstStyle/>
                    <a:p>
                      <a:pPr algn="ctr" fontAlgn="b"/>
                      <a:r>
                        <a:rPr lang="en-US" sz="1100" b="1" i="0" u="none" strike="noStrike">
                          <a:solidFill>
                            <a:srgbClr val="000000"/>
                          </a:solidFill>
                          <a:effectLst/>
                          <a:latin typeface="Century Gothic" panose="020B0502020202020204" pitchFamily="34" charset="0"/>
                        </a:rPr>
                        <a:t>Perfume</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78.6%</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3"/>
                  </a:ext>
                </a:extLst>
              </a:tr>
              <a:tr h="316884">
                <a:tc>
                  <a:txBody>
                    <a:bodyPr/>
                    <a:lstStyle/>
                    <a:p>
                      <a:pPr algn="ctr" fontAlgn="b"/>
                      <a:r>
                        <a:rPr lang="en-US" sz="1100" b="1" i="0" u="none" strike="noStrike">
                          <a:solidFill>
                            <a:srgbClr val="000000"/>
                          </a:solidFill>
                          <a:effectLst/>
                          <a:latin typeface="Century Gothic" panose="020B0502020202020204" pitchFamily="34" charset="0"/>
                        </a:rPr>
                        <a:t>Shoes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2400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15.1%</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93.7%</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4"/>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Others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6.3%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100.0%</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5"/>
                  </a:ext>
                </a:extLst>
              </a:tr>
              <a:tr h="316884">
                <a:tc>
                  <a:txBody>
                    <a:bodyPr/>
                    <a:lstStyle/>
                    <a:p>
                      <a:pPr algn="ctr" fontAlgn="b"/>
                      <a:r>
                        <a:rPr lang="en-US" sz="1100" b="1" i="1" u="none" strike="noStrike" dirty="0">
                          <a:solidFill>
                            <a:schemeClr val="accent6">
                              <a:lumMod val="75000"/>
                            </a:schemeClr>
                          </a:solidFill>
                          <a:effectLst/>
                          <a:latin typeface="Century Gothic" panose="020B0502020202020204" pitchFamily="34" charset="0"/>
                        </a:rPr>
                        <a:t>Total</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1" i="1" u="none" strike="noStrike" dirty="0">
                          <a:solidFill>
                            <a:schemeClr val="accent6">
                              <a:lumMod val="75000"/>
                            </a:schemeClr>
                          </a:solidFill>
                          <a:effectLst/>
                          <a:latin typeface="Century Gothic" panose="020B0502020202020204" pitchFamily="34" charset="0"/>
                        </a:rPr>
                        <a:t>15900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4" name="Picture 3"/>
          <p:cNvPicPr>
            <a:picLocks noChangeAspect="1"/>
          </p:cNvPicPr>
          <p:nvPr/>
        </p:nvPicPr>
        <p:blipFill rotWithShape="1">
          <a:blip r:embed="rId4"/>
          <a:srcRect b="10417"/>
          <a:stretch/>
        </p:blipFill>
        <p:spPr>
          <a:xfrm>
            <a:off x="1918262" y="2042214"/>
            <a:ext cx="3720539" cy="29869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3" name="Rectangle 6"/>
          <p:cNvSpPr>
            <a:spLocks noChangeArrowheads="1"/>
          </p:cNvSpPr>
          <p:nvPr/>
        </p:nvSpPr>
        <p:spPr bwMode="auto">
          <a:xfrm>
            <a:off x="1828800" y="1607313"/>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1 : Open Minitab</a:t>
            </a:r>
          </a:p>
        </p:txBody>
      </p:sp>
      <p:pic>
        <p:nvPicPr>
          <p:cNvPr id="6" name="Picture 5"/>
          <p:cNvPicPr>
            <a:picLocks noChangeAspect="1"/>
          </p:cNvPicPr>
          <p:nvPr/>
        </p:nvPicPr>
        <p:blipFill rotWithShape="1">
          <a:blip r:embed="rId5"/>
          <a:srcRect t="3125" r="71094" b="60417"/>
          <a:stretch/>
        </p:blipFill>
        <p:spPr>
          <a:xfrm>
            <a:off x="6516928" y="2950229"/>
            <a:ext cx="3911380" cy="32757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4" name="Rectangle 6"/>
          <p:cNvSpPr>
            <a:spLocks noChangeArrowheads="1"/>
          </p:cNvSpPr>
          <p:nvPr/>
        </p:nvSpPr>
        <p:spPr bwMode="auto">
          <a:xfrm>
            <a:off x="6389708" y="2579036"/>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2 : Enter Data</a:t>
            </a:r>
          </a:p>
        </p:txBody>
      </p:sp>
    </p:spTree>
    <p:extLst>
      <p:ext uri="{BB962C8B-B14F-4D97-AF65-F5344CB8AC3E}">
        <p14:creationId xmlns:p14="http://schemas.microsoft.com/office/powerpoint/2010/main" val="3870044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Pareto Diagram</a:t>
            </a:r>
          </a:p>
        </p:txBody>
      </p:sp>
      <p:sp>
        <p:nvSpPr>
          <p:cNvPr id="52" name="Rectangle 6"/>
          <p:cNvSpPr>
            <a:spLocks noChangeArrowheads="1"/>
          </p:cNvSpPr>
          <p:nvPr/>
        </p:nvSpPr>
        <p:spPr bwMode="auto">
          <a:xfrm>
            <a:off x="1828800" y="1115171"/>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Solution by Minitab: Step by Step</a:t>
            </a:r>
          </a:p>
        </p:txBody>
      </p:sp>
      <p:graphicFrame>
        <p:nvGraphicFramePr>
          <p:cNvPr id="5" name="Table 4"/>
          <p:cNvGraphicFramePr>
            <a:graphicFrameLocks noGrp="1"/>
          </p:cNvGraphicFramePr>
          <p:nvPr/>
        </p:nvGraphicFramePr>
        <p:xfrm>
          <a:off x="7503211" y="228600"/>
          <a:ext cx="2895601" cy="2286004"/>
        </p:xfrm>
        <a:graphic>
          <a:graphicData uri="http://schemas.openxmlformats.org/drawingml/2006/table">
            <a:tbl>
              <a:tblPr/>
              <a:tblGrid>
                <a:gridCol w="579121">
                  <a:extLst>
                    <a:ext uri="{9D8B030D-6E8A-4147-A177-3AD203B41FA5}">
                      <a16:colId xmlns:a16="http://schemas.microsoft.com/office/drawing/2014/main" val="20000"/>
                    </a:ext>
                  </a:extLst>
                </a:gridCol>
                <a:gridCol w="563881">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199">
                  <a:extLst>
                    <a:ext uri="{9D8B030D-6E8A-4147-A177-3AD203B41FA5}">
                      <a16:colId xmlns:a16="http://schemas.microsoft.com/office/drawing/2014/main" val="20003"/>
                    </a:ext>
                  </a:extLst>
                </a:gridCol>
              </a:tblGrid>
              <a:tr h="350792">
                <a:tc>
                  <a:txBody>
                    <a:bodyPr/>
                    <a:lstStyle/>
                    <a:p>
                      <a:pPr algn="ctr" fontAlgn="b"/>
                      <a:r>
                        <a:rPr lang="en-US" sz="1100" b="1" i="0" u="none" strike="noStrike" dirty="0">
                          <a:solidFill>
                            <a:srgbClr val="FFFFFF"/>
                          </a:solidFill>
                          <a:effectLst/>
                          <a:latin typeface="Calibri" panose="020F0502020204030204" pitchFamily="34" charset="0"/>
                        </a:rPr>
                        <a:t>Head</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a:solidFill>
                            <a:srgbClr val="FFFFFF"/>
                          </a:solidFill>
                          <a:effectLst/>
                          <a:latin typeface="Calibri" panose="020F0502020204030204" pitchFamily="34" charset="0"/>
                        </a:rPr>
                        <a:t>Expense</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FFFFFF"/>
                          </a:solidFill>
                          <a:effectLst/>
                          <a:latin typeface="Calibri" panose="020F0502020204030204" pitchFamily="34" charset="0"/>
                        </a:rPr>
                        <a:t>Ratio to total</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FFFFFF"/>
                          </a:solidFill>
                          <a:effectLst/>
                          <a:latin typeface="Calibri" panose="020F0502020204030204" pitchFamily="34" charset="0"/>
                        </a:rPr>
                        <a:t>Comm. Frequency</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Eidi</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4500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28.3%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28.3%</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1"/>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Dress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53.5%</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2"/>
                  </a:ext>
                </a:extLst>
              </a:tr>
              <a:tr h="350792">
                <a:tc>
                  <a:txBody>
                    <a:bodyPr/>
                    <a:lstStyle/>
                    <a:p>
                      <a:pPr algn="ctr" fontAlgn="b"/>
                      <a:r>
                        <a:rPr lang="en-US" sz="1100" b="1" i="0" u="none" strike="noStrike">
                          <a:solidFill>
                            <a:srgbClr val="000000"/>
                          </a:solidFill>
                          <a:effectLst/>
                          <a:latin typeface="Century Gothic" panose="020B0502020202020204" pitchFamily="34" charset="0"/>
                        </a:rPr>
                        <a:t>Perfume</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78.6%</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3"/>
                  </a:ext>
                </a:extLst>
              </a:tr>
              <a:tr h="316884">
                <a:tc>
                  <a:txBody>
                    <a:bodyPr/>
                    <a:lstStyle/>
                    <a:p>
                      <a:pPr algn="ctr" fontAlgn="b"/>
                      <a:r>
                        <a:rPr lang="en-US" sz="1100" b="1" i="0" u="none" strike="noStrike">
                          <a:solidFill>
                            <a:srgbClr val="000000"/>
                          </a:solidFill>
                          <a:effectLst/>
                          <a:latin typeface="Century Gothic" panose="020B0502020202020204" pitchFamily="34" charset="0"/>
                        </a:rPr>
                        <a:t>Shoes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2400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15.1%</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93.7%</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4"/>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Others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6.3%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100.0%</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5"/>
                  </a:ext>
                </a:extLst>
              </a:tr>
              <a:tr h="316884">
                <a:tc>
                  <a:txBody>
                    <a:bodyPr/>
                    <a:lstStyle/>
                    <a:p>
                      <a:pPr algn="ctr" fontAlgn="b"/>
                      <a:r>
                        <a:rPr lang="en-US" sz="1100" b="1" i="1" u="none" strike="noStrike" dirty="0">
                          <a:solidFill>
                            <a:schemeClr val="accent6">
                              <a:lumMod val="75000"/>
                            </a:schemeClr>
                          </a:solidFill>
                          <a:effectLst/>
                          <a:latin typeface="Century Gothic" panose="020B0502020202020204" pitchFamily="34" charset="0"/>
                        </a:rPr>
                        <a:t>Total</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1" i="1" u="none" strike="noStrike" dirty="0">
                          <a:solidFill>
                            <a:schemeClr val="accent6">
                              <a:lumMod val="75000"/>
                            </a:schemeClr>
                          </a:solidFill>
                          <a:effectLst/>
                          <a:latin typeface="Century Gothic" panose="020B0502020202020204" pitchFamily="34" charset="0"/>
                        </a:rPr>
                        <a:t>15900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3" name="Rectangle 6"/>
          <p:cNvSpPr>
            <a:spLocks noChangeArrowheads="1"/>
          </p:cNvSpPr>
          <p:nvPr/>
        </p:nvSpPr>
        <p:spPr bwMode="auto">
          <a:xfrm>
            <a:off x="1828800" y="1442045"/>
            <a:ext cx="5562600" cy="701731"/>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3 : Go to Stat Menu &gt; Quality Tools &gt; Pareto Chart</a:t>
            </a:r>
          </a:p>
        </p:txBody>
      </p:sp>
      <p:sp>
        <p:nvSpPr>
          <p:cNvPr id="54" name="Rectangle 6"/>
          <p:cNvSpPr>
            <a:spLocks noChangeArrowheads="1"/>
          </p:cNvSpPr>
          <p:nvPr/>
        </p:nvSpPr>
        <p:spPr bwMode="auto">
          <a:xfrm>
            <a:off x="6248400" y="2498670"/>
            <a:ext cx="4267200" cy="701731"/>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4 : A window will appear to select data</a:t>
            </a:r>
          </a:p>
        </p:txBody>
      </p:sp>
      <p:pic>
        <p:nvPicPr>
          <p:cNvPr id="55" name="Picture 54"/>
          <p:cNvPicPr>
            <a:picLocks noChangeAspect="1"/>
          </p:cNvPicPr>
          <p:nvPr/>
        </p:nvPicPr>
        <p:blipFill rotWithShape="1">
          <a:blip r:embed="rId4"/>
          <a:srcRect t="2084" r="33594" b="28125"/>
          <a:stretch/>
        </p:blipFill>
        <p:spPr>
          <a:xfrm>
            <a:off x="1981200" y="2204453"/>
            <a:ext cx="4038600" cy="33633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7" name="Picture 56"/>
          <p:cNvPicPr>
            <a:picLocks noChangeAspect="1"/>
          </p:cNvPicPr>
          <p:nvPr/>
        </p:nvPicPr>
        <p:blipFill rotWithShape="1">
          <a:blip r:embed="rId5"/>
          <a:srcRect l="19531" t="30208" r="19531" b="32293"/>
          <a:stretch/>
        </p:blipFill>
        <p:spPr>
          <a:xfrm>
            <a:off x="6365804" y="3222340"/>
            <a:ext cx="4149797" cy="31784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8" name="Oval 57"/>
          <p:cNvSpPr/>
          <p:nvPr/>
        </p:nvSpPr>
        <p:spPr>
          <a:xfrm>
            <a:off x="9677400" y="5643964"/>
            <a:ext cx="914400" cy="375837"/>
          </a:xfrm>
          <a:prstGeom prst="ellipse">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574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Pareto Diagram</a:t>
            </a:r>
          </a:p>
        </p:txBody>
      </p:sp>
      <p:sp>
        <p:nvSpPr>
          <p:cNvPr id="52" name="Rectangle 6"/>
          <p:cNvSpPr>
            <a:spLocks noChangeArrowheads="1"/>
          </p:cNvSpPr>
          <p:nvPr/>
        </p:nvSpPr>
        <p:spPr bwMode="auto">
          <a:xfrm>
            <a:off x="1828800" y="1115171"/>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Solution by Minitab: Step by Step</a:t>
            </a:r>
          </a:p>
        </p:txBody>
      </p:sp>
      <p:graphicFrame>
        <p:nvGraphicFramePr>
          <p:cNvPr id="5" name="Table 4"/>
          <p:cNvGraphicFramePr>
            <a:graphicFrameLocks noGrp="1"/>
          </p:cNvGraphicFramePr>
          <p:nvPr/>
        </p:nvGraphicFramePr>
        <p:xfrm>
          <a:off x="7503211" y="228600"/>
          <a:ext cx="2895601" cy="2286004"/>
        </p:xfrm>
        <a:graphic>
          <a:graphicData uri="http://schemas.openxmlformats.org/drawingml/2006/table">
            <a:tbl>
              <a:tblPr/>
              <a:tblGrid>
                <a:gridCol w="579121">
                  <a:extLst>
                    <a:ext uri="{9D8B030D-6E8A-4147-A177-3AD203B41FA5}">
                      <a16:colId xmlns:a16="http://schemas.microsoft.com/office/drawing/2014/main" val="20000"/>
                    </a:ext>
                  </a:extLst>
                </a:gridCol>
                <a:gridCol w="563881">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199">
                  <a:extLst>
                    <a:ext uri="{9D8B030D-6E8A-4147-A177-3AD203B41FA5}">
                      <a16:colId xmlns:a16="http://schemas.microsoft.com/office/drawing/2014/main" val="20003"/>
                    </a:ext>
                  </a:extLst>
                </a:gridCol>
              </a:tblGrid>
              <a:tr h="350792">
                <a:tc>
                  <a:txBody>
                    <a:bodyPr/>
                    <a:lstStyle/>
                    <a:p>
                      <a:pPr algn="ctr" fontAlgn="b"/>
                      <a:r>
                        <a:rPr lang="en-US" sz="1100" b="1" i="0" u="none" strike="noStrike" dirty="0">
                          <a:solidFill>
                            <a:srgbClr val="FFFFFF"/>
                          </a:solidFill>
                          <a:effectLst/>
                          <a:latin typeface="Calibri" panose="020F0502020204030204" pitchFamily="34" charset="0"/>
                        </a:rPr>
                        <a:t>Head</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a:solidFill>
                            <a:srgbClr val="FFFFFF"/>
                          </a:solidFill>
                          <a:effectLst/>
                          <a:latin typeface="Calibri" panose="020F0502020204030204" pitchFamily="34" charset="0"/>
                        </a:rPr>
                        <a:t>Expense</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FFFFFF"/>
                          </a:solidFill>
                          <a:effectLst/>
                          <a:latin typeface="Calibri" panose="020F0502020204030204" pitchFamily="34" charset="0"/>
                        </a:rPr>
                        <a:t>Ratio to total</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FFFFFF"/>
                          </a:solidFill>
                          <a:effectLst/>
                          <a:latin typeface="Calibri" panose="020F0502020204030204" pitchFamily="34" charset="0"/>
                        </a:rPr>
                        <a:t>Comm. Frequency</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Eidi</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4500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28.3%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28.3%</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1"/>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Dress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53.5%</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2"/>
                  </a:ext>
                </a:extLst>
              </a:tr>
              <a:tr h="350792">
                <a:tc>
                  <a:txBody>
                    <a:bodyPr/>
                    <a:lstStyle/>
                    <a:p>
                      <a:pPr algn="ctr" fontAlgn="b"/>
                      <a:r>
                        <a:rPr lang="en-US" sz="1100" b="1" i="0" u="none" strike="noStrike">
                          <a:solidFill>
                            <a:srgbClr val="000000"/>
                          </a:solidFill>
                          <a:effectLst/>
                          <a:latin typeface="Century Gothic" panose="020B0502020202020204" pitchFamily="34" charset="0"/>
                        </a:rPr>
                        <a:t>Perfume</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25.2%</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78.6%</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3"/>
                  </a:ext>
                </a:extLst>
              </a:tr>
              <a:tr h="316884">
                <a:tc>
                  <a:txBody>
                    <a:bodyPr/>
                    <a:lstStyle/>
                    <a:p>
                      <a:pPr algn="ctr" fontAlgn="b"/>
                      <a:r>
                        <a:rPr lang="en-US" sz="1100" b="1" i="0" u="none" strike="noStrike">
                          <a:solidFill>
                            <a:srgbClr val="000000"/>
                          </a:solidFill>
                          <a:effectLst/>
                          <a:latin typeface="Century Gothic" panose="020B0502020202020204" pitchFamily="34" charset="0"/>
                        </a:rPr>
                        <a:t>Shoes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2400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15.1%</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93.7%</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4"/>
                  </a:ext>
                </a:extLst>
              </a:tr>
              <a:tr h="316884">
                <a:tc>
                  <a:txBody>
                    <a:bodyPr/>
                    <a:lstStyle/>
                    <a:p>
                      <a:pPr algn="ctr" fontAlgn="b"/>
                      <a:r>
                        <a:rPr lang="en-US" sz="1100" b="1" i="0" u="none" strike="noStrike" dirty="0">
                          <a:solidFill>
                            <a:srgbClr val="000000"/>
                          </a:solidFill>
                          <a:effectLst/>
                          <a:latin typeface="Century Gothic" panose="020B0502020202020204" pitchFamily="34" charset="0"/>
                        </a:rPr>
                        <a:t>Others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6.3%</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100.0%</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5"/>
                  </a:ext>
                </a:extLst>
              </a:tr>
              <a:tr h="316884">
                <a:tc>
                  <a:txBody>
                    <a:bodyPr/>
                    <a:lstStyle/>
                    <a:p>
                      <a:pPr algn="ctr" fontAlgn="b"/>
                      <a:r>
                        <a:rPr lang="en-US" sz="1100" b="1" i="1" u="none" strike="noStrike" dirty="0">
                          <a:solidFill>
                            <a:schemeClr val="accent6">
                              <a:lumMod val="75000"/>
                            </a:schemeClr>
                          </a:solidFill>
                          <a:effectLst/>
                          <a:latin typeface="Century Gothic" panose="020B0502020202020204" pitchFamily="34" charset="0"/>
                        </a:rPr>
                        <a:t>Total</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100" b="1" i="1" u="none" strike="noStrike" dirty="0">
                          <a:solidFill>
                            <a:schemeClr val="accent6">
                              <a:lumMod val="75000"/>
                            </a:schemeClr>
                          </a:solidFill>
                          <a:effectLst/>
                          <a:latin typeface="Century Gothic" panose="020B0502020202020204" pitchFamily="34" charset="0"/>
                        </a:rPr>
                        <a:t>15900</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3" name="Rectangle 6"/>
          <p:cNvSpPr>
            <a:spLocks noChangeArrowheads="1"/>
          </p:cNvSpPr>
          <p:nvPr/>
        </p:nvSpPr>
        <p:spPr bwMode="auto">
          <a:xfrm>
            <a:off x="1828800" y="1607313"/>
            <a:ext cx="5562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5 : A Pareto Chart will appear</a:t>
            </a:r>
          </a:p>
        </p:txBody>
      </p:sp>
      <p:sp>
        <p:nvSpPr>
          <p:cNvPr id="54" name="Rectangle 6"/>
          <p:cNvSpPr>
            <a:spLocks noChangeArrowheads="1"/>
          </p:cNvSpPr>
          <p:nvPr/>
        </p:nvSpPr>
        <p:spPr bwMode="auto">
          <a:xfrm>
            <a:off x="6248400" y="2663938"/>
            <a:ext cx="42672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6 : Analyse the Chart</a:t>
            </a:r>
          </a:p>
        </p:txBody>
      </p:sp>
      <p:pic>
        <p:nvPicPr>
          <p:cNvPr id="4" name="Picture 3"/>
          <p:cNvPicPr>
            <a:picLocks noChangeAspect="1"/>
          </p:cNvPicPr>
          <p:nvPr/>
        </p:nvPicPr>
        <p:blipFill>
          <a:blip r:embed="rId4"/>
          <a:stretch>
            <a:fillRect/>
          </a:stretch>
        </p:blipFill>
        <p:spPr>
          <a:xfrm>
            <a:off x="1874646" y="2203877"/>
            <a:ext cx="4068955" cy="29096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6" name="Picture 55"/>
          <p:cNvPicPr>
            <a:picLocks noChangeAspect="1"/>
          </p:cNvPicPr>
          <p:nvPr/>
        </p:nvPicPr>
        <p:blipFill>
          <a:blip r:embed="rId4"/>
          <a:stretch>
            <a:fillRect/>
          </a:stretch>
        </p:blipFill>
        <p:spPr>
          <a:xfrm>
            <a:off x="6370446" y="3184645"/>
            <a:ext cx="3992755" cy="29096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50" name="Straight Connector 49"/>
          <p:cNvCxnSpPr/>
          <p:nvPr/>
        </p:nvCxnSpPr>
        <p:spPr>
          <a:xfrm>
            <a:off x="8458200" y="4038600"/>
            <a:ext cx="1447800" cy="0"/>
          </a:xfrm>
          <a:prstGeom prst="line">
            <a:avLst/>
          </a:prstGeom>
          <a:ln w="12700">
            <a:solidFill>
              <a:schemeClr val="accent2">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8458200" y="4038600"/>
            <a:ext cx="0" cy="990600"/>
          </a:xfrm>
          <a:prstGeom prst="line">
            <a:avLst/>
          </a:prstGeom>
          <a:ln w="12700">
            <a:solidFill>
              <a:schemeClr val="accent2">
                <a:lumMod val="75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704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Cause &amp; Effect Diagram</a:t>
            </a:r>
          </a:p>
        </p:txBody>
      </p:sp>
      <p:sp>
        <p:nvSpPr>
          <p:cNvPr id="52" name="Rectangle 6"/>
          <p:cNvSpPr>
            <a:spLocks noChangeArrowheads="1"/>
          </p:cNvSpPr>
          <p:nvPr/>
        </p:nvSpPr>
        <p:spPr bwMode="auto">
          <a:xfrm>
            <a:off x="1828800" y="1357243"/>
            <a:ext cx="8839200" cy="4182683"/>
          </a:xfrm>
          <a:prstGeom prst="rect">
            <a:avLst/>
          </a:prstGeom>
          <a:noFill/>
          <a:ln w="9525">
            <a:noFill/>
            <a:miter lim="800000"/>
            <a:headEnd/>
            <a:tailEnd/>
          </a:ln>
          <a:effectLst/>
        </p:spPr>
        <p:txBody>
          <a:bodyPr wrap="square" anchor="ctr">
            <a:spAutoFit/>
          </a:bodyPr>
          <a:lstStyle/>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 Graphic tool to represent relationship between an effect and influencing  causes. </a:t>
            </a:r>
          </a:p>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 There can not be an effect without a cause.</a:t>
            </a:r>
          </a:p>
          <a:p>
            <a:pPr marL="285750" indent="-285750" fontAlgn="base">
              <a:spcBef>
                <a:spcPct val="0"/>
              </a:spcBef>
              <a:spcAft>
                <a:spcPct val="0"/>
              </a:spcAft>
              <a:buClr>
                <a:schemeClr val="tx1"/>
              </a:buClr>
              <a:buFont typeface="Wingdings" panose="05000000000000000000" pitchFamily="2" charset="2"/>
              <a:buChar char="q"/>
            </a:pPr>
            <a:endParaRPr lang="en-GB" dirty="0">
              <a:solidFill>
                <a:srgbClr val="000000"/>
              </a:solidFill>
              <a:latin typeface="Century Gothic" panose="020B0502020202020204" pitchFamily="34" charset="0"/>
              <a:ea typeface="ＭＳ Ｐゴシック" charset="-128"/>
            </a:endParaRPr>
          </a:p>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 Reduce incidence of subjective decision making.</a:t>
            </a:r>
          </a:p>
          <a:p>
            <a:pPr marL="285750" indent="-285750" fontAlgn="base">
              <a:spcBef>
                <a:spcPct val="0"/>
              </a:spcBef>
              <a:spcAft>
                <a:spcPct val="0"/>
              </a:spcAft>
              <a:buClr>
                <a:schemeClr val="tx1"/>
              </a:buClr>
              <a:buFont typeface="Wingdings" panose="05000000000000000000" pitchFamily="2" charset="2"/>
              <a:buChar char="q"/>
            </a:pPr>
            <a:endParaRPr lang="en-GB" dirty="0">
              <a:solidFill>
                <a:srgbClr val="000000"/>
              </a:solidFill>
              <a:latin typeface="Century Gothic" panose="020B0502020202020204" pitchFamily="34" charset="0"/>
              <a:ea typeface="ＭＳ Ｐゴシック" charset="-128"/>
            </a:endParaRPr>
          </a:p>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 Identify main causes X’s influencing Y.</a:t>
            </a:r>
          </a:p>
          <a:p>
            <a:pPr marL="285750" indent="-285750" fontAlgn="base">
              <a:spcBef>
                <a:spcPct val="0"/>
              </a:spcBef>
              <a:spcAft>
                <a:spcPct val="0"/>
              </a:spcAft>
              <a:buClr>
                <a:schemeClr val="tx1"/>
              </a:buClr>
              <a:buFont typeface="Wingdings" panose="05000000000000000000" pitchFamily="2" charset="2"/>
              <a:buChar char="q"/>
            </a:pPr>
            <a:endParaRPr lang="en-GB" dirty="0">
              <a:solidFill>
                <a:srgbClr val="000000"/>
              </a:solidFill>
              <a:latin typeface="Century Gothic" panose="020B0502020202020204" pitchFamily="34" charset="0"/>
              <a:ea typeface="ＭＳ Ｐゴシック" charset="-128"/>
            </a:endParaRPr>
          </a:p>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 For each of the X’s identified in the fishbone diagram classify them as follows:</a:t>
            </a:r>
          </a:p>
          <a:p>
            <a:pPr lvl="0" fontAlgn="base">
              <a:spcBef>
                <a:spcPct val="0"/>
              </a:spcBef>
              <a:spcAft>
                <a:spcPct val="0"/>
              </a:spcAft>
              <a:buClr>
                <a:srgbClr val="FF0000"/>
              </a:buClr>
            </a:pPr>
            <a:endParaRPr lang="en-GB" dirty="0">
              <a:solidFill>
                <a:srgbClr val="000000"/>
              </a:solidFill>
              <a:latin typeface="Century Gothic" panose="020B0502020202020204" pitchFamily="34" charset="0"/>
              <a:ea typeface="ＭＳ Ｐゴシック" charset="-128"/>
            </a:endParaRPr>
          </a:p>
          <a:p>
            <a:pPr marL="285750" indent="-285750" fontAlgn="base">
              <a:spcBef>
                <a:spcPct val="0"/>
              </a:spcBef>
              <a:spcAft>
                <a:spcPct val="0"/>
              </a:spcAft>
              <a:buClr>
                <a:schemeClr val="tx1"/>
              </a:buClr>
              <a:buFont typeface="Arial" panose="020B0604020202020204" pitchFamily="34" charset="0"/>
              <a:buChar char="•"/>
            </a:pPr>
            <a:r>
              <a:rPr lang="en-GB" sz="1600" b="1" dirty="0">
                <a:latin typeface="Century Gothic" panose="020B0502020202020204" pitchFamily="34" charset="0"/>
                <a:ea typeface="ＭＳ Ｐゴシック" charset="-128"/>
              </a:rPr>
              <a:t>Controllable – C (Knowledge)</a:t>
            </a:r>
          </a:p>
          <a:p>
            <a:pPr marL="285750" indent="-285750" fontAlgn="base">
              <a:spcBef>
                <a:spcPct val="0"/>
              </a:spcBef>
              <a:spcAft>
                <a:spcPct val="0"/>
              </a:spcAft>
              <a:buClr>
                <a:schemeClr val="tx1"/>
              </a:buClr>
              <a:buFont typeface="Arial" panose="020B0604020202020204" pitchFamily="34" charset="0"/>
              <a:buChar char="•"/>
            </a:pPr>
            <a:r>
              <a:rPr lang="en-GB" sz="1600" b="1" dirty="0">
                <a:latin typeface="Century Gothic" panose="020B0502020202020204" pitchFamily="34" charset="0"/>
                <a:ea typeface="ＭＳ Ｐゴシック" charset="-128"/>
              </a:rPr>
              <a:t>Procedural – P (People, Systems)</a:t>
            </a:r>
          </a:p>
          <a:p>
            <a:pPr marL="285750" indent="-285750" fontAlgn="base">
              <a:spcBef>
                <a:spcPct val="0"/>
              </a:spcBef>
              <a:spcAft>
                <a:spcPct val="0"/>
              </a:spcAft>
              <a:buClr>
                <a:schemeClr val="tx1"/>
              </a:buClr>
              <a:buFont typeface="Arial" panose="020B0604020202020204" pitchFamily="34" charset="0"/>
              <a:buChar char="•"/>
            </a:pPr>
            <a:r>
              <a:rPr lang="en-GB" sz="1600" b="1" dirty="0">
                <a:latin typeface="Century Gothic" panose="020B0502020202020204" pitchFamily="34" charset="0"/>
                <a:ea typeface="ＭＳ Ｐゴシック" charset="-128"/>
              </a:rPr>
              <a:t>Noise – N (External or Uncontrollable)</a:t>
            </a:r>
          </a:p>
          <a:p>
            <a:pPr>
              <a:lnSpc>
                <a:spcPct val="110000"/>
              </a:lnSpc>
            </a:pPr>
            <a:endParaRPr lang="en-GB" dirty="0">
              <a:latin typeface="Century Gothic" panose="020B0502020202020204" pitchFamily="34" charset="0"/>
            </a:endParaRPr>
          </a:p>
        </p:txBody>
      </p:sp>
      <p:sp>
        <p:nvSpPr>
          <p:cNvPr id="50" name="Rectangle 6"/>
          <p:cNvSpPr>
            <a:spLocks noChangeArrowheads="1"/>
          </p:cNvSpPr>
          <p:nvPr/>
        </p:nvSpPr>
        <p:spPr bwMode="auto">
          <a:xfrm rot="20519973">
            <a:off x="7880921" y="4386470"/>
            <a:ext cx="2362200" cy="1569660"/>
          </a:xfrm>
          <a:prstGeom prst="rect">
            <a:avLst/>
          </a:prstGeom>
          <a:solidFill>
            <a:schemeClr val="accent5">
              <a:lumMod val="60000"/>
              <a:lumOff val="40000"/>
            </a:schemeClr>
          </a:solidFill>
          <a:ln>
            <a:noFill/>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gn="l"/>
            <a:r>
              <a:rPr lang="en-US" sz="1600" dirty="0">
                <a:solidFill>
                  <a:schemeClr val="tx1"/>
                </a:solidFill>
                <a:latin typeface="Century Gothic" panose="020B0502020202020204" pitchFamily="34" charset="0"/>
              </a:rPr>
              <a:t>First produced in 1950 by Professor Kaoru Ishikawa - Also called the: </a:t>
            </a:r>
          </a:p>
          <a:p>
            <a:pPr marL="114300" lvl="1">
              <a:buClr>
                <a:schemeClr val="accent2"/>
              </a:buClr>
              <a:buSzPct val="75000"/>
              <a:buFont typeface="Wingdings" pitchFamily="2" charset="2"/>
              <a:buChar char="u"/>
            </a:pPr>
            <a:r>
              <a:rPr lang="en-US" sz="1600" b="1" dirty="0">
                <a:solidFill>
                  <a:schemeClr val="tx1"/>
                </a:solidFill>
                <a:latin typeface="Century Gothic" panose="020B0502020202020204" pitchFamily="34" charset="0"/>
              </a:rPr>
              <a:t> Ishikawa Diagram</a:t>
            </a:r>
          </a:p>
          <a:p>
            <a:pPr marL="114300" lvl="1">
              <a:buClr>
                <a:schemeClr val="accent2"/>
              </a:buClr>
              <a:buSzPct val="75000"/>
              <a:buFont typeface="Wingdings" pitchFamily="2" charset="2"/>
              <a:buChar char="u"/>
            </a:pPr>
            <a:r>
              <a:rPr lang="en-US" sz="1600" b="1" dirty="0">
                <a:solidFill>
                  <a:schemeClr val="tx1"/>
                </a:solidFill>
                <a:latin typeface="Century Gothic" panose="020B0502020202020204" pitchFamily="34" charset="0"/>
              </a:rPr>
              <a:t> Fish Bone Diagram</a:t>
            </a:r>
          </a:p>
        </p:txBody>
      </p:sp>
    </p:spTree>
    <p:extLst>
      <p:ext uri="{BB962C8B-B14F-4D97-AF65-F5344CB8AC3E}">
        <p14:creationId xmlns:p14="http://schemas.microsoft.com/office/powerpoint/2010/main" val="3106207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Construction of C&amp;E Diagram</a:t>
            </a:r>
          </a:p>
        </p:txBody>
      </p:sp>
      <p:sp>
        <p:nvSpPr>
          <p:cNvPr id="52" name="Rectangle 6"/>
          <p:cNvSpPr>
            <a:spLocks noChangeArrowheads="1"/>
          </p:cNvSpPr>
          <p:nvPr/>
        </p:nvSpPr>
        <p:spPr bwMode="auto">
          <a:xfrm>
            <a:off x="1885950" y="1412758"/>
            <a:ext cx="8839200" cy="1889748"/>
          </a:xfrm>
          <a:prstGeom prst="rect">
            <a:avLst/>
          </a:prstGeom>
          <a:noFill/>
          <a:ln w="9525">
            <a:noFill/>
            <a:miter lim="800000"/>
            <a:headEnd/>
            <a:tailEnd/>
          </a:ln>
          <a:effectLst/>
        </p:spPr>
        <p:txBody>
          <a:bodyPr wrap="square" anchor="ctr">
            <a:spAutoFit/>
          </a:bodyPr>
          <a:lstStyle/>
          <a:p>
            <a:pPr marL="285750" indent="-285750">
              <a:lnSpc>
                <a:spcPct val="85000"/>
              </a:lnSpc>
              <a:spcAft>
                <a:spcPts val="600"/>
              </a:spcAft>
              <a:buClr>
                <a:schemeClr val="tx1"/>
              </a:buClr>
              <a:buFont typeface="Wingdings" panose="05000000000000000000" pitchFamily="2" charset="2"/>
              <a:buChar char="q"/>
            </a:pPr>
            <a:r>
              <a:rPr lang="en-US" dirty="0">
                <a:latin typeface="Century Gothic" panose="020B0502020202020204" pitchFamily="34" charset="0"/>
              </a:rPr>
              <a:t>Define problem</a:t>
            </a:r>
          </a:p>
          <a:p>
            <a:pPr marL="285750" indent="-285750">
              <a:lnSpc>
                <a:spcPct val="85000"/>
              </a:lnSpc>
              <a:spcAft>
                <a:spcPts val="600"/>
              </a:spcAft>
              <a:buClr>
                <a:schemeClr val="tx1"/>
              </a:buClr>
              <a:buFont typeface="Wingdings" panose="05000000000000000000" pitchFamily="2" charset="2"/>
              <a:buChar char="q"/>
            </a:pPr>
            <a:r>
              <a:rPr lang="en-US" dirty="0">
                <a:latin typeface="Century Gothic" panose="020B0502020202020204" pitchFamily="34" charset="0"/>
              </a:rPr>
              <a:t>Gather members for discussion</a:t>
            </a:r>
          </a:p>
          <a:p>
            <a:pPr marL="285750" indent="-285750">
              <a:lnSpc>
                <a:spcPct val="85000"/>
              </a:lnSpc>
              <a:spcAft>
                <a:spcPts val="600"/>
              </a:spcAft>
              <a:buClr>
                <a:schemeClr val="tx1"/>
              </a:buClr>
              <a:buFont typeface="Wingdings" panose="05000000000000000000" pitchFamily="2" charset="2"/>
              <a:buChar char="q"/>
            </a:pPr>
            <a:r>
              <a:rPr lang="en-US" dirty="0">
                <a:latin typeface="Century Gothic" panose="020B0502020202020204" pitchFamily="34" charset="0"/>
              </a:rPr>
              <a:t>Conduct </a:t>
            </a:r>
            <a:r>
              <a:rPr lang="en-US" b="1" i="1" dirty="0">
                <a:latin typeface="Century Gothic" panose="020B0502020202020204" pitchFamily="34" charset="0"/>
              </a:rPr>
              <a:t>Brainstorming</a:t>
            </a:r>
            <a:endParaRPr lang="en-US" dirty="0">
              <a:latin typeface="Century Gothic" panose="020B0502020202020204" pitchFamily="34" charset="0"/>
            </a:endParaRPr>
          </a:p>
          <a:p>
            <a:pPr marL="285750" indent="-285750">
              <a:lnSpc>
                <a:spcPct val="85000"/>
              </a:lnSpc>
              <a:spcAft>
                <a:spcPts val="600"/>
              </a:spcAft>
              <a:buClr>
                <a:schemeClr val="tx1"/>
              </a:buClr>
              <a:buFont typeface="Wingdings" panose="05000000000000000000" pitchFamily="2" charset="2"/>
              <a:buChar char="q"/>
            </a:pPr>
            <a:r>
              <a:rPr lang="en-US" dirty="0">
                <a:latin typeface="Century Gothic" panose="020B0502020202020204" pitchFamily="34" charset="0"/>
              </a:rPr>
              <a:t>Group causes into 6M’s for </a:t>
            </a:r>
            <a:r>
              <a:rPr lang="en-US" b="1" i="1" dirty="0">
                <a:latin typeface="Century Gothic" panose="020B0502020202020204" pitchFamily="34" charset="0"/>
              </a:rPr>
              <a:t>Product</a:t>
            </a:r>
            <a:r>
              <a:rPr lang="en-US" dirty="0">
                <a:latin typeface="Century Gothic" panose="020B0502020202020204" pitchFamily="34" charset="0"/>
              </a:rPr>
              <a:t> and 4P’s and 2M’s for the </a:t>
            </a:r>
            <a:r>
              <a:rPr lang="en-US" b="1" i="1" dirty="0">
                <a:latin typeface="Century Gothic" panose="020B0502020202020204" pitchFamily="34" charset="0"/>
              </a:rPr>
              <a:t>Services </a:t>
            </a:r>
          </a:p>
          <a:p>
            <a:pPr marL="285750" indent="-285750">
              <a:lnSpc>
                <a:spcPct val="85000"/>
              </a:lnSpc>
              <a:spcAft>
                <a:spcPts val="600"/>
              </a:spcAft>
              <a:buClr>
                <a:schemeClr val="tx1"/>
              </a:buClr>
              <a:buFont typeface="Wingdings" panose="05000000000000000000" pitchFamily="2" charset="2"/>
              <a:buChar char="q"/>
            </a:pPr>
            <a:r>
              <a:rPr lang="en-GB" dirty="0">
                <a:latin typeface="Century Gothic" panose="020B0502020202020204" pitchFamily="34" charset="0"/>
              </a:rPr>
              <a:t>For each cause, ask, “What goes wrong that produces the effect”.</a:t>
            </a:r>
            <a:endParaRPr lang="en-US" dirty="0">
              <a:latin typeface="Century Gothic" panose="020B0502020202020204" pitchFamily="34" charset="0"/>
            </a:endParaRPr>
          </a:p>
          <a:p>
            <a:pPr marL="285750" indent="-285750">
              <a:lnSpc>
                <a:spcPct val="85000"/>
              </a:lnSpc>
              <a:spcAft>
                <a:spcPts val="600"/>
              </a:spcAft>
              <a:buClr>
                <a:schemeClr val="tx1"/>
              </a:buClr>
              <a:buFont typeface="Wingdings" panose="05000000000000000000" pitchFamily="2" charset="2"/>
              <a:buChar char="q"/>
            </a:pPr>
            <a:r>
              <a:rPr lang="en-US" dirty="0">
                <a:latin typeface="Century Gothic" panose="020B0502020202020204" pitchFamily="34" charset="0"/>
              </a:rPr>
              <a:t>Identify major causes </a:t>
            </a:r>
          </a:p>
        </p:txBody>
      </p:sp>
      <p:sp>
        <p:nvSpPr>
          <p:cNvPr id="50" name="Rectangle 6"/>
          <p:cNvSpPr>
            <a:spLocks noChangeArrowheads="1"/>
          </p:cNvSpPr>
          <p:nvPr/>
        </p:nvSpPr>
        <p:spPr bwMode="auto">
          <a:xfrm rot="20519973">
            <a:off x="2918770" y="3926405"/>
            <a:ext cx="2362200" cy="2062103"/>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p>
            <a:pPr algn="l"/>
            <a:r>
              <a:rPr lang="en-US" sz="1600" b="1" dirty="0">
                <a:solidFill>
                  <a:schemeClr val="tx1"/>
                </a:solidFill>
                <a:latin typeface="Century Gothic" panose="020B0502020202020204" pitchFamily="34" charset="0"/>
              </a:rPr>
              <a:t>Product: 6M’s</a:t>
            </a:r>
          </a:p>
          <a:p>
            <a:pPr algn="l"/>
            <a:endParaRPr lang="en-US" sz="1600" dirty="0">
              <a:solidFill>
                <a:schemeClr val="tx1"/>
              </a:solidFill>
              <a:latin typeface="Century Gothic" panose="020B0502020202020204" pitchFamily="34" charset="0"/>
            </a:endParaRP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Man</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Machine</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Material</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Method</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Mother-nature</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Measurement</a:t>
            </a:r>
          </a:p>
        </p:txBody>
      </p:sp>
      <p:sp>
        <p:nvSpPr>
          <p:cNvPr id="53" name="Rectangle 6"/>
          <p:cNvSpPr>
            <a:spLocks noChangeArrowheads="1"/>
          </p:cNvSpPr>
          <p:nvPr/>
        </p:nvSpPr>
        <p:spPr bwMode="auto">
          <a:xfrm rot="20519973">
            <a:off x="7347410" y="3769645"/>
            <a:ext cx="2362200" cy="2062103"/>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spAutoFit/>
          </a:bodyPr>
          <a:lstStyle/>
          <a:p>
            <a:pPr algn="l"/>
            <a:r>
              <a:rPr lang="en-US" sz="1600" b="1" dirty="0">
                <a:solidFill>
                  <a:schemeClr val="tx1"/>
                </a:solidFill>
                <a:latin typeface="Century Gothic" panose="020B0502020202020204" pitchFamily="34" charset="0"/>
              </a:rPr>
              <a:t>Services: 5M’s &amp; 1E</a:t>
            </a:r>
          </a:p>
          <a:p>
            <a:pPr algn="l"/>
            <a:endParaRPr lang="en-US" sz="1600" dirty="0">
              <a:solidFill>
                <a:schemeClr val="tx1"/>
              </a:solidFill>
              <a:latin typeface="Century Gothic" panose="020B0502020202020204" pitchFamily="34" charset="0"/>
            </a:endParaRP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People</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Policy</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Procedure</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Place</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Measurement</a:t>
            </a:r>
          </a:p>
          <a:p>
            <a:pPr marL="285750" indent="-285750">
              <a:buFont typeface="Arial" panose="020B0604020202020204" pitchFamily="34" charset="0"/>
              <a:buChar char="•"/>
            </a:pPr>
            <a:r>
              <a:rPr lang="en-US" sz="1600" dirty="0">
                <a:solidFill>
                  <a:schemeClr val="tx1"/>
                </a:solidFill>
                <a:latin typeface="Century Gothic" panose="020B0502020202020204" pitchFamily="34" charset="0"/>
              </a:rPr>
              <a:t>Mother-nature</a:t>
            </a:r>
          </a:p>
        </p:txBody>
      </p:sp>
    </p:spTree>
    <p:extLst>
      <p:ext uri="{BB962C8B-B14F-4D97-AF65-F5344CB8AC3E}">
        <p14:creationId xmlns:p14="http://schemas.microsoft.com/office/powerpoint/2010/main" val="1773981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Cause &amp; Effect Diagram</a:t>
            </a:r>
          </a:p>
        </p:txBody>
      </p:sp>
      <p:grpSp>
        <p:nvGrpSpPr>
          <p:cNvPr id="4" name="Group 3"/>
          <p:cNvGrpSpPr/>
          <p:nvPr/>
        </p:nvGrpSpPr>
        <p:grpSpPr>
          <a:xfrm>
            <a:off x="2788852" y="1884457"/>
            <a:ext cx="6881561" cy="3641816"/>
            <a:chOff x="936625" y="1884457"/>
            <a:chExt cx="4170194" cy="3641816"/>
          </a:xfrm>
        </p:grpSpPr>
        <p:sp>
          <p:nvSpPr>
            <p:cNvPr id="53" name="Line 7"/>
            <p:cNvSpPr>
              <a:spLocks noChangeShapeType="1"/>
            </p:cNvSpPr>
            <p:nvPr/>
          </p:nvSpPr>
          <p:spPr bwMode="auto">
            <a:xfrm flipH="1" flipV="1">
              <a:off x="3425825" y="2222500"/>
              <a:ext cx="427038" cy="1331913"/>
            </a:xfrm>
            <a:prstGeom prst="line">
              <a:avLst/>
            </a:prstGeom>
            <a:noFill/>
            <a:ln w="7938">
              <a:solidFill>
                <a:srgbClr val="000000"/>
              </a:solidFill>
              <a:round/>
              <a:headEnd/>
              <a:tailEnd/>
            </a:ln>
            <a:effectLst/>
          </p:spPr>
          <p:txBody>
            <a:bodyPr/>
            <a:lstStyle/>
            <a:p>
              <a:endParaRPr lang="en-IN"/>
            </a:p>
          </p:txBody>
        </p:sp>
        <p:sp>
          <p:nvSpPr>
            <p:cNvPr id="54" name="Line 8"/>
            <p:cNvSpPr>
              <a:spLocks noChangeShapeType="1"/>
            </p:cNvSpPr>
            <p:nvPr/>
          </p:nvSpPr>
          <p:spPr bwMode="auto">
            <a:xfrm flipH="1">
              <a:off x="3425825" y="3554413"/>
              <a:ext cx="427038" cy="1330325"/>
            </a:xfrm>
            <a:prstGeom prst="line">
              <a:avLst/>
            </a:prstGeom>
            <a:noFill/>
            <a:ln w="7938">
              <a:solidFill>
                <a:srgbClr val="000000"/>
              </a:solidFill>
              <a:round/>
              <a:headEnd/>
              <a:tailEnd/>
            </a:ln>
            <a:effectLst/>
          </p:spPr>
          <p:txBody>
            <a:bodyPr/>
            <a:lstStyle/>
            <a:p>
              <a:endParaRPr lang="en-IN"/>
            </a:p>
          </p:txBody>
        </p:sp>
        <p:sp>
          <p:nvSpPr>
            <p:cNvPr id="55" name="Line 9"/>
            <p:cNvSpPr>
              <a:spLocks noChangeShapeType="1"/>
            </p:cNvSpPr>
            <p:nvPr/>
          </p:nvSpPr>
          <p:spPr bwMode="auto">
            <a:xfrm flipH="1" flipV="1">
              <a:off x="2371725" y="2222500"/>
              <a:ext cx="425450" cy="1331913"/>
            </a:xfrm>
            <a:prstGeom prst="line">
              <a:avLst/>
            </a:prstGeom>
            <a:noFill/>
            <a:ln w="7938">
              <a:solidFill>
                <a:srgbClr val="000000"/>
              </a:solidFill>
              <a:round/>
              <a:headEnd/>
              <a:tailEnd/>
            </a:ln>
            <a:effectLst/>
          </p:spPr>
          <p:txBody>
            <a:bodyPr/>
            <a:lstStyle/>
            <a:p>
              <a:endParaRPr lang="en-IN"/>
            </a:p>
          </p:txBody>
        </p:sp>
        <p:sp>
          <p:nvSpPr>
            <p:cNvPr id="56" name="Line 10"/>
            <p:cNvSpPr>
              <a:spLocks noChangeShapeType="1"/>
            </p:cNvSpPr>
            <p:nvPr/>
          </p:nvSpPr>
          <p:spPr bwMode="auto">
            <a:xfrm flipH="1">
              <a:off x="2371725" y="3554413"/>
              <a:ext cx="425450" cy="1330325"/>
            </a:xfrm>
            <a:prstGeom prst="line">
              <a:avLst/>
            </a:prstGeom>
            <a:noFill/>
            <a:ln w="7938">
              <a:solidFill>
                <a:srgbClr val="000000"/>
              </a:solidFill>
              <a:round/>
              <a:headEnd/>
              <a:tailEnd/>
            </a:ln>
            <a:effectLst/>
          </p:spPr>
          <p:txBody>
            <a:bodyPr/>
            <a:lstStyle/>
            <a:p>
              <a:endParaRPr lang="en-IN"/>
            </a:p>
          </p:txBody>
        </p:sp>
        <p:sp>
          <p:nvSpPr>
            <p:cNvPr id="57" name="Line 11"/>
            <p:cNvSpPr>
              <a:spLocks noChangeShapeType="1"/>
            </p:cNvSpPr>
            <p:nvPr/>
          </p:nvSpPr>
          <p:spPr bwMode="auto">
            <a:xfrm flipH="1" flipV="1">
              <a:off x="1314450" y="2222500"/>
              <a:ext cx="427038" cy="1331913"/>
            </a:xfrm>
            <a:prstGeom prst="line">
              <a:avLst/>
            </a:prstGeom>
            <a:noFill/>
            <a:ln w="7938">
              <a:solidFill>
                <a:srgbClr val="000000"/>
              </a:solidFill>
              <a:round/>
              <a:headEnd/>
              <a:tailEnd/>
            </a:ln>
            <a:effectLst/>
          </p:spPr>
          <p:txBody>
            <a:bodyPr/>
            <a:lstStyle/>
            <a:p>
              <a:endParaRPr lang="en-IN"/>
            </a:p>
          </p:txBody>
        </p:sp>
        <p:sp>
          <p:nvSpPr>
            <p:cNvPr id="58" name="Line 12"/>
            <p:cNvSpPr>
              <a:spLocks noChangeShapeType="1"/>
            </p:cNvSpPr>
            <p:nvPr/>
          </p:nvSpPr>
          <p:spPr bwMode="auto">
            <a:xfrm flipH="1">
              <a:off x="1314450" y="3554413"/>
              <a:ext cx="427038" cy="1330325"/>
            </a:xfrm>
            <a:prstGeom prst="line">
              <a:avLst/>
            </a:prstGeom>
            <a:noFill/>
            <a:ln w="7938">
              <a:solidFill>
                <a:srgbClr val="000000"/>
              </a:solidFill>
              <a:round/>
              <a:headEnd/>
              <a:tailEnd/>
            </a:ln>
            <a:effectLst/>
          </p:spPr>
          <p:txBody>
            <a:bodyPr/>
            <a:lstStyle/>
            <a:p>
              <a:endParaRPr lang="en-IN"/>
            </a:p>
          </p:txBody>
        </p:sp>
        <p:sp>
          <p:nvSpPr>
            <p:cNvPr id="59" name="Line 13"/>
            <p:cNvSpPr>
              <a:spLocks noChangeShapeType="1"/>
            </p:cNvSpPr>
            <p:nvPr/>
          </p:nvSpPr>
          <p:spPr bwMode="auto">
            <a:xfrm>
              <a:off x="4729163" y="3857625"/>
              <a:ext cx="0" cy="390525"/>
            </a:xfrm>
            <a:prstGeom prst="line">
              <a:avLst/>
            </a:prstGeom>
            <a:noFill/>
            <a:ln w="9525">
              <a:solidFill>
                <a:schemeClr val="tx1"/>
              </a:solidFill>
              <a:round/>
              <a:headEnd/>
              <a:tailEnd type="triangle" w="med" len="med"/>
            </a:ln>
            <a:effectLst/>
          </p:spPr>
          <p:txBody>
            <a:bodyPr wrap="none" anchor="ctr"/>
            <a:lstStyle/>
            <a:p>
              <a:endParaRPr lang="en-IN"/>
            </a:p>
          </p:txBody>
        </p:sp>
        <p:sp>
          <p:nvSpPr>
            <p:cNvPr id="60" name="Oval 14"/>
            <p:cNvSpPr>
              <a:spLocks noChangeArrowheads="1"/>
            </p:cNvSpPr>
            <p:nvPr/>
          </p:nvSpPr>
          <p:spPr bwMode="auto">
            <a:xfrm>
              <a:off x="4233694" y="4313238"/>
              <a:ext cx="873125" cy="590550"/>
            </a:xfrm>
            <a:prstGeom prst="ellipse">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r>
                <a:rPr lang="en-US" sz="1400" dirty="0">
                  <a:solidFill>
                    <a:schemeClr val="bg1"/>
                  </a:solidFill>
                  <a:latin typeface="Arial" charset="0"/>
                </a:rPr>
                <a:t>    Failure</a:t>
              </a:r>
            </a:p>
            <a:p>
              <a:r>
                <a:rPr lang="en-US" sz="1400" dirty="0">
                  <a:solidFill>
                    <a:schemeClr val="bg1"/>
                  </a:solidFill>
                  <a:latin typeface="Arial" charset="0"/>
                </a:rPr>
                <a:t>     Effect</a:t>
              </a:r>
              <a:endParaRPr lang="en-US" sz="1600" dirty="0">
                <a:solidFill>
                  <a:schemeClr val="bg1"/>
                </a:solidFill>
                <a:latin typeface="Arial" charset="0"/>
              </a:endParaRPr>
            </a:p>
          </p:txBody>
        </p:sp>
        <p:sp>
          <p:nvSpPr>
            <p:cNvPr id="61" name="Line 15"/>
            <p:cNvSpPr>
              <a:spLocks noChangeShapeType="1"/>
            </p:cNvSpPr>
            <p:nvPr/>
          </p:nvSpPr>
          <p:spPr bwMode="auto">
            <a:xfrm>
              <a:off x="936625" y="3532188"/>
              <a:ext cx="3143250" cy="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anchor="ctr"/>
            <a:lstStyle/>
            <a:p>
              <a:endParaRPr lang="en-IN"/>
            </a:p>
          </p:txBody>
        </p:sp>
        <p:sp>
          <p:nvSpPr>
            <p:cNvPr id="62" name="Text Box 16"/>
            <p:cNvSpPr txBox="1">
              <a:spLocks noChangeArrowheads="1"/>
            </p:cNvSpPr>
            <p:nvPr/>
          </p:nvSpPr>
          <p:spPr bwMode="auto">
            <a:xfrm>
              <a:off x="4356220" y="3276600"/>
              <a:ext cx="744296" cy="523220"/>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a:spAutoFit/>
            </a:bodyPr>
            <a:lstStyle/>
            <a:p>
              <a:pPr algn="ctr"/>
              <a:r>
                <a:rPr lang="en-US" sz="1400" dirty="0">
                  <a:solidFill>
                    <a:schemeClr val="tx1"/>
                  </a:solidFill>
                  <a:latin typeface="Arial" charset="0"/>
                </a:rPr>
                <a:t>Failure Mode</a:t>
              </a:r>
            </a:p>
            <a:p>
              <a:pPr algn="ctr"/>
              <a:r>
                <a:rPr lang="en-US" sz="1400" dirty="0">
                  <a:solidFill>
                    <a:schemeClr val="tx1"/>
                  </a:solidFill>
                  <a:latin typeface="Arial" charset="0"/>
                </a:rPr>
                <a:t> (Defect)</a:t>
              </a:r>
            </a:p>
          </p:txBody>
        </p:sp>
        <p:sp>
          <p:nvSpPr>
            <p:cNvPr id="63" name="Text Box 17"/>
            <p:cNvSpPr txBox="1">
              <a:spLocks noChangeArrowheads="1"/>
            </p:cNvSpPr>
            <p:nvPr/>
          </p:nvSpPr>
          <p:spPr bwMode="auto">
            <a:xfrm>
              <a:off x="1096067" y="1884457"/>
              <a:ext cx="2527810" cy="307777"/>
            </a:xfrm>
            <a:prstGeom prst="rect">
              <a:avLst/>
            </a:prstGeom>
            <a:noFill/>
            <a:ln w="9525">
              <a:noFill/>
              <a:miter lim="800000"/>
              <a:headEnd/>
              <a:tailEnd/>
            </a:ln>
            <a:effectLst/>
          </p:spPr>
          <p:txBody>
            <a:bodyPr wrap="none">
              <a:spAutoFit/>
            </a:bodyPr>
            <a:lstStyle/>
            <a:p>
              <a:pPr algn="l"/>
              <a:r>
                <a:rPr lang="en-US" sz="1400" dirty="0">
                  <a:latin typeface="Arial" charset="0"/>
                </a:rPr>
                <a:t>Measurements               Materials          Manpower</a:t>
              </a:r>
            </a:p>
          </p:txBody>
        </p:sp>
        <p:sp>
          <p:nvSpPr>
            <p:cNvPr id="64" name="Text Box 18"/>
            <p:cNvSpPr txBox="1">
              <a:spLocks noChangeArrowheads="1"/>
            </p:cNvSpPr>
            <p:nvPr/>
          </p:nvSpPr>
          <p:spPr bwMode="auto">
            <a:xfrm>
              <a:off x="1096068" y="5003053"/>
              <a:ext cx="2698646" cy="523220"/>
            </a:xfrm>
            <a:prstGeom prst="rect">
              <a:avLst/>
            </a:prstGeom>
            <a:noFill/>
            <a:ln w="9525">
              <a:noFill/>
              <a:miter lim="800000"/>
              <a:headEnd/>
              <a:tailEnd/>
            </a:ln>
            <a:effectLst/>
          </p:spPr>
          <p:txBody>
            <a:bodyPr wrap="square">
              <a:spAutoFit/>
            </a:bodyPr>
            <a:lstStyle/>
            <a:p>
              <a:pPr algn="l"/>
              <a:r>
                <a:rPr lang="en-US" sz="1400" dirty="0">
                  <a:latin typeface="Arial" charset="0"/>
                </a:rPr>
                <a:t>Mother                      Methods                      Machines</a:t>
              </a:r>
              <a:br>
                <a:rPr lang="en-US" sz="1400" dirty="0">
                  <a:latin typeface="Arial" charset="0"/>
                </a:rPr>
              </a:br>
              <a:r>
                <a:rPr lang="en-US" sz="1400" dirty="0">
                  <a:latin typeface="Arial" charset="0"/>
                </a:rPr>
                <a:t>Nature </a:t>
              </a:r>
            </a:p>
          </p:txBody>
        </p:sp>
      </p:grpSp>
    </p:spTree>
    <p:extLst>
      <p:ext uri="{BB962C8B-B14F-4D97-AF65-F5344CB8AC3E}">
        <p14:creationId xmlns:p14="http://schemas.microsoft.com/office/powerpoint/2010/main" val="3413808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Example 1: C &amp;E Diagram </a:t>
            </a:r>
            <a:r>
              <a:rPr lang="en-US" sz="2000" dirty="0">
                <a:solidFill>
                  <a:schemeClr val="accent6">
                    <a:lumMod val="75000"/>
                  </a:schemeClr>
                </a:solidFill>
                <a:latin typeface="Calisto MT" pitchFamily="18" charset="0"/>
              </a:rPr>
              <a:t>(Defects)</a:t>
            </a:r>
          </a:p>
        </p:txBody>
      </p:sp>
      <p:sp>
        <p:nvSpPr>
          <p:cNvPr id="65" name="Line 12"/>
          <p:cNvSpPr>
            <a:spLocks noChangeShapeType="1"/>
          </p:cNvSpPr>
          <p:nvPr/>
        </p:nvSpPr>
        <p:spPr bwMode="auto">
          <a:xfrm>
            <a:off x="2698751" y="3917950"/>
            <a:ext cx="6469063" cy="1588"/>
          </a:xfrm>
          <a:prstGeom prst="line">
            <a:avLst/>
          </a:prstGeom>
          <a:noFill/>
          <a:ln w="0">
            <a:solidFill>
              <a:srgbClr val="000000"/>
            </a:solidFill>
            <a:round/>
            <a:headEnd/>
            <a:tailEnd/>
          </a:ln>
        </p:spPr>
        <p:txBody>
          <a:bodyPr/>
          <a:lstStyle/>
          <a:p>
            <a:endParaRPr lang="en-IN"/>
          </a:p>
        </p:txBody>
      </p:sp>
      <p:sp>
        <p:nvSpPr>
          <p:cNvPr id="66" name="Freeform 13"/>
          <p:cNvSpPr>
            <a:spLocks/>
          </p:cNvSpPr>
          <p:nvPr/>
        </p:nvSpPr>
        <p:spPr bwMode="auto">
          <a:xfrm>
            <a:off x="9167814" y="3881439"/>
            <a:ext cx="71437" cy="71437"/>
          </a:xfrm>
          <a:custGeom>
            <a:avLst/>
            <a:gdLst/>
            <a:ahLst/>
            <a:cxnLst>
              <a:cxn ang="0">
                <a:pos x="134" y="67"/>
              </a:cxn>
              <a:cxn ang="0">
                <a:pos x="0" y="0"/>
              </a:cxn>
              <a:cxn ang="0">
                <a:pos x="0" y="135"/>
              </a:cxn>
              <a:cxn ang="0">
                <a:pos x="134" y="67"/>
              </a:cxn>
            </a:cxnLst>
            <a:rect l="0" t="0" r="r" b="b"/>
            <a:pathLst>
              <a:path w="134" h="135">
                <a:moveTo>
                  <a:pt x="134" y="67"/>
                </a:moveTo>
                <a:lnTo>
                  <a:pt x="0" y="0"/>
                </a:lnTo>
                <a:lnTo>
                  <a:pt x="0" y="135"/>
                </a:lnTo>
                <a:lnTo>
                  <a:pt x="134" y="67"/>
                </a:lnTo>
                <a:close/>
              </a:path>
            </a:pathLst>
          </a:custGeom>
          <a:solidFill>
            <a:srgbClr val="000000"/>
          </a:solidFill>
          <a:ln w="9525">
            <a:noFill/>
            <a:round/>
            <a:headEnd/>
            <a:tailEnd/>
          </a:ln>
        </p:spPr>
        <p:txBody>
          <a:bodyPr/>
          <a:lstStyle/>
          <a:p>
            <a:endParaRPr lang="en-IN"/>
          </a:p>
        </p:txBody>
      </p:sp>
      <p:sp>
        <p:nvSpPr>
          <p:cNvPr id="67" name="Freeform 14"/>
          <p:cNvSpPr>
            <a:spLocks/>
          </p:cNvSpPr>
          <p:nvPr/>
        </p:nvSpPr>
        <p:spPr bwMode="auto">
          <a:xfrm>
            <a:off x="9167814" y="3881439"/>
            <a:ext cx="71437" cy="71437"/>
          </a:xfrm>
          <a:custGeom>
            <a:avLst/>
            <a:gdLst/>
            <a:ahLst/>
            <a:cxnLst>
              <a:cxn ang="0">
                <a:pos x="134" y="67"/>
              </a:cxn>
              <a:cxn ang="0">
                <a:pos x="0" y="0"/>
              </a:cxn>
              <a:cxn ang="0">
                <a:pos x="0" y="135"/>
              </a:cxn>
              <a:cxn ang="0">
                <a:pos x="134" y="67"/>
              </a:cxn>
            </a:cxnLst>
            <a:rect l="0" t="0" r="r" b="b"/>
            <a:pathLst>
              <a:path w="134" h="135">
                <a:moveTo>
                  <a:pt x="134" y="67"/>
                </a:moveTo>
                <a:lnTo>
                  <a:pt x="0" y="0"/>
                </a:lnTo>
                <a:lnTo>
                  <a:pt x="0" y="135"/>
                </a:lnTo>
                <a:lnTo>
                  <a:pt x="134" y="67"/>
                </a:lnTo>
              </a:path>
            </a:pathLst>
          </a:custGeom>
          <a:noFill/>
          <a:ln w="0">
            <a:solidFill>
              <a:srgbClr val="000000"/>
            </a:solidFill>
            <a:prstDash val="solid"/>
            <a:round/>
            <a:headEnd/>
            <a:tailEnd/>
          </a:ln>
        </p:spPr>
        <p:txBody>
          <a:bodyPr/>
          <a:lstStyle/>
          <a:p>
            <a:endParaRPr lang="en-IN"/>
          </a:p>
        </p:txBody>
      </p:sp>
      <p:sp>
        <p:nvSpPr>
          <p:cNvPr id="68" name="Line 15"/>
          <p:cNvSpPr>
            <a:spLocks noChangeShapeType="1"/>
          </p:cNvSpPr>
          <p:nvPr/>
        </p:nvSpPr>
        <p:spPr bwMode="auto">
          <a:xfrm>
            <a:off x="6897689" y="2100264"/>
            <a:ext cx="1768475" cy="1768475"/>
          </a:xfrm>
          <a:prstGeom prst="line">
            <a:avLst/>
          </a:prstGeom>
          <a:noFill/>
          <a:ln w="0">
            <a:solidFill>
              <a:srgbClr val="000000"/>
            </a:solidFill>
            <a:round/>
            <a:headEnd/>
            <a:tailEnd/>
          </a:ln>
        </p:spPr>
        <p:txBody>
          <a:bodyPr/>
          <a:lstStyle/>
          <a:p>
            <a:endParaRPr lang="en-IN"/>
          </a:p>
        </p:txBody>
      </p:sp>
      <p:sp>
        <p:nvSpPr>
          <p:cNvPr id="69" name="Freeform 16"/>
          <p:cNvSpPr>
            <a:spLocks/>
          </p:cNvSpPr>
          <p:nvPr/>
        </p:nvSpPr>
        <p:spPr bwMode="auto">
          <a:xfrm>
            <a:off x="8640763" y="3841750"/>
            <a:ext cx="76200" cy="76200"/>
          </a:xfrm>
          <a:custGeom>
            <a:avLst/>
            <a:gdLst/>
            <a:ahLst/>
            <a:cxnLst>
              <a:cxn ang="0">
                <a:pos x="144" y="144"/>
              </a:cxn>
              <a:cxn ang="0">
                <a:pos x="96" y="0"/>
              </a:cxn>
              <a:cxn ang="0">
                <a:pos x="0" y="96"/>
              </a:cxn>
              <a:cxn ang="0">
                <a:pos x="144" y="144"/>
              </a:cxn>
            </a:cxnLst>
            <a:rect l="0" t="0" r="r" b="b"/>
            <a:pathLst>
              <a:path w="144" h="144">
                <a:moveTo>
                  <a:pt x="144" y="144"/>
                </a:moveTo>
                <a:lnTo>
                  <a:pt x="96" y="0"/>
                </a:lnTo>
                <a:lnTo>
                  <a:pt x="0" y="96"/>
                </a:lnTo>
                <a:lnTo>
                  <a:pt x="144" y="144"/>
                </a:lnTo>
                <a:close/>
              </a:path>
            </a:pathLst>
          </a:custGeom>
          <a:solidFill>
            <a:srgbClr val="000000"/>
          </a:solidFill>
          <a:ln w="9525">
            <a:noFill/>
            <a:round/>
            <a:headEnd/>
            <a:tailEnd/>
          </a:ln>
        </p:spPr>
        <p:txBody>
          <a:bodyPr/>
          <a:lstStyle/>
          <a:p>
            <a:endParaRPr lang="en-IN"/>
          </a:p>
        </p:txBody>
      </p:sp>
      <p:sp>
        <p:nvSpPr>
          <p:cNvPr id="70" name="Freeform 17"/>
          <p:cNvSpPr>
            <a:spLocks/>
          </p:cNvSpPr>
          <p:nvPr/>
        </p:nvSpPr>
        <p:spPr bwMode="auto">
          <a:xfrm>
            <a:off x="8640763" y="3841750"/>
            <a:ext cx="76200" cy="76200"/>
          </a:xfrm>
          <a:custGeom>
            <a:avLst/>
            <a:gdLst/>
            <a:ahLst/>
            <a:cxnLst>
              <a:cxn ang="0">
                <a:pos x="144" y="144"/>
              </a:cxn>
              <a:cxn ang="0">
                <a:pos x="96" y="0"/>
              </a:cxn>
              <a:cxn ang="0">
                <a:pos x="0" y="96"/>
              </a:cxn>
              <a:cxn ang="0">
                <a:pos x="144" y="144"/>
              </a:cxn>
            </a:cxnLst>
            <a:rect l="0" t="0" r="r" b="b"/>
            <a:pathLst>
              <a:path w="144" h="144">
                <a:moveTo>
                  <a:pt x="144" y="144"/>
                </a:moveTo>
                <a:lnTo>
                  <a:pt x="96" y="0"/>
                </a:lnTo>
                <a:lnTo>
                  <a:pt x="0" y="96"/>
                </a:lnTo>
                <a:lnTo>
                  <a:pt x="144" y="144"/>
                </a:lnTo>
              </a:path>
            </a:pathLst>
          </a:custGeom>
          <a:noFill/>
          <a:ln w="0">
            <a:solidFill>
              <a:srgbClr val="000000"/>
            </a:solidFill>
            <a:prstDash val="solid"/>
            <a:round/>
            <a:headEnd/>
            <a:tailEnd/>
          </a:ln>
        </p:spPr>
        <p:txBody>
          <a:bodyPr/>
          <a:lstStyle/>
          <a:p>
            <a:endParaRPr lang="en-IN"/>
          </a:p>
        </p:txBody>
      </p:sp>
      <p:sp>
        <p:nvSpPr>
          <p:cNvPr id="71" name="Rectangle 18"/>
          <p:cNvSpPr>
            <a:spLocks noChangeArrowheads="1"/>
          </p:cNvSpPr>
          <p:nvPr/>
        </p:nvSpPr>
        <p:spPr bwMode="auto">
          <a:xfrm>
            <a:off x="5638801" y="1900238"/>
            <a:ext cx="1298575" cy="309562"/>
          </a:xfrm>
          <a:prstGeom prst="rect">
            <a:avLst/>
          </a:prstGeom>
          <a:solidFill>
            <a:schemeClr val="accent1">
              <a:lumMod val="40000"/>
              <a:lumOff val="60000"/>
            </a:schemeClr>
          </a:solidFill>
          <a:ln w="9525">
            <a:noFill/>
            <a:miter lim="800000"/>
            <a:headEnd/>
            <a:tailEnd/>
          </a:ln>
        </p:spPr>
        <p:txBody>
          <a:bodyPr/>
          <a:lstStyle/>
          <a:p>
            <a:endParaRPr lang="en-IN" dirty="0"/>
          </a:p>
        </p:txBody>
      </p:sp>
      <p:sp>
        <p:nvSpPr>
          <p:cNvPr id="72" name="Rectangle 19"/>
          <p:cNvSpPr>
            <a:spLocks noChangeArrowheads="1"/>
          </p:cNvSpPr>
          <p:nvPr/>
        </p:nvSpPr>
        <p:spPr bwMode="auto">
          <a:xfrm>
            <a:off x="5737042" y="1981201"/>
            <a:ext cx="1022716" cy="200055"/>
          </a:xfrm>
          <a:prstGeom prst="rect">
            <a:avLst/>
          </a:prstGeom>
          <a:noFill/>
          <a:ln w="9525">
            <a:noFill/>
            <a:miter lim="800000"/>
            <a:headEnd/>
            <a:tailEnd/>
          </a:ln>
        </p:spPr>
        <p:txBody>
          <a:bodyPr wrap="none" lIns="0" tIns="0" rIns="0" bIns="0">
            <a:spAutoFit/>
          </a:bodyPr>
          <a:lstStyle/>
          <a:p>
            <a:pPr algn="ctr"/>
            <a:r>
              <a:rPr lang="en-US" sz="1300" dirty="0">
                <a:solidFill>
                  <a:srgbClr val="000080"/>
                </a:solidFill>
                <a:latin typeface="Arial" charset="0"/>
              </a:rPr>
              <a:t>Measurement</a:t>
            </a:r>
            <a:endParaRPr lang="en-US" dirty="0"/>
          </a:p>
        </p:txBody>
      </p:sp>
      <p:sp>
        <p:nvSpPr>
          <p:cNvPr id="73" name="Line 20"/>
          <p:cNvSpPr>
            <a:spLocks noChangeShapeType="1"/>
          </p:cNvSpPr>
          <p:nvPr/>
        </p:nvSpPr>
        <p:spPr bwMode="auto">
          <a:xfrm>
            <a:off x="6970713" y="2535239"/>
            <a:ext cx="292100" cy="1587"/>
          </a:xfrm>
          <a:prstGeom prst="line">
            <a:avLst/>
          </a:prstGeom>
          <a:noFill/>
          <a:ln w="0">
            <a:solidFill>
              <a:srgbClr val="000000"/>
            </a:solidFill>
            <a:round/>
            <a:headEnd/>
            <a:tailEnd/>
          </a:ln>
        </p:spPr>
        <p:txBody>
          <a:bodyPr/>
          <a:lstStyle/>
          <a:p>
            <a:endParaRPr lang="en-IN"/>
          </a:p>
        </p:txBody>
      </p:sp>
      <p:sp>
        <p:nvSpPr>
          <p:cNvPr id="74" name="Freeform 21"/>
          <p:cNvSpPr>
            <a:spLocks/>
          </p:cNvSpPr>
          <p:nvPr/>
        </p:nvSpPr>
        <p:spPr bwMode="auto">
          <a:xfrm>
            <a:off x="7262814" y="2500314"/>
            <a:ext cx="71437" cy="71437"/>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close/>
              </a:path>
            </a:pathLst>
          </a:custGeom>
          <a:solidFill>
            <a:srgbClr val="000000"/>
          </a:solidFill>
          <a:ln w="9525">
            <a:noFill/>
            <a:round/>
            <a:headEnd/>
            <a:tailEnd/>
          </a:ln>
        </p:spPr>
        <p:txBody>
          <a:bodyPr/>
          <a:lstStyle/>
          <a:p>
            <a:endParaRPr lang="en-IN"/>
          </a:p>
        </p:txBody>
      </p:sp>
      <p:sp>
        <p:nvSpPr>
          <p:cNvPr id="75" name="Freeform 22"/>
          <p:cNvSpPr>
            <a:spLocks/>
          </p:cNvSpPr>
          <p:nvPr/>
        </p:nvSpPr>
        <p:spPr bwMode="auto">
          <a:xfrm>
            <a:off x="7262814" y="2500314"/>
            <a:ext cx="71437" cy="71437"/>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path>
            </a:pathLst>
          </a:custGeom>
          <a:noFill/>
          <a:ln w="0">
            <a:solidFill>
              <a:srgbClr val="000000"/>
            </a:solidFill>
            <a:prstDash val="solid"/>
            <a:round/>
            <a:headEnd/>
            <a:tailEnd/>
          </a:ln>
        </p:spPr>
        <p:txBody>
          <a:bodyPr/>
          <a:lstStyle/>
          <a:p>
            <a:endParaRPr lang="en-IN"/>
          </a:p>
        </p:txBody>
      </p:sp>
      <p:sp>
        <p:nvSpPr>
          <p:cNvPr id="76" name="Rectangle 23"/>
          <p:cNvSpPr>
            <a:spLocks noChangeArrowheads="1"/>
          </p:cNvSpPr>
          <p:nvPr/>
        </p:nvSpPr>
        <p:spPr bwMode="auto">
          <a:xfrm>
            <a:off x="6040439" y="2455864"/>
            <a:ext cx="841375" cy="160337"/>
          </a:xfrm>
          <a:prstGeom prst="rect">
            <a:avLst/>
          </a:prstGeom>
          <a:noFill/>
          <a:ln w="9525">
            <a:noFill/>
            <a:miter lim="800000"/>
            <a:headEnd/>
            <a:tailEnd/>
          </a:ln>
        </p:spPr>
        <p:txBody>
          <a:bodyPr/>
          <a:lstStyle/>
          <a:p>
            <a:endParaRPr lang="en-IN"/>
          </a:p>
        </p:txBody>
      </p:sp>
      <p:sp>
        <p:nvSpPr>
          <p:cNvPr id="77" name="Rectangle 24"/>
          <p:cNvSpPr>
            <a:spLocks noChangeArrowheads="1"/>
          </p:cNvSpPr>
          <p:nvPr/>
        </p:nvSpPr>
        <p:spPr bwMode="auto">
          <a:xfrm>
            <a:off x="6018214" y="2438400"/>
            <a:ext cx="838371"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Reproducibility</a:t>
            </a:r>
            <a:endParaRPr lang="en-US"/>
          </a:p>
        </p:txBody>
      </p:sp>
      <p:sp>
        <p:nvSpPr>
          <p:cNvPr id="78" name="Line 25"/>
          <p:cNvSpPr>
            <a:spLocks noChangeShapeType="1"/>
          </p:cNvSpPr>
          <p:nvPr/>
        </p:nvSpPr>
        <p:spPr bwMode="auto">
          <a:xfrm flipH="1">
            <a:off x="7405689" y="2535239"/>
            <a:ext cx="376237" cy="1587"/>
          </a:xfrm>
          <a:prstGeom prst="line">
            <a:avLst/>
          </a:prstGeom>
          <a:noFill/>
          <a:ln w="0">
            <a:solidFill>
              <a:srgbClr val="000000"/>
            </a:solidFill>
            <a:round/>
            <a:headEnd/>
            <a:tailEnd/>
          </a:ln>
        </p:spPr>
        <p:txBody>
          <a:bodyPr/>
          <a:lstStyle/>
          <a:p>
            <a:endParaRPr lang="en-IN"/>
          </a:p>
        </p:txBody>
      </p:sp>
      <p:sp>
        <p:nvSpPr>
          <p:cNvPr id="79" name="Freeform 26"/>
          <p:cNvSpPr>
            <a:spLocks/>
          </p:cNvSpPr>
          <p:nvPr/>
        </p:nvSpPr>
        <p:spPr bwMode="auto">
          <a:xfrm>
            <a:off x="7334250" y="2500314"/>
            <a:ext cx="71438" cy="71437"/>
          </a:xfrm>
          <a:custGeom>
            <a:avLst/>
            <a:gdLst/>
            <a:ahLst/>
            <a:cxnLst>
              <a:cxn ang="0">
                <a:pos x="0" y="67"/>
              </a:cxn>
              <a:cxn ang="0">
                <a:pos x="135" y="134"/>
              </a:cxn>
              <a:cxn ang="0">
                <a:pos x="135" y="0"/>
              </a:cxn>
              <a:cxn ang="0">
                <a:pos x="0" y="67"/>
              </a:cxn>
            </a:cxnLst>
            <a:rect l="0" t="0" r="r" b="b"/>
            <a:pathLst>
              <a:path w="135" h="134">
                <a:moveTo>
                  <a:pt x="0" y="67"/>
                </a:moveTo>
                <a:lnTo>
                  <a:pt x="135" y="134"/>
                </a:lnTo>
                <a:lnTo>
                  <a:pt x="135" y="0"/>
                </a:lnTo>
                <a:lnTo>
                  <a:pt x="0" y="67"/>
                </a:lnTo>
                <a:close/>
              </a:path>
            </a:pathLst>
          </a:custGeom>
          <a:solidFill>
            <a:srgbClr val="000000"/>
          </a:solidFill>
          <a:ln w="9525">
            <a:noFill/>
            <a:round/>
            <a:headEnd/>
            <a:tailEnd/>
          </a:ln>
        </p:spPr>
        <p:txBody>
          <a:bodyPr/>
          <a:lstStyle/>
          <a:p>
            <a:endParaRPr lang="en-IN"/>
          </a:p>
        </p:txBody>
      </p:sp>
      <p:sp>
        <p:nvSpPr>
          <p:cNvPr id="80" name="Freeform 27"/>
          <p:cNvSpPr>
            <a:spLocks/>
          </p:cNvSpPr>
          <p:nvPr/>
        </p:nvSpPr>
        <p:spPr bwMode="auto">
          <a:xfrm>
            <a:off x="7334250" y="2500314"/>
            <a:ext cx="71438" cy="71437"/>
          </a:xfrm>
          <a:custGeom>
            <a:avLst/>
            <a:gdLst/>
            <a:ahLst/>
            <a:cxnLst>
              <a:cxn ang="0">
                <a:pos x="0" y="67"/>
              </a:cxn>
              <a:cxn ang="0">
                <a:pos x="135" y="134"/>
              </a:cxn>
              <a:cxn ang="0">
                <a:pos x="135" y="0"/>
              </a:cxn>
              <a:cxn ang="0">
                <a:pos x="0" y="67"/>
              </a:cxn>
            </a:cxnLst>
            <a:rect l="0" t="0" r="r" b="b"/>
            <a:pathLst>
              <a:path w="135" h="134">
                <a:moveTo>
                  <a:pt x="0" y="67"/>
                </a:moveTo>
                <a:lnTo>
                  <a:pt x="135" y="134"/>
                </a:lnTo>
                <a:lnTo>
                  <a:pt x="135" y="0"/>
                </a:lnTo>
                <a:lnTo>
                  <a:pt x="0" y="67"/>
                </a:lnTo>
              </a:path>
            </a:pathLst>
          </a:custGeom>
          <a:noFill/>
          <a:ln w="0">
            <a:solidFill>
              <a:srgbClr val="000000"/>
            </a:solidFill>
            <a:prstDash val="solid"/>
            <a:round/>
            <a:headEnd/>
            <a:tailEnd/>
          </a:ln>
        </p:spPr>
        <p:txBody>
          <a:bodyPr/>
          <a:lstStyle/>
          <a:p>
            <a:endParaRPr lang="en-IN"/>
          </a:p>
        </p:txBody>
      </p:sp>
      <p:sp>
        <p:nvSpPr>
          <p:cNvPr id="81" name="Rectangle 28"/>
          <p:cNvSpPr>
            <a:spLocks noChangeArrowheads="1"/>
          </p:cNvSpPr>
          <p:nvPr/>
        </p:nvSpPr>
        <p:spPr bwMode="auto">
          <a:xfrm>
            <a:off x="7861300" y="2455864"/>
            <a:ext cx="742950" cy="160337"/>
          </a:xfrm>
          <a:prstGeom prst="rect">
            <a:avLst/>
          </a:prstGeom>
          <a:noFill/>
          <a:ln w="9525">
            <a:noFill/>
            <a:miter lim="800000"/>
            <a:headEnd/>
            <a:tailEnd/>
          </a:ln>
        </p:spPr>
        <p:txBody>
          <a:bodyPr/>
          <a:lstStyle/>
          <a:p>
            <a:endParaRPr lang="en-IN"/>
          </a:p>
        </p:txBody>
      </p:sp>
      <p:sp>
        <p:nvSpPr>
          <p:cNvPr id="82" name="Rectangle 29"/>
          <p:cNvSpPr>
            <a:spLocks noChangeArrowheads="1"/>
          </p:cNvSpPr>
          <p:nvPr/>
        </p:nvSpPr>
        <p:spPr bwMode="auto">
          <a:xfrm>
            <a:off x="7861301" y="2466975"/>
            <a:ext cx="737381"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Repeatability</a:t>
            </a:r>
            <a:endParaRPr lang="en-US"/>
          </a:p>
        </p:txBody>
      </p:sp>
      <p:sp>
        <p:nvSpPr>
          <p:cNvPr id="83" name="Line 30"/>
          <p:cNvSpPr>
            <a:spLocks noChangeShapeType="1"/>
          </p:cNvSpPr>
          <p:nvPr/>
        </p:nvSpPr>
        <p:spPr bwMode="auto">
          <a:xfrm>
            <a:off x="8140700" y="2635250"/>
            <a:ext cx="693738" cy="693738"/>
          </a:xfrm>
          <a:prstGeom prst="line">
            <a:avLst/>
          </a:prstGeom>
          <a:noFill/>
          <a:ln w="0">
            <a:solidFill>
              <a:srgbClr val="000000"/>
            </a:solidFill>
            <a:round/>
            <a:headEnd/>
            <a:tailEnd/>
          </a:ln>
        </p:spPr>
        <p:txBody>
          <a:bodyPr/>
          <a:lstStyle/>
          <a:p>
            <a:endParaRPr lang="en-IN"/>
          </a:p>
        </p:txBody>
      </p:sp>
      <p:sp>
        <p:nvSpPr>
          <p:cNvPr id="84" name="Line 31"/>
          <p:cNvSpPr>
            <a:spLocks noChangeShapeType="1"/>
          </p:cNvSpPr>
          <p:nvPr/>
        </p:nvSpPr>
        <p:spPr bwMode="auto">
          <a:xfrm flipH="1">
            <a:off x="8420100" y="2843214"/>
            <a:ext cx="215900" cy="1587"/>
          </a:xfrm>
          <a:prstGeom prst="line">
            <a:avLst/>
          </a:prstGeom>
          <a:noFill/>
          <a:ln w="0">
            <a:solidFill>
              <a:srgbClr val="000000"/>
            </a:solidFill>
            <a:round/>
            <a:headEnd/>
            <a:tailEnd/>
          </a:ln>
        </p:spPr>
        <p:txBody>
          <a:bodyPr/>
          <a:lstStyle/>
          <a:p>
            <a:endParaRPr lang="en-IN"/>
          </a:p>
        </p:txBody>
      </p:sp>
      <p:sp>
        <p:nvSpPr>
          <p:cNvPr id="85" name="Freeform 32"/>
          <p:cNvSpPr>
            <a:spLocks/>
          </p:cNvSpPr>
          <p:nvPr/>
        </p:nvSpPr>
        <p:spPr bwMode="auto">
          <a:xfrm>
            <a:off x="8348664" y="2806700"/>
            <a:ext cx="71437" cy="71438"/>
          </a:xfrm>
          <a:custGeom>
            <a:avLst/>
            <a:gdLst/>
            <a:ahLst/>
            <a:cxnLst>
              <a:cxn ang="0">
                <a:pos x="0" y="68"/>
              </a:cxn>
              <a:cxn ang="0">
                <a:pos x="135" y="135"/>
              </a:cxn>
              <a:cxn ang="0">
                <a:pos x="135" y="0"/>
              </a:cxn>
              <a:cxn ang="0">
                <a:pos x="0" y="68"/>
              </a:cxn>
            </a:cxnLst>
            <a:rect l="0" t="0" r="r" b="b"/>
            <a:pathLst>
              <a:path w="135" h="135">
                <a:moveTo>
                  <a:pt x="0" y="68"/>
                </a:moveTo>
                <a:lnTo>
                  <a:pt x="135" y="135"/>
                </a:lnTo>
                <a:lnTo>
                  <a:pt x="135" y="0"/>
                </a:lnTo>
                <a:lnTo>
                  <a:pt x="0" y="68"/>
                </a:lnTo>
                <a:close/>
              </a:path>
            </a:pathLst>
          </a:custGeom>
          <a:solidFill>
            <a:srgbClr val="000000"/>
          </a:solidFill>
          <a:ln w="9525">
            <a:noFill/>
            <a:round/>
            <a:headEnd/>
            <a:tailEnd/>
          </a:ln>
        </p:spPr>
        <p:txBody>
          <a:bodyPr/>
          <a:lstStyle/>
          <a:p>
            <a:endParaRPr lang="en-IN"/>
          </a:p>
        </p:txBody>
      </p:sp>
      <p:sp>
        <p:nvSpPr>
          <p:cNvPr id="86" name="Freeform 33"/>
          <p:cNvSpPr>
            <a:spLocks/>
          </p:cNvSpPr>
          <p:nvPr/>
        </p:nvSpPr>
        <p:spPr bwMode="auto">
          <a:xfrm>
            <a:off x="8348664" y="2806700"/>
            <a:ext cx="71437" cy="71438"/>
          </a:xfrm>
          <a:custGeom>
            <a:avLst/>
            <a:gdLst/>
            <a:ahLst/>
            <a:cxnLst>
              <a:cxn ang="0">
                <a:pos x="0" y="68"/>
              </a:cxn>
              <a:cxn ang="0">
                <a:pos x="135" y="135"/>
              </a:cxn>
              <a:cxn ang="0">
                <a:pos x="135" y="0"/>
              </a:cxn>
              <a:cxn ang="0">
                <a:pos x="0" y="68"/>
              </a:cxn>
            </a:cxnLst>
            <a:rect l="0" t="0" r="r" b="b"/>
            <a:pathLst>
              <a:path w="135" h="135">
                <a:moveTo>
                  <a:pt x="0" y="68"/>
                </a:moveTo>
                <a:lnTo>
                  <a:pt x="135" y="135"/>
                </a:lnTo>
                <a:lnTo>
                  <a:pt x="135" y="0"/>
                </a:lnTo>
                <a:lnTo>
                  <a:pt x="0" y="68"/>
                </a:lnTo>
              </a:path>
            </a:pathLst>
          </a:custGeom>
          <a:noFill/>
          <a:ln w="0">
            <a:solidFill>
              <a:srgbClr val="000000"/>
            </a:solidFill>
            <a:prstDash val="solid"/>
            <a:round/>
            <a:headEnd/>
            <a:tailEnd/>
          </a:ln>
        </p:spPr>
        <p:txBody>
          <a:bodyPr/>
          <a:lstStyle/>
          <a:p>
            <a:endParaRPr lang="en-IN"/>
          </a:p>
        </p:txBody>
      </p:sp>
      <p:sp>
        <p:nvSpPr>
          <p:cNvPr id="87" name="Rectangle 34"/>
          <p:cNvSpPr>
            <a:spLocks noChangeArrowheads="1"/>
          </p:cNvSpPr>
          <p:nvPr/>
        </p:nvSpPr>
        <p:spPr bwMode="auto">
          <a:xfrm>
            <a:off x="8636000" y="2763839"/>
            <a:ext cx="484188" cy="160337"/>
          </a:xfrm>
          <a:prstGeom prst="rect">
            <a:avLst/>
          </a:prstGeom>
          <a:noFill/>
          <a:ln w="9525">
            <a:noFill/>
            <a:miter lim="800000"/>
            <a:headEnd/>
            <a:tailEnd/>
          </a:ln>
        </p:spPr>
        <p:txBody>
          <a:bodyPr/>
          <a:lstStyle/>
          <a:p>
            <a:endParaRPr lang="en-IN"/>
          </a:p>
        </p:txBody>
      </p:sp>
      <p:sp>
        <p:nvSpPr>
          <p:cNvPr id="88" name="Rectangle 35"/>
          <p:cNvSpPr>
            <a:spLocks noChangeArrowheads="1"/>
          </p:cNvSpPr>
          <p:nvPr/>
        </p:nvSpPr>
        <p:spPr bwMode="auto">
          <a:xfrm>
            <a:off x="8636000" y="2774950"/>
            <a:ext cx="482504"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Linearity</a:t>
            </a:r>
            <a:endParaRPr lang="en-US"/>
          </a:p>
        </p:txBody>
      </p:sp>
      <p:sp>
        <p:nvSpPr>
          <p:cNvPr id="89" name="Line 36"/>
          <p:cNvSpPr>
            <a:spLocks noChangeShapeType="1"/>
          </p:cNvSpPr>
          <p:nvPr/>
        </p:nvSpPr>
        <p:spPr bwMode="auto">
          <a:xfrm flipH="1">
            <a:off x="8697913" y="3119439"/>
            <a:ext cx="214312" cy="1587"/>
          </a:xfrm>
          <a:prstGeom prst="line">
            <a:avLst/>
          </a:prstGeom>
          <a:noFill/>
          <a:ln w="0">
            <a:solidFill>
              <a:srgbClr val="000000"/>
            </a:solidFill>
            <a:round/>
            <a:headEnd/>
            <a:tailEnd/>
          </a:ln>
        </p:spPr>
        <p:txBody>
          <a:bodyPr/>
          <a:lstStyle/>
          <a:p>
            <a:endParaRPr lang="en-IN"/>
          </a:p>
        </p:txBody>
      </p:sp>
      <p:sp>
        <p:nvSpPr>
          <p:cNvPr id="90" name="Freeform 37"/>
          <p:cNvSpPr>
            <a:spLocks/>
          </p:cNvSpPr>
          <p:nvPr/>
        </p:nvSpPr>
        <p:spPr bwMode="auto">
          <a:xfrm>
            <a:off x="8626475" y="3084514"/>
            <a:ext cx="71438" cy="71437"/>
          </a:xfrm>
          <a:custGeom>
            <a:avLst/>
            <a:gdLst/>
            <a:ahLst/>
            <a:cxnLst>
              <a:cxn ang="0">
                <a:pos x="0" y="67"/>
              </a:cxn>
              <a:cxn ang="0">
                <a:pos x="135" y="135"/>
              </a:cxn>
              <a:cxn ang="0">
                <a:pos x="135" y="0"/>
              </a:cxn>
              <a:cxn ang="0">
                <a:pos x="0" y="67"/>
              </a:cxn>
            </a:cxnLst>
            <a:rect l="0" t="0" r="r" b="b"/>
            <a:pathLst>
              <a:path w="135" h="135">
                <a:moveTo>
                  <a:pt x="0" y="67"/>
                </a:moveTo>
                <a:lnTo>
                  <a:pt x="135" y="135"/>
                </a:lnTo>
                <a:lnTo>
                  <a:pt x="135" y="0"/>
                </a:lnTo>
                <a:lnTo>
                  <a:pt x="0" y="67"/>
                </a:lnTo>
                <a:close/>
              </a:path>
            </a:pathLst>
          </a:custGeom>
          <a:solidFill>
            <a:srgbClr val="000000"/>
          </a:solidFill>
          <a:ln w="9525">
            <a:noFill/>
            <a:round/>
            <a:headEnd/>
            <a:tailEnd/>
          </a:ln>
        </p:spPr>
        <p:txBody>
          <a:bodyPr/>
          <a:lstStyle/>
          <a:p>
            <a:endParaRPr lang="en-IN"/>
          </a:p>
        </p:txBody>
      </p:sp>
      <p:sp>
        <p:nvSpPr>
          <p:cNvPr id="91" name="Freeform 38"/>
          <p:cNvSpPr>
            <a:spLocks/>
          </p:cNvSpPr>
          <p:nvPr/>
        </p:nvSpPr>
        <p:spPr bwMode="auto">
          <a:xfrm>
            <a:off x="8626475" y="3084514"/>
            <a:ext cx="71438" cy="71437"/>
          </a:xfrm>
          <a:custGeom>
            <a:avLst/>
            <a:gdLst/>
            <a:ahLst/>
            <a:cxnLst>
              <a:cxn ang="0">
                <a:pos x="0" y="67"/>
              </a:cxn>
              <a:cxn ang="0">
                <a:pos x="135" y="135"/>
              </a:cxn>
              <a:cxn ang="0">
                <a:pos x="135" y="0"/>
              </a:cxn>
              <a:cxn ang="0">
                <a:pos x="0" y="67"/>
              </a:cxn>
            </a:cxnLst>
            <a:rect l="0" t="0" r="r" b="b"/>
            <a:pathLst>
              <a:path w="135" h="135">
                <a:moveTo>
                  <a:pt x="0" y="67"/>
                </a:moveTo>
                <a:lnTo>
                  <a:pt x="135" y="135"/>
                </a:lnTo>
                <a:lnTo>
                  <a:pt x="135" y="0"/>
                </a:lnTo>
                <a:lnTo>
                  <a:pt x="0" y="67"/>
                </a:lnTo>
              </a:path>
            </a:pathLst>
          </a:custGeom>
          <a:noFill/>
          <a:ln w="0">
            <a:solidFill>
              <a:srgbClr val="000000"/>
            </a:solidFill>
            <a:prstDash val="solid"/>
            <a:round/>
            <a:headEnd/>
            <a:tailEnd/>
          </a:ln>
        </p:spPr>
        <p:txBody>
          <a:bodyPr/>
          <a:lstStyle/>
          <a:p>
            <a:endParaRPr lang="en-IN"/>
          </a:p>
        </p:txBody>
      </p:sp>
      <p:sp>
        <p:nvSpPr>
          <p:cNvPr id="92" name="Rectangle 39"/>
          <p:cNvSpPr>
            <a:spLocks noChangeArrowheads="1"/>
          </p:cNvSpPr>
          <p:nvPr/>
        </p:nvSpPr>
        <p:spPr bwMode="auto">
          <a:xfrm>
            <a:off x="8912225" y="3040064"/>
            <a:ext cx="465138" cy="161925"/>
          </a:xfrm>
          <a:prstGeom prst="rect">
            <a:avLst/>
          </a:prstGeom>
          <a:noFill/>
          <a:ln w="9525">
            <a:noFill/>
            <a:miter lim="800000"/>
            <a:headEnd/>
            <a:tailEnd/>
          </a:ln>
        </p:spPr>
        <p:txBody>
          <a:bodyPr/>
          <a:lstStyle/>
          <a:p>
            <a:endParaRPr lang="en-IN"/>
          </a:p>
        </p:txBody>
      </p:sp>
      <p:sp>
        <p:nvSpPr>
          <p:cNvPr id="93" name="Rectangle 40"/>
          <p:cNvSpPr>
            <a:spLocks noChangeArrowheads="1"/>
          </p:cNvSpPr>
          <p:nvPr/>
        </p:nvSpPr>
        <p:spPr bwMode="auto">
          <a:xfrm>
            <a:off x="8913813" y="3051175"/>
            <a:ext cx="447238"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Stability</a:t>
            </a:r>
            <a:endParaRPr lang="en-US"/>
          </a:p>
        </p:txBody>
      </p:sp>
      <p:sp>
        <p:nvSpPr>
          <p:cNvPr id="94" name="Line 41"/>
          <p:cNvSpPr>
            <a:spLocks noChangeShapeType="1"/>
          </p:cNvSpPr>
          <p:nvPr/>
        </p:nvSpPr>
        <p:spPr bwMode="auto">
          <a:xfrm flipH="1">
            <a:off x="8904288" y="3327400"/>
            <a:ext cx="601662" cy="1588"/>
          </a:xfrm>
          <a:prstGeom prst="line">
            <a:avLst/>
          </a:prstGeom>
          <a:noFill/>
          <a:ln w="0">
            <a:solidFill>
              <a:srgbClr val="000000"/>
            </a:solidFill>
            <a:round/>
            <a:headEnd/>
            <a:tailEnd/>
          </a:ln>
        </p:spPr>
        <p:txBody>
          <a:bodyPr/>
          <a:lstStyle/>
          <a:p>
            <a:endParaRPr lang="en-IN"/>
          </a:p>
        </p:txBody>
      </p:sp>
      <p:sp>
        <p:nvSpPr>
          <p:cNvPr id="95" name="Freeform 42"/>
          <p:cNvSpPr>
            <a:spLocks/>
          </p:cNvSpPr>
          <p:nvPr/>
        </p:nvSpPr>
        <p:spPr bwMode="auto">
          <a:xfrm>
            <a:off x="8834438" y="3292475"/>
            <a:ext cx="69850" cy="71438"/>
          </a:xfrm>
          <a:custGeom>
            <a:avLst/>
            <a:gdLst/>
            <a:ahLst/>
            <a:cxnLst>
              <a:cxn ang="0">
                <a:pos x="0" y="67"/>
              </a:cxn>
              <a:cxn ang="0">
                <a:pos x="134" y="134"/>
              </a:cxn>
              <a:cxn ang="0">
                <a:pos x="134" y="0"/>
              </a:cxn>
              <a:cxn ang="0">
                <a:pos x="0" y="67"/>
              </a:cxn>
            </a:cxnLst>
            <a:rect l="0" t="0" r="r" b="b"/>
            <a:pathLst>
              <a:path w="134" h="134">
                <a:moveTo>
                  <a:pt x="0" y="67"/>
                </a:moveTo>
                <a:lnTo>
                  <a:pt x="134" y="134"/>
                </a:lnTo>
                <a:lnTo>
                  <a:pt x="134" y="0"/>
                </a:lnTo>
                <a:lnTo>
                  <a:pt x="0" y="67"/>
                </a:lnTo>
                <a:close/>
              </a:path>
            </a:pathLst>
          </a:custGeom>
          <a:solidFill>
            <a:srgbClr val="000000"/>
          </a:solidFill>
          <a:ln w="9525">
            <a:noFill/>
            <a:round/>
            <a:headEnd/>
            <a:tailEnd/>
          </a:ln>
        </p:spPr>
        <p:txBody>
          <a:bodyPr/>
          <a:lstStyle/>
          <a:p>
            <a:endParaRPr lang="en-IN"/>
          </a:p>
        </p:txBody>
      </p:sp>
      <p:sp>
        <p:nvSpPr>
          <p:cNvPr id="96" name="Freeform 43"/>
          <p:cNvSpPr>
            <a:spLocks/>
          </p:cNvSpPr>
          <p:nvPr/>
        </p:nvSpPr>
        <p:spPr bwMode="auto">
          <a:xfrm>
            <a:off x="8834438" y="3292475"/>
            <a:ext cx="69850" cy="71438"/>
          </a:xfrm>
          <a:custGeom>
            <a:avLst/>
            <a:gdLst/>
            <a:ahLst/>
            <a:cxnLst>
              <a:cxn ang="0">
                <a:pos x="0" y="67"/>
              </a:cxn>
              <a:cxn ang="0">
                <a:pos x="134" y="134"/>
              </a:cxn>
              <a:cxn ang="0">
                <a:pos x="134" y="0"/>
              </a:cxn>
              <a:cxn ang="0">
                <a:pos x="0" y="67"/>
              </a:cxn>
            </a:cxnLst>
            <a:rect l="0" t="0" r="r" b="b"/>
            <a:pathLst>
              <a:path w="134" h="134">
                <a:moveTo>
                  <a:pt x="0" y="67"/>
                </a:moveTo>
                <a:lnTo>
                  <a:pt x="134" y="134"/>
                </a:lnTo>
                <a:lnTo>
                  <a:pt x="134" y="0"/>
                </a:lnTo>
                <a:lnTo>
                  <a:pt x="0" y="67"/>
                </a:lnTo>
              </a:path>
            </a:pathLst>
          </a:custGeom>
          <a:noFill/>
          <a:ln w="0">
            <a:solidFill>
              <a:srgbClr val="000000"/>
            </a:solidFill>
            <a:prstDash val="solid"/>
            <a:round/>
            <a:headEnd/>
            <a:tailEnd/>
          </a:ln>
        </p:spPr>
        <p:txBody>
          <a:bodyPr/>
          <a:lstStyle/>
          <a:p>
            <a:endParaRPr lang="en-IN"/>
          </a:p>
        </p:txBody>
      </p:sp>
      <p:sp>
        <p:nvSpPr>
          <p:cNvPr id="97" name="Rectangle 44"/>
          <p:cNvSpPr>
            <a:spLocks noChangeArrowheads="1"/>
          </p:cNvSpPr>
          <p:nvPr/>
        </p:nvSpPr>
        <p:spPr bwMode="auto">
          <a:xfrm>
            <a:off x="9505950" y="3248025"/>
            <a:ext cx="604838" cy="160338"/>
          </a:xfrm>
          <a:prstGeom prst="rect">
            <a:avLst/>
          </a:prstGeom>
          <a:noFill/>
          <a:ln w="9525">
            <a:noFill/>
            <a:miter lim="800000"/>
            <a:headEnd/>
            <a:tailEnd/>
          </a:ln>
        </p:spPr>
        <p:txBody>
          <a:bodyPr/>
          <a:lstStyle/>
          <a:p>
            <a:endParaRPr lang="en-IN"/>
          </a:p>
        </p:txBody>
      </p:sp>
      <p:sp>
        <p:nvSpPr>
          <p:cNvPr id="98" name="Rectangle 45"/>
          <p:cNvSpPr>
            <a:spLocks noChangeArrowheads="1"/>
          </p:cNvSpPr>
          <p:nvPr/>
        </p:nvSpPr>
        <p:spPr bwMode="auto">
          <a:xfrm>
            <a:off x="9507539" y="3259138"/>
            <a:ext cx="610745"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Calibration</a:t>
            </a:r>
            <a:endParaRPr lang="en-US"/>
          </a:p>
        </p:txBody>
      </p:sp>
      <p:sp>
        <p:nvSpPr>
          <p:cNvPr id="99" name="Line 46"/>
          <p:cNvSpPr>
            <a:spLocks noChangeShapeType="1"/>
          </p:cNvSpPr>
          <p:nvPr/>
        </p:nvSpPr>
        <p:spPr bwMode="auto">
          <a:xfrm flipV="1">
            <a:off x="7802563" y="3979863"/>
            <a:ext cx="844550" cy="1465262"/>
          </a:xfrm>
          <a:prstGeom prst="line">
            <a:avLst/>
          </a:prstGeom>
          <a:noFill/>
          <a:ln w="0">
            <a:solidFill>
              <a:srgbClr val="000000"/>
            </a:solidFill>
            <a:round/>
            <a:headEnd/>
            <a:tailEnd/>
          </a:ln>
        </p:spPr>
        <p:txBody>
          <a:bodyPr/>
          <a:lstStyle/>
          <a:p>
            <a:endParaRPr lang="en-IN"/>
          </a:p>
        </p:txBody>
      </p:sp>
      <p:sp>
        <p:nvSpPr>
          <p:cNvPr id="100" name="Freeform 47"/>
          <p:cNvSpPr>
            <a:spLocks/>
          </p:cNvSpPr>
          <p:nvPr/>
        </p:nvSpPr>
        <p:spPr bwMode="auto">
          <a:xfrm>
            <a:off x="8616951" y="3917951"/>
            <a:ext cx="66675" cy="79375"/>
          </a:xfrm>
          <a:custGeom>
            <a:avLst/>
            <a:gdLst/>
            <a:ahLst/>
            <a:cxnLst>
              <a:cxn ang="0">
                <a:pos x="126" y="0"/>
              </a:cxn>
              <a:cxn ang="0">
                <a:pos x="0" y="83"/>
              </a:cxn>
              <a:cxn ang="0">
                <a:pos x="118" y="150"/>
              </a:cxn>
              <a:cxn ang="0">
                <a:pos x="126" y="0"/>
              </a:cxn>
            </a:cxnLst>
            <a:rect l="0" t="0" r="r" b="b"/>
            <a:pathLst>
              <a:path w="126" h="150">
                <a:moveTo>
                  <a:pt x="126" y="0"/>
                </a:moveTo>
                <a:lnTo>
                  <a:pt x="0" y="83"/>
                </a:lnTo>
                <a:lnTo>
                  <a:pt x="118" y="150"/>
                </a:lnTo>
                <a:lnTo>
                  <a:pt x="126" y="0"/>
                </a:lnTo>
                <a:close/>
              </a:path>
            </a:pathLst>
          </a:custGeom>
          <a:solidFill>
            <a:srgbClr val="000000"/>
          </a:solidFill>
          <a:ln w="9525">
            <a:noFill/>
            <a:round/>
            <a:headEnd/>
            <a:tailEnd/>
          </a:ln>
        </p:spPr>
        <p:txBody>
          <a:bodyPr/>
          <a:lstStyle/>
          <a:p>
            <a:endParaRPr lang="en-IN"/>
          </a:p>
        </p:txBody>
      </p:sp>
      <p:sp>
        <p:nvSpPr>
          <p:cNvPr id="101" name="Freeform 48"/>
          <p:cNvSpPr>
            <a:spLocks/>
          </p:cNvSpPr>
          <p:nvPr/>
        </p:nvSpPr>
        <p:spPr bwMode="auto">
          <a:xfrm>
            <a:off x="8616951" y="3917951"/>
            <a:ext cx="66675" cy="79375"/>
          </a:xfrm>
          <a:custGeom>
            <a:avLst/>
            <a:gdLst/>
            <a:ahLst/>
            <a:cxnLst>
              <a:cxn ang="0">
                <a:pos x="126" y="0"/>
              </a:cxn>
              <a:cxn ang="0">
                <a:pos x="0" y="83"/>
              </a:cxn>
              <a:cxn ang="0">
                <a:pos x="118" y="150"/>
              </a:cxn>
              <a:cxn ang="0">
                <a:pos x="126" y="0"/>
              </a:cxn>
            </a:cxnLst>
            <a:rect l="0" t="0" r="r" b="b"/>
            <a:pathLst>
              <a:path w="126" h="150">
                <a:moveTo>
                  <a:pt x="126" y="0"/>
                </a:moveTo>
                <a:lnTo>
                  <a:pt x="0" y="83"/>
                </a:lnTo>
                <a:lnTo>
                  <a:pt x="118" y="150"/>
                </a:lnTo>
                <a:lnTo>
                  <a:pt x="126" y="0"/>
                </a:lnTo>
              </a:path>
            </a:pathLst>
          </a:custGeom>
          <a:noFill/>
          <a:ln w="0">
            <a:solidFill>
              <a:srgbClr val="000000"/>
            </a:solidFill>
            <a:prstDash val="solid"/>
            <a:round/>
            <a:headEnd/>
            <a:tailEnd/>
          </a:ln>
        </p:spPr>
        <p:txBody>
          <a:bodyPr/>
          <a:lstStyle/>
          <a:p>
            <a:endParaRPr lang="en-IN"/>
          </a:p>
        </p:txBody>
      </p:sp>
      <p:sp>
        <p:nvSpPr>
          <p:cNvPr id="102" name="Rectangle 49"/>
          <p:cNvSpPr>
            <a:spLocks noChangeArrowheads="1"/>
          </p:cNvSpPr>
          <p:nvPr/>
        </p:nvSpPr>
        <p:spPr bwMode="auto">
          <a:xfrm>
            <a:off x="7475538" y="5381656"/>
            <a:ext cx="830262" cy="257145"/>
          </a:xfrm>
          <a:prstGeom prst="rect">
            <a:avLst/>
          </a:prstGeom>
          <a:solidFill>
            <a:schemeClr val="accent1">
              <a:lumMod val="40000"/>
              <a:lumOff val="60000"/>
            </a:schemeClr>
          </a:solidFill>
          <a:ln w="9525">
            <a:noFill/>
            <a:miter lim="800000"/>
            <a:headEnd/>
            <a:tailEnd/>
          </a:ln>
        </p:spPr>
        <p:txBody>
          <a:bodyPr/>
          <a:lstStyle/>
          <a:p>
            <a:endParaRPr lang="en-IN"/>
          </a:p>
        </p:txBody>
      </p:sp>
      <p:sp>
        <p:nvSpPr>
          <p:cNvPr id="103" name="Rectangle 50"/>
          <p:cNvSpPr>
            <a:spLocks noChangeArrowheads="1"/>
          </p:cNvSpPr>
          <p:nvPr/>
        </p:nvSpPr>
        <p:spPr bwMode="auto">
          <a:xfrm>
            <a:off x="7543801" y="5410201"/>
            <a:ext cx="641201" cy="200055"/>
          </a:xfrm>
          <a:prstGeom prst="rect">
            <a:avLst/>
          </a:prstGeom>
          <a:noFill/>
          <a:ln w="9525">
            <a:noFill/>
            <a:miter lim="800000"/>
            <a:headEnd/>
            <a:tailEnd/>
          </a:ln>
        </p:spPr>
        <p:txBody>
          <a:bodyPr wrap="none" lIns="0" tIns="0" rIns="0" bIns="0">
            <a:spAutoFit/>
          </a:bodyPr>
          <a:lstStyle/>
          <a:p>
            <a:r>
              <a:rPr lang="en-US" sz="1300" dirty="0">
                <a:solidFill>
                  <a:srgbClr val="000080"/>
                </a:solidFill>
                <a:latin typeface="Arial" charset="0"/>
              </a:rPr>
              <a:t>Methods</a:t>
            </a:r>
            <a:endParaRPr lang="en-US" dirty="0"/>
          </a:p>
        </p:txBody>
      </p:sp>
      <p:sp>
        <p:nvSpPr>
          <p:cNvPr id="104" name="Line 51"/>
          <p:cNvSpPr>
            <a:spLocks noChangeShapeType="1"/>
          </p:cNvSpPr>
          <p:nvPr/>
        </p:nvSpPr>
        <p:spPr bwMode="auto">
          <a:xfrm>
            <a:off x="8056563" y="4375150"/>
            <a:ext cx="292100" cy="1588"/>
          </a:xfrm>
          <a:prstGeom prst="line">
            <a:avLst/>
          </a:prstGeom>
          <a:noFill/>
          <a:ln w="0">
            <a:solidFill>
              <a:srgbClr val="000000"/>
            </a:solidFill>
            <a:round/>
            <a:headEnd/>
            <a:tailEnd/>
          </a:ln>
        </p:spPr>
        <p:txBody>
          <a:bodyPr/>
          <a:lstStyle/>
          <a:p>
            <a:endParaRPr lang="en-IN"/>
          </a:p>
        </p:txBody>
      </p:sp>
      <p:sp>
        <p:nvSpPr>
          <p:cNvPr id="105" name="Freeform 52"/>
          <p:cNvSpPr>
            <a:spLocks/>
          </p:cNvSpPr>
          <p:nvPr/>
        </p:nvSpPr>
        <p:spPr bwMode="auto">
          <a:xfrm>
            <a:off x="8348664" y="4340225"/>
            <a:ext cx="71437" cy="71438"/>
          </a:xfrm>
          <a:custGeom>
            <a:avLst/>
            <a:gdLst/>
            <a:ahLst/>
            <a:cxnLst>
              <a:cxn ang="0">
                <a:pos x="135" y="68"/>
              </a:cxn>
              <a:cxn ang="0">
                <a:pos x="0" y="0"/>
              </a:cxn>
              <a:cxn ang="0">
                <a:pos x="0" y="135"/>
              </a:cxn>
              <a:cxn ang="0">
                <a:pos x="135" y="68"/>
              </a:cxn>
            </a:cxnLst>
            <a:rect l="0" t="0" r="r" b="b"/>
            <a:pathLst>
              <a:path w="135" h="135">
                <a:moveTo>
                  <a:pt x="135" y="68"/>
                </a:moveTo>
                <a:lnTo>
                  <a:pt x="0" y="0"/>
                </a:lnTo>
                <a:lnTo>
                  <a:pt x="0" y="135"/>
                </a:lnTo>
                <a:lnTo>
                  <a:pt x="135" y="68"/>
                </a:lnTo>
                <a:close/>
              </a:path>
            </a:pathLst>
          </a:custGeom>
          <a:solidFill>
            <a:srgbClr val="000000"/>
          </a:solidFill>
          <a:ln w="9525">
            <a:noFill/>
            <a:round/>
            <a:headEnd/>
            <a:tailEnd/>
          </a:ln>
        </p:spPr>
        <p:txBody>
          <a:bodyPr/>
          <a:lstStyle/>
          <a:p>
            <a:endParaRPr lang="en-IN"/>
          </a:p>
        </p:txBody>
      </p:sp>
      <p:sp>
        <p:nvSpPr>
          <p:cNvPr id="106" name="Freeform 53"/>
          <p:cNvSpPr>
            <a:spLocks/>
          </p:cNvSpPr>
          <p:nvPr/>
        </p:nvSpPr>
        <p:spPr bwMode="auto">
          <a:xfrm>
            <a:off x="8348664" y="4340225"/>
            <a:ext cx="71437" cy="71438"/>
          </a:xfrm>
          <a:custGeom>
            <a:avLst/>
            <a:gdLst/>
            <a:ahLst/>
            <a:cxnLst>
              <a:cxn ang="0">
                <a:pos x="135" y="68"/>
              </a:cxn>
              <a:cxn ang="0">
                <a:pos x="0" y="0"/>
              </a:cxn>
              <a:cxn ang="0">
                <a:pos x="0" y="135"/>
              </a:cxn>
              <a:cxn ang="0">
                <a:pos x="135" y="68"/>
              </a:cxn>
            </a:cxnLst>
            <a:rect l="0" t="0" r="r" b="b"/>
            <a:pathLst>
              <a:path w="135" h="135">
                <a:moveTo>
                  <a:pt x="135" y="68"/>
                </a:moveTo>
                <a:lnTo>
                  <a:pt x="0" y="0"/>
                </a:lnTo>
                <a:lnTo>
                  <a:pt x="0" y="135"/>
                </a:lnTo>
                <a:lnTo>
                  <a:pt x="135" y="68"/>
                </a:lnTo>
              </a:path>
            </a:pathLst>
          </a:custGeom>
          <a:noFill/>
          <a:ln w="0">
            <a:solidFill>
              <a:srgbClr val="000000"/>
            </a:solidFill>
            <a:prstDash val="solid"/>
            <a:round/>
            <a:headEnd/>
            <a:tailEnd/>
          </a:ln>
        </p:spPr>
        <p:txBody>
          <a:bodyPr/>
          <a:lstStyle/>
          <a:p>
            <a:endParaRPr lang="en-IN"/>
          </a:p>
        </p:txBody>
      </p:sp>
      <p:sp>
        <p:nvSpPr>
          <p:cNvPr id="107" name="Rectangle 54"/>
          <p:cNvSpPr>
            <a:spLocks noChangeArrowheads="1"/>
          </p:cNvSpPr>
          <p:nvPr/>
        </p:nvSpPr>
        <p:spPr bwMode="auto">
          <a:xfrm>
            <a:off x="7689851" y="4295775"/>
            <a:ext cx="366713" cy="160338"/>
          </a:xfrm>
          <a:prstGeom prst="rect">
            <a:avLst/>
          </a:prstGeom>
          <a:noFill/>
          <a:ln w="9525">
            <a:noFill/>
            <a:miter lim="800000"/>
            <a:headEnd/>
            <a:tailEnd/>
          </a:ln>
        </p:spPr>
        <p:txBody>
          <a:bodyPr/>
          <a:lstStyle/>
          <a:p>
            <a:endParaRPr lang="en-IN"/>
          </a:p>
        </p:txBody>
      </p:sp>
      <p:sp>
        <p:nvSpPr>
          <p:cNvPr id="108" name="Rectangle 55"/>
          <p:cNvSpPr>
            <a:spLocks noChangeArrowheads="1"/>
          </p:cNvSpPr>
          <p:nvPr/>
        </p:nvSpPr>
        <p:spPr bwMode="auto">
          <a:xfrm>
            <a:off x="7518400" y="4306888"/>
            <a:ext cx="363538"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Vague</a:t>
            </a:r>
            <a:endParaRPr lang="en-US"/>
          </a:p>
        </p:txBody>
      </p:sp>
      <p:sp>
        <p:nvSpPr>
          <p:cNvPr id="109" name="Line 56"/>
          <p:cNvSpPr>
            <a:spLocks noChangeShapeType="1"/>
          </p:cNvSpPr>
          <p:nvPr/>
        </p:nvSpPr>
        <p:spPr bwMode="auto">
          <a:xfrm>
            <a:off x="7875588" y="4689475"/>
            <a:ext cx="292100" cy="1588"/>
          </a:xfrm>
          <a:prstGeom prst="line">
            <a:avLst/>
          </a:prstGeom>
          <a:noFill/>
          <a:ln w="0">
            <a:solidFill>
              <a:srgbClr val="000000"/>
            </a:solidFill>
            <a:round/>
            <a:headEnd/>
            <a:tailEnd/>
          </a:ln>
        </p:spPr>
        <p:txBody>
          <a:bodyPr/>
          <a:lstStyle/>
          <a:p>
            <a:endParaRPr lang="en-IN"/>
          </a:p>
        </p:txBody>
      </p:sp>
      <p:sp>
        <p:nvSpPr>
          <p:cNvPr id="110" name="Freeform 57"/>
          <p:cNvSpPr>
            <a:spLocks/>
          </p:cNvSpPr>
          <p:nvPr/>
        </p:nvSpPr>
        <p:spPr bwMode="auto">
          <a:xfrm>
            <a:off x="8167689" y="4652964"/>
            <a:ext cx="71437" cy="71437"/>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close/>
              </a:path>
            </a:pathLst>
          </a:custGeom>
          <a:solidFill>
            <a:srgbClr val="000000"/>
          </a:solidFill>
          <a:ln w="9525">
            <a:noFill/>
            <a:round/>
            <a:headEnd/>
            <a:tailEnd/>
          </a:ln>
        </p:spPr>
        <p:txBody>
          <a:bodyPr/>
          <a:lstStyle/>
          <a:p>
            <a:endParaRPr lang="en-IN"/>
          </a:p>
        </p:txBody>
      </p:sp>
      <p:sp>
        <p:nvSpPr>
          <p:cNvPr id="111" name="Freeform 58"/>
          <p:cNvSpPr>
            <a:spLocks/>
          </p:cNvSpPr>
          <p:nvPr/>
        </p:nvSpPr>
        <p:spPr bwMode="auto">
          <a:xfrm>
            <a:off x="8167689" y="4652964"/>
            <a:ext cx="71437" cy="71437"/>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path>
            </a:pathLst>
          </a:custGeom>
          <a:noFill/>
          <a:ln w="0">
            <a:solidFill>
              <a:srgbClr val="000000"/>
            </a:solidFill>
            <a:prstDash val="solid"/>
            <a:round/>
            <a:headEnd/>
            <a:tailEnd/>
          </a:ln>
        </p:spPr>
        <p:txBody>
          <a:bodyPr/>
          <a:lstStyle/>
          <a:p>
            <a:endParaRPr lang="en-IN"/>
          </a:p>
        </p:txBody>
      </p:sp>
      <p:sp>
        <p:nvSpPr>
          <p:cNvPr id="112" name="Rectangle 59"/>
          <p:cNvSpPr>
            <a:spLocks noChangeArrowheads="1"/>
          </p:cNvSpPr>
          <p:nvPr/>
        </p:nvSpPr>
        <p:spPr bwMode="auto">
          <a:xfrm>
            <a:off x="7242176" y="4608514"/>
            <a:ext cx="633413" cy="161925"/>
          </a:xfrm>
          <a:prstGeom prst="rect">
            <a:avLst/>
          </a:prstGeom>
          <a:noFill/>
          <a:ln w="9525">
            <a:noFill/>
            <a:miter lim="800000"/>
            <a:headEnd/>
            <a:tailEnd/>
          </a:ln>
        </p:spPr>
        <p:txBody>
          <a:bodyPr/>
          <a:lstStyle/>
          <a:p>
            <a:endParaRPr lang="en-IN"/>
          </a:p>
        </p:txBody>
      </p:sp>
      <p:sp>
        <p:nvSpPr>
          <p:cNvPr id="113" name="Rectangle 60"/>
          <p:cNvSpPr>
            <a:spLocks noChangeArrowheads="1"/>
          </p:cNvSpPr>
          <p:nvPr/>
        </p:nvSpPr>
        <p:spPr bwMode="auto">
          <a:xfrm>
            <a:off x="7085013" y="4619625"/>
            <a:ext cx="622300"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Out of date</a:t>
            </a:r>
            <a:endParaRPr lang="en-US"/>
          </a:p>
        </p:txBody>
      </p:sp>
      <p:sp>
        <p:nvSpPr>
          <p:cNvPr id="114" name="Line 61"/>
          <p:cNvSpPr>
            <a:spLocks noChangeShapeType="1"/>
          </p:cNvSpPr>
          <p:nvPr/>
        </p:nvSpPr>
        <p:spPr bwMode="auto">
          <a:xfrm>
            <a:off x="7615238" y="5138739"/>
            <a:ext cx="292100" cy="1587"/>
          </a:xfrm>
          <a:prstGeom prst="line">
            <a:avLst/>
          </a:prstGeom>
          <a:noFill/>
          <a:ln w="0">
            <a:solidFill>
              <a:srgbClr val="000000"/>
            </a:solidFill>
            <a:round/>
            <a:headEnd/>
            <a:tailEnd/>
          </a:ln>
        </p:spPr>
        <p:txBody>
          <a:bodyPr/>
          <a:lstStyle/>
          <a:p>
            <a:endParaRPr lang="en-IN"/>
          </a:p>
        </p:txBody>
      </p:sp>
      <p:sp>
        <p:nvSpPr>
          <p:cNvPr id="115" name="Freeform 62"/>
          <p:cNvSpPr>
            <a:spLocks/>
          </p:cNvSpPr>
          <p:nvPr/>
        </p:nvSpPr>
        <p:spPr bwMode="auto">
          <a:xfrm>
            <a:off x="7907339" y="5103813"/>
            <a:ext cx="71437" cy="69850"/>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close/>
              </a:path>
            </a:pathLst>
          </a:custGeom>
          <a:solidFill>
            <a:srgbClr val="000000"/>
          </a:solidFill>
          <a:ln w="9525">
            <a:noFill/>
            <a:round/>
            <a:headEnd/>
            <a:tailEnd/>
          </a:ln>
        </p:spPr>
        <p:txBody>
          <a:bodyPr/>
          <a:lstStyle/>
          <a:p>
            <a:endParaRPr lang="en-IN"/>
          </a:p>
        </p:txBody>
      </p:sp>
      <p:sp>
        <p:nvSpPr>
          <p:cNvPr id="116" name="Freeform 63"/>
          <p:cNvSpPr>
            <a:spLocks/>
          </p:cNvSpPr>
          <p:nvPr/>
        </p:nvSpPr>
        <p:spPr bwMode="auto">
          <a:xfrm>
            <a:off x="7907339" y="5103813"/>
            <a:ext cx="71437" cy="69850"/>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path>
            </a:pathLst>
          </a:custGeom>
          <a:noFill/>
          <a:ln w="0">
            <a:solidFill>
              <a:srgbClr val="000000"/>
            </a:solidFill>
            <a:prstDash val="solid"/>
            <a:round/>
            <a:headEnd/>
            <a:tailEnd/>
          </a:ln>
        </p:spPr>
        <p:txBody>
          <a:bodyPr/>
          <a:lstStyle/>
          <a:p>
            <a:endParaRPr lang="en-IN"/>
          </a:p>
        </p:txBody>
      </p:sp>
      <p:sp>
        <p:nvSpPr>
          <p:cNvPr id="117" name="Rectangle 64"/>
          <p:cNvSpPr>
            <a:spLocks noChangeArrowheads="1"/>
          </p:cNvSpPr>
          <p:nvPr/>
        </p:nvSpPr>
        <p:spPr bwMode="auto">
          <a:xfrm>
            <a:off x="7110414" y="5059364"/>
            <a:ext cx="504825" cy="160337"/>
          </a:xfrm>
          <a:prstGeom prst="rect">
            <a:avLst/>
          </a:prstGeom>
          <a:noFill/>
          <a:ln w="9525">
            <a:noFill/>
            <a:miter lim="800000"/>
            <a:headEnd/>
            <a:tailEnd/>
          </a:ln>
        </p:spPr>
        <p:txBody>
          <a:bodyPr/>
          <a:lstStyle/>
          <a:p>
            <a:endParaRPr lang="en-IN"/>
          </a:p>
        </p:txBody>
      </p:sp>
      <p:sp>
        <p:nvSpPr>
          <p:cNvPr id="118" name="Rectangle 65"/>
          <p:cNvSpPr>
            <a:spLocks noChangeArrowheads="1"/>
          </p:cNvSpPr>
          <p:nvPr/>
        </p:nvSpPr>
        <p:spPr bwMode="auto">
          <a:xfrm>
            <a:off x="6945313" y="5070475"/>
            <a:ext cx="504946"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Complex</a:t>
            </a:r>
            <a:endParaRPr lang="en-US"/>
          </a:p>
        </p:txBody>
      </p:sp>
      <p:sp>
        <p:nvSpPr>
          <p:cNvPr id="119" name="Line 66"/>
          <p:cNvSpPr>
            <a:spLocks noChangeShapeType="1"/>
          </p:cNvSpPr>
          <p:nvPr/>
        </p:nvSpPr>
        <p:spPr bwMode="auto">
          <a:xfrm flipV="1">
            <a:off x="5448300" y="3979863"/>
            <a:ext cx="844550" cy="1465262"/>
          </a:xfrm>
          <a:prstGeom prst="line">
            <a:avLst/>
          </a:prstGeom>
          <a:noFill/>
          <a:ln w="0">
            <a:solidFill>
              <a:srgbClr val="000000"/>
            </a:solidFill>
            <a:round/>
            <a:headEnd/>
            <a:tailEnd/>
          </a:ln>
        </p:spPr>
        <p:txBody>
          <a:bodyPr/>
          <a:lstStyle/>
          <a:p>
            <a:endParaRPr lang="en-IN"/>
          </a:p>
        </p:txBody>
      </p:sp>
      <p:sp>
        <p:nvSpPr>
          <p:cNvPr id="120" name="Freeform 67"/>
          <p:cNvSpPr>
            <a:spLocks/>
          </p:cNvSpPr>
          <p:nvPr/>
        </p:nvSpPr>
        <p:spPr bwMode="auto">
          <a:xfrm>
            <a:off x="6262689" y="3917951"/>
            <a:ext cx="66675" cy="79375"/>
          </a:xfrm>
          <a:custGeom>
            <a:avLst/>
            <a:gdLst/>
            <a:ahLst/>
            <a:cxnLst>
              <a:cxn ang="0">
                <a:pos x="126" y="0"/>
              </a:cxn>
              <a:cxn ang="0">
                <a:pos x="0" y="83"/>
              </a:cxn>
              <a:cxn ang="0">
                <a:pos x="118" y="150"/>
              </a:cxn>
              <a:cxn ang="0">
                <a:pos x="126" y="0"/>
              </a:cxn>
            </a:cxnLst>
            <a:rect l="0" t="0" r="r" b="b"/>
            <a:pathLst>
              <a:path w="126" h="150">
                <a:moveTo>
                  <a:pt x="126" y="0"/>
                </a:moveTo>
                <a:lnTo>
                  <a:pt x="0" y="83"/>
                </a:lnTo>
                <a:lnTo>
                  <a:pt x="118" y="150"/>
                </a:lnTo>
                <a:lnTo>
                  <a:pt x="126" y="0"/>
                </a:lnTo>
                <a:close/>
              </a:path>
            </a:pathLst>
          </a:custGeom>
          <a:solidFill>
            <a:srgbClr val="000000"/>
          </a:solidFill>
          <a:ln w="9525">
            <a:noFill/>
            <a:round/>
            <a:headEnd/>
            <a:tailEnd/>
          </a:ln>
        </p:spPr>
        <p:txBody>
          <a:bodyPr/>
          <a:lstStyle/>
          <a:p>
            <a:endParaRPr lang="en-IN"/>
          </a:p>
        </p:txBody>
      </p:sp>
      <p:sp>
        <p:nvSpPr>
          <p:cNvPr id="121" name="Freeform 68"/>
          <p:cNvSpPr>
            <a:spLocks/>
          </p:cNvSpPr>
          <p:nvPr/>
        </p:nvSpPr>
        <p:spPr bwMode="auto">
          <a:xfrm>
            <a:off x="6262689" y="3917951"/>
            <a:ext cx="66675" cy="79375"/>
          </a:xfrm>
          <a:custGeom>
            <a:avLst/>
            <a:gdLst/>
            <a:ahLst/>
            <a:cxnLst>
              <a:cxn ang="0">
                <a:pos x="126" y="0"/>
              </a:cxn>
              <a:cxn ang="0">
                <a:pos x="0" y="83"/>
              </a:cxn>
              <a:cxn ang="0">
                <a:pos x="118" y="150"/>
              </a:cxn>
              <a:cxn ang="0">
                <a:pos x="126" y="0"/>
              </a:cxn>
            </a:cxnLst>
            <a:rect l="0" t="0" r="r" b="b"/>
            <a:pathLst>
              <a:path w="126" h="150">
                <a:moveTo>
                  <a:pt x="126" y="0"/>
                </a:moveTo>
                <a:lnTo>
                  <a:pt x="0" y="83"/>
                </a:lnTo>
                <a:lnTo>
                  <a:pt x="118" y="150"/>
                </a:lnTo>
                <a:lnTo>
                  <a:pt x="126" y="0"/>
                </a:lnTo>
              </a:path>
            </a:pathLst>
          </a:custGeom>
          <a:noFill/>
          <a:ln w="0">
            <a:solidFill>
              <a:srgbClr val="000000"/>
            </a:solidFill>
            <a:prstDash val="solid"/>
            <a:round/>
            <a:headEnd/>
            <a:tailEnd/>
          </a:ln>
        </p:spPr>
        <p:txBody>
          <a:bodyPr/>
          <a:lstStyle/>
          <a:p>
            <a:endParaRPr lang="en-IN"/>
          </a:p>
        </p:txBody>
      </p:sp>
      <p:sp>
        <p:nvSpPr>
          <p:cNvPr id="122" name="Rectangle 69"/>
          <p:cNvSpPr>
            <a:spLocks noChangeArrowheads="1"/>
          </p:cNvSpPr>
          <p:nvPr/>
        </p:nvSpPr>
        <p:spPr bwMode="auto">
          <a:xfrm>
            <a:off x="5087938" y="5344624"/>
            <a:ext cx="931862" cy="294176"/>
          </a:xfrm>
          <a:prstGeom prst="rect">
            <a:avLst/>
          </a:prstGeom>
          <a:solidFill>
            <a:schemeClr val="accent1">
              <a:lumMod val="40000"/>
              <a:lumOff val="60000"/>
            </a:schemeClr>
          </a:solidFill>
          <a:ln w="9525">
            <a:noFill/>
            <a:miter lim="800000"/>
            <a:headEnd/>
            <a:tailEnd/>
          </a:ln>
        </p:spPr>
        <p:txBody>
          <a:bodyPr/>
          <a:lstStyle/>
          <a:p>
            <a:endParaRPr lang="en-IN"/>
          </a:p>
        </p:txBody>
      </p:sp>
      <p:sp>
        <p:nvSpPr>
          <p:cNvPr id="123" name="Rectangle 70"/>
          <p:cNvSpPr>
            <a:spLocks noChangeArrowheads="1"/>
          </p:cNvSpPr>
          <p:nvPr/>
        </p:nvSpPr>
        <p:spPr bwMode="auto">
          <a:xfrm>
            <a:off x="5201956" y="5410201"/>
            <a:ext cx="714939" cy="200055"/>
          </a:xfrm>
          <a:prstGeom prst="rect">
            <a:avLst/>
          </a:prstGeom>
          <a:noFill/>
          <a:ln w="9525">
            <a:noFill/>
            <a:miter lim="800000"/>
            <a:headEnd/>
            <a:tailEnd/>
          </a:ln>
        </p:spPr>
        <p:txBody>
          <a:bodyPr wrap="none" lIns="0" tIns="0" rIns="0" bIns="0">
            <a:spAutoFit/>
          </a:bodyPr>
          <a:lstStyle/>
          <a:p>
            <a:pPr algn="ctr"/>
            <a:r>
              <a:rPr lang="en-US" sz="1300" dirty="0">
                <a:solidFill>
                  <a:srgbClr val="000080"/>
                </a:solidFill>
                <a:latin typeface="Arial" charset="0"/>
              </a:rPr>
              <a:t>Machines</a:t>
            </a:r>
            <a:endParaRPr lang="en-US" dirty="0"/>
          </a:p>
        </p:txBody>
      </p:sp>
      <p:sp>
        <p:nvSpPr>
          <p:cNvPr id="124" name="Line 71"/>
          <p:cNvSpPr>
            <a:spLocks noChangeShapeType="1"/>
          </p:cNvSpPr>
          <p:nvPr/>
        </p:nvSpPr>
        <p:spPr bwMode="auto">
          <a:xfrm>
            <a:off x="5484813" y="4749800"/>
            <a:ext cx="292100" cy="1588"/>
          </a:xfrm>
          <a:prstGeom prst="line">
            <a:avLst/>
          </a:prstGeom>
          <a:noFill/>
          <a:ln w="0">
            <a:solidFill>
              <a:srgbClr val="000000"/>
            </a:solidFill>
            <a:round/>
            <a:headEnd/>
            <a:tailEnd/>
          </a:ln>
        </p:spPr>
        <p:txBody>
          <a:bodyPr/>
          <a:lstStyle/>
          <a:p>
            <a:endParaRPr lang="en-IN"/>
          </a:p>
        </p:txBody>
      </p:sp>
      <p:sp>
        <p:nvSpPr>
          <p:cNvPr id="125" name="Freeform 72"/>
          <p:cNvSpPr>
            <a:spLocks/>
          </p:cNvSpPr>
          <p:nvPr/>
        </p:nvSpPr>
        <p:spPr bwMode="auto">
          <a:xfrm>
            <a:off x="5776914" y="4713289"/>
            <a:ext cx="71437" cy="71437"/>
          </a:xfrm>
          <a:custGeom>
            <a:avLst/>
            <a:gdLst/>
            <a:ahLst/>
            <a:cxnLst>
              <a:cxn ang="0">
                <a:pos x="135" y="67"/>
              </a:cxn>
              <a:cxn ang="0">
                <a:pos x="0" y="0"/>
              </a:cxn>
              <a:cxn ang="0">
                <a:pos x="0" y="135"/>
              </a:cxn>
              <a:cxn ang="0">
                <a:pos x="135" y="67"/>
              </a:cxn>
            </a:cxnLst>
            <a:rect l="0" t="0" r="r" b="b"/>
            <a:pathLst>
              <a:path w="135" h="135">
                <a:moveTo>
                  <a:pt x="135" y="67"/>
                </a:moveTo>
                <a:lnTo>
                  <a:pt x="0" y="0"/>
                </a:lnTo>
                <a:lnTo>
                  <a:pt x="0" y="135"/>
                </a:lnTo>
                <a:lnTo>
                  <a:pt x="135" y="67"/>
                </a:lnTo>
                <a:close/>
              </a:path>
            </a:pathLst>
          </a:custGeom>
          <a:solidFill>
            <a:srgbClr val="000000"/>
          </a:solidFill>
          <a:ln w="9525">
            <a:noFill/>
            <a:round/>
            <a:headEnd/>
            <a:tailEnd/>
          </a:ln>
        </p:spPr>
        <p:txBody>
          <a:bodyPr/>
          <a:lstStyle/>
          <a:p>
            <a:endParaRPr lang="en-IN"/>
          </a:p>
        </p:txBody>
      </p:sp>
      <p:sp>
        <p:nvSpPr>
          <p:cNvPr id="126" name="Freeform 73"/>
          <p:cNvSpPr>
            <a:spLocks/>
          </p:cNvSpPr>
          <p:nvPr/>
        </p:nvSpPr>
        <p:spPr bwMode="auto">
          <a:xfrm>
            <a:off x="5776914" y="4713289"/>
            <a:ext cx="71437" cy="71437"/>
          </a:xfrm>
          <a:custGeom>
            <a:avLst/>
            <a:gdLst/>
            <a:ahLst/>
            <a:cxnLst>
              <a:cxn ang="0">
                <a:pos x="135" y="67"/>
              </a:cxn>
              <a:cxn ang="0">
                <a:pos x="0" y="0"/>
              </a:cxn>
              <a:cxn ang="0">
                <a:pos x="0" y="135"/>
              </a:cxn>
              <a:cxn ang="0">
                <a:pos x="135" y="67"/>
              </a:cxn>
            </a:cxnLst>
            <a:rect l="0" t="0" r="r" b="b"/>
            <a:pathLst>
              <a:path w="135" h="135">
                <a:moveTo>
                  <a:pt x="135" y="67"/>
                </a:moveTo>
                <a:lnTo>
                  <a:pt x="0" y="0"/>
                </a:lnTo>
                <a:lnTo>
                  <a:pt x="0" y="135"/>
                </a:lnTo>
                <a:lnTo>
                  <a:pt x="135" y="67"/>
                </a:lnTo>
              </a:path>
            </a:pathLst>
          </a:custGeom>
          <a:noFill/>
          <a:ln w="0">
            <a:solidFill>
              <a:srgbClr val="000000"/>
            </a:solidFill>
            <a:prstDash val="solid"/>
            <a:round/>
            <a:headEnd/>
            <a:tailEnd/>
          </a:ln>
        </p:spPr>
        <p:txBody>
          <a:bodyPr/>
          <a:lstStyle/>
          <a:p>
            <a:endParaRPr lang="en-IN"/>
          </a:p>
        </p:txBody>
      </p:sp>
      <p:sp>
        <p:nvSpPr>
          <p:cNvPr id="127" name="Rectangle 74"/>
          <p:cNvSpPr>
            <a:spLocks noChangeArrowheads="1"/>
          </p:cNvSpPr>
          <p:nvPr/>
        </p:nvSpPr>
        <p:spPr bwMode="auto">
          <a:xfrm>
            <a:off x="4624389" y="4670425"/>
            <a:ext cx="860425" cy="160338"/>
          </a:xfrm>
          <a:prstGeom prst="rect">
            <a:avLst/>
          </a:prstGeom>
          <a:noFill/>
          <a:ln w="9525">
            <a:noFill/>
            <a:miter lim="800000"/>
            <a:headEnd/>
            <a:tailEnd/>
          </a:ln>
        </p:spPr>
        <p:txBody>
          <a:bodyPr/>
          <a:lstStyle/>
          <a:p>
            <a:endParaRPr lang="en-IN"/>
          </a:p>
        </p:txBody>
      </p:sp>
      <p:sp>
        <p:nvSpPr>
          <p:cNvPr id="128" name="Rectangle 75"/>
          <p:cNvSpPr>
            <a:spLocks noChangeArrowheads="1"/>
          </p:cNvSpPr>
          <p:nvPr/>
        </p:nvSpPr>
        <p:spPr bwMode="auto">
          <a:xfrm>
            <a:off x="4495801" y="4681538"/>
            <a:ext cx="849313"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Not maintained</a:t>
            </a:r>
            <a:endParaRPr lang="en-US"/>
          </a:p>
        </p:txBody>
      </p:sp>
      <p:sp>
        <p:nvSpPr>
          <p:cNvPr id="129" name="Line 76"/>
          <p:cNvSpPr>
            <a:spLocks noChangeShapeType="1"/>
          </p:cNvSpPr>
          <p:nvPr/>
        </p:nvSpPr>
        <p:spPr bwMode="auto">
          <a:xfrm>
            <a:off x="5295900" y="5078414"/>
            <a:ext cx="292100" cy="1587"/>
          </a:xfrm>
          <a:prstGeom prst="line">
            <a:avLst/>
          </a:prstGeom>
          <a:noFill/>
          <a:ln w="0">
            <a:solidFill>
              <a:srgbClr val="000000"/>
            </a:solidFill>
            <a:round/>
            <a:headEnd/>
            <a:tailEnd/>
          </a:ln>
        </p:spPr>
        <p:txBody>
          <a:bodyPr/>
          <a:lstStyle/>
          <a:p>
            <a:endParaRPr lang="en-IN"/>
          </a:p>
        </p:txBody>
      </p:sp>
      <p:sp>
        <p:nvSpPr>
          <p:cNvPr id="130" name="Freeform 77"/>
          <p:cNvSpPr>
            <a:spLocks/>
          </p:cNvSpPr>
          <p:nvPr/>
        </p:nvSpPr>
        <p:spPr bwMode="auto">
          <a:xfrm>
            <a:off x="5588000" y="5041900"/>
            <a:ext cx="71438" cy="71438"/>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close/>
              </a:path>
            </a:pathLst>
          </a:custGeom>
          <a:solidFill>
            <a:srgbClr val="000000"/>
          </a:solidFill>
          <a:ln w="9525">
            <a:noFill/>
            <a:round/>
            <a:headEnd/>
            <a:tailEnd/>
          </a:ln>
        </p:spPr>
        <p:txBody>
          <a:bodyPr/>
          <a:lstStyle/>
          <a:p>
            <a:endParaRPr lang="en-IN"/>
          </a:p>
        </p:txBody>
      </p:sp>
      <p:sp>
        <p:nvSpPr>
          <p:cNvPr id="131" name="Freeform 78"/>
          <p:cNvSpPr>
            <a:spLocks/>
          </p:cNvSpPr>
          <p:nvPr/>
        </p:nvSpPr>
        <p:spPr bwMode="auto">
          <a:xfrm>
            <a:off x="5588000" y="5041900"/>
            <a:ext cx="71438" cy="71438"/>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path>
            </a:pathLst>
          </a:custGeom>
          <a:noFill/>
          <a:ln w="0">
            <a:solidFill>
              <a:srgbClr val="000000"/>
            </a:solidFill>
            <a:prstDash val="solid"/>
            <a:round/>
            <a:headEnd/>
            <a:tailEnd/>
          </a:ln>
        </p:spPr>
        <p:txBody>
          <a:bodyPr/>
          <a:lstStyle/>
          <a:p>
            <a:endParaRPr lang="en-IN"/>
          </a:p>
        </p:txBody>
      </p:sp>
      <p:sp>
        <p:nvSpPr>
          <p:cNvPr id="132" name="Rectangle 79"/>
          <p:cNvSpPr>
            <a:spLocks noChangeArrowheads="1"/>
          </p:cNvSpPr>
          <p:nvPr/>
        </p:nvSpPr>
        <p:spPr bwMode="auto">
          <a:xfrm>
            <a:off x="4089400" y="4997451"/>
            <a:ext cx="1206500" cy="161925"/>
          </a:xfrm>
          <a:prstGeom prst="rect">
            <a:avLst/>
          </a:prstGeom>
          <a:noFill/>
          <a:ln w="9525">
            <a:noFill/>
            <a:miter lim="800000"/>
            <a:headEnd/>
            <a:tailEnd/>
          </a:ln>
        </p:spPr>
        <p:txBody>
          <a:bodyPr/>
          <a:lstStyle/>
          <a:p>
            <a:endParaRPr lang="en-IN"/>
          </a:p>
        </p:txBody>
      </p:sp>
      <p:sp>
        <p:nvSpPr>
          <p:cNvPr id="133" name="Rectangle 80"/>
          <p:cNvSpPr>
            <a:spLocks noChangeArrowheads="1"/>
          </p:cNvSpPr>
          <p:nvPr/>
        </p:nvSpPr>
        <p:spPr bwMode="auto">
          <a:xfrm>
            <a:off x="3981451" y="5008563"/>
            <a:ext cx="1190625"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Inadequate capability</a:t>
            </a:r>
            <a:endParaRPr lang="en-US"/>
          </a:p>
        </p:txBody>
      </p:sp>
      <p:sp>
        <p:nvSpPr>
          <p:cNvPr id="134" name="Line 81"/>
          <p:cNvSpPr>
            <a:spLocks noChangeShapeType="1"/>
          </p:cNvSpPr>
          <p:nvPr/>
        </p:nvSpPr>
        <p:spPr bwMode="auto">
          <a:xfrm>
            <a:off x="4735513" y="2357438"/>
            <a:ext cx="1509712" cy="1511300"/>
          </a:xfrm>
          <a:prstGeom prst="line">
            <a:avLst/>
          </a:prstGeom>
          <a:noFill/>
          <a:ln w="0">
            <a:solidFill>
              <a:srgbClr val="000000"/>
            </a:solidFill>
            <a:round/>
            <a:headEnd/>
            <a:tailEnd/>
          </a:ln>
        </p:spPr>
        <p:txBody>
          <a:bodyPr/>
          <a:lstStyle/>
          <a:p>
            <a:endParaRPr lang="en-IN"/>
          </a:p>
        </p:txBody>
      </p:sp>
      <p:sp>
        <p:nvSpPr>
          <p:cNvPr id="135" name="Freeform 82"/>
          <p:cNvSpPr>
            <a:spLocks/>
          </p:cNvSpPr>
          <p:nvPr/>
        </p:nvSpPr>
        <p:spPr bwMode="auto">
          <a:xfrm>
            <a:off x="6219825" y="3841750"/>
            <a:ext cx="76200" cy="76200"/>
          </a:xfrm>
          <a:custGeom>
            <a:avLst/>
            <a:gdLst/>
            <a:ahLst/>
            <a:cxnLst>
              <a:cxn ang="0">
                <a:pos x="143" y="144"/>
              </a:cxn>
              <a:cxn ang="0">
                <a:pos x="96" y="0"/>
              </a:cxn>
              <a:cxn ang="0">
                <a:pos x="0" y="96"/>
              </a:cxn>
              <a:cxn ang="0">
                <a:pos x="143" y="144"/>
              </a:cxn>
            </a:cxnLst>
            <a:rect l="0" t="0" r="r" b="b"/>
            <a:pathLst>
              <a:path w="143" h="144">
                <a:moveTo>
                  <a:pt x="143" y="144"/>
                </a:moveTo>
                <a:lnTo>
                  <a:pt x="96" y="0"/>
                </a:lnTo>
                <a:lnTo>
                  <a:pt x="0" y="96"/>
                </a:lnTo>
                <a:lnTo>
                  <a:pt x="143" y="144"/>
                </a:lnTo>
                <a:close/>
              </a:path>
            </a:pathLst>
          </a:custGeom>
          <a:solidFill>
            <a:srgbClr val="000000"/>
          </a:solidFill>
          <a:ln w="9525">
            <a:noFill/>
            <a:round/>
            <a:headEnd/>
            <a:tailEnd/>
          </a:ln>
        </p:spPr>
        <p:txBody>
          <a:bodyPr/>
          <a:lstStyle/>
          <a:p>
            <a:endParaRPr lang="en-IN"/>
          </a:p>
        </p:txBody>
      </p:sp>
      <p:sp>
        <p:nvSpPr>
          <p:cNvPr id="136" name="Freeform 83"/>
          <p:cNvSpPr>
            <a:spLocks/>
          </p:cNvSpPr>
          <p:nvPr/>
        </p:nvSpPr>
        <p:spPr bwMode="auto">
          <a:xfrm>
            <a:off x="6219825" y="3841750"/>
            <a:ext cx="76200" cy="76200"/>
          </a:xfrm>
          <a:custGeom>
            <a:avLst/>
            <a:gdLst/>
            <a:ahLst/>
            <a:cxnLst>
              <a:cxn ang="0">
                <a:pos x="143" y="144"/>
              </a:cxn>
              <a:cxn ang="0">
                <a:pos x="96" y="0"/>
              </a:cxn>
              <a:cxn ang="0">
                <a:pos x="0" y="96"/>
              </a:cxn>
              <a:cxn ang="0">
                <a:pos x="143" y="144"/>
              </a:cxn>
            </a:cxnLst>
            <a:rect l="0" t="0" r="r" b="b"/>
            <a:pathLst>
              <a:path w="143" h="144">
                <a:moveTo>
                  <a:pt x="143" y="144"/>
                </a:moveTo>
                <a:lnTo>
                  <a:pt x="96" y="0"/>
                </a:lnTo>
                <a:lnTo>
                  <a:pt x="0" y="96"/>
                </a:lnTo>
                <a:lnTo>
                  <a:pt x="143" y="144"/>
                </a:lnTo>
              </a:path>
            </a:pathLst>
          </a:custGeom>
          <a:noFill/>
          <a:ln w="0">
            <a:solidFill>
              <a:srgbClr val="000000"/>
            </a:solidFill>
            <a:prstDash val="solid"/>
            <a:round/>
            <a:headEnd/>
            <a:tailEnd/>
          </a:ln>
        </p:spPr>
        <p:txBody>
          <a:bodyPr/>
          <a:lstStyle/>
          <a:p>
            <a:endParaRPr lang="en-IN"/>
          </a:p>
        </p:txBody>
      </p:sp>
      <p:sp>
        <p:nvSpPr>
          <p:cNvPr id="137" name="Rectangle 84"/>
          <p:cNvSpPr>
            <a:spLocks noChangeArrowheads="1"/>
          </p:cNvSpPr>
          <p:nvPr/>
        </p:nvSpPr>
        <p:spPr bwMode="auto">
          <a:xfrm>
            <a:off x="3886200" y="2257426"/>
            <a:ext cx="863600" cy="257175"/>
          </a:xfrm>
          <a:prstGeom prst="rect">
            <a:avLst/>
          </a:prstGeom>
          <a:solidFill>
            <a:schemeClr val="accent1">
              <a:lumMod val="40000"/>
              <a:lumOff val="60000"/>
            </a:schemeClr>
          </a:solidFill>
          <a:ln w="9525">
            <a:noFill/>
            <a:miter lim="800000"/>
            <a:headEnd/>
            <a:tailEnd/>
          </a:ln>
        </p:spPr>
        <p:txBody>
          <a:bodyPr/>
          <a:lstStyle/>
          <a:p>
            <a:endParaRPr lang="en-IN"/>
          </a:p>
        </p:txBody>
      </p:sp>
      <p:sp>
        <p:nvSpPr>
          <p:cNvPr id="138" name="Rectangle 85"/>
          <p:cNvSpPr>
            <a:spLocks noChangeArrowheads="1"/>
          </p:cNvSpPr>
          <p:nvPr/>
        </p:nvSpPr>
        <p:spPr bwMode="auto">
          <a:xfrm>
            <a:off x="3886201" y="2286000"/>
            <a:ext cx="777875" cy="198438"/>
          </a:xfrm>
          <a:prstGeom prst="rect">
            <a:avLst/>
          </a:prstGeom>
          <a:noFill/>
          <a:ln w="9525">
            <a:noFill/>
            <a:miter lim="800000"/>
            <a:headEnd/>
            <a:tailEnd/>
          </a:ln>
        </p:spPr>
        <p:txBody>
          <a:bodyPr lIns="0" tIns="0" rIns="0" bIns="0">
            <a:spAutoFit/>
          </a:bodyPr>
          <a:lstStyle/>
          <a:p>
            <a:pPr algn="ctr"/>
            <a:r>
              <a:rPr lang="en-US" sz="1300" dirty="0">
                <a:solidFill>
                  <a:srgbClr val="000080"/>
                </a:solidFill>
                <a:latin typeface="Arial" charset="0"/>
              </a:rPr>
              <a:t>Material</a:t>
            </a:r>
            <a:endParaRPr lang="en-US" dirty="0"/>
          </a:p>
        </p:txBody>
      </p:sp>
      <p:sp>
        <p:nvSpPr>
          <p:cNvPr id="139" name="Line 86"/>
          <p:cNvSpPr>
            <a:spLocks noChangeShapeType="1"/>
          </p:cNvSpPr>
          <p:nvPr/>
        </p:nvSpPr>
        <p:spPr bwMode="auto">
          <a:xfrm>
            <a:off x="4730750" y="2716214"/>
            <a:ext cx="292100" cy="1587"/>
          </a:xfrm>
          <a:prstGeom prst="line">
            <a:avLst/>
          </a:prstGeom>
          <a:noFill/>
          <a:ln w="0">
            <a:solidFill>
              <a:srgbClr val="000000"/>
            </a:solidFill>
            <a:round/>
            <a:headEnd/>
            <a:tailEnd/>
          </a:ln>
        </p:spPr>
        <p:txBody>
          <a:bodyPr/>
          <a:lstStyle/>
          <a:p>
            <a:endParaRPr lang="en-IN"/>
          </a:p>
        </p:txBody>
      </p:sp>
      <p:sp>
        <p:nvSpPr>
          <p:cNvPr id="140" name="Freeform 87"/>
          <p:cNvSpPr>
            <a:spLocks/>
          </p:cNvSpPr>
          <p:nvPr/>
        </p:nvSpPr>
        <p:spPr bwMode="auto">
          <a:xfrm>
            <a:off x="5022850" y="2679700"/>
            <a:ext cx="71438" cy="71438"/>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close/>
              </a:path>
            </a:pathLst>
          </a:custGeom>
          <a:solidFill>
            <a:srgbClr val="000000"/>
          </a:solidFill>
          <a:ln w="9525">
            <a:noFill/>
            <a:round/>
            <a:headEnd/>
            <a:tailEnd/>
          </a:ln>
        </p:spPr>
        <p:txBody>
          <a:bodyPr/>
          <a:lstStyle/>
          <a:p>
            <a:endParaRPr lang="en-IN"/>
          </a:p>
        </p:txBody>
      </p:sp>
      <p:sp>
        <p:nvSpPr>
          <p:cNvPr id="141" name="Freeform 88"/>
          <p:cNvSpPr>
            <a:spLocks/>
          </p:cNvSpPr>
          <p:nvPr/>
        </p:nvSpPr>
        <p:spPr bwMode="auto">
          <a:xfrm>
            <a:off x="5022850" y="2679700"/>
            <a:ext cx="71438" cy="71438"/>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path>
            </a:pathLst>
          </a:custGeom>
          <a:noFill/>
          <a:ln w="0">
            <a:solidFill>
              <a:srgbClr val="000000"/>
            </a:solidFill>
            <a:prstDash val="solid"/>
            <a:round/>
            <a:headEnd/>
            <a:tailEnd/>
          </a:ln>
        </p:spPr>
        <p:txBody>
          <a:bodyPr/>
          <a:lstStyle/>
          <a:p>
            <a:endParaRPr lang="en-IN"/>
          </a:p>
        </p:txBody>
      </p:sp>
      <p:sp>
        <p:nvSpPr>
          <p:cNvPr id="142" name="Rectangle 89"/>
          <p:cNvSpPr>
            <a:spLocks noChangeArrowheads="1"/>
          </p:cNvSpPr>
          <p:nvPr/>
        </p:nvSpPr>
        <p:spPr bwMode="auto">
          <a:xfrm>
            <a:off x="4483100" y="2635251"/>
            <a:ext cx="247650" cy="161925"/>
          </a:xfrm>
          <a:prstGeom prst="rect">
            <a:avLst/>
          </a:prstGeom>
          <a:noFill/>
          <a:ln w="9525">
            <a:noFill/>
            <a:miter lim="800000"/>
            <a:headEnd/>
            <a:tailEnd/>
          </a:ln>
        </p:spPr>
        <p:txBody>
          <a:bodyPr/>
          <a:lstStyle/>
          <a:p>
            <a:endParaRPr lang="en-IN"/>
          </a:p>
        </p:txBody>
      </p:sp>
      <p:sp>
        <p:nvSpPr>
          <p:cNvPr id="143" name="Rectangle 90"/>
          <p:cNvSpPr>
            <a:spLocks noChangeArrowheads="1"/>
          </p:cNvSpPr>
          <p:nvPr/>
        </p:nvSpPr>
        <p:spPr bwMode="auto">
          <a:xfrm>
            <a:off x="4405314" y="2646363"/>
            <a:ext cx="244475"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Late</a:t>
            </a:r>
            <a:endParaRPr lang="en-US"/>
          </a:p>
        </p:txBody>
      </p:sp>
      <p:sp>
        <p:nvSpPr>
          <p:cNvPr id="144" name="Line 91"/>
          <p:cNvSpPr>
            <a:spLocks noChangeShapeType="1"/>
          </p:cNvSpPr>
          <p:nvPr/>
        </p:nvSpPr>
        <p:spPr bwMode="auto">
          <a:xfrm>
            <a:off x="5035550" y="3021014"/>
            <a:ext cx="292100" cy="1587"/>
          </a:xfrm>
          <a:prstGeom prst="line">
            <a:avLst/>
          </a:prstGeom>
          <a:noFill/>
          <a:ln w="0">
            <a:solidFill>
              <a:srgbClr val="000000"/>
            </a:solidFill>
            <a:round/>
            <a:headEnd/>
            <a:tailEnd/>
          </a:ln>
        </p:spPr>
        <p:txBody>
          <a:bodyPr/>
          <a:lstStyle/>
          <a:p>
            <a:endParaRPr lang="en-IN"/>
          </a:p>
        </p:txBody>
      </p:sp>
      <p:sp>
        <p:nvSpPr>
          <p:cNvPr id="145" name="Freeform 92"/>
          <p:cNvSpPr>
            <a:spLocks/>
          </p:cNvSpPr>
          <p:nvPr/>
        </p:nvSpPr>
        <p:spPr bwMode="auto">
          <a:xfrm>
            <a:off x="5327650" y="2984500"/>
            <a:ext cx="71438" cy="71438"/>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close/>
              </a:path>
            </a:pathLst>
          </a:custGeom>
          <a:solidFill>
            <a:srgbClr val="000000"/>
          </a:solidFill>
          <a:ln w="9525">
            <a:noFill/>
            <a:round/>
            <a:headEnd/>
            <a:tailEnd/>
          </a:ln>
        </p:spPr>
        <p:txBody>
          <a:bodyPr/>
          <a:lstStyle/>
          <a:p>
            <a:endParaRPr lang="en-IN"/>
          </a:p>
        </p:txBody>
      </p:sp>
      <p:sp>
        <p:nvSpPr>
          <p:cNvPr id="146" name="Freeform 93"/>
          <p:cNvSpPr>
            <a:spLocks/>
          </p:cNvSpPr>
          <p:nvPr/>
        </p:nvSpPr>
        <p:spPr bwMode="auto">
          <a:xfrm>
            <a:off x="5327650" y="2984500"/>
            <a:ext cx="71438" cy="71438"/>
          </a:xfrm>
          <a:custGeom>
            <a:avLst/>
            <a:gdLst/>
            <a:ahLst/>
            <a:cxnLst>
              <a:cxn ang="0">
                <a:pos x="135" y="67"/>
              </a:cxn>
              <a:cxn ang="0">
                <a:pos x="0" y="0"/>
              </a:cxn>
              <a:cxn ang="0">
                <a:pos x="0" y="134"/>
              </a:cxn>
              <a:cxn ang="0">
                <a:pos x="135" y="67"/>
              </a:cxn>
            </a:cxnLst>
            <a:rect l="0" t="0" r="r" b="b"/>
            <a:pathLst>
              <a:path w="135" h="134">
                <a:moveTo>
                  <a:pt x="135" y="67"/>
                </a:moveTo>
                <a:lnTo>
                  <a:pt x="0" y="0"/>
                </a:lnTo>
                <a:lnTo>
                  <a:pt x="0" y="134"/>
                </a:lnTo>
                <a:lnTo>
                  <a:pt x="135" y="67"/>
                </a:lnTo>
              </a:path>
            </a:pathLst>
          </a:custGeom>
          <a:noFill/>
          <a:ln w="0">
            <a:solidFill>
              <a:srgbClr val="000000"/>
            </a:solidFill>
            <a:prstDash val="solid"/>
            <a:round/>
            <a:headEnd/>
            <a:tailEnd/>
          </a:ln>
        </p:spPr>
        <p:txBody>
          <a:bodyPr/>
          <a:lstStyle/>
          <a:p>
            <a:endParaRPr lang="en-IN"/>
          </a:p>
        </p:txBody>
      </p:sp>
      <p:sp>
        <p:nvSpPr>
          <p:cNvPr id="147" name="Rectangle 94"/>
          <p:cNvSpPr>
            <a:spLocks noChangeArrowheads="1"/>
          </p:cNvSpPr>
          <p:nvPr/>
        </p:nvSpPr>
        <p:spPr bwMode="auto">
          <a:xfrm>
            <a:off x="4164014" y="2940051"/>
            <a:ext cx="871537" cy="161925"/>
          </a:xfrm>
          <a:prstGeom prst="rect">
            <a:avLst/>
          </a:prstGeom>
          <a:noFill/>
          <a:ln w="9525">
            <a:noFill/>
            <a:miter lim="800000"/>
            <a:headEnd/>
            <a:tailEnd/>
          </a:ln>
        </p:spPr>
        <p:txBody>
          <a:bodyPr/>
          <a:lstStyle/>
          <a:p>
            <a:endParaRPr lang="en-IN"/>
          </a:p>
        </p:txBody>
      </p:sp>
      <p:sp>
        <p:nvSpPr>
          <p:cNvPr id="148" name="Rectangle 95"/>
          <p:cNvSpPr>
            <a:spLocks noChangeArrowheads="1"/>
          </p:cNvSpPr>
          <p:nvPr/>
        </p:nvSpPr>
        <p:spPr bwMode="auto">
          <a:xfrm>
            <a:off x="4119564" y="2951163"/>
            <a:ext cx="857607"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Wrong quantity</a:t>
            </a:r>
            <a:endParaRPr lang="en-US"/>
          </a:p>
        </p:txBody>
      </p:sp>
      <p:sp>
        <p:nvSpPr>
          <p:cNvPr id="149" name="Line 96"/>
          <p:cNvSpPr>
            <a:spLocks noChangeShapeType="1"/>
          </p:cNvSpPr>
          <p:nvPr/>
        </p:nvSpPr>
        <p:spPr bwMode="auto">
          <a:xfrm>
            <a:off x="5054601" y="3348039"/>
            <a:ext cx="600075" cy="1587"/>
          </a:xfrm>
          <a:prstGeom prst="line">
            <a:avLst/>
          </a:prstGeom>
          <a:noFill/>
          <a:ln w="0">
            <a:solidFill>
              <a:srgbClr val="000000"/>
            </a:solidFill>
            <a:round/>
            <a:headEnd/>
            <a:tailEnd/>
          </a:ln>
        </p:spPr>
        <p:txBody>
          <a:bodyPr/>
          <a:lstStyle/>
          <a:p>
            <a:endParaRPr lang="en-IN"/>
          </a:p>
        </p:txBody>
      </p:sp>
      <p:sp>
        <p:nvSpPr>
          <p:cNvPr id="150" name="Freeform 97"/>
          <p:cNvSpPr>
            <a:spLocks/>
          </p:cNvSpPr>
          <p:nvPr/>
        </p:nvSpPr>
        <p:spPr bwMode="auto">
          <a:xfrm>
            <a:off x="5654675" y="3311525"/>
            <a:ext cx="71438" cy="71438"/>
          </a:xfrm>
          <a:custGeom>
            <a:avLst/>
            <a:gdLst/>
            <a:ahLst/>
            <a:cxnLst>
              <a:cxn ang="0">
                <a:pos x="135" y="67"/>
              </a:cxn>
              <a:cxn ang="0">
                <a:pos x="0" y="0"/>
              </a:cxn>
              <a:cxn ang="0">
                <a:pos x="0" y="135"/>
              </a:cxn>
              <a:cxn ang="0">
                <a:pos x="135" y="67"/>
              </a:cxn>
            </a:cxnLst>
            <a:rect l="0" t="0" r="r" b="b"/>
            <a:pathLst>
              <a:path w="135" h="135">
                <a:moveTo>
                  <a:pt x="135" y="67"/>
                </a:moveTo>
                <a:lnTo>
                  <a:pt x="0" y="0"/>
                </a:lnTo>
                <a:lnTo>
                  <a:pt x="0" y="135"/>
                </a:lnTo>
                <a:lnTo>
                  <a:pt x="135" y="67"/>
                </a:lnTo>
                <a:close/>
              </a:path>
            </a:pathLst>
          </a:custGeom>
          <a:solidFill>
            <a:srgbClr val="000000"/>
          </a:solidFill>
          <a:ln w="9525">
            <a:noFill/>
            <a:round/>
            <a:headEnd/>
            <a:tailEnd/>
          </a:ln>
        </p:spPr>
        <p:txBody>
          <a:bodyPr/>
          <a:lstStyle/>
          <a:p>
            <a:endParaRPr lang="en-IN"/>
          </a:p>
        </p:txBody>
      </p:sp>
      <p:sp>
        <p:nvSpPr>
          <p:cNvPr id="151" name="Freeform 98"/>
          <p:cNvSpPr>
            <a:spLocks/>
          </p:cNvSpPr>
          <p:nvPr/>
        </p:nvSpPr>
        <p:spPr bwMode="auto">
          <a:xfrm>
            <a:off x="5654675" y="3311525"/>
            <a:ext cx="71438" cy="71438"/>
          </a:xfrm>
          <a:custGeom>
            <a:avLst/>
            <a:gdLst/>
            <a:ahLst/>
            <a:cxnLst>
              <a:cxn ang="0">
                <a:pos x="135" y="67"/>
              </a:cxn>
              <a:cxn ang="0">
                <a:pos x="0" y="0"/>
              </a:cxn>
              <a:cxn ang="0">
                <a:pos x="0" y="135"/>
              </a:cxn>
              <a:cxn ang="0">
                <a:pos x="135" y="67"/>
              </a:cxn>
            </a:cxnLst>
            <a:rect l="0" t="0" r="r" b="b"/>
            <a:pathLst>
              <a:path w="135" h="135">
                <a:moveTo>
                  <a:pt x="135" y="67"/>
                </a:moveTo>
                <a:lnTo>
                  <a:pt x="0" y="0"/>
                </a:lnTo>
                <a:lnTo>
                  <a:pt x="0" y="135"/>
                </a:lnTo>
                <a:lnTo>
                  <a:pt x="135" y="67"/>
                </a:lnTo>
              </a:path>
            </a:pathLst>
          </a:custGeom>
          <a:noFill/>
          <a:ln w="0">
            <a:solidFill>
              <a:srgbClr val="000000"/>
            </a:solidFill>
            <a:prstDash val="solid"/>
            <a:round/>
            <a:headEnd/>
            <a:tailEnd/>
          </a:ln>
        </p:spPr>
        <p:txBody>
          <a:bodyPr/>
          <a:lstStyle/>
          <a:p>
            <a:endParaRPr lang="en-IN"/>
          </a:p>
        </p:txBody>
      </p:sp>
      <p:sp>
        <p:nvSpPr>
          <p:cNvPr id="152" name="Rectangle 99"/>
          <p:cNvSpPr>
            <a:spLocks noChangeArrowheads="1"/>
          </p:cNvSpPr>
          <p:nvPr/>
        </p:nvSpPr>
        <p:spPr bwMode="auto">
          <a:xfrm>
            <a:off x="4540250" y="3268664"/>
            <a:ext cx="514350" cy="160337"/>
          </a:xfrm>
          <a:prstGeom prst="rect">
            <a:avLst/>
          </a:prstGeom>
          <a:noFill/>
          <a:ln w="9525">
            <a:noFill/>
            <a:miter lim="800000"/>
            <a:headEnd/>
            <a:tailEnd/>
          </a:ln>
        </p:spPr>
        <p:txBody>
          <a:bodyPr/>
          <a:lstStyle/>
          <a:p>
            <a:endParaRPr lang="en-IN"/>
          </a:p>
        </p:txBody>
      </p:sp>
      <p:sp>
        <p:nvSpPr>
          <p:cNvPr id="153" name="Rectangle 100"/>
          <p:cNvSpPr>
            <a:spLocks noChangeArrowheads="1"/>
          </p:cNvSpPr>
          <p:nvPr/>
        </p:nvSpPr>
        <p:spPr bwMode="auto">
          <a:xfrm>
            <a:off x="4478338" y="3279775"/>
            <a:ext cx="527050"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Defective</a:t>
            </a:r>
            <a:endParaRPr lang="en-US"/>
          </a:p>
        </p:txBody>
      </p:sp>
      <p:sp>
        <p:nvSpPr>
          <p:cNvPr id="154" name="Line 101"/>
          <p:cNvSpPr>
            <a:spLocks noChangeShapeType="1"/>
          </p:cNvSpPr>
          <p:nvPr/>
        </p:nvSpPr>
        <p:spPr bwMode="auto">
          <a:xfrm>
            <a:off x="3027364" y="2392364"/>
            <a:ext cx="846137" cy="1463675"/>
          </a:xfrm>
          <a:prstGeom prst="line">
            <a:avLst/>
          </a:prstGeom>
          <a:noFill/>
          <a:ln w="0">
            <a:solidFill>
              <a:srgbClr val="000000"/>
            </a:solidFill>
            <a:round/>
            <a:headEnd/>
            <a:tailEnd/>
          </a:ln>
        </p:spPr>
        <p:txBody>
          <a:bodyPr/>
          <a:lstStyle/>
          <a:p>
            <a:endParaRPr lang="en-IN"/>
          </a:p>
        </p:txBody>
      </p:sp>
      <p:sp>
        <p:nvSpPr>
          <p:cNvPr id="155" name="Freeform 102"/>
          <p:cNvSpPr>
            <a:spLocks/>
          </p:cNvSpPr>
          <p:nvPr/>
        </p:nvSpPr>
        <p:spPr bwMode="auto">
          <a:xfrm>
            <a:off x="3841751" y="3838576"/>
            <a:ext cx="66675" cy="79375"/>
          </a:xfrm>
          <a:custGeom>
            <a:avLst/>
            <a:gdLst/>
            <a:ahLst/>
            <a:cxnLst>
              <a:cxn ang="0">
                <a:pos x="125" y="151"/>
              </a:cxn>
              <a:cxn ang="0">
                <a:pos x="117" y="0"/>
              </a:cxn>
              <a:cxn ang="0">
                <a:pos x="0" y="67"/>
              </a:cxn>
              <a:cxn ang="0">
                <a:pos x="125" y="151"/>
              </a:cxn>
            </a:cxnLst>
            <a:rect l="0" t="0" r="r" b="b"/>
            <a:pathLst>
              <a:path w="125" h="151">
                <a:moveTo>
                  <a:pt x="125" y="151"/>
                </a:moveTo>
                <a:lnTo>
                  <a:pt x="117" y="0"/>
                </a:lnTo>
                <a:lnTo>
                  <a:pt x="0" y="67"/>
                </a:lnTo>
                <a:lnTo>
                  <a:pt x="125" y="151"/>
                </a:lnTo>
                <a:close/>
              </a:path>
            </a:pathLst>
          </a:custGeom>
          <a:solidFill>
            <a:srgbClr val="000000"/>
          </a:solidFill>
          <a:ln w="9525">
            <a:noFill/>
            <a:round/>
            <a:headEnd/>
            <a:tailEnd/>
          </a:ln>
        </p:spPr>
        <p:txBody>
          <a:bodyPr/>
          <a:lstStyle/>
          <a:p>
            <a:endParaRPr lang="en-IN"/>
          </a:p>
        </p:txBody>
      </p:sp>
      <p:sp>
        <p:nvSpPr>
          <p:cNvPr id="156" name="Freeform 103"/>
          <p:cNvSpPr>
            <a:spLocks/>
          </p:cNvSpPr>
          <p:nvPr/>
        </p:nvSpPr>
        <p:spPr bwMode="auto">
          <a:xfrm>
            <a:off x="3841751" y="3838576"/>
            <a:ext cx="66675" cy="79375"/>
          </a:xfrm>
          <a:custGeom>
            <a:avLst/>
            <a:gdLst/>
            <a:ahLst/>
            <a:cxnLst>
              <a:cxn ang="0">
                <a:pos x="125" y="151"/>
              </a:cxn>
              <a:cxn ang="0">
                <a:pos x="117" y="0"/>
              </a:cxn>
              <a:cxn ang="0">
                <a:pos x="0" y="67"/>
              </a:cxn>
              <a:cxn ang="0">
                <a:pos x="125" y="151"/>
              </a:cxn>
            </a:cxnLst>
            <a:rect l="0" t="0" r="r" b="b"/>
            <a:pathLst>
              <a:path w="125" h="151">
                <a:moveTo>
                  <a:pt x="125" y="151"/>
                </a:moveTo>
                <a:lnTo>
                  <a:pt x="117" y="0"/>
                </a:lnTo>
                <a:lnTo>
                  <a:pt x="0" y="67"/>
                </a:lnTo>
                <a:lnTo>
                  <a:pt x="125" y="151"/>
                </a:lnTo>
              </a:path>
            </a:pathLst>
          </a:custGeom>
          <a:noFill/>
          <a:ln w="0">
            <a:solidFill>
              <a:srgbClr val="000000"/>
            </a:solidFill>
            <a:prstDash val="solid"/>
            <a:round/>
            <a:headEnd/>
            <a:tailEnd/>
          </a:ln>
        </p:spPr>
        <p:txBody>
          <a:bodyPr/>
          <a:lstStyle/>
          <a:p>
            <a:endParaRPr lang="en-IN"/>
          </a:p>
        </p:txBody>
      </p:sp>
      <p:sp>
        <p:nvSpPr>
          <p:cNvPr id="157" name="Rectangle 104"/>
          <p:cNvSpPr>
            <a:spLocks noChangeArrowheads="1"/>
          </p:cNvSpPr>
          <p:nvPr/>
        </p:nvSpPr>
        <p:spPr bwMode="auto">
          <a:xfrm>
            <a:off x="2438400" y="2141537"/>
            <a:ext cx="985838" cy="296863"/>
          </a:xfrm>
          <a:prstGeom prst="rect">
            <a:avLst/>
          </a:prstGeom>
          <a:solidFill>
            <a:schemeClr val="accent1">
              <a:lumMod val="40000"/>
              <a:lumOff val="60000"/>
            </a:schemeClr>
          </a:solidFill>
          <a:ln w="9525">
            <a:noFill/>
            <a:miter lim="800000"/>
            <a:headEnd/>
            <a:tailEnd/>
          </a:ln>
        </p:spPr>
        <p:txBody>
          <a:bodyPr/>
          <a:lstStyle/>
          <a:p>
            <a:endParaRPr lang="en-IN"/>
          </a:p>
        </p:txBody>
      </p:sp>
      <p:sp>
        <p:nvSpPr>
          <p:cNvPr id="158" name="Rectangle 105"/>
          <p:cNvSpPr>
            <a:spLocks noChangeArrowheads="1"/>
          </p:cNvSpPr>
          <p:nvPr/>
        </p:nvSpPr>
        <p:spPr bwMode="auto">
          <a:xfrm>
            <a:off x="2533844" y="2209801"/>
            <a:ext cx="780663" cy="200055"/>
          </a:xfrm>
          <a:prstGeom prst="rect">
            <a:avLst/>
          </a:prstGeom>
          <a:noFill/>
          <a:ln w="9525">
            <a:noFill/>
            <a:miter lim="800000"/>
            <a:headEnd/>
            <a:tailEnd/>
          </a:ln>
        </p:spPr>
        <p:txBody>
          <a:bodyPr wrap="none" lIns="0" tIns="0" rIns="0" bIns="0">
            <a:spAutoFit/>
          </a:bodyPr>
          <a:lstStyle/>
          <a:p>
            <a:pPr algn="ctr"/>
            <a:r>
              <a:rPr lang="en-US" sz="1300" dirty="0">
                <a:solidFill>
                  <a:srgbClr val="000080"/>
                </a:solidFill>
                <a:latin typeface="Arial" charset="0"/>
              </a:rPr>
              <a:t>Manpower</a:t>
            </a:r>
            <a:endParaRPr lang="en-US" dirty="0"/>
          </a:p>
        </p:txBody>
      </p:sp>
      <p:sp>
        <p:nvSpPr>
          <p:cNvPr id="159" name="Line 106"/>
          <p:cNvSpPr>
            <a:spLocks noChangeShapeType="1"/>
          </p:cNvSpPr>
          <p:nvPr/>
        </p:nvSpPr>
        <p:spPr bwMode="auto">
          <a:xfrm>
            <a:off x="2849563" y="2711450"/>
            <a:ext cx="292100" cy="1588"/>
          </a:xfrm>
          <a:prstGeom prst="line">
            <a:avLst/>
          </a:prstGeom>
          <a:noFill/>
          <a:ln w="0">
            <a:solidFill>
              <a:srgbClr val="000000"/>
            </a:solidFill>
            <a:round/>
            <a:headEnd/>
            <a:tailEnd/>
          </a:ln>
        </p:spPr>
        <p:txBody>
          <a:bodyPr/>
          <a:lstStyle/>
          <a:p>
            <a:endParaRPr lang="en-IN"/>
          </a:p>
        </p:txBody>
      </p:sp>
      <p:sp>
        <p:nvSpPr>
          <p:cNvPr id="160" name="Freeform 107"/>
          <p:cNvSpPr>
            <a:spLocks/>
          </p:cNvSpPr>
          <p:nvPr/>
        </p:nvSpPr>
        <p:spPr bwMode="auto">
          <a:xfrm>
            <a:off x="3141664" y="2676525"/>
            <a:ext cx="71437" cy="71438"/>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close/>
              </a:path>
            </a:pathLst>
          </a:custGeom>
          <a:solidFill>
            <a:srgbClr val="000000"/>
          </a:solidFill>
          <a:ln w="9525">
            <a:noFill/>
            <a:round/>
            <a:headEnd/>
            <a:tailEnd/>
          </a:ln>
        </p:spPr>
        <p:txBody>
          <a:bodyPr/>
          <a:lstStyle/>
          <a:p>
            <a:endParaRPr lang="en-IN"/>
          </a:p>
        </p:txBody>
      </p:sp>
      <p:sp>
        <p:nvSpPr>
          <p:cNvPr id="161" name="Freeform 108"/>
          <p:cNvSpPr>
            <a:spLocks/>
          </p:cNvSpPr>
          <p:nvPr/>
        </p:nvSpPr>
        <p:spPr bwMode="auto">
          <a:xfrm>
            <a:off x="3141664" y="2676525"/>
            <a:ext cx="71437" cy="71438"/>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path>
            </a:pathLst>
          </a:custGeom>
          <a:noFill/>
          <a:ln w="0">
            <a:solidFill>
              <a:srgbClr val="000000"/>
            </a:solidFill>
            <a:prstDash val="solid"/>
            <a:round/>
            <a:headEnd/>
            <a:tailEnd/>
          </a:ln>
        </p:spPr>
        <p:txBody>
          <a:bodyPr/>
          <a:lstStyle/>
          <a:p>
            <a:endParaRPr lang="en-IN"/>
          </a:p>
        </p:txBody>
      </p:sp>
      <p:sp>
        <p:nvSpPr>
          <p:cNvPr id="162" name="Rectangle 109"/>
          <p:cNvSpPr>
            <a:spLocks noChangeArrowheads="1"/>
          </p:cNvSpPr>
          <p:nvPr/>
        </p:nvSpPr>
        <p:spPr bwMode="auto">
          <a:xfrm>
            <a:off x="1770063" y="2632075"/>
            <a:ext cx="1079500" cy="160338"/>
          </a:xfrm>
          <a:prstGeom prst="rect">
            <a:avLst/>
          </a:prstGeom>
          <a:noFill/>
          <a:ln w="9525">
            <a:noFill/>
            <a:miter lim="800000"/>
            <a:headEnd/>
            <a:tailEnd/>
          </a:ln>
        </p:spPr>
        <p:txBody>
          <a:bodyPr/>
          <a:lstStyle/>
          <a:p>
            <a:endParaRPr lang="en-IN"/>
          </a:p>
        </p:txBody>
      </p:sp>
      <p:sp>
        <p:nvSpPr>
          <p:cNvPr id="163" name="Rectangle 110"/>
          <p:cNvSpPr>
            <a:spLocks noChangeArrowheads="1"/>
          </p:cNvSpPr>
          <p:nvPr/>
        </p:nvSpPr>
        <p:spPr bwMode="auto">
          <a:xfrm>
            <a:off x="2209800" y="2590800"/>
            <a:ext cx="628650" cy="3048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Inadequate</a:t>
            </a:r>
            <a:br>
              <a:rPr lang="en-US" sz="1000">
                <a:solidFill>
                  <a:srgbClr val="000000"/>
                </a:solidFill>
                <a:latin typeface="Arial" charset="0"/>
              </a:rPr>
            </a:br>
            <a:r>
              <a:rPr lang="en-US" sz="1000">
                <a:solidFill>
                  <a:srgbClr val="000000"/>
                </a:solidFill>
                <a:latin typeface="Arial" charset="0"/>
              </a:rPr>
              <a:t>training</a:t>
            </a:r>
            <a:endParaRPr lang="en-US"/>
          </a:p>
        </p:txBody>
      </p:sp>
      <p:sp>
        <p:nvSpPr>
          <p:cNvPr id="164" name="Line 111"/>
          <p:cNvSpPr>
            <a:spLocks noChangeShapeType="1"/>
          </p:cNvSpPr>
          <p:nvPr/>
        </p:nvSpPr>
        <p:spPr bwMode="auto">
          <a:xfrm>
            <a:off x="3175000" y="3276600"/>
            <a:ext cx="292100" cy="1588"/>
          </a:xfrm>
          <a:prstGeom prst="line">
            <a:avLst/>
          </a:prstGeom>
          <a:noFill/>
          <a:ln w="0">
            <a:solidFill>
              <a:srgbClr val="000000"/>
            </a:solidFill>
            <a:round/>
            <a:headEnd/>
            <a:tailEnd/>
          </a:ln>
        </p:spPr>
        <p:txBody>
          <a:bodyPr/>
          <a:lstStyle/>
          <a:p>
            <a:endParaRPr lang="en-IN"/>
          </a:p>
        </p:txBody>
      </p:sp>
      <p:sp>
        <p:nvSpPr>
          <p:cNvPr id="165" name="Freeform 112"/>
          <p:cNvSpPr>
            <a:spLocks/>
          </p:cNvSpPr>
          <p:nvPr/>
        </p:nvSpPr>
        <p:spPr bwMode="auto">
          <a:xfrm>
            <a:off x="3467100" y="3240089"/>
            <a:ext cx="71438" cy="71437"/>
          </a:xfrm>
          <a:custGeom>
            <a:avLst/>
            <a:gdLst/>
            <a:ahLst/>
            <a:cxnLst>
              <a:cxn ang="0">
                <a:pos x="135" y="68"/>
              </a:cxn>
              <a:cxn ang="0">
                <a:pos x="0" y="0"/>
              </a:cxn>
              <a:cxn ang="0">
                <a:pos x="0" y="135"/>
              </a:cxn>
              <a:cxn ang="0">
                <a:pos x="135" y="68"/>
              </a:cxn>
            </a:cxnLst>
            <a:rect l="0" t="0" r="r" b="b"/>
            <a:pathLst>
              <a:path w="135" h="135">
                <a:moveTo>
                  <a:pt x="135" y="68"/>
                </a:moveTo>
                <a:lnTo>
                  <a:pt x="0" y="0"/>
                </a:lnTo>
                <a:lnTo>
                  <a:pt x="0" y="135"/>
                </a:lnTo>
                <a:lnTo>
                  <a:pt x="135" y="68"/>
                </a:lnTo>
                <a:close/>
              </a:path>
            </a:pathLst>
          </a:custGeom>
          <a:solidFill>
            <a:srgbClr val="000000"/>
          </a:solidFill>
          <a:ln w="9525">
            <a:noFill/>
            <a:round/>
            <a:headEnd/>
            <a:tailEnd/>
          </a:ln>
        </p:spPr>
        <p:txBody>
          <a:bodyPr/>
          <a:lstStyle/>
          <a:p>
            <a:endParaRPr lang="en-IN"/>
          </a:p>
        </p:txBody>
      </p:sp>
      <p:sp>
        <p:nvSpPr>
          <p:cNvPr id="166" name="Freeform 113"/>
          <p:cNvSpPr>
            <a:spLocks/>
          </p:cNvSpPr>
          <p:nvPr/>
        </p:nvSpPr>
        <p:spPr bwMode="auto">
          <a:xfrm>
            <a:off x="3467100" y="3240089"/>
            <a:ext cx="71438" cy="71437"/>
          </a:xfrm>
          <a:custGeom>
            <a:avLst/>
            <a:gdLst/>
            <a:ahLst/>
            <a:cxnLst>
              <a:cxn ang="0">
                <a:pos x="135" y="68"/>
              </a:cxn>
              <a:cxn ang="0">
                <a:pos x="0" y="0"/>
              </a:cxn>
              <a:cxn ang="0">
                <a:pos x="0" y="135"/>
              </a:cxn>
              <a:cxn ang="0">
                <a:pos x="135" y="68"/>
              </a:cxn>
            </a:cxnLst>
            <a:rect l="0" t="0" r="r" b="b"/>
            <a:pathLst>
              <a:path w="135" h="135">
                <a:moveTo>
                  <a:pt x="135" y="68"/>
                </a:moveTo>
                <a:lnTo>
                  <a:pt x="0" y="0"/>
                </a:lnTo>
                <a:lnTo>
                  <a:pt x="0" y="135"/>
                </a:lnTo>
                <a:lnTo>
                  <a:pt x="135" y="68"/>
                </a:lnTo>
              </a:path>
            </a:pathLst>
          </a:custGeom>
          <a:noFill/>
          <a:ln w="0">
            <a:solidFill>
              <a:srgbClr val="000000"/>
            </a:solidFill>
            <a:prstDash val="solid"/>
            <a:round/>
            <a:headEnd/>
            <a:tailEnd/>
          </a:ln>
        </p:spPr>
        <p:txBody>
          <a:bodyPr/>
          <a:lstStyle/>
          <a:p>
            <a:endParaRPr lang="en-IN"/>
          </a:p>
        </p:txBody>
      </p:sp>
      <p:sp>
        <p:nvSpPr>
          <p:cNvPr id="167" name="Rectangle 114"/>
          <p:cNvSpPr>
            <a:spLocks noChangeArrowheads="1"/>
          </p:cNvSpPr>
          <p:nvPr/>
        </p:nvSpPr>
        <p:spPr bwMode="auto">
          <a:xfrm>
            <a:off x="2097088" y="3197225"/>
            <a:ext cx="1077912" cy="160338"/>
          </a:xfrm>
          <a:prstGeom prst="rect">
            <a:avLst/>
          </a:prstGeom>
          <a:noFill/>
          <a:ln w="9525">
            <a:noFill/>
            <a:miter lim="800000"/>
            <a:headEnd/>
            <a:tailEnd/>
          </a:ln>
        </p:spPr>
        <p:txBody>
          <a:bodyPr/>
          <a:lstStyle/>
          <a:p>
            <a:endParaRPr lang="en-IN"/>
          </a:p>
        </p:txBody>
      </p:sp>
      <p:sp>
        <p:nvSpPr>
          <p:cNvPr id="168" name="Rectangle 115"/>
          <p:cNvSpPr>
            <a:spLocks noChangeArrowheads="1"/>
          </p:cNvSpPr>
          <p:nvPr/>
        </p:nvSpPr>
        <p:spPr bwMode="auto">
          <a:xfrm>
            <a:off x="2514600" y="3124200"/>
            <a:ext cx="617538" cy="3048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Lack of</a:t>
            </a:r>
            <a:br>
              <a:rPr lang="en-US" sz="1000">
                <a:solidFill>
                  <a:srgbClr val="000000"/>
                </a:solidFill>
                <a:latin typeface="Arial" charset="0"/>
              </a:rPr>
            </a:br>
            <a:r>
              <a:rPr lang="en-US" sz="1000">
                <a:solidFill>
                  <a:srgbClr val="000000"/>
                </a:solidFill>
                <a:latin typeface="Arial" charset="0"/>
              </a:rPr>
              <a:t>experience</a:t>
            </a:r>
            <a:endParaRPr lang="en-US"/>
          </a:p>
        </p:txBody>
      </p:sp>
      <p:sp>
        <p:nvSpPr>
          <p:cNvPr id="169" name="Line 116"/>
          <p:cNvSpPr>
            <a:spLocks noChangeShapeType="1"/>
          </p:cNvSpPr>
          <p:nvPr/>
        </p:nvSpPr>
        <p:spPr bwMode="auto">
          <a:xfrm>
            <a:off x="3373438" y="3619500"/>
            <a:ext cx="292100" cy="1588"/>
          </a:xfrm>
          <a:prstGeom prst="line">
            <a:avLst/>
          </a:prstGeom>
          <a:noFill/>
          <a:ln w="0">
            <a:solidFill>
              <a:srgbClr val="000000"/>
            </a:solidFill>
            <a:round/>
            <a:headEnd/>
            <a:tailEnd/>
          </a:ln>
        </p:spPr>
        <p:txBody>
          <a:bodyPr/>
          <a:lstStyle/>
          <a:p>
            <a:endParaRPr lang="en-IN"/>
          </a:p>
        </p:txBody>
      </p:sp>
      <p:sp>
        <p:nvSpPr>
          <p:cNvPr id="170" name="Freeform 117"/>
          <p:cNvSpPr>
            <a:spLocks/>
          </p:cNvSpPr>
          <p:nvPr/>
        </p:nvSpPr>
        <p:spPr bwMode="auto">
          <a:xfrm>
            <a:off x="3665539" y="3584575"/>
            <a:ext cx="71437" cy="71438"/>
          </a:xfrm>
          <a:custGeom>
            <a:avLst/>
            <a:gdLst/>
            <a:ahLst/>
            <a:cxnLst>
              <a:cxn ang="0">
                <a:pos x="134" y="67"/>
              </a:cxn>
              <a:cxn ang="0">
                <a:pos x="0" y="0"/>
              </a:cxn>
              <a:cxn ang="0">
                <a:pos x="0" y="135"/>
              </a:cxn>
              <a:cxn ang="0">
                <a:pos x="134" y="67"/>
              </a:cxn>
            </a:cxnLst>
            <a:rect l="0" t="0" r="r" b="b"/>
            <a:pathLst>
              <a:path w="134" h="135">
                <a:moveTo>
                  <a:pt x="134" y="67"/>
                </a:moveTo>
                <a:lnTo>
                  <a:pt x="0" y="0"/>
                </a:lnTo>
                <a:lnTo>
                  <a:pt x="0" y="135"/>
                </a:lnTo>
                <a:lnTo>
                  <a:pt x="134" y="67"/>
                </a:lnTo>
                <a:close/>
              </a:path>
            </a:pathLst>
          </a:custGeom>
          <a:solidFill>
            <a:srgbClr val="000000"/>
          </a:solidFill>
          <a:ln w="9525">
            <a:noFill/>
            <a:round/>
            <a:headEnd/>
            <a:tailEnd/>
          </a:ln>
        </p:spPr>
        <p:txBody>
          <a:bodyPr/>
          <a:lstStyle/>
          <a:p>
            <a:endParaRPr lang="en-IN"/>
          </a:p>
        </p:txBody>
      </p:sp>
      <p:sp>
        <p:nvSpPr>
          <p:cNvPr id="171" name="Freeform 118"/>
          <p:cNvSpPr>
            <a:spLocks/>
          </p:cNvSpPr>
          <p:nvPr/>
        </p:nvSpPr>
        <p:spPr bwMode="auto">
          <a:xfrm>
            <a:off x="3665539" y="3584575"/>
            <a:ext cx="71437" cy="71438"/>
          </a:xfrm>
          <a:custGeom>
            <a:avLst/>
            <a:gdLst/>
            <a:ahLst/>
            <a:cxnLst>
              <a:cxn ang="0">
                <a:pos x="134" y="67"/>
              </a:cxn>
              <a:cxn ang="0">
                <a:pos x="0" y="0"/>
              </a:cxn>
              <a:cxn ang="0">
                <a:pos x="0" y="135"/>
              </a:cxn>
              <a:cxn ang="0">
                <a:pos x="134" y="67"/>
              </a:cxn>
            </a:cxnLst>
            <a:rect l="0" t="0" r="r" b="b"/>
            <a:pathLst>
              <a:path w="134" h="135">
                <a:moveTo>
                  <a:pt x="134" y="67"/>
                </a:moveTo>
                <a:lnTo>
                  <a:pt x="0" y="0"/>
                </a:lnTo>
                <a:lnTo>
                  <a:pt x="0" y="135"/>
                </a:lnTo>
                <a:lnTo>
                  <a:pt x="134" y="67"/>
                </a:lnTo>
              </a:path>
            </a:pathLst>
          </a:custGeom>
          <a:noFill/>
          <a:ln w="0">
            <a:solidFill>
              <a:srgbClr val="000000"/>
            </a:solidFill>
            <a:prstDash val="solid"/>
            <a:round/>
            <a:headEnd/>
            <a:tailEnd/>
          </a:ln>
        </p:spPr>
        <p:txBody>
          <a:bodyPr/>
          <a:lstStyle/>
          <a:p>
            <a:endParaRPr lang="en-IN"/>
          </a:p>
        </p:txBody>
      </p:sp>
      <p:sp>
        <p:nvSpPr>
          <p:cNvPr id="172" name="Rectangle 119"/>
          <p:cNvSpPr>
            <a:spLocks noChangeArrowheads="1"/>
          </p:cNvSpPr>
          <p:nvPr/>
        </p:nvSpPr>
        <p:spPr bwMode="auto">
          <a:xfrm>
            <a:off x="2690814" y="3540126"/>
            <a:ext cx="682625" cy="161925"/>
          </a:xfrm>
          <a:prstGeom prst="rect">
            <a:avLst/>
          </a:prstGeom>
          <a:noFill/>
          <a:ln w="9525">
            <a:noFill/>
            <a:miter lim="800000"/>
            <a:headEnd/>
            <a:tailEnd/>
          </a:ln>
        </p:spPr>
        <p:txBody>
          <a:bodyPr/>
          <a:lstStyle/>
          <a:p>
            <a:endParaRPr lang="en-IN"/>
          </a:p>
        </p:txBody>
      </p:sp>
      <p:sp>
        <p:nvSpPr>
          <p:cNvPr id="173" name="Rectangle 120"/>
          <p:cNvSpPr>
            <a:spLocks noChangeArrowheads="1"/>
          </p:cNvSpPr>
          <p:nvPr/>
        </p:nvSpPr>
        <p:spPr bwMode="auto">
          <a:xfrm>
            <a:off x="2655889" y="3581400"/>
            <a:ext cx="668453" cy="153888"/>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Distractions</a:t>
            </a:r>
            <a:endParaRPr lang="en-US"/>
          </a:p>
        </p:txBody>
      </p:sp>
      <p:sp>
        <p:nvSpPr>
          <p:cNvPr id="174" name="Line 121"/>
          <p:cNvSpPr>
            <a:spLocks noChangeShapeType="1"/>
          </p:cNvSpPr>
          <p:nvPr/>
        </p:nvSpPr>
        <p:spPr bwMode="auto">
          <a:xfrm flipV="1">
            <a:off x="3114675" y="3979863"/>
            <a:ext cx="725488" cy="1257300"/>
          </a:xfrm>
          <a:prstGeom prst="line">
            <a:avLst/>
          </a:prstGeom>
          <a:noFill/>
          <a:ln w="0">
            <a:solidFill>
              <a:srgbClr val="000000"/>
            </a:solidFill>
            <a:round/>
            <a:headEnd/>
            <a:tailEnd/>
          </a:ln>
        </p:spPr>
        <p:txBody>
          <a:bodyPr/>
          <a:lstStyle/>
          <a:p>
            <a:endParaRPr lang="en-IN"/>
          </a:p>
        </p:txBody>
      </p:sp>
      <p:sp>
        <p:nvSpPr>
          <p:cNvPr id="175" name="Freeform 122"/>
          <p:cNvSpPr>
            <a:spLocks/>
          </p:cNvSpPr>
          <p:nvPr/>
        </p:nvSpPr>
        <p:spPr bwMode="auto">
          <a:xfrm>
            <a:off x="3810001" y="3917951"/>
            <a:ext cx="66675" cy="79375"/>
          </a:xfrm>
          <a:custGeom>
            <a:avLst/>
            <a:gdLst/>
            <a:ahLst/>
            <a:cxnLst>
              <a:cxn ang="0">
                <a:pos x="126" y="0"/>
              </a:cxn>
              <a:cxn ang="0">
                <a:pos x="0" y="83"/>
              </a:cxn>
              <a:cxn ang="0">
                <a:pos x="118" y="150"/>
              </a:cxn>
              <a:cxn ang="0">
                <a:pos x="126" y="0"/>
              </a:cxn>
            </a:cxnLst>
            <a:rect l="0" t="0" r="r" b="b"/>
            <a:pathLst>
              <a:path w="126" h="150">
                <a:moveTo>
                  <a:pt x="126" y="0"/>
                </a:moveTo>
                <a:lnTo>
                  <a:pt x="0" y="83"/>
                </a:lnTo>
                <a:lnTo>
                  <a:pt x="118" y="150"/>
                </a:lnTo>
                <a:lnTo>
                  <a:pt x="126" y="0"/>
                </a:lnTo>
                <a:close/>
              </a:path>
            </a:pathLst>
          </a:custGeom>
          <a:solidFill>
            <a:srgbClr val="000000"/>
          </a:solidFill>
          <a:ln w="9525">
            <a:noFill/>
            <a:round/>
            <a:headEnd/>
            <a:tailEnd/>
          </a:ln>
        </p:spPr>
        <p:txBody>
          <a:bodyPr/>
          <a:lstStyle/>
          <a:p>
            <a:endParaRPr lang="en-IN"/>
          </a:p>
        </p:txBody>
      </p:sp>
      <p:sp>
        <p:nvSpPr>
          <p:cNvPr id="176" name="Freeform 123"/>
          <p:cNvSpPr>
            <a:spLocks/>
          </p:cNvSpPr>
          <p:nvPr/>
        </p:nvSpPr>
        <p:spPr bwMode="auto">
          <a:xfrm>
            <a:off x="3810001" y="3917951"/>
            <a:ext cx="66675" cy="79375"/>
          </a:xfrm>
          <a:custGeom>
            <a:avLst/>
            <a:gdLst/>
            <a:ahLst/>
            <a:cxnLst>
              <a:cxn ang="0">
                <a:pos x="126" y="0"/>
              </a:cxn>
              <a:cxn ang="0">
                <a:pos x="0" y="83"/>
              </a:cxn>
              <a:cxn ang="0">
                <a:pos x="118" y="150"/>
              </a:cxn>
              <a:cxn ang="0">
                <a:pos x="126" y="0"/>
              </a:cxn>
            </a:cxnLst>
            <a:rect l="0" t="0" r="r" b="b"/>
            <a:pathLst>
              <a:path w="126" h="150">
                <a:moveTo>
                  <a:pt x="126" y="0"/>
                </a:moveTo>
                <a:lnTo>
                  <a:pt x="0" y="83"/>
                </a:lnTo>
                <a:lnTo>
                  <a:pt x="118" y="150"/>
                </a:lnTo>
                <a:lnTo>
                  <a:pt x="126" y="0"/>
                </a:lnTo>
              </a:path>
            </a:pathLst>
          </a:custGeom>
          <a:noFill/>
          <a:ln w="0">
            <a:solidFill>
              <a:srgbClr val="000000"/>
            </a:solidFill>
            <a:prstDash val="solid"/>
            <a:round/>
            <a:headEnd/>
            <a:tailEnd/>
          </a:ln>
        </p:spPr>
        <p:txBody>
          <a:bodyPr/>
          <a:lstStyle/>
          <a:p>
            <a:endParaRPr lang="en-IN"/>
          </a:p>
        </p:txBody>
      </p:sp>
      <p:sp>
        <p:nvSpPr>
          <p:cNvPr id="177" name="Rectangle 124"/>
          <p:cNvSpPr>
            <a:spLocks noChangeArrowheads="1"/>
          </p:cNvSpPr>
          <p:nvPr/>
        </p:nvSpPr>
        <p:spPr bwMode="auto">
          <a:xfrm>
            <a:off x="2438400" y="5173664"/>
            <a:ext cx="1371600" cy="236537"/>
          </a:xfrm>
          <a:prstGeom prst="rect">
            <a:avLst/>
          </a:prstGeom>
          <a:solidFill>
            <a:schemeClr val="accent1">
              <a:lumMod val="40000"/>
              <a:lumOff val="60000"/>
            </a:schemeClr>
          </a:solidFill>
          <a:ln w="9525">
            <a:noFill/>
            <a:miter lim="800000"/>
            <a:headEnd/>
            <a:tailEnd/>
          </a:ln>
        </p:spPr>
        <p:txBody>
          <a:bodyPr/>
          <a:lstStyle/>
          <a:p>
            <a:endParaRPr lang="en-IN"/>
          </a:p>
        </p:txBody>
      </p:sp>
      <p:sp>
        <p:nvSpPr>
          <p:cNvPr id="178" name="Rectangle 125"/>
          <p:cNvSpPr>
            <a:spLocks noChangeArrowheads="1"/>
          </p:cNvSpPr>
          <p:nvPr/>
        </p:nvSpPr>
        <p:spPr bwMode="auto">
          <a:xfrm>
            <a:off x="2622274" y="5181601"/>
            <a:ext cx="1041952" cy="200055"/>
          </a:xfrm>
          <a:prstGeom prst="rect">
            <a:avLst/>
          </a:prstGeom>
          <a:noFill/>
          <a:ln w="9525">
            <a:noFill/>
            <a:miter lim="800000"/>
            <a:headEnd/>
            <a:tailEnd/>
          </a:ln>
        </p:spPr>
        <p:txBody>
          <a:bodyPr wrap="none" lIns="0" tIns="0" rIns="0" bIns="0">
            <a:spAutoFit/>
          </a:bodyPr>
          <a:lstStyle/>
          <a:p>
            <a:pPr algn="ctr"/>
            <a:r>
              <a:rPr lang="en-US" sz="1300" dirty="0">
                <a:solidFill>
                  <a:srgbClr val="000080"/>
                </a:solidFill>
                <a:latin typeface="Arial" charset="0"/>
              </a:rPr>
              <a:t>Mother nature</a:t>
            </a:r>
            <a:endParaRPr lang="en-US" dirty="0"/>
          </a:p>
        </p:txBody>
      </p:sp>
      <p:sp>
        <p:nvSpPr>
          <p:cNvPr id="179" name="Line 126"/>
          <p:cNvSpPr>
            <a:spLocks noChangeShapeType="1"/>
          </p:cNvSpPr>
          <p:nvPr/>
        </p:nvSpPr>
        <p:spPr bwMode="auto">
          <a:xfrm>
            <a:off x="3117850" y="4603750"/>
            <a:ext cx="292100" cy="1588"/>
          </a:xfrm>
          <a:prstGeom prst="line">
            <a:avLst/>
          </a:prstGeom>
          <a:noFill/>
          <a:ln w="0">
            <a:solidFill>
              <a:srgbClr val="000000"/>
            </a:solidFill>
            <a:round/>
            <a:headEnd/>
            <a:tailEnd/>
          </a:ln>
        </p:spPr>
        <p:txBody>
          <a:bodyPr/>
          <a:lstStyle/>
          <a:p>
            <a:endParaRPr lang="en-IN"/>
          </a:p>
        </p:txBody>
      </p:sp>
      <p:sp>
        <p:nvSpPr>
          <p:cNvPr id="180" name="Freeform 127"/>
          <p:cNvSpPr>
            <a:spLocks/>
          </p:cNvSpPr>
          <p:nvPr/>
        </p:nvSpPr>
        <p:spPr bwMode="auto">
          <a:xfrm>
            <a:off x="3409950" y="4567239"/>
            <a:ext cx="69850" cy="71437"/>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close/>
              </a:path>
            </a:pathLst>
          </a:custGeom>
          <a:solidFill>
            <a:srgbClr val="000000"/>
          </a:solidFill>
          <a:ln w="9525">
            <a:noFill/>
            <a:round/>
            <a:headEnd/>
            <a:tailEnd/>
          </a:ln>
        </p:spPr>
        <p:txBody>
          <a:bodyPr/>
          <a:lstStyle/>
          <a:p>
            <a:endParaRPr lang="en-IN"/>
          </a:p>
        </p:txBody>
      </p:sp>
      <p:sp>
        <p:nvSpPr>
          <p:cNvPr id="181" name="Freeform 128"/>
          <p:cNvSpPr>
            <a:spLocks/>
          </p:cNvSpPr>
          <p:nvPr/>
        </p:nvSpPr>
        <p:spPr bwMode="auto">
          <a:xfrm>
            <a:off x="3409950" y="4567239"/>
            <a:ext cx="69850" cy="71437"/>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path>
            </a:pathLst>
          </a:custGeom>
          <a:noFill/>
          <a:ln w="0">
            <a:solidFill>
              <a:srgbClr val="000000"/>
            </a:solidFill>
            <a:prstDash val="solid"/>
            <a:round/>
            <a:headEnd/>
            <a:tailEnd/>
          </a:ln>
        </p:spPr>
        <p:txBody>
          <a:bodyPr/>
          <a:lstStyle/>
          <a:p>
            <a:endParaRPr lang="en-IN"/>
          </a:p>
        </p:txBody>
      </p:sp>
      <p:sp>
        <p:nvSpPr>
          <p:cNvPr id="182" name="Rectangle 129"/>
          <p:cNvSpPr>
            <a:spLocks noChangeArrowheads="1"/>
          </p:cNvSpPr>
          <p:nvPr/>
        </p:nvSpPr>
        <p:spPr bwMode="auto">
          <a:xfrm>
            <a:off x="2449514" y="4557714"/>
            <a:ext cx="593725" cy="161925"/>
          </a:xfrm>
          <a:prstGeom prst="rect">
            <a:avLst/>
          </a:prstGeom>
          <a:noFill/>
          <a:ln w="9525">
            <a:noFill/>
            <a:miter lim="800000"/>
            <a:headEnd/>
            <a:tailEnd/>
          </a:ln>
        </p:spPr>
        <p:txBody>
          <a:bodyPr/>
          <a:lstStyle/>
          <a:p>
            <a:endParaRPr lang="en-IN"/>
          </a:p>
        </p:txBody>
      </p:sp>
      <p:sp>
        <p:nvSpPr>
          <p:cNvPr id="183" name="Rectangle 130"/>
          <p:cNvSpPr>
            <a:spLocks noChangeArrowheads="1"/>
          </p:cNvSpPr>
          <p:nvPr/>
        </p:nvSpPr>
        <p:spPr bwMode="auto">
          <a:xfrm>
            <a:off x="2500313" y="4495800"/>
            <a:ext cx="596900"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Too humid</a:t>
            </a:r>
            <a:endParaRPr lang="en-US"/>
          </a:p>
        </p:txBody>
      </p:sp>
      <p:sp>
        <p:nvSpPr>
          <p:cNvPr id="184" name="Line 131"/>
          <p:cNvSpPr>
            <a:spLocks noChangeShapeType="1"/>
          </p:cNvSpPr>
          <p:nvPr/>
        </p:nvSpPr>
        <p:spPr bwMode="auto">
          <a:xfrm>
            <a:off x="3322638" y="4248150"/>
            <a:ext cx="292100" cy="1588"/>
          </a:xfrm>
          <a:prstGeom prst="line">
            <a:avLst/>
          </a:prstGeom>
          <a:noFill/>
          <a:ln w="0">
            <a:solidFill>
              <a:srgbClr val="000000"/>
            </a:solidFill>
            <a:round/>
            <a:headEnd/>
            <a:tailEnd/>
          </a:ln>
        </p:spPr>
        <p:txBody>
          <a:bodyPr/>
          <a:lstStyle/>
          <a:p>
            <a:endParaRPr lang="en-IN"/>
          </a:p>
        </p:txBody>
      </p:sp>
      <p:sp>
        <p:nvSpPr>
          <p:cNvPr id="185" name="Freeform 132"/>
          <p:cNvSpPr>
            <a:spLocks/>
          </p:cNvSpPr>
          <p:nvPr/>
        </p:nvSpPr>
        <p:spPr bwMode="auto">
          <a:xfrm>
            <a:off x="3614739" y="4211639"/>
            <a:ext cx="71437" cy="71437"/>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close/>
              </a:path>
            </a:pathLst>
          </a:custGeom>
          <a:solidFill>
            <a:srgbClr val="000000"/>
          </a:solidFill>
          <a:ln w="9525">
            <a:noFill/>
            <a:round/>
            <a:headEnd/>
            <a:tailEnd/>
          </a:ln>
        </p:spPr>
        <p:txBody>
          <a:bodyPr/>
          <a:lstStyle/>
          <a:p>
            <a:endParaRPr lang="en-IN"/>
          </a:p>
        </p:txBody>
      </p:sp>
      <p:sp>
        <p:nvSpPr>
          <p:cNvPr id="186" name="Freeform 133"/>
          <p:cNvSpPr>
            <a:spLocks/>
          </p:cNvSpPr>
          <p:nvPr/>
        </p:nvSpPr>
        <p:spPr bwMode="auto">
          <a:xfrm>
            <a:off x="3614739" y="4211639"/>
            <a:ext cx="71437" cy="71437"/>
          </a:xfrm>
          <a:custGeom>
            <a:avLst/>
            <a:gdLst/>
            <a:ahLst/>
            <a:cxnLst>
              <a:cxn ang="0">
                <a:pos x="134" y="68"/>
              </a:cxn>
              <a:cxn ang="0">
                <a:pos x="0" y="0"/>
              </a:cxn>
              <a:cxn ang="0">
                <a:pos x="0" y="135"/>
              </a:cxn>
              <a:cxn ang="0">
                <a:pos x="134" y="68"/>
              </a:cxn>
            </a:cxnLst>
            <a:rect l="0" t="0" r="r" b="b"/>
            <a:pathLst>
              <a:path w="134" h="135">
                <a:moveTo>
                  <a:pt x="134" y="68"/>
                </a:moveTo>
                <a:lnTo>
                  <a:pt x="0" y="0"/>
                </a:lnTo>
                <a:lnTo>
                  <a:pt x="0" y="135"/>
                </a:lnTo>
                <a:lnTo>
                  <a:pt x="134" y="68"/>
                </a:lnTo>
              </a:path>
            </a:pathLst>
          </a:custGeom>
          <a:noFill/>
          <a:ln w="0">
            <a:solidFill>
              <a:srgbClr val="000000"/>
            </a:solidFill>
            <a:prstDash val="solid"/>
            <a:round/>
            <a:headEnd/>
            <a:tailEnd/>
          </a:ln>
        </p:spPr>
        <p:txBody>
          <a:bodyPr/>
          <a:lstStyle/>
          <a:p>
            <a:endParaRPr lang="en-IN"/>
          </a:p>
        </p:txBody>
      </p:sp>
      <p:sp>
        <p:nvSpPr>
          <p:cNvPr id="187" name="Rectangle 134"/>
          <p:cNvSpPr>
            <a:spLocks noChangeArrowheads="1"/>
          </p:cNvSpPr>
          <p:nvPr/>
        </p:nvSpPr>
        <p:spPr bwMode="auto">
          <a:xfrm>
            <a:off x="2897188" y="4167189"/>
            <a:ext cx="425450" cy="161925"/>
          </a:xfrm>
          <a:prstGeom prst="rect">
            <a:avLst/>
          </a:prstGeom>
          <a:noFill/>
          <a:ln w="9525">
            <a:noFill/>
            <a:miter lim="800000"/>
            <a:headEnd/>
            <a:tailEnd/>
          </a:ln>
        </p:spPr>
        <p:txBody>
          <a:bodyPr/>
          <a:lstStyle/>
          <a:p>
            <a:endParaRPr lang="en-IN"/>
          </a:p>
        </p:txBody>
      </p:sp>
      <p:sp>
        <p:nvSpPr>
          <p:cNvPr id="188" name="Rectangle 135"/>
          <p:cNvSpPr>
            <a:spLocks noChangeArrowheads="1"/>
          </p:cNvSpPr>
          <p:nvPr/>
        </p:nvSpPr>
        <p:spPr bwMode="auto">
          <a:xfrm>
            <a:off x="2819400" y="4191000"/>
            <a:ext cx="427038"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Too hot</a:t>
            </a:r>
            <a:endParaRPr lang="en-US"/>
          </a:p>
        </p:txBody>
      </p:sp>
      <p:sp>
        <p:nvSpPr>
          <p:cNvPr id="189" name="Line 136"/>
          <p:cNvSpPr>
            <a:spLocks noChangeShapeType="1"/>
          </p:cNvSpPr>
          <p:nvPr/>
        </p:nvSpPr>
        <p:spPr bwMode="auto">
          <a:xfrm>
            <a:off x="2873375" y="5024439"/>
            <a:ext cx="292100" cy="1587"/>
          </a:xfrm>
          <a:prstGeom prst="line">
            <a:avLst/>
          </a:prstGeom>
          <a:noFill/>
          <a:ln w="0">
            <a:solidFill>
              <a:srgbClr val="000000"/>
            </a:solidFill>
            <a:round/>
            <a:headEnd/>
            <a:tailEnd/>
          </a:ln>
        </p:spPr>
        <p:txBody>
          <a:bodyPr/>
          <a:lstStyle/>
          <a:p>
            <a:endParaRPr lang="en-IN"/>
          </a:p>
        </p:txBody>
      </p:sp>
      <p:sp>
        <p:nvSpPr>
          <p:cNvPr id="190" name="Freeform 137"/>
          <p:cNvSpPr>
            <a:spLocks/>
          </p:cNvSpPr>
          <p:nvPr/>
        </p:nvSpPr>
        <p:spPr bwMode="auto">
          <a:xfrm>
            <a:off x="3165475" y="4989514"/>
            <a:ext cx="71438" cy="71437"/>
          </a:xfrm>
          <a:custGeom>
            <a:avLst/>
            <a:gdLst/>
            <a:ahLst/>
            <a:cxnLst>
              <a:cxn ang="0">
                <a:pos x="134" y="67"/>
              </a:cxn>
              <a:cxn ang="0">
                <a:pos x="0" y="0"/>
              </a:cxn>
              <a:cxn ang="0">
                <a:pos x="0" y="135"/>
              </a:cxn>
              <a:cxn ang="0">
                <a:pos x="134" y="67"/>
              </a:cxn>
            </a:cxnLst>
            <a:rect l="0" t="0" r="r" b="b"/>
            <a:pathLst>
              <a:path w="134" h="135">
                <a:moveTo>
                  <a:pt x="134" y="67"/>
                </a:moveTo>
                <a:lnTo>
                  <a:pt x="0" y="0"/>
                </a:lnTo>
                <a:lnTo>
                  <a:pt x="0" y="135"/>
                </a:lnTo>
                <a:lnTo>
                  <a:pt x="134" y="67"/>
                </a:lnTo>
                <a:close/>
              </a:path>
            </a:pathLst>
          </a:custGeom>
          <a:solidFill>
            <a:srgbClr val="000000"/>
          </a:solidFill>
          <a:ln w="9525">
            <a:noFill/>
            <a:round/>
            <a:headEnd/>
            <a:tailEnd/>
          </a:ln>
        </p:spPr>
        <p:txBody>
          <a:bodyPr/>
          <a:lstStyle/>
          <a:p>
            <a:endParaRPr lang="en-IN"/>
          </a:p>
        </p:txBody>
      </p:sp>
      <p:sp>
        <p:nvSpPr>
          <p:cNvPr id="191" name="Freeform 138"/>
          <p:cNvSpPr>
            <a:spLocks/>
          </p:cNvSpPr>
          <p:nvPr/>
        </p:nvSpPr>
        <p:spPr bwMode="auto">
          <a:xfrm>
            <a:off x="3165475" y="4989514"/>
            <a:ext cx="71438" cy="71437"/>
          </a:xfrm>
          <a:custGeom>
            <a:avLst/>
            <a:gdLst/>
            <a:ahLst/>
            <a:cxnLst>
              <a:cxn ang="0">
                <a:pos x="134" y="67"/>
              </a:cxn>
              <a:cxn ang="0">
                <a:pos x="0" y="0"/>
              </a:cxn>
              <a:cxn ang="0">
                <a:pos x="0" y="135"/>
              </a:cxn>
              <a:cxn ang="0">
                <a:pos x="134" y="67"/>
              </a:cxn>
            </a:cxnLst>
            <a:rect l="0" t="0" r="r" b="b"/>
            <a:pathLst>
              <a:path w="134" h="135">
                <a:moveTo>
                  <a:pt x="134" y="67"/>
                </a:moveTo>
                <a:lnTo>
                  <a:pt x="0" y="0"/>
                </a:lnTo>
                <a:lnTo>
                  <a:pt x="0" y="135"/>
                </a:lnTo>
                <a:lnTo>
                  <a:pt x="134" y="67"/>
                </a:lnTo>
              </a:path>
            </a:pathLst>
          </a:custGeom>
          <a:noFill/>
          <a:ln w="0">
            <a:solidFill>
              <a:srgbClr val="000000"/>
            </a:solidFill>
            <a:prstDash val="solid"/>
            <a:round/>
            <a:headEnd/>
            <a:tailEnd/>
          </a:ln>
        </p:spPr>
        <p:txBody>
          <a:bodyPr/>
          <a:lstStyle/>
          <a:p>
            <a:endParaRPr lang="en-IN"/>
          </a:p>
        </p:txBody>
      </p:sp>
      <p:sp>
        <p:nvSpPr>
          <p:cNvPr id="192" name="Rectangle 139"/>
          <p:cNvSpPr>
            <a:spLocks noChangeArrowheads="1"/>
          </p:cNvSpPr>
          <p:nvPr/>
        </p:nvSpPr>
        <p:spPr bwMode="auto">
          <a:xfrm>
            <a:off x="2389189" y="4945064"/>
            <a:ext cx="484187" cy="161925"/>
          </a:xfrm>
          <a:prstGeom prst="rect">
            <a:avLst/>
          </a:prstGeom>
          <a:noFill/>
          <a:ln w="9525">
            <a:noFill/>
            <a:miter lim="800000"/>
            <a:headEnd/>
            <a:tailEnd/>
          </a:ln>
        </p:spPr>
        <p:txBody>
          <a:bodyPr/>
          <a:lstStyle/>
          <a:p>
            <a:endParaRPr lang="en-IN"/>
          </a:p>
        </p:txBody>
      </p:sp>
      <p:sp>
        <p:nvSpPr>
          <p:cNvPr id="193" name="Rectangle 140"/>
          <p:cNvSpPr>
            <a:spLocks noChangeArrowheads="1"/>
          </p:cNvSpPr>
          <p:nvPr/>
        </p:nvSpPr>
        <p:spPr bwMode="auto">
          <a:xfrm>
            <a:off x="2286000" y="4953000"/>
            <a:ext cx="484188" cy="152400"/>
          </a:xfrm>
          <a:prstGeom prst="rect">
            <a:avLst/>
          </a:prstGeom>
          <a:noFill/>
          <a:ln w="9525">
            <a:noFill/>
            <a:miter lim="800000"/>
            <a:headEnd/>
            <a:tailEnd/>
          </a:ln>
        </p:spPr>
        <p:txBody>
          <a:bodyPr wrap="none" lIns="0" tIns="0" rIns="0" bIns="0">
            <a:spAutoFit/>
          </a:bodyPr>
          <a:lstStyle/>
          <a:p>
            <a:r>
              <a:rPr lang="en-US" sz="1000">
                <a:solidFill>
                  <a:srgbClr val="000000"/>
                </a:solidFill>
                <a:latin typeface="Arial" charset="0"/>
              </a:rPr>
              <a:t>Too cold</a:t>
            </a:r>
            <a:endParaRPr lang="en-US"/>
          </a:p>
        </p:txBody>
      </p:sp>
      <p:sp>
        <p:nvSpPr>
          <p:cNvPr id="194" name="Rectangle 141"/>
          <p:cNvSpPr>
            <a:spLocks noChangeArrowheads="1"/>
          </p:cNvSpPr>
          <p:nvPr/>
        </p:nvSpPr>
        <p:spPr bwMode="auto">
          <a:xfrm>
            <a:off x="9348788" y="3819525"/>
            <a:ext cx="603250" cy="230188"/>
          </a:xfrm>
          <a:prstGeom prst="rect">
            <a:avLst/>
          </a:prstGeom>
          <a:noFill/>
          <a:ln w="9525">
            <a:noFill/>
            <a:miter lim="800000"/>
            <a:headEnd/>
            <a:tailEnd/>
          </a:ln>
        </p:spPr>
        <p:txBody>
          <a:bodyPr/>
          <a:lstStyle/>
          <a:p>
            <a:endParaRPr lang="en-IN"/>
          </a:p>
        </p:txBody>
      </p:sp>
      <p:sp>
        <p:nvSpPr>
          <p:cNvPr id="5" name="Rectangle 4"/>
          <p:cNvSpPr/>
          <p:nvPr/>
        </p:nvSpPr>
        <p:spPr>
          <a:xfrm>
            <a:off x="9239250" y="3733801"/>
            <a:ext cx="1103313" cy="315913"/>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Defects</a:t>
            </a:r>
          </a:p>
        </p:txBody>
      </p:sp>
    </p:spTree>
    <p:extLst>
      <p:ext uri="{BB962C8B-B14F-4D97-AF65-F5344CB8AC3E}">
        <p14:creationId xmlns:p14="http://schemas.microsoft.com/office/powerpoint/2010/main" val="1442406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8800" y="152400"/>
            <a:ext cx="8534400" cy="6324600"/>
          </a:xfrm>
          <a:prstGeom prst="rect">
            <a:avLst/>
          </a:prstGeom>
          <a:solidFill>
            <a:schemeClr val="accent4">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291"/>
          <p:cNvGrpSpPr>
            <a:grpSpLocks/>
          </p:cNvGrpSpPr>
          <p:nvPr/>
        </p:nvGrpSpPr>
        <p:grpSpPr bwMode="auto">
          <a:xfrm>
            <a:off x="4267200" y="6477143"/>
            <a:ext cx="914400" cy="228600"/>
            <a:chOff x="2304" y="126"/>
            <a:chExt cx="1153" cy="346"/>
          </a:xfrm>
        </p:grpSpPr>
        <p:sp>
          <p:nvSpPr>
            <p:cNvPr id="6"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7"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8"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accent2">
                    <a:lumMod val="50000"/>
                  </a:schemeClr>
                </a:solidFill>
                <a:effectLst>
                  <a:outerShdw blurRad="38100" dist="38100" dir="2700000" algn="tl">
                    <a:srgbClr val="000000">
                      <a:alpha val="43137"/>
                    </a:srgbClr>
                  </a:outerShdw>
                </a:effectLst>
                <a:latin typeface="Century Gothic" pitchFamily="34" charset="0"/>
              </a:rPr>
              <a:t>Feroze1888 Mills Limited</a:t>
            </a:r>
          </a:p>
        </p:txBody>
      </p:sp>
      <p:sp>
        <p:nvSpPr>
          <p:cNvPr id="49" name="Subtitle 2"/>
          <p:cNvSpPr txBox="1">
            <a:spLocks/>
          </p:cNvSpPr>
          <p:nvPr/>
        </p:nvSpPr>
        <p:spPr>
          <a:xfrm>
            <a:off x="2057400" y="381000"/>
            <a:ext cx="7924800" cy="5257800"/>
          </a:xfrm>
          <a:prstGeom prst="rect">
            <a:avLst/>
          </a:prstGeom>
        </p:spPr>
        <p:txBody>
          <a:bodyPr>
            <a:noAutofit/>
          </a:bodyPr>
          <a:lstStyle/>
          <a:p>
            <a:pPr marL="342900" indent="-342900">
              <a:spcBef>
                <a:spcPct val="20000"/>
              </a:spcBef>
              <a:defRPr/>
            </a:pPr>
            <a:r>
              <a:rPr lang="en-US" sz="4000" b="1" dirty="0">
                <a:solidFill>
                  <a:schemeClr val="tx1">
                    <a:lumMod val="95000"/>
                    <a:lumOff val="5000"/>
                  </a:schemeClr>
                </a:solidFill>
                <a:effectLst>
                  <a:outerShdw blurRad="38100" dist="38100" dir="2700000" algn="tl">
                    <a:srgbClr val="000000">
                      <a:alpha val="43137"/>
                    </a:srgbClr>
                  </a:outerShdw>
                </a:effectLst>
                <a:latin typeface="Bradley Hand ITC" pitchFamily="66" charset="0"/>
              </a:rPr>
              <a:t>Activity#3</a:t>
            </a:r>
          </a:p>
          <a:p>
            <a:pPr marL="342900" indent="-342900">
              <a:spcBef>
                <a:spcPct val="20000"/>
              </a:spcBef>
              <a:defRPr/>
            </a:pPr>
            <a:endParaRPr lang="en-US" sz="4000" b="1" dirty="0">
              <a:solidFill>
                <a:schemeClr val="tx1">
                  <a:lumMod val="95000"/>
                  <a:lumOff val="5000"/>
                </a:schemeClr>
              </a:solidFill>
              <a:effectLst>
                <a:outerShdw blurRad="38100" dist="38100" dir="2700000" algn="tl">
                  <a:srgbClr val="000000">
                    <a:alpha val="43137"/>
                  </a:srgbClr>
                </a:outerShdw>
              </a:effectLst>
              <a:latin typeface="Bradley Hand ITC" pitchFamily="66" charset="0"/>
            </a:endParaRPr>
          </a:p>
          <a:p>
            <a:pPr>
              <a:spcBef>
                <a:spcPct val="20000"/>
              </a:spcBef>
              <a:defRPr/>
            </a:pPr>
            <a:r>
              <a:rPr lang="en-US" sz="3200" b="1" dirty="0">
                <a:solidFill>
                  <a:schemeClr val="accent6">
                    <a:lumMod val="75000"/>
                  </a:schemeClr>
                </a:solidFill>
                <a:effectLst>
                  <a:outerShdw blurRad="38100" dist="38100" dir="2700000" algn="tl">
                    <a:srgbClr val="000000">
                      <a:alpha val="43137"/>
                    </a:srgbClr>
                  </a:outerShdw>
                </a:effectLst>
                <a:latin typeface="Bradley Hand ITC" pitchFamily="66" charset="0"/>
              </a:rPr>
              <a:t>Your car is consuming a lot of  Petrol. In a group of two, construct a fish bone diagram to capture all possible causes for this nausea .</a:t>
            </a:r>
          </a:p>
          <a:p>
            <a:pPr>
              <a:spcBef>
                <a:spcPct val="20000"/>
              </a:spcBef>
              <a:defRPr/>
            </a:pPr>
            <a:endParaRPr lang="en-US" sz="3200" b="1" dirty="0">
              <a:solidFill>
                <a:schemeClr val="accent6">
                  <a:lumMod val="75000"/>
                </a:schemeClr>
              </a:solidFill>
              <a:effectLst>
                <a:outerShdw blurRad="38100" dist="38100" dir="2700000" algn="tl">
                  <a:srgbClr val="000000">
                    <a:alpha val="43137"/>
                  </a:srgbClr>
                </a:outerShdw>
              </a:effectLst>
              <a:latin typeface="Bradley Hand ITC" pitchFamily="66" charset="0"/>
            </a:endParaRPr>
          </a:p>
          <a:p>
            <a:pPr>
              <a:spcBef>
                <a:spcPct val="20000"/>
              </a:spcBef>
              <a:defRPr/>
            </a:pPr>
            <a:endParaRPr lang="en-US" sz="3200" b="1" dirty="0">
              <a:solidFill>
                <a:schemeClr val="accent6">
                  <a:lumMod val="75000"/>
                </a:schemeClr>
              </a:solidFill>
              <a:effectLst>
                <a:outerShdw blurRad="38100" dist="38100" dir="2700000" algn="tl">
                  <a:srgbClr val="000000">
                    <a:alpha val="43137"/>
                  </a:srgbClr>
                </a:outerShdw>
              </a:effectLst>
              <a:latin typeface="Bradley Hand ITC" pitchFamily="66" charset="0"/>
            </a:endParaRPr>
          </a:p>
          <a:p>
            <a:pPr marL="342900" indent="-342900">
              <a:spcBef>
                <a:spcPct val="20000"/>
              </a:spcBef>
              <a:defRPr/>
            </a:pPr>
            <a:endParaRPr lang="en-US" sz="3200" b="1" dirty="0">
              <a:solidFill>
                <a:schemeClr val="accent6">
                  <a:lumMod val="75000"/>
                </a:schemeClr>
              </a:solidFill>
              <a:effectLst>
                <a:outerShdw blurRad="38100" dist="38100" dir="2700000" algn="tl">
                  <a:srgbClr val="000000">
                    <a:alpha val="43137"/>
                  </a:srgbClr>
                </a:outerShdw>
              </a:effectLst>
              <a:latin typeface="Bradley Hand ITC" pitchFamily="66" charset="0"/>
            </a:endParaRPr>
          </a:p>
          <a:p>
            <a:pPr marL="342900" indent="-342900">
              <a:spcBef>
                <a:spcPct val="20000"/>
              </a:spcBef>
              <a:defRPr/>
            </a:pPr>
            <a:endParaRPr lang="en-US" sz="3200" b="1" dirty="0">
              <a:solidFill>
                <a:schemeClr val="accent6">
                  <a:lumMod val="75000"/>
                </a:schemeClr>
              </a:solidFill>
              <a:effectLst>
                <a:outerShdw blurRad="38100" dist="38100" dir="2700000" algn="tl">
                  <a:srgbClr val="000000">
                    <a:alpha val="43137"/>
                  </a:srgbClr>
                </a:outerShdw>
              </a:effectLst>
              <a:latin typeface="Bradley Hand ITC" pitchFamily="66" charset="0"/>
            </a:endParaRPr>
          </a:p>
          <a:p>
            <a:pPr marL="342900" indent="-342900" algn="ctr">
              <a:spcBef>
                <a:spcPct val="20000"/>
              </a:spcBef>
              <a:defRPr/>
            </a:pPr>
            <a:endParaRPr lang="en-US" sz="4800" b="1" dirty="0">
              <a:solidFill>
                <a:schemeClr val="tx1">
                  <a:lumMod val="95000"/>
                  <a:lumOff val="5000"/>
                </a:schemeClr>
              </a:solidFill>
              <a:effectLst>
                <a:outerShdw blurRad="38100" dist="38100" dir="2700000" algn="tl">
                  <a:srgbClr val="000000">
                    <a:alpha val="43137"/>
                  </a:srgbClr>
                </a:outerShdw>
              </a:effectLst>
              <a:latin typeface="Bradley Hand ITC" pitchFamily="66" charset="0"/>
            </a:endParaRPr>
          </a:p>
          <a:p>
            <a:pPr marL="342900" indent="-342900" algn="ctr">
              <a:spcBef>
                <a:spcPct val="20000"/>
              </a:spcBef>
              <a:defRPr/>
            </a:pPr>
            <a:br>
              <a:rPr lang="en-US" sz="4800" b="1" dirty="0">
                <a:solidFill>
                  <a:schemeClr val="tx1">
                    <a:lumMod val="95000"/>
                    <a:lumOff val="5000"/>
                  </a:schemeClr>
                </a:solidFill>
                <a:effectLst>
                  <a:outerShdw blurRad="38100" dist="38100" dir="2700000" algn="tl">
                    <a:srgbClr val="000000">
                      <a:alpha val="43137"/>
                    </a:srgbClr>
                  </a:outerShdw>
                </a:effectLst>
                <a:latin typeface="Bradley Hand ITC" pitchFamily="66" charset="0"/>
              </a:rPr>
            </a:br>
            <a:endParaRPr lang="en-US" sz="4800" b="1" dirty="0">
              <a:solidFill>
                <a:schemeClr val="tx1">
                  <a:lumMod val="95000"/>
                  <a:lumOff val="5000"/>
                </a:schemeClr>
              </a:solidFill>
              <a:effectLst>
                <a:outerShdw blurRad="38100" dist="38100" dir="2700000" algn="tl">
                  <a:srgbClr val="000000">
                    <a:alpha val="43137"/>
                  </a:srgbClr>
                </a:outerShdw>
              </a:effectLst>
              <a:latin typeface="Bradley Hand ITC" pitchFamily="66" charset="0"/>
            </a:endParaRPr>
          </a:p>
        </p:txBody>
      </p:sp>
    </p:spTree>
    <p:extLst>
      <p:ext uri="{BB962C8B-B14F-4D97-AF65-F5344CB8AC3E}">
        <p14:creationId xmlns:p14="http://schemas.microsoft.com/office/powerpoint/2010/main" val="1767550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195" name="Rectangle 3"/>
          <p:cNvSpPr>
            <a:spLocks noChangeArrowheads="1"/>
          </p:cNvSpPr>
          <p:nvPr/>
        </p:nvSpPr>
        <p:spPr bwMode="auto">
          <a:xfrm>
            <a:off x="9220200" y="3429000"/>
            <a:ext cx="1219200" cy="762000"/>
          </a:xfrm>
          <a:prstGeom prst="rect">
            <a:avLst/>
          </a:prstGeom>
          <a:ln>
            <a:headEnd type="none" w="sm" len="sm"/>
            <a:tailEnd type="none" w="sm" len="sm"/>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dirty="0">
                <a:solidFill>
                  <a:schemeClr val="bg1"/>
                </a:solidFill>
                <a:latin typeface="Times New Roman" pitchFamily="18" charset="0"/>
              </a:rPr>
              <a:t>High  Petrol </a:t>
            </a:r>
          </a:p>
          <a:p>
            <a:pPr algn="ctr"/>
            <a:r>
              <a:rPr lang="en-US" sz="1600" dirty="0">
                <a:solidFill>
                  <a:schemeClr val="bg1"/>
                </a:solidFill>
                <a:latin typeface="Times New Roman" pitchFamily="18" charset="0"/>
              </a:rPr>
              <a:t>Consumption</a:t>
            </a:r>
            <a:endParaRPr lang="en-US" sz="2400" dirty="0">
              <a:solidFill>
                <a:schemeClr val="bg1"/>
              </a:solidFill>
              <a:latin typeface="Times New Roman" pitchFamily="18" charset="0"/>
            </a:endParaRPr>
          </a:p>
        </p:txBody>
      </p:sp>
      <p:sp>
        <p:nvSpPr>
          <p:cNvPr id="196" name="Line 4"/>
          <p:cNvSpPr>
            <a:spLocks noChangeShapeType="1"/>
          </p:cNvSpPr>
          <p:nvPr/>
        </p:nvSpPr>
        <p:spPr bwMode="auto">
          <a:xfrm flipV="1">
            <a:off x="3200400" y="3810000"/>
            <a:ext cx="6019800" cy="0"/>
          </a:xfrm>
          <a:prstGeom prst="line">
            <a:avLst/>
          </a:prstGeom>
          <a:noFill/>
          <a:ln w="57150" cap="sq">
            <a:solidFill>
              <a:schemeClr val="tx1"/>
            </a:solidFill>
            <a:round/>
            <a:headEnd type="none" w="sm" len="sm"/>
            <a:tailEnd type="triangle" w="sm" len="sm"/>
          </a:ln>
          <a:effectLst/>
        </p:spPr>
        <p:txBody>
          <a:bodyPr wrap="none" anchor="ctr"/>
          <a:lstStyle/>
          <a:p>
            <a:endParaRPr lang="en-US"/>
          </a:p>
        </p:txBody>
      </p:sp>
      <p:sp>
        <p:nvSpPr>
          <p:cNvPr id="197" name="Line 5"/>
          <p:cNvSpPr>
            <a:spLocks noChangeShapeType="1"/>
          </p:cNvSpPr>
          <p:nvPr/>
        </p:nvSpPr>
        <p:spPr bwMode="auto">
          <a:xfrm>
            <a:off x="3505200" y="1524000"/>
            <a:ext cx="1066800" cy="22860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198" name="Line 6"/>
          <p:cNvSpPr>
            <a:spLocks noChangeShapeType="1"/>
          </p:cNvSpPr>
          <p:nvPr/>
        </p:nvSpPr>
        <p:spPr bwMode="auto">
          <a:xfrm flipV="1">
            <a:off x="5791200" y="3810000"/>
            <a:ext cx="990600" cy="22860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199" name="Line 7"/>
          <p:cNvSpPr>
            <a:spLocks noChangeShapeType="1"/>
          </p:cNvSpPr>
          <p:nvPr/>
        </p:nvSpPr>
        <p:spPr bwMode="auto">
          <a:xfrm flipV="1">
            <a:off x="3429000" y="3810000"/>
            <a:ext cx="1143000" cy="22860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00" name="Line 8"/>
          <p:cNvSpPr>
            <a:spLocks noChangeShapeType="1"/>
          </p:cNvSpPr>
          <p:nvPr/>
        </p:nvSpPr>
        <p:spPr bwMode="auto">
          <a:xfrm flipV="1">
            <a:off x="7696200" y="3810000"/>
            <a:ext cx="914400" cy="22860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01" name="Line 9"/>
          <p:cNvSpPr>
            <a:spLocks noChangeShapeType="1"/>
          </p:cNvSpPr>
          <p:nvPr/>
        </p:nvSpPr>
        <p:spPr bwMode="auto">
          <a:xfrm>
            <a:off x="5715000" y="1600200"/>
            <a:ext cx="1066800" cy="2209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02" name="Line 10"/>
          <p:cNvSpPr>
            <a:spLocks noChangeShapeType="1"/>
          </p:cNvSpPr>
          <p:nvPr/>
        </p:nvSpPr>
        <p:spPr bwMode="auto">
          <a:xfrm>
            <a:off x="7620000" y="1600200"/>
            <a:ext cx="990600" cy="2133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03" name="Rectangle 11"/>
          <p:cNvSpPr>
            <a:spLocks noChangeArrowheads="1"/>
          </p:cNvSpPr>
          <p:nvPr/>
        </p:nvSpPr>
        <p:spPr bwMode="auto">
          <a:xfrm>
            <a:off x="3048000" y="1219200"/>
            <a:ext cx="1066800" cy="3810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lgn="ctr"/>
            <a:r>
              <a:rPr lang="en-US" sz="1400" dirty="0">
                <a:latin typeface="Times New Roman" pitchFamily="18" charset="0"/>
              </a:rPr>
              <a:t>Procedure</a:t>
            </a:r>
            <a:endParaRPr lang="en-US" sz="2400" dirty="0">
              <a:latin typeface="Times New Roman" pitchFamily="18" charset="0"/>
            </a:endParaRPr>
          </a:p>
        </p:txBody>
      </p:sp>
      <p:sp>
        <p:nvSpPr>
          <p:cNvPr id="204" name="Rectangle 12"/>
          <p:cNvSpPr>
            <a:spLocks noChangeArrowheads="1"/>
          </p:cNvSpPr>
          <p:nvPr/>
        </p:nvSpPr>
        <p:spPr bwMode="auto">
          <a:xfrm>
            <a:off x="5181600" y="1219200"/>
            <a:ext cx="1066800" cy="3810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lgn="ctr"/>
            <a:r>
              <a:rPr lang="en-US" sz="1400" dirty="0">
                <a:latin typeface="Times New Roman" pitchFamily="18" charset="0"/>
              </a:rPr>
              <a:t>Driver</a:t>
            </a:r>
            <a:endParaRPr lang="en-US" sz="2400" dirty="0">
              <a:latin typeface="Times New Roman" pitchFamily="18" charset="0"/>
            </a:endParaRPr>
          </a:p>
        </p:txBody>
      </p:sp>
      <p:sp>
        <p:nvSpPr>
          <p:cNvPr id="205" name="Rectangle 13"/>
          <p:cNvSpPr>
            <a:spLocks noChangeArrowheads="1"/>
          </p:cNvSpPr>
          <p:nvPr/>
        </p:nvSpPr>
        <p:spPr bwMode="auto">
          <a:xfrm>
            <a:off x="7086600" y="1219200"/>
            <a:ext cx="1066800" cy="3810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lgn="ctr"/>
            <a:r>
              <a:rPr lang="en-US" sz="1400">
                <a:latin typeface="Times New Roman" pitchFamily="18" charset="0"/>
              </a:rPr>
              <a:t>Vehicle</a:t>
            </a:r>
            <a:endParaRPr lang="en-US" sz="2400">
              <a:latin typeface="Times New Roman" pitchFamily="18" charset="0"/>
            </a:endParaRPr>
          </a:p>
        </p:txBody>
      </p:sp>
      <p:sp>
        <p:nvSpPr>
          <p:cNvPr id="206" name="Rectangle 14"/>
          <p:cNvSpPr>
            <a:spLocks noChangeArrowheads="1"/>
          </p:cNvSpPr>
          <p:nvPr/>
        </p:nvSpPr>
        <p:spPr bwMode="auto">
          <a:xfrm>
            <a:off x="7162800" y="6096000"/>
            <a:ext cx="1066800" cy="3810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lgn="ctr"/>
            <a:r>
              <a:rPr lang="en-US" sz="1400" dirty="0">
                <a:latin typeface="Times New Roman" pitchFamily="18" charset="0"/>
              </a:rPr>
              <a:t>Materials</a:t>
            </a:r>
            <a:endParaRPr lang="en-US" sz="2400" dirty="0">
              <a:latin typeface="Times New Roman" pitchFamily="18" charset="0"/>
            </a:endParaRPr>
          </a:p>
        </p:txBody>
      </p:sp>
      <p:sp>
        <p:nvSpPr>
          <p:cNvPr id="207" name="Rectangle 15"/>
          <p:cNvSpPr>
            <a:spLocks noChangeArrowheads="1"/>
          </p:cNvSpPr>
          <p:nvPr/>
        </p:nvSpPr>
        <p:spPr bwMode="auto">
          <a:xfrm>
            <a:off x="5257800" y="6096000"/>
            <a:ext cx="1066800" cy="3810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lgn="ctr"/>
            <a:r>
              <a:rPr lang="en-US" sz="1400" dirty="0">
                <a:latin typeface="Times New Roman" pitchFamily="18" charset="0"/>
              </a:rPr>
              <a:t>Maintenance</a:t>
            </a:r>
            <a:endParaRPr lang="en-US" sz="2400" dirty="0">
              <a:latin typeface="Times New Roman" pitchFamily="18" charset="0"/>
            </a:endParaRPr>
          </a:p>
        </p:txBody>
      </p:sp>
      <p:sp>
        <p:nvSpPr>
          <p:cNvPr id="208" name="Rectangle 16"/>
          <p:cNvSpPr>
            <a:spLocks noChangeArrowheads="1"/>
          </p:cNvSpPr>
          <p:nvPr/>
        </p:nvSpPr>
        <p:spPr bwMode="auto">
          <a:xfrm>
            <a:off x="2971800" y="6096000"/>
            <a:ext cx="1066800" cy="3810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lgn="ctr"/>
            <a:r>
              <a:rPr lang="en-US" sz="1400">
                <a:latin typeface="Times New Roman" pitchFamily="18" charset="0"/>
              </a:rPr>
              <a:t>Road</a:t>
            </a:r>
            <a:endParaRPr lang="en-US" sz="2400">
              <a:latin typeface="Times New Roman" pitchFamily="18" charset="0"/>
            </a:endParaRPr>
          </a:p>
        </p:txBody>
      </p:sp>
      <p:sp>
        <p:nvSpPr>
          <p:cNvPr id="209" name="Line 17"/>
          <p:cNvSpPr>
            <a:spLocks noChangeShapeType="1"/>
          </p:cNvSpPr>
          <p:nvPr/>
        </p:nvSpPr>
        <p:spPr bwMode="auto">
          <a:xfrm>
            <a:off x="3048000" y="4953000"/>
            <a:ext cx="9144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10" name="Line 18"/>
          <p:cNvSpPr>
            <a:spLocks noChangeShapeType="1"/>
          </p:cNvSpPr>
          <p:nvPr/>
        </p:nvSpPr>
        <p:spPr bwMode="auto">
          <a:xfrm>
            <a:off x="3048000" y="4343400"/>
            <a:ext cx="304800" cy="609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11" name="Line 19"/>
          <p:cNvSpPr>
            <a:spLocks noChangeShapeType="1"/>
          </p:cNvSpPr>
          <p:nvPr/>
        </p:nvSpPr>
        <p:spPr bwMode="auto">
          <a:xfrm>
            <a:off x="2743200" y="4648200"/>
            <a:ext cx="457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12" name="Line 20"/>
          <p:cNvSpPr>
            <a:spLocks noChangeShapeType="1"/>
          </p:cNvSpPr>
          <p:nvPr/>
        </p:nvSpPr>
        <p:spPr bwMode="auto">
          <a:xfrm flipH="1">
            <a:off x="3276600" y="4724400"/>
            <a:ext cx="381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13" name="Text Box 21"/>
          <p:cNvSpPr txBox="1">
            <a:spLocks noChangeArrowheads="1"/>
          </p:cNvSpPr>
          <p:nvPr/>
        </p:nvSpPr>
        <p:spPr bwMode="auto">
          <a:xfrm>
            <a:off x="2651125" y="4075114"/>
            <a:ext cx="914400"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Restrictions</a:t>
            </a:r>
            <a:endParaRPr lang="en-US" sz="2400">
              <a:latin typeface="Times New Roman" pitchFamily="18" charset="0"/>
            </a:endParaRPr>
          </a:p>
        </p:txBody>
      </p:sp>
      <p:sp>
        <p:nvSpPr>
          <p:cNvPr id="214" name="Text Box 22"/>
          <p:cNvSpPr txBox="1">
            <a:spLocks noChangeArrowheads="1"/>
          </p:cNvSpPr>
          <p:nvPr/>
        </p:nvSpPr>
        <p:spPr bwMode="auto">
          <a:xfrm>
            <a:off x="3336925" y="4456114"/>
            <a:ext cx="654050"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No turn</a:t>
            </a:r>
            <a:endParaRPr lang="en-US" sz="2400">
              <a:latin typeface="Times New Roman" pitchFamily="18" charset="0"/>
            </a:endParaRPr>
          </a:p>
        </p:txBody>
      </p:sp>
      <p:sp>
        <p:nvSpPr>
          <p:cNvPr id="215" name="Text Box 23"/>
          <p:cNvSpPr txBox="1">
            <a:spLocks noChangeArrowheads="1"/>
          </p:cNvSpPr>
          <p:nvPr/>
        </p:nvSpPr>
        <p:spPr bwMode="auto">
          <a:xfrm>
            <a:off x="2362200" y="4343400"/>
            <a:ext cx="730250"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One way</a:t>
            </a:r>
            <a:endParaRPr lang="en-US" sz="2400">
              <a:latin typeface="Times New Roman" pitchFamily="18" charset="0"/>
            </a:endParaRPr>
          </a:p>
        </p:txBody>
      </p:sp>
      <p:sp>
        <p:nvSpPr>
          <p:cNvPr id="216" name="Text Box 24"/>
          <p:cNvSpPr txBox="1">
            <a:spLocks noChangeArrowheads="1"/>
          </p:cNvSpPr>
          <p:nvPr/>
        </p:nvSpPr>
        <p:spPr bwMode="auto">
          <a:xfrm>
            <a:off x="2438400" y="4724400"/>
            <a:ext cx="820738"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Circuitous</a:t>
            </a:r>
          </a:p>
          <a:p>
            <a:r>
              <a:rPr lang="en-US" sz="1200">
                <a:latin typeface="Times New Roman" pitchFamily="18" charset="0"/>
              </a:rPr>
              <a:t>Road</a:t>
            </a:r>
            <a:endParaRPr lang="en-US" sz="2400">
              <a:latin typeface="Times New Roman" pitchFamily="18" charset="0"/>
            </a:endParaRPr>
          </a:p>
        </p:txBody>
      </p:sp>
      <p:sp>
        <p:nvSpPr>
          <p:cNvPr id="217" name="Line 25"/>
          <p:cNvSpPr>
            <a:spLocks noChangeShapeType="1"/>
          </p:cNvSpPr>
          <p:nvPr/>
        </p:nvSpPr>
        <p:spPr bwMode="auto">
          <a:xfrm flipH="1">
            <a:off x="4114800" y="4724400"/>
            <a:ext cx="838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18" name="Text Box 26"/>
          <p:cNvSpPr txBox="1">
            <a:spLocks noChangeArrowheads="1"/>
          </p:cNvSpPr>
          <p:nvPr/>
        </p:nvSpPr>
        <p:spPr bwMode="auto">
          <a:xfrm>
            <a:off x="4876801" y="4572000"/>
            <a:ext cx="727075" cy="457200"/>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Frequent</a:t>
            </a:r>
          </a:p>
          <a:p>
            <a:r>
              <a:rPr lang="en-US" sz="1200">
                <a:latin typeface="Times New Roman" pitchFamily="18" charset="0"/>
              </a:rPr>
              <a:t>stops</a:t>
            </a:r>
            <a:endParaRPr lang="en-US" sz="2400">
              <a:latin typeface="Times New Roman" pitchFamily="18" charset="0"/>
            </a:endParaRPr>
          </a:p>
        </p:txBody>
      </p:sp>
      <p:sp>
        <p:nvSpPr>
          <p:cNvPr id="219" name="Line 27"/>
          <p:cNvSpPr>
            <a:spLocks noChangeShapeType="1"/>
          </p:cNvSpPr>
          <p:nvPr/>
        </p:nvSpPr>
        <p:spPr bwMode="auto">
          <a:xfrm flipH="1">
            <a:off x="4495800" y="4114800"/>
            <a:ext cx="304800" cy="609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20" name="Line 28"/>
          <p:cNvSpPr>
            <a:spLocks noChangeShapeType="1"/>
          </p:cNvSpPr>
          <p:nvPr/>
        </p:nvSpPr>
        <p:spPr bwMode="auto">
          <a:xfrm flipH="1">
            <a:off x="4800600" y="4419600"/>
            <a:ext cx="2286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21" name="Line 29"/>
          <p:cNvSpPr>
            <a:spLocks noChangeShapeType="1"/>
          </p:cNvSpPr>
          <p:nvPr/>
        </p:nvSpPr>
        <p:spPr bwMode="auto">
          <a:xfrm flipH="1">
            <a:off x="3733800" y="5562600"/>
            <a:ext cx="838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22" name="Line 30"/>
          <p:cNvSpPr>
            <a:spLocks noChangeShapeType="1"/>
          </p:cNvSpPr>
          <p:nvPr/>
        </p:nvSpPr>
        <p:spPr bwMode="auto">
          <a:xfrm flipH="1">
            <a:off x="4114800" y="5257800"/>
            <a:ext cx="2286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23" name="Line 31"/>
          <p:cNvSpPr>
            <a:spLocks noChangeShapeType="1"/>
          </p:cNvSpPr>
          <p:nvPr/>
        </p:nvSpPr>
        <p:spPr bwMode="auto">
          <a:xfrm flipH="1" flipV="1">
            <a:off x="3962400" y="5562600"/>
            <a:ext cx="1524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24" name="Line 32"/>
          <p:cNvSpPr>
            <a:spLocks noChangeShapeType="1"/>
          </p:cNvSpPr>
          <p:nvPr/>
        </p:nvSpPr>
        <p:spPr bwMode="auto">
          <a:xfrm flipV="1">
            <a:off x="4572000" y="4724400"/>
            <a:ext cx="152400" cy="228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25" name="Text Box 33"/>
          <p:cNvSpPr txBox="1">
            <a:spLocks noChangeArrowheads="1"/>
          </p:cNvSpPr>
          <p:nvPr/>
        </p:nvSpPr>
        <p:spPr bwMode="auto">
          <a:xfrm>
            <a:off x="4556126" y="3922714"/>
            <a:ext cx="784225"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Crossings</a:t>
            </a:r>
            <a:endParaRPr lang="en-US" sz="2400">
              <a:latin typeface="Times New Roman" pitchFamily="18" charset="0"/>
            </a:endParaRPr>
          </a:p>
        </p:txBody>
      </p:sp>
      <p:sp>
        <p:nvSpPr>
          <p:cNvPr id="226" name="Text Box 34"/>
          <p:cNvSpPr txBox="1">
            <a:spLocks noChangeArrowheads="1"/>
          </p:cNvSpPr>
          <p:nvPr/>
        </p:nvSpPr>
        <p:spPr bwMode="auto">
          <a:xfrm>
            <a:off x="4860925" y="4151314"/>
            <a:ext cx="609600"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Traffic</a:t>
            </a:r>
            <a:endParaRPr lang="en-US" sz="2400">
              <a:latin typeface="Times New Roman" pitchFamily="18" charset="0"/>
            </a:endParaRPr>
          </a:p>
        </p:txBody>
      </p:sp>
      <p:sp>
        <p:nvSpPr>
          <p:cNvPr id="227" name="Text Box 35"/>
          <p:cNvSpPr txBox="1">
            <a:spLocks noChangeArrowheads="1"/>
          </p:cNvSpPr>
          <p:nvPr/>
        </p:nvSpPr>
        <p:spPr bwMode="auto">
          <a:xfrm>
            <a:off x="4038600" y="4876800"/>
            <a:ext cx="1138238" cy="274638"/>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Speed Breakers</a:t>
            </a:r>
            <a:endParaRPr lang="en-US" sz="2400">
              <a:latin typeface="Times New Roman" pitchFamily="18" charset="0"/>
            </a:endParaRPr>
          </a:p>
        </p:txBody>
      </p:sp>
      <p:sp>
        <p:nvSpPr>
          <p:cNvPr id="228" name="Text Box 36"/>
          <p:cNvSpPr txBox="1">
            <a:spLocks noChangeArrowheads="1"/>
          </p:cNvSpPr>
          <p:nvPr/>
        </p:nvSpPr>
        <p:spPr bwMode="auto">
          <a:xfrm>
            <a:off x="3962401" y="5791200"/>
            <a:ext cx="523875" cy="274638"/>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Steep</a:t>
            </a:r>
            <a:endParaRPr lang="en-US" sz="2400">
              <a:latin typeface="Times New Roman" pitchFamily="18" charset="0"/>
            </a:endParaRPr>
          </a:p>
        </p:txBody>
      </p:sp>
      <p:sp>
        <p:nvSpPr>
          <p:cNvPr id="229" name="Text Box 37"/>
          <p:cNvSpPr txBox="1">
            <a:spLocks noChangeArrowheads="1"/>
          </p:cNvSpPr>
          <p:nvPr/>
        </p:nvSpPr>
        <p:spPr bwMode="auto">
          <a:xfrm>
            <a:off x="4495800" y="5334000"/>
            <a:ext cx="762000" cy="457200"/>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Poor</a:t>
            </a:r>
          </a:p>
          <a:p>
            <a:r>
              <a:rPr lang="en-US" sz="1200">
                <a:latin typeface="Times New Roman" pitchFamily="18" charset="0"/>
              </a:rPr>
              <a:t>condition</a:t>
            </a:r>
            <a:endParaRPr lang="en-US" sz="2400">
              <a:latin typeface="Times New Roman" pitchFamily="18" charset="0"/>
            </a:endParaRPr>
          </a:p>
        </p:txBody>
      </p:sp>
      <p:sp>
        <p:nvSpPr>
          <p:cNvPr id="230" name="Text Box 38"/>
          <p:cNvSpPr txBox="1">
            <a:spLocks noChangeArrowheads="1"/>
          </p:cNvSpPr>
          <p:nvPr/>
        </p:nvSpPr>
        <p:spPr bwMode="auto">
          <a:xfrm>
            <a:off x="4098926" y="5065714"/>
            <a:ext cx="709613"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Potholes</a:t>
            </a:r>
            <a:endParaRPr lang="en-US" sz="2400">
              <a:latin typeface="Times New Roman" pitchFamily="18" charset="0"/>
            </a:endParaRPr>
          </a:p>
        </p:txBody>
      </p:sp>
      <p:sp>
        <p:nvSpPr>
          <p:cNvPr id="231" name="Line 39"/>
          <p:cNvSpPr>
            <a:spLocks noChangeShapeType="1"/>
          </p:cNvSpPr>
          <p:nvPr/>
        </p:nvSpPr>
        <p:spPr bwMode="auto">
          <a:xfrm>
            <a:off x="5257800" y="5334000"/>
            <a:ext cx="9144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32" name="Text Box 40"/>
          <p:cNvSpPr txBox="1">
            <a:spLocks noChangeArrowheads="1"/>
          </p:cNvSpPr>
          <p:nvPr/>
        </p:nvSpPr>
        <p:spPr bwMode="auto">
          <a:xfrm>
            <a:off x="5029200" y="5105400"/>
            <a:ext cx="744538"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Irregular</a:t>
            </a:r>
          </a:p>
          <a:p>
            <a:r>
              <a:rPr lang="en-US" sz="1200">
                <a:latin typeface="Times New Roman" pitchFamily="18" charset="0"/>
              </a:rPr>
              <a:t>servicing</a:t>
            </a:r>
            <a:endParaRPr lang="en-US" sz="2400">
              <a:latin typeface="Times New Roman" pitchFamily="18" charset="0"/>
            </a:endParaRPr>
          </a:p>
        </p:txBody>
      </p:sp>
      <p:sp>
        <p:nvSpPr>
          <p:cNvPr id="233" name="Line 41"/>
          <p:cNvSpPr>
            <a:spLocks noChangeShapeType="1"/>
          </p:cNvSpPr>
          <p:nvPr/>
        </p:nvSpPr>
        <p:spPr bwMode="auto">
          <a:xfrm flipV="1">
            <a:off x="5562600" y="5334000"/>
            <a:ext cx="304800" cy="4572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34" name="Text Box 42"/>
          <p:cNvSpPr txBox="1">
            <a:spLocks noChangeArrowheads="1"/>
          </p:cNvSpPr>
          <p:nvPr/>
        </p:nvSpPr>
        <p:spPr bwMode="auto">
          <a:xfrm>
            <a:off x="5181600" y="5638800"/>
            <a:ext cx="744538" cy="457200"/>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False</a:t>
            </a:r>
          </a:p>
          <a:p>
            <a:r>
              <a:rPr lang="en-US" sz="1200">
                <a:latin typeface="Times New Roman" pitchFamily="18" charset="0"/>
              </a:rPr>
              <a:t>economy</a:t>
            </a:r>
            <a:endParaRPr lang="en-US" sz="2400">
              <a:latin typeface="Times New Roman" pitchFamily="18" charset="0"/>
            </a:endParaRPr>
          </a:p>
        </p:txBody>
      </p:sp>
      <p:sp>
        <p:nvSpPr>
          <p:cNvPr id="235" name="Line 43"/>
          <p:cNvSpPr>
            <a:spLocks noChangeShapeType="1"/>
          </p:cNvSpPr>
          <p:nvPr/>
        </p:nvSpPr>
        <p:spPr bwMode="auto">
          <a:xfrm>
            <a:off x="5867400" y="5029200"/>
            <a:ext cx="762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36" name="Text Box 44"/>
          <p:cNvSpPr txBox="1">
            <a:spLocks noChangeArrowheads="1"/>
          </p:cNvSpPr>
          <p:nvPr/>
        </p:nvSpPr>
        <p:spPr bwMode="auto">
          <a:xfrm>
            <a:off x="5410201" y="4800600"/>
            <a:ext cx="881063"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Negligence</a:t>
            </a:r>
            <a:endParaRPr lang="en-US" sz="2400">
              <a:latin typeface="Times New Roman" pitchFamily="18" charset="0"/>
            </a:endParaRPr>
          </a:p>
        </p:txBody>
      </p:sp>
      <p:sp>
        <p:nvSpPr>
          <p:cNvPr id="237" name="Line 45"/>
          <p:cNvSpPr>
            <a:spLocks noChangeShapeType="1"/>
          </p:cNvSpPr>
          <p:nvPr/>
        </p:nvSpPr>
        <p:spPr bwMode="auto">
          <a:xfrm flipH="1">
            <a:off x="6400800" y="4648200"/>
            <a:ext cx="838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38" name="Line 46"/>
          <p:cNvSpPr>
            <a:spLocks noChangeShapeType="1"/>
          </p:cNvSpPr>
          <p:nvPr/>
        </p:nvSpPr>
        <p:spPr bwMode="auto">
          <a:xfrm flipH="1">
            <a:off x="6019800" y="5638800"/>
            <a:ext cx="6858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39" name="Text Box 47"/>
          <p:cNvSpPr txBox="1">
            <a:spLocks noChangeArrowheads="1"/>
          </p:cNvSpPr>
          <p:nvPr/>
        </p:nvSpPr>
        <p:spPr bwMode="auto">
          <a:xfrm>
            <a:off x="6324601" y="5410200"/>
            <a:ext cx="701675" cy="457200"/>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Clogged</a:t>
            </a:r>
          </a:p>
          <a:p>
            <a:r>
              <a:rPr lang="en-US" sz="1200">
                <a:latin typeface="Times New Roman" pitchFamily="18" charset="0"/>
              </a:rPr>
              <a:t>filters</a:t>
            </a:r>
            <a:endParaRPr lang="en-US" sz="2400">
              <a:latin typeface="Times New Roman" pitchFamily="18" charset="0"/>
            </a:endParaRPr>
          </a:p>
        </p:txBody>
      </p:sp>
      <p:sp>
        <p:nvSpPr>
          <p:cNvPr id="240" name="Line 48"/>
          <p:cNvSpPr>
            <a:spLocks noChangeShapeType="1"/>
          </p:cNvSpPr>
          <p:nvPr/>
        </p:nvSpPr>
        <p:spPr bwMode="auto">
          <a:xfrm flipV="1">
            <a:off x="6553200" y="4648200"/>
            <a:ext cx="228600" cy="5334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41" name="Line 49"/>
          <p:cNvSpPr>
            <a:spLocks noChangeShapeType="1"/>
          </p:cNvSpPr>
          <p:nvPr/>
        </p:nvSpPr>
        <p:spPr bwMode="auto">
          <a:xfrm flipH="1">
            <a:off x="6705600" y="4876800"/>
            <a:ext cx="381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42" name="Line 50"/>
          <p:cNvSpPr>
            <a:spLocks noChangeShapeType="1"/>
          </p:cNvSpPr>
          <p:nvPr/>
        </p:nvSpPr>
        <p:spPr bwMode="auto">
          <a:xfrm flipH="1">
            <a:off x="6629400" y="5105400"/>
            <a:ext cx="457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43" name="Text Box 51"/>
          <p:cNvSpPr txBox="1">
            <a:spLocks noChangeArrowheads="1"/>
          </p:cNvSpPr>
          <p:nvPr/>
        </p:nvSpPr>
        <p:spPr bwMode="auto">
          <a:xfrm>
            <a:off x="6232525" y="5141914"/>
            <a:ext cx="1009650"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Low pressure</a:t>
            </a:r>
            <a:endParaRPr lang="en-US" sz="2400">
              <a:latin typeface="Times New Roman" pitchFamily="18" charset="0"/>
            </a:endParaRPr>
          </a:p>
        </p:txBody>
      </p:sp>
      <p:sp>
        <p:nvSpPr>
          <p:cNvPr id="244" name="Text Box 52"/>
          <p:cNvSpPr txBox="1">
            <a:spLocks noChangeArrowheads="1"/>
          </p:cNvSpPr>
          <p:nvPr/>
        </p:nvSpPr>
        <p:spPr bwMode="auto">
          <a:xfrm>
            <a:off x="7070725" y="4989514"/>
            <a:ext cx="795338"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Ignorance</a:t>
            </a:r>
            <a:endParaRPr lang="en-US" sz="2400">
              <a:latin typeface="Times New Roman" pitchFamily="18" charset="0"/>
            </a:endParaRPr>
          </a:p>
        </p:txBody>
      </p:sp>
      <p:sp>
        <p:nvSpPr>
          <p:cNvPr id="245" name="Text Box 53"/>
          <p:cNvSpPr txBox="1">
            <a:spLocks noChangeArrowheads="1"/>
          </p:cNvSpPr>
          <p:nvPr/>
        </p:nvSpPr>
        <p:spPr bwMode="auto">
          <a:xfrm>
            <a:off x="6781800" y="4648200"/>
            <a:ext cx="692150"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Faulty </a:t>
            </a:r>
          </a:p>
          <a:p>
            <a:r>
              <a:rPr lang="en-US" sz="1200">
                <a:latin typeface="Times New Roman" pitchFamily="18" charset="0"/>
              </a:rPr>
              <a:t>pressure</a:t>
            </a:r>
            <a:endParaRPr lang="en-US" sz="2400">
              <a:latin typeface="Times New Roman" pitchFamily="18" charset="0"/>
            </a:endParaRPr>
          </a:p>
        </p:txBody>
      </p:sp>
      <p:sp>
        <p:nvSpPr>
          <p:cNvPr id="246" name="Text Box 54"/>
          <p:cNvSpPr txBox="1">
            <a:spLocks noChangeArrowheads="1"/>
          </p:cNvSpPr>
          <p:nvPr/>
        </p:nvSpPr>
        <p:spPr bwMode="auto">
          <a:xfrm>
            <a:off x="7086601" y="4419600"/>
            <a:ext cx="531813" cy="274638"/>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Tyres</a:t>
            </a:r>
            <a:endParaRPr lang="en-US" sz="2400">
              <a:latin typeface="Times New Roman" pitchFamily="18" charset="0"/>
            </a:endParaRPr>
          </a:p>
        </p:txBody>
      </p:sp>
      <p:sp>
        <p:nvSpPr>
          <p:cNvPr id="247" name="Line 55"/>
          <p:cNvSpPr>
            <a:spLocks noChangeShapeType="1"/>
          </p:cNvSpPr>
          <p:nvPr/>
        </p:nvSpPr>
        <p:spPr bwMode="auto">
          <a:xfrm>
            <a:off x="7315200" y="4191000"/>
            <a:ext cx="1143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48" name="Line 56"/>
          <p:cNvSpPr>
            <a:spLocks noChangeShapeType="1"/>
          </p:cNvSpPr>
          <p:nvPr/>
        </p:nvSpPr>
        <p:spPr bwMode="auto">
          <a:xfrm flipH="1">
            <a:off x="8229600" y="4800600"/>
            <a:ext cx="9906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49" name="Line 57"/>
          <p:cNvSpPr>
            <a:spLocks noChangeShapeType="1"/>
          </p:cNvSpPr>
          <p:nvPr/>
        </p:nvSpPr>
        <p:spPr bwMode="auto">
          <a:xfrm flipH="1">
            <a:off x="7924800" y="5638800"/>
            <a:ext cx="1219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50" name="Text Box 58"/>
          <p:cNvSpPr txBox="1">
            <a:spLocks noChangeArrowheads="1"/>
          </p:cNvSpPr>
          <p:nvPr/>
        </p:nvSpPr>
        <p:spPr bwMode="auto">
          <a:xfrm>
            <a:off x="9204326" y="4608514"/>
            <a:ext cx="549275"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Petrol</a:t>
            </a:r>
            <a:endParaRPr lang="en-US" sz="2400">
              <a:latin typeface="Times New Roman" pitchFamily="18" charset="0"/>
            </a:endParaRPr>
          </a:p>
        </p:txBody>
      </p:sp>
      <p:sp>
        <p:nvSpPr>
          <p:cNvPr id="251" name="Text Box 59"/>
          <p:cNvSpPr txBox="1">
            <a:spLocks noChangeArrowheads="1"/>
          </p:cNvSpPr>
          <p:nvPr/>
        </p:nvSpPr>
        <p:spPr bwMode="auto">
          <a:xfrm>
            <a:off x="9144001" y="5486400"/>
            <a:ext cx="379413"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Oil</a:t>
            </a:r>
            <a:endParaRPr lang="en-US" sz="2400">
              <a:latin typeface="Times New Roman" pitchFamily="18" charset="0"/>
            </a:endParaRPr>
          </a:p>
        </p:txBody>
      </p:sp>
      <p:sp>
        <p:nvSpPr>
          <p:cNvPr id="252" name="Line 60"/>
          <p:cNvSpPr>
            <a:spLocks noChangeShapeType="1"/>
          </p:cNvSpPr>
          <p:nvPr/>
        </p:nvSpPr>
        <p:spPr bwMode="auto">
          <a:xfrm flipV="1">
            <a:off x="8305800" y="5638800"/>
            <a:ext cx="762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53" name="Line 61"/>
          <p:cNvSpPr>
            <a:spLocks noChangeShapeType="1"/>
          </p:cNvSpPr>
          <p:nvPr/>
        </p:nvSpPr>
        <p:spPr bwMode="auto">
          <a:xfrm flipV="1">
            <a:off x="8763000" y="5638800"/>
            <a:ext cx="152400" cy="3810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54" name="Text Box 62"/>
          <p:cNvSpPr txBox="1">
            <a:spLocks noChangeArrowheads="1"/>
          </p:cNvSpPr>
          <p:nvPr/>
        </p:nvSpPr>
        <p:spPr bwMode="auto">
          <a:xfrm>
            <a:off x="7772400" y="5791200"/>
            <a:ext cx="960438"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Not changed</a:t>
            </a:r>
            <a:endParaRPr lang="en-US" sz="2400">
              <a:latin typeface="Times New Roman" pitchFamily="18" charset="0"/>
            </a:endParaRPr>
          </a:p>
        </p:txBody>
      </p:sp>
      <p:sp>
        <p:nvSpPr>
          <p:cNvPr id="255" name="Text Box 63"/>
          <p:cNvSpPr txBox="1">
            <a:spLocks noChangeArrowheads="1"/>
          </p:cNvSpPr>
          <p:nvPr/>
        </p:nvSpPr>
        <p:spPr bwMode="auto">
          <a:xfrm>
            <a:off x="8458200" y="6019800"/>
            <a:ext cx="1371600" cy="274638"/>
          </a:xfrm>
          <a:prstGeom prst="rect">
            <a:avLst/>
          </a:prstGeom>
          <a:noFill/>
          <a:ln w="12700" cap="sq">
            <a:noFill/>
            <a:miter lim="800000"/>
            <a:headEnd type="none" w="sm" len="sm"/>
            <a:tailEnd type="none" w="sm" len="sm"/>
          </a:ln>
          <a:effectLst/>
        </p:spPr>
        <p:txBody>
          <a:bodyPr>
            <a:spAutoFit/>
          </a:bodyPr>
          <a:lstStyle/>
          <a:p>
            <a:pPr>
              <a:spcBef>
                <a:spcPct val="50000"/>
              </a:spcBef>
            </a:pPr>
            <a:r>
              <a:rPr lang="en-US" sz="1200">
                <a:latin typeface="Times New Roman" pitchFamily="18" charset="0"/>
              </a:rPr>
              <a:t>Low level</a:t>
            </a:r>
            <a:endParaRPr lang="en-US" sz="2400">
              <a:latin typeface="Times New Roman" pitchFamily="18" charset="0"/>
            </a:endParaRPr>
          </a:p>
        </p:txBody>
      </p:sp>
      <p:sp>
        <p:nvSpPr>
          <p:cNvPr id="256" name="Line 64"/>
          <p:cNvSpPr>
            <a:spLocks noChangeShapeType="1"/>
          </p:cNvSpPr>
          <p:nvPr/>
        </p:nvSpPr>
        <p:spPr bwMode="auto">
          <a:xfrm flipH="1">
            <a:off x="8534400" y="5334000"/>
            <a:ext cx="762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57" name="Text Box 65"/>
          <p:cNvSpPr txBox="1">
            <a:spLocks noChangeArrowheads="1"/>
          </p:cNvSpPr>
          <p:nvPr/>
        </p:nvSpPr>
        <p:spPr bwMode="auto">
          <a:xfrm>
            <a:off x="8153401" y="5105400"/>
            <a:ext cx="1317625"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Incorrect viscosity</a:t>
            </a:r>
            <a:endParaRPr lang="en-US" sz="2400">
              <a:latin typeface="Times New Roman" pitchFamily="18" charset="0"/>
            </a:endParaRPr>
          </a:p>
        </p:txBody>
      </p:sp>
      <p:sp>
        <p:nvSpPr>
          <p:cNvPr id="258" name="Line 66"/>
          <p:cNvSpPr>
            <a:spLocks noChangeShapeType="1"/>
          </p:cNvSpPr>
          <p:nvPr/>
        </p:nvSpPr>
        <p:spPr bwMode="auto">
          <a:xfrm flipH="1">
            <a:off x="8534400" y="4267200"/>
            <a:ext cx="228600" cy="5334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59" name="Line 67"/>
          <p:cNvSpPr>
            <a:spLocks noChangeShapeType="1"/>
          </p:cNvSpPr>
          <p:nvPr/>
        </p:nvSpPr>
        <p:spPr bwMode="auto">
          <a:xfrm flipV="1">
            <a:off x="8610600" y="4800600"/>
            <a:ext cx="76200" cy="1524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60" name="Line 68"/>
          <p:cNvSpPr>
            <a:spLocks noChangeShapeType="1"/>
          </p:cNvSpPr>
          <p:nvPr/>
        </p:nvSpPr>
        <p:spPr bwMode="auto">
          <a:xfrm flipH="1">
            <a:off x="8915400" y="4572000"/>
            <a:ext cx="76200" cy="228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61" name="Text Box 69"/>
          <p:cNvSpPr txBox="1">
            <a:spLocks noChangeArrowheads="1"/>
          </p:cNvSpPr>
          <p:nvPr/>
        </p:nvSpPr>
        <p:spPr bwMode="auto">
          <a:xfrm>
            <a:off x="8458200" y="4038600"/>
            <a:ext cx="812800"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Impurities</a:t>
            </a:r>
            <a:endParaRPr lang="en-US" sz="2400">
              <a:latin typeface="Times New Roman" pitchFamily="18" charset="0"/>
            </a:endParaRPr>
          </a:p>
        </p:txBody>
      </p:sp>
      <p:sp>
        <p:nvSpPr>
          <p:cNvPr id="262" name="Text Box 70"/>
          <p:cNvSpPr txBox="1">
            <a:spLocks noChangeArrowheads="1"/>
          </p:cNvSpPr>
          <p:nvPr/>
        </p:nvSpPr>
        <p:spPr bwMode="auto">
          <a:xfrm>
            <a:off x="8763000" y="4191000"/>
            <a:ext cx="846138"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Incorrect</a:t>
            </a:r>
          </a:p>
          <a:p>
            <a:r>
              <a:rPr lang="en-US" sz="1200">
                <a:latin typeface="Times New Roman" pitchFamily="18" charset="0"/>
              </a:rPr>
              <a:t>Octane no.</a:t>
            </a:r>
            <a:endParaRPr lang="en-US" sz="2400">
              <a:latin typeface="Times New Roman" pitchFamily="18" charset="0"/>
            </a:endParaRPr>
          </a:p>
        </p:txBody>
      </p:sp>
      <p:sp>
        <p:nvSpPr>
          <p:cNvPr id="263" name="Text Box 71"/>
          <p:cNvSpPr txBox="1">
            <a:spLocks noChangeArrowheads="1"/>
          </p:cNvSpPr>
          <p:nvPr/>
        </p:nvSpPr>
        <p:spPr bwMode="auto">
          <a:xfrm>
            <a:off x="8229601" y="4876800"/>
            <a:ext cx="777875"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Additives</a:t>
            </a:r>
            <a:endParaRPr lang="en-US" sz="2400">
              <a:latin typeface="Times New Roman" pitchFamily="18" charset="0"/>
            </a:endParaRPr>
          </a:p>
        </p:txBody>
      </p:sp>
      <p:sp>
        <p:nvSpPr>
          <p:cNvPr id="264" name="Text Box 72"/>
          <p:cNvSpPr txBox="1">
            <a:spLocks noChangeArrowheads="1"/>
          </p:cNvSpPr>
          <p:nvPr/>
        </p:nvSpPr>
        <p:spPr bwMode="auto">
          <a:xfrm>
            <a:off x="6765925" y="3998914"/>
            <a:ext cx="590550"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Spares</a:t>
            </a:r>
            <a:endParaRPr lang="en-US" sz="2400">
              <a:latin typeface="Times New Roman" pitchFamily="18" charset="0"/>
            </a:endParaRPr>
          </a:p>
        </p:txBody>
      </p:sp>
      <p:sp>
        <p:nvSpPr>
          <p:cNvPr id="265" name="Line 73"/>
          <p:cNvSpPr>
            <a:spLocks noChangeShapeType="1"/>
          </p:cNvSpPr>
          <p:nvPr/>
        </p:nvSpPr>
        <p:spPr bwMode="auto">
          <a:xfrm flipV="1">
            <a:off x="7848600" y="4191000"/>
            <a:ext cx="152400" cy="228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66" name="Line 74"/>
          <p:cNvSpPr>
            <a:spLocks noChangeShapeType="1"/>
          </p:cNvSpPr>
          <p:nvPr/>
        </p:nvSpPr>
        <p:spPr bwMode="auto">
          <a:xfrm>
            <a:off x="7620000" y="4038600"/>
            <a:ext cx="228600" cy="1524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67" name="Text Box 75"/>
          <p:cNvSpPr txBox="1">
            <a:spLocks noChangeArrowheads="1"/>
          </p:cNvSpPr>
          <p:nvPr/>
        </p:nvSpPr>
        <p:spPr bwMode="auto">
          <a:xfrm>
            <a:off x="7299325" y="3846514"/>
            <a:ext cx="725488"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Spurious</a:t>
            </a:r>
            <a:endParaRPr lang="en-US" sz="2400">
              <a:latin typeface="Times New Roman" pitchFamily="18" charset="0"/>
            </a:endParaRPr>
          </a:p>
        </p:txBody>
      </p:sp>
      <p:sp>
        <p:nvSpPr>
          <p:cNvPr id="268" name="Text Box 76"/>
          <p:cNvSpPr txBox="1">
            <a:spLocks noChangeArrowheads="1"/>
          </p:cNvSpPr>
          <p:nvPr/>
        </p:nvSpPr>
        <p:spPr bwMode="auto">
          <a:xfrm>
            <a:off x="7467601" y="4343400"/>
            <a:ext cx="650875"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Inferior</a:t>
            </a:r>
            <a:endParaRPr lang="en-US" sz="2400">
              <a:latin typeface="Times New Roman" pitchFamily="18" charset="0"/>
            </a:endParaRPr>
          </a:p>
        </p:txBody>
      </p:sp>
      <p:sp>
        <p:nvSpPr>
          <p:cNvPr id="269" name="Line 77"/>
          <p:cNvSpPr>
            <a:spLocks noChangeShapeType="1"/>
          </p:cNvSpPr>
          <p:nvPr/>
        </p:nvSpPr>
        <p:spPr bwMode="auto">
          <a:xfrm>
            <a:off x="5715000" y="2667000"/>
            <a:ext cx="457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0" name="Line 78"/>
          <p:cNvSpPr>
            <a:spLocks noChangeShapeType="1"/>
          </p:cNvSpPr>
          <p:nvPr/>
        </p:nvSpPr>
        <p:spPr bwMode="auto">
          <a:xfrm flipH="1">
            <a:off x="6019800" y="2209800"/>
            <a:ext cx="381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1" name="Line 79"/>
          <p:cNvSpPr>
            <a:spLocks noChangeShapeType="1"/>
          </p:cNvSpPr>
          <p:nvPr/>
        </p:nvSpPr>
        <p:spPr bwMode="auto">
          <a:xfrm flipH="1">
            <a:off x="6477000" y="3124200"/>
            <a:ext cx="457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2" name="Line 80"/>
          <p:cNvSpPr>
            <a:spLocks noChangeShapeType="1"/>
          </p:cNvSpPr>
          <p:nvPr/>
        </p:nvSpPr>
        <p:spPr bwMode="auto">
          <a:xfrm>
            <a:off x="7010400" y="2362200"/>
            <a:ext cx="9144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3" name="Line 81"/>
          <p:cNvSpPr>
            <a:spLocks noChangeShapeType="1"/>
          </p:cNvSpPr>
          <p:nvPr/>
        </p:nvSpPr>
        <p:spPr bwMode="auto">
          <a:xfrm>
            <a:off x="7620000" y="3352800"/>
            <a:ext cx="762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4" name="Line 82"/>
          <p:cNvSpPr>
            <a:spLocks noChangeShapeType="1"/>
          </p:cNvSpPr>
          <p:nvPr/>
        </p:nvSpPr>
        <p:spPr bwMode="auto">
          <a:xfrm flipH="1">
            <a:off x="8077200" y="2514600"/>
            <a:ext cx="9144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5" name="Line 83"/>
          <p:cNvSpPr>
            <a:spLocks noChangeShapeType="1"/>
          </p:cNvSpPr>
          <p:nvPr/>
        </p:nvSpPr>
        <p:spPr bwMode="auto">
          <a:xfrm flipH="1">
            <a:off x="8382000" y="1981200"/>
            <a:ext cx="228600" cy="5334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6" name="Line 84"/>
          <p:cNvSpPr>
            <a:spLocks noChangeShapeType="1"/>
          </p:cNvSpPr>
          <p:nvPr/>
        </p:nvSpPr>
        <p:spPr bwMode="auto">
          <a:xfrm flipH="1" flipV="1">
            <a:off x="8534400" y="2514600"/>
            <a:ext cx="228600" cy="4572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7" name="Line 85"/>
          <p:cNvSpPr>
            <a:spLocks noChangeShapeType="1"/>
          </p:cNvSpPr>
          <p:nvPr/>
        </p:nvSpPr>
        <p:spPr bwMode="auto">
          <a:xfrm>
            <a:off x="8153400" y="2133600"/>
            <a:ext cx="381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8" name="Line 86"/>
          <p:cNvSpPr>
            <a:spLocks noChangeShapeType="1"/>
          </p:cNvSpPr>
          <p:nvPr/>
        </p:nvSpPr>
        <p:spPr bwMode="auto">
          <a:xfrm flipH="1">
            <a:off x="8534400" y="2286000"/>
            <a:ext cx="381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79" name="Line 87"/>
          <p:cNvSpPr>
            <a:spLocks noChangeShapeType="1"/>
          </p:cNvSpPr>
          <p:nvPr/>
        </p:nvSpPr>
        <p:spPr bwMode="auto">
          <a:xfrm flipH="1">
            <a:off x="8686800" y="2819400"/>
            <a:ext cx="3048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0" name="Line 88"/>
          <p:cNvSpPr>
            <a:spLocks noChangeShapeType="1"/>
          </p:cNvSpPr>
          <p:nvPr/>
        </p:nvSpPr>
        <p:spPr bwMode="auto">
          <a:xfrm>
            <a:off x="7162800" y="2057400"/>
            <a:ext cx="1524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1" name="Line 89"/>
          <p:cNvSpPr>
            <a:spLocks noChangeShapeType="1"/>
          </p:cNvSpPr>
          <p:nvPr/>
        </p:nvSpPr>
        <p:spPr bwMode="auto">
          <a:xfrm flipV="1">
            <a:off x="7467600" y="2362200"/>
            <a:ext cx="1524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2" name="Line 90"/>
          <p:cNvSpPr>
            <a:spLocks noChangeShapeType="1"/>
          </p:cNvSpPr>
          <p:nvPr/>
        </p:nvSpPr>
        <p:spPr bwMode="auto">
          <a:xfrm flipV="1">
            <a:off x="7848600" y="3352800"/>
            <a:ext cx="152400" cy="228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3" name="Line 91"/>
          <p:cNvSpPr>
            <a:spLocks noChangeShapeType="1"/>
          </p:cNvSpPr>
          <p:nvPr/>
        </p:nvSpPr>
        <p:spPr bwMode="auto">
          <a:xfrm>
            <a:off x="7772400" y="3200400"/>
            <a:ext cx="76200" cy="1524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4" name="Line 92"/>
          <p:cNvSpPr>
            <a:spLocks noChangeShapeType="1"/>
          </p:cNvSpPr>
          <p:nvPr/>
        </p:nvSpPr>
        <p:spPr bwMode="auto">
          <a:xfrm flipH="1">
            <a:off x="3886200" y="2209800"/>
            <a:ext cx="6858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5" name="Line 93"/>
          <p:cNvSpPr>
            <a:spLocks noChangeShapeType="1"/>
          </p:cNvSpPr>
          <p:nvPr/>
        </p:nvSpPr>
        <p:spPr bwMode="auto">
          <a:xfrm flipH="1">
            <a:off x="4114800" y="2743200"/>
            <a:ext cx="5334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6" name="Line 94"/>
          <p:cNvSpPr>
            <a:spLocks noChangeShapeType="1"/>
          </p:cNvSpPr>
          <p:nvPr/>
        </p:nvSpPr>
        <p:spPr bwMode="auto">
          <a:xfrm flipH="1">
            <a:off x="4343400" y="3276600"/>
            <a:ext cx="6096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7" name="Line 95"/>
          <p:cNvSpPr>
            <a:spLocks noChangeShapeType="1"/>
          </p:cNvSpPr>
          <p:nvPr/>
        </p:nvSpPr>
        <p:spPr bwMode="auto">
          <a:xfrm>
            <a:off x="3505200" y="3429000"/>
            <a:ext cx="8382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8" name="Line 96"/>
          <p:cNvSpPr>
            <a:spLocks noChangeShapeType="1"/>
          </p:cNvSpPr>
          <p:nvPr/>
        </p:nvSpPr>
        <p:spPr bwMode="auto">
          <a:xfrm>
            <a:off x="3200400" y="2514600"/>
            <a:ext cx="762000" cy="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89" name="Line 97"/>
          <p:cNvSpPr>
            <a:spLocks noChangeShapeType="1"/>
          </p:cNvSpPr>
          <p:nvPr/>
        </p:nvSpPr>
        <p:spPr bwMode="auto">
          <a:xfrm>
            <a:off x="3200400" y="2057400"/>
            <a:ext cx="228600" cy="4572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90" name="Line 98"/>
          <p:cNvSpPr>
            <a:spLocks noChangeShapeType="1"/>
          </p:cNvSpPr>
          <p:nvPr/>
        </p:nvSpPr>
        <p:spPr bwMode="auto">
          <a:xfrm>
            <a:off x="3581400" y="2286000"/>
            <a:ext cx="152400" cy="2286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91" name="Line 99"/>
          <p:cNvSpPr>
            <a:spLocks noChangeShapeType="1"/>
          </p:cNvSpPr>
          <p:nvPr/>
        </p:nvSpPr>
        <p:spPr bwMode="auto">
          <a:xfrm flipV="1">
            <a:off x="3200400" y="2514600"/>
            <a:ext cx="76200" cy="3048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92" name="Line 100"/>
          <p:cNvSpPr>
            <a:spLocks noChangeShapeType="1"/>
          </p:cNvSpPr>
          <p:nvPr/>
        </p:nvSpPr>
        <p:spPr bwMode="auto">
          <a:xfrm flipV="1">
            <a:off x="3581400" y="2514600"/>
            <a:ext cx="228600" cy="457200"/>
          </a:xfrm>
          <a:prstGeom prst="line">
            <a:avLst/>
          </a:prstGeom>
          <a:noFill/>
          <a:ln w="12700" cap="sq">
            <a:solidFill>
              <a:schemeClr val="tx1"/>
            </a:solidFill>
            <a:round/>
            <a:headEnd type="none" w="sm" len="sm"/>
            <a:tailEnd type="triangle" w="sm" len="sm"/>
          </a:ln>
          <a:effectLst/>
        </p:spPr>
        <p:txBody>
          <a:bodyPr wrap="none" anchor="ctr"/>
          <a:lstStyle/>
          <a:p>
            <a:endParaRPr lang="en-US"/>
          </a:p>
        </p:txBody>
      </p:sp>
      <p:sp>
        <p:nvSpPr>
          <p:cNvPr id="293" name="Text Box 101"/>
          <p:cNvSpPr txBox="1">
            <a:spLocks noChangeArrowheads="1"/>
          </p:cNvSpPr>
          <p:nvPr/>
        </p:nvSpPr>
        <p:spPr bwMode="auto">
          <a:xfrm>
            <a:off x="5546725" y="3084514"/>
            <a:ext cx="184150" cy="274637"/>
          </a:xfrm>
          <a:prstGeom prst="rect">
            <a:avLst/>
          </a:prstGeom>
          <a:noFill/>
          <a:ln w="12700" cap="sq">
            <a:noFill/>
            <a:miter lim="800000"/>
            <a:headEnd type="none" w="sm" len="sm"/>
            <a:tailEnd type="none" w="sm" len="sm"/>
          </a:ln>
          <a:effectLst/>
        </p:spPr>
        <p:txBody>
          <a:bodyPr wrap="none">
            <a:spAutoFit/>
          </a:bodyPr>
          <a:lstStyle/>
          <a:p>
            <a:endParaRPr lang="en-US" sz="1200">
              <a:latin typeface="Times New Roman" pitchFamily="18" charset="0"/>
            </a:endParaRPr>
          </a:p>
        </p:txBody>
      </p:sp>
      <p:sp>
        <p:nvSpPr>
          <p:cNvPr id="294" name="Text Box 102"/>
          <p:cNvSpPr txBox="1">
            <a:spLocks noChangeArrowheads="1"/>
          </p:cNvSpPr>
          <p:nvPr/>
        </p:nvSpPr>
        <p:spPr bwMode="auto">
          <a:xfrm>
            <a:off x="2743200" y="1828800"/>
            <a:ext cx="865188"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Impatience</a:t>
            </a:r>
            <a:endParaRPr lang="en-US" sz="2400">
              <a:latin typeface="Times New Roman" pitchFamily="18" charset="0"/>
            </a:endParaRPr>
          </a:p>
        </p:txBody>
      </p:sp>
      <p:sp>
        <p:nvSpPr>
          <p:cNvPr id="295" name="Text Box 103"/>
          <p:cNvSpPr txBox="1">
            <a:spLocks noChangeArrowheads="1"/>
          </p:cNvSpPr>
          <p:nvPr/>
        </p:nvSpPr>
        <p:spPr bwMode="auto">
          <a:xfrm>
            <a:off x="3276600" y="2057400"/>
            <a:ext cx="541338"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Craze</a:t>
            </a:r>
            <a:endParaRPr lang="en-US" sz="2400">
              <a:latin typeface="Times New Roman" pitchFamily="18" charset="0"/>
            </a:endParaRPr>
          </a:p>
        </p:txBody>
      </p:sp>
      <p:sp>
        <p:nvSpPr>
          <p:cNvPr id="296" name="Text Box 104"/>
          <p:cNvSpPr txBox="1">
            <a:spLocks noChangeArrowheads="1"/>
          </p:cNvSpPr>
          <p:nvPr/>
        </p:nvSpPr>
        <p:spPr bwMode="auto">
          <a:xfrm>
            <a:off x="2803525" y="2703513"/>
            <a:ext cx="687388"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Always </a:t>
            </a:r>
          </a:p>
          <a:p>
            <a:r>
              <a:rPr lang="en-US" sz="1200">
                <a:latin typeface="Times New Roman" pitchFamily="18" charset="0"/>
              </a:rPr>
              <a:t>late</a:t>
            </a:r>
            <a:endParaRPr lang="en-US" sz="2400">
              <a:latin typeface="Times New Roman" pitchFamily="18" charset="0"/>
            </a:endParaRPr>
          </a:p>
        </p:txBody>
      </p:sp>
      <p:sp>
        <p:nvSpPr>
          <p:cNvPr id="297" name="Text Box 105"/>
          <p:cNvSpPr txBox="1">
            <a:spLocks noChangeArrowheads="1"/>
          </p:cNvSpPr>
          <p:nvPr/>
        </p:nvSpPr>
        <p:spPr bwMode="auto">
          <a:xfrm>
            <a:off x="2971801" y="3200400"/>
            <a:ext cx="790575" cy="457200"/>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Riding on</a:t>
            </a:r>
          </a:p>
          <a:p>
            <a:r>
              <a:rPr lang="en-US" sz="1200">
                <a:latin typeface="Times New Roman" pitchFamily="18" charset="0"/>
              </a:rPr>
              <a:t>clutch</a:t>
            </a:r>
            <a:endParaRPr lang="en-US" sz="2400">
              <a:latin typeface="Times New Roman" pitchFamily="18" charset="0"/>
            </a:endParaRPr>
          </a:p>
        </p:txBody>
      </p:sp>
      <p:sp>
        <p:nvSpPr>
          <p:cNvPr id="298" name="Text Box 106"/>
          <p:cNvSpPr txBox="1">
            <a:spLocks noChangeArrowheads="1"/>
          </p:cNvSpPr>
          <p:nvPr/>
        </p:nvSpPr>
        <p:spPr bwMode="auto">
          <a:xfrm>
            <a:off x="3352801" y="2895600"/>
            <a:ext cx="811213"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Lack of </a:t>
            </a:r>
          </a:p>
          <a:p>
            <a:r>
              <a:rPr lang="en-US" sz="1200">
                <a:latin typeface="Times New Roman" pitchFamily="18" charset="0"/>
              </a:rPr>
              <a:t>awareness</a:t>
            </a:r>
            <a:endParaRPr lang="en-US" sz="2400">
              <a:latin typeface="Times New Roman" pitchFamily="18" charset="0"/>
            </a:endParaRPr>
          </a:p>
        </p:txBody>
      </p:sp>
      <p:sp>
        <p:nvSpPr>
          <p:cNvPr id="299" name="Text Box 107"/>
          <p:cNvSpPr txBox="1">
            <a:spLocks noChangeArrowheads="1"/>
          </p:cNvSpPr>
          <p:nvPr/>
        </p:nvSpPr>
        <p:spPr bwMode="auto">
          <a:xfrm>
            <a:off x="4191000" y="1981200"/>
            <a:ext cx="908050"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Poor</a:t>
            </a:r>
          </a:p>
          <a:p>
            <a:r>
              <a:rPr lang="en-US" sz="1200">
                <a:latin typeface="Times New Roman" pitchFamily="18" charset="0"/>
              </a:rPr>
              <a:t>anticipation</a:t>
            </a:r>
            <a:endParaRPr lang="en-US" sz="2400">
              <a:latin typeface="Times New Roman" pitchFamily="18" charset="0"/>
            </a:endParaRPr>
          </a:p>
        </p:txBody>
      </p:sp>
      <p:sp>
        <p:nvSpPr>
          <p:cNvPr id="300" name="Text Box 108"/>
          <p:cNvSpPr txBox="1">
            <a:spLocks noChangeArrowheads="1"/>
          </p:cNvSpPr>
          <p:nvPr/>
        </p:nvSpPr>
        <p:spPr bwMode="auto">
          <a:xfrm>
            <a:off x="4495801" y="2514600"/>
            <a:ext cx="646113"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Wrong </a:t>
            </a:r>
          </a:p>
          <a:p>
            <a:r>
              <a:rPr lang="en-US" sz="1200">
                <a:latin typeface="Times New Roman" pitchFamily="18" charset="0"/>
              </a:rPr>
              <a:t>gears</a:t>
            </a:r>
            <a:endParaRPr lang="en-US" sz="2400">
              <a:latin typeface="Times New Roman" pitchFamily="18" charset="0"/>
            </a:endParaRPr>
          </a:p>
        </p:txBody>
      </p:sp>
      <p:sp>
        <p:nvSpPr>
          <p:cNvPr id="301" name="Text Box 109"/>
          <p:cNvSpPr txBox="1">
            <a:spLocks noChangeArrowheads="1"/>
          </p:cNvSpPr>
          <p:nvPr/>
        </p:nvSpPr>
        <p:spPr bwMode="auto">
          <a:xfrm>
            <a:off x="5470525" y="2474913"/>
            <a:ext cx="509588"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Poor </a:t>
            </a:r>
          </a:p>
          <a:p>
            <a:r>
              <a:rPr lang="en-US" sz="1200">
                <a:latin typeface="Times New Roman" pitchFamily="18" charset="0"/>
              </a:rPr>
              <a:t>skill</a:t>
            </a:r>
            <a:endParaRPr lang="en-US" sz="2400">
              <a:latin typeface="Times New Roman" pitchFamily="18" charset="0"/>
            </a:endParaRPr>
          </a:p>
        </p:txBody>
      </p:sp>
      <p:sp>
        <p:nvSpPr>
          <p:cNvPr id="302" name="Text Box 110"/>
          <p:cNvSpPr txBox="1">
            <a:spLocks noChangeArrowheads="1"/>
          </p:cNvSpPr>
          <p:nvPr/>
        </p:nvSpPr>
        <p:spPr bwMode="auto">
          <a:xfrm>
            <a:off x="4724400" y="3048000"/>
            <a:ext cx="609600"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Wrong</a:t>
            </a:r>
          </a:p>
          <a:p>
            <a:r>
              <a:rPr lang="en-US" sz="1200">
                <a:latin typeface="Times New Roman" pitchFamily="18" charset="0"/>
              </a:rPr>
              <a:t>culture</a:t>
            </a:r>
            <a:endParaRPr lang="en-US" sz="2400">
              <a:latin typeface="Times New Roman" pitchFamily="18" charset="0"/>
            </a:endParaRPr>
          </a:p>
        </p:txBody>
      </p:sp>
      <p:sp>
        <p:nvSpPr>
          <p:cNvPr id="303" name="Text Box 111"/>
          <p:cNvSpPr txBox="1">
            <a:spLocks noChangeArrowheads="1"/>
          </p:cNvSpPr>
          <p:nvPr/>
        </p:nvSpPr>
        <p:spPr bwMode="auto">
          <a:xfrm>
            <a:off x="6096001" y="1981200"/>
            <a:ext cx="644525"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Bad</a:t>
            </a:r>
          </a:p>
          <a:p>
            <a:r>
              <a:rPr lang="en-US" sz="1200">
                <a:latin typeface="Times New Roman" pitchFamily="18" charset="0"/>
              </a:rPr>
              <a:t>attitude</a:t>
            </a:r>
            <a:endParaRPr lang="en-US" sz="2400">
              <a:latin typeface="Times New Roman" pitchFamily="18" charset="0"/>
            </a:endParaRPr>
          </a:p>
        </p:txBody>
      </p:sp>
      <p:sp>
        <p:nvSpPr>
          <p:cNvPr id="304" name="Text Box 112"/>
          <p:cNvSpPr txBox="1">
            <a:spLocks noChangeArrowheads="1"/>
          </p:cNvSpPr>
          <p:nvPr/>
        </p:nvSpPr>
        <p:spPr bwMode="auto">
          <a:xfrm>
            <a:off x="6629401" y="2895600"/>
            <a:ext cx="974725"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Inexperience</a:t>
            </a:r>
            <a:endParaRPr lang="en-US" sz="2400">
              <a:latin typeface="Times New Roman" pitchFamily="18" charset="0"/>
            </a:endParaRPr>
          </a:p>
        </p:txBody>
      </p:sp>
      <p:sp>
        <p:nvSpPr>
          <p:cNvPr id="305" name="Text Box 113"/>
          <p:cNvSpPr txBox="1">
            <a:spLocks noChangeArrowheads="1"/>
          </p:cNvSpPr>
          <p:nvPr/>
        </p:nvSpPr>
        <p:spPr bwMode="auto">
          <a:xfrm>
            <a:off x="6689725" y="2246314"/>
            <a:ext cx="514350"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Body</a:t>
            </a:r>
            <a:endParaRPr lang="en-US" sz="2400">
              <a:latin typeface="Times New Roman" pitchFamily="18" charset="0"/>
            </a:endParaRPr>
          </a:p>
        </p:txBody>
      </p:sp>
      <p:sp>
        <p:nvSpPr>
          <p:cNvPr id="306" name="Text Box 114"/>
          <p:cNvSpPr txBox="1">
            <a:spLocks noChangeArrowheads="1"/>
          </p:cNvSpPr>
          <p:nvPr/>
        </p:nvSpPr>
        <p:spPr bwMode="auto">
          <a:xfrm>
            <a:off x="6858001" y="1828800"/>
            <a:ext cx="582613"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Heavy</a:t>
            </a:r>
            <a:endParaRPr lang="en-US" sz="2400">
              <a:latin typeface="Times New Roman" pitchFamily="18" charset="0"/>
            </a:endParaRPr>
          </a:p>
        </p:txBody>
      </p:sp>
      <p:sp>
        <p:nvSpPr>
          <p:cNvPr id="307" name="Text Box 115"/>
          <p:cNvSpPr txBox="1">
            <a:spLocks noChangeArrowheads="1"/>
          </p:cNvSpPr>
          <p:nvPr/>
        </p:nvSpPr>
        <p:spPr bwMode="auto">
          <a:xfrm>
            <a:off x="7162801" y="2590800"/>
            <a:ext cx="557213" cy="274638"/>
          </a:xfrm>
          <a:prstGeom prst="rect">
            <a:avLst/>
          </a:prstGeom>
          <a:noFill/>
          <a:ln w="12700" cap="sq">
            <a:noFill/>
            <a:miter lim="800000"/>
            <a:headEnd type="none" w="sm" len="sm"/>
            <a:tailEnd type="none" w="sm" len="sm"/>
          </a:ln>
          <a:effectLst/>
        </p:spPr>
        <p:txBody>
          <a:bodyPr>
            <a:spAutoFit/>
          </a:bodyPr>
          <a:lstStyle/>
          <a:p>
            <a:r>
              <a:rPr lang="en-US" sz="1200">
                <a:latin typeface="Times New Roman" pitchFamily="18" charset="0"/>
              </a:rPr>
              <a:t>Shape</a:t>
            </a:r>
            <a:endParaRPr lang="en-US" sz="2400">
              <a:latin typeface="Times New Roman" pitchFamily="18" charset="0"/>
            </a:endParaRPr>
          </a:p>
        </p:txBody>
      </p:sp>
      <p:sp>
        <p:nvSpPr>
          <p:cNvPr id="308" name="Text Box 116"/>
          <p:cNvSpPr txBox="1">
            <a:spLocks noChangeArrowheads="1"/>
          </p:cNvSpPr>
          <p:nvPr/>
        </p:nvSpPr>
        <p:spPr bwMode="auto">
          <a:xfrm>
            <a:off x="8991600" y="2286000"/>
            <a:ext cx="788988" cy="457200"/>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Technical</a:t>
            </a:r>
          </a:p>
          <a:p>
            <a:r>
              <a:rPr lang="en-US" sz="1200">
                <a:latin typeface="Times New Roman" pitchFamily="18" charset="0"/>
              </a:rPr>
              <a:t>details</a:t>
            </a:r>
            <a:endParaRPr lang="en-US" sz="2400">
              <a:latin typeface="Times New Roman" pitchFamily="18" charset="0"/>
            </a:endParaRPr>
          </a:p>
        </p:txBody>
      </p:sp>
      <p:sp>
        <p:nvSpPr>
          <p:cNvPr id="309" name="Text Box 117"/>
          <p:cNvSpPr txBox="1">
            <a:spLocks noChangeArrowheads="1"/>
          </p:cNvSpPr>
          <p:nvPr/>
        </p:nvSpPr>
        <p:spPr bwMode="auto">
          <a:xfrm>
            <a:off x="8366125" y="2932114"/>
            <a:ext cx="846138"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Carburetor</a:t>
            </a:r>
            <a:endParaRPr lang="en-US" sz="2400">
              <a:latin typeface="Times New Roman" pitchFamily="18" charset="0"/>
            </a:endParaRPr>
          </a:p>
        </p:txBody>
      </p:sp>
      <p:sp>
        <p:nvSpPr>
          <p:cNvPr id="310" name="Text Box 118"/>
          <p:cNvSpPr txBox="1">
            <a:spLocks noChangeArrowheads="1"/>
          </p:cNvSpPr>
          <p:nvPr/>
        </p:nvSpPr>
        <p:spPr bwMode="auto">
          <a:xfrm>
            <a:off x="8289925" y="1712914"/>
            <a:ext cx="908050"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Spark plugs</a:t>
            </a:r>
            <a:endParaRPr lang="en-US" sz="2400">
              <a:latin typeface="Times New Roman" pitchFamily="18" charset="0"/>
            </a:endParaRPr>
          </a:p>
        </p:txBody>
      </p:sp>
      <p:sp>
        <p:nvSpPr>
          <p:cNvPr id="311" name="Text Box 119"/>
          <p:cNvSpPr txBox="1">
            <a:spLocks noChangeArrowheads="1"/>
          </p:cNvSpPr>
          <p:nvPr/>
        </p:nvSpPr>
        <p:spPr bwMode="auto">
          <a:xfrm>
            <a:off x="8763000" y="2052639"/>
            <a:ext cx="439738"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Life</a:t>
            </a:r>
            <a:endParaRPr lang="en-US" sz="2400">
              <a:latin typeface="Times New Roman" pitchFamily="18" charset="0"/>
            </a:endParaRPr>
          </a:p>
        </p:txBody>
      </p:sp>
      <p:sp>
        <p:nvSpPr>
          <p:cNvPr id="312" name="Text Box 120"/>
          <p:cNvSpPr txBox="1">
            <a:spLocks noChangeArrowheads="1"/>
          </p:cNvSpPr>
          <p:nvPr/>
        </p:nvSpPr>
        <p:spPr bwMode="auto">
          <a:xfrm>
            <a:off x="7848600" y="1905000"/>
            <a:ext cx="719138"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Contacts</a:t>
            </a:r>
            <a:endParaRPr lang="en-US" sz="2400">
              <a:latin typeface="Times New Roman" pitchFamily="18" charset="0"/>
            </a:endParaRPr>
          </a:p>
        </p:txBody>
      </p:sp>
      <p:sp>
        <p:nvSpPr>
          <p:cNvPr id="313" name="Text Box 121"/>
          <p:cNvSpPr txBox="1">
            <a:spLocks noChangeArrowheads="1"/>
          </p:cNvSpPr>
          <p:nvPr/>
        </p:nvSpPr>
        <p:spPr bwMode="auto">
          <a:xfrm>
            <a:off x="8975725" y="2703514"/>
            <a:ext cx="731838"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Fuel mix</a:t>
            </a:r>
            <a:endParaRPr lang="en-US" sz="2400">
              <a:latin typeface="Times New Roman" pitchFamily="18" charset="0"/>
            </a:endParaRPr>
          </a:p>
        </p:txBody>
      </p:sp>
      <p:sp>
        <p:nvSpPr>
          <p:cNvPr id="314" name="Text Box 122"/>
          <p:cNvSpPr txBox="1">
            <a:spLocks noChangeArrowheads="1"/>
          </p:cNvSpPr>
          <p:nvPr/>
        </p:nvSpPr>
        <p:spPr bwMode="auto">
          <a:xfrm>
            <a:off x="7070725" y="3236914"/>
            <a:ext cx="617538"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Engine</a:t>
            </a:r>
            <a:endParaRPr lang="en-US" sz="2400">
              <a:latin typeface="Times New Roman" pitchFamily="18" charset="0"/>
            </a:endParaRPr>
          </a:p>
        </p:txBody>
      </p:sp>
      <p:sp>
        <p:nvSpPr>
          <p:cNvPr id="315" name="Text Box 123"/>
          <p:cNvSpPr txBox="1">
            <a:spLocks noChangeArrowheads="1"/>
          </p:cNvSpPr>
          <p:nvPr/>
        </p:nvSpPr>
        <p:spPr bwMode="auto">
          <a:xfrm>
            <a:off x="7467601" y="2971800"/>
            <a:ext cx="758825" cy="274638"/>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High H.P</a:t>
            </a:r>
            <a:endParaRPr lang="en-US" sz="2400">
              <a:latin typeface="Times New Roman" pitchFamily="18" charset="0"/>
            </a:endParaRPr>
          </a:p>
        </p:txBody>
      </p:sp>
      <p:sp>
        <p:nvSpPr>
          <p:cNvPr id="316" name="Text Box 124"/>
          <p:cNvSpPr txBox="1">
            <a:spLocks noChangeArrowheads="1"/>
          </p:cNvSpPr>
          <p:nvPr/>
        </p:nvSpPr>
        <p:spPr bwMode="auto">
          <a:xfrm>
            <a:off x="7375526" y="3541714"/>
            <a:ext cx="777875" cy="274637"/>
          </a:xfrm>
          <a:prstGeom prst="rect">
            <a:avLst/>
          </a:prstGeom>
          <a:noFill/>
          <a:ln w="12700" cap="sq">
            <a:noFill/>
            <a:miter lim="800000"/>
            <a:headEnd type="none" w="sm" len="sm"/>
            <a:tailEnd type="none" w="sm" len="sm"/>
          </a:ln>
          <a:effectLst/>
        </p:spPr>
        <p:txBody>
          <a:bodyPr wrap="none">
            <a:spAutoFit/>
          </a:bodyPr>
          <a:lstStyle/>
          <a:p>
            <a:r>
              <a:rPr lang="en-US" sz="1200">
                <a:latin typeface="Times New Roman" pitchFamily="18" charset="0"/>
              </a:rPr>
              <a:t>Cylinders</a:t>
            </a:r>
            <a:endParaRPr lang="en-US" sz="2400">
              <a:latin typeface="Times New Roman" pitchFamily="18" charset="0"/>
            </a:endParaRPr>
          </a:p>
        </p:txBody>
      </p:sp>
      <p:sp>
        <p:nvSpPr>
          <p:cNvPr id="317" name="TextBox 316"/>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Activity 3: C &amp;E Diagram</a:t>
            </a:r>
            <a:endParaRPr lang="en-US" sz="2000" dirty="0">
              <a:solidFill>
                <a:schemeClr val="accent6">
                  <a:lumMod val="75000"/>
                </a:schemeClr>
              </a:solidFill>
              <a:latin typeface="Calisto MT" pitchFamily="18" charset="0"/>
            </a:endParaRPr>
          </a:p>
        </p:txBody>
      </p:sp>
    </p:spTree>
    <p:extLst>
      <p:ext uri="{BB962C8B-B14F-4D97-AF65-F5344CB8AC3E}">
        <p14:creationId xmlns:p14="http://schemas.microsoft.com/office/powerpoint/2010/main" val="683811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Histogram</a:t>
            </a:r>
          </a:p>
        </p:txBody>
      </p:sp>
      <p:sp>
        <p:nvSpPr>
          <p:cNvPr id="53" name="Rectangle 6"/>
          <p:cNvSpPr>
            <a:spLocks noChangeArrowheads="1"/>
          </p:cNvSpPr>
          <p:nvPr/>
        </p:nvSpPr>
        <p:spPr bwMode="auto">
          <a:xfrm>
            <a:off x="1828800" y="1288198"/>
            <a:ext cx="8839200" cy="2862322"/>
          </a:xfrm>
          <a:prstGeom prst="rect">
            <a:avLst/>
          </a:prstGeom>
          <a:noFill/>
          <a:ln w="9525">
            <a:noFill/>
            <a:miter lim="800000"/>
            <a:headEnd/>
            <a:tailEnd/>
          </a:ln>
          <a:effectLst/>
        </p:spPr>
        <p:txBody>
          <a:bodyPr wrap="square" anchor="ctr">
            <a:spAutoFit/>
          </a:bodyPr>
          <a:lstStyle/>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A Histogram is a bar graph that shows frequency data.</a:t>
            </a:r>
          </a:p>
          <a:p>
            <a:pPr marL="285750" indent="-285750" fontAlgn="base">
              <a:spcBef>
                <a:spcPct val="0"/>
              </a:spcBef>
              <a:spcAft>
                <a:spcPct val="0"/>
              </a:spcAft>
              <a:buClr>
                <a:schemeClr val="tx1"/>
              </a:buClr>
              <a:buFont typeface="Wingdings" panose="05000000000000000000" pitchFamily="2" charset="2"/>
              <a:buChar char="q"/>
            </a:pPr>
            <a:endParaRPr lang="en-GB" b="1" dirty="0">
              <a:solidFill>
                <a:srgbClr val="000000"/>
              </a:solidFill>
              <a:latin typeface="Century Gothic" panose="020B0502020202020204" pitchFamily="34" charset="0"/>
              <a:ea typeface="ＭＳ Ｐゴシック" charset="-128"/>
            </a:endParaRPr>
          </a:p>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Histograms provide the easiest way to evaluate the distribution process</a:t>
            </a:r>
            <a:r>
              <a:rPr lang="en-GB" dirty="0">
                <a:latin typeface="Century Gothic" panose="020B0502020202020204" pitchFamily="34" charset="0"/>
              </a:rPr>
              <a:t>.</a:t>
            </a:r>
          </a:p>
          <a:p>
            <a:pPr lvl="0" fontAlgn="base">
              <a:spcBef>
                <a:spcPct val="0"/>
              </a:spcBef>
              <a:spcAft>
                <a:spcPct val="0"/>
              </a:spcAft>
              <a:buClr>
                <a:schemeClr val="tx1"/>
              </a:buClr>
            </a:pPr>
            <a:endParaRPr lang="en-GB" dirty="0">
              <a:latin typeface="Century Gothic" panose="020B0502020202020204" pitchFamily="34" charset="0"/>
            </a:endParaRPr>
          </a:p>
          <a:p>
            <a:pPr marL="285750" indent="-285750" fontAlgn="base">
              <a:spcBef>
                <a:spcPct val="0"/>
              </a:spcBef>
              <a:spcAft>
                <a:spcPct val="0"/>
              </a:spcAft>
              <a:buClr>
                <a:schemeClr val="tx1"/>
              </a:buClr>
              <a:buFont typeface="Wingdings" panose="05000000000000000000" pitchFamily="2" charset="2"/>
              <a:buChar char="q"/>
            </a:pPr>
            <a:r>
              <a:rPr lang="en-GB" dirty="0">
                <a:solidFill>
                  <a:srgbClr val="000000"/>
                </a:solidFill>
                <a:latin typeface="Century Gothic" panose="020B0502020202020204" pitchFamily="34" charset="0"/>
                <a:ea typeface="ＭＳ Ｐゴシック" charset="-128"/>
              </a:rPr>
              <a:t>Histogram is characterized by 3 Constituents:</a:t>
            </a:r>
          </a:p>
          <a:p>
            <a:pPr marL="285750" indent="-285750" fontAlgn="base">
              <a:spcBef>
                <a:spcPct val="0"/>
              </a:spcBef>
              <a:spcAft>
                <a:spcPct val="0"/>
              </a:spcAft>
              <a:buClr>
                <a:schemeClr val="tx1"/>
              </a:buClr>
              <a:buFont typeface="Wingdings" panose="05000000000000000000" pitchFamily="2" charset="2"/>
              <a:buChar char="q"/>
            </a:pPr>
            <a:endParaRPr lang="en-GB" dirty="0">
              <a:solidFill>
                <a:srgbClr val="000000"/>
              </a:solidFill>
              <a:latin typeface="Century Gothic" panose="020B0502020202020204" pitchFamily="34" charset="0"/>
              <a:ea typeface="ＭＳ Ｐゴシック" charset="-128"/>
            </a:endParaRPr>
          </a:p>
          <a:p>
            <a:pPr marL="568325" indent="-174625" fontAlgn="base">
              <a:spcBef>
                <a:spcPct val="0"/>
              </a:spcBef>
              <a:spcAft>
                <a:spcPct val="0"/>
              </a:spcAft>
              <a:buClr>
                <a:schemeClr val="tx1"/>
              </a:buClr>
              <a:buFont typeface="Wingdings" panose="05000000000000000000" pitchFamily="2" charset="2"/>
              <a:buChar char="§"/>
            </a:pPr>
            <a:r>
              <a:rPr lang="en-US" sz="1600" b="1" dirty="0">
                <a:solidFill>
                  <a:srgbClr val="000000"/>
                </a:solidFill>
                <a:latin typeface="Century Gothic" panose="020B0502020202020204" pitchFamily="34" charset="0"/>
                <a:ea typeface="ＭＳ Ｐゴシック" charset="-128"/>
              </a:rPr>
              <a:t>Center ( mean)</a:t>
            </a:r>
          </a:p>
          <a:p>
            <a:pPr marL="568325" indent="-174625" fontAlgn="base">
              <a:spcBef>
                <a:spcPct val="0"/>
              </a:spcBef>
              <a:spcAft>
                <a:spcPct val="0"/>
              </a:spcAft>
              <a:buClr>
                <a:schemeClr val="tx1"/>
              </a:buClr>
              <a:buFont typeface="Wingdings" panose="05000000000000000000" pitchFamily="2" charset="2"/>
              <a:buChar char="§"/>
            </a:pPr>
            <a:r>
              <a:rPr lang="en-US" sz="1600" b="1" dirty="0">
                <a:solidFill>
                  <a:srgbClr val="000000"/>
                </a:solidFill>
                <a:latin typeface="Century Gothic" panose="020B0502020202020204" pitchFamily="34" charset="0"/>
                <a:ea typeface="ＭＳ Ｐゴシック" charset="-128"/>
              </a:rPr>
              <a:t>Width (spread-variation)</a:t>
            </a:r>
          </a:p>
          <a:p>
            <a:pPr marL="568325" indent="-174625" fontAlgn="base">
              <a:spcBef>
                <a:spcPct val="0"/>
              </a:spcBef>
              <a:spcAft>
                <a:spcPct val="0"/>
              </a:spcAft>
              <a:buClr>
                <a:schemeClr val="tx1"/>
              </a:buClr>
              <a:buFont typeface="Wingdings" panose="05000000000000000000" pitchFamily="2" charset="2"/>
              <a:buChar char="§"/>
            </a:pPr>
            <a:r>
              <a:rPr lang="en-US" sz="1600" b="1" dirty="0">
                <a:solidFill>
                  <a:srgbClr val="000000"/>
                </a:solidFill>
                <a:latin typeface="Century Gothic" panose="020B0502020202020204" pitchFamily="34" charset="0"/>
                <a:ea typeface="ＭＳ Ｐゴシック" charset="-128"/>
              </a:rPr>
              <a:t>Over all shape</a:t>
            </a:r>
          </a:p>
          <a:p>
            <a:pPr lvl="0" fontAlgn="base">
              <a:spcBef>
                <a:spcPct val="0"/>
              </a:spcBef>
              <a:spcAft>
                <a:spcPct val="0"/>
              </a:spcAft>
              <a:buClr>
                <a:schemeClr val="tx1"/>
              </a:buClr>
            </a:pPr>
            <a:endParaRPr lang="en-GB" dirty="0">
              <a:solidFill>
                <a:srgbClr val="000000"/>
              </a:solidFill>
              <a:latin typeface="Century Gothic" panose="020B0502020202020204" pitchFamily="34" charset="0"/>
              <a:ea typeface="ＭＳ Ｐゴシック" charset="-128"/>
            </a:endParaRPr>
          </a:p>
        </p:txBody>
      </p:sp>
      <p:graphicFrame>
        <p:nvGraphicFramePr>
          <p:cNvPr id="54" name="Object 7"/>
          <p:cNvGraphicFramePr>
            <a:graphicFrameLocks noChangeAspect="1"/>
          </p:cNvGraphicFramePr>
          <p:nvPr/>
        </p:nvGraphicFramePr>
        <p:xfrm>
          <a:off x="2993874" y="4297647"/>
          <a:ext cx="2895600" cy="1848723"/>
        </p:xfrm>
        <a:graphic>
          <a:graphicData uri="http://schemas.openxmlformats.org/presentationml/2006/ole">
            <mc:AlternateContent xmlns:mc="http://schemas.openxmlformats.org/markup-compatibility/2006">
              <mc:Choice xmlns:v="urn:schemas-microsoft-com:vml" Requires="v">
                <p:oleObj r:id="rId4" imgW="153353" imgH="72512" progId="">
                  <p:embed/>
                </p:oleObj>
              </mc:Choice>
              <mc:Fallback>
                <p:oleObj r:id="rId4" imgW="153353" imgH="72512" progId="">
                  <p:embed/>
                  <p:pic>
                    <p:nvPicPr>
                      <p:cNvPr id="54"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3874" y="4297647"/>
                        <a:ext cx="2895600" cy="18487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4"/>
          <p:cNvGraphicFramePr>
            <a:graphicFrameLocks noChangeAspect="1"/>
          </p:cNvGraphicFramePr>
          <p:nvPr/>
        </p:nvGraphicFramePr>
        <p:xfrm>
          <a:off x="6936828" y="3681551"/>
          <a:ext cx="3276600" cy="2438543"/>
        </p:xfrm>
        <a:graphic>
          <a:graphicData uri="http://schemas.openxmlformats.org/presentationml/2006/ole">
            <mc:AlternateContent xmlns:mc="http://schemas.openxmlformats.org/markup-compatibility/2006">
              <mc:Choice xmlns:v="urn:schemas-microsoft-com:vml" Requires="v">
                <p:oleObj name="Chart" r:id="rId6" imgW="16645201" imgH="10601221" progId="MSGraph.Chart.8">
                  <p:embed followColorScheme="full"/>
                </p:oleObj>
              </mc:Choice>
              <mc:Fallback>
                <p:oleObj name="Chart" r:id="rId6" imgW="16645201" imgH="10601221" progId="MSGraph.Chart.8">
                  <p:embed followColorScheme="full"/>
                  <p:pic>
                    <p:nvPicPr>
                      <p:cNvPr id="55" name="Object 4"/>
                      <p:cNvPicPr>
                        <a:picLocks noChangeAspect="1" noChangeArrowheads="1"/>
                      </p:cNvPicPr>
                      <p:nvPr/>
                    </p:nvPicPr>
                    <p:blipFill>
                      <a:blip r:embed="rId7"/>
                      <a:srcRect/>
                      <a:stretch>
                        <a:fillRect/>
                      </a:stretch>
                    </p:blipFill>
                    <p:spPr bwMode="auto">
                      <a:xfrm>
                        <a:off x="6936828" y="3681551"/>
                        <a:ext cx="3276600" cy="2438543"/>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109739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Exercise: Histogram</a:t>
            </a:r>
          </a:p>
        </p:txBody>
      </p:sp>
      <p:sp>
        <p:nvSpPr>
          <p:cNvPr id="6" name="TextBox 5"/>
          <p:cNvSpPr txBox="1"/>
          <p:nvPr/>
        </p:nvSpPr>
        <p:spPr>
          <a:xfrm>
            <a:off x="1905000" y="1066800"/>
            <a:ext cx="8458200" cy="369332"/>
          </a:xfrm>
          <a:prstGeom prst="rect">
            <a:avLst/>
          </a:prstGeom>
          <a:noFill/>
        </p:spPr>
        <p:txBody>
          <a:bodyPr wrap="square" rtlCol="0">
            <a:spAutoFit/>
          </a:bodyPr>
          <a:lstStyle/>
          <a:p>
            <a:r>
              <a:rPr lang="en-US" b="1" dirty="0">
                <a:latin typeface="Century Gothic" panose="020B0502020202020204" pitchFamily="34" charset="0"/>
              </a:rPr>
              <a:t>Plot the histogram of Supplier 1 from the data given in camshaft. </a:t>
            </a:r>
            <a:r>
              <a:rPr lang="en-US" b="1" dirty="0" err="1">
                <a:latin typeface="Century Gothic" panose="020B0502020202020204" pitchFamily="34" charset="0"/>
              </a:rPr>
              <a:t>Mtw</a:t>
            </a:r>
            <a:r>
              <a:rPr lang="en-US" b="1" dirty="0">
                <a:latin typeface="Century Gothic" panose="020B0502020202020204" pitchFamily="34" charset="0"/>
              </a:rPr>
              <a:t>.</a:t>
            </a:r>
          </a:p>
        </p:txBody>
      </p:sp>
      <p:pic>
        <p:nvPicPr>
          <p:cNvPr id="216065" name="Picture 1"/>
          <p:cNvPicPr>
            <a:picLocks noChangeAspect="1" noChangeArrowheads="1"/>
          </p:cNvPicPr>
          <p:nvPr/>
        </p:nvPicPr>
        <p:blipFill>
          <a:blip r:embed="rId4"/>
          <a:srcRect r="70000" b="35111"/>
          <a:stretch>
            <a:fillRect/>
          </a:stretch>
        </p:blipFill>
        <p:spPr bwMode="auto">
          <a:xfrm>
            <a:off x="1981200" y="1981200"/>
            <a:ext cx="3505200" cy="4419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16066" name="Picture 2"/>
          <p:cNvPicPr>
            <a:picLocks noChangeAspect="1" noChangeArrowheads="1"/>
          </p:cNvPicPr>
          <p:nvPr/>
        </p:nvPicPr>
        <p:blipFill>
          <a:blip r:embed="rId5"/>
          <a:srcRect l="12222" t="17778" r="47778" b="26222"/>
          <a:stretch>
            <a:fillRect/>
          </a:stretch>
        </p:blipFill>
        <p:spPr bwMode="auto">
          <a:xfrm>
            <a:off x="5867400" y="2514600"/>
            <a:ext cx="4419600" cy="3886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4" name="Rectangle 6"/>
          <p:cNvSpPr>
            <a:spLocks noChangeArrowheads="1"/>
          </p:cNvSpPr>
          <p:nvPr/>
        </p:nvSpPr>
        <p:spPr bwMode="auto">
          <a:xfrm>
            <a:off x="1828800" y="1460720"/>
            <a:ext cx="60198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1  : File &gt; Open Worksheet &gt; camshaft. </a:t>
            </a:r>
            <a:r>
              <a:rPr lang="en-GB" b="1" dirty="0" err="1">
                <a:solidFill>
                  <a:schemeClr val="accent6">
                    <a:lumMod val="75000"/>
                  </a:schemeClr>
                </a:solidFill>
                <a:latin typeface="Century Gothic" panose="020B0502020202020204" pitchFamily="34" charset="0"/>
              </a:rPr>
              <a:t>mtw</a:t>
            </a:r>
            <a:endParaRPr lang="en-GB" b="1" dirty="0">
              <a:solidFill>
                <a:schemeClr val="accent6">
                  <a:lumMod val="75000"/>
                </a:schemeClr>
              </a:solidFill>
              <a:latin typeface="Century Gothic" panose="020B0502020202020204" pitchFamily="34" charset="0"/>
            </a:endParaRPr>
          </a:p>
        </p:txBody>
      </p:sp>
    </p:spTree>
    <p:extLst>
      <p:ext uri="{BB962C8B-B14F-4D97-AF65-F5344CB8AC3E}">
        <p14:creationId xmlns:p14="http://schemas.microsoft.com/office/powerpoint/2010/main" val="1549397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Histogram</a:t>
            </a:r>
          </a:p>
        </p:txBody>
      </p:sp>
      <p:pic>
        <p:nvPicPr>
          <p:cNvPr id="214018" name="Picture 2"/>
          <p:cNvPicPr>
            <a:picLocks noChangeAspect="1" noChangeArrowheads="1"/>
          </p:cNvPicPr>
          <p:nvPr/>
        </p:nvPicPr>
        <p:blipFill>
          <a:blip r:embed="rId4"/>
          <a:srcRect r="68333" b="33333"/>
          <a:stretch>
            <a:fillRect/>
          </a:stretch>
        </p:blipFill>
        <p:spPr bwMode="auto">
          <a:xfrm>
            <a:off x="1905000" y="1600200"/>
            <a:ext cx="3886200" cy="4343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14019" name="Picture 3"/>
          <p:cNvPicPr>
            <a:picLocks noChangeAspect="1" noChangeArrowheads="1"/>
          </p:cNvPicPr>
          <p:nvPr/>
        </p:nvPicPr>
        <p:blipFill>
          <a:blip r:embed="rId5"/>
          <a:srcRect l="49445" t="22444" r="24444" b="42889"/>
          <a:stretch>
            <a:fillRect/>
          </a:stretch>
        </p:blipFill>
        <p:spPr bwMode="auto">
          <a:xfrm>
            <a:off x="5029200" y="2971800"/>
            <a:ext cx="3581400" cy="2971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2" name="Rectangle 6"/>
          <p:cNvSpPr>
            <a:spLocks noChangeArrowheads="1"/>
          </p:cNvSpPr>
          <p:nvPr/>
        </p:nvSpPr>
        <p:spPr bwMode="auto">
          <a:xfrm>
            <a:off x="1828800" y="1079720"/>
            <a:ext cx="60198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2  : Graph &gt; Histogram &gt; Simple</a:t>
            </a:r>
          </a:p>
        </p:txBody>
      </p:sp>
    </p:spTree>
    <p:extLst>
      <p:ext uri="{BB962C8B-B14F-4D97-AF65-F5344CB8AC3E}">
        <p14:creationId xmlns:p14="http://schemas.microsoft.com/office/powerpoint/2010/main" val="2150084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Histogram</a:t>
            </a:r>
          </a:p>
        </p:txBody>
      </p:sp>
      <p:pic>
        <p:nvPicPr>
          <p:cNvPr id="289794" name="Picture 2"/>
          <p:cNvPicPr>
            <a:picLocks noChangeAspect="1" noChangeArrowheads="1"/>
          </p:cNvPicPr>
          <p:nvPr/>
        </p:nvPicPr>
        <p:blipFill>
          <a:blip r:embed="rId4"/>
          <a:srcRect/>
          <a:stretch>
            <a:fillRect/>
          </a:stretch>
        </p:blipFill>
        <p:spPr bwMode="auto">
          <a:xfrm>
            <a:off x="3352800" y="1600200"/>
            <a:ext cx="5486400" cy="3886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6734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Types of Histogram</a:t>
            </a:r>
          </a:p>
        </p:txBody>
      </p:sp>
      <p:graphicFrame>
        <p:nvGraphicFramePr>
          <p:cNvPr id="54" name="Object 7"/>
          <p:cNvGraphicFramePr>
            <a:graphicFrameLocks noChangeAspect="1"/>
          </p:cNvGraphicFramePr>
          <p:nvPr/>
        </p:nvGraphicFramePr>
        <p:xfrm>
          <a:off x="7543800" y="1071865"/>
          <a:ext cx="2895600" cy="1848723"/>
        </p:xfrm>
        <a:graphic>
          <a:graphicData uri="http://schemas.openxmlformats.org/presentationml/2006/ole">
            <mc:AlternateContent xmlns:mc="http://schemas.openxmlformats.org/markup-compatibility/2006">
              <mc:Choice xmlns:v="urn:schemas-microsoft-com:vml" Requires="v">
                <p:oleObj r:id="rId4" imgW="153353" imgH="72512" progId="">
                  <p:embed/>
                </p:oleObj>
              </mc:Choice>
              <mc:Fallback>
                <p:oleObj r:id="rId4" imgW="153353" imgH="72512" progId="">
                  <p:embed/>
                  <p:pic>
                    <p:nvPicPr>
                      <p:cNvPr id="54"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1071865"/>
                        <a:ext cx="2895600" cy="18487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 name="Rectangle 6"/>
          <p:cNvSpPr>
            <a:spLocks noChangeArrowheads="1"/>
          </p:cNvSpPr>
          <p:nvPr/>
        </p:nvSpPr>
        <p:spPr bwMode="auto">
          <a:xfrm>
            <a:off x="1828800" y="1347055"/>
            <a:ext cx="4133850" cy="1200329"/>
          </a:xfrm>
          <a:prstGeom prst="rect">
            <a:avLst/>
          </a:prstGeom>
          <a:noFill/>
          <a:ln w="9525">
            <a:noFill/>
            <a:miter lim="800000"/>
            <a:headEnd/>
            <a:tailEnd/>
          </a:ln>
          <a:effectLst/>
        </p:spPr>
        <p:txBody>
          <a:bodyPr wrap="square" anchor="ctr">
            <a:spAutoFit/>
          </a:bodyPr>
          <a:lstStyle/>
          <a:p>
            <a:pPr lvl="0" fontAlgn="base">
              <a:spcBef>
                <a:spcPct val="0"/>
              </a:spcBef>
              <a:spcAft>
                <a:spcPct val="0"/>
              </a:spcAft>
              <a:buClr>
                <a:schemeClr val="tx1"/>
              </a:buClr>
            </a:pPr>
            <a:r>
              <a:rPr lang="en-US"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Bell Shaped</a:t>
            </a:r>
          </a:p>
          <a:p>
            <a:pPr>
              <a:spcAft>
                <a:spcPct val="50000"/>
              </a:spcAft>
              <a:buSzPct val="100000"/>
            </a:pPr>
            <a:r>
              <a:rPr lang="en-US" dirty="0">
                <a:solidFill>
                  <a:schemeClr val="tx1">
                    <a:lumMod val="95000"/>
                    <a:lumOff val="5000"/>
                  </a:schemeClr>
                </a:solidFill>
                <a:latin typeface="Century Gothic" panose="020B0502020202020204" pitchFamily="34" charset="0"/>
              </a:rPr>
              <a:t>Symmetrical shape with a peak in middle representing a normal histogram</a:t>
            </a:r>
            <a:r>
              <a:rPr lang="en-US" dirty="0">
                <a:solidFill>
                  <a:schemeClr val="accent2"/>
                </a:solidFill>
                <a:latin typeface="Times New Roman" pitchFamily="18" charset="0"/>
              </a:rPr>
              <a:t>.</a:t>
            </a:r>
            <a:endParaRPr lang="en-US" dirty="0"/>
          </a:p>
        </p:txBody>
      </p:sp>
      <p:sp>
        <p:nvSpPr>
          <p:cNvPr id="4" name="Rectangle 3"/>
          <p:cNvSpPr/>
          <p:nvPr/>
        </p:nvSpPr>
        <p:spPr>
          <a:xfrm>
            <a:off x="1862958" y="3051734"/>
            <a:ext cx="4572000" cy="2585323"/>
          </a:xfrm>
          <a:prstGeom prst="rect">
            <a:avLst/>
          </a:prstGeom>
        </p:spPr>
        <p:txBody>
          <a:bodyPr>
            <a:spAutoFit/>
          </a:bodyPr>
          <a:lstStyle/>
          <a:p>
            <a:pPr fontAlgn="base">
              <a:spcBef>
                <a:spcPct val="0"/>
              </a:spcBef>
              <a:spcAft>
                <a:spcPct val="0"/>
              </a:spcAft>
              <a:buClr>
                <a:schemeClr val="tx1"/>
              </a:buCl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Skewed to Left</a:t>
            </a:r>
          </a:p>
          <a:p>
            <a:pPr>
              <a:tabLst>
                <a:tab pos="457200" algn="l"/>
                <a:tab pos="914400" algn="l"/>
                <a:tab pos="1371600" algn="l"/>
                <a:tab pos="1828800" algn="l"/>
                <a:tab pos="2286000" algn="l"/>
                <a:tab pos="2743200" algn="l"/>
                <a:tab pos="3200400" algn="l"/>
                <a:tab pos="3657600" algn="l"/>
                <a:tab pos="4114800" algn="l"/>
                <a:tab pos="4572000" algn="l"/>
                <a:tab pos="5029200" algn="l"/>
              </a:tabLst>
            </a:pPr>
            <a:endParaRPr lang="en-US" sz="600" dirty="0">
              <a:solidFill>
                <a:srgbClr val="6600FF"/>
              </a:solidFill>
              <a:latin typeface="Arial" pitchFamily="34" charset="0"/>
            </a:endParaRPr>
          </a:p>
          <a:p>
            <a:pP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dirty="0">
                <a:solidFill>
                  <a:schemeClr val="tx1">
                    <a:lumMod val="95000"/>
                    <a:lumOff val="5000"/>
                  </a:schemeClr>
                </a:solidFill>
                <a:latin typeface="Century Gothic" panose="020B0502020202020204" pitchFamily="34" charset="0"/>
              </a:rPr>
              <a:t>Caused by centering the process toward high end of the tolerance.</a:t>
            </a:r>
          </a:p>
          <a:p>
            <a:pPr>
              <a:tabLst>
                <a:tab pos="457200" algn="l"/>
                <a:tab pos="914400" algn="l"/>
                <a:tab pos="1371600" algn="l"/>
                <a:tab pos="1828800" algn="l"/>
                <a:tab pos="2286000" algn="l"/>
                <a:tab pos="2743200" algn="l"/>
                <a:tab pos="3200400" algn="l"/>
                <a:tab pos="3657600" algn="l"/>
                <a:tab pos="4114800" algn="l"/>
                <a:tab pos="4572000" algn="l"/>
                <a:tab pos="5029200" algn="l"/>
              </a:tabLst>
            </a:pPr>
            <a:endParaRPr lang="en-GB" dirty="0">
              <a:solidFill>
                <a:schemeClr val="tx1">
                  <a:lumMod val="95000"/>
                  <a:lumOff val="5000"/>
                </a:schemeClr>
              </a:solidFill>
              <a:latin typeface="Century Gothic" panose="020B0502020202020204" pitchFamily="34" charset="0"/>
            </a:endParaRPr>
          </a:p>
          <a:p>
            <a:pP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dirty="0">
                <a:solidFill>
                  <a:schemeClr val="tx1">
                    <a:lumMod val="95000"/>
                    <a:lumOff val="5000"/>
                  </a:schemeClr>
                </a:solidFill>
                <a:latin typeface="Century Gothic" panose="020B0502020202020204" pitchFamily="34" charset="0"/>
              </a:rPr>
              <a:t> </a:t>
            </a:r>
          </a:p>
          <a:p>
            <a:pPr>
              <a:tabLst>
                <a:tab pos="457200" algn="l"/>
                <a:tab pos="914400" algn="l"/>
                <a:tab pos="1371600" algn="l"/>
                <a:tab pos="1828800" algn="l"/>
                <a:tab pos="2286000" algn="l"/>
                <a:tab pos="2743200" algn="l"/>
                <a:tab pos="3200400" algn="l"/>
                <a:tab pos="3657600" algn="l"/>
                <a:tab pos="4114800" algn="l"/>
                <a:tab pos="4572000" algn="l"/>
                <a:tab pos="5029200" algn="l"/>
              </a:tabLst>
            </a:pPr>
            <a:endParaRPr lang="en-GB" sz="600" dirty="0">
              <a:latin typeface="Arial" pitchFamily="34" charset="0"/>
            </a:endParaRPr>
          </a:p>
          <a:p>
            <a:pPr fontAlgn="base">
              <a:spcBef>
                <a:spcPct val="0"/>
              </a:spcBef>
              <a:spcAft>
                <a:spcPct val="0"/>
              </a:spcAft>
              <a:buClr>
                <a:schemeClr val="tx1"/>
              </a:buCl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Skewed to Right</a:t>
            </a:r>
          </a:p>
          <a:p>
            <a:pPr>
              <a:tabLst>
                <a:tab pos="457200" algn="l"/>
                <a:tab pos="914400" algn="l"/>
                <a:tab pos="1371600" algn="l"/>
                <a:tab pos="1828800" algn="l"/>
                <a:tab pos="2286000" algn="l"/>
                <a:tab pos="2743200" algn="l"/>
                <a:tab pos="3200400" algn="l"/>
                <a:tab pos="3657600" algn="l"/>
                <a:tab pos="4114800" algn="l"/>
                <a:tab pos="4572000" algn="l"/>
                <a:tab pos="5029200" algn="l"/>
              </a:tabLst>
            </a:pPr>
            <a:endParaRPr lang="en-GB" sz="600" dirty="0">
              <a:solidFill>
                <a:srgbClr val="6600FF"/>
              </a:solidFill>
              <a:latin typeface="Arial" pitchFamily="34" charset="0"/>
            </a:endParaRPr>
          </a:p>
          <a:p>
            <a:pP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dirty="0">
                <a:solidFill>
                  <a:schemeClr val="tx1">
                    <a:lumMod val="95000"/>
                    <a:lumOff val="5000"/>
                  </a:schemeClr>
                </a:solidFill>
                <a:latin typeface="Century Gothic" panose="020B0502020202020204" pitchFamily="34" charset="0"/>
              </a:rPr>
              <a:t>Caused by centering the process toward low end of the tolerance. </a:t>
            </a:r>
          </a:p>
        </p:txBody>
      </p:sp>
      <p:graphicFrame>
        <p:nvGraphicFramePr>
          <p:cNvPr id="56" name="Object 4"/>
          <p:cNvGraphicFramePr>
            <a:graphicFrameLocks noChangeAspect="1"/>
          </p:cNvGraphicFramePr>
          <p:nvPr/>
        </p:nvGraphicFramePr>
        <p:xfrm>
          <a:off x="7315200" y="2841419"/>
          <a:ext cx="2798379" cy="1730582"/>
        </p:xfrm>
        <a:graphic>
          <a:graphicData uri="http://schemas.openxmlformats.org/presentationml/2006/ole">
            <mc:AlternateContent xmlns:mc="http://schemas.openxmlformats.org/markup-compatibility/2006">
              <mc:Choice xmlns:v="urn:schemas-microsoft-com:vml" Requires="v">
                <p:oleObj r:id="rId6" imgW="41437" imgH="30242" progId="">
                  <p:embed/>
                </p:oleObj>
              </mc:Choice>
              <mc:Fallback>
                <p:oleObj r:id="rId6" imgW="41437" imgH="30242" progId="">
                  <p:embed/>
                  <p:pic>
                    <p:nvPicPr>
                      <p:cNvPr id="5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5200" y="2841419"/>
                        <a:ext cx="2798379" cy="17305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Object 7"/>
          <p:cNvGraphicFramePr>
            <a:graphicFrameLocks noChangeAspect="1"/>
          </p:cNvGraphicFramePr>
          <p:nvPr/>
        </p:nvGraphicFramePr>
        <p:xfrm>
          <a:off x="7315200" y="4624888"/>
          <a:ext cx="2839748" cy="1545266"/>
        </p:xfrm>
        <a:graphic>
          <a:graphicData uri="http://schemas.openxmlformats.org/presentationml/2006/ole">
            <mc:AlternateContent xmlns:mc="http://schemas.openxmlformats.org/markup-compatibility/2006">
              <mc:Choice xmlns:v="urn:schemas-microsoft-com:vml" Requires="v">
                <p:oleObj r:id="rId8" imgW="41349" imgH="30021" progId="">
                  <p:embed/>
                </p:oleObj>
              </mc:Choice>
              <mc:Fallback>
                <p:oleObj r:id="rId8" imgW="41349" imgH="30021" progId="">
                  <p:embed/>
                  <p:pic>
                    <p:nvPicPr>
                      <p:cNvPr id="57"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15200" y="4624888"/>
                        <a:ext cx="2839748" cy="15452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19049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Types of Histogram</a:t>
            </a:r>
          </a:p>
        </p:txBody>
      </p:sp>
      <p:sp>
        <p:nvSpPr>
          <p:cNvPr id="52" name="Rectangle 6"/>
          <p:cNvSpPr>
            <a:spLocks noChangeArrowheads="1"/>
          </p:cNvSpPr>
          <p:nvPr/>
        </p:nvSpPr>
        <p:spPr bwMode="auto">
          <a:xfrm>
            <a:off x="1828800" y="1070055"/>
            <a:ext cx="4343400" cy="1754326"/>
          </a:xfrm>
          <a:prstGeom prst="rect">
            <a:avLst/>
          </a:prstGeom>
          <a:noFill/>
          <a:ln w="9525">
            <a:noFill/>
            <a:miter lim="800000"/>
            <a:headEnd/>
            <a:tailEnd/>
          </a:ln>
          <a:effectLst/>
        </p:spPr>
        <p:txBody>
          <a:bodyPr wrap="square" anchor="ctr">
            <a:spAutoFit/>
          </a:bodyPr>
          <a:lstStyle/>
          <a:p>
            <a:pPr fontAlgn="base">
              <a:spcBef>
                <a:spcPct val="0"/>
              </a:spcBef>
              <a:spcAft>
                <a:spcPct val="0"/>
              </a:spcAft>
              <a:buClr>
                <a:schemeClr val="tx1"/>
              </a:buCl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Bimodal </a:t>
            </a:r>
          </a:p>
          <a:p>
            <a:pP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dirty="0">
                <a:solidFill>
                  <a:schemeClr val="tx1">
                    <a:lumMod val="95000"/>
                    <a:lumOff val="5000"/>
                  </a:schemeClr>
                </a:solidFill>
                <a:latin typeface="Century Gothic" panose="020B0502020202020204" pitchFamily="34" charset="0"/>
              </a:rPr>
              <a:t>Two combined populations-- two shifts, operators, inspectors, suppliers, machine settings, gages, tools, machines, measurement locations, etc</a:t>
            </a:r>
            <a:r>
              <a:rPr lang="en-GB" dirty="0">
                <a:latin typeface="Arial" pitchFamily="34" charset="0"/>
              </a:rPr>
              <a:t>.</a:t>
            </a:r>
          </a:p>
        </p:txBody>
      </p:sp>
      <p:sp>
        <p:nvSpPr>
          <p:cNvPr id="4" name="Rectangle 3"/>
          <p:cNvSpPr/>
          <p:nvPr/>
        </p:nvSpPr>
        <p:spPr>
          <a:xfrm>
            <a:off x="1862958" y="3051733"/>
            <a:ext cx="4572000" cy="3416320"/>
          </a:xfrm>
          <a:prstGeom prst="rect">
            <a:avLst/>
          </a:prstGeom>
        </p:spPr>
        <p:txBody>
          <a:bodyPr>
            <a:spAutoFit/>
          </a:bodyPr>
          <a:lstStyle/>
          <a:p>
            <a:pPr fontAlgn="base">
              <a:spcBef>
                <a:spcPct val="0"/>
              </a:spcBef>
              <a:spcAft>
                <a:spcPct val="0"/>
              </a:spcAft>
              <a:buClr>
                <a:schemeClr val="tx1"/>
              </a:buCl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Truncated</a:t>
            </a:r>
            <a:endParaRPr lang="en-US"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endParaRPr>
          </a:p>
          <a:p>
            <a:pP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dirty="0">
                <a:solidFill>
                  <a:schemeClr val="tx1">
                    <a:lumMod val="95000"/>
                    <a:lumOff val="5000"/>
                  </a:schemeClr>
                </a:solidFill>
                <a:latin typeface="Century Gothic" panose="020B0502020202020204" pitchFamily="34" charset="0"/>
              </a:rPr>
              <a:t>This can happen when a process is not capable of meeting the specifications, parts are sorted from both ends, or too few classes are chosen</a:t>
            </a:r>
            <a:r>
              <a:rPr lang="en-GB" dirty="0">
                <a:latin typeface="Arial" pitchFamily="34" charset="0"/>
              </a:rPr>
              <a:t>.</a:t>
            </a:r>
          </a:p>
          <a:p>
            <a:pPr>
              <a:tabLst>
                <a:tab pos="457200" algn="l"/>
                <a:tab pos="914400" algn="l"/>
                <a:tab pos="1371600" algn="l"/>
                <a:tab pos="1828800" algn="l"/>
                <a:tab pos="2286000" algn="l"/>
                <a:tab pos="2743200" algn="l"/>
                <a:tab pos="3200400" algn="l"/>
                <a:tab pos="3657600" algn="l"/>
                <a:tab pos="4114800" algn="l"/>
                <a:tab pos="4572000" algn="l"/>
                <a:tab pos="5029200" algn="l"/>
              </a:tabLst>
            </a:pPr>
            <a:endParaRPr lang="en-GB" dirty="0">
              <a:solidFill>
                <a:schemeClr val="tx1">
                  <a:lumMod val="95000"/>
                  <a:lumOff val="5000"/>
                </a:schemeClr>
              </a:solidFill>
              <a:latin typeface="Century Gothic" panose="020B0502020202020204" pitchFamily="34" charset="0"/>
            </a:endParaRPr>
          </a:p>
          <a:p>
            <a:pP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dirty="0">
                <a:solidFill>
                  <a:schemeClr val="tx1">
                    <a:lumMod val="95000"/>
                    <a:lumOff val="5000"/>
                  </a:schemeClr>
                </a:solidFill>
                <a:latin typeface="Century Gothic" panose="020B0502020202020204" pitchFamily="34" charset="0"/>
              </a:rPr>
              <a:t> </a:t>
            </a:r>
          </a:p>
          <a:p>
            <a:pPr fontAlgn="base">
              <a:spcBef>
                <a:spcPct val="0"/>
              </a:spcBef>
              <a:spcAft>
                <a:spcPct val="0"/>
              </a:spcAft>
              <a:buClr>
                <a:schemeClr val="tx1"/>
              </a:buClr>
              <a:tabLst>
                <a:tab pos="457200" algn="l"/>
                <a:tab pos="914400" algn="l"/>
                <a:tab pos="1371600" algn="l"/>
                <a:tab pos="1828800" algn="l"/>
                <a:tab pos="2286000" algn="l"/>
                <a:tab pos="2743200" algn="l"/>
                <a:tab pos="3200400" algn="l"/>
                <a:tab pos="3657600" algn="l"/>
                <a:tab pos="4114800" algn="l"/>
                <a:tab pos="4572000" algn="l"/>
                <a:tab pos="5029200" algn="l"/>
              </a:tabLst>
            </a:pPr>
            <a:r>
              <a:rPr lang="en-GB"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Missing Centre</a:t>
            </a:r>
          </a:p>
          <a:p>
            <a:pPr algn="just">
              <a:tabLst>
                <a:tab pos="457200" algn="l"/>
                <a:tab pos="914400" algn="l"/>
                <a:tab pos="1371600" algn="l"/>
                <a:tab pos="1828800" algn="l"/>
                <a:tab pos="2286000" algn="l"/>
                <a:tab pos="2743200" algn="l"/>
                <a:tab pos="3200400" algn="l"/>
                <a:tab pos="3657600" algn="l"/>
                <a:tab pos="4114800" algn="l"/>
                <a:tab pos="4572000" algn="l"/>
                <a:tab pos="5029200" algn="l"/>
              </a:tabLst>
            </a:pPr>
            <a:r>
              <a:rPr lang="en-GB" dirty="0">
                <a:solidFill>
                  <a:schemeClr val="tx1">
                    <a:lumMod val="95000"/>
                    <a:lumOff val="5000"/>
                  </a:schemeClr>
                </a:solidFill>
                <a:latin typeface="Century Gothic" panose="020B0502020202020204" pitchFamily="34" charset="0"/>
              </a:rPr>
              <a:t>Centre of the distribution has been sorted from the rest. Portion may have been delivered to a customer with tighter specifications. </a:t>
            </a:r>
          </a:p>
        </p:txBody>
      </p:sp>
      <p:graphicFrame>
        <p:nvGraphicFramePr>
          <p:cNvPr id="53" name="Object 4"/>
          <p:cNvGraphicFramePr>
            <a:graphicFrameLocks noChangeAspect="1"/>
          </p:cNvGraphicFramePr>
          <p:nvPr/>
        </p:nvGraphicFramePr>
        <p:xfrm>
          <a:off x="7325710" y="805081"/>
          <a:ext cx="3200400" cy="2019300"/>
        </p:xfrm>
        <a:graphic>
          <a:graphicData uri="http://schemas.openxmlformats.org/presentationml/2006/ole">
            <mc:AlternateContent xmlns:mc="http://schemas.openxmlformats.org/markup-compatibility/2006">
              <mc:Choice xmlns:v="urn:schemas-microsoft-com:vml" Requires="v">
                <p:oleObj r:id="rId4" imgW="92847" imgH="42929" progId="">
                  <p:embed/>
                </p:oleObj>
              </mc:Choice>
              <mc:Fallback>
                <p:oleObj r:id="rId4" imgW="92847" imgH="42929" progId="">
                  <p:embed/>
                  <p:pic>
                    <p:nvPicPr>
                      <p:cNvPr id="5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5710" y="805081"/>
                        <a:ext cx="3200400" cy="201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6"/>
          <p:cNvGraphicFramePr>
            <a:graphicFrameLocks noChangeAspect="1"/>
          </p:cNvGraphicFramePr>
          <p:nvPr/>
        </p:nvGraphicFramePr>
        <p:xfrm>
          <a:off x="8145517" y="2824382"/>
          <a:ext cx="1981200" cy="1838325"/>
        </p:xfrm>
        <a:graphic>
          <a:graphicData uri="http://schemas.openxmlformats.org/presentationml/2006/ole">
            <mc:AlternateContent xmlns:mc="http://schemas.openxmlformats.org/markup-compatibility/2006">
              <mc:Choice xmlns:v="urn:schemas-microsoft-com:vml" Requires="v">
                <p:oleObj r:id="rId6" imgW="33293" imgH="27396" progId="">
                  <p:embed/>
                </p:oleObj>
              </mc:Choice>
              <mc:Fallback>
                <p:oleObj r:id="rId6" imgW="33293" imgH="27396" progId="">
                  <p:embed/>
                  <p:pic>
                    <p:nvPicPr>
                      <p:cNvPr id="55"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5517" y="2824382"/>
                        <a:ext cx="1981200" cy="183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Object 4"/>
          <p:cNvGraphicFramePr>
            <a:graphicFrameLocks noChangeAspect="1"/>
          </p:cNvGraphicFramePr>
          <p:nvPr/>
        </p:nvGraphicFramePr>
        <p:xfrm>
          <a:off x="7662296" y="4702672"/>
          <a:ext cx="2863814" cy="1724818"/>
        </p:xfrm>
        <a:graphic>
          <a:graphicData uri="http://schemas.openxmlformats.org/presentationml/2006/ole">
            <mc:AlternateContent xmlns:mc="http://schemas.openxmlformats.org/markup-compatibility/2006">
              <mc:Choice xmlns:v="urn:schemas-microsoft-com:vml" Requires="v">
                <p:oleObj r:id="rId8" imgW="56573" imgH="22471" progId="">
                  <p:embed/>
                </p:oleObj>
              </mc:Choice>
              <mc:Fallback>
                <p:oleObj r:id="rId8" imgW="56573" imgH="22471" progId="">
                  <p:embed/>
                  <p:pic>
                    <p:nvPicPr>
                      <p:cNvPr id="58"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62296" y="4702672"/>
                        <a:ext cx="2863814" cy="1724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80467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Histogram in Process Behavior</a:t>
            </a:r>
          </a:p>
        </p:txBody>
      </p:sp>
      <p:sp>
        <p:nvSpPr>
          <p:cNvPr id="52" name="Rectangle 6"/>
          <p:cNvSpPr>
            <a:spLocks noChangeArrowheads="1"/>
          </p:cNvSpPr>
          <p:nvPr/>
        </p:nvSpPr>
        <p:spPr bwMode="auto">
          <a:xfrm>
            <a:off x="1828800" y="1596353"/>
            <a:ext cx="7467600" cy="701731"/>
          </a:xfrm>
          <a:prstGeom prst="rect">
            <a:avLst/>
          </a:prstGeom>
          <a:noFill/>
          <a:ln w="9525">
            <a:noFill/>
            <a:miter lim="800000"/>
            <a:headEnd/>
            <a:tailEnd/>
          </a:ln>
          <a:effectLst/>
        </p:spPr>
        <p:txBody>
          <a:bodyPr wrap="square" anchor="ctr">
            <a:spAutoFit/>
          </a:bodyPr>
          <a:lstStyle/>
          <a:p>
            <a:pPr marL="461963" indent="-461963">
              <a:lnSpc>
                <a:spcPct val="85000"/>
              </a:lnSpc>
              <a:spcAft>
                <a:spcPct val="50000"/>
              </a:spcAft>
              <a:buClr>
                <a:schemeClr val="tx1">
                  <a:lumMod val="95000"/>
                  <a:lumOff val="5000"/>
                </a:schemeClr>
              </a:buClr>
              <a:buSzPct val="100000"/>
              <a:buFont typeface="Wingdings" panose="05000000000000000000" pitchFamily="2" charset="2"/>
              <a:buChar char="q"/>
            </a:pPr>
            <a:r>
              <a:rPr lang="en-US" dirty="0">
                <a:solidFill>
                  <a:schemeClr val="tx1">
                    <a:lumMod val="95000"/>
                    <a:lumOff val="5000"/>
                  </a:schemeClr>
                </a:solidFill>
                <a:latin typeface="Century Gothic" panose="020B0502020202020204" pitchFamily="34" charset="0"/>
              </a:rPr>
              <a:t>It tells whether process is under control?</a:t>
            </a:r>
          </a:p>
          <a:p>
            <a:pPr marL="461963" indent="-461963">
              <a:lnSpc>
                <a:spcPct val="85000"/>
              </a:lnSpc>
              <a:spcAft>
                <a:spcPct val="50000"/>
              </a:spcAft>
              <a:buClr>
                <a:schemeClr val="tx1">
                  <a:lumMod val="95000"/>
                  <a:lumOff val="5000"/>
                </a:schemeClr>
              </a:buClr>
              <a:buSzPct val="100000"/>
              <a:buFont typeface="Wingdings" panose="05000000000000000000" pitchFamily="2" charset="2"/>
              <a:buChar char="q"/>
            </a:pPr>
            <a:r>
              <a:rPr lang="en-US" dirty="0">
                <a:solidFill>
                  <a:schemeClr val="tx1">
                    <a:lumMod val="95000"/>
                    <a:lumOff val="5000"/>
                  </a:schemeClr>
                </a:solidFill>
                <a:latin typeface="Century Gothic" panose="020B0502020202020204" pitchFamily="34" charset="0"/>
              </a:rPr>
              <a:t>Is it producing defect free output?</a:t>
            </a:r>
          </a:p>
        </p:txBody>
      </p:sp>
      <p:graphicFrame>
        <p:nvGraphicFramePr>
          <p:cNvPr id="54" name="Object 14"/>
          <p:cNvGraphicFramePr>
            <a:graphicFrameLocks noChangeAspect="1"/>
          </p:cNvGraphicFramePr>
          <p:nvPr/>
        </p:nvGraphicFramePr>
        <p:xfrm>
          <a:off x="7086600" y="3026668"/>
          <a:ext cx="2971800" cy="1866900"/>
        </p:xfrm>
        <a:graphic>
          <a:graphicData uri="http://schemas.openxmlformats.org/presentationml/2006/ole">
            <mc:AlternateContent xmlns:mc="http://schemas.openxmlformats.org/markup-compatibility/2006">
              <mc:Choice xmlns:v="urn:schemas-microsoft-com:vml" Requires="v">
                <p:oleObj r:id="rId4" imgW="92847" imgH="42929" progId="">
                  <p:embed/>
                </p:oleObj>
              </mc:Choice>
              <mc:Fallback>
                <p:oleObj r:id="rId4" imgW="92847" imgH="42929" progId="">
                  <p:embed/>
                  <p:pic>
                    <p:nvPicPr>
                      <p:cNvPr id="54"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026668"/>
                        <a:ext cx="2971800" cy="186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 name="Line 15"/>
          <p:cNvSpPr>
            <a:spLocks noChangeShapeType="1"/>
          </p:cNvSpPr>
          <p:nvPr/>
        </p:nvSpPr>
        <p:spPr bwMode="auto">
          <a:xfrm flipH="1" flipV="1">
            <a:off x="7924800" y="3026668"/>
            <a:ext cx="0" cy="1828800"/>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57" name="Line 16"/>
          <p:cNvSpPr>
            <a:spLocks noChangeShapeType="1"/>
          </p:cNvSpPr>
          <p:nvPr/>
        </p:nvSpPr>
        <p:spPr bwMode="auto">
          <a:xfrm flipH="1" flipV="1">
            <a:off x="9525000" y="2950468"/>
            <a:ext cx="0" cy="1905000"/>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59" name="Rectangle 17"/>
          <p:cNvSpPr>
            <a:spLocks noChangeArrowheads="1"/>
          </p:cNvSpPr>
          <p:nvPr/>
        </p:nvSpPr>
        <p:spPr bwMode="auto">
          <a:xfrm>
            <a:off x="9220200" y="2493269"/>
            <a:ext cx="641350" cy="366713"/>
          </a:xfrm>
          <a:prstGeom prst="rect">
            <a:avLst/>
          </a:prstGeom>
          <a:noFill/>
          <a:ln w="9525">
            <a:noFill/>
            <a:miter lim="800000"/>
            <a:headEnd/>
            <a:tailEnd/>
          </a:ln>
          <a:effectLst/>
        </p:spPr>
        <p:txBody>
          <a:bodyPr wrap="none">
            <a:spAutoFit/>
          </a:bodyPr>
          <a:lstStyle/>
          <a:p>
            <a:pPr eaLnBrk="1" hangingPunct="1"/>
            <a:r>
              <a:rPr lang="en-US" dirty="0">
                <a:solidFill>
                  <a:schemeClr val="accent6">
                    <a:lumMod val="75000"/>
                  </a:schemeClr>
                </a:solidFill>
                <a:effectLst>
                  <a:outerShdw blurRad="38100" dist="38100" dir="2700000" algn="tl">
                    <a:srgbClr val="000000">
                      <a:alpha val="43137"/>
                    </a:srgbClr>
                  </a:outerShdw>
                </a:effectLst>
                <a:latin typeface="Arial" pitchFamily="34" charset="0"/>
              </a:rPr>
              <a:t>USL</a:t>
            </a:r>
          </a:p>
        </p:txBody>
      </p:sp>
      <p:sp>
        <p:nvSpPr>
          <p:cNvPr id="60" name="Rectangle 18"/>
          <p:cNvSpPr>
            <a:spLocks noChangeArrowheads="1"/>
          </p:cNvSpPr>
          <p:nvPr/>
        </p:nvSpPr>
        <p:spPr bwMode="auto">
          <a:xfrm>
            <a:off x="7543800" y="2493269"/>
            <a:ext cx="615950" cy="366713"/>
          </a:xfrm>
          <a:prstGeom prst="rect">
            <a:avLst/>
          </a:prstGeom>
          <a:noFill/>
          <a:ln w="9525">
            <a:noFill/>
            <a:miter lim="800000"/>
            <a:headEnd/>
            <a:tailEnd/>
          </a:ln>
          <a:effectLst/>
        </p:spPr>
        <p:txBody>
          <a:bodyPr>
            <a:spAutoFit/>
          </a:bodyPr>
          <a:lstStyle/>
          <a:p>
            <a:pPr eaLnBrk="1" hangingPunct="1"/>
            <a:r>
              <a:rPr lang="en-US" dirty="0">
                <a:solidFill>
                  <a:schemeClr val="accent6">
                    <a:lumMod val="75000"/>
                  </a:schemeClr>
                </a:solidFill>
                <a:effectLst>
                  <a:outerShdw blurRad="38100" dist="38100" dir="2700000" algn="tl">
                    <a:srgbClr val="000000">
                      <a:alpha val="43137"/>
                    </a:srgbClr>
                  </a:outerShdw>
                </a:effectLst>
                <a:latin typeface="Arial" pitchFamily="34" charset="0"/>
              </a:rPr>
              <a:t>LSL</a:t>
            </a:r>
          </a:p>
        </p:txBody>
      </p:sp>
      <p:sp>
        <p:nvSpPr>
          <p:cNvPr id="61" name="Rectangle 19"/>
          <p:cNvSpPr>
            <a:spLocks noChangeArrowheads="1"/>
          </p:cNvSpPr>
          <p:nvPr/>
        </p:nvSpPr>
        <p:spPr bwMode="auto">
          <a:xfrm>
            <a:off x="7620001" y="5084068"/>
            <a:ext cx="2018501" cy="369332"/>
          </a:xfrm>
          <a:prstGeom prst="rect">
            <a:avLst/>
          </a:prstGeom>
          <a:noFill/>
          <a:ln w="9525">
            <a:noFill/>
            <a:miter lim="800000"/>
            <a:headEnd/>
            <a:tailEnd/>
          </a:ln>
          <a:effectLst/>
        </p:spPr>
        <p:txBody>
          <a:bodyPr wrap="none">
            <a:spAutoFit/>
          </a:bodyPr>
          <a:lstStyle/>
          <a:p>
            <a:pPr eaLnBrk="1" hangingPunct="1"/>
            <a:r>
              <a:rPr lang="en-US">
                <a:latin typeface="Arial" pitchFamily="34" charset="0"/>
              </a:rPr>
              <a:t>process variability</a:t>
            </a:r>
          </a:p>
        </p:txBody>
      </p:sp>
      <p:sp>
        <p:nvSpPr>
          <p:cNvPr id="62" name="Line 20"/>
          <p:cNvSpPr>
            <a:spLocks noChangeShapeType="1"/>
          </p:cNvSpPr>
          <p:nvPr/>
        </p:nvSpPr>
        <p:spPr bwMode="auto">
          <a:xfrm flipH="1">
            <a:off x="7086600" y="5312668"/>
            <a:ext cx="609600" cy="0"/>
          </a:xfrm>
          <a:prstGeom prst="line">
            <a:avLst/>
          </a:prstGeom>
          <a:ln>
            <a:headEnd/>
            <a:tailEnd type="triangle" w="med" len="me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63" name="Line 21"/>
          <p:cNvSpPr>
            <a:spLocks noChangeShapeType="1"/>
          </p:cNvSpPr>
          <p:nvPr/>
        </p:nvSpPr>
        <p:spPr bwMode="auto">
          <a:xfrm>
            <a:off x="9753600" y="5312668"/>
            <a:ext cx="533400" cy="0"/>
          </a:xfrm>
          <a:prstGeom prst="line">
            <a:avLst/>
          </a:prstGeom>
          <a:ln>
            <a:headEnd/>
            <a:tailEnd type="triangle" w="med" len="med"/>
          </a:ln>
        </p:spPr>
        <p:style>
          <a:lnRef idx="3">
            <a:schemeClr val="accent6"/>
          </a:lnRef>
          <a:fillRef idx="0">
            <a:schemeClr val="accent6"/>
          </a:fillRef>
          <a:effectRef idx="2">
            <a:schemeClr val="accent6"/>
          </a:effectRef>
          <a:fontRef idx="minor">
            <a:schemeClr val="tx1"/>
          </a:fontRef>
        </p:style>
        <p:txBody>
          <a:bodyPr/>
          <a:lstStyle/>
          <a:p>
            <a:endParaRPr lang="en-US"/>
          </a:p>
        </p:txBody>
      </p:sp>
      <p:graphicFrame>
        <p:nvGraphicFramePr>
          <p:cNvPr id="64" name="Object 7"/>
          <p:cNvGraphicFramePr>
            <a:graphicFrameLocks noChangeAspect="1"/>
          </p:cNvGraphicFramePr>
          <p:nvPr/>
        </p:nvGraphicFramePr>
        <p:xfrm>
          <a:off x="2520950" y="2953245"/>
          <a:ext cx="2895600" cy="2199250"/>
        </p:xfrm>
        <a:graphic>
          <a:graphicData uri="http://schemas.openxmlformats.org/presentationml/2006/ole">
            <mc:AlternateContent xmlns:mc="http://schemas.openxmlformats.org/markup-compatibility/2006">
              <mc:Choice xmlns:v="urn:schemas-microsoft-com:vml" Requires="v">
                <p:oleObj r:id="rId6" imgW="153353" imgH="72512" progId="">
                  <p:embed/>
                </p:oleObj>
              </mc:Choice>
              <mc:Fallback>
                <p:oleObj r:id="rId6" imgW="153353" imgH="72512" progId="">
                  <p:embed/>
                  <p:pic>
                    <p:nvPicPr>
                      <p:cNvPr id="64"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0950" y="2953245"/>
                        <a:ext cx="2895600" cy="219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 name="Line 15"/>
          <p:cNvSpPr>
            <a:spLocks noChangeShapeType="1"/>
          </p:cNvSpPr>
          <p:nvPr/>
        </p:nvSpPr>
        <p:spPr bwMode="auto">
          <a:xfrm flipH="1" flipV="1">
            <a:off x="2635250" y="2971800"/>
            <a:ext cx="0" cy="1828800"/>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66" name="Rectangle 18"/>
          <p:cNvSpPr>
            <a:spLocks noChangeArrowheads="1"/>
          </p:cNvSpPr>
          <p:nvPr/>
        </p:nvSpPr>
        <p:spPr bwMode="auto">
          <a:xfrm>
            <a:off x="2254250" y="2438401"/>
            <a:ext cx="615950" cy="366713"/>
          </a:xfrm>
          <a:prstGeom prst="rect">
            <a:avLst/>
          </a:prstGeom>
          <a:noFill/>
          <a:ln w="9525">
            <a:noFill/>
            <a:miter lim="800000"/>
            <a:headEnd/>
            <a:tailEnd/>
          </a:ln>
          <a:effectLst/>
        </p:spPr>
        <p:txBody>
          <a:bodyPr>
            <a:spAutoFit/>
          </a:bodyPr>
          <a:lstStyle/>
          <a:p>
            <a:pPr eaLnBrk="1" hangingPunct="1"/>
            <a:r>
              <a:rPr lang="en-US" dirty="0">
                <a:solidFill>
                  <a:schemeClr val="accent6">
                    <a:lumMod val="75000"/>
                  </a:schemeClr>
                </a:solidFill>
                <a:effectLst>
                  <a:outerShdw blurRad="38100" dist="38100" dir="2700000" algn="tl">
                    <a:srgbClr val="000000">
                      <a:alpha val="43137"/>
                    </a:srgbClr>
                  </a:outerShdw>
                </a:effectLst>
                <a:latin typeface="Arial" pitchFamily="34" charset="0"/>
              </a:rPr>
              <a:t>LSL</a:t>
            </a:r>
          </a:p>
        </p:txBody>
      </p:sp>
      <p:sp>
        <p:nvSpPr>
          <p:cNvPr id="67" name="Line 16"/>
          <p:cNvSpPr>
            <a:spLocks noChangeShapeType="1"/>
          </p:cNvSpPr>
          <p:nvPr/>
        </p:nvSpPr>
        <p:spPr bwMode="auto">
          <a:xfrm flipH="1" flipV="1">
            <a:off x="5302250" y="2961183"/>
            <a:ext cx="0" cy="1905000"/>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68" name="Rectangle 17"/>
          <p:cNvSpPr>
            <a:spLocks noChangeArrowheads="1"/>
          </p:cNvSpPr>
          <p:nvPr/>
        </p:nvSpPr>
        <p:spPr bwMode="auto">
          <a:xfrm>
            <a:off x="4997450" y="2503984"/>
            <a:ext cx="641350" cy="366713"/>
          </a:xfrm>
          <a:prstGeom prst="rect">
            <a:avLst/>
          </a:prstGeom>
          <a:noFill/>
          <a:ln w="9525">
            <a:noFill/>
            <a:miter lim="800000"/>
            <a:headEnd/>
            <a:tailEnd/>
          </a:ln>
          <a:effectLst/>
        </p:spPr>
        <p:txBody>
          <a:bodyPr wrap="none">
            <a:spAutoFit/>
          </a:bodyPr>
          <a:lstStyle/>
          <a:p>
            <a:pPr eaLnBrk="1" hangingPunct="1"/>
            <a:r>
              <a:rPr lang="en-US" dirty="0">
                <a:solidFill>
                  <a:schemeClr val="accent6">
                    <a:lumMod val="75000"/>
                  </a:schemeClr>
                </a:solidFill>
                <a:effectLst>
                  <a:outerShdw blurRad="38100" dist="38100" dir="2700000" algn="tl">
                    <a:srgbClr val="000000">
                      <a:alpha val="43137"/>
                    </a:srgbClr>
                  </a:outerShdw>
                </a:effectLst>
                <a:latin typeface="Arial" pitchFamily="34" charset="0"/>
              </a:rPr>
              <a:t>USL</a:t>
            </a:r>
          </a:p>
        </p:txBody>
      </p:sp>
    </p:spTree>
    <p:extLst>
      <p:ext uri="{BB962C8B-B14F-4D97-AF65-F5344CB8AC3E}">
        <p14:creationId xmlns:p14="http://schemas.microsoft.com/office/powerpoint/2010/main" val="4253597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Histogram in Process Behavior</a:t>
            </a:r>
          </a:p>
        </p:txBody>
      </p:sp>
      <p:sp>
        <p:nvSpPr>
          <p:cNvPr id="52" name="Rectangle 6"/>
          <p:cNvSpPr>
            <a:spLocks noChangeArrowheads="1"/>
          </p:cNvSpPr>
          <p:nvPr/>
        </p:nvSpPr>
        <p:spPr bwMode="auto">
          <a:xfrm>
            <a:off x="1828800" y="1494401"/>
            <a:ext cx="7467600" cy="2031325"/>
          </a:xfrm>
          <a:prstGeom prst="rect">
            <a:avLst/>
          </a:prstGeom>
          <a:noFill/>
          <a:ln w="9525">
            <a:noFill/>
            <a:miter lim="800000"/>
            <a:headEnd/>
            <a:tailEnd/>
          </a:ln>
          <a:effectLst/>
        </p:spPr>
        <p:txBody>
          <a:bodyPr wrap="square" anchor="ctr">
            <a:spAutoFit/>
          </a:bodyPr>
          <a:lstStyle/>
          <a:p>
            <a:pPr marL="285750" indent="-285750">
              <a:buClr>
                <a:schemeClr val="tx1">
                  <a:lumMod val="95000"/>
                  <a:lumOff val="5000"/>
                </a:schemeClr>
              </a:buClr>
              <a:buFont typeface="Wingdings" panose="05000000000000000000" pitchFamily="2" charset="2"/>
              <a:buChar char="q"/>
            </a:pPr>
            <a:r>
              <a:rPr kumimoji="1" lang="en-US" dirty="0">
                <a:latin typeface="Century Gothic" panose="020B0502020202020204" pitchFamily="34" charset="0"/>
              </a:rPr>
              <a:t>Shape close to normal curve </a:t>
            </a:r>
          </a:p>
          <a:p>
            <a:pPr marL="285750" indent="-285750">
              <a:buClr>
                <a:schemeClr val="tx1">
                  <a:lumMod val="95000"/>
                  <a:lumOff val="5000"/>
                </a:schemeClr>
              </a:buClr>
              <a:buFont typeface="Wingdings" panose="05000000000000000000" pitchFamily="2" charset="2"/>
              <a:buChar char="q"/>
            </a:pPr>
            <a:endParaRPr kumimoji="1" lang="en-US" dirty="0">
              <a:latin typeface="Century Gothic" panose="020B0502020202020204" pitchFamily="34" charset="0"/>
            </a:endParaRPr>
          </a:p>
          <a:p>
            <a:pPr marL="285750" indent="-285750">
              <a:buClr>
                <a:schemeClr val="tx1">
                  <a:lumMod val="95000"/>
                  <a:lumOff val="5000"/>
                </a:schemeClr>
              </a:buClr>
              <a:buFont typeface="Wingdings" panose="05000000000000000000" pitchFamily="2" charset="2"/>
              <a:buChar char="q"/>
            </a:pPr>
            <a:r>
              <a:rPr kumimoji="1" lang="en-US" dirty="0">
                <a:latin typeface="Century Gothic" panose="020B0502020202020204" pitchFamily="34" charset="0"/>
              </a:rPr>
              <a:t>Mean at target value</a:t>
            </a:r>
          </a:p>
          <a:p>
            <a:pPr marL="285750" indent="-285750">
              <a:buClr>
                <a:schemeClr val="tx1">
                  <a:lumMod val="95000"/>
                  <a:lumOff val="5000"/>
                </a:schemeClr>
              </a:buClr>
              <a:buFont typeface="Wingdings" panose="05000000000000000000" pitchFamily="2" charset="2"/>
              <a:buChar char="q"/>
            </a:pPr>
            <a:endParaRPr kumimoji="1" lang="en-US" dirty="0">
              <a:latin typeface="Century Gothic" panose="020B0502020202020204" pitchFamily="34" charset="0"/>
            </a:endParaRPr>
          </a:p>
          <a:p>
            <a:pPr marL="285750" indent="-285750">
              <a:buClr>
                <a:schemeClr val="tx1">
                  <a:lumMod val="95000"/>
                  <a:lumOff val="5000"/>
                </a:schemeClr>
              </a:buClr>
              <a:buFont typeface="Wingdings" panose="05000000000000000000" pitchFamily="2" charset="2"/>
              <a:buChar char="q"/>
            </a:pPr>
            <a:r>
              <a:rPr kumimoji="1" lang="en-US" dirty="0">
                <a:latin typeface="Century Gothic" panose="020B0502020202020204" pitchFamily="34" charset="0"/>
              </a:rPr>
              <a:t>Spread within Specification limits</a:t>
            </a:r>
          </a:p>
          <a:p>
            <a:pPr>
              <a:buClr>
                <a:schemeClr val="tx1">
                  <a:lumMod val="95000"/>
                  <a:lumOff val="5000"/>
                </a:schemeClr>
              </a:buClr>
            </a:pPr>
            <a:endParaRPr kumimoji="1" lang="en-US" dirty="0">
              <a:latin typeface="Century Gothic" panose="020B0502020202020204" pitchFamily="34" charset="0"/>
            </a:endParaRPr>
          </a:p>
          <a:p>
            <a:pPr marL="285750" indent="-285750">
              <a:buClr>
                <a:schemeClr val="tx1">
                  <a:lumMod val="95000"/>
                  <a:lumOff val="5000"/>
                </a:schemeClr>
              </a:buClr>
              <a:buFont typeface="Wingdings" panose="05000000000000000000" pitchFamily="2" charset="2"/>
              <a:buChar char="q"/>
            </a:pPr>
            <a:r>
              <a:rPr kumimoji="1" lang="en-US" dirty="0" err="1">
                <a:latin typeface="Century Gothic" panose="020B0502020202020204" pitchFamily="34" charset="0"/>
              </a:rPr>
              <a:t>Cp</a:t>
            </a:r>
            <a:r>
              <a:rPr kumimoji="1" lang="en-US" dirty="0">
                <a:latin typeface="Century Gothic" panose="020B0502020202020204" pitchFamily="34" charset="0"/>
              </a:rPr>
              <a:t> is greater than 1.67 and </a:t>
            </a:r>
            <a:r>
              <a:rPr kumimoji="1" lang="en-US" dirty="0" err="1">
                <a:latin typeface="Century Gothic" panose="020B0502020202020204" pitchFamily="34" charset="0"/>
              </a:rPr>
              <a:t>Cpk</a:t>
            </a:r>
            <a:r>
              <a:rPr kumimoji="1" lang="en-US" dirty="0">
                <a:latin typeface="Century Gothic" panose="020B0502020202020204" pitchFamily="34" charset="0"/>
              </a:rPr>
              <a:t> is greater than 1.33</a:t>
            </a:r>
          </a:p>
        </p:txBody>
      </p:sp>
    </p:spTree>
    <p:extLst>
      <p:ext uri="{BB962C8B-B14F-4D97-AF65-F5344CB8AC3E}">
        <p14:creationId xmlns:p14="http://schemas.microsoft.com/office/powerpoint/2010/main" val="1959795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Scatter Diagram</a:t>
            </a:r>
          </a:p>
        </p:txBody>
      </p:sp>
      <p:sp>
        <p:nvSpPr>
          <p:cNvPr id="52" name="Rectangle 6"/>
          <p:cNvSpPr>
            <a:spLocks noChangeArrowheads="1"/>
          </p:cNvSpPr>
          <p:nvPr/>
        </p:nvSpPr>
        <p:spPr bwMode="auto">
          <a:xfrm>
            <a:off x="1828800" y="1632897"/>
            <a:ext cx="8382000" cy="1754326"/>
          </a:xfrm>
          <a:prstGeom prst="rect">
            <a:avLst/>
          </a:prstGeom>
          <a:noFill/>
          <a:ln w="9525">
            <a:noFill/>
            <a:miter lim="800000"/>
            <a:headEnd/>
            <a:tailEnd/>
          </a:ln>
          <a:effectLst/>
        </p:spPr>
        <p:txBody>
          <a:bodyPr wrap="square" anchor="ctr">
            <a:spAutoFit/>
          </a:bodyPr>
          <a:lstStyle/>
          <a:p>
            <a:r>
              <a:rPr lang="en-GB"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cs typeface="Arial" pitchFamily="34" charset="0"/>
              </a:rPr>
              <a:t>What:  </a:t>
            </a:r>
            <a:r>
              <a:rPr lang="en-GB" dirty="0">
                <a:latin typeface="Century Gothic" panose="020B0502020202020204" pitchFamily="34" charset="0"/>
                <a:cs typeface="Arial" pitchFamily="34" charset="0"/>
              </a:rPr>
              <a:t>To study the possible relationship between two variables.</a:t>
            </a:r>
          </a:p>
          <a:p>
            <a:endParaRPr lang="en-US"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cs typeface="Arial" pitchFamily="34" charset="0"/>
            </a:endParaRPr>
          </a:p>
          <a:p>
            <a:pPr marL="741363" indent="-741363"/>
            <a:r>
              <a:rPr lang="en-GB"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cs typeface="Arial" pitchFamily="34" charset="0"/>
              </a:rPr>
              <a:t>Why:   </a:t>
            </a:r>
            <a:r>
              <a:rPr lang="en-GB" dirty="0">
                <a:latin typeface="Century Gothic" panose="020B0502020202020204" pitchFamily="34" charset="0"/>
                <a:cs typeface="Arial" pitchFamily="34" charset="0"/>
              </a:rPr>
              <a:t>Diagram make it clear  whether a relationship exists, and shows the strength of relationship.</a:t>
            </a:r>
            <a:endParaRPr lang="en-US" dirty="0">
              <a:latin typeface="Century Gothic" panose="020B0502020202020204" pitchFamily="34" charset="0"/>
              <a:cs typeface="Arial" pitchFamily="34" charset="0"/>
            </a:endParaRPr>
          </a:p>
          <a:p>
            <a:pPr algn="ctr"/>
            <a:endParaRPr lang="en-GB" dirty="0">
              <a:solidFill>
                <a:schemeClr val="accent6">
                  <a:lumMod val="75000"/>
                </a:schemeClr>
              </a:solidFill>
              <a:latin typeface="Century Gothic" panose="020B0502020202020204" pitchFamily="34" charset="0"/>
              <a:cs typeface="Arial" pitchFamily="34" charset="0"/>
            </a:endParaRPr>
          </a:p>
          <a:p>
            <a:r>
              <a:rPr lang="en-GB"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cs typeface="Arial" pitchFamily="34" charset="0"/>
              </a:rPr>
              <a:t>When: </a:t>
            </a:r>
            <a:r>
              <a:rPr lang="en-GB" dirty="0">
                <a:latin typeface="Century Gothic" panose="020B0502020202020204" pitchFamily="34" charset="0"/>
                <a:cs typeface="Arial" pitchFamily="34" charset="0"/>
              </a:rPr>
              <a:t>To test  a theory that the 2 variables are related</a:t>
            </a:r>
            <a:r>
              <a:rPr lang="en-GB" dirty="0">
                <a:latin typeface="Arial" pitchFamily="34" charset="0"/>
                <a:cs typeface="Arial" pitchFamily="34" charset="0"/>
              </a:rPr>
              <a:t>.</a:t>
            </a:r>
            <a:endParaRPr lang="en-US" dirty="0">
              <a:latin typeface="Arial" pitchFamily="34" charset="0"/>
              <a:cs typeface="Arial" pitchFamily="34" charset="0"/>
            </a:endParaRPr>
          </a:p>
        </p:txBody>
      </p:sp>
    </p:spTree>
    <p:extLst>
      <p:ext uri="{BB962C8B-B14F-4D97-AF65-F5344CB8AC3E}">
        <p14:creationId xmlns:p14="http://schemas.microsoft.com/office/powerpoint/2010/main" val="2266988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Example: Scatter Diagram</a:t>
            </a:r>
          </a:p>
        </p:txBody>
      </p:sp>
      <p:graphicFrame>
        <p:nvGraphicFramePr>
          <p:cNvPr id="5" name="Table 4"/>
          <p:cNvGraphicFramePr>
            <a:graphicFrameLocks noGrp="1"/>
          </p:cNvGraphicFramePr>
          <p:nvPr/>
        </p:nvGraphicFramePr>
        <p:xfrm>
          <a:off x="2044700" y="1219200"/>
          <a:ext cx="2476280" cy="5067300"/>
        </p:xfrm>
        <a:graphic>
          <a:graphicData uri="http://schemas.openxmlformats.org/drawingml/2006/table">
            <a:tbl>
              <a:tblPr/>
              <a:tblGrid>
                <a:gridCol w="1209786">
                  <a:extLst>
                    <a:ext uri="{9D8B030D-6E8A-4147-A177-3AD203B41FA5}">
                      <a16:colId xmlns:a16="http://schemas.microsoft.com/office/drawing/2014/main" val="20000"/>
                    </a:ext>
                  </a:extLst>
                </a:gridCol>
                <a:gridCol w="1266494">
                  <a:extLst>
                    <a:ext uri="{9D8B030D-6E8A-4147-A177-3AD203B41FA5}">
                      <a16:colId xmlns:a16="http://schemas.microsoft.com/office/drawing/2014/main" val="20001"/>
                    </a:ext>
                  </a:extLst>
                </a:gridCol>
              </a:tblGrid>
              <a:tr h="217170">
                <a:tc>
                  <a:txBody>
                    <a:bodyPr/>
                    <a:lstStyle/>
                    <a:p>
                      <a:pPr algn="ctr" fontAlgn="b"/>
                      <a:r>
                        <a:rPr lang="en-US" sz="1600" b="1" i="0" u="none" strike="noStrike" dirty="0">
                          <a:solidFill>
                            <a:srgbClr val="FFFFFF"/>
                          </a:solidFill>
                          <a:effectLst/>
                          <a:latin typeface="Calibri" panose="020F0502020204030204" pitchFamily="34" charset="0"/>
                        </a:rPr>
                        <a:t>Length</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b"/>
                      <a:r>
                        <a:rPr lang="en-US" sz="1600" b="1" i="0" u="none" strike="noStrike" dirty="0">
                          <a:solidFill>
                            <a:srgbClr val="FFFFFF"/>
                          </a:solidFill>
                          <a:effectLst/>
                          <a:latin typeface="Calibri" panose="020F0502020204030204" pitchFamily="34" charset="0"/>
                        </a:rPr>
                        <a:t>Weight</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17170">
                <a:tc>
                  <a:txBody>
                    <a:bodyPr/>
                    <a:lstStyle/>
                    <a:p>
                      <a:pPr algn="ctr" fontAlgn="b"/>
                      <a:r>
                        <a:rPr lang="en-US" sz="1600" b="0" i="0" u="none" strike="noStrike">
                          <a:solidFill>
                            <a:srgbClr val="000000"/>
                          </a:solidFill>
                          <a:effectLst/>
                          <a:latin typeface="Calibri" panose="020F0502020204030204" pitchFamily="34" charset="0"/>
                        </a:rPr>
                        <a:t>5.5</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62</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1"/>
                  </a:ext>
                </a:extLst>
              </a:tr>
              <a:tr h="217170">
                <a:tc>
                  <a:txBody>
                    <a:bodyPr/>
                    <a:lstStyle/>
                    <a:p>
                      <a:pPr algn="ctr" fontAlgn="b"/>
                      <a:r>
                        <a:rPr lang="en-US" sz="16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58</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2"/>
                  </a:ext>
                </a:extLst>
              </a:tr>
              <a:tr h="217170">
                <a:tc>
                  <a:txBody>
                    <a:bodyPr/>
                    <a:lstStyle/>
                    <a:p>
                      <a:pPr algn="ctr" fontAlgn="b"/>
                      <a:r>
                        <a:rPr lang="en-US" sz="1600" b="0" i="0" u="none" strike="noStrike">
                          <a:solidFill>
                            <a:srgbClr val="000000"/>
                          </a:solidFill>
                          <a:effectLst/>
                          <a:latin typeface="Calibri" panose="020F0502020204030204" pitchFamily="34" charset="0"/>
                        </a:rPr>
                        <a:t>5.2</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60</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3"/>
                  </a:ext>
                </a:extLst>
              </a:tr>
              <a:tr h="217170">
                <a:tc>
                  <a:txBody>
                    <a:bodyPr/>
                    <a:lstStyle/>
                    <a:p>
                      <a:pPr algn="ctr" fontAlgn="b"/>
                      <a:r>
                        <a:rPr lang="en-US" sz="1600" b="0" i="0" u="none" strike="noStrike">
                          <a:solidFill>
                            <a:srgbClr val="000000"/>
                          </a:solidFill>
                          <a:effectLst/>
                          <a:latin typeface="Calibri" panose="020F0502020204030204" pitchFamily="34" charset="0"/>
                        </a:rPr>
                        <a:t>5.8</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68</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4"/>
                  </a:ext>
                </a:extLst>
              </a:tr>
              <a:tr h="217170">
                <a:tc>
                  <a:txBody>
                    <a:bodyPr/>
                    <a:lstStyle/>
                    <a:p>
                      <a:pPr algn="ctr" fontAlgn="b"/>
                      <a:r>
                        <a:rPr lang="en-US" sz="1600" b="0" i="0" u="none" strike="noStrike">
                          <a:solidFill>
                            <a:srgbClr val="000000"/>
                          </a:solidFill>
                          <a:effectLst/>
                          <a:latin typeface="Calibri" panose="020F0502020204030204" pitchFamily="34" charset="0"/>
                        </a:rPr>
                        <a:t>5.7</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70</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5"/>
                  </a:ext>
                </a:extLst>
              </a:tr>
              <a:tr h="217170">
                <a:tc>
                  <a:txBody>
                    <a:bodyPr/>
                    <a:lstStyle/>
                    <a:p>
                      <a:pPr algn="ctr" fontAlgn="b"/>
                      <a:r>
                        <a:rPr lang="en-US" sz="1600" b="0" i="0" u="none" strike="noStrike">
                          <a:solidFill>
                            <a:srgbClr val="000000"/>
                          </a:solidFill>
                          <a:effectLst/>
                          <a:latin typeface="Calibri" panose="020F0502020204030204" pitchFamily="34" charset="0"/>
                        </a:rPr>
                        <a:t>5.6</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63</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6"/>
                  </a:ext>
                </a:extLst>
              </a:tr>
              <a:tr h="217170">
                <a:tc>
                  <a:txBody>
                    <a:bodyPr/>
                    <a:lstStyle/>
                    <a:p>
                      <a:pPr algn="ctr" fontAlgn="b"/>
                      <a:r>
                        <a:rPr lang="en-US" sz="1600" b="0" i="0" u="none" strike="noStrike">
                          <a:solidFill>
                            <a:srgbClr val="000000"/>
                          </a:solidFill>
                          <a:effectLst/>
                          <a:latin typeface="Calibri" panose="020F0502020204030204" pitchFamily="34" charset="0"/>
                        </a:rPr>
                        <a:t>5.1</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61</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7"/>
                  </a:ext>
                </a:extLst>
              </a:tr>
              <a:tr h="217170">
                <a:tc>
                  <a:txBody>
                    <a:bodyPr/>
                    <a:lstStyle/>
                    <a:p>
                      <a:pPr algn="ctr" fontAlgn="b"/>
                      <a:r>
                        <a:rPr lang="en-US" sz="1600" b="0" i="0" u="none" strike="noStrike">
                          <a:solidFill>
                            <a:srgbClr val="000000"/>
                          </a:solidFill>
                          <a:effectLst/>
                          <a:latin typeface="Calibri" panose="020F0502020204030204" pitchFamily="34" charset="0"/>
                        </a:rPr>
                        <a:t>5.1</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63</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8"/>
                  </a:ext>
                </a:extLst>
              </a:tr>
              <a:tr h="217170">
                <a:tc>
                  <a:txBody>
                    <a:bodyPr/>
                    <a:lstStyle/>
                    <a:p>
                      <a:pPr algn="ctr" fontAlgn="b"/>
                      <a:r>
                        <a:rPr lang="en-US" sz="1600" b="0" i="0" u="none" strike="noStrike">
                          <a:solidFill>
                            <a:srgbClr val="000000"/>
                          </a:solidFill>
                          <a:effectLst/>
                          <a:latin typeface="Calibri" panose="020F0502020204030204" pitchFamily="34" charset="0"/>
                        </a:rPr>
                        <a:t>5.4</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70</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09"/>
                  </a:ext>
                </a:extLst>
              </a:tr>
              <a:tr h="217170">
                <a:tc>
                  <a:txBody>
                    <a:bodyPr/>
                    <a:lstStyle/>
                    <a:p>
                      <a:pPr algn="ctr" fontAlgn="b"/>
                      <a:r>
                        <a:rPr lang="en-US" sz="16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75</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0"/>
                  </a:ext>
                </a:extLst>
              </a:tr>
              <a:tr h="217170">
                <a:tc>
                  <a:txBody>
                    <a:bodyPr/>
                    <a:lstStyle/>
                    <a:p>
                      <a:pPr algn="ctr" fontAlgn="b"/>
                      <a:r>
                        <a:rPr lang="en-US" sz="1600" b="0" i="0" u="none" strike="noStrike">
                          <a:solidFill>
                            <a:srgbClr val="000000"/>
                          </a:solidFill>
                          <a:effectLst/>
                          <a:latin typeface="Calibri" panose="020F0502020204030204" pitchFamily="34" charset="0"/>
                        </a:rPr>
                        <a:t>5.9</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68</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1"/>
                  </a:ext>
                </a:extLst>
              </a:tr>
              <a:tr h="217170">
                <a:tc>
                  <a:txBody>
                    <a:bodyPr/>
                    <a:lstStyle/>
                    <a:p>
                      <a:pPr algn="ctr" fontAlgn="b"/>
                      <a:r>
                        <a:rPr lang="en-US" sz="1600" b="0" i="0" u="none" strike="noStrike">
                          <a:solidFill>
                            <a:srgbClr val="000000"/>
                          </a:solidFill>
                          <a:effectLst/>
                          <a:latin typeface="Calibri" panose="020F0502020204030204" pitchFamily="34" charset="0"/>
                        </a:rPr>
                        <a:t>6.1</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78</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2"/>
                  </a:ext>
                </a:extLst>
              </a:tr>
              <a:tr h="217170">
                <a:tc>
                  <a:txBody>
                    <a:bodyPr/>
                    <a:lstStyle/>
                    <a:p>
                      <a:pPr algn="ctr" fontAlgn="b"/>
                      <a:r>
                        <a:rPr lang="en-US" sz="1600" b="0" i="0" u="none" strike="noStrike">
                          <a:solidFill>
                            <a:srgbClr val="000000"/>
                          </a:solidFill>
                          <a:effectLst/>
                          <a:latin typeface="Calibri" panose="020F0502020204030204" pitchFamily="34" charset="0"/>
                        </a:rPr>
                        <a:t>5.3</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60</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3"/>
                  </a:ext>
                </a:extLst>
              </a:tr>
              <a:tr h="217170">
                <a:tc>
                  <a:txBody>
                    <a:bodyPr/>
                    <a:lstStyle/>
                    <a:p>
                      <a:pPr algn="ctr" fontAlgn="b"/>
                      <a:r>
                        <a:rPr lang="en-US" sz="1600" b="0" i="0" u="none" strike="noStrike">
                          <a:solidFill>
                            <a:srgbClr val="000000"/>
                          </a:solidFill>
                          <a:effectLst/>
                          <a:latin typeface="Calibri" panose="020F0502020204030204" pitchFamily="34" charset="0"/>
                        </a:rPr>
                        <a:t>5.6</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65</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4"/>
                  </a:ext>
                </a:extLst>
              </a:tr>
              <a:tr h="217170">
                <a:tc>
                  <a:txBody>
                    <a:bodyPr/>
                    <a:lstStyle/>
                    <a:p>
                      <a:pPr algn="ctr" fontAlgn="b"/>
                      <a:r>
                        <a:rPr lang="en-US" sz="1600" b="0" i="0" u="none" strike="noStrike">
                          <a:solidFill>
                            <a:srgbClr val="000000"/>
                          </a:solidFill>
                          <a:effectLst/>
                          <a:latin typeface="Calibri" panose="020F0502020204030204" pitchFamily="34" charset="0"/>
                        </a:rPr>
                        <a:t>5.7</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68</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5"/>
                  </a:ext>
                </a:extLst>
              </a:tr>
              <a:tr h="217170">
                <a:tc>
                  <a:txBody>
                    <a:bodyPr/>
                    <a:lstStyle/>
                    <a:p>
                      <a:pPr algn="ctr" fontAlgn="b"/>
                      <a:r>
                        <a:rPr lang="en-US" sz="1600" b="0" i="0" u="none" strike="noStrike">
                          <a:solidFill>
                            <a:srgbClr val="000000"/>
                          </a:solidFill>
                          <a:effectLst/>
                          <a:latin typeface="Calibri" panose="020F0502020204030204" pitchFamily="34" charset="0"/>
                        </a:rPr>
                        <a:t>5.8</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68</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6"/>
                  </a:ext>
                </a:extLst>
              </a:tr>
              <a:tr h="217170">
                <a:tc>
                  <a:txBody>
                    <a:bodyPr/>
                    <a:lstStyle/>
                    <a:p>
                      <a:pPr algn="ctr" fontAlgn="b"/>
                      <a:r>
                        <a:rPr lang="en-US" sz="1600" b="0" i="0" u="none" strike="noStrike">
                          <a:solidFill>
                            <a:srgbClr val="000000"/>
                          </a:solidFill>
                          <a:effectLst/>
                          <a:latin typeface="Calibri" panose="020F0502020204030204" pitchFamily="34" charset="0"/>
                        </a:rPr>
                        <a:t>5.4</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64</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7"/>
                  </a:ext>
                </a:extLst>
              </a:tr>
              <a:tr h="217170">
                <a:tc>
                  <a:txBody>
                    <a:bodyPr/>
                    <a:lstStyle/>
                    <a:p>
                      <a:pPr algn="ctr" fontAlgn="b"/>
                      <a:r>
                        <a:rPr lang="en-US" sz="16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75</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8"/>
                  </a:ext>
                </a:extLst>
              </a:tr>
              <a:tr h="217170">
                <a:tc>
                  <a:txBody>
                    <a:bodyPr/>
                    <a:lstStyle/>
                    <a:p>
                      <a:pPr algn="ctr" fontAlgn="b"/>
                      <a:r>
                        <a:rPr lang="en-US" sz="1600" b="0" i="0" u="none" strike="noStrike">
                          <a:solidFill>
                            <a:srgbClr val="000000"/>
                          </a:solidFill>
                          <a:effectLst/>
                          <a:latin typeface="Calibri" panose="020F0502020204030204" pitchFamily="34" charset="0"/>
                        </a:rPr>
                        <a:t>5.3</a:t>
                      </a:r>
                    </a:p>
                  </a:txBody>
                  <a:tcPr marL="9525" marR="9525" marT="9525" marB="0" anchor="b">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69</a:t>
                      </a:r>
                    </a:p>
                  </a:txBody>
                  <a:tcPr marL="9525" marR="9525" marT="9525" marB="0" anchor="b">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tcPr>
                </a:tc>
                <a:extLst>
                  <a:ext uri="{0D108BD9-81ED-4DB2-BD59-A6C34878D82A}">
                    <a16:rowId xmlns:a16="http://schemas.microsoft.com/office/drawing/2014/main" val="10019"/>
                  </a:ext>
                </a:extLst>
              </a:tr>
            </a:tbl>
          </a:graphicData>
        </a:graphic>
      </p:graphicFrame>
      <p:pic>
        <p:nvPicPr>
          <p:cNvPr id="6" name="Picture 5"/>
          <p:cNvPicPr>
            <a:picLocks noChangeAspect="1"/>
          </p:cNvPicPr>
          <p:nvPr/>
        </p:nvPicPr>
        <p:blipFill>
          <a:blip r:embed="rId4"/>
          <a:stretch>
            <a:fillRect/>
          </a:stretch>
        </p:blipFill>
        <p:spPr>
          <a:xfrm>
            <a:off x="4904674" y="1938263"/>
            <a:ext cx="5497278" cy="36635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60878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Scatter Diagram</a:t>
            </a:r>
          </a:p>
        </p:txBody>
      </p:sp>
      <p:sp>
        <p:nvSpPr>
          <p:cNvPr id="52" name="Rectangle 6"/>
          <p:cNvSpPr>
            <a:spLocks noChangeArrowheads="1"/>
          </p:cNvSpPr>
          <p:nvPr/>
        </p:nvSpPr>
        <p:spPr bwMode="auto">
          <a:xfrm>
            <a:off x="1828800" y="1115171"/>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Solution by Minitab: Step by Step</a:t>
            </a:r>
          </a:p>
        </p:txBody>
      </p:sp>
      <p:pic>
        <p:nvPicPr>
          <p:cNvPr id="4" name="Picture 3"/>
          <p:cNvPicPr>
            <a:picLocks noChangeAspect="1"/>
          </p:cNvPicPr>
          <p:nvPr/>
        </p:nvPicPr>
        <p:blipFill rotWithShape="1">
          <a:blip r:embed="rId4"/>
          <a:srcRect b="10417"/>
          <a:stretch/>
        </p:blipFill>
        <p:spPr>
          <a:xfrm>
            <a:off x="1918262" y="2042214"/>
            <a:ext cx="3720539" cy="29869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3" name="Rectangle 6"/>
          <p:cNvSpPr>
            <a:spLocks noChangeArrowheads="1"/>
          </p:cNvSpPr>
          <p:nvPr/>
        </p:nvSpPr>
        <p:spPr bwMode="auto">
          <a:xfrm>
            <a:off x="1828800" y="1607313"/>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1 : Open Minitab</a:t>
            </a:r>
          </a:p>
        </p:txBody>
      </p:sp>
      <p:sp>
        <p:nvSpPr>
          <p:cNvPr id="54" name="Rectangle 6"/>
          <p:cNvSpPr>
            <a:spLocks noChangeArrowheads="1"/>
          </p:cNvSpPr>
          <p:nvPr/>
        </p:nvSpPr>
        <p:spPr bwMode="auto">
          <a:xfrm>
            <a:off x="6476999" y="2667000"/>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2 : Enter Data</a:t>
            </a:r>
          </a:p>
        </p:txBody>
      </p:sp>
      <p:pic>
        <p:nvPicPr>
          <p:cNvPr id="56" name="Picture 55"/>
          <p:cNvPicPr>
            <a:picLocks noChangeAspect="1"/>
          </p:cNvPicPr>
          <p:nvPr/>
        </p:nvPicPr>
        <p:blipFill rotWithShape="1">
          <a:blip r:embed="rId5"/>
          <a:srcRect t="2083" r="76562" b="20833"/>
          <a:stretch/>
        </p:blipFill>
        <p:spPr>
          <a:xfrm>
            <a:off x="6620204" y="3207304"/>
            <a:ext cx="3752193" cy="2962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69580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Scatter Diagram</a:t>
            </a:r>
          </a:p>
        </p:txBody>
      </p:sp>
      <p:sp>
        <p:nvSpPr>
          <p:cNvPr id="52" name="Rectangle 6"/>
          <p:cNvSpPr>
            <a:spLocks noChangeArrowheads="1"/>
          </p:cNvSpPr>
          <p:nvPr/>
        </p:nvSpPr>
        <p:spPr bwMode="auto">
          <a:xfrm>
            <a:off x="1828800" y="1115171"/>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Solution by Minitab: Step by Step</a:t>
            </a:r>
          </a:p>
        </p:txBody>
      </p:sp>
      <p:sp>
        <p:nvSpPr>
          <p:cNvPr id="53" name="Rectangle 6"/>
          <p:cNvSpPr>
            <a:spLocks noChangeArrowheads="1"/>
          </p:cNvSpPr>
          <p:nvPr/>
        </p:nvSpPr>
        <p:spPr bwMode="auto">
          <a:xfrm>
            <a:off x="1828800" y="1607313"/>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3 : Select Graph &gt; Scatter Plot</a:t>
            </a:r>
          </a:p>
        </p:txBody>
      </p:sp>
      <p:sp>
        <p:nvSpPr>
          <p:cNvPr id="54" name="Rectangle 6"/>
          <p:cNvSpPr>
            <a:spLocks noChangeArrowheads="1"/>
          </p:cNvSpPr>
          <p:nvPr/>
        </p:nvSpPr>
        <p:spPr bwMode="auto">
          <a:xfrm>
            <a:off x="6324600" y="2514600"/>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4 : Select With Regression</a:t>
            </a:r>
          </a:p>
        </p:txBody>
      </p:sp>
      <p:pic>
        <p:nvPicPr>
          <p:cNvPr id="5" name="Picture 4"/>
          <p:cNvPicPr>
            <a:picLocks noChangeAspect="1"/>
          </p:cNvPicPr>
          <p:nvPr/>
        </p:nvPicPr>
        <p:blipFill rotWithShape="1">
          <a:blip r:embed="rId4"/>
          <a:srcRect t="2084" r="50781" b="52083"/>
          <a:stretch/>
        </p:blipFill>
        <p:spPr>
          <a:xfrm>
            <a:off x="1938502" y="2097797"/>
            <a:ext cx="3776499" cy="29846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rotWithShape="1">
          <a:blip r:embed="rId5"/>
          <a:srcRect l="32031" t="25000" r="32031" b="31250"/>
          <a:stretch/>
        </p:blipFill>
        <p:spPr>
          <a:xfrm>
            <a:off x="6477000" y="3003973"/>
            <a:ext cx="3810000" cy="3200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29434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3820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Scatter Diagram</a:t>
            </a:r>
          </a:p>
        </p:txBody>
      </p:sp>
      <p:sp>
        <p:nvSpPr>
          <p:cNvPr id="52" name="Rectangle 6"/>
          <p:cNvSpPr>
            <a:spLocks noChangeArrowheads="1"/>
          </p:cNvSpPr>
          <p:nvPr/>
        </p:nvSpPr>
        <p:spPr bwMode="auto">
          <a:xfrm>
            <a:off x="1828800" y="1115171"/>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effectLst>
                  <a:outerShdw blurRad="38100" dist="38100" dir="2700000" algn="tl">
                    <a:srgbClr val="000000">
                      <a:alpha val="43137"/>
                    </a:srgbClr>
                  </a:outerShdw>
                </a:effectLst>
                <a:latin typeface="Century Gothic" panose="020B0502020202020204" pitchFamily="34" charset="0"/>
              </a:rPr>
              <a:t>Solution by Minitab: Step by Step</a:t>
            </a:r>
          </a:p>
        </p:txBody>
      </p:sp>
      <p:sp>
        <p:nvSpPr>
          <p:cNvPr id="53" name="Rectangle 6"/>
          <p:cNvSpPr>
            <a:spLocks noChangeArrowheads="1"/>
          </p:cNvSpPr>
          <p:nvPr/>
        </p:nvSpPr>
        <p:spPr bwMode="auto">
          <a:xfrm>
            <a:off x="1828800" y="1607313"/>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Step 5  : Choose X and Y Variables</a:t>
            </a:r>
          </a:p>
        </p:txBody>
      </p:sp>
      <p:sp>
        <p:nvSpPr>
          <p:cNvPr id="54" name="Rectangle 6"/>
          <p:cNvSpPr>
            <a:spLocks noChangeArrowheads="1"/>
          </p:cNvSpPr>
          <p:nvPr/>
        </p:nvSpPr>
        <p:spPr bwMode="auto">
          <a:xfrm>
            <a:off x="6324600" y="2743200"/>
            <a:ext cx="4038600" cy="371192"/>
          </a:xfrm>
          <a:prstGeom prst="rect">
            <a:avLst/>
          </a:prstGeom>
          <a:noFill/>
          <a:ln w="9525">
            <a:noFill/>
            <a:miter lim="800000"/>
            <a:headEnd/>
            <a:tailEnd/>
          </a:ln>
          <a:effectLst/>
        </p:spPr>
        <p:txBody>
          <a:bodyPr wrap="square" anchor="ctr">
            <a:spAutoFit/>
          </a:bodyPr>
          <a:lstStyle/>
          <a:p>
            <a:pPr>
              <a:lnSpc>
                <a:spcPct val="110000"/>
              </a:lnSpc>
            </a:pPr>
            <a:r>
              <a:rPr lang="en-GB" b="1" dirty="0">
                <a:solidFill>
                  <a:schemeClr val="accent6">
                    <a:lumMod val="75000"/>
                  </a:schemeClr>
                </a:solidFill>
                <a:latin typeface="Century Gothic" panose="020B0502020202020204" pitchFamily="34" charset="0"/>
              </a:rPr>
              <a:t>Scatter Plot</a:t>
            </a:r>
          </a:p>
        </p:txBody>
      </p:sp>
      <p:pic>
        <p:nvPicPr>
          <p:cNvPr id="4" name="Picture 3"/>
          <p:cNvPicPr>
            <a:picLocks noChangeAspect="1"/>
          </p:cNvPicPr>
          <p:nvPr/>
        </p:nvPicPr>
        <p:blipFill rotWithShape="1">
          <a:blip r:embed="rId4"/>
          <a:srcRect l="24218" t="25000" r="25000" b="30209"/>
          <a:stretch/>
        </p:blipFill>
        <p:spPr>
          <a:xfrm>
            <a:off x="1965174" y="2073352"/>
            <a:ext cx="4130826" cy="28796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5" name="Picture 54"/>
          <p:cNvPicPr>
            <a:picLocks noChangeAspect="1"/>
          </p:cNvPicPr>
          <p:nvPr/>
        </p:nvPicPr>
        <p:blipFill>
          <a:blip r:embed="rId5"/>
          <a:stretch>
            <a:fillRect/>
          </a:stretch>
        </p:blipFill>
        <p:spPr>
          <a:xfrm>
            <a:off x="6400801" y="3274474"/>
            <a:ext cx="4065989" cy="28956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6" name="Oval 55"/>
          <p:cNvSpPr/>
          <p:nvPr/>
        </p:nvSpPr>
        <p:spPr>
          <a:xfrm>
            <a:off x="4153395" y="4527073"/>
            <a:ext cx="914400" cy="375837"/>
          </a:xfrm>
          <a:prstGeom prst="ellipse">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0397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92202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Interpretation of Plots</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8637" y="1254652"/>
            <a:ext cx="8190926" cy="4952119"/>
          </a:xfrm>
          <a:prstGeom prst="rect">
            <a:avLst/>
          </a:prstGeom>
        </p:spPr>
      </p:pic>
      <p:sp>
        <p:nvSpPr>
          <p:cNvPr id="5" name="TextBox 4"/>
          <p:cNvSpPr txBox="1"/>
          <p:nvPr/>
        </p:nvSpPr>
        <p:spPr>
          <a:xfrm>
            <a:off x="2133600" y="3276600"/>
            <a:ext cx="2284282" cy="369332"/>
          </a:xfrm>
          <a:prstGeom prst="rect">
            <a:avLst/>
          </a:prstGeom>
          <a:noFill/>
        </p:spPr>
        <p:txBody>
          <a:bodyPr wrap="square" rtlCol="0">
            <a:spAutoFit/>
          </a:bodyPr>
          <a:lstStyle/>
          <a:p>
            <a:pPr algn="ctr"/>
            <a:r>
              <a:rPr lang="en-US"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rPr>
              <a:t>Strong Positive</a:t>
            </a:r>
          </a:p>
        </p:txBody>
      </p:sp>
      <p:sp>
        <p:nvSpPr>
          <p:cNvPr id="53" name="TextBox 52"/>
          <p:cNvSpPr txBox="1"/>
          <p:nvPr/>
        </p:nvSpPr>
        <p:spPr>
          <a:xfrm>
            <a:off x="5039440" y="3276600"/>
            <a:ext cx="2284282" cy="369332"/>
          </a:xfrm>
          <a:prstGeom prst="rect">
            <a:avLst/>
          </a:prstGeom>
          <a:noFill/>
        </p:spPr>
        <p:txBody>
          <a:bodyPr wrap="square" rtlCol="0">
            <a:spAutoFit/>
          </a:bodyPr>
          <a:lstStyle/>
          <a:p>
            <a:pPr algn="ctr"/>
            <a:r>
              <a:rPr lang="en-US"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rPr>
              <a:t>Weak Positive</a:t>
            </a:r>
          </a:p>
        </p:txBody>
      </p:sp>
      <p:sp>
        <p:nvSpPr>
          <p:cNvPr id="54" name="TextBox 53"/>
          <p:cNvSpPr txBox="1"/>
          <p:nvPr/>
        </p:nvSpPr>
        <p:spPr>
          <a:xfrm>
            <a:off x="7945280" y="3276600"/>
            <a:ext cx="2284282" cy="369332"/>
          </a:xfrm>
          <a:prstGeom prst="rect">
            <a:avLst/>
          </a:prstGeom>
          <a:noFill/>
        </p:spPr>
        <p:txBody>
          <a:bodyPr wrap="square" rtlCol="0">
            <a:spAutoFit/>
          </a:bodyPr>
          <a:lstStyle/>
          <a:p>
            <a:pPr algn="ctr"/>
            <a:r>
              <a:rPr lang="en-US"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rPr>
              <a:t>None</a:t>
            </a:r>
          </a:p>
        </p:txBody>
      </p:sp>
      <p:sp>
        <p:nvSpPr>
          <p:cNvPr id="55" name="TextBox 54"/>
          <p:cNvSpPr txBox="1"/>
          <p:nvPr/>
        </p:nvSpPr>
        <p:spPr>
          <a:xfrm>
            <a:off x="2133600" y="5715208"/>
            <a:ext cx="2284282" cy="369332"/>
          </a:xfrm>
          <a:prstGeom prst="rect">
            <a:avLst/>
          </a:prstGeom>
          <a:noFill/>
        </p:spPr>
        <p:txBody>
          <a:bodyPr wrap="square" rtlCol="0">
            <a:spAutoFit/>
          </a:bodyPr>
          <a:lstStyle/>
          <a:p>
            <a:pPr algn="ctr"/>
            <a:r>
              <a:rPr lang="en-US"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rPr>
              <a:t>Strong Negative</a:t>
            </a:r>
          </a:p>
        </p:txBody>
      </p:sp>
      <p:sp>
        <p:nvSpPr>
          <p:cNvPr id="56" name="TextBox 55"/>
          <p:cNvSpPr txBox="1"/>
          <p:nvPr/>
        </p:nvSpPr>
        <p:spPr>
          <a:xfrm>
            <a:off x="5039440" y="5715208"/>
            <a:ext cx="2284282" cy="369332"/>
          </a:xfrm>
          <a:prstGeom prst="rect">
            <a:avLst/>
          </a:prstGeom>
          <a:noFill/>
        </p:spPr>
        <p:txBody>
          <a:bodyPr wrap="square" rtlCol="0">
            <a:spAutoFit/>
          </a:bodyPr>
          <a:lstStyle/>
          <a:p>
            <a:pPr algn="ctr"/>
            <a:r>
              <a:rPr lang="en-US"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rPr>
              <a:t>Weak Negative</a:t>
            </a:r>
          </a:p>
        </p:txBody>
      </p:sp>
      <p:sp>
        <p:nvSpPr>
          <p:cNvPr id="57" name="TextBox 56"/>
          <p:cNvSpPr txBox="1"/>
          <p:nvPr/>
        </p:nvSpPr>
        <p:spPr>
          <a:xfrm>
            <a:off x="7945280" y="5715208"/>
            <a:ext cx="2284282" cy="369332"/>
          </a:xfrm>
          <a:prstGeom prst="rect">
            <a:avLst/>
          </a:prstGeom>
          <a:noFill/>
        </p:spPr>
        <p:txBody>
          <a:bodyPr wrap="square" rtlCol="0">
            <a:spAutoFit/>
          </a:bodyPr>
          <a:lstStyle/>
          <a:p>
            <a:pPr algn="ctr"/>
            <a:r>
              <a:rPr lang="en-US" b="1" dirty="0">
                <a:solidFill>
                  <a:schemeClr val="accent6">
                    <a:lumMod val="75000"/>
                  </a:schemeClr>
                </a:solidFill>
                <a:effectLst>
                  <a:outerShdw blurRad="38100" dist="38100" dir="2700000" algn="tl">
                    <a:srgbClr val="000000">
                      <a:alpha val="43137"/>
                    </a:srgbClr>
                  </a:outerShdw>
                </a:effectLst>
                <a:latin typeface="Century Gothic" panose="020B0502020202020204" pitchFamily="34" charset="0"/>
              </a:rPr>
              <a:t>Curvilinear</a:t>
            </a:r>
          </a:p>
        </p:txBody>
      </p:sp>
    </p:spTree>
    <p:extLst>
      <p:ext uri="{BB962C8B-B14F-4D97-AF65-F5344CB8AC3E}">
        <p14:creationId xmlns:p14="http://schemas.microsoft.com/office/powerpoint/2010/main" val="1787131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Control Chart</a:t>
            </a:r>
          </a:p>
        </p:txBody>
      </p:sp>
      <p:sp>
        <p:nvSpPr>
          <p:cNvPr id="52" name="Rectangle 6"/>
          <p:cNvSpPr>
            <a:spLocks noChangeArrowheads="1"/>
          </p:cNvSpPr>
          <p:nvPr/>
        </p:nvSpPr>
        <p:spPr bwMode="auto">
          <a:xfrm>
            <a:off x="1828800" y="1355900"/>
            <a:ext cx="8382000" cy="2308324"/>
          </a:xfrm>
          <a:prstGeom prst="rect">
            <a:avLst/>
          </a:prstGeom>
          <a:noFill/>
          <a:ln w="9525">
            <a:noFill/>
            <a:miter lim="800000"/>
            <a:headEnd/>
            <a:tailEnd/>
          </a:ln>
          <a:effectLst/>
        </p:spPr>
        <p:txBody>
          <a:bodyPr wrap="square" anchor="ctr">
            <a:spAutoFit/>
          </a:bodyPr>
          <a:lstStyle/>
          <a:p>
            <a:pPr marL="285750" indent="-285750">
              <a:lnSpc>
                <a:spcPct val="80000"/>
              </a:lnSpc>
              <a:buFont typeface="Wingdings" panose="05000000000000000000" pitchFamily="2" charset="2"/>
              <a:buChar char="q"/>
            </a:pPr>
            <a:r>
              <a:rPr lang="en-US" dirty="0">
                <a:latin typeface="Century Gothic" panose="020B0502020202020204" pitchFamily="34" charset="0"/>
              </a:rPr>
              <a:t>The control chart is a graph used to study how a process changes over time. Data are plotted in time order. </a:t>
            </a:r>
          </a:p>
          <a:p>
            <a:pPr>
              <a:lnSpc>
                <a:spcPct val="80000"/>
              </a:lnSpc>
            </a:pPr>
            <a:endParaRPr lang="en-US" dirty="0">
              <a:latin typeface="Century Gothic" panose="020B0502020202020204" pitchFamily="34" charset="0"/>
            </a:endParaRPr>
          </a:p>
          <a:p>
            <a:pPr marL="285750" indent="-285750">
              <a:lnSpc>
                <a:spcPct val="80000"/>
              </a:lnSpc>
              <a:buFont typeface="Wingdings" panose="05000000000000000000" pitchFamily="2" charset="2"/>
              <a:buChar char="q"/>
            </a:pPr>
            <a:r>
              <a:rPr lang="en-US" dirty="0">
                <a:latin typeface="Century Gothic" panose="020B0502020202020204" pitchFamily="34" charset="0"/>
              </a:rPr>
              <a:t>A control chart always has a central line for the average, an upper line for the </a:t>
            </a:r>
            <a:r>
              <a:rPr lang="en-US" b="1" dirty="0">
                <a:latin typeface="Century Gothic" panose="020B0502020202020204" pitchFamily="34" charset="0"/>
              </a:rPr>
              <a:t>upper control limit </a:t>
            </a:r>
            <a:r>
              <a:rPr lang="en-US" dirty="0">
                <a:latin typeface="Century Gothic" panose="020B0502020202020204" pitchFamily="34" charset="0"/>
              </a:rPr>
              <a:t>and a lower line for the </a:t>
            </a:r>
            <a:r>
              <a:rPr lang="en-US" b="1" dirty="0">
                <a:latin typeface="Century Gothic" panose="020B0502020202020204" pitchFamily="34" charset="0"/>
              </a:rPr>
              <a:t>lower control limit</a:t>
            </a:r>
            <a:r>
              <a:rPr lang="en-US" dirty="0">
                <a:latin typeface="Century Gothic" panose="020B0502020202020204" pitchFamily="34" charset="0"/>
              </a:rPr>
              <a:t>. </a:t>
            </a:r>
          </a:p>
          <a:p>
            <a:pPr>
              <a:lnSpc>
                <a:spcPct val="80000"/>
              </a:lnSpc>
            </a:pPr>
            <a:endParaRPr lang="en-US" dirty="0">
              <a:latin typeface="Century Gothic" panose="020B0502020202020204" pitchFamily="34" charset="0"/>
            </a:endParaRPr>
          </a:p>
          <a:p>
            <a:pPr marL="285750" indent="-285750">
              <a:lnSpc>
                <a:spcPct val="80000"/>
              </a:lnSpc>
              <a:buFont typeface="Wingdings" panose="05000000000000000000" pitchFamily="2" charset="2"/>
              <a:buChar char="q"/>
            </a:pPr>
            <a:r>
              <a:rPr lang="en-US" dirty="0">
                <a:latin typeface="Century Gothic" panose="020B0502020202020204" pitchFamily="34" charset="0"/>
              </a:rPr>
              <a:t>Lines are determined from historical data. By comparing current data to these lines, you can draw conclusions about whether the process variation is consistent (in control) or is unpredictable (out of control, affected by special causes of variation). </a:t>
            </a:r>
          </a:p>
        </p:txBody>
      </p:sp>
      <p:graphicFrame>
        <p:nvGraphicFramePr>
          <p:cNvPr id="53" name="Object 4"/>
          <p:cNvGraphicFramePr>
            <a:graphicFrameLocks noChangeAspect="1"/>
          </p:cNvGraphicFramePr>
          <p:nvPr/>
        </p:nvGraphicFramePr>
        <p:xfrm>
          <a:off x="2490788" y="3664224"/>
          <a:ext cx="7058025" cy="2736576"/>
        </p:xfrm>
        <a:graphic>
          <a:graphicData uri="http://schemas.openxmlformats.org/presentationml/2006/ole">
            <mc:AlternateContent xmlns:mc="http://schemas.openxmlformats.org/markup-compatibility/2006">
              <mc:Choice xmlns:v="urn:schemas-microsoft-com:vml" Requires="v">
                <p:oleObj name="Chart" r:id="rId4" imgW="7058025" imgH="3771900" progId="">
                  <p:embed/>
                </p:oleObj>
              </mc:Choice>
              <mc:Fallback>
                <p:oleObj name="Chart" r:id="rId4" imgW="7058025" imgH="3771900" progId="">
                  <p:embed/>
                  <p:pic>
                    <p:nvPicPr>
                      <p:cNvPr id="5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0788" y="3664224"/>
                        <a:ext cx="7058025" cy="2736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48626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When to use Control Chart?</a:t>
            </a:r>
          </a:p>
        </p:txBody>
      </p:sp>
      <p:sp>
        <p:nvSpPr>
          <p:cNvPr id="52" name="Rectangle 6"/>
          <p:cNvSpPr>
            <a:spLocks noChangeArrowheads="1"/>
          </p:cNvSpPr>
          <p:nvPr/>
        </p:nvSpPr>
        <p:spPr bwMode="auto">
          <a:xfrm>
            <a:off x="1531884" y="1288198"/>
            <a:ext cx="8907517" cy="2806922"/>
          </a:xfrm>
          <a:prstGeom prst="rect">
            <a:avLst/>
          </a:prstGeom>
          <a:noFill/>
          <a:ln w="9525">
            <a:noFill/>
            <a:miter lim="800000"/>
            <a:headEnd/>
            <a:tailEnd/>
          </a:ln>
          <a:effectLst/>
        </p:spPr>
        <p:txBody>
          <a:bodyPr wrap="square" anchor="ctr">
            <a:spAutoFit/>
          </a:bodyPr>
          <a:lstStyle/>
          <a:p>
            <a:pPr marL="800100" lvl="1" indent="-342900">
              <a:buFont typeface="Wingdings" panose="05000000000000000000" pitchFamily="2" charset="2"/>
              <a:buChar char="q"/>
            </a:pPr>
            <a:r>
              <a:rPr lang="en-US" dirty="0">
                <a:latin typeface="Century Gothic" panose="020B0502020202020204" pitchFamily="34" charset="0"/>
              </a:rPr>
              <a:t>Controlling ongoing processes by finding and correcting problems as they occur. </a:t>
            </a:r>
          </a:p>
          <a:p>
            <a:pPr marL="800100" lvl="1" indent="-342900">
              <a:buFont typeface="Wingdings" panose="05000000000000000000" pitchFamily="2" charset="2"/>
              <a:buChar char="q"/>
            </a:pPr>
            <a:r>
              <a:rPr lang="en-US" dirty="0">
                <a:latin typeface="Century Gothic" panose="020B0502020202020204" pitchFamily="34" charset="0"/>
              </a:rPr>
              <a:t>Predicting the expected range of outcomes from a process. </a:t>
            </a:r>
          </a:p>
          <a:p>
            <a:pPr marL="800100" lvl="1" indent="-342900">
              <a:buFont typeface="Wingdings" panose="05000000000000000000" pitchFamily="2" charset="2"/>
              <a:buChar char="q"/>
            </a:pPr>
            <a:r>
              <a:rPr lang="en-US" dirty="0">
                <a:latin typeface="Century Gothic" panose="020B0502020202020204" pitchFamily="34" charset="0"/>
              </a:rPr>
              <a:t>Determining whether a process is stable (in statistical control). </a:t>
            </a:r>
          </a:p>
          <a:p>
            <a:pPr marL="800100" lvl="1" indent="-342900">
              <a:buFont typeface="Wingdings" panose="05000000000000000000" pitchFamily="2" charset="2"/>
              <a:buChar char="q"/>
            </a:pPr>
            <a:r>
              <a:rPr lang="en-US" dirty="0">
                <a:latin typeface="Century Gothic" panose="020B0502020202020204" pitchFamily="34" charset="0"/>
              </a:rPr>
              <a:t>Analyzing patterns of process variation from </a:t>
            </a:r>
            <a:r>
              <a:rPr lang="en-US" b="1" dirty="0">
                <a:latin typeface="Century Gothic" panose="020B0502020202020204" pitchFamily="34" charset="0"/>
              </a:rPr>
              <a:t>special causes</a:t>
            </a:r>
            <a:r>
              <a:rPr lang="en-US" dirty="0">
                <a:latin typeface="Century Gothic" panose="020B0502020202020204" pitchFamily="34" charset="0"/>
              </a:rPr>
              <a:t> (non-routine events) or </a:t>
            </a:r>
            <a:r>
              <a:rPr lang="en-US" b="1" dirty="0">
                <a:latin typeface="Century Gothic" panose="020B0502020202020204" pitchFamily="34" charset="0"/>
              </a:rPr>
              <a:t>common causes </a:t>
            </a:r>
            <a:r>
              <a:rPr lang="en-US" dirty="0">
                <a:latin typeface="Century Gothic" panose="020B0502020202020204" pitchFamily="34" charset="0"/>
              </a:rPr>
              <a:t>(built into the process). </a:t>
            </a:r>
          </a:p>
          <a:p>
            <a:pPr marL="800100" lvl="1" indent="-342900">
              <a:buFont typeface="Wingdings" panose="05000000000000000000" pitchFamily="2" charset="2"/>
              <a:buChar char="q"/>
            </a:pPr>
            <a:r>
              <a:rPr lang="en-US" dirty="0">
                <a:latin typeface="Century Gothic" panose="020B0502020202020204" pitchFamily="34" charset="0"/>
              </a:rPr>
              <a:t>Determining whether the quality improvement project should aim to prevent specific problems or to make fundamental changes to the process.</a:t>
            </a:r>
          </a:p>
          <a:p>
            <a:pPr marL="285750" indent="-285750">
              <a:lnSpc>
                <a:spcPct val="80000"/>
              </a:lnSpc>
              <a:buFont typeface="Wingdings" panose="05000000000000000000" pitchFamily="2" charset="2"/>
              <a:buChar char="q"/>
            </a:pPr>
            <a:endParaRPr lang="en-US" dirty="0">
              <a:latin typeface="Century Gothic" panose="020B0502020202020204" pitchFamily="34" charset="0"/>
            </a:endParaRPr>
          </a:p>
        </p:txBody>
      </p:sp>
    </p:spTree>
    <p:extLst>
      <p:ext uri="{BB962C8B-B14F-4D97-AF65-F5344CB8AC3E}">
        <p14:creationId xmlns:p14="http://schemas.microsoft.com/office/powerpoint/2010/main" val="2099344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Important Terminologies</a:t>
            </a:r>
          </a:p>
        </p:txBody>
      </p:sp>
      <p:sp>
        <p:nvSpPr>
          <p:cNvPr id="50" name="Rectangle 6"/>
          <p:cNvSpPr>
            <a:spLocks noChangeArrowheads="1"/>
          </p:cNvSpPr>
          <p:nvPr/>
        </p:nvSpPr>
        <p:spPr bwMode="auto">
          <a:xfrm>
            <a:off x="1862959" y="1295400"/>
            <a:ext cx="8610600" cy="923330"/>
          </a:xfrm>
          <a:prstGeom prst="rect">
            <a:avLst/>
          </a:prstGeom>
          <a:noFill/>
          <a:ln w="9525">
            <a:noFill/>
            <a:miter lim="800000"/>
            <a:headEnd/>
            <a:tailEnd/>
          </a:ln>
          <a:effectLst/>
        </p:spPr>
        <p:txBody>
          <a:bodyPr wrap="square" anchor="ctr">
            <a:spAutoFit/>
          </a:bodyPr>
          <a:lstStyle/>
          <a:p>
            <a:pPr lvl="0" fontAlgn="base">
              <a:spcBef>
                <a:spcPct val="0"/>
              </a:spcBef>
              <a:spcAft>
                <a:spcPct val="0"/>
              </a:spcAft>
              <a:buClr>
                <a:schemeClr val="tx1"/>
              </a:buClr>
            </a:pPr>
            <a:r>
              <a:rPr lang="en-US"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Common Causes of Variation</a:t>
            </a:r>
          </a:p>
          <a:p>
            <a:pPr>
              <a:spcAft>
                <a:spcPct val="50000"/>
              </a:spcAft>
              <a:buSzPct val="100000"/>
            </a:pPr>
            <a:r>
              <a:rPr lang="en-US" dirty="0">
                <a:latin typeface="Century Gothic" panose="020B0502020202020204" pitchFamily="34" charset="0"/>
                <a:cs typeface="Times New Roman" pitchFamily="18" charset="0"/>
              </a:rPr>
              <a:t>Consists of combined effect of several sources of uncontrollable variation inherent to a process.  </a:t>
            </a:r>
          </a:p>
        </p:txBody>
      </p:sp>
      <p:sp>
        <p:nvSpPr>
          <p:cNvPr id="53" name="Rectangle 6"/>
          <p:cNvSpPr>
            <a:spLocks noChangeArrowheads="1"/>
          </p:cNvSpPr>
          <p:nvPr/>
        </p:nvSpPr>
        <p:spPr bwMode="auto">
          <a:xfrm>
            <a:off x="1862959" y="2271899"/>
            <a:ext cx="8610600" cy="1089529"/>
          </a:xfrm>
          <a:prstGeom prst="rect">
            <a:avLst/>
          </a:prstGeom>
          <a:noFill/>
          <a:ln w="9525">
            <a:noFill/>
            <a:miter lim="800000"/>
            <a:headEnd/>
            <a:tailEnd/>
          </a:ln>
          <a:effectLst/>
        </p:spPr>
        <p:txBody>
          <a:bodyPr wrap="square" anchor="ctr">
            <a:spAutoFit/>
          </a:bodyPr>
          <a:lstStyle/>
          <a:p>
            <a:pPr lvl="0" fontAlgn="base">
              <a:spcBef>
                <a:spcPct val="0"/>
              </a:spcBef>
              <a:spcAft>
                <a:spcPct val="0"/>
              </a:spcAft>
              <a:buClr>
                <a:schemeClr val="tx1"/>
              </a:buClr>
            </a:pPr>
            <a:r>
              <a:rPr lang="en-US"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Special Causes of Variation</a:t>
            </a:r>
          </a:p>
          <a:p>
            <a:pPr>
              <a:lnSpc>
                <a:spcPct val="130000"/>
              </a:lnSpc>
              <a:spcAft>
                <a:spcPct val="50000"/>
              </a:spcAft>
              <a:buClr>
                <a:srgbClr val="33CC33"/>
              </a:buClr>
              <a:buSzPct val="100000"/>
            </a:pPr>
            <a:r>
              <a:rPr lang="en-US" dirty="0">
                <a:latin typeface="Century Gothic" panose="020B0502020202020204" pitchFamily="34" charset="0"/>
                <a:cs typeface="Times New Roman" pitchFamily="18" charset="0"/>
              </a:rPr>
              <a:t>Determination of source of impact makes cause "assignable." and is termed as </a:t>
            </a:r>
            <a:r>
              <a:rPr lang="en-US" b="1" dirty="0">
                <a:solidFill>
                  <a:schemeClr val="tx1">
                    <a:lumMod val="95000"/>
                    <a:lumOff val="5000"/>
                  </a:schemeClr>
                </a:solidFill>
                <a:latin typeface="Century Gothic" panose="020B0502020202020204" pitchFamily="34" charset="0"/>
                <a:cs typeface="Times New Roman" pitchFamily="18" charset="0"/>
              </a:rPr>
              <a:t>assignable cause of variation.</a:t>
            </a:r>
          </a:p>
        </p:txBody>
      </p:sp>
      <p:sp>
        <p:nvSpPr>
          <p:cNvPr id="54" name="Rectangle 6"/>
          <p:cNvSpPr>
            <a:spLocks noChangeArrowheads="1"/>
          </p:cNvSpPr>
          <p:nvPr/>
        </p:nvSpPr>
        <p:spPr bwMode="auto">
          <a:xfrm>
            <a:off x="1886607" y="3553922"/>
            <a:ext cx="8610600" cy="690445"/>
          </a:xfrm>
          <a:prstGeom prst="rect">
            <a:avLst/>
          </a:prstGeom>
          <a:noFill/>
          <a:ln w="9525">
            <a:noFill/>
            <a:miter lim="800000"/>
            <a:headEnd/>
            <a:tailEnd/>
          </a:ln>
          <a:effectLst/>
        </p:spPr>
        <p:txBody>
          <a:bodyPr wrap="square" anchor="ctr">
            <a:spAutoFit/>
          </a:bodyPr>
          <a:lstStyle/>
          <a:p>
            <a:pPr lvl="0" fontAlgn="base">
              <a:spcBef>
                <a:spcPct val="0"/>
              </a:spcBef>
              <a:spcAft>
                <a:spcPct val="0"/>
              </a:spcAft>
              <a:buClr>
                <a:schemeClr val="tx1"/>
              </a:buClr>
            </a:pPr>
            <a:r>
              <a:rPr lang="en-US"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Specification Limit</a:t>
            </a:r>
          </a:p>
          <a:p>
            <a:pPr>
              <a:lnSpc>
                <a:spcPct val="130000"/>
              </a:lnSpc>
              <a:spcAft>
                <a:spcPct val="50000"/>
              </a:spcAft>
              <a:buClr>
                <a:srgbClr val="33CC33"/>
              </a:buClr>
              <a:buSzPct val="100000"/>
            </a:pPr>
            <a:r>
              <a:rPr lang="en-US" dirty="0">
                <a:latin typeface="Century Gothic" panose="020B0502020202020204" pitchFamily="34" charset="0"/>
                <a:cs typeface="Times New Roman" pitchFamily="18" charset="0"/>
              </a:rPr>
              <a:t>Limits defined by the customer. </a:t>
            </a:r>
            <a:r>
              <a:rPr lang="en-US" b="1" dirty="0">
                <a:latin typeface="Century Gothic" panose="020B0502020202020204" pitchFamily="34" charset="0"/>
                <a:cs typeface="Times New Roman" pitchFamily="18" charset="0"/>
              </a:rPr>
              <a:t>Voice of customer</a:t>
            </a:r>
            <a:endParaRPr lang="en-US" b="1" dirty="0">
              <a:solidFill>
                <a:schemeClr val="tx1">
                  <a:lumMod val="95000"/>
                  <a:lumOff val="5000"/>
                </a:schemeClr>
              </a:solidFill>
              <a:latin typeface="Century Gothic" panose="020B0502020202020204" pitchFamily="34" charset="0"/>
              <a:cs typeface="Times New Roman" pitchFamily="18" charset="0"/>
            </a:endParaRPr>
          </a:p>
        </p:txBody>
      </p:sp>
      <p:sp>
        <p:nvSpPr>
          <p:cNvPr id="55" name="Rectangle 6"/>
          <p:cNvSpPr>
            <a:spLocks noChangeArrowheads="1"/>
          </p:cNvSpPr>
          <p:nvPr/>
        </p:nvSpPr>
        <p:spPr bwMode="auto">
          <a:xfrm>
            <a:off x="1862959" y="4574412"/>
            <a:ext cx="8610600" cy="690445"/>
          </a:xfrm>
          <a:prstGeom prst="rect">
            <a:avLst/>
          </a:prstGeom>
          <a:noFill/>
          <a:ln w="9525">
            <a:noFill/>
            <a:miter lim="800000"/>
            <a:headEnd/>
            <a:tailEnd/>
          </a:ln>
          <a:effectLst/>
        </p:spPr>
        <p:txBody>
          <a:bodyPr wrap="square" anchor="ctr">
            <a:spAutoFit/>
          </a:bodyPr>
          <a:lstStyle/>
          <a:p>
            <a:pPr lvl="0" fontAlgn="base">
              <a:spcBef>
                <a:spcPct val="0"/>
              </a:spcBef>
              <a:spcAft>
                <a:spcPct val="0"/>
              </a:spcAft>
              <a:buClr>
                <a:schemeClr val="tx1"/>
              </a:buClr>
            </a:pPr>
            <a:r>
              <a:rPr lang="en-US" b="1" dirty="0">
                <a:solidFill>
                  <a:srgbClr val="000000"/>
                </a:solidFill>
                <a:effectLst>
                  <a:outerShdw blurRad="38100" dist="38100" dir="2700000" algn="tl">
                    <a:srgbClr val="000000">
                      <a:alpha val="43137"/>
                    </a:srgbClr>
                  </a:outerShdw>
                </a:effectLst>
                <a:latin typeface="Century Gothic" panose="020B0502020202020204" pitchFamily="34" charset="0"/>
                <a:ea typeface="ＭＳ Ｐゴシック" charset="-128"/>
              </a:rPr>
              <a:t>Control Limit</a:t>
            </a:r>
          </a:p>
          <a:p>
            <a:pPr>
              <a:lnSpc>
                <a:spcPct val="130000"/>
              </a:lnSpc>
              <a:spcAft>
                <a:spcPct val="50000"/>
              </a:spcAft>
              <a:buClr>
                <a:srgbClr val="33CC33"/>
              </a:buClr>
              <a:buSzPct val="100000"/>
            </a:pPr>
            <a:r>
              <a:rPr lang="en-US" dirty="0">
                <a:latin typeface="Century Gothic" panose="020B0502020202020204" pitchFamily="34" charset="0"/>
                <a:cs typeface="Times New Roman" pitchFamily="18" charset="0"/>
              </a:rPr>
              <a:t>Measures the variation of  sample statistics by using data points.</a:t>
            </a:r>
            <a:endParaRPr lang="en-US" b="1" dirty="0">
              <a:solidFill>
                <a:schemeClr val="tx1">
                  <a:lumMod val="95000"/>
                  <a:lumOff val="5000"/>
                </a:schemeClr>
              </a:solidFill>
              <a:latin typeface="Century Gothic" panose="020B0502020202020204" pitchFamily="34" charset="0"/>
              <a:cs typeface="Times New Roman" pitchFamily="18" charset="0"/>
            </a:endParaRPr>
          </a:p>
        </p:txBody>
      </p:sp>
    </p:spTree>
    <p:extLst>
      <p:ext uri="{BB962C8B-B14F-4D97-AF65-F5344CB8AC3E}">
        <p14:creationId xmlns:p14="http://schemas.microsoft.com/office/powerpoint/2010/main" val="2230601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
            <a:ext cx="9144000" cy="6858001"/>
          </a:xfrm>
          <a:prstGeom prst="rect">
            <a:avLst/>
          </a:prstGeom>
        </p:spPr>
      </p:pic>
      <p:grpSp>
        <p:nvGrpSpPr>
          <p:cNvPr id="3" name="Group 291"/>
          <p:cNvGrpSpPr>
            <a:grpSpLocks/>
          </p:cNvGrpSpPr>
          <p:nvPr/>
        </p:nvGrpSpPr>
        <p:grpSpPr bwMode="auto">
          <a:xfrm>
            <a:off x="4267200" y="6477143"/>
            <a:ext cx="914400" cy="228600"/>
            <a:chOff x="2304" y="126"/>
            <a:chExt cx="1153" cy="346"/>
          </a:xfrm>
        </p:grpSpPr>
        <p:sp>
          <p:nvSpPr>
            <p:cNvPr id="7" name="Freeform 292"/>
            <p:cNvSpPr>
              <a:spLocks/>
            </p:cNvSpPr>
            <p:nvPr/>
          </p:nvSpPr>
          <p:spPr bwMode="auto">
            <a:xfrm>
              <a:off x="2708" y="131"/>
              <a:ext cx="746" cy="338"/>
            </a:xfrm>
            <a:custGeom>
              <a:avLst/>
              <a:gdLst/>
              <a:ahLst/>
              <a:cxnLst>
                <a:cxn ang="0">
                  <a:pos x="41" y="576"/>
                </a:cxn>
                <a:cxn ang="0">
                  <a:pos x="121" y="611"/>
                </a:cxn>
                <a:cxn ang="0">
                  <a:pos x="198" y="641"/>
                </a:cxn>
                <a:cxn ang="0">
                  <a:pos x="253" y="659"/>
                </a:cxn>
                <a:cxn ang="0">
                  <a:pos x="306" y="673"/>
                </a:cxn>
                <a:cxn ang="0">
                  <a:pos x="359" y="684"/>
                </a:cxn>
                <a:cxn ang="0">
                  <a:pos x="440" y="695"/>
                </a:cxn>
                <a:cxn ang="0">
                  <a:pos x="488" y="698"/>
                </a:cxn>
                <a:cxn ang="0">
                  <a:pos x="565" y="695"/>
                </a:cxn>
                <a:cxn ang="0">
                  <a:pos x="652" y="682"/>
                </a:cxn>
                <a:cxn ang="0">
                  <a:pos x="708" y="667"/>
                </a:cxn>
                <a:cxn ang="0">
                  <a:pos x="761" y="647"/>
                </a:cxn>
                <a:cxn ang="0">
                  <a:pos x="838" y="610"/>
                </a:cxn>
                <a:cxn ang="0">
                  <a:pos x="889" y="580"/>
                </a:cxn>
                <a:cxn ang="0">
                  <a:pos x="963" y="529"/>
                </a:cxn>
                <a:cxn ang="0">
                  <a:pos x="1033" y="470"/>
                </a:cxn>
                <a:cxn ang="0">
                  <a:pos x="1078" y="427"/>
                </a:cxn>
                <a:cxn ang="0">
                  <a:pos x="1161" y="336"/>
                </a:cxn>
                <a:cxn ang="0">
                  <a:pos x="1237" y="239"/>
                </a:cxn>
                <a:cxn ang="0">
                  <a:pos x="1308" y="137"/>
                </a:cxn>
                <a:cxn ang="0">
                  <a:pos x="2237" y="442"/>
                </a:cxn>
                <a:cxn ang="0">
                  <a:pos x="2209" y="492"/>
                </a:cxn>
                <a:cxn ang="0">
                  <a:pos x="2178" y="541"/>
                </a:cxn>
                <a:cxn ang="0">
                  <a:pos x="2122" y="613"/>
                </a:cxn>
                <a:cxn ang="0">
                  <a:pos x="2057" y="683"/>
                </a:cxn>
                <a:cxn ang="0">
                  <a:pos x="2008" y="726"/>
                </a:cxn>
                <a:cxn ang="0">
                  <a:pos x="1940" y="779"/>
                </a:cxn>
                <a:cxn ang="0">
                  <a:pos x="1866" y="827"/>
                </a:cxn>
                <a:cxn ang="0">
                  <a:pos x="1768" y="879"/>
                </a:cxn>
                <a:cxn ang="0">
                  <a:pos x="1662" y="925"/>
                </a:cxn>
                <a:cxn ang="0">
                  <a:pos x="1546" y="963"/>
                </a:cxn>
                <a:cxn ang="0">
                  <a:pos x="1464" y="982"/>
                </a:cxn>
                <a:cxn ang="0">
                  <a:pos x="1378" y="998"/>
                </a:cxn>
                <a:cxn ang="0">
                  <a:pos x="1287" y="1009"/>
                </a:cxn>
                <a:cxn ang="0">
                  <a:pos x="1196" y="1015"/>
                </a:cxn>
                <a:cxn ang="0">
                  <a:pos x="1105" y="1017"/>
                </a:cxn>
                <a:cxn ang="0">
                  <a:pos x="1016" y="1014"/>
                </a:cxn>
                <a:cxn ang="0">
                  <a:pos x="907" y="1005"/>
                </a:cxn>
                <a:cxn ang="0">
                  <a:pos x="800" y="986"/>
                </a:cxn>
                <a:cxn ang="0">
                  <a:pos x="696" y="962"/>
                </a:cxn>
                <a:cxn ang="0">
                  <a:pos x="614" y="936"/>
                </a:cxn>
                <a:cxn ang="0">
                  <a:pos x="553" y="915"/>
                </a:cxn>
                <a:cxn ang="0">
                  <a:pos x="475" y="882"/>
                </a:cxn>
                <a:cxn ang="0">
                  <a:pos x="359" y="823"/>
                </a:cxn>
                <a:cxn ang="0">
                  <a:pos x="302" y="790"/>
                </a:cxn>
                <a:cxn ang="0">
                  <a:pos x="247" y="754"/>
                </a:cxn>
                <a:cxn ang="0">
                  <a:pos x="138" y="675"/>
                </a:cxn>
                <a:cxn ang="0">
                  <a:pos x="85" y="632"/>
                </a:cxn>
                <a:cxn ang="0">
                  <a:pos x="0" y="555"/>
                </a:cxn>
              </a:cxnLst>
              <a:rect l="0" t="0" r="r" b="b"/>
              <a:pathLst>
                <a:path w="2237" h="1017">
                  <a:moveTo>
                    <a:pt x="0" y="555"/>
                  </a:moveTo>
                  <a:lnTo>
                    <a:pt x="20" y="565"/>
                  </a:lnTo>
                  <a:lnTo>
                    <a:pt x="41" y="576"/>
                  </a:lnTo>
                  <a:lnTo>
                    <a:pt x="62" y="585"/>
                  </a:lnTo>
                  <a:lnTo>
                    <a:pt x="82" y="594"/>
                  </a:lnTo>
                  <a:lnTo>
                    <a:pt x="121" y="611"/>
                  </a:lnTo>
                  <a:lnTo>
                    <a:pt x="160" y="627"/>
                  </a:lnTo>
                  <a:lnTo>
                    <a:pt x="179" y="635"/>
                  </a:lnTo>
                  <a:lnTo>
                    <a:pt x="198" y="641"/>
                  </a:lnTo>
                  <a:lnTo>
                    <a:pt x="216" y="647"/>
                  </a:lnTo>
                  <a:lnTo>
                    <a:pt x="235" y="653"/>
                  </a:lnTo>
                  <a:lnTo>
                    <a:pt x="253" y="659"/>
                  </a:lnTo>
                  <a:lnTo>
                    <a:pt x="271" y="663"/>
                  </a:lnTo>
                  <a:lnTo>
                    <a:pt x="288" y="669"/>
                  </a:lnTo>
                  <a:lnTo>
                    <a:pt x="306" y="673"/>
                  </a:lnTo>
                  <a:lnTo>
                    <a:pt x="323" y="677"/>
                  </a:lnTo>
                  <a:lnTo>
                    <a:pt x="341" y="680"/>
                  </a:lnTo>
                  <a:lnTo>
                    <a:pt x="359" y="684"/>
                  </a:lnTo>
                  <a:lnTo>
                    <a:pt x="374" y="687"/>
                  </a:lnTo>
                  <a:lnTo>
                    <a:pt x="409" y="692"/>
                  </a:lnTo>
                  <a:lnTo>
                    <a:pt x="440" y="695"/>
                  </a:lnTo>
                  <a:lnTo>
                    <a:pt x="456" y="697"/>
                  </a:lnTo>
                  <a:lnTo>
                    <a:pt x="472" y="698"/>
                  </a:lnTo>
                  <a:lnTo>
                    <a:pt x="488" y="698"/>
                  </a:lnTo>
                  <a:lnTo>
                    <a:pt x="504" y="698"/>
                  </a:lnTo>
                  <a:lnTo>
                    <a:pt x="535" y="698"/>
                  </a:lnTo>
                  <a:lnTo>
                    <a:pt x="565" y="695"/>
                  </a:lnTo>
                  <a:lnTo>
                    <a:pt x="595" y="692"/>
                  </a:lnTo>
                  <a:lnTo>
                    <a:pt x="623" y="687"/>
                  </a:lnTo>
                  <a:lnTo>
                    <a:pt x="652" y="682"/>
                  </a:lnTo>
                  <a:lnTo>
                    <a:pt x="680" y="675"/>
                  </a:lnTo>
                  <a:lnTo>
                    <a:pt x="694" y="671"/>
                  </a:lnTo>
                  <a:lnTo>
                    <a:pt x="708" y="667"/>
                  </a:lnTo>
                  <a:lnTo>
                    <a:pt x="734" y="657"/>
                  </a:lnTo>
                  <a:lnTo>
                    <a:pt x="748" y="653"/>
                  </a:lnTo>
                  <a:lnTo>
                    <a:pt x="761" y="647"/>
                  </a:lnTo>
                  <a:lnTo>
                    <a:pt x="787" y="636"/>
                  </a:lnTo>
                  <a:lnTo>
                    <a:pt x="813" y="623"/>
                  </a:lnTo>
                  <a:lnTo>
                    <a:pt x="838" y="610"/>
                  </a:lnTo>
                  <a:lnTo>
                    <a:pt x="851" y="602"/>
                  </a:lnTo>
                  <a:lnTo>
                    <a:pt x="864" y="595"/>
                  </a:lnTo>
                  <a:lnTo>
                    <a:pt x="889" y="580"/>
                  </a:lnTo>
                  <a:lnTo>
                    <a:pt x="914" y="564"/>
                  </a:lnTo>
                  <a:lnTo>
                    <a:pt x="938" y="547"/>
                  </a:lnTo>
                  <a:lnTo>
                    <a:pt x="963" y="529"/>
                  </a:lnTo>
                  <a:lnTo>
                    <a:pt x="986" y="509"/>
                  </a:lnTo>
                  <a:lnTo>
                    <a:pt x="1018" y="483"/>
                  </a:lnTo>
                  <a:lnTo>
                    <a:pt x="1033" y="470"/>
                  </a:lnTo>
                  <a:lnTo>
                    <a:pt x="1049" y="456"/>
                  </a:lnTo>
                  <a:lnTo>
                    <a:pt x="1064" y="442"/>
                  </a:lnTo>
                  <a:lnTo>
                    <a:pt x="1078" y="427"/>
                  </a:lnTo>
                  <a:lnTo>
                    <a:pt x="1107" y="398"/>
                  </a:lnTo>
                  <a:lnTo>
                    <a:pt x="1134" y="367"/>
                  </a:lnTo>
                  <a:lnTo>
                    <a:pt x="1161" y="336"/>
                  </a:lnTo>
                  <a:lnTo>
                    <a:pt x="1187" y="304"/>
                  </a:lnTo>
                  <a:lnTo>
                    <a:pt x="1213" y="272"/>
                  </a:lnTo>
                  <a:lnTo>
                    <a:pt x="1237" y="239"/>
                  </a:lnTo>
                  <a:lnTo>
                    <a:pt x="1261" y="206"/>
                  </a:lnTo>
                  <a:lnTo>
                    <a:pt x="1285" y="171"/>
                  </a:lnTo>
                  <a:lnTo>
                    <a:pt x="1308" y="137"/>
                  </a:lnTo>
                  <a:lnTo>
                    <a:pt x="1353" y="69"/>
                  </a:lnTo>
                  <a:lnTo>
                    <a:pt x="1397" y="0"/>
                  </a:lnTo>
                  <a:lnTo>
                    <a:pt x="2237" y="442"/>
                  </a:lnTo>
                  <a:lnTo>
                    <a:pt x="2224" y="467"/>
                  </a:lnTo>
                  <a:lnTo>
                    <a:pt x="2216" y="479"/>
                  </a:lnTo>
                  <a:lnTo>
                    <a:pt x="2209" y="492"/>
                  </a:lnTo>
                  <a:lnTo>
                    <a:pt x="2201" y="504"/>
                  </a:lnTo>
                  <a:lnTo>
                    <a:pt x="2194" y="517"/>
                  </a:lnTo>
                  <a:lnTo>
                    <a:pt x="2178" y="541"/>
                  </a:lnTo>
                  <a:lnTo>
                    <a:pt x="2160" y="565"/>
                  </a:lnTo>
                  <a:lnTo>
                    <a:pt x="2142" y="590"/>
                  </a:lnTo>
                  <a:lnTo>
                    <a:pt x="2122" y="613"/>
                  </a:lnTo>
                  <a:lnTo>
                    <a:pt x="2101" y="637"/>
                  </a:lnTo>
                  <a:lnTo>
                    <a:pt x="2079" y="660"/>
                  </a:lnTo>
                  <a:lnTo>
                    <a:pt x="2057" y="683"/>
                  </a:lnTo>
                  <a:lnTo>
                    <a:pt x="2032" y="705"/>
                  </a:lnTo>
                  <a:lnTo>
                    <a:pt x="2021" y="716"/>
                  </a:lnTo>
                  <a:lnTo>
                    <a:pt x="2008" y="726"/>
                  </a:lnTo>
                  <a:lnTo>
                    <a:pt x="1981" y="748"/>
                  </a:lnTo>
                  <a:lnTo>
                    <a:pt x="1954" y="768"/>
                  </a:lnTo>
                  <a:lnTo>
                    <a:pt x="1940" y="779"/>
                  </a:lnTo>
                  <a:lnTo>
                    <a:pt x="1926" y="789"/>
                  </a:lnTo>
                  <a:lnTo>
                    <a:pt x="1896" y="808"/>
                  </a:lnTo>
                  <a:lnTo>
                    <a:pt x="1866" y="827"/>
                  </a:lnTo>
                  <a:lnTo>
                    <a:pt x="1834" y="845"/>
                  </a:lnTo>
                  <a:lnTo>
                    <a:pt x="1801" y="863"/>
                  </a:lnTo>
                  <a:lnTo>
                    <a:pt x="1768" y="879"/>
                  </a:lnTo>
                  <a:lnTo>
                    <a:pt x="1733" y="896"/>
                  </a:lnTo>
                  <a:lnTo>
                    <a:pt x="1698" y="910"/>
                  </a:lnTo>
                  <a:lnTo>
                    <a:pt x="1662" y="925"/>
                  </a:lnTo>
                  <a:lnTo>
                    <a:pt x="1624" y="938"/>
                  </a:lnTo>
                  <a:lnTo>
                    <a:pt x="1585" y="951"/>
                  </a:lnTo>
                  <a:lnTo>
                    <a:pt x="1546" y="963"/>
                  </a:lnTo>
                  <a:lnTo>
                    <a:pt x="1526" y="968"/>
                  </a:lnTo>
                  <a:lnTo>
                    <a:pt x="1506" y="973"/>
                  </a:lnTo>
                  <a:lnTo>
                    <a:pt x="1464" y="982"/>
                  </a:lnTo>
                  <a:lnTo>
                    <a:pt x="1421" y="991"/>
                  </a:lnTo>
                  <a:lnTo>
                    <a:pt x="1399" y="994"/>
                  </a:lnTo>
                  <a:lnTo>
                    <a:pt x="1378" y="998"/>
                  </a:lnTo>
                  <a:lnTo>
                    <a:pt x="1333" y="1004"/>
                  </a:lnTo>
                  <a:lnTo>
                    <a:pt x="1311" y="1007"/>
                  </a:lnTo>
                  <a:lnTo>
                    <a:pt x="1287" y="1009"/>
                  </a:lnTo>
                  <a:lnTo>
                    <a:pt x="1242" y="1013"/>
                  </a:lnTo>
                  <a:lnTo>
                    <a:pt x="1218" y="1014"/>
                  </a:lnTo>
                  <a:lnTo>
                    <a:pt x="1196" y="1015"/>
                  </a:lnTo>
                  <a:lnTo>
                    <a:pt x="1150" y="1016"/>
                  </a:lnTo>
                  <a:lnTo>
                    <a:pt x="1128" y="1017"/>
                  </a:lnTo>
                  <a:lnTo>
                    <a:pt x="1105" y="1017"/>
                  </a:lnTo>
                  <a:lnTo>
                    <a:pt x="1061" y="1016"/>
                  </a:lnTo>
                  <a:lnTo>
                    <a:pt x="1038" y="1015"/>
                  </a:lnTo>
                  <a:lnTo>
                    <a:pt x="1016" y="1014"/>
                  </a:lnTo>
                  <a:lnTo>
                    <a:pt x="972" y="1011"/>
                  </a:lnTo>
                  <a:lnTo>
                    <a:pt x="929" y="1007"/>
                  </a:lnTo>
                  <a:lnTo>
                    <a:pt x="907" y="1005"/>
                  </a:lnTo>
                  <a:lnTo>
                    <a:pt x="885" y="1001"/>
                  </a:lnTo>
                  <a:lnTo>
                    <a:pt x="843" y="994"/>
                  </a:lnTo>
                  <a:lnTo>
                    <a:pt x="800" y="986"/>
                  </a:lnTo>
                  <a:lnTo>
                    <a:pt x="758" y="978"/>
                  </a:lnTo>
                  <a:lnTo>
                    <a:pt x="716" y="967"/>
                  </a:lnTo>
                  <a:lnTo>
                    <a:pt x="696" y="962"/>
                  </a:lnTo>
                  <a:lnTo>
                    <a:pt x="675" y="955"/>
                  </a:lnTo>
                  <a:lnTo>
                    <a:pt x="634" y="944"/>
                  </a:lnTo>
                  <a:lnTo>
                    <a:pt x="614" y="936"/>
                  </a:lnTo>
                  <a:lnTo>
                    <a:pt x="594" y="930"/>
                  </a:lnTo>
                  <a:lnTo>
                    <a:pt x="573" y="922"/>
                  </a:lnTo>
                  <a:lnTo>
                    <a:pt x="553" y="915"/>
                  </a:lnTo>
                  <a:lnTo>
                    <a:pt x="533" y="907"/>
                  </a:lnTo>
                  <a:lnTo>
                    <a:pt x="514" y="899"/>
                  </a:lnTo>
                  <a:lnTo>
                    <a:pt x="475" y="882"/>
                  </a:lnTo>
                  <a:lnTo>
                    <a:pt x="435" y="863"/>
                  </a:lnTo>
                  <a:lnTo>
                    <a:pt x="397" y="844"/>
                  </a:lnTo>
                  <a:lnTo>
                    <a:pt x="359" y="823"/>
                  </a:lnTo>
                  <a:lnTo>
                    <a:pt x="339" y="812"/>
                  </a:lnTo>
                  <a:lnTo>
                    <a:pt x="321" y="801"/>
                  </a:lnTo>
                  <a:lnTo>
                    <a:pt x="302" y="790"/>
                  </a:lnTo>
                  <a:lnTo>
                    <a:pt x="283" y="779"/>
                  </a:lnTo>
                  <a:lnTo>
                    <a:pt x="265" y="766"/>
                  </a:lnTo>
                  <a:lnTo>
                    <a:pt x="247" y="754"/>
                  </a:lnTo>
                  <a:lnTo>
                    <a:pt x="210" y="730"/>
                  </a:lnTo>
                  <a:lnTo>
                    <a:pt x="174" y="703"/>
                  </a:lnTo>
                  <a:lnTo>
                    <a:pt x="138" y="675"/>
                  </a:lnTo>
                  <a:lnTo>
                    <a:pt x="120" y="661"/>
                  </a:lnTo>
                  <a:lnTo>
                    <a:pt x="103" y="647"/>
                  </a:lnTo>
                  <a:lnTo>
                    <a:pt x="85" y="632"/>
                  </a:lnTo>
                  <a:lnTo>
                    <a:pt x="68" y="617"/>
                  </a:lnTo>
                  <a:lnTo>
                    <a:pt x="34" y="586"/>
                  </a:lnTo>
                  <a:lnTo>
                    <a:pt x="0" y="55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8" name="Freeform 293"/>
            <p:cNvSpPr>
              <a:spLocks/>
            </p:cNvSpPr>
            <p:nvPr/>
          </p:nvSpPr>
          <p:spPr bwMode="auto">
            <a:xfrm>
              <a:off x="2706" y="297"/>
              <a:ext cx="333" cy="70"/>
            </a:xfrm>
            <a:custGeom>
              <a:avLst/>
              <a:gdLst/>
              <a:ahLst/>
              <a:cxnLst>
                <a:cxn ang="0">
                  <a:pos x="8" y="45"/>
                </a:cxn>
                <a:cxn ang="0">
                  <a:pos x="89" y="83"/>
                </a:cxn>
                <a:cxn ang="0">
                  <a:pos x="167" y="116"/>
                </a:cxn>
                <a:cxn ang="0">
                  <a:pos x="240" y="142"/>
                </a:cxn>
                <a:cxn ang="0">
                  <a:pos x="313" y="162"/>
                </a:cxn>
                <a:cxn ang="0">
                  <a:pos x="345" y="170"/>
                </a:cxn>
                <a:cxn ang="0">
                  <a:pos x="380" y="176"/>
                </a:cxn>
                <a:cxn ang="0">
                  <a:pos x="446" y="185"/>
                </a:cxn>
                <a:cxn ang="0">
                  <a:pos x="476" y="186"/>
                </a:cxn>
                <a:cxn ang="0">
                  <a:pos x="508" y="187"/>
                </a:cxn>
                <a:cxn ang="0">
                  <a:pos x="569" y="185"/>
                </a:cxn>
                <a:cxn ang="0">
                  <a:pos x="626" y="176"/>
                </a:cxn>
                <a:cxn ang="0">
                  <a:pos x="654" y="171"/>
                </a:cxn>
                <a:cxn ang="0">
                  <a:pos x="681" y="164"/>
                </a:cxn>
                <a:cxn ang="0">
                  <a:pos x="735" y="146"/>
                </a:cxn>
                <a:cxn ang="0">
                  <a:pos x="787" y="126"/>
                </a:cxn>
                <a:cxn ang="0">
                  <a:pos x="838" y="100"/>
                </a:cxn>
                <a:cxn ang="0">
                  <a:pos x="887" y="70"/>
                </a:cxn>
                <a:cxn ang="0">
                  <a:pos x="937" y="36"/>
                </a:cxn>
                <a:cxn ang="0">
                  <a:pos x="985" y="0"/>
                </a:cxn>
                <a:cxn ang="0">
                  <a:pos x="996" y="15"/>
                </a:cxn>
                <a:cxn ang="0">
                  <a:pos x="948" y="51"/>
                </a:cxn>
                <a:cxn ang="0">
                  <a:pos x="898" y="85"/>
                </a:cxn>
                <a:cxn ang="0">
                  <a:pos x="847" y="116"/>
                </a:cxn>
                <a:cxn ang="0">
                  <a:pos x="796" y="142"/>
                </a:cxn>
                <a:cxn ang="0">
                  <a:pos x="740" y="164"/>
                </a:cxn>
                <a:cxn ang="0">
                  <a:pos x="686" y="181"/>
                </a:cxn>
                <a:cxn ang="0">
                  <a:pos x="656" y="189"/>
                </a:cxn>
                <a:cxn ang="0">
                  <a:pos x="629" y="195"/>
                </a:cxn>
                <a:cxn ang="0">
                  <a:pos x="570" y="203"/>
                </a:cxn>
                <a:cxn ang="0">
                  <a:pos x="508" y="205"/>
                </a:cxn>
                <a:cxn ang="0">
                  <a:pos x="475" y="204"/>
                </a:cxn>
                <a:cxn ang="0">
                  <a:pos x="443" y="203"/>
                </a:cxn>
                <a:cxn ang="0">
                  <a:pos x="377" y="195"/>
                </a:cxn>
                <a:cxn ang="0">
                  <a:pos x="343" y="188"/>
                </a:cxn>
                <a:cxn ang="0">
                  <a:pos x="307" y="180"/>
                </a:cxn>
                <a:cxn ang="0">
                  <a:pos x="235" y="159"/>
                </a:cxn>
                <a:cxn ang="0">
                  <a:pos x="160" y="134"/>
                </a:cxn>
                <a:cxn ang="0">
                  <a:pos x="83" y="100"/>
                </a:cxn>
                <a:cxn ang="0">
                  <a:pos x="0" y="61"/>
                </a:cxn>
                <a:cxn ang="0">
                  <a:pos x="8" y="45"/>
                </a:cxn>
              </a:cxnLst>
              <a:rect l="0" t="0" r="r" b="b"/>
              <a:pathLst>
                <a:path w="996" h="205">
                  <a:moveTo>
                    <a:pt x="8" y="45"/>
                  </a:moveTo>
                  <a:lnTo>
                    <a:pt x="89" y="83"/>
                  </a:lnTo>
                  <a:lnTo>
                    <a:pt x="167" y="116"/>
                  </a:lnTo>
                  <a:lnTo>
                    <a:pt x="240" y="142"/>
                  </a:lnTo>
                  <a:lnTo>
                    <a:pt x="313" y="162"/>
                  </a:lnTo>
                  <a:lnTo>
                    <a:pt x="345" y="170"/>
                  </a:lnTo>
                  <a:lnTo>
                    <a:pt x="380" y="176"/>
                  </a:lnTo>
                  <a:lnTo>
                    <a:pt x="446" y="185"/>
                  </a:lnTo>
                  <a:lnTo>
                    <a:pt x="476" y="186"/>
                  </a:lnTo>
                  <a:lnTo>
                    <a:pt x="508" y="187"/>
                  </a:lnTo>
                  <a:lnTo>
                    <a:pt x="569" y="185"/>
                  </a:lnTo>
                  <a:lnTo>
                    <a:pt x="626" y="176"/>
                  </a:lnTo>
                  <a:lnTo>
                    <a:pt x="654" y="171"/>
                  </a:lnTo>
                  <a:lnTo>
                    <a:pt x="681" y="164"/>
                  </a:lnTo>
                  <a:lnTo>
                    <a:pt x="735" y="146"/>
                  </a:lnTo>
                  <a:lnTo>
                    <a:pt x="787" y="126"/>
                  </a:lnTo>
                  <a:lnTo>
                    <a:pt x="838" y="100"/>
                  </a:lnTo>
                  <a:lnTo>
                    <a:pt x="887" y="70"/>
                  </a:lnTo>
                  <a:lnTo>
                    <a:pt x="937" y="36"/>
                  </a:lnTo>
                  <a:lnTo>
                    <a:pt x="985" y="0"/>
                  </a:lnTo>
                  <a:lnTo>
                    <a:pt x="996" y="15"/>
                  </a:lnTo>
                  <a:lnTo>
                    <a:pt x="948" y="51"/>
                  </a:lnTo>
                  <a:lnTo>
                    <a:pt x="898" y="85"/>
                  </a:lnTo>
                  <a:lnTo>
                    <a:pt x="847" y="116"/>
                  </a:lnTo>
                  <a:lnTo>
                    <a:pt x="796" y="142"/>
                  </a:lnTo>
                  <a:lnTo>
                    <a:pt x="740" y="164"/>
                  </a:lnTo>
                  <a:lnTo>
                    <a:pt x="686" y="181"/>
                  </a:lnTo>
                  <a:lnTo>
                    <a:pt x="656" y="189"/>
                  </a:lnTo>
                  <a:lnTo>
                    <a:pt x="629" y="195"/>
                  </a:lnTo>
                  <a:lnTo>
                    <a:pt x="570" y="203"/>
                  </a:lnTo>
                  <a:lnTo>
                    <a:pt x="508" y="205"/>
                  </a:lnTo>
                  <a:lnTo>
                    <a:pt x="475" y="204"/>
                  </a:lnTo>
                  <a:lnTo>
                    <a:pt x="443" y="203"/>
                  </a:lnTo>
                  <a:lnTo>
                    <a:pt x="377" y="195"/>
                  </a:lnTo>
                  <a:lnTo>
                    <a:pt x="343" y="188"/>
                  </a:lnTo>
                  <a:lnTo>
                    <a:pt x="307" y="180"/>
                  </a:lnTo>
                  <a:lnTo>
                    <a:pt x="235" y="159"/>
                  </a:lnTo>
                  <a:lnTo>
                    <a:pt x="160" y="134"/>
                  </a:lnTo>
                  <a:lnTo>
                    <a:pt x="83" y="100"/>
                  </a:lnTo>
                  <a:lnTo>
                    <a:pt x="0" y="61"/>
                  </a:lnTo>
                  <a:lnTo>
                    <a:pt x="8" y="4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9" name="Freeform 294"/>
            <p:cNvSpPr>
              <a:spLocks/>
            </p:cNvSpPr>
            <p:nvPr/>
          </p:nvSpPr>
          <p:spPr bwMode="auto">
            <a:xfrm>
              <a:off x="3034" y="128"/>
              <a:ext cx="141" cy="174"/>
            </a:xfrm>
            <a:custGeom>
              <a:avLst/>
              <a:gdLst/>
              <a:ahLst/>
              <a:cxnLst>
                <a:cxn ang="0">
                  <a:pos x="0" y="508"/>
                </a:cxn>
                <a:cxn ang="0">
                  <a:pos x="63" y="454"/>
                </a:cxn>
                <a:cxn ang="0">
                  <a:pos x="91" y="426"/>
                </a:cxn>
                <a:cxn ang="0">
                  <a:pos x="120" y="396"/>
                </a:cxn>
                <a:cxn ang="0">
                  <a:pos x="174" y="335"/>
                </a:cxn>
                <a:cxn ang="0">
                  <a:pos x="225" y="272"/>
                </a:cxn>
                <a:cxn ang="0">
                  <a:pos x="273" y="205"/>
                </a:cxn>
                <a:cxn ang="0">
                  <a:pos x="320" y="137"/>
                </a:cxn>
                <a:cxn ang="0">
                  <a:pos x="410" y="0"/>
                </a:cxn>
                <a:cxn ang="0">
                  <a:pos x="424" y="11"/>
                </a:cxn>
                <a:cxn ang="0">
                  <a:pos x="335" y="147"/>
                </a:cxn>
                <a:cxn ang="0">
                  <a:pos x="287" y="217"/>
                </a:cxn>
                <a:cxn ang="0">
                  <a:pos x="239" y="283"/>
                </a:cxn>
                <a:cxn ang="0">
                  <a:pos x="187" y="347"/>
                </a:cxn>
                <a:cxn ang="0">
                  <a:pos x="133" y="408"/>
                </a:cxn>
                <a:cxn ang="0">
                  <a:pos x="104" y="438"/>
                </a:cxn>
                <a:cxn ang="0">
                  <a:pos x="74" y="468"/>
                </a:cxn>
                <a:cxn ang="0">
                  <a:pos x="12" y="522"/>
                </a:cxn>
                <a:cxn ang="0">
                  <a:pos x="0" y="508"/>
                </a:cxn>
              </a:cxnLst>
              <a:rect l="0" t="0" r="r" b="b"/>
              <a:pathLst>
                <a:path w="424" h="522">
                  <a:moveTo>
                    <a:pt x="0" y="508"/>
                  </a:moveTo>
                  <a:lnTo>
                    <a:pt x="63" y="454"/>
                  </a:lnTo>
                  <a:lnTo>
                    <a:pt x="91" y="426"/>
                  </a:lnTo>
                  <a:lnTo>
                    <a:pt x="120" y="396"/>
                  </a:lnTo>
                  <a:lnTo>
                    <a:pt x="174" y="335"/>
                  </a:lnTo>
                  <a:lnTo>
                    <a:pt x="225" y="272"/>
                  </a:lnTo>
                  <a:lnTo>
                    <a:pt x="273" y="205"/>
                  </a:lnTo>
                  <a:lnTo>
                    <a:pt x="320" y="137"/>
                  </a:lnTo>
                  <a:lnTo>
                    <a:pt x="410" y="0"/>
                  </a:lnTo>
                  <a:lnTo>
                    <a:pt x="424" y="11"/>
                  </a:lnTo>
                  <a:lnTo>
                    <a:pt x="335" y="147"/>
                  </a:lnTo>
                  <a:lnTo>
                    <a:pt x="287" y="217"/>
                  </a:lnTo>
                  <a:lnTo>
                    <a:pt x="239" y="283"/>
                  </a:lnTo>
                  <a:lnTo>
                    <a:pt x="187" y="347"/>
                  </a:lnTo>
                  <a:lnTo>
                    <a:pt x="133" y="408"/>
                  </a:lnTo>
                  <a:lnTo>
                    <a:pt x="104" y="438"/>
                  </a:lnTo>
                  <a:lnTo>
                    <a:pt x="74" y="468"/>
                  </a:lnTo>
                  <a:lnTo>
                    <a:pt x="12" y="522"/>
                  </a:lnTo>
                  <a:lnTo>
                    <a:pt x="0" y="50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0" name="Freeform 295"/>
            <p:cNvSpPr>
              <a:spLocks/>
            </p:cNvSpPr>
            <p:nvPr/>
          </p:nvSpPr>
          <p:spPr bwMode="auto">
            <a:xfrm>
              <a:off x="3034" y="297"/>
              <a:ext cx="5" cy="5"/>
            </a:xfrm>
            <a:custGeom>
              <a:avLst/>
              <a:gdLst/>
              <a:ahLst/>
              <a:cxnLst>
                <a:cxn ang="0">
                  <a:pos x="12" y="15"/>
                </a:cxn>
                <a:cxn ang="0">
                  <a:pos x="0" y="1"/>
                </a:cxn>
                <a:cxn ang="0">
                  <a:pos x="1" y="0"/>
                </a:cxn>
                <a:cxn ang="0">
                  <a:pos x="12" y="15"/>
                </a:cxn>
              </a:cxnLst>
              <a:rect l="0" t="0" r="r" b="b"/>
              <a:pathLst>
                <a:path w="12" h="15">
                  <a:moveTo>
                    <a:pt x="12" y="15"/>
                  </a:moveTo>
                  <a:lnTo>
                    <a:pt x="0" y="1"/>
                  </a:lnTo>
                  <a:lnTo>
                    <a:pt x="1" y="0"/>
                  </a:lnTo>
                  <a:lnTo>
                    <a:pt x="12"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1" name="Freeform 296"/>
            <p:cNvSpPr>
              <a:spLocks/>
            </p:cNvSpPr>
            <p:nvPr/>
          </p:nvSpPr>
          <p:spPr bwMode="auto">
            <a:xfrm>
              <a:off x="3172" y="128"/>
              <a:ext cx="283" cy="152"/>
            </a:xfrm>
            <a:custGeom>
              <a:avLst/>
              <a:gdLst/>
              <a:ahLst/>
              <a:cxnLst>
                <a:cxn ang="0">
                  <a:pos x="8" y="0"/>
                </a:cxn>
                <a:cxn ang="0">
                  <a:pos x="0" y="16"/>
                </a:cxn>
                <a:cxn ang="0">
                  <a:pos x="839" y="458"/>
                </a:cxn>
                <a:cxn ang="0">
                  <a:pos x="848" y="441"/>
                </a:cxn>
                <a:cxn ang="0">
                  <a:pos x="8" y="0"/>
                </a:cxn>
              </a:cxnLst>
              <a:rect l="0" t="0" r="r" b="b"/>
              <a:pathLst>
                <a:path w="848" h="458">
                  <a:moveTo>
                    <a:pt x="8" y="0"/>
                  </a:moveTo>
                  <a:lnTo>
                    <a:pt x="0" y="16"/>
                  </a:lnTo>
                  <a:lnTo>
                    <a:pt x="839" y="458"/>
                  </a:lnTo>
                  <a:lnTo>
                    <a:pt x="848" y="441"/>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2" name="Freeform 297"/>
            <p:cNvSpPr>
              <a:spLocks/>
            </p:cNvSpPr>
            <p:nvPr/>
          </p:nvSpPr>
          <p:spPr bwMode="auto">
            <a:xfrm>
              <a:off x="3171" y="126"/>
              <a:ext cx="5" cy="8"/>
            </a:xfrm>
            <a:custGeom>
              <a:avLst/>
              <a:gdLst/>
              <a:ahLst/>
              <a:cxnLst>
                <a:cxn ang="0">
                  <a:pos x="0" y="7"/>
                </a:cxn>
                <a:cxn ang="0">
                  <a:pos x="4" y="0"/>
                </a:cxn>
                <a:cxn ang="0">
                  <a:pos x="11" y="5"/>
                </a:cxn>
                <a:cxn ang="0">
                  <a:pos x="3" y="21"/>
                </a:cxn>
                <a:cxn ang="0">
                  <a:pos x="14" y="18"/>
                </a:cxn>
                <a:cxn ang="0">
                  <a:pos x="0" y="7"/>
                </a:cxn>
              </a:cxnLst>
              <a:rect l="0" t="0" r="r" b="b"/>
              <a:pathLst>
                <a:path w="14" h="21">
                  <a:moveTo>
                    <a:pt x="0" y="7"/>
                  </a:moveTo>
                  <a:lnTo>
                    <a:pt x="4" y="0"/>
                  </a:lnTo>
                  <a:lnTo>
                    <a:pt x="11" y="5"/>
                  </a:lnTo>
                  <a:lnTo>
                    <a:pt x="3" y="21"/>
                  </a:lnTo>
                  <a:lnTo>
                    <a:pt x="14" y="18"/>
                  </a:lnTo>
                  <a:lnTo>
                    <a:pt x="0" y="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3" name="Freeform 298"/>
            <p:cNvSpPr>
              <a:spLocks/>
            </p:cNvSpPr>
            <p:nvPr/>
          </p:nvSpPr>
          <p:spPr bwMode="auto">
            <a:xfrm>
              <a:off x="3137" y="277"/>
              <a:ext cx="319" cy="192"/>
            </a:xfrm>
            <a:custGeom>
              <a:avLst/>
              <a:gdLst/>
              <a:ahLst/>
              <a:cxnLst>
                <a:cxn ang="0">
                  <a:pos x="959" y="8"/>
                </a:cxn>
                <a:cxn ang="0">
                  <a:pos x="931" y="59"/>
                </a:cxn>
                <a:cxn ang="0">
                  <a:pos x="900" y="109"/>
                </a:cxn>
                <a:cxn ang="0">
                  <a:pos x="863" y="158"/>
                </a:cxn>
                <a:cxn ang="0">
                  <a:pos x="823" y="205"/>
                </a:cxn>
                <a:cxn ang="0">
                  <a:pos x="800" y="228"/>
                </a:cxn>
                <a:cxn ang="0">
                  <a:pos x="778" y="251"/>
                </a:cxn>
                <a:cxn ang="0">
                  <a:pos x="728" y="296"/>
                </a:cxn>
                <a:cxn ang="0">
                  <a:pos x="674" y="338"/>
                </a:cxn>
                <a:cxn ang="0">
                  <a:pos x="616" y="377"/>
                </a:cxn>
                <a:cxn ang="0">
                  <a:pos x="554" y="415"/>
                </a:cxn>
                <a:cxn ang="0">
                  <a:pos x="488" y="450"/>
                </a:cxn>
                <a:cxn ang="0">
                  <a:pos x="416" y="481"/>
                </a:cxn>
                <a:cxn ang="0">
                  <a:pos x="342" y="509"/>
                </a:cxn>
                <a:cxn ang="0">
                  <a:pos x="302" y="522"/>
                </a:cxn>
                <a:cxn ang="0">
                  <a:pos x="263" y="532"/>
                </a:cxn>
                <a:cxn ang="0">
                  <a:pos x="180" y="553"/>
                </a:cxn>
                <a:cxn ang="0">
                  <a:pos x="138" y="561"/>
                </a:cxn>
                <a:cxn ang="0">
                  <a:pos x="94" y="569"/>
                </a:cxn>
                <a:cxn ang="0">
                  <a:pos x="49" y="574"/>
                </a:cxn>
                <a:cxn ang="0">
                  <a:pos x="3" y="579"/>
                </a:cxn>
                <a:cxn ang="0">
                  <a:pos x="0" y="562"/>
                </a:cxn>
                <a:cxn ang="0">
                  <a:pos x="46" y="557"/>
                </a:cxn>
                <a:cxn ang="0">
                  <a:pos x="90" y="552"/>
                </a:cxn>
                <a:cxn ang="0">
                  <a:pos x="133" y="544"/>
                </a:cxn>
                <a:cxn ang="0">
                  <a:pos x="175" y="536"/>
                </a:cxn>
                <a:cxn ang="0">
                  <a:pos x="258" y="515"/>
                </a:cxn>
                <a:cxn ang="0">
                  <a:pos x="297" y="505"/>
                </a:cxn>
                <a:cxn ang="0">
                  <a:pos x="335" y="492"/>
                </a:cxn>
                <a:cxn ang="0">
                  <a:pos x="409" y="465"/>
                </a:cxn>
                <a:cxn ang="0">
                  <a:pos x="479" y="434"/>
                </a:cxn>
                <a:cxn ang="0">
                  <a:pos x="544" y="400"/>
                </a:cxn>
                <a:cxn ang="0">
                  <a:pos x="606" y="362"/>
                </a:cxn>
                <a:cxn ang="0">
                  <a:pos x="662" y="324"/>
                </a:cxn>
                <a:cxn ang="0">
                  <a:pos x="716" y="282"/>
                </a:cxn>
                <a:cxn ang="0">
                  <a:pos x="765" y="238"/>
                </a:cxn>
                <a:cxn ang="0">
                  <a:pos x="788" y="215"/>
                </a:cxn>
                <a:cxn ang="0">
                  <a:pos x="809" y="193"/>
                </a:cxn>
                <a:cxn ang="0">
                  <a:pos x="849" y="146"/>
                </a:cxn>
                <a:cxn ang="0">
                  <a:pos x="886" y="98"/>
                </a:cxn>
                <a:cxn ang="0">
                  <a:pos x="915" y="50"/>
                </a:cxn>
                <a:cxn ang="0">
                  <a:pos x="943" y="0"/>
                </a:cxn>
                <a:cxn ang="0">
                  <a:pos x="959" y="8"/>
                </a:cxn>
              </a:cxnLst>
              <a:rect l="0" t="0" r="r" b="b"/>
              <a:pathLst>
                <a:path w="959" h="579">
                  <a:moveTo>
                    <a:pt x="959" y="8"/>
                  </a:moveTo>
                  <a:lnTo>
                    <a:pt x="931" y="59"/>
                  </a:lnTo>
                  <a:lnTo>
                    <a:pt x="900" y="109"/>
                  </a:lnTo>
                  <a:lnTo>
                    <a:pt x="863" y="158"/>
                  </a:lnTo>
                  <a:lnTo>
                    <a:pt x="823" y="205"/>
                  </a:lnTo>
                  <a:lnTo>
                    <a:pt x="800" y="228"/>
                  </a:lnTo>
                  <a:lnTo>
                    <a:pt x="778" y="251"/>
                  </a:lnTo>
                  <a:lnTo>
                    <a:pt x="728" y="296"/>
                  </a:lnTo>
                  <a:lnTo>
                    <a:pt x="674" y="338"/>
                  </a:lnTo>
                  <a:lnTo>
                    <a:pt x="616" y="377"/>
                  </a:lnTo>
                  <a:lnTo>
                    <a:pt x="554" y="415"/>
                  </a:lnTo>
                  <a:lnTo>
                    <a:pt x="488" y="450"/>
                  </a:lnTo>
                  <a:lnTo>
                    <a:pt x="416" y="481"/>
                  </a:lnTo>
                  <a:lnTo>
                    <a:pt x="342" y="509"/>
                  </a:lnTo>
                  <a:lnTo>
                    <a:pt x="302" y="522"/>
                  </a:lnTo>
                  <a:lnTo>
                    <a:pt x="263" y="532"/>
                  </a:lnTo>
                  <a:lnTo>
                    <a:pt x="180" y="553"/>
                  </a:lnTo>
                  <a:lnTo>
                    <a:pt x="138" y="561"/>
                  </a:lnTo>
                  <a:lnTo>
                    <a:pt x="94" y="569"/>
                  </a:lnTo>
                  <a:lnTo>
                    <a:pt x="49" y="574"/>
                  </a:lnTo>
                  <a:lnTo>
                    <a:pt x="3" y="579"/>
                  </a:lnTo>
                  <a:lnTo>
                    <a:pt x="0" y="562"/>
                  </a:lnTo>
                  <a:lnTo>
                    <a:pt x="46" y="557"/>
                  </a:lnTo>
                  <a:lnTo>
                    <a:pt x="90" y="552"/>
                  </a:lnTo>
                  <a:lnTo>
                    <a:pt x="133" y="544"/>
                  </a:lnTo>
                  <a:lnTo>
                    <a:pt x="175" y="536"/>
                  </a:lnTo>
                  <a:lnTo>
                    <a:pt x="258" y="515"/>
                  </a:lnTo>
                  <a:lnTo>
                    <a:pt x="297" y="505"/>
                  </a:lnTo>
                  <a:lnTo>
                    <a:pt x="335" y="492"/>
                  </a:lnTo>
                  <a:lnTo>
                    <a:pt x="409" y="465"/>
                  </a:lnTo>
                  <a:lnTo>
                    <a:pt x="479" y="434"/>
                  </a:lnTo>
                  <a:lnTo>
                    <a:pt x="544" y="400"/>
                  </a:lnTo>
                  <a:lnTo>
                    <a:pt x="606" y="362"/>
                  </a:lnTo>
                  <a:lnTo>
                    <a:pt x="662" y="324"/>
                  </a:lnTo>
                  <a:lnTo>
                    <a:pt x="716" y="282"/>
                  </a:lnTo>
                  <a:lnTo>
                    <a:pt x="765" y="238"/>
                  </a:lnTo>
                  <a:lnTo>
                    <a:pt x="788" y="215"/>
                  </a:lnTo>
                  <a:lnTo>
                    <a:pt x="809" y="193"/>
                  </a:lnTo>
                  <a:lnTo>
                    <a:pt x="849" y="146"/>
                  </a:lnTo>
                  <a:lnTo>
                    <a:pt x="886" y="98"/>
                  </a:lnTo>
                  <a:lnTo>
                    <a:pt x="915" y="50"/>
                  </a:lnTo>
                  <a:lnTo>
                    <a:pt x="943" y="0"/>
                  </a:lnTo>
                  <a:lnTo>
                    <a:pt x="959"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4" name="Freeform 299"/>
            <p:cNvSpPr>
              <a:spLocks/>
            </p:cNvSpPr>
            <p:nvPr/>
          </p:nvSpPr>
          <p:spPr bwMode="auto">
            <a:xfrm>
              <a:off x="3451" y="275"/>
              <a:ext cx="6" cy="5"/>
            </a:xfrm>
            <a:custGeom>
              <a:avLst/>
              <a:gdLst/>
              <a:ahLst/>
              <a:cxnLst>
                <a:cxn ang="0">
                  <a:pos x="13" y="0"/>
                </a:cxn>
                <a:cxn ang="0">
                  <a:pos x="20" y="5"/>
                </a:cxn>
                <a:cxn ang="0">
                  <a:pos x="16" y="12"/>
                </a:cxn>
                <a:cxn ang="0">
                  <a:pos x="0" y="4"/>
                </a:cxn>
                <a:cxn ang="0">
                  <a:pos x="4" y="17"/>
                </a:cxn>
                <a:cxn ang="0">
                  <a:pos x="13" y="0"/>
                </a:cxn>
              </a:cxnLst>
              <a:rect l="0" t="0" r="r" b="b"/>
              <a:pathLst>
                <a:path w="20" h="17">
                  <a:moveTo>
                    <a:pt x="13" y="0"/>
                  </a:moveTo>
                  <a:lnTo>
                    <a:pt x="20" y="5"/>
                  </a:lnTo>
                  <a:lnTo>
                    <a:pt x="16" y="12"/>
                  </a:lnTo>
                  <a:lnTo>
                    <a:pt x="0" y="4"/>
                  </a:lnTo>
                  <a:lnTo>
                    <a:pt x="4" y="17"/>
                  </a:lnTo>
                  <a:lnTo>
                    <a:pt x="13"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5" name="Freeform 300"/>
            <p:cNvSpPr>
              <a:spLocks/>
            </p:cNvSpPr>
            <p:nvPr/>
          </p:nvSpPr>
          <p:spPr bwMode="auto">
            <a:xfrm>
              <a:off x="2706" y="314"/>
              <a:ext cx="430" cy="158"/>
            </a:xfrm>
            <a:custGeom>
              <a:avLst/>
              <a:gdLst/>
              <a:ahLst/>
              <a:cxnLst>
                <a:cxn ang="0">
                  <a:pos x="1294" y="469"/>
                </a:cxn>
                <a:cxn ang="0">
                  <a:pos x="1202" y="476"/>
                </a:cxn>
                <a:cxn ang="0">
                  <a:pos x="1110" y="479"/>
                </a:cxn>
                <a:cxn ang="0">
                  <a:pos x="1021" y="475"/>
                </a:cxn>
                <a:cxn ang="0">
                  <a:pos x="933" y="467"/>
                </a:cxn>
                <a:cxn ang="0">
                  <a:pos x="847" y="454"/>
                </a:cxn>
                <a:cxn ang="0">
                  <a:pos x="761" y="437"/>
                </a:cxn>
                <a:cxn ang="0">
                  <a:pos x="677" y="416"/>
                </a:cxn>
                <a:cxn ang="0">
                  <a:pos x="637" y="404"/>
                </a:cxn>
                <a:cxn ang="0">
                  <a:pos x="596" y="390"/>
                </a:cxn>
                <a:cxn ang="0">
                  <a:pos x="516" y="359"/>
                </a:cxn>
                <a:cxn ang="0">
                  <a:pos x="437" y="324"/>
                </a:cxn>
                <a:cxn ang="0">
                  <a:pos x="359" y="282"/>
                </a:cxn>
                <a:cxn ang="0">
                  <a:pos x="284" y="237"/>
                </a:cxn>
                <a:cxn ang="0">
                  <a:pos x="210" y="189"/>
                </a:cxn>
                <a:cxn ang="0">
                  <a:pos x="138" y="135"/>
                </a:cxn>
                <a:cxn ang="0">
                  <a:pos x="68" y="76"/>
                </a:cxn>
                <a:cxn ang="0">
                  <a:pos x="34" y="45"/>
                </a:cxn>
                <a:cxn ang="0">
                  <a:pos x="0" y="13"/>
                </a:cxn>
                <a:cxn ang="0">
                  <a:pos x="12" y="0"/>
                </a:cxn>
                <a:cxn ang="0">
                  <a:pos x="46" y="32"/>
                </a:cxn>
                <a:cxn ang="0">
                  <a:pos x="79" y="63"/>
                </a:cxn>
                <a:cxn ang="0">
                  <a:pos x="150" y="121"/>
                </a:cxn>
                <a:cxn ang="0">
                  <a:pos x="221" y="175"/>
                </a:cxn>
                <a:cxn ang="0">
                  <a:pos x="294" y="222"/>
                </a:cxn>
                <a:cxn ang="0">
                  <a:pos x="369" y="267"/>
                </a:cxn>
                <a:cxn ang="0">
                  <a:pos x="445" y="308"/>
                </a:cxn>
                <a:cxn ang="0">
                  <a:pos x="523" y="343"/>
                </a:cxn>
                <a:cxn ang="0">
                  <a:pos x="603" y="374"/>
                </a:cxn>
                <a:cxn ang="0">
                  <a:pos x="642" y="387"/>
                </a:cxn>
                <a:cxn ang="0">
                  <a:pos x="683" y="399"/>
                </a:cxn>
                <a:cxn ang="0">
                  <a:pos x="766" y="420"/>
                </a:cxn>
                <a:cxn ang="0">
                  <a:pos x="850" y="437"/>
                </a:cxn>
                <a:cxn ang="0">
                  <a:pos x="935" y="450"/>
                </a:cxn>
                <a:cxn ang="0">
                  <a:pos x="1023" y="458"/>
                </a:cxn>
                <a:cxn ang="0">
                  <a:pos x="1110" y="461"/>
                </a:cxn>
                <a:cxn ang="0">
                  <a:pos x="1200" y="459"/>
                </a:cxn>
                <a:cxn ang="0">
                  <a:pos x="1292" y="452"/>
                </a:cxn>
                <a:cxn ang="0">
                  <a:pos x="1294" y="469"/>
                </a:cxn>
              </a:cxnLst>
              <a:rect l="0" t="0" r="r" b="b"/>
              <a:pathLst>
                <a:path w="1294" h="479">
                  <a:moveTo>
                    <a:pt x="1294" y="469"/>
                  </a:moveTo>
                  <a:lnTo>
                    <a:pt x="1202" y="476"/>
                  </a:lnTo>
                  <a:lnTo>
                    <a:pt x="1110" y="479"/>
                  </a:lnTo>
                  <a:lnTo>
                    <a:pt x="1021" y="475"/>
                  </a:lnTo>
                  <a:lnTo>
                    <a:pt x="933" y="467"/>
                  </a:lnTo>
                  <a:lnTo>
                    <a:pt x="847" y="454"/>
                  </a:lnTo>
                  <a:lnTo>
                    <a:pt x="761" y="437"/>
                  </a:lnTo>
                  <a:lnTo>
                    <a:pt x="677" y="416"/>
                  </a:lnTo>
                  <a:lnTo>
                    <a:pt x="637" y="404"/>
                  </a:lnTo>
                  <a:lnTo>
                    <a:pt x="596" y="390"/>
                  </a:lnTo>
                  <a:lnTo>
                    <a:pt x="516" y="359"/>
                  </a:lnTo>
                  <a:lnTo>
                    <a:pt x="437" y="324"/>
                  </a:lnTo>
                  <a:lnTo>
                    <a:pt x="359" y="282"/>
                  </a:lnTo>
                  <a:lnTo>
                    <a:pt x="284" y="237"/>
                  </a:lnTo>
                  <a:lnTo>
                    <a:pt x="210" y="189"/>
                  </a:lnTo>
                  <a:lnTo>
                    <a:pt x="138" y="135"/>
                  </a:lnTo>
                  <a:lnTo>
                    <a:pt x="68" y="76"/>
                  </a:lnTo>
                  <a:lnTo>
                    <a:pt x="34" y="45"/>
                  </a:lnTo>
                  <a:lnTo>
                    <a:pt x="0" y="13"/>
                  </a:lnTo>
                  <a:lnTo>
                    <a:pt x="12" y="0"/>
                  </a:lnTo>
                  <a:lnTo>
                    <a:pt x="46" y="32"/>
                  </a:lnTo>
                  <a:lnTo>
                    <a:pt x="79" y="63"/>
                  </a:lnTo>
                  <a:lnTo>
                    <a:pt x="150" y="121"/>
                  </a:lnTo>
                  <a:lnTo>
                    <a:pt x="221" y="175"/>
                  </a:lnTo>
                  <a:lnTo>
                    <a:pt x="294" y="222"/>
                  </a:lnTo>
                  <a:lnTo>
                    <a:pt x="369" y="267"/>
                  </a:lnTo>
                  <a:lnTo>
                    <a:pt x="445" y="308"/>
                  </a:lnTo>
                  <a:lnTo>
                    <a:pt x="523" y="343"/>
                  </a:lnTo>
                  <a:lnTo>
                    <a:pt x="603" y="374"/>
                  </a:lnTo>
                  <a:lnTo>
                    <a:pt x="642" y="387"/>
                  </a:lnTo>
                  <a:lnTo>
                    <a:pt x="683" y="399"/>
                  </a:lnTo>
                  <a:lnTo>
                    <a:pt x="766" y="420"/>
                  </a:lnTo>
                  <a:lnTo>
                    <a:pt x="850" y="437"/>
                  </a:lnTo>
                  <a:lnTo>
                    <a:pt x="935" y="450"/>
                  </a:lnTo>
                  <a:lnTo>
                    <a:pt x="1023" y="458"/>
                  </a:lnTo>
                  <a:lnTo>
                    <a:pt x="1110" y="461"/>
                  </a:lnTo>
                  <a:lnTo>
                    <a:pt x="1200" y="459"/>
                  </a:lnTo>
                  <a:lnTo>
                    <a:pt x="1292" y="452"/>
                  </a:lnTo>
                  <a:lnTo>
                    <a:pt x="1294" y="4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6" name="Freeform 301"/>
            <p:cNvSpPr>
              <a:spLocks/>
            </p:cNvSpPr>
            <p:nvPr/>
          </p:nvSpPr>
          <p:spPr bwMode="auto">
            <a:xfrm>
              <a:off x="3137" y="463"/>
              <a:ext cx="0" cy="6"/>
            </a:xfrm>
            <a:custGeom>
              <a:avLst/>
              <a:gdLst/>
              <a:ahLst/>
              <a:cxnLst>
                <a:cxn ang="0">
                  <a:pos x="3" y="17"/>
                </a:cxn>
                <a:cxn ang="0">
                  <a:pos x="1" y="0"/>
                </a:cxn>
                <a:cxn ang="0">
                  <a:pos x="0" y="0"/>
                </a:cxn>
                <a:cxn ang="0">
                  <a:pos x="3" y="17"/>
                </a:cxn>
              </a:cxnLst>
              <a:rect l="0" t="0" r="r" b="b"/>
              <a:pathLst>
                <a:path w="3" h="17">
                  <a:moveTo>
                    <a:pt x="3" y="17"/>
                  </a:moveTo>
                  <a:lnTo>
                    <a:pt x="1" y="0"/>
                  </a:lnTo>
                  <a:lnTo>
                    <a:pt x="0" y="0"/>
                  </a:lnTo>
                  <a:lnTo>
                    <a:pt x="3" y="1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7" name="Freeform 302"/>
            <p:cNvSpPr>
              <a:spLocks/>
            </p:cNvSpPr>
            <p:nvPr/>
          </p:nvSpPr>
          <p:spPr bwMode="auto">
            <a:xfrm>
              <a:off x="2706" y="312"/>
              <a:ext cx="3" cy="6"/>
            </a:xfrm>
            <a:custGeom>
              <a:avLst/>
              <a:gdLst/>
              <a:ahLst/>
              <a:cxnLst>
                <a:cxn ang="0">
                  <a:pos x="0" y="14"/>
                </a:cxn>
                <a:cxn ang="0">
                  <a:pos x="10" y="0"/>
                </a:cxn>
                <a:cxn ang="0">
                  <a:pos x="2" y="16"/>
                </a:cxn>
                <a:cxn ang="0">
                  <a:pos x="12" y="1"/>
                </a:cxn>
                <a:cxn ang="0">
                  <a:pos x="0" y="14"/>
                </a:cxn>
              </a:cxnLst>
              <a:rect l="0" t="0" r="r" b="b"/>
              <a:pathLst>
                <a:path w="12" h="16">
                  <a:moveTo>
                    <a:pt x="0" y="14"/>
                  </a:moveTo>
                  <a:lnTo>
                    <a:pt x="10" y="0"/>
                  </a:lnTo>
                  <a:lnTo>
                    <a:pt x="2" y="16"/>
                  </a:lnTo>
                  <a:lnTo>
                    <a:pt x="12" y="1"/>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8" name="Freeform 303"/>
            <p:cNvSpPr>
              <a:spLocks/>
            </p:cNvSpPr>
            <p:nvPr/>
          </p:nvSpPr>
          <p:spPr bwMode="auto">
            <a:xfrm>
              <a:off x="2309" y="131"/>
              <a:ext cx="744" cy="213"/>
            </a:xfrm>
            <a:custGeom>
              <a:avLst/>
              <a:gdLst/>
              <a:ahLst/>
              <a:cxnLst>
                <a:cxn ang="0">
                  <a:pos x="2184" y="413"/>
                </a:cxn>
                <a:cxn ang="0">
                  <a:pos x="2100" y="345"/>
                </a:cxn>
                <a:cxn ang="0">
                  <a:pos x="2010" y="283"/>
                </a:cxn>
                <a:cxn ang="0">
                  <a:pos x="1914" y="229"/>
                </a:cxn>
                <a:cxn ang="0">
                  <a:pos x="1812" y="183"/>
                </a:cxn>
                <a:cxn ang="0">
                  <a:pos x="1706" y="145"/>
                </a:cxn>
                <a:cxn ang="0">
                  <a:pos x="1598" y="114"/>
                </a:cxn>
                <a:cxn ang="0">
                  <a:pos x="1487" y="91"/>
                </a:cxn>
                <a:cxn ang="0">
                  <a:pos x="1373" y="76"/>
                </a:cxn>
                <a:cxn ang="0">
                  <a:pos x="1260" y="70"/>
                </a:cxn>
                <a:cxn ang="0">
                  <a:pos x="1146" y="72"/>
                </a:cxn>
                <a:cxn ang="0">
                  <a:pos x="1032" y="83"/>
                </a:cxn>
                <a:cxn ang="0">
                  <a:pos x="919" y="102"/>
                </a:cxn>
                <a:cxn ang="0">
                  <a:pos x="808" y="130"/>
                </a:cxn>
                <a:cxn ang="0">
                  <a:pos x="701" y="166"/>
                </a:cxn>
                <a:cxn ang="0">
                  <a:pos x="597" y="211"/>
                </a:cxn>
                <a:cxn ang="0">
                  <a:pos x="498" y="265"/>
                </a:cxn>
                <a:cxn ang="0">
                  <a:pos x="403" y="329"/>
                </a:cxn>
                <a:cxn ang="0">
                  <a:pos x="315" y="400"/>
                </a:cxn>
                <a:cxn ang="0">
                  <a:pos x="234" y="483"/>
                </a:cxn>
                <a:cxn ang="0">
                  <a:pos x="159" y="574"/>
                </a:cxn>
                <a:cxn ang="0">
                  <a:pos x="0" y="577"/>
                </a:cxn>
                <a:cxn ang="0">
                  <a:pos x="27" y="526"/>
                </a:cxn>
                <a:cxn ang="0">
                  <a:pos x="76" y="453"/>
                </a:cxn>
                <a:cxn ang="0">
                  <a:pos x="124" y="393"/>
                </a:cxn>
                <a:cxn ang="0">
                  <a:pos x="180" y="335"/>
                </a:cxn>
                <a:cxn ang="0">
                  <a:pos x="255" y="269"/>
                </a:cxn>
                <a:cxn ang="0">
                  <a:pos x="340" y="209"/>
                </a:cxn>
                <a:cxn ang="0">
                  <a:pos x="435" y="153"/>
                </a:cxn>
                <a:cxn ang="0">
                  <a:pos x="538" y="105"/>
                </a:cxn>
                <a:cxn ang="0">
                  <a:pos x="651" y="65"/>
                </a:cxn>
                <a:cxn ang="0">
                  <a:pos x="731" y="43"/>
                </a:cxn>
                <a:cxn ang="0">
                  <a:pos x="837" y="22"/>
                </a:cxn>
                <a:cxn ang="0">
                  <a:pos x="925" y="10"/>
                </a:cxn>
                <a:cxn ang="0">
                  <a:pos x="1040" y="1"/>
                </a:cxn>
                <a:cxn ang="0">
                  <a:pos x="1154" y="0"/>
                </a:cxn>
                <a:cxn ang="0">
                  <a:pos x="1265" y="6"/>
                </a:cxn>
                <a:cxn ang="0">
                  <a:pos x="1351" y="16"/>
                </a:cxn>
                <a:cxn ang="0">
                  <a:pos x="1437" y="31"/>
                </a:cxn>
                <a:cxn ang="0">
                  <a:pos x="1541" y="56"/>
                </a:cxn>
                <a:cxn ang="0">
                  <a:pos x="1644" y="88"/>
                </a:cxn>
                <a:cxn ang="0">
                  <a:pos x="1723" y="119"/>
                </a:cxn>
                <a:cxn ang="0">
                  <a:pos x="1802" y="154"/>
                </a:cxn>
                <a:cxn ang="0">
                  <a:pos x="1898" y="206"/>
                </a:cxn>
                <a:cxn ang="0">
                  <a:pos x="1953" y="239"/>
                </a:cxn>
                <a:cxn ang="0">
                  <a:pos x="2045" y="302"/>
                </a:cxn>
                <a:cxn ang="0">
                  <a:pos x="2134" y="371"/>
                </a:cxn>
                <a:cxn ang="0">
                  <a:pos x="2203" y="431"/>
                </a:cxn>
              </a:cxnLst>
              <a:rect l="0" t="0" r="r" b="b"/>
              <a:pathLst>
                <a:path w="2236" h="639">
                  <a:moveTo>
                    <a:pt x="2236" y="463"/>
                  </a:moveTo>
                  <a:lnTo>
                    <a:pt x="2211" y="438"/>
                  </a:lnTo>
                  <a:lnTo>
                    <a:pt x="2184" y="413"/>
                  </a:lnTo>
                  <a:lnTo>
                    <a:pt x="2158" y="390"/>
                  </a:lnTo>
                  <a:lnTo>
                    <a:pt x="2129" y="367"/>
                  </a:lnTo>
                  <a:lnTo>
                    <a:pt x="2100" y="345"/>
                  </a:lnTo>
                  <a:lnTo>
                    <a:pt x="2071" y="323"/>
                  </a:lnTo>
                  <a:lnTo>
                    <a:pt x="2041" y="303"/>
                  </a:lnTo>
                  <a:lnTo>
                    <a:pt x="2010" y="283"/>
                  </a:lnTo>
                  <a:lnTo>
                    <a:pt x="1979" y="264"/>
                  </a:lnTo>
                  <a:lnTo>
                    <a:pt x="1946" y="246"/>
                  </a:lnTo>
                  <a:lnTo>
                    <a:pt x="1914" y="229"/>
                  </a:lnTo>
                  <a:lnTo>
                    <a:pt x="1880" y="213"/>
                  </a:lnTo>
                  <a:lnTo>
                    <a:pt x="1847" y="197"/>
                  </a:lnTo>
                  <a:lnTo>
                    <a:pt x="1812" y="183"/>
                  </a:lnTo>
                  <a:lnTo>
                    <a:pt x="1778" y="169"/>
                  </a:lnTo>
                  <a:lnTo>
                    <a:pt x="1743" y="156"/>
                  </a:lnTo>
                  <a:lnTo>
                    <a:pt x="1706" y="145"/>
                  </a:lnTo>
                  <a:lnTo>
                    <a:pt x="1671" y="133"/>
                  </a:lnTo>
                  <a:lnTo>
                    <a:pt x="1635" y="123"/>
                  </a:lnTo>
                  <a:lnTo>
                    <a:pt x="1598" y="114"/>
                  </a:lnTo>
                  <a:lnTo>
                    <a:pt x="1562" y="105"/>
                  </a:lnTo>
                  <a:lnTo>
                    <a:pt x="1524" y="98"/>
                  </a:lnTo>
                  <a:lnTo>
                    <a:pt x="1487" y="91"/>
                  </a:lnTo>
                  <a:lnTo>
                    <a:pt x="1449" y="86"/>
                  </a:lnTo>
                  <a:lnTo>
                    <a:pt x="1412" y="80"/>
                  </a:lnTo>
                  <a:lnTo>
                    <a:pt x="1373" y="76"/>
                  </a:lnTo>
                  <a:lnTo>
                    <a:pt x="1336" y="74"/>
                  </a:lnTo>
                  <a:lnTo>
                    <a:pt x="1298" y="72"/>
                  </a:lnTo>
                  <a:lnTo>
                    <a:pt x="1260" y="70"/>
                  </a:lnTo>
                  <a:lnTo>
                    <a:pt x="1221" y="70"/>
                  </a:lnTo>
                  <a:lnTo>
                    <a:pt x="1183" y="71"/>
                  </a:lnTo>
                  <a:lnTo>
                    <a:pt x="1146" y="72"/>
                  </a:lnTo>
                  <a:lnTo>
                    <a:pt x="1107" y="75"/>
                  </a:lnTo>
                  <a:lnTo>
                    <a:pt x="1069" y="78"/>
                  </a:lnTo>
                  <a:lnTo>
                    <a:pt x="1032" y="83"/>
                  </a:lnTo>
                  <a:lnTo>
                    <a:pt x="994" y="88"/>
                  </a:lnTo>
                  <a:lnTo>
                    <a:pt x="956" y="94"/>
                  </a:lnTo>
                  <a:lnTo>
                    <a:pt x="919" y="102"/>
                  </a:lnTo>
                  <a:lnTo>
                    <a:pt x="882" y="110"/>
                  </a:lnTo>
                  <a:lnTo>
                    <a:pt x="845" y="119"/>
                  </a:lnTo>
                  <a:lnTo>
                    <a:pt x="808" y="130"/>
                  </a:lnTo>
                  <a:lnTo>
                    <a:pt x="772" y="140"/>
                  </a:lnTo>
                  <a:lnTo>
                    <a:pt x="736" y="153"/>
                  </a:lnTo>
                  <a:lnTo>
                    <a:pt x="701" y="166"/>
                  </a:lnTo>
                  <a:lnTo>
                    <a:pt x="666" y="180"/>
                  </a:lnTo>
                  <a:lnTo>
                    <a:pt x="631" y="195"/>
                  </a:lnTo>
                  <a:lnTo>
                    <a:pt x="597" y="211"/>
                  </a:lnTo>
                  <a:lnTo>
                    <a:pt x="564" y="228"/>
                  </a:lnTo>
                  <a:lnTo>
                    <a:pt x="530" y="246"/>
                  </a:lnTo>
                  <a:lnTo>
                    <a:pt x="498" y="265"/>
                  </a:lnTo>
                  <a:lnTo>
                    <a:pt x="466" y="285"/>
                  </a:lnTo>
                  <a:lnTo>
                    <a:pt x="434" y="306"/>
                  </a:lnTo>
                  <a:lnTo>
                    <a:pt x="403" y="329"/>
                  </a:lnTo>
                  <a:lnTo>
                    <a:pt x="373" y="351"/>
                  </a:lnTo>
                  <a:lnTo>
                    <a:pt x="343" y="376"/>
                  </a:lnTo>
                  <a:lnTo>
                    <a:pt x="315" y="400"/>
                  </a:lnTo>
                  <a:lnTo>
                    <a:pt x="287" y="427"/>
                  </a:lnTo>
                  <a:lnTo>
                    <a:pt x="259" y="454"/>
                  </a:lnTo>
                  <a:lnTo>
                    <a:pt x="234" y="483"/>
                  </a:lnTo>
                  <a:lnTo>
                    <a:pt x="208" y="511"/>
                  </a:lnTo>
                  <a:lnTo>
                    <a:pt x="183" y="541"/>
                  </a:lnTo>
                  <a:lnTo>
                    <a:pt x="159" y="574"/>
                  </a:lnTo>
                  <a:lnTo>
                    <a:pt x="137" y="606"/>
                  </a:lnTo>
                  <a:lnTo>
                    <a:pt x="115" y="639"/>
                  </a:lnTo>
                  <a:lnTo>
                    <a:pt x="0" y="577"/>
                  </a:lnTo>
                  <a:lnTo>
                    <a:pt x="12" y="551"/>
                  </a:lnTo>
                  <a:lnTo>
                    <a:pt x="20" y="539"/>
                  </a:lnTo>
                  <a:lnTo>
                    <a:pt x="27" y="526"/>
                  </a:lnTo>
                  <a:lnTo>
                    <a:pt x="42" y="502"/>
                  </a:lnTo>
                  <a:lnTo>
                    <a:pt x="58" y="477"/>
                  </a:lnTo>
                  <a:lnTo>
                    <a:pt x="76" y="453"/>
                  </a:lnTo>
                  <a:lnTo>
                    <a:pt x="94" y="428"/>
                  </a:lnTo>
                  <a:lnTo>
                    <a:pt x="114" y="405"/>
                  </a:lnTo>
                  <a:lnTo>
                    <a:pt x="124" y="393"/>
                  </a:lnTo>
                  <a:lnTo>
                    <a:pt x="135" y="381"/>
                  </a:lnTo>
                  <a:lnTo>
                    <a:pt x="157" y="357"/>
                  </a:lnTo>
                  <a:lnTo>
                    <a:pt x="180" y="335"/>
                  </a:lnTo>
                  <a:lnTo>
                    <a:pt x="204" y="313"/>
                  </a:lnTo>
                  <a:lnTo>
                    <a:pt x="228" y="290"/>
                  </a:lnTo>
                  <a:lnTo>
                    <a:pt x="255" y="269"/>
                  </a:lnTo>
                  <a:lnTo>
                    <a:pt x="283" y="248"/>
                  </a:lnTo>
                  <a:lnTo>
                    <a:pt x="310" y="228"/>
                  </a:lnTo>
                  <a:lnTo>
                    <a:pt x="340" y="209"/>
                  </a:lnTo>
                  <a:lnTo>
                    <a:pt x="370" y="190"/>
                  </a:lnTo>
                  <a:lnTo>
                    <a:pt x="402" y="171"/>
                  </a:lnTo>
                  <a:lnTo>
                    <a:pt x="435" y="153"/>
                  </a:lnTo>
                  <a:lnTo>
                    <a:pt x="468" y="137"/>
                  </a:lnTo>
                  <a:lnTo>
                    <a:pt x="503" y="121"/>
                  </a:lnTo>
                  <a:lnTo>
                    <a:pt x="538" y="105"/>
                  </a:lnTo>
                  <a:lnTo>
                    <a:pt x="574" y="91"/>
                  </a:lnTo>
                  <a:lnTo>
                    <a:pt x="613" y="78"/>
                  </a:lnTo>
                  <a:lnTo>
                    <a:pt x="651" y="65"/>
                  </a:lnTo>
                  <a:lnTo>
                    <a:pt x="690" y="54"/>
                  </a:lnTo>
                  <a:lnTo>
                    <a:pt x="710" y="48"/>
                  </a:lnTo>
                  <a:lnTo>
                    <a:pt x="731" y="43"/>
                  </a:lnTo>
                  <a:lnTo>
                    <a:pt x="772" y="34"/>
                  </a:lnTo>
                  <a:lnTo>
                    <a:pt x="815" y="26"/>
                  </a:lnTo>
                  <a:lnTo>
                    <a:pt x="837" y="22"/>
                  </a:lnTo>
                  <a:lnTo>
                    <a:pt x="858" y="18"/>
                  </a:lnTo>
                  <a:lnTo>
                    <a:pt x="903" y="12"/>
                  </a:lnTo>
                  <a:lnTo>
                    <a:pt x="925" y="10"/>
                  </a:lnTo>
                  <a:lnTo>
                    <a:pt x="949" y="8"/>
                  </a:lnTo>
                  <a:lnTo>
                    <a:pt x="995" y="3"/>
                  </a:lnTo>
                  <a:lnTo>
                    <a:pt x="1040" y="1"/>
                  </a:lnTo>
                  <a:lnTo>
                    <a:pt x="1086" y="0"/>
                  </a:lnTo>
                  <a:lnTo>
                    <a:pt x="1132" y="0"/>
                  </a:lnTo>
                  <a:lnTo>
                    <a:pt x="1154" y="0"/>
                  </a:lnTo>
                  <a:lnTo>
                    <a:pt x="1177" y="0"/>
                  </a:lnTo>
                  <a:lnTo>
                    <a:pt x="1220" y="2"/>
                  </a:lnTo>
                  <a:lnTo>
                    <a:pt x="1265" y="6"/>
                  </a:lnTo>
                  <a:lnTo>
                    <a:pt x="1286" y="8"/>
                  </a:lnTo>
                  <a:lnTo>
                    <a:pt x="1308" y="11"/>
                  </a:lnTo>
                  <a:lnTo>
                    <a:pt x="1351" y="16"/>
                  </a:lnTo>
                  <a:lnTo>
                    <a:pt x="1395" y="23"/>
                  </a:lnTo>
                  <a:lnTo>
                    <a:pt x="1416" y="27"/>
                  </a:lnTo>
                  <a:lnTo>
                    <a:pt x="1437" y="31"/>
                  </a:lnTo>
                  <a:lnTo>
                    <a:pt x="1479" y="40"/>
                  </a:lnTo>
                  <a:lnTo>
                    <a:pt x="1521" y="50"/>
                  </a:lnTo>
                  <a:lnTo>
                    <a:pt x="1541" y="56"/>
                  </a:lnTo>
                  <a:lnTo>
                    <a:pt x="1562" y="61"/>
                  </a:lnTo>
                  <a:lnTo>
                    <a:pt x="1603" y="74"/>
                  </a:lnTo>
                  <a:lnTo>
                    <a:pt x="1644" y="88"/>
                  </a:lnTo>
                  <a:lnTo>
                    <a:pt x="1664" y="95"/>
                  </a:lnTo>
                  <a:lnTo>
                    <a:pt x="1684" y="103"/>
                  </a:lnTo>
                  <a:lnTo>
                    <a:pt x="1723" y="119"/>
                  </a:lnTo>
                  <a:lnTo>
                    <a:pt x="1763" y="136"/>
                  </a:lnTo>
                  <a:lnTo>
                    <a:pt x="1783" y="145"/>
                  </a:lnTo>
                  <a:lnTo>
                    <a:pt x="1802" y="154"/>
                  </a:lnTo>
                  <a:lnTo>
                    <a:pt x="1840" y="173"/>
                  </a:lnTo>
                  <a:lnTo>
                    <a:pt x="1879" y="195"/>
                  </a:lnTo>
                  <a:lnTo>
                    <a:pt x="1898" y="206"/>
                  </a:lnTo>
                  <a:lnTo>
                    <a:pt x="1916" y="216"/>
                  </a:lnTo>
                  <a:lnTo>
                    <a:pt x="1935" y="227"/>
                  </a:lnTo>
                  <a:lnTo>
                    <a:pt x="1953" y="239"/>
                  </a:lnTo>
                  <a:lnTo>
                    <a:pt x="1991" y="263"/>
                  </a:lnTo>
                  <a:lnTo>
                    <a:pt x="2027" y="288"/>
                  </a:lnTo>
                  <a:lnTo>
                    <a:pt x="2045" y="302"/>
                  </a:lnTo>
                  <a:lnTo>
                    <a:pt x="2063" y="315"/>
                  </a:lnTo>
                  <a:lnTo>
                    <a:pt x="2099" y="342"/>
                  </a:lnTo>
                  <a:lnTo>
                    <a:pt x="2134" y="371"/>
                  </a:lnTo>
                  <a:lnTo>
                    <a:pt x="2151" y="385"/>
                  </a:lnTo>
                  <a:lnTo>
                    <a:pt x="2168" y="400"/>
                  </a:lnTo>
                  <a:lnTo>
                    <a:pt x="2203" y="431"/>
                  </a:lnTo>
                  <a:lnTo>
                    <a:pt x="2219" y="447"/>
                  </a:lnTo>
                  <a:lnTo>
                    <a:pt x="2236" y="46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19" name="Freeform 304"/>
            <p:cNvSpPr>
              <a:spLocks/>
            </p:cNvSpPr>
            <p:nvPr/>
          </p:nvSpPr>
          <p:spPr bwMode="auto">
            <a:xfrm>
              <a:off x="2344" y="149"/>
              <a:ext cx="712" cy="195"/>
            </a:xfrm>
            <a:custGeom>
              <a:avLst/>
              <a:gdLst/>
              <a:ahLst/>
              <a:cxnLst>
                <a:cxn ang="0">
                  <a:pos x="2071" y="358"/>
                </a:cxn>
                <a:cxn ang="0">
                  <a:pos x="1958" y="270"/>
                </a:cxn>
                <a:cxn ang="0">
                  <a:pos x="1834" y="193"/>
                </a:cxn>
                <a:cxn ang="0">
                  <a:pos x="1701" y="130"/>
                </a:cxn>
                <a:cxn ang="0">
                  <a:pos x="1561" y="80"/>
                </a:cxn>
                <a:cxn ang="0">
                  <a:pos x="1415" y="45"/>
                </a:cxn>
                <a:cxn ang="0">
                  <a:pos x="1265" y="24"/>
                </a:cxn>
                <a:cxn ang="0">
                  <a:pos x="1114" y="18"/>
                </a:cxn>
                <a:cxn ang="0">
                  <a:pos x="1001" y="23"/>
                </a:cxn>
                <a:cxn ang="0">
                  <a:pos x="889" y="35"/>
                </a:cxn>
                <a:cxn ang="0">
                  <a:pos x="740" y="66"/>
                </a:cxn>
                <a:cxn ang="0">
                  <a:pos x="632" y="100"/>
                </a:cxn>
                <a:cxn ang="0">
                  <a:pos x="528" y="142"/>
                </a:cxn>
                <a:cxn ang="0">
                  <a:pos x="427" y="193"/>
                </a:cxn>
                <a:cxn ang="0">
                  <a:pos x="332" y="253"/>
                </a:cxn>
                <a:cxn ang="0">
                  <a:pos x="214" y="346"/>
                </a:cxn>
                <a:cxn ang="0">
                  <a:pos x="133" y="427"/>
                </a:cxn>
                <a:cxn ang="0">
                  <a:pos x="60" y="517"/>
                </a:cxn>
                <a:cxn ang="0">
                  <a:pos x="15" y="583"/>
                </a:cxn>
                <a:cxn ang="0">
                  <a:pos x="23" y="539"/>
                </a:cxn>
                <a:cxn ang="0">
                  <a:pos x="94" y="445"/>
                </a:cxn>
                <a:cxn ang="0">
                  <a:pos x="146" y="386"/>
                </a:cxn>
                <a:cxn ang="0">
                  <a:pos x="260" y="284"/>
                </a:cxn>
                <a:cxn ang="0">
                  <a:pos x="385" y="197"/>
                </a:cxn>
                <a:cxn ang="0">
                  <a:pos x="451" y="160"/>
                </a:cxn>
                <a:cxn ang="0">
                  <a:pos x="590" y="97"/>
                </a:cxn>
                <a:cxn ang="0">
                  <a:pos x="662" y="71"/>
                </a:cxn>
                <a:cxn ang="0">
                  <a:pos x="810" y="32"/>
                </a:cxn>
                <a:cxn ang="0">
                  <a:pos x="960" y="9"/>
                </a:cxn>
                <a:cxn ang="0">
                  <a:pos x="1037" y="2"/>
                </a:cxn>
                <a:cxn ang="0">
                  <a:pos x="1191" y="1"/>
                </a:cxn>
                <a:cxn ang="0">
                  <a:pos x="1343" y="15"/>
                </a:cxn>
                <a:cxn ang="0">
                  <a:pos x="1493" y="44"/>
                </a:cxn>
                <a:cxn ang="0">
                  <a:pos x="1638" y="87"/>
                </a:cxn>
                <a:cxn ang="0">
                  <a:pos x="1777" y="143"/>
                </a:cxn>
                <a:cxn ang="0">
                  <a:pos x="1907" y="214"/>
                </a:cxn>
                <a:cxn ang="0">
                  <a:pos x="2027" y="299"/>
                </a:cxn>
                <a:cxn ang="0">
                  <a:pos x="2136" y="396"/>
                </a:cxn>
              </a:cxnLst>
              <a:rect l="0" t="0" r="r" b="b"/>
              <a:pathLst>
                <a:path w="2136" h="583">
                  <a:moveTo>
                    <a:pt x="2123" y="409"/>
                  </a:moveTo>
                  <a:lnTo>
                    <a:pt x="2071" y="358"/>
                  </a:lnTo>
                  <a:lnTo>
                    <a:pt x="2015" y="313"/>
                  </a:lnTo>
                  <a:lnTo>
                    <a:pt x="1958" y="270"/>
                  </a:lnTo>
                  <a:lnTo>
                    <a:pt x="1897" y="229"/>
                  </a:lnTo>
                  <a:lnTo>
                    <a:pt x="1834" y="193"/>
                  </a:lnTo>
                  <a:lnTo>
                    <a:pt x="1769" y="160"/>
                  </a:lnTo>
                  <a:lnTo>
                    <a:pt x="1701" y="130"/>
                  </a:lnTo>
                  <a:lnTo>
                    <a:pt x="1632" y="104"/>
                  </a:lnTo>
                  <a:lnTo>
                    <a:pt x="1561" y="80"/>
                  </a:lnTo>
                  <a:lnTo>
                    <a:pt x="1489" y="61"/>
                  </a:lnTo>
                  <a:lnTo>
                    <a:pt x="1415" y="45"/>
                  </a:lnTo>
                  <a:lnTo>
                    <a:pt x="1340" y="32"/>
                  </a:lnTo>
                  <a:lnTo>
                    <a:pt x="1265" y="24"/>
                  </a:lnTo>
                  <a:lnTo>
                    <a:pt x="1191" y="18"/>
                  </a:lnTo>
                  <a:lnTo>
                    <a:pt x="1114" y="18"/>
                  </a:lnTo>
                  <a:lnTo>
                    <a:pt x="1039" y="19"/>
                  </a:lnTo>
                  <a:lnTo>
                    <a:pt x="1001" y="23"/>
                  </a:lnTo>
                  <a:lnTo>
                    <a:pt x="963" y="26"/>
                  </a:lnTo>
                  <a:lnTo>
                    <a:pt x="889" y="35"/>
                  </a:lnTo>
                  <a:lnTo>
                    <a:pt x="814" y="49"/>
                  </a:lnTo>
                  <a:lnTo>
                    <a:pt x="740" y="66"/>
                  </a:lnTo>
                  <a:lnTo>
                    <a:pt x="667" y="88"/>
                  </a:lnTo>
                  <a:lnTo>
                    <a:pt x="632" y="100"/>
                  </a:lnTo>
                  <a:lnTo>
                    <a:pt x="597" y="114"/>
                  </a:lnTo>
                  <a:lnTo>
                    <a:pt x="528" y="142"/>
                  </a:lnTo>
                  <a:lnTo>
                    <a:pt x="460" y="176"/>
                  </a:lnTo>
                  <a:lnTo>
                    <a:pt x="427" y="193"/>
                  </a:lnTo>
                  <a:lnTo>
                    <a:pt x="396" y="212"/>
                  </a:lnTo>
                  <a:lnTo>
                    <a:pt x="332" y="253"/>
                  </a:lnTo>
                  <a:lnTo>
                    <a:pt x="272" y="298"/>
                  </a:lnTo>
                  <a:lnTo>
                    <a:pt x="214" y="346"/>
                  </a:lnTo>
                  <a:lnTo>
                    <a:pt x="159" y="399"/>
                  </a:lnTo>
                  <a:lnTo>
                    <a:pt x="133" y="427"/>
                  </a:lnTo>
                  <a:lnTo>
                    <a:pt x="108" y="457"/>
                  </a:lnTo>
                  <a:lnTo>
                    <a:pt x="60" y="517"/>
                  </a:lnTo>
                  <a:lnTo>
                    <a:pt x="37" y="550"/>
                  </a:lnTo>
                  <a:lnTo>
                    <a:pt x="15" y="583"/>
                  </a:lnTo>
                  <a:lnTo>
                    <a:pt x="0" y="572"/>
                  </a:lnTo>
                  <a:lnTo>
                    <a:pt x="23" y="539"/>
                  </a:lnTo>
                  <a:lnTo>
                    <a:pt x="45" y="506"/>
                  </a:lnTo>
                  <a:lnTo>
                    <a:pt x="94" y="445"/>
                  </a:lnTo>
                  <a:lnTo>
                    <a:pt x="119" y="415"/>
                  </a:lnTo>
                  <a:lnTo>
                    <a:pt x="146" y="386"/>
                  </a:lnTo>
                  <a:lnTo>
                    <a:pt x="201" y="333"/>
                  </a:lnTo>
                  <a:lnTo>
                    <a:pt x="260" y="284"/>
                  </a:lnTo>
                  <a:lnTo>
                    <a:pt x="320" y="239"/>
                  </a:lnTo>
                  <a:lnTo>
                    <a:pt x="385" y="197"/>
                  </a:lnTo>
                  <a:lnTo>
                    <a:pt x="417" y="178"/>
                  </a:lnTo>
                  <a:lnTo>
                    <a:pt x="451" y="160"/>
                  </a:lnTo>
                  <a:lnTo>
                    <a:pt x="519" y="126"/>
                  </a:lnTo>
                  <a:lnTo>
                    <a:pt x="590" y="97"/>
                  </a:lnTo>
                  <a:lnTo>
                    <a:pt x="626" y="83"/>
                  </a:lnTo>
                  <a:lnTo>
                    <a:pt x="662" y="71"/>
                  </a:lnTo>
                  <a:lnTo>
                    <a:pt x="734" y="49"/>
                  </a:lnTo>
                  <a:lnTo>
                    <a:pt x="810" y="32"/>
                  </a:lnTo>
                  <a:lnTo>
                    <a:pt x="884" y="18"/>
                  </a:lnTo>
                  <a:lnTo>
                    <a:pt x="960" y="9"/>
                  </a:lnTo>
                  <a:lnTo>
                    <a:pt x="999" y="6"/>
                  </a:lnTo>
                  <a:lnTo>
                    <a:pt x="1037" y="2"/>
                  </a:lnTo>
                  <a:lnTo>
                    <a:pt x="1114" y="0"/>
                  </a:lnTo>
                  <a:lnTo>
                    <a:pt x="1191" y="1"/>
                  </a:lnTo>
                  <a:lnTo>
                    <a:pt x="1267" y="7"/>
                  </a:lnTo>
                  <a:lnTo>
                    <a:pt x="1343" y="15"/>
                  </a:lnTo>
                  <a:lnTo>
                    <a:pt x="1420" y="28"/>
                  </a:lnTo>
                  <a:lnTo>
                    <a:pt x="1493" y="44"/>
                  </a:lnTo>
                  <a:lnTo>
                    <a:pt x="1566" y="63"/>
                  </a:lnTo>
                  <a:lnTo>
                    <a:pt x="1638" y="87"/>
                  </a:lnTo>
                  <a:lnTo>
                    <a:pt x="1708" y="114"/>
                  </a:lnTo>
                  <a:lnTo>
                    <a:pt x="1777" y="143"/>
                  </a:lnTo>
                  <a:lnTo>
                    <a:pt x="1843" y="178"/>
                  </a:lnTo>
                  <a:lnTo>
                    <a:pt x="1907" y="214"/>
                  </a:lnTo>
                  <a:lnTo>
                    <a:pt x="1969" y="256"/>
                  </a:lnTo>
                  <a:lnTo>
                    <a:pt x="2027" y="299"/>
                  </a:lnTo>
                  <a:lnTo>
                    <a:pt x="2084" y="346"/>
                  </a:lnTo>
                  <a:lnTo>
                    <a:pt x="2136" y="396"/>
                  </a:lnTo>
                  <a:lnTo>
                    <a:pt x="2123" y="40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0" name="Freeform 305"/>
            <p:cNvSpPr>
              <a:spLocks/>
            </p:cNvSpPr>
            <p:nvPr/>
          </p:nvSpPr>
          <p:spPr bwMode="auto">
            <a:xfrm>
              <a:off x="2306" y="320"/>
              <a:ext cx="42" cy="25"/>
            </a:xfrm>
            <a:custGeom>
              <a:avLst/>
              <a:gdLst/>
              <a:ahLst/>
              <a:cxnLst>
                <a:cxn ang="0">
                  <a:pos x="115" y="77"/>
                </a:cxn>
                <a:cxn ang="0">
                  <a:pos x="125" y="62"/>
                </a:cxn>
                <a:cxn ang="0">
                  <a:pos x="10" y="0"/>
                </a:cxn>
                <a:cxn ang="0">
                  <a:pos x="0" y="15"/>
                </a:cxn>
                <a:cxn ang="0">
                  <a:pos x="115" y="77"/>
                </a:cxn>
              </a:cxnLst>
              <a:rect l="0" t="0" r="r" b="b"/>
              <a:pathLst>
                <a:path w="125" h="77">
                  <a:moveTo>
                    <a:pt x="115" y="77"/>
                  </a:moveTo>
                  <a:lnTo>
                    <a:pt x="125" y="62"/>
                  </a:lnTo>
                  <a:lnTo>
                    <a:pt x="10" y="0"/>
                  </a:lnTo>
                  <a:lnTo>
                    <a:pt x="0" y="15"/>
                  </a:lnTo>
                  <a:lnTo>
                    <a:pt x="115" y="7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1" name="Freeform 306"/>
            <p:cNvSpPr>
              <a:spLocks/>
            </p:cNvSpPr>
            <p:nvPr/>
          </p:nvSpPr>
          <p:spPr bwMode="auto">
            <a:xfrm>
              <a:off x="2344" y="340"/>
              <a:ext cx="5" cy="6"/>
            </a:xfrm>
            <a:custGeom>
              <a:avLst/>
              <a:gdLst/>
              <a:ahLst/>
              <a:cxnLst>
                <a:cxn ang="0">
                  <a:pos x="15" y="13"/>
                </a:cxn>
                <a:cxn ang="0">
                  <a:pos x="11" y="20"/>
                </a:cxn>
                <a:cxn ang="0">
                  <a:pos x="2" y="15"/>
                </a:cxn>
                <a:cxn ang="0">
                  <a:pos x="12" y="0"/>
                </a:cxn>
                <a:cxn ang="0">
                  <a:pos x="0" y="2"/>
                </a:cxn>
                <a:cxn ang="0">
                  <a:pos x="15" y="13"/>
                </a:cxn>
              </a:cxnLst>
              <a:rect l="0" t="0" r="r" b="b"/>
              <a:pathLst>
                <a:path w="15" h="20">
                  <a:moveTo>
                    <a:pt x="15" y="13"/>
                  </a:moveTo>
                  <a:lnTo>
                    <a:pt x="11" y="20"/>
                  </a:lnTo>
                  <a:lnTo>
                    <a:pt x="2" y="15"/>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2" name="Freeform 307"/>
            <p:cNvSpPr>
              <a:spLocks/>
            </p:cNvSpPr>
            <p:nvPr/>
          </p:nvSpPr>
          <p:spPr bwMode="auto">
            <a:xfrm>
              <a:off x="2306" y="131"/>
              <a:ext cx="319" cy="194"/>
            </a:xfrm>
            <a:custGeom>
              <a:avLst/>
              <a:gdLst/>
              <a:ahLst/>
              <a:cxnLst>
                <a:cxn ang="0">
                  <a:pos x="0" y="573"/>
                </a:cxn>
                <a:cxn ang="0">
                  <a:pos x="28" y="523"/>
                </a:cxn>
                <a:cxn ang="0">
                  <a:pos x="43" y="496"/>
                </a:cxn>
                <a:cxn ang="0">
                  <a:pos x="59" y="472"/>
                </a:cxn>
                <a:cxn ang="0">
                  <a:pos x="95" y="424"/>
                </a:cxn>
                <a:cxn ang="0">
                  <a:pos x="136" y="375"/>
                </a:cxn>
                <a:cxn ang="0">
                  <a:pos x="158" y="352"/>
                </a:cxn>
                <a:cxn ang="0">
                  <a:pos x="181" y="329"/>
                </a:cxn>
                <a:cxn ang="0">
                  <a:pos x="230" y="285"/>
                </a:cxn>
                <a:cxn ang="0">
                  <a:pos x="284" y="242"/>
                </a:cxn>
                <a:cxn ang="0">
                  <a:pos x="343" y="201"/>
                </a:cxn>
                <a:cxn ang="0">
                  <a:pos x="406" y="165"/>
                </a:cxn>
                <a:cxn ang="0">
                  <a:pos x="472" y="130"/>
                </a:cxn>
                <a:cxn ang="0">
                  <a:pos x="543" y="97"/>
                </a:cxn>
                <a:cxn ang="0">
                  <a:pos x="617" y="70"/>
                </a:cxn>
                <a:cxn ang="0">
                  <a:pos x="656" y="58"/>
                </a:cxn>
                <a:cxn ang="0">
                  <a:pos x="695" y="46"/>
                </a:cxn>
                <a:cxn ang="0">
                  <a:pos x="779" y="26"/>
                </a:cxn>
                <a:cxn ang="0">
                  <a:pos x="822" y="18"/>
                </a:cxn>
                <a:cxn ang="0">
                  <a:pos x="865" y="11"/>
                </a:cxn>
                <a:cxn ang="0">
                  <a:pos x="910" y="4"/>
                </a:cxn>
                <a:cxn ang="0">
                  <a:pos x="957" y="0"/>
                </a:cxn>
                <a:cxn ang="0">
                  <a:pos x="958" y="18"/>
                </a:cxn>
                <a:cxn ang="0">
                  <a:pos x="912" y="23"/>
                </a:cxn>
                <a:cxn ang="0">
                  <a:pos x="867" y="29"/>
                </a:cxn>
                <a:cxn ang="0">
                  <a:pos x="824" y="36"/>
                </a:cxn>
                <a:cxn ang="0">
                  <a:pos x="781" y="44"/>
                </a:cxn>
                <a:cxn ang="0">
                  <a:pos x="700" y="63"/>
                </a:cxn>
                <a:cxn ang="0">
                  <a:pos x="661" y="75"/>
                </a:cxn>
                <a:cxn ang="0">
                  <a:pos x="623" y="87"/>
                </a:cxn>
                <a:cxn ang="0">
                  <a:pos x="549" y="115"/>
                </a:cxn>
                <a:cxn ang="0">
                  <a:pos x="480" y="146"/>
                </a:cxn>
                <a:cxn ang="0">
                  <a:pos x="414" y="181"/>
                </a:cxn>
                <a:cxn ang="0">
                  <a:pos x="354" y="216"/>
                </a:cxn>
                <a:cxn ang="0">
                  <a:pos x="295" y="257"/>
                </a:cxn>
                <a:cxn ang="0">
                  <a:pos x="242" y="299"/>
                </a:cxn>
                <a:cxn ang="0">
                  <a:pos x="194" y="341"/>
                </a:cxn>
                <a:cxn ang="0">
                  <a:pos x="171" y="365"/>
                </a:cxn>
                <a:cxn ang="0">
                  <a:pos x="149" y="387"/>
                </a:cxn>
                <a:cxn ang="0">
                  <a:pos x="109" y="435"/>
                </a:cxn>
                <a:cxn ang="0">
                  <a:pos x="73" y="484"/>
                </a:cxn>
                <a:cxn ang="0">
                  <a:pos x="58" y="507"/>
                </a:cxn>
                <a:cxn ang="0">
                  <a:pos x="43" y="533"/>
                </a:cxn>
                <a:cxn ang="0">
                  <a:pos x="15" y="583"/>
                </a:cxn>
                <a:cxn ang="0">
                  <a:pos x="0" y="573"/>
                </a:cxn>
              </a:cxnLst>
              <a:rect l="0" t="0" r="r" b="b"/>
              <a:pathLst>
                <a:path w="958" h="583">
                  <a:moveTo>
                    <a:pt x="0" y="573"/>
                  </a:moveTo>
                  <a:lnTo>
                    <a:pt x="28" y="523"/>
                  </a:lnTo>
                  <a:lnTo>
                    <a:pt x="43" y="496"/>
                  </a:lnTo>
                  <a:lnTo>
                    <a:pt x="59" y="472"/>
                  </a:lnTo>
                  <a:lnTo>
                    <a:pt x="95" y="424"/>
                  </a:lnTo>
                  <a:lnTo>
                    <a:pt x="136" y="375"/>
                  </a:lnTo>
                  <a:lnTo>
                    <a:pt x="158" y="352"/>
                  </a:lnTo>
                  <a:lnTo>
                    <a:pt x="181" y="329"/>
                  </a:lnTo>
                  <a:lnTo>
                    <a:pt x="230" y="285"/>
                  </a:lnTo>
                  <a:lnTo>
                    <a:pt x="284" y="242"/>
                  </a:lnTo>
                  <a:lnTo>
                    <a:pt x="343" y="201"/>
                  </a:lnTo>
                  <a:lnTo>
                    <a:pt x="406" y="165"/>
                  </a:lnTo>
                  <a:lnTo>
                    <a:pt x="472" y="130"/>
                  </a:lnTo>
                  <a:lnTo>
                    <a:pt x="543" y="97"/>
                  </a:lnTo>
                  <a:lnTo>
                    <a:pt x="617" y="70"/>
                  </a:lnTo>
                  <a:lnTo>
                    <a:pt x="656" y="58"/>
                  </a:lnTo>
                  <a:lnTo>
                    <a:pt x="695" y="46"/>
                  </a:lnTo>
                  <a:lnTo>
                    <a:pt x="779" y="26"/>
                  </a:lnTo>
                  <a:lnTo>
                    <a:pt x="822" y="18"/>
                  </a:lnTo>
                  <a:lnTo>
                    <a:pt x="865" y="11"/>
                  </a:lnTo>
                  <a:lnTo>
                    <a:pt x="910" y="4"/>
                  </a:lnTo>
                  <a:lnTo>
                    <a:pt x="957" y="0"/>
                  </a:lnTo>
                  <a:lnTo>
                    <a:pt x="958" y="18"/>
                  </a:lnTo>
                  <a:lnTo>
                    <a:pt x="912" y="23"/>
                  </a:lnTo>
                  <a:lnTo>
                    <a:pt x="867" y="29"/>
                  </a:lnTo>
                  <a:lnTo>
                    <a:pt x="824" y="36"/>
                  </a:lnTo>
                  <a:lnTo>
                    <a:pt x="781" y="44"/>
                  </a:lnTo>
                  <a:lnTo>
                    <a:pt x="700" y="63"/>
                  </a:lnTo>
                  <a:lnTo>
                    <a:pt x="661" y="75"/>
                  </a:lnTo>
                  <a:lnTo>
                    <a:pt x="623" y="87"/>
                  </a:lnTo>
                  <a:lnTo>
                    <a:pt x="549" y="115"/>
                  </a:lnTo>
                  <a:lnTo>
                    <a:pt x="480" y="146"/>
                  </a:lnTo>
                  <a:lnTo>
                    <a:pt x="414" y="181"/>
                  </a:lnTo>
                  <a:lnTo>
                    <a:pt x="354" y="216"/>
                  </a:lnTo>
                  <a:lnTo>
                    <a:pt x="295" y="257"/>
                  </a:lnTo>
                  <a:lnTo>
                    <a:pt x="242" y="299"/>
                  </a:lnTo>
                  <a:lnTo>
                    <a:pt x="194" y="341"/>
                  </a:lnTo>
                  <a:lnTo>
                    <a:pt x="171" y="365"/>
                  </a:lnTo>
                  <a:lnTo>
                    <a:pt x="149" y="387"/>
                  </a:lnTo>
                  <a:lnTo>
                    <a:pt x="109" y="435"/>
                  </a:lnTo>
                  <a:lnTo>
                    <a:pt x="73" y="484"/>
                  </a:lnTo>
                  <a:lnTo>
                    <a:pt x="58" y="507"/>
                  </a:lnTo>
                  <a:lnTo>
                    <a:pt x="43" y="533"/>
                  </a:lnTo>
                  <a:lnTo>
                    <a:pt x="15" y="583"/>
                  </a:lnTo>
                  <a:lnTo>
                    <a:pt x="0" y="57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3" name="Freeform 308"/>
            <p:cNvSpPr>
              <a:spLocks/>
            </p:cNvSpPr>
            <p:nvPr/>
          </p:nvSpPr>
          <p:spPr bwMode="auto">
            <a:xfrm>
              <a:off x="2304" y="320"/>
              <a:ext cx="6" cy="5"/>
            </a:xfrm>
            <a:custGeom>
              <a:avLst/>
              <a:gdLst/>
              <a:ahLst/>
              <a:cxnLst>
                <a:cxn ang="0">
                  <a:pos x="6" y="15"/>
                </a:cxn>
                <a:cxn ang="0">
                  <a:pos x="0" y="12"/>
                </a:cxn>
                <a:cxn ang="0">
                  <a:pos x="4" y="3"/>
                </a:cxn>
                <a:cxn ang="0">
                  <a:pos x="19" y="13"/>
                </a:cxn>
                <a:cxn ang="0">
                  <a:pos x="16" y="0"/>
                </a:cxn>
                <a:cxn ang="0">
                  <a:pos x="6" y="15"/>
                </a:cxn>
              </a:cxnLst>
              <a:rect l="0" t="0" r="r" b="b"/>
              <a:pathLst>
                <a:path w="19" h="15">
                  <a:moveTo>
                    <a:pt x="6" y="15"/>
                  </a:moveTo>
                  <a:lnTo>
                    <a:pt x="0" y="12"/>
                  </a:lnTo>
                  <a:lnTo>
                    <a:pt x="4" y="3"/>
                  </a:lnTo>
                  <a:lnTo>
                    <a:pt x="19" y="13"/>
                  </a:lnTo>
                  <a:lnTo>
                    <a:pt x="16" y="0"/>
                  </a:lnTo>
                  <a:lnTo>
                    <a:pt x="6"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4" name="Freeform 309"/>
            <p:cNvSpPr>
              <a:spLocks/>
            </p:cNvSpPr>
            <p:nvPr/>
          </p:nvSpPr>
          <p:spPr bwMode="auto">
            <a:xfrm>
              <a:off x="2624" y="128"/>
              <a:ext cx="430" cy="160"/>
            </a:xfrm>
            <a:custGeom>
              <a:avLst/>
              <a:gdLst/>
              <a:ahLst/>
              <a:cxnLst>
                <a:cxn ang="0">
                  <a:pos x="0" y="8"/>
                </a:cxn>
                <a:cxn ang="0">
                  <a:pos x="91" y="2"/>
                </a:cxn>
                <a:cxn ang="0">
                  <a:pos x="137" y="1"/>
                </a:cxn>
                <a:cxn ang="0">
                  <a:pos x="182" y="0"/>
                </a:cxn>
                <a:cxn ang="0">
                  <a:pos x="271" y="3"/>
                </a:cxn>
                <a:cxn ang="0">
                  <a:pos x="361" y="11"/>
                </a:cxn>
                <a:cxn ang="0">
                  <a:pos x="447" y="23"/>
                </a:cxn>
                <a:cxn ang="0">
                  <a:pos x="531" y="40"/>
                </a:cxn>
                <a:cxn ang="0">
                  <a:pos x="615" y="62"/>
                </a:cxn>
                <a:cxn ang="0">
                  <a:pos x="656" y="74"/>
                </a:cxn>
                <a:cxn ang="0">
                  <a:pos x="698" y="88"/>
                </a:cxn>
                <a:cxn ang="0">
                  <a:pos x="778" y="119"/>
                </a:cxn>
                <a:cxn ang="0">
                  <a:pos x="857" y="156"/>
                </a:cxn>
                <a:cxn ang="0">
                  <a:pos x="934" y="195"/>
                </a:cxn>
                <a:cxn ang="0">
                  <a:pos x="1010" y="240"/>
                </a:cxn>
                <a:cxn ang="0">
                  <a:pos x="1083" y="289"/>
                </a:cxn>
                <a:cxn ang="0">
                  <a:pos x="1155" y="345"/>
                </a:cxn>
                <a:cxn ang="0">
                  <a:pos x="1225" y="403"/>
                </a:cxn>
                <a:cxn ang="0">
                  <a:pos x="1293" y="466"/>
                </a:cxn>
                <a:cxn ang="0">
                  <a:pos x="1281" y="480"/>
                </a:cxn>
                <a:cxn ang="0">
                  <a:pos x="1213" y="417"/>
                </a:cxn>
                <a:cxn ang="0">
                  <a:pos x="1144" y="359"/>
                </a:cxn>
                <a:cxn ang="0">
                  <a:pos x="1072" y="304"/>
                </a:cxn>
                <a:cxn ang="0">
                  <a:pos x="999" y="255"/>
                </a:cxn>
                <a:cxn ang="0">
                  <a:pos x="926" y="211"/>
                </a:cxn>
                <a:cxn ang="0">
                  <a:pos x="849" y="172"/>
                </a:cxn>
                <a:cxn ang="0">
                  <a:pos x="771" y="136"/>
                </a:cxn>
                <a:cxn ang="0">
                  <a:pos x="691" y="105"/>
                </a:cxn>
                <a:cxn ang="0">
                  <a:pos x="651" y="92"/>
                </a:cxn>
                <a:cxn ang="0">
                  <a:pos x="610" y="79"/>
                </a:cxn>
                <a:cxn ang="0">
                  <a:pos x="528" y="58"/>
                </a:cxn>
                <a:cxn ang="0">
                  <a:pos x="445" y="41"/>
                </a:cxn>
                <a:cxn ang="0">
                  <a:pos x="358" y="30"/>
                </a:cxn>
                <a:cxn ang="0">
                  <a:pos x="270" y="21"/>
                </a:cxn>
                <a:cxn ang="0">
                  <a:pos x="182" y="18"/>
                </a:cxn>
                <a:cxn ang="0">
                  <a:pos x="137" y="19"/>
                </a:cxn>
                <a:cxn ang="0">
                  <a:pos x="91" y="20"/>
                </a:cxn>
                <a:cxn ang="0">
                  <a:pos x="1" y="26"/>
                </a:cxn>
                <a:cxn ang="0">
                  <a:pos x="0" y="8"/>
                </a:cxn>
              </a:cxnLst>
              <a:rect l="0" t="0" r="r" b="b"/>
              <a:pathLst>
                <a:path w="1293" h="480">
                  <a:moveTo>
                    <a:pt x="0" y="8"/>
                  </a:moveTo>
                  <a:lnTo>
                    <a:pt x="91" y="2"/>
                  </a:lnTo>
                  <a:lnTo>
                    <a:pt x="137" y="1"/>
                  </a:lnTo>
                  <a:lnTo>
                    <a:pt x="182" y="0"/>
                  </a:lnTo>
                  <a:lnTo>
                    <a:pt x="271" y="3"/>
                  </a:lnTo>
                  <a:lnTo>
                    <a:pt x="361" y="11"/>
                  </a:lnTo>
                  <a:lnTo>
                    <a:pt x="447" y="23"/>
                  </a:lnTo>
                  <a:lnTo>
                    <a:pt x="531" y="40"/>
                  </a:lnTo>
                  <a:lnTo>
                    <a:pt x="615" y="62"/>
                  </a:lnTo>
                  <a:lnTo>
                    <a:pt x="656" y="74"/>
                  </a:lnTo>
                  <a:lnTo>
                    <a:pt x="698" y="88"/>
                  </a:lnTo>
                  <a:lnTo>
                    <a:pt x="778" y="119"/>
                  </a:lnTo>
                  <a:lnTo>
                    <a:pt x="857" y="156"/>
                  </a:lnTo>
                  <a:lnTo>
                    <a:pt x="934" y="195"/>
                  </a:lnTo>
                  <a:lnTo>
                    <a:pt x="1010" y="240"/>
                  </a:lnTo>
                  <a:lnTo>
                    <a:pt x="1083" y="289"/>
                  </a:lnTo>
                  <a:lnTo>
                    <a:pt x="1155" y="345"/>
                  </a:lnTo>
                  <a:lnTo>
                    <a:pt x="1225" y="403"/>
                  </a:lnTo>
                  <a:lnTo>
                    <a:pt x="1293" y="466"/>
                  </a:lnTo>
                  <a:lnTo>
                    <a:pt x="1281" y="480"/>
                  </a:lnTo>
                  <a:lnTo>
                    <a:pt x="1213" y="417"/>
                  </a:lnTo>
                  <a:lnTo>
                    <a:pt x="1144" y="359"/>
                  </a:lnTo>
                  <a:lnTo>
                    <a:pt x="1072" y="304"/>
                  </a:lnTo>
                  <a:lnTo>
                    <a:pt x="999" y="255"/>
                  </a:lnTo>
                  <a:lnTo>
                    <a:pt x="926" y="211"/>
                  </a:lnTo>
                  <a:lnTo>
                    <a:pt x="849" y="172"/>
                  </a:lnTo>
                  <a:lnTo>
                    <a:pt x="771" y="136"/>
                  </a:lnTo>
                  <a:lnTo>
                    <a:pt x="691" y="105"/>
                  </a:lnTo>
                  <a:lnTo>
                    <a:pt x="651" y="92"/>
                  </a:lnTo>
                  <a:lnTo>
                    <a:pt x="610" y="79"/>
                  </a:lnTo>
                  <a:lnTo>
                    <a:pt x="528" y="58"/>
                  </a:lnTo>
                  <a:lnTo>
                    <a:pt x="445" y="41"/>
                  </a:lnTo>
                  <a:lnTo>
                    <a:pt x="358" y="30"/>
                  </a:lnTo>
                  <a:lnTo>
                    <a:pt x="270" y="21"/>
                  </a:lnTo>
                  <a:lnTo>
                    <a:pt x="182" y="18"/>
                  </a:lnTo>
                  <a:lnTo>
                    <a:pt x="137" y="19"/>
                  </a:lnTo>
                  <a:lnTo>
                    <a:pt x="91" y="20"/>
                  </a:lnTo>
                  <a:lnTo>
                    <a:pt x="1" y="26"/>
                  </a:lnTo>
                  <a:lnTo>
                    <a:pt x="0" y="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5" name="Freeform 310"/>
            <p:cNvSpPr>
              <a:spLocks/>
            </p:cNvSpPr>
            <p:nvPr/>
          </p:nvSpPr>
          <p:spPr bwMode="auto">
            <a:xfrm>
              <a:off x="2624" y="131"/>
              <a:ext cx="0" cy="5"/>
            </a:xfrm>
            <a:custGeom>
              <a:avLst/>
              <a:gdLst/>
              <a:ahLst/>
              <a:cxnLst>
                <a:cxn ang="0">
                  <a:pos x="0" y="0"/>
                </a:cxn>
                <a:cxn ang="0">
                  <a:pos x="1" y="18"/>
                </a:cxn>
                <a:cxn ang="0">
                  <a:pos x="0" y="0"/>
                </a:cxn>
              </a:cxnLst>
              <a:rect l="0" t="0" r="r" b="b"/>
              <a:pathLst>
                <a:path w="1" h="18">
                  <a:moveTo>
                    <a:pt x="0" y="0"/>
                  </a:moveTo>
                  <a:lnTo>
                    <a:pt x="1" y="18"/>
                  </a:lnTo>
                  <a:lnTo>
                    <a:pt x="0"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6" name="Freeform 311"/>
            <p:cNvSpPr>
              <a:spLocks/>
            </p:cNvSpPr>
            <p:nvPr/>
          </p:nvSpPr>
          <p:spPr bwMode="auto">
            <a:xfrm>
              <a:off x="3052" y="283"/>
              <a:ext cx="5" cy="5"/>
            </a:xfrm>
            <a:custGeom>
              <a:avLst/>
              <a:gdLst/>
              <a:ahLst/>
              <a:cxnLst>
                <a:cxn ang="0">
                  <a:pos x="0" y="14"/>
                </a:cxn>
                <a:cxn ang="0">
                  <a:pos x="13" y="0"/>
                </a:cxn>
                <a:cxn ang="0">
                  <a:pos x="0" y="13"/>
                </a:cxn>
                <a:cxn ang="0">
                  <a:pos x="12" y="0"/>
                </a:cxn>
                <a:cxn ang="0">
                  <a:pos x="0" y="14"/>
                </a:cxn>
              </a:cxnLst>
              <a:rect l="0" t="0" r="r" b="b"/>
              <a:pathLst>
                <a:path w="13" h="14">
                  <a:moveTo>
                    <a:pt x="0" y="14"/>
                  </a:moveTo>
                  <a:lnTo>
                    <a:pt x="13" y="0"/>
                  </a:lnTo>
                  <a:lnTo>
                    <a:pt x="0" y="13"/>
                  </a:lnTo>
                  <a:lnTo>
                    <a:pt x="12" y="0"/>
                  </a:lnTo>
                  <a:lnTo>
                    <a:pt x="0"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7" name="Freeform 312"/>
            <p:cNvSpPr>
              <a:spLocks/>
            </p:cNvSpPr>
            <p:nvPr/>
          </p:nvSpPr>
          <p:spPr bwMode="auto">
            <a:xfrm>
              <a:off x="2380" y="169"/>
              <a:ext cx="673" cy="213"/>
            </a:xfrm>
            <a:custGeom>
              <a:avLst/>
              <a:gdLst/>
              <a:ahLst/>
              <a:cxnLst>
                <a:cxn ang="0">
                  <a:pos x="1966" y="299"/>
                </a:cxn>
                <a:cxn ang="0">
                  <a:pos x="1880" y="241"/>
                </a:cxn>
                <a:cxn ang="0">
                  <a:pos x="1790" y="189"/>
                </a:cxn>
                <a:cxn ang="0">
                  <a:pos x="1699" y="145"/>
                </a:cxn>
                <a:cxn ang="0">
                  <a:pos x="1606" y="109"/>
                </a:cxn>
                <a:cxn ang="0">
                  <a:pos x="1512" y="80"/>
                </a:cxn>
                <a:cxn ang="0">
                  <a:pos x="1416" y="59"/>
                </a:cxn>
                <a:cxn ang="0">
                  <a:pos x="1319" y="45"/>
                </a:cxn>
                <a:cxn ang="0">
                  <a:pos x="1222" y="39"/>
                </a:cxn>
                <a:cxn ang="0">
                  <a:pos x="1125" y="41"/>
                </a:cxn>
                <a:cxn ang="0">
                  <a:pos x="1029" y="50"/>
                </a:cxn>
                <a:cxn ang="0">
                  <a:pos x="932" y="67"/>
                </a:cxn>
                <a:cxn ang="0">
                  <a:pos x="837" y="93"/>
                </a:cxn>
                <a:cxn ang="0">
                  <a:pos x="743" y="125"/>
                </a:cxn>
                <a:cxn ang="0">
                  <a:pos x="652" y="166"/>
                </a:cxn>
                <a:cxn ang="0">
                  <a:pos x="563" y="214"/>
                </a:cxn>
                <a:cxn ang="0">
                  <a:pos x="476" y="271"/>
                </a:cxn>
                <a:cxn ang="0">
                  <a:pos x="392" y="335"/>
                </a:cxn>
                <a:cxn ang="0">
                  <a:pos x="312" y="406"/>
                </a:cxn>
                <a:cxn ang="0">
                  <a:pos x="236" y="487"/>
                </a:cxn>
                <a:cxn ang="0">
                  <a:pos x="164" y="574"/>
                </a:cxn>
                <a:cxn ang="0">
                  <a:pos x="0" y="575"/>
                </a:cxn>
                <a:cxn ang="0">
                  <a:pos x="67" y="482"/>
                </a:cxn>
                <a:cxn ang="0">
                  <a:pos x="139" y="399"/>
                </a:cxn>
                <a:cxn ang="0">
                  <a:pos x="217" y="322"/>
                </a:cxn>
                <a:cxn ang="0">
                  <a:pos x="301" y="255"/>
                </a:cxn>
                <a:cxn ang="0">
                  <a:pos x="388" y="195"/>
                </a:cxn>
                <a:cxn ang="0">
                  <a:pos x="480" y="142"/>
                </a:cxn>
                <a:cxn ang="0">
                  <a:pos x="575" y="98"/>
                </a:cxn>
                <a:cxn ang="0">
                  <a:pos x="673" y="63"/>
                </a:cxn>
                <a:cxn ang="0">
                  <a:pos x="774" y="35"/>
                </a:cxn>
                <a:cxn ang="0">
                  <a:pos x="877" y="16"/>
                </a:cxn>
                <a:cxn ang="0">
                  <a:pos x="982" y="3"/>
                </a:cxn>
                <a:cxn ang="0">
                  <a:pos x="1086" y="0"/>
                </a:cxn>
                <a:cxn ang="0">
                  <a:pos x="1192" y="4"/>
                </a:cxn>
                <a:cxn ang="0">
                  <a:pos x="1298" y="16"/>
                </a:cxn>
                <a:cxn ang="0">
                  <a:pos x="1403" y="35"/>
                </a:cxn>
                <a:cxn ang="0">
                  <a:pos x="1506" y="63"/>
                </a:cxn>
                <a:cxn ang="0">
                  <a:pos x="1610" y="98"/>
                </a:cxn>
                <a:cxn ang="0">
                  <a:pos x="1710" y="142"/>
                </a:cxn>
                <a:cxn ang="0">
                  <a:pos x="1807" y="194"/>
                </a:cxn>
                <a:cxn ang="0">
                  <a:pos x="1901" y="252"/>
                </a:cxn>
                <a:cxn ang="0">
                  <a:pos x="1993" y="319"/>
                </a:cxn>
              </a:cxnLst>
              <a:rect l="0" t="0" r="r" b="b"/>
              <a:pathLst>
                <a:path w="2021" h="637">
                  <a:moveTo>
                    <a:pt x="2021" y="342"/>
                  </a:moveTo>
                  <a:lnTo>
                    <a:pt x="1994" y="320"/>
                  </a:lnTo>
                  <a:lnTo>
                    <a:pt x="1966" y="299"/>
                  </a:lnTo>
                  <a:lnTo>
                    <a:pt x="1937" y="278"/>
                  </a:lnTo>
                  <a:lnTo>
                    <a:pt x="1909" y="259"/>
                  </a:lnTo>
                  <a:lnTo>
                    <a:pt x="1880" y="241"/>
                  </a:lnTo>
                  <a:lnTo>
                    <a:pt x="1850" y="222"/>
                  </a:lnTo>
                  <a:lnTo>
                    <a:pt x="1820" y="205"/>
                  </a:lnTo>
                  <a:lnTo>
                    <a:pt x="1790" y="189"/>
                  </a:lnTo>
                  <a:lnTo>
                    <a:pt x="1761" y="173"/>
                  </a:lnTo>
                  <a:lnTo>
                    <a:pt x="1730" y="158"/>
                  </a:lnTo>
                  <a:lnTo>
                    <a:pt x="1699" y="145"/>
                  </a:lnTo>
                  <a:lnTo>
                    <a:pt x="1668" y="131"/>
                  </a:lnTo>
                  <a:lnTo>
                    <a:pt x="1637" y="120"/>
                  </a:lnTo>
                  <a:lnTo>
                    <a:pt x="1606" y="109"/>
                  </a:lnTo>
                  <a:lnTo>
                    <a:pt x="1574" y="98"/>
                  </a:lnTo>
                  <a:lnTo>
                    <a:pt x="1544" y="89"/>
                  </a:lnTo>
                  <a:lnTo>
                    <a:pt x="1512" y="80"/>
                  </a:lnTo>
                  <a:lnTo>
                    <a:pt x="1480" y="72"/>
                  </a:lnTo>
                  <a:lnTo>
                    <a:pt x="1448" y="65"/>
                  </a:lnTo>
                  <a:lnTo>
                    <a:pt x="1416" y="59"/>
                  </a:lnTo>
                  <a:lnTo>
                    <a:pt x="1384" y="53"/>
                  </a:lnTo>
                  <a:lnTo>
                    <a:pt x="1351" y="49"/>
                  </a:lnTo>
                  <a:lnTo>
                    <a:pt x="1319" y="45"/>
                  </a:lnTo>
                  <a:lnTo>
                    <a:pt x="1287" y="43"/>
                  </a:lnTo>
                  <a:lnTo>
                    <a:pt x="1254" y="41"/>
                  </a:lnTo>
                  <a:lnTo>
                    <a:pt x="1222" y="39"/>
                  </a:lnTo>
                  <a:lnTo>
                    <a:pt x="1189" y="39"/>
                  </a:lnTo>
                  <a:lnTo>
                    <a:pt x="1157" y="39"/>
                  </a:lnTo>
                  <a:lnTo>
                    <a:pt x="1125" y="41"/>
                  </a:lnTo>
                  <a:lnTo>
                    <a:pt x="1092" y="44"/>
                  </a:lnTo>
                  <a:lnTo>
                    <a:pt x="1060" y="47"/>
                  </a:lnTo>
                  <a:lnTo>
                    <a:pt x="1029" y="50"/>
                  </a:lnTo>
                  <a:lnTo>
                    <a:pt x="996" y="56"/>
                  </a:lnTo>
                  <a:lnTo>
                    <a:pt x="964" y="61"/>
                  </a:lnTo>
                  <a:lnTo>
                    <a:pt x="932" y="67"/>
                  </a:lnTo>
                  <a:lnTo>
                    <a:pt x="901" y="75"/>
                  </a:lnTo>
                  <a:lnTo>
                    <a:pt x="869" y="83"/>
                  </a:lnTo>
                  <a:lnTo>
                    <a:pt x="837" y="93"/>
                  </a:lnTo>
                  <a:lnTo>
                    <a:pt x="806" y="103"/>
                  </a:lnTo>
                  <a:lnTo>
                    <a:pt x="775" y="113"/>
                  </a:lnTo>
                  <a:lnTo>
                    <a:pt x="743" y="125"/>
                  </a:lnTo>
                  <a:lnTo>
                    <a:pt x="714" y="138"/>
                  </a:lnTo>
                  <a:lnTo>
                    <a:pt x="683" y="152"/>
                  </a:lnTo>
                  <a:lnTo>
                    <a:pt x="652" y="166"/>
                  </a:lnTo>
                  <a:lnTo>
                    <a:pt x="622" y="181"/>
                  </a:lnTo>
                  <a:lnTo>
                    <a:pt x="592" y="198"/>
                  </a:lnTo>
                  <a:lnTo>
                    <a:pt x="563" y="214"/>
                  </a:lnTo>
                  <a:lnTo>
                    <a:pt x="534" y="232"/>
                  </a:lnTo>
                  <a:lnTo>
                    <a:pt x="505" y="251"/>
                  </a:lnTo>
                  <a:lnTo>
                    <a:pt x="476" y="271"/>
                  </a:lnTo>
                  <a:lnTo>
                    <a:pt x="448" y="291"/>
                  </a:lnTo>
                  <a:lnTo>
                    <a:pt x="420" y="312"/>
                  </a:lnTo>
                  <a:lnTo>
                    <a:pt x="392" y="335"/>
                  </a:lnTo>
                  <a:lnTo>
                    <a:pt x="366" y="358"/>
                  </a:lnTo>
                  <a:lnTo>
                    <a:pt x="338" y="382"/>
                  </a:lnTo>
                  <a:lnTo>
                    <a:pt x="312" y="406"/>
                  </a:lnTo>
                  <a:lnTo>
                    <a:pt x="286" y="432"/>
                  </a:lnTo>
                  <a:lnTo>
                    <a:pt x="260" y="459"/>
                  </a:lnTo>
                  <a:lnTo>
                    <a:pt x="236" y="487"/>
                  </a:lnTo>
                  <a:lnTo>
                    <a:pt x="211" y="516"/>
                  </a:lnTo>
                  <a:lnTo>
                    <a:pt x="187" y="544"/>
                  </a:lnTo>
                  <a:lnTo>
                    <a:pt x="164" y="574"/>
                  </a:lnTo>
                  <a:lnTo>
                    <a:pt x="140" y="605"/>
                  </a:lnTo>
                  <a:lnTo>
                    <a:pt x="117" y="637"/>
                  </a:lnTo>
                  <a:lnTo>
                    <a:pt x="0" y="575"/>
                  </a:lnTo>
                  <a:lnTo>
                    <a:pt x="22" y="543"/>
                  </a:lnTo>
                  <a:lnTo>
                    <a:pt x="43" y="512"/>
                  </a:lnTo>
                  <a:lnTo>
                    <a:pt x="67" y="482"/>
                  </a:lnTo>
                  <a:lnTo>
                    <a:pt x="90" y="453"/>
                  </a:lnTo>
                  <a:lnTo>
                    <a:pt x="115" y="426"/>
                  </a:lnTo>
                  <a:lnTo>
                    <a:pt x="139" y="399"/>
                  </a:lnTo>
                  <a:lnTo>
                    <a:pt x="165" y="372"/>
                  </a:lnTo>
                  <a:lnTo>
                    <a:pt x="190" y="346"/>
                  </a:lnTo>
                  <a:lnTo>
                    <a:pt x="217" y="322"/>
                  </a:lnTo>
                  <a:lnTo>
                    <a:pt x="244" y="298"/>
                  </a:lnTo>
                  <a:lnTo>
                    <a:pt x="272" y="276"/>
                  </a:lnTo>
                  <a:lnTo>
                    <a:pt x="301" y="255"/>
                  </a:lnTo>
                  <a:lnTo>
                    <a:pt x="329" y="233"/>
                  </a:lnTo>
                  <a:lnTo>
                    <a:pt x="358" y="214"/>
                  </a:lnTo>
                  <a:lnTo>
                    <a:pt x="388" y="195"/>
                  </a:lnTo>
                  <a:lnTo>
                    <a:pt x="418" y="176"/>
                  </a:lnTo>
                  <a:lnTo>
                    <a:pt x="449" y="159"/>
                  </a:lnTo>
                  <a:lnTo>
                    <a:pt x="480" y="142"/>
                  </a:lnTo>
                  <a:lnTo>
                    <a:pt x="511" y="127"/>
                  </a:lnTo>
                  <a:lnTo>
                    <a:pt x="543" y="112"/>
                  </a:lnTo>
                  <a:lnTo>
                    <a:pt x="575" y="98"/>
                  </a:lnTo>
                  <a:lnTo>
                    <a:pt x="607" y="85"/>
                  </a:lnTo>
                  <a:lnTo>
                    <a:pt x="640" y="74"/>
                  </a:lnTo>
                  <a:lnTo>
                    <a:pt x="673" y="63"/>
                  </a:lnTo>
                  <a:lnTo>
                    <a:pt x="706" y="52"/>
                  </a:lnTo>
                  <a:lnTo>
                    <a:pt x="740" y="44"/>
                  </a:lnTo>
                  <a:lnTo>
                    <a:pt x="774" y="35"/>
                  </a:lnTo>
                  <a:lnTo>
                    <a:pt x="808" y="28"/>
                  </a:lnTo>
                  <a:lnTo>
                    <a:pt x="842" y="21"/>
                  </a:lnTo>
                  <a:lnTo>
                    <a:pt x="877" y="16"/>
                  </a:lnTo>
                  <a:lnTo>
                    <a:pt x="912" y="11"/>
                  </a:lnTo>
                  <a:lnTo>
                    <a:pt x="947" y="6"/>
                  </a:lnTo>
                  <a:lnTo>
                    <a:pt x="982" y="3"/>
                  </a:lnTo>
                  <a:lnTo>
                    <a:pt x="1016" y="1"/>
                  </a:lnTo>
                  <a:lnTo>
                    <a:pt x="1051" y="0"/>
                  </a:lnTo>
                  <a:lnTo>
                    <a:pt x="1086" y="0"/>
                  </a:lnTo>
                  <a:lnTo>
                    <a:pt x="1122" y="0"/>
                  </a:lnTo>
                  <a:lnTo>
                    <a:pt x="1157" y="2"/>
                  </a:lnTo>
                  <a:lnTo>
                    <a:pt x="1192" y="4"/>
                  </a:lnTo>
                  <a:lnTo>
                    <a:pt x="1228" y="7"/>
                  </a:lnTo>
                  <a:lnTo>
                    <a:pt x="1263" y="11"/>
                  </a:lnTo>
                  <a:lnTo>
                    <a:pt x="1298" y="16"/>
                  </a:lnTo>
                  <a:lnTo>
                    <a:pt x="1333" y="21"/>
                  </a:lnTo>
                  <a:lnTo>
                    <a:pt x="1368" y="28"/>
                  </a:lnTo>
                  <a:lnTo>
                    <a:pt x="1403" y="35"/>
                  </a:lnTo>
                  <a:lnTo>
                    <a:pt x="1437" y="44"/>
                  </a:lnTo>
                  <a:lnTo>
                    <a:pt x="1472" y="53"/>
                  </a:lnTo>
                  <a:lnTo>
                    <a:pt x="1506" y="63"/>
                  </a:lnTo>
                  <a:lnTo>
                    <a:pt x="1541" y="74"/>
                  </a:lnTo>
                  <a:lnTo>
                    <a:pt x="1575" y="87"/>
                  </a:lnTo>
                  <a:lnTo>
                    <a:pt x="1610" y="98"/>
                  </a:lnTo>
                  <a:lnTo>
                    <a:pt x="1643" y="112"/>
                  </a:lnTo>
                  <a:lnTo>
                    <a:pt x="1677" y="127"/>
                  </a:lnTo>
                  <a:lnTo>
                    <a:pt x="1710" y="142"/>
                  </a:lnTo>
                  <a:lnTo>
                    <a:pt x="1743" y="158"/>
                  </a:lnTo>
                  <a:lnTo>
                    <a:pt x="1774" y="175"/>
                  </a:lnTo>
                  <a:lnTo>
                    <a:pt x="1807" y="194"/>
                  </a:lnTo>
                  <a:lnTo>
                    <a:pt x="1839" y="212"/>
                  </a:lnTo>
                  <a:lnTo>
                    <a:pt x="1870" y="231"/>
                  </a:lnTo>
                  <a:lnTo>
                    <a:pt x="1901" y="252"/>
                  </a:lnTo>
                  <a:lnTo>
                    <a:pt x="1932" y="273"/>
                  </a:lnTo>
                  <a:lnTo>
                    <a:pt x="1963" y="295"/>
                  </a:lnTo>
                  <a:lnTo>
                    <a:pt x="1993" y="319"/>
                  </a:lnTo>
                  <a:lnTo>
                    <a:pt x="2021" y="34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8" name="Freeform 313"/>
            <p:cNvSpPr>
              <a:spLocks/>
            </p:cNvSpPr>
            <p:nvPr/>
          </p:nvSpPr>
          <p:spPr bwMode="auto">
            <a:xfrm>
              <a:off x="2415" y="180"/>
              <a:ext cx="639" cy="203"/>
            </a:xfrm>
            <a:custGeom>
              <a:avLst/>
              <a:gdLst/>
              <a:ahLst/>
              <a:cxnLst>
                <a:cxn ang="0">
                  <a:pos x="1851" y="275"/>
                </a:cxn>
                <a:cxn ang="0">
                  <a:pos x="1736" y="199"/>
                </a:cxn>
                <a:cxn ang="0">
                  <a:pos x="1617" y="136"/>
                </a:cxn>
                <a:cxn ang="0">
                  <a:pos x="1494" y="86"/>
                </a:cxn>
                <a:cxn ang="0">
                  <a:pos x="1369" y="49"/>
                </a:cxn>
                <a:cxn ang="0">
                  <a:pos x="1240" y="27"/>
                </a:cxn>
                <a:cxn ang="0">
                  <a:pos x="1177" y="20"/>
                </a:cxn>
                <a:cxn ang="0">
                  <a:pos x="1049" y="17"/>
                </a:cxn>
                <a:cxn ang="0">
                  <a:pos x="921" y="28"/>
                </a:cxn>
                <a:cxn ang="0">
                  <a:pos x="793" y="52"/>
                </a:cxn>
                <a:cxn ang="0">
                  <a:pos x="668" y="91"/>
                </a:cxn>
                <a:cxn ang="0">
                  <a:pos x="547" y="143"/>
                </a:cxn>
                <a:cxn ang="0">
                  <a:pos x="459" y="190"/>
                </a:cxn>
                <a:cxn ang="0">
                  <a:pos x="373" y="247"/>
                </a:cxn>
                <a:cxn ang="0">
                  <a:pos x="263" y="333"/>
                </a:cxn>
                <a:cxn ang="0">
                  <a:pos x="183" y="407"/>
                </a:cxn>
                <a:cxn ang="0">
                  <a:pos x="108" y="490"/>
                </a:cxn>
                <a:cxn ang="0">
                  <a:pos x="15" y="612"/>
                </a:cxn>
                <a:cxn ang="0">
                  <a:pos x="46" y="538"/>
                </a:cxn>
                <a:cxn ang="0">
                  <a:pos x="144" y="422"/>
                </a:cxn>
                <a:cxn ang="0">
                  <a:pos x="197" y="369"/>
                </a:cxn>
                <a:cxn ang="0">
                  <a:pos x="305" y="275"/>
                </a:cxn>
                <a:cxn ang="0">
                  <a:pos x="419" y="194"/>
                </a:cxn>
                <a:cxn ang="0">
                  <a:pos x="478" y="158"/>
                </a:cxn>
                <a:cxn ang="0">
                  <a:pos x="599" y="99"/>
                </a:cxn>
                <a:cxn ang="0">
                  <a:pos x="725" y="53"/>
                </a:cxn>
                <a:cxn ang="0">
                  <a:pos x="853" y="21"/>
                </a:cxn>
                <a:cxn ang="0">
                  <a:pos x="982" y="3"/>
                </a:cxn>
                <a:cxn ang="0">
                  <a:pos x="1113" y="0"/>
                </a:cxn>
                <a:cxn ang="0">
                  <a:pos x="1211" y="5"/>
                </a:cxn>
                <a:cxn ang="0">
                  <a:pos x="1308" y="19"/>
                </a:cxn>
                <a:cxn ang="0">
                  <a:pos x="1437" y="49"/>
                </a:cxn>
                <a:cxn ang="0">
                  <a:pos x="1562" y="93"/>
                </a:cxn>
                <a:cxn ang="0">
                  <a:pos x="1686" y="150"/>
                </a:cxn>
                <a:cxn ang="0">
                  <a:pos x="1805" y="220"/>
                </a:cxn>
                <a:cxn ang="0">
                  <a:pos x="1918" y="305"/>
                </a:cxn>
              </a:cxnLst>
              <a:rect l="0" t="0" r="r" b="b"/>
              <a:pathLst>
                <a:path w="1918" h="612">
                  <a:moveTo>
                    <a:pt x="1906" y="319"/>
                  </a:moveTo>
                  <a:lnTo>
                    <a:pt x="1851" y="275"/>
                  </a:lnTo>
                  <a:lnTo>
                    <a:pt x="1794" y="235"/>
                  </a:lnTo>
                  <a:lnTo>
                    <a:pt x="1736" y="199"/>
                  </a:lnTo>
                  <a:lnTo>
                    <a:pt x="1677" y="166"/>
                  </a:lnTo>
                  <a:lnTo>
                    <a:pt x="1617" y="136"/>
                  </a:lnTo>
                  <a:lnTo>
                    <a:pt x="1555" y="109"/>
                  </a:lnTo>
                  <a:lnTo>
                    <a:pt x="1494" y="86"/>
                  </a:lnTo>
                  <a:lnTo>
                    <a:pt x="1431" y="66"/>
                  </a:lnTo>
                  <a:lnTo>
                    <a:pt x="1369" y="49"/>
                  </a:lnTo>
                  <a:lnTo>
                    <a:pt x="1305" y="36"/>
                  </a:lnTo>
                  <a:lnTo>
                    <a:pt x="1240" y="27"/>
                  </a:lnTo>
                  <a:lnTo>
                    <a:pt x="1209" y="22"/>
                  </a:lnTo>
                  <a:lnTo>
                    <a:pt x="1177" y="20"/>
                  </a:lnTo>
                  <a:lnTo>
                    <a:pt x="1113" y="17"/>
                  </a:lnTo>
                  <a:lnTo>
                    <a:pt x="1049" y="17"/>
                  </a:lnTo>
                  <a:lnTo>
                    <a:pt x="984" y="20"/>
                  </a:lnTo>
                  <a:lnTo>
                    <a:pt x="921" y="28"/>
                  </a:lnTo>
                  <a:lnTo>
                    <a:pt x="857" y="38"/>
                  </a:lnTo>
                  <a:lnTo>
                    <a:pt x="793" y="52"/>
                  </a:lnTo>
                  <a:lnTo>
                    <a:pt x="730" y="71"/>
                  </a:lnTo>
                  <a:lnTo>
                    <a:pt x="668" y="91"/>
                  </a:lnTo>
                  <a:lnTo>
                    <a:pt x="608" y="115"/>
                  </a:lnTo>
                  <a:lnTo>
                    <a:pt x="547" y="143"/>
                  </a:lnTo>
                  <a:lnTo>
                    <a:pt x="488" y="173"/>
                  </a:lnTo>
                  <a:lnTo>
                    <a:pt x="459" y="190"/>
                  </a:lnTo>
                  <a:lnTo>
                    <a:pt x="430" y="209"/>
                  </a:lnTo>
                  <a:lnTo>
                    <a:pt x="373" y="247"/>
                  </a:lnTo>
                  <a:lnTo>
                    <a:pt x="316" y="289"/>
                  </a:lnTo>
                  <a:lnTo>
                    <a:pt x="263" y="333"/>
                  </a:lnTo>
                  <a:lnTo>
                    <a:pt x="210" y="382"/>
                  </a:lnTo>
                  <a:lnTo>
                    <a:pt x="183" y="407"/>
                  </a:lnTo>
                  <a:lnTo>
                    <a:pt x="158" y="434"/>
                  </a:lnTo>
                  <a:lnTo>
                    <a:pt x="108" y="490"/>
                  </a:lnTo>
                  <a:lnTo>
                    <a:pt x="60" y="550"/>
                  </a:lnTo>
                  <a:lnTo>
                    <a:pt x="15" y="612"/>
                  </a:lnTo>
                  <a:lnTo>
                    <a:pt x="0" y="601"/>
                  </a:lnTo>
                  <a:lnTo>
                    <a:pt x="46" y="538"/>
                  </a:lnTo>
                  <a:lnTo>
                    <a:pt x="94" y="478"/>
                  </a:lnTo>
                  <a:lnTo>
                    <a:pt x="144" y="422"/>
                  </a:lnTo>
                  <a:lnTo>
                    <a:pt x="170" y="395"/>
                  </a:lnTo>
                  <a:lnTo>
                    <a:pt x="197" y="369"/>
                  </a:lnTo>
                  <a:lnTo>
                    <a:pt x="250" y="320"/>
                  </a:lnTo>
                  <a:lnTo>
                    <a:pt x="305" y="275"/>
                  </a:lnTo>
                  <a:lnTo>
                    <a:pt x="361" y="233"/>
                  </a:lnTo>
                  <a:lnTo>
                    <a:pt x="419" y="194"/>
                  </a:lnTo>
                  <a:lnTo>
                    <a:pt x="448" y="175"/>
                  </a:lnTo>
                  <a:lnTo>
                    <a:pt x="478" y="158"/>
                  </a:lnTo>
                  <a:lnTo>
                    <a:pt x="539" y="127"/>
                  </a:lnTo>
                  <a:lnTo>
                    <a:pt x="599" y="99"/>
                  </a:lnTo>
                  <a:lnTo>
                    <a:pt x="661" y="75"/>
                  </a:lnTo>
                  <a:lnTo>
                    <a:pt x="725" y="53"/>
                  </a:lnTo>
                  <a:lnTo>
                    <a:pt x="788" y="35"/>
                  </a:lnTo>
                  <a:lnTo>
                    <a:pt x="853" y="21"/>
                  </a:lnTo>
                  <a:lnTo>
                    <a:pt x="917" y="11"/>
                  </a:lnTo>
                  <a:lnTo>
                    <a:pt x="982" y="3"/>
                  </a:lnTo>
                  <a:lnTo>
                    <a:pt x="1047" y="0"/>
                  </a:lnTo>
                  <a:lnTo>
                    <a:pt x="1113" y="0"/>
                  </a:lnTo>
                  <a:lnTo>
                    <a:pt x="1179" y="3"/>
                  </a:lnTo>
                  <a:lnTo>
                    <a:pt x="1211" y="5"/>
                  </a:lnTo>
                  <a:lnTo>
                    <a:pt x="1243" y="10"/>
                  </a:lnTo>
                  <a:lnTo>
                    <a:pt x="1308" y="19"/>
                  </a:lnTo>
                  <a:lnTo>
                    <a:pt x="1373" y="32"/>
                  </a:lnTo>
                  <a:lnTo>
                    <a:pt x="1437" y="49"/>
                  </a:lnTo>
                  <a:lnTo>
                    <a:pt x="1499" y="68"/>
                  </a:lnTo>
                  <a:lnTo>
                    <a:pt x="1562" y="93"/>
                  </a:lnTo>
                  <a:lnTo>
                    <a:pt x="1625" y="120"/>
                  </a:lnTo>
                  <a:lnTo>
                    <a:pt x="1686" y="150"/>
                  </a:lnTo>
                  <a:lnTo>
                    <a:pt x="1745" y="184"/>
                  </a:lnTo>
                  <a:lnTo>
                    <a:pt x="1805" y="220"/>
                  </a:lnTo>
                  <a:lnTo>
                    <a:pt x="1862" y="261"/>
                  </a:lnTo>
                  <a:lnTo>
                    <a:pt x="1918" y="305"/>
                  </a:lnTo>
                  <a:lnTo>
                    <a:pt x="1906" y="31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29" name="Freeform 314"/>
            <p:cNvSpPr>
              <a:spLocks/>
            </p:cNvSpPr>
            <p:nvPr/>
          </p:nvSpPr>
          <p:spPr bwMode="auto">
            <a:xfrm>
              <a:off x="2378" y="359"/>
              <a:ext cx="42" cy="26"/>
            </a:xfrm>
            <a:custGeom>
              <a:avLst/>
              <a:gdLst/>
              <a:ahLst/>
              <a:cxnLst>
                <a:cxn ang="0">
                  <a:pos x="117" y="78"/>
                </a:cxn>
                <a:cxn ang="0">
                  <a:pos x="126" y="62"/>
                </a:cxn>
                <a:cxn ang="0">
                  <a:pos x="9" y="0"/>
                </a:cxn>
                <a:cxn ang="0">
                  <a:pos x="0" y="16"/>
                </a:cxn>
                <a:cxn ang="0">
                  <a:pos x="117" y="78"/>
                </a:cxn>
              </a:cxnLst>
              <a:rect l="0" t="0" r="r" b="b"/>
              <a:pathLst>
                <a:path w="126" h="78">
                  <a:moveTo>
                    <a:pt x="117" y="78"/>
                  </a:moveTo>
                  <a:lnTo>
                    <a:pt x="126" y="62"/>
                  </a:lnTo>
                  <a:lnTo>
                    <a:pt x="9" y="0"/>
                  </a:lnTo>
                  <a:lnTo>
                    <a:pt x="0" y="16"/>
                  </a:lnTo>
                  <a:lnTo>
                    <a:pt x="117" y="7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0" name="Freeform 315"/>
            <p:cNvSpPr>
              <a:spLocks/>
            </p:cNvSpPr>
            <p:nvPr/>
          </p:nvSpPr>
          <p:spPr bwMode="auto">
            <a:xfrm>
              <a:off x="2415" y="380"/>
              <a:ext cx="6" cy="6"/>
            </a:xfrm>
            <a:custGeom>
              <a:avLst/>
              <a:gdLst/>
              <a:ahLst/>
              <a:cxnLst>
                <a:cxn ang="0">
                  <a:pos x="15" y="13"/>
                </a:cxn>
                <a:cxn ang="0">
                  <a:pos x="10" y="19"/>
                </a:cxn>
                <a:cxn ang="0">
                  <a:pos x="3" y="16"/>
                </a:cxn>
                <a:cxn ang="0">
                  <a:pos x="12" y="0"/>
                </a:cxn>
                <a:cxn ang="0">
                  <a:pos x="0" y="2"/>
                </a:cxn>
                <a:cxn ang="0">
                  <a:pos x="15" y="13"/>
                </a:cxn>
              </a:cxnLst>
              <a:rect l="0" t="0" r="r" b="b"/>
              <a:pathLst>
                <a:path w="15" h="19">
                  <a:moveTo>
                    <a:pt x="15" y="13"/>
                  </a:moveTo>
                  <a:lnTo>
                    <a:pt x="10" y="19"/>
                  </a:lnTo>
                  <a:lnTo>
                    <a:pt x="3" y="16"/>
                  </a:lnTo>
                  <a:lnTo>
                    <a:pt x="12" y="0"/>
                  </a:lnTo>
                  <a:lnTo>
                    <a:pt x="0" y="2"/>
                  </a:lnTo>
                  <a:lnTo>
                    <a:pt x="15"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1" name="Freeform 316"/>
            <p:cNvSpPr>
              <a:spLocks/>
            </p:cNvSpPr>
            <p:nvPr/>
          </p:nvSpPr>
          <p:spPr bwMode="auto">
            <a:xfrm>
              <a:off x="2377" y="166"/>
              <a:ext cx="678" cy="197"/>
            </a:xfrm>
            <a:custGeom>
              <a:avLst/>
              <a:gdLst/>
              <a:ahLst/>
              <a:cxnLst>
                <a:cxn ang="0">
                  <a:pos x="44" y="516"/>
                </a:cxn>
                <a:cxn ang="0">
                  <a:pos x="141" y="400"/>
                </a:cxn>
                <a:cxn ang="0">
                  <a:pos x="218" y="324"/>
                </a:cxn>
                <a:cxn ang="0">
                  <a:pos x="302" y="256"/>
                </a:cxn>
                <a:cxn ang="0">
                  <a:pos x="422" y="178"/>
                </a:cxn>
                <a:cxn ang="0">
                  <a:pos x="483" y="144"/>
                </a:cxn>
                <a:cxn ang="0">
                  <a:pos x="612" y="86"/>
                </a:cxn>
                <a:cxn ang="0">
                  <a:pos x="678" y="63"/>
                </a:cxn>
                <a:cxn ang="0">
                  <a:pos x="815" y="28"/>
                </a:cxn>
                <a:cxn ang="0">
                  <a:pos x="955" y="7"/>
                </a:cxn>
                <a:cxn ang="0">
                  <a:pos x="1094" y="0"/>
                </a:cxn>
                <a:cxn ang="0">
                  <a:pos x="1237" y="7"/>
                </a:cxn>
                <a:cxn ang="0">
                  <a:pos x="1377" y="28"/>
                </a:cxn>
                <a:cxn ang="0">
                  <a:pos x="1516" y="63"/>
                </a:cxn>
                <a:cxn ang="0">
                  <a:pos x="1654" y="113"/>
                </a:cxn>
                <a:cxn ang="0">
                  <a:pos x="1787" y="177"/>
                </a:cxn>
                <a:cxn ang="0">
                  <a:pos x="1914" y="253"/>
                </a:cxn>
                <a:cxn ang="0">
                  <a:pos x="2035" y="345"/>
                </a:cxn>
                <a:cxn ang="0">
                  <a:pos x="1965" y="312"/>
                </a:cxn>
                <a:cxn ang="0">
                  <a:pos x="1842" y="229"/>
                </a:cxn>
                <a:cxn ang="0">
                  <a:pos x="1713" y="160"/>
                </a:cxn>
                <a:cxn ang="0">
                  <a:pos x="1580" y="103"/>
                </a:cxn>
                <a:cxn ang="0">
                  <a:pos x="1442" y="61"/>
                </a:cxn>
                <a:cxn ang="0">
                  <a:pos x="1305" y="35"/>
                </a:cxn>
                <a:cxn ang="0">
                  <a:pos x="1164" y="20"/>
                </a:cxn>
                <a:cxn ang="0">
                  <a:pos x="1024" y="20"/>
                </a:cxn>
                <a:cxn ang="0">
                  <a:pos x="885" y="34"/>
                </a:cxn>
                <a:cxn ang="0">
                  <a:pos x="750" y="61"/>
                </a:cxn>
                <a:cxn ang="0">
                  <a:pos x="650" y="91"/>
                </a:cxn>
                <a:cxn ang="0">
                  <a:pos x="553" y="130"/>
                </a:cxn>
                <a:cxn ang="0">
                  <a:pos x="461" y="176"/>
                </a:cxn>
                <a:cxn ang="0">
                  <a:pos x="372" y="229"/>
                </a:cxn>
                <a:cxn ang="0">
                  <a:pos x="258" y="315"/>
                </a:cxn>
                <a:cxn ang="0">
                  <a:pos x="204" y="362"/>
                </a:cxn>
                <a:cxn ang="0">
                  <a:pos x="104" y="469"/>
                </a:cxn>
                <a:cxn ang="0">
                  <a:pos x="14" y="591"/>
                </a:cxn>
              </a:cxnLst>
              <a:rect l="0" t="0" r="r" b="b"/>
              <a:pathLst>
                <a:path w="2035" h="591">
                  <a:moveTo>
                    <a:pt x="0" y="579"/>
                  </a:moveTo>
                  <a:lnTo>
                    <a:pt x="44" y="516"/>
                  </a:lnTo>
                  <a:lnTo>
                    <a:pt x="91" y="457"/>
                  </a:lnTo>
                  <a:lnTo>
                    <a:pt x="141" y="400"/>
                  </a:lnTo>
                  <a:lnTo>
                    <a:pt x="192" y="349"/>
                  </a:lnTo>
                  <a:lnTo>
                    <a:pt x="218" y="324"/>
                  </a:lnTo>
                  <a:lnTo>
                    <a:pt x="246" y="301"/>
                  </a:lnTo>
                  <a:lnTo>
                    <a:pt x="302" y="256"/>
                  </a:lnTo>
                  <a:lnTo>
                    <a:pt x="361" y="214"/>
                  </a:lnTo>
                  <a:lnTo>
                    <a:pt x="422" y="178"/>
                  </a:lnTo>
                  <a:lnTo>
                    <a:pt x="452" y="160"/>
                  </a:lnTo>
                  <a:lnTo>
                    <a:pt x="483" y="144"/>
                  </a:lnTo>
                  <a:lnTo>
                    <a:pt x="547" y="113"/>
                  </a:lnTo>
                  <a:lnTo>
                    <a:pt x="612" y="86"/>
                  </a:lnTo>
                  <a:lnTo>
                    <a:pt x="645" y="74"/>
                  </a:lnTo>
                  <a:lnTo>
                    <a:pt x="678" y="63"/>
                  </a:lnTo>
                  <a:lnTo>
                    <a:pt x="745" y="44"/>
                  </a:lnTo>
                  <a:lnTo>
                    <a:pt x="815" y="28"/>
                  </a:lnTo>
                  <a:lnTo>
                    <a:pt x="883" y="15"/>
                  </a:lnTo>
                  <a:lnTo>
                    <a:pt x="955" y="7"/>
                  </a:lnTo>
                  <a:lnTo>
                    <a:pt x="1024" y="1"/>
                  </a:lnTo>
                  <a:lnTo>
                    <a:pt x="1094" y="0"/>
                  </a:lnTo>
                  <a:lnTo>
                    <a:pt x="1165" y="1"/>
                  </a:lnTo>
                  <a:lnTo>
                    <a:pt x="1237" y="7"/>
                  </a:lnTo>
                  <a:lnTo>
                    <a:pt x="1307" y="16"/>
                  </a:lnTo>
                  <a:lnTo>
                    <a:pt x="1377" y="28"/>
                  </a:lnTo>
                  <a:lnTo>
                    <a:pt x="1447" y="44"/>
                  </a:lnTo>
                  <a:lnTo>
                    <a:pt x="1516" y="63"/>
                  </a:lnTo>
                  <a:lnTo>
                    <a:pt x="1587" y="86"/>
                  </a:lnTo>
                  <a:lnTo>
                    <a:pt x="1654" y="113"/>
                  </a:lnTo>
                  <a:lnTo>
                    <a:pt x="1722" y="144"/>
                  </a:lnTo>
                  <a:lnTo>
                    <a:pt x="1787" y="177"/>
                  </a:lnTo>
                  <a:lnTo>
                    <a:pt x="1851" y="213"/>
                  </a:lnTo>
                  <a:lnTo>
                    <a:pt x="1914" y="253"/>
                  </a:lnTo>
                  <a:lnTo>
                    <a:pt x="1976" y="297"/>
                  </a:lnTo>
                  <a:lnTo>
                    <a:pt x="2035" y="345"/>
                  </a:lnTo>
                  <a:lnTo>
                    <a:pt x="2023" y="359"/>
                  </a:lnTo>
                  <a:lnTo>
                    <a:pt x="1965" y="312"/>
                  </a:lnTo>
                  <a:lnTo>
                    <a:pt x="1904" y="268"/>
                  </a:lnTo>
                  <a:lnTo>
                    <a:pt x="1842" y="229"/>
                  </a:lnTo>
                  <a:lnTo>
                    <a:pt x="1778" y="193"/>
                  </a:lnTo>
                  <a:lnTo>
                    <a:pt x="1713" y="160"/>
                  </a:lnTo>
                  <a:lnTo>
                    <a:pt x="1647" y="130"/>
                  </a:lnTo>
                  <a:lnTo>
                    <a:pt x="1580" y="103"/>
                  </a:lnTo>
                  <a:lnTo>
                    <a:pt x="1511" y="81"/>
                  </a:lnTo>
                  <a:lnTo>
                    <a:pt x="1442" y="61"/>
                  </a:lnTo>
                  <a:lnTo>
                    <a:pt x="1375" y="46"/>
                  </a:lnTo>
                  <a:lnTo>
                    <a:pt x="1305" y="35"/>
                  </a:lnTo>
                  <a:lnTo>
                    <a:pt x="1234" y="25"/>
                  </a:lnTo>
                  <a:lnTo>
                    <a:pt x="1164" y="20"/>
                  </a:lnTo>
                  <a:lnTo>
                    <a:pt x="1094" y="19"/>
                  </a:lnTo>
                  <a:lnTo>
                    <a:pt x="1024" y="20"/>
                  </a:lnTo>
                  <a:lnTo>
                    <a:pt x="956" y="25"/>
                  </a:lnTo>
                  <a:lnTo>
                    <a:pt x="885" y="34"/>
                  </a:lnTo>
                  <a:lnTo>
                    <a:pt x="817" y="46"/>
                  </a:lnTo>
                  <a:lnTo>
                    <a:pt x="750" y="61"/>
                  </a:lnTo>
                  <a:lnTo>
                    <a:pt x="683" y="81"/>
                  </a:lnTo>
                  <a:lnTo>
                    <a:pt x="650" y="91"/>
                  </a:lnTo>
                  <a:lnTo>
                    <a:pt x="618" y="103"/>
                  </a:lnTo>
                  <a:lnTo>
                    <a:pt x="553" y="130"/>
                  </a:lnTo>
                  <a:lnTo>
                    <a:pt x="492" y="160"/>
                  </a:lnTo>
                  <a:lnTo>
                    <a:pt x="461" y="176"/>
                  </a:lnTo>
                  <a:lnTo>
                    <a:pt x="430" y="194"/>
                  </a:lnTo>
                  <a:lnTo>
                    <a:pt x="372" y="229"/>
                  </a:lnTo>
                  <a:lnTo>
                    <a:pt x="313" y="271"/>
                  </a:lnTo>
                  <a:lnTo>
                    <a:pt x="258" y="315"/>
                  </a:lnTo>
                  <a:lnTo>
                    <a:pt x="230" y="338"/>
                  </a:lnTo>
                  <a:lnTo>
                    <a:pt x="204" y="362"/>
                  </a:lnTo>
                  <a:lnTo>
                    <a:pt x="153" y="413"/>
                  </a:lnTo>
                  <a:lnTo>
                    <a:pt x="104" y="469"/>
                  </a:lnTo>
                  <a:lnTo>
                    <a:pt x="58" y="528"/>
                  </a:lnTo>
                  <a:lnTo>
                    <a:pt x="14" y="591"/>
                  </a:lnTo>
                  <a:lnTo>
                    <a:pt x="0" y="57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2" name="Freeform 317"/>
            <p:cNvSpPr>
              <a:spLocks/>
            </p:cNvSpPr>
            <p:nvPr/>
          </p:nvSpPr>
          <p:spPr bwMode="auto">
            <a:xfrm>
              <a:off x="2375" y="359"/>
              <a:ext cx="6" cy="5"/>
            </a:xfrm>
            <a:custGeom>
              <a:avLst/>
              <a:gdLst/>
              <a:ahLst/>
              <a:cxnLst>
                <a:cxn ang="0">
                  <a:pos x="9" y="16"/>
                </a:cxn>
                <a:cxn ang="0">
                  <a:pos x="0" y="11"/>
                </a:cxn>
                <a:cxn ang="0">
                  <a:pos x="6" y="2"/>
                </a:cxn>
                <a:cxn ang="0">
                  <a:pos x="20" y="14"/>
                </a:cxn>
                <a:cxn ang="0">
                  <a:pos x="18" y="0"/>
                </a:cxn>
                <a:cxn ang="0">
                  <a:pos x="9" y="16"/>
                </a:cxn>
              </a:cxnLst>
              <a:rect l="0" t="0" r="r" b="b"/>
              <a:pathLst>
                <a:path w="20" h="16">
                  <a:moveTo>
                    <a:pt x="9" y="16"/>
                  </a:moveTo>
                  <a:lnTo>
                    <a:pt x="0" y="11"/>
                  </a:lnTo>
                  <a:lnTo>
                    <a:pt x="6" y="2"/>
                  </a:lnTo>
                  <a:lnTo>
                    <a:pt x="20" y="14"/>
                  </a:lnTo>
                  <a:lnTo>
                    <a:pt x="18" y="0"/>
                  </a:lnTo>
                  <a:lnTo>
                    <a:pt x="9" y="1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3" name="Freeform 318"/>
            <p:cNvSpPr>
              <a:spLocks/>
            </p:cNvSpPr>
            <p:nvPr/>
          </p:nvSpPr>
          <p:spPr bwMode="auto">
            <a:xfrm>
              <a:off x="3052" y="283"/>
              <a:ext cx="3" cy="3"/>
            </a:xfrm>
            <a:custGeom>
              <a:avLst/>
              <a:gdLst/>
              <a:ahLst/>
              <a:cxnLst>
                <a:cxn ang="0">
                  <a:pos x="12" y="0"/>
                </a:cxn>
                <a:cxn ang="0">
                  <a:pos x="0" y="14"/>
                </a:cxn>
                <a:cxn ang="0">
                  <a:pos x="12" y="0"/>
                </a:cxn>
                <a:cxn ang="0">
                  <a:pos x="0" y="14"/>
                </a:cxn>
                <a:cxn ang="0">
                  <a:pos x="12" y="0"/>
                </a:cxn>
              </a:cxnLst>
              <a:rect l="0" t="0" r="r" b="b"/>
              <a:pathLst>
                <a:path w="12" h="14">
                  <a:moveTo>
                    <a:pt x="12" y="0"/>
                  </a:moveTo>
                  <a:lnTo>
                    <a:pt x="0" y="14"/>
                  </a:lnTo>
                  <a:lnTo>
                    <a:pt x="12" y="0"/>
                  </a:lnTo>
                  <a:lnTo>
                    <a:pt x="0" y="14"/>
                  </a:lnTo>
                  <a:lnTo>
                    <a:pt x="12"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4" name="Freeform 319"/>
            <p:cNvSpPr>
              <a:spLocks/>
            </p:cNvSpPr>
            <p:nvPr/>
          </p:nvSpPr>
          <p:spPr bwMode="auto">
            <a:xfrm>
              <a:off x="2454" y="200"/>
              <a:ext cx="599" cy="225"/>
            </a:xfrm>
            <a:custGeom>
              <a:avLst/>
              <a:gdLst/>
              <a:ahLst/>
              <a:cxnLst>
                <a:cxn ang="0">
                  <a:pos x="1741" y="213"/>
                </a:cxn>
                <a:cxn ang="0">
                  <a:pos x="1657" y="161"/>
                </a:cxn>
                <a:cxn ang="0">
                  <a:pos x="1572" y="120"/>
                </a:cxn>
                <a:cxn ang="0">
                  <a:pos x="1486" y="85"/>
                </a:cxn>
                <a:cxn ang="0">
                  <a:pos x="1401" y="60"/>
                </a:cxn>
                <a:cxn ang="0">
                  <a:pos x="1316" y="43"/>
                </a:cxn>
                <a:cxn ang="0">
                  <a:pos x="1231" y="33"/>
                </a:cxn>
                <a:cxn ang="0">
                  <a:pos x="1147" y="31"/>
                </a:cxn>
                <a:cxn ang="0">
                  <a:pos x="1063" y="36"/>
                </a:cxn>
                <a:cxn ang="0">
                  <a:pos x="980" y="49"/>
                </a:cxn>
                <a:cxn ang="0">
                  <a:pos x="898" y="69"/>
                </a:cxn>
                <a:cxn ang="0">
                  <a:pos x="817" y="96"/>
                </a:cxn>
                <a:cxn ang="0">
                  <a:pos x="738" y="129"/>
                </a:cxn>
                <a:cxn ang="0">
                  <a:pos x="660" y="170"/>
                </a:cxn>
                <a:cxn ang="0">
                  <a:pos x="584" y="216"/>
                </a:cxn>
                <a:cxn ang="0">
                  <a:pos x="510" y="268"/>
                </a:cxn>
                <a:cxn ang="0">
                  <a:pos x="437" y="327"/>
                </a:cxn>
                <a:cxn ang="0">
                  <a:pos x="367" y="391"/>
                </a:cxn>
                <a:cxn ang="0">
                  <a:pos x="300" y="462"/>
                </a:cxn>
                <a:cxn ang="0">
                  <a:pos x="234" y="537"/>
                </a:cxn>
                <a:cxn ang="0">
                  <a:pos x="171" y="617"/>
                </a:cxn>
                <a:cxn ang="0">
                  <a:pos x="0" y="602"/>
                </a:cxn>
                <a:cxn ang="0">
                  <a:pos x="56" y="523"/>
                </a:cxn>
                <a:cxn ang="0">
                  <a:pos x="118" y="449"/>
                </a:cxn>
                <a:cxn ang="0">
                  <a:pos x="184" y="380"/>
                </a:cxn>
                <a:cxn ang="0">
                  <a:pos x="253" y="314"/>
                </a:cxn>
                <a:cxn ang="0">
                  <a:pos x="328" y="255"/>
                </a:cxn>
                <a:cxn ang="0">
                  <a:pos x="404" y="202"/>
                </a:cxn>
                <a:cxn ang="0">
                  <a:pos x="485" y="154"/>
                </a:cxn>
                <a:cxn ang="0">
                  <a:pos x="568" y="112"/>
                </a:cxn>
                <a:cxn ang="0">
                  <a:pos x="653" y="76"/>
                </a:cxn>
                <a:cxn ang="0">
                  <a:pos x="742" y="47"/>
                </a:cxn>
                <a:cxn ang="0">
                  <a:pos x="831" y="24"/>
                </a:cxn>
                <a:cxn ang="0">
                  <a:pos x="923" y="9"/>
                </a:cxn>
                <a:cxn ang="0">
                  <a:pos x="1015" y="1"/>
                </a:cxn>
                <a:cxn ang="0">
                  <a:pos x="1109" y="1"/>
                </a:cxn>
                <a:cxn ang="0">
                  <a:pos x="1203" y="8"/>
                </a:cxn>
                <a:cxn ang="0">
                  <a:pos x="1298" y="23"/>
                </a:cxn>
                <a:cxn ang="0">
                  <a:pos x="1393" y="47"/>
                </a:cxn>
                <a:cxn ang="0">
                  <a:pos x="1488" y="79"/>
                </a:cxn>
                <a:cxn ang="0">
                  <a:pos x="1582" y="120"/>
                </a:cxn>
                <a:cxn ang="0">
                  <a:pos x="1675" y="170"/>
                </a:cxn>
                <a:cxn ang="0">
                  <a:pos x="1767" y="230"/>
                </a:cxn>
              </a:cxnLst>
              <a:rect l="0" t="0" r="r" b="b"/>
              <a:pathLst>
                <a:path w="1797" h="674">
                  <a:moveTo>
                    <a:pt x="1797" y="251"/>
                  </a:moveTo>
                  <a:lnTo>
                    <a:pt x="1770" y="231"/>
                  </a:lnTo>
                  <a:lnTo>
                    <a:pt x="1741" y="213"/>
                  </a:lnTo>
                  <a:lnTo>
                    <a:pt x="1713" y="195"/>
                  </a:lnTo>
                  <a:lnTo>
                    <a:pt x="1684" y="177"/>
                  </a:lnTo>
                  <a:lnTo>
                    <a:pt x="1657" y="161"/>
                  </a:lnTo>
                  <a:lnTo>
                    <a:pt x="1628" y="146"/>
                  </a:lnTo>
                  <a:lnTo>
                    <a:pt x="1599" y="132"/>
                  </a:lnTo>
                  <a:lnTo>
                    <a:pt x="1572" y="120"/>
                  </a:lnTo>
                  <a:lnTo>
                    <a:pt x="1543" y="107"/>
                  </a:lnTo>
                  <a:lnTo>
                    <a:pt x="1514" y="96"/>
                  </a:lnTo>
                  <a:lnTo>
                    <a:pt x="1486" y="85"/>
                  </a:lnTo>
                  <a:lnTo>
                    <a:pt x="1458" y="76"/>
                  </a:lnTo>
                  <a:lnTo>
                    <a:pt x="1429" y="67"/>
                  </a:lnTo>
                  <a:lnTo>
                    <a:pt x="1401" y="60"/>
                  </a:lnTo>
                  <a:lnTo>
                    <a:pt x="1373" y="53"/>
                  </a:lnTo>
                  <a:lnTo>
                    <a:pt x="1344" y="48"/>
                  </a:lnTo>
                  <a:lnTo>
                    <a:pt x="1316" y="43"/>
                  </a:lnTo>
                  <a:lnTo>
                    <a:pt x="1288" y="38"/>
                  </a:lnTo>
                  <a:lnTo>
                    <a:pt x="1259" y="35"/>
                  </a:lnTo>
                  <a:lnTo>
                    <a:pt x="1231" y="33"/>
                  </a:lnTo>
                  <a:lnTo>
                    <a:pt x="1202" y="31"/>
                  </a:lnTo>
                  <a:lnTo>
                    <a:pt x="1175" y="31"/>
                  </a:lnTo>
                  <a:lnTo>
                    <a:pt x="1147" y="31"/>
                  </a:lnTo>
                  <a:lnTo>
                    <a:pt x="1118" y="32"/>
                  </a:lnTo>
                  <a:lnTo>
                    <a:pt x="1091" y="34"/>
                  </a:lnTo>
                  <a:lnTo>
                    <a:pt x="1063" y="36"/>
                  </a:lnTo>
                  <a:lnTo>
                    <a:pt x="1035" y="39"/>
                  </a:lnTo>
                  <a:lnTo>
                    <a:pt x="1008" y="44"/>
                  </a:lnTo>
                  <a:lnTo>
                    <a:pt x="980" y="49"/>
                  </a:lnTo>
                  <a:lnTo>
                    <a:pt x="952" y="55"/>
                  </a:lnTo>
                  <a:lnTo>
                    <a:pt x="926" y="62"/>
                  </a:lnTo>
                  <a:lnTo>
                    <a:pt x="898" y="69"/>
                  </a:lnTo>
                  <a:lnTo>
                    <a:pt x="871" y="77"/>
                  </a:lnTo>
                  <a:lnTo>
                    <a:pt x="844" y="86"/>
                  </a:lnTo>
                  <a:lnTo>
                    <a:pt x="817" y="96"/>
                  </a:lnTo>
                  <a:lnTo>
                    <a:pt x="791" y="107"/>
                  </a:lnTo>
                  <a:lnTo>
                    <a:pt x="764" y="118"/>
                  </a:lnTo>
                  <a:lnTo>
                    <a:pt x="738" y="129"/>
                  </a:lnTo>
                  <a:lnTo>
                    <a:pt x="712" y="142"/>
                  </a:lnTo>
                  <a:lnTo>
                    <a:pt x="686" y="155"/>
                  </a:lnTo>
                  <a:lnTo>
                    <a:pt x="660" y="170"/>
                  </a:lnTo>
                  <a:lnTo>
                    <a:pt x="634" y="184"/>
                  </a:lnTo>
                  <a:lnTo>
                    <a:pt x="610" y="200"/>
                  </a:lnTo>
                  <a:lnTo>
                    <a:pt x="584" y="216"/>
                  </a:lnTo>
                  <a:lnTo>
                    <a:pt x="559" y="233"/>
                  </a:lnTo>
                  <a:lnTo>
                    <a:pt x="534" y="250"/>
                  </a:lnTo>
                  <a:lnTo>
                    <a:pt x="510" y="268"/>
                  </a:lnTo>
                  <a:lnTo>
                    <a:pt x="485" y="288"/>
                  </a:lnTo>
                  <a:lnTo>
                    <a:pt x="462" y="307"/>
                  </a:lnTo>
                  <a:lnTo>
                    <a:pt x="437" y="327"/>
                  </a:lnTo>
                  <a:lnTo>
                    <a:pt x="414" y="347"/>
                  </a:lnTo>
                  <a:lnTo>
                    <a:pt x="391" y="369"/>
                  </a:lnTo>
                  <a:lnTo>
                    <a:pt x="367" y="391"/>
                  </a:lnTo>
                  <a:lnTo>
                    <a:pt x="345" y="414"/>
                  </a:lnTo>
                  <a:lnTo>
                    <a:pt x="321" y="437"/>
                  </a:lnTo>
                  <a:lnTo>
                    <a:pt x="300" y="462"/>
                  </a:lnTo>
                  <a:lnTo>
                    <a:pt x="278" y="485"/>
                  </a:lnTo>
                  <a:lnTo>
                    <a:pt x="255" y="511"/>
                  </a:lnTo>
                  <a:lnTo>
                    <a:pt x="234" y="537"/>
                  </a:lnTo>
                  <a:lnTo>
                    <a:pt x="213" y="564"/>
                  </a:lnTo>
                  <a:lnTo>
                    <a:pt x="193" y="590"/>
                  </a:lnTo>
                  <a:lnTo>
                    <a:pt x="171" y="617"/>
                  </a:lnTo>
                  <a:lnTo>
                    <a:pt x="151" y="645"/>
                  </a:lnTo>
                  <a:lnTo>
                    <a:pt x="132" y="674"/>
                  </a:lnTo>
                  <a:lnTo>
                    <a:pt x="0" y="602"/>
                  </a:lnTo>
                  <a:lnTo>
                    <a:pt x="19" y="575"/>
                  </a:lnTo>
                  <a:lnTo>
                    <a:pt x="37" y="549"/>
                  </a:lnTo>
                  <a:lnTo>
                    <a:pt x="56" y="523"/>
                  </a:lnTo>
                  <a:lnTo>
                    <a:pt x="77" y="497"/>
                  </a:lnTo>
                  <a:lnTo>
                    <a:pt x="97" y="473"/>
                  </a:lnTo>
                  <a:lnTo>
                    <a:pt x="118" y="449"/>
                  </a:lnTo>
                  <a:lnTo>
                    <a:pt x="139" y="425"/>
                  </a:lnTo>
                  <a:lnTo>
                    <a:pt x="162" y="402"/>
                  </a:lnTo>
                  <a:lnTo>
                    <a:pt x="184" y="380"/>
                  </a:lnTo>
                  <a:lnTo>
                    <a:pt x="206" y="357"/>
                  </a:lnTo>
                  <a:lnTo>
                    <a:pt x="230" y="336"/>
                  </a:lnTo>
                  <a:lnTo>
                    <a:pt x="253" y="314"/>
                  </a:lnTo>
                  <a:lnTo>
                    <a:pt x="278" y="294"/>
                  </a:lnTo>
                  <a:lnTo>
                    <a:pt x="302" y="275"/>
                  </a:lnTo>
                  <a:lnTo>
                    <a:pt x="328" y="255"/>
                  </a:lnTo>
                  <a:lnTo>
                    <a:pt x="352" y="236"/>
                  </a:lnTo>
                  <a:lnTo>
                    <a:pt x="379" y="219"/>
                  </a:lnTo>
                  <a:lnTo>
                    <a:pt x="404" y="202"/>
                  </a:lnTo>
                  <a:lnTo>
                    <a:pt x="431" y="185"/>
                  </a:lnTo>
                  <a:lnTo>
                    <a:pt x="458" y="169"/>
                  </a:lnTo>
                  <a:lnTo>
                    <a:pt x="485" y="154"/>
                  </a:lnTo>
                  <a:lnTo>
                    <a:pt x="512" y="139"/>
                  </a:lnTo>
                  <a:lnTo>
                    <a:pt x="539" y="125"/>
                  </a:lnTo>
                  <a:lnTo>
                    <a:pt x="568" y="112"/>
                  </a:lnTo>
                  <a:lnTo>
                    <a:pt x="596" y="99"/>
                  </a:lnTo>
                  <a:lnTo>
                    <a:pt x="625" y="88"/>
                  </a:lnTo>
                  <a:lnTo>
                    <a:pt x="653" y="76"/>
                  </a:lnTo>
                  <a:lnTo>
                    <a:pt x="682" y="65"/>
                  </a:lnTo>
                  <a:lnTo>
                    <a:pt x="712" y="55"/>
                  </a:lnTo>
                  <a:lnTo>
                    <a:pt x="742" y="47"/>
                  </a:lnTo>
                  <a:lnTo>
                    <a:pt x="771" y="38"/>
                  </a:lnTo>
                  <a:lnTo>
                    <a:pt x="801" y="31"/>
                  </a:lnTo>
                  <a:lnTo>
                    <a:pt x="831" y="24"/>
                  </a:lnTo>
                  <a:lnTo>
                    <a:pt x="862" y="19"/>
                  </a:lnTo>
                  <a:lnTo>
                    <a:pt x="892" y="14"/>
                  </a:lnTo>
                  <a:lnTo>
                    <a:pt x="923" y="9"/>
                  </a:lnTo>
                  <a:lnTo>
                    <a:pt x="953" y="6"/>
                  </a:lnTo>
                  <a:lnTo>
                    <a:pt x="984" y="3"/>
                  </a:lnTo>
                  <a:lnTo>
                    <a:pt x="1015" y="1"/>
                  </a:lnTo>
                  <a:lnTo>
                    <a:pt x="1047" y="0"/>
                  </a:lnTo>
                  <a:lnTo>
                    <a:pt x="1078" y="0"/>
                  </a:lnTo>
                  <a:lnTo>
                    <a:pt x="1109" y="1"/>
                  </a:lnTo>
                  <a:lnTo>
                    <a:pt x="1141" y="2"/>
                  </a:lnTo>
                  <a:lnTo>
                    <a:pt x="1173" y="5"/>
                  </a:lnTo>
                  <a:lnTo>
                    <a:pt x="1203" y="8"/>
                  </a:lnTo>
                  <a:lnTo>
                    <a:pt x="1235" y="13"/>
                  </a:lnTo>
                  <a:lnTo>
                    <a:pt x="1267" y="17"/>
                  </a:lnTo>
                  <a:lnTo>
                    <a:pt x="1298" y="23"/>
                  </a:lnTo>
                  <a:lnTo>
                    <a:pt x="1330" y="31"/>
                  </a:lnTo>
                  <a:lnTo>
                    <a:pt x="1362" y="38"/>
                  </a:lnTo>
                  <a:lnTo>
                    <a:pt x="1393" y="47"/>
                  </a:lnTo>
                  <a:lnTo>
                    <a:pt x="1425" y="57"/>
                  </a:lnTo>
                  <a:lnTo>
                    <a:pt x="1457" y="67"/>
                  </a:lnTo>
                  <a:lnTo>
                    <a:pt x="1488" y="79"/>
                  </a:lnTo>
                  <a:lnTo>
                    <a:pt x="1519" y="92"/>
                  </a:lnTo>
                  <a:lnTo>
                    <a:pt x="1550" y="106"/>
                  </a:lnTo>
                  <a:lnTo>
                    <a:pt x="1582" y="120"/>
                  </a:lnTo>
                  <a:lnTo>
                    <a:pt x="1613" y="136"/>
                  </a:lnTo>
                  <a:lnTo>
                    <a:pt x="1644" y="153"/>
                  </a:lnTo>
                  <a:lnTo>
                    <a:pt x="1675" y="170"/>
                  </a:lnTo>
                  <a:lnTo>
                    <a:pt x="1706" y="189"/>
                  </a:lnTo>
                  <a:lnTo>
                    <a:pt x="1737" y="208"/>
                  </a:lnTo>
                  <a:lnTo>
                    <a:pt x="1767" y="230"/>
                  </a:lnTo>
                  <a:lnTo>
                    <a:pt x="1797" y="251"/>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5" name="Freeform 320"/>
            <p:cNvSpPr>
              <a:spLocks/>
            </p:cNvSpPr>
            <p:nvPr/>
          </p:nvSpPr>
          <p:spPr bwMode="auto">
            <a:xfrm>
              <a:off x="2494" y="207"/>
              <a:ext cx="560" cy="219"/>
            </a:xfrm>
            <a:custGeom>
              <a:avLst/>
              <a:gdLst/>
              <a:ahLst/>
              <a:cxnLst>
                <a:cxn ang="0">
                  <a:pos x="1610" y="198"/>
                </a:cxn>
                <a:cxn ang="0">
                  <a:pos x="1499" y="133"/>
                </a:cxn>
                <a:cxn ang="0">
                  <a:pos x="1385" y="83"/>
                </a:cxn>
                <a:cxn ang="0">
                  <a:pos x="1272" y="46"/>
                </a:cxn>
                <a:cxn ang="0">
                  <a:pos x="1160" y="25"/>
                </a:cxn>
                <a:cxn ang="0">
                  <a:pos x="1050" y="18"/>
                </a:cxn>
                <a:cxn ang="0">
                  <a:pos x="939" y="23"/>
                </a:cxn>
                <a:cxn ang="0">
                  <a:pos x="829" y="41"/>
                </a:cxn>
                <a:cxn ang="0">
                  <a:pos x="722" y="73"/>
                </a:cxn>
                <a:cxn ang="0">
                  <a:pos x="618" y="116"/>
                </a:cxn>
                <a:cxn ang="0">
                  <a:pos x="515" y="169"/>
                </a:cxn>
                <a:cxn ang="0">
                  <a:pos x="414" y="236"/>
                </a:cxn>
                <a:cxn ang="0">
                  <a:pos x="319" y="312"/>
                </a:cxn>
                <a:cxn ang="0">
                  <a:pos x="226" y="398"/>
                </a:cxn>
                <a:cxn ang="0">
                  <a:pos x="137" y="496"/>
                </a:cxn>
                <a:cxn ang="0">
                  <a:pos x="54" y="600"/>
                </a:cxn>
                <a:cxn ang="0">
                  <a:pos x="0" y="646"/>
                </a:cxn>
                <a:cxn ang="0">
                  <a:pos x="80" y="535"/>
                </a:cxn>
                <a:cxn ang="0">
                  <a:pos x="167" y="434"/>
                </a:cxn>
                <a:cxn ang="0">
                  <a:pos x="259" y="340"/>
                </a:cxn>
                <a:cxn ang="0">
                  <a:pos x="354" y="259"/>
                </a:cxn>
                <a:cxn ang="0">
                  <a:pos x="454" y="186"/>
                </a:cxn>
                <a:cxn ang="0">
                  <a:pos x="557" y="125"/>
                </a:cxn>
                <a:cxn ang="0">
                  <a:pos x="661" y="76"/>
                </a:cxn>
                <a:cxn ang="0">
                  <a:pos x="770" y="39"/>
                </a:cxn>
                <a:cxn ang="0">
                  <a:pos x="881" y="13"/>
                </a:cxn>
                <a:cxn ang="0">
                  <a:pos x="992" y="1"/>
                </a:cxn>
                <a:cxn ang="0">
                  <a:pos x="1107" y="2"/>
                </a:cxn>
                <a:cxn ang="0">
                  <a:pos x="1221" y="16"/>
                </a:cxn>
                <a:cxn ang="0">
                  <a:pos x="1335" y="45"/>
                </a:cxn>
                <a:cxn ang="0">
                  <a:pos x="1450" y="90"/>
                </a:cxn>
                <a:cxn ang="0">
                  <a:pos x="1564" y="148"/>
                </a:cxn>
                <a:cxn ang="0">
                  <a:pos x="1678" y="222"/>
                </a:cxn>
              </a:cxnLst>
              <a:rect l="0" t="0" r="r" b="b"/>
              <a:pathLst>
                <a:path w="1678" h="657">
                  <a:moveTo>
                    <a:pt x="1667" y="237"/>
                  </a:moveTo>
                  <a:lnTo>
                    <a:pt x="1610" y="198"/>
                  </a:lnTo>
                  <a:lnTo>
                    <a:pt x="1554" y="163"/>
                  </a:lnTo>
                  <a:lnTo>
                    <a:pt x="1499" y="133"/>
                  </a:lnTo>
                  <a:lnTo>
                    <a:pt x="1442" y="106"/>
                  </a:lnTo>
                  <a:lnTo>
                    <a:pt x="1385" y="83"/>
                  </a:lnTo>
                  <a:lnTo>
                    <a:pt x="1330" y="62"/>
                  </a:lnTo>
                  <a:lnTo>
                    <a:pt x="1272" y="46"/>
                  </a:lnTo>
                  <a:lnTo>
                    <a:pt x="1217" y="33"/>
                  </a:lnTo>
                  <a:lnTo>
                    <a:pt x="1160" y="25"/>
                  </a:lnTo>
                  <a:lnTo>
                    <a:pt x="1105" y="20"/>
                  </a:lnTo>
                  <a:lnTo>
                    <a:pt x="1050" y="18"/>
                  </a:lnTo>
                  <a:lnTo>
                    <a:pt x="994" y="18"/>
                  </a:lnTo>
                  <a:lnTo>
                    <a:pt x="939" y="23"/>
                  </a:lnTo>
                  <a:lnTo>
                    <a:pt x="885" y="30"/>
                  </a:lnTo>
                  <a:lnTo>
                    <a:pt x="829" y="41"/>
                  </a:lnTo>
                  <a:lnTo>
                    <a:pt x="775" y="56"/>
                  </a:lnTo>
                  <a:lnTo>
                    <a:pt x="722" y="73"/>
                  </a:lnTo>
                  <a:lnTo>
                    <a:pt x="669" y="92"/>
                  </a:lnTo>
                  <a:lnTo>
                    <a:pt x="618" y="116"/>
                  </a:lnTo>
                  <a:lnTo>
                    <a:pt x="566" y="142"/>
                  </a:lnTo>
                  <a:lnTo>
                    <a:pt x="515" y="169"/>
                  </a:lnTo>
                  <a:lnTo>
                    <a:pt x="465" y="201"/>
                  </a:lnTo>
                  <a:lnTo>
                    <a:pt x="414" y="236"/>
                  </a:lnTo>
                  <a:lnTo>
                    <a:pt x="366" y="273"/>
                  </a:lnTo>
                  <a:lnTo>
                    <a:pt x="319" y="312"/>
                  </a:lnTo>
                  <a:lnTo>
                    <a:pt x="272" y="353"/>
                  </a:lnTo>
                  <a:lnTo>
                    <a:pt x="226" y="398"/>
                  </a:lnTo>
                  <a:lnTo>
                    <a:pt x="180" y="445"/>
                  </a:lnTo>
                  <a:lnTo>
                    <a:pt x="137" y="496"/>
                  </a:lnTo>
                  <a:lnTo>
                    <a:pt x="94" y="547"/>
                  </a:lnTo>
                  <a:lnTo>
                    <a:pt x="54" y="600"/>
                  </a:lnTo>
                  <a:lnTo>
                    <a:pt x="14" y="657"/>
                  </a:lnTo>
                  <a:lnTo>
                    <a:pt x="0" y="646"/>
                  </a:lnTo>
                  <a:lnTo>
                    <a:pt x="39" y="590"/>
                  </a:lnTo>
                  <a:lnTo>
                    <a:pt x="80" y="535"/>
                  </a:lnTo>
                  <a:lnTo>
                    <a:pt x="123" y="484"/>
                  </a:lnTo>
                  <a:lnTo>
                    <a:pt x="167" y="434"/>
                  </a:lnTo>
                  <a:lnTo>
                    <a:pt x="213" y="385"/>
                  </a:lnTo>
                  <a:lnTo>
                    <a:pt x="259" y="340"/>
                  </a:lnTo>
                  <a:lnTo>
                    <a:pt x="306" y="299"/>
                  </a:lnTo>
                  <a:lnTo>
                    <a:pt x="354" y="259"/>
                  </a:lnTo>
                  <a:lnTo>
                    <a:pt x="403" y="222"/>
                  </a:lnTo>
                  <a:lnTo>
                    <a:pt x="454" y="186"/>
                  </a:lnTo>
                  <a:lnTo>
                    <a:pt x="504" y="154"/>
                  </a:lnTo>
                  <a:lnTo>
                    <a:pt x="557" y="125"/>
                  </a:lnTo>
                  <a:lnTo>
                    <a:pt x="609" y="100"/>
                  </a:lnTo>
                  <a:lnTo>
                    <a:pt x="661" y="76"/>
                  </a:lnTo>
                  <a:lnTo>
                    <a:pt x="716" y="56"/>
                  </a:lnTo>
                  <a:lnTo>
                    <a:pt x="770" y="39"/>
                  </a:lnTo>
                  <a:lnTo>
                    <a:pt x="824" y="24"/>
                  </a:lnTo>
                  <a:lnTo>
                    <a:pt x="881" y="13"/>
                  </a:lnTo>
                  <a:lnTo>
                    <a:pt x="936" y="6"/>
                  </a:lnTo>
                  <a:lnTo>
                    <a:pt x="992" y="1"/>
                  </a:lnTo>
                  <a:lnTo>
                    <a:pt x="1050" y="0"/>
                  </a:lnTo>
                  <a:lnTo>
                    <a:pt x="1107" y="2"/>
                  </a:lnTo>
                  <a:lnTo>
                    <a:pt x="1164" y="8"/>
                  </a:lnTo>
                  <a:lnTo>
                    <a:pt x="1221" y="16"/>
                  </a:lnTo>
                  <a:lnTo>
                    <a:pt x="1277" y="29"/>
                  </a:lnTo>
                  <a:lnTo>
                    <a:pt x="1335" y="45"/>
                  </a:lnTo>
                  <a:lnTo>
                    <a:pt x="1392" y="67"/>
                  </a:lnTo>
                  <a:lnTo>
                    <a:pt x="1450" y="90"/>
                  </a:lnTo>
                  <a:lnTo>
                    <a:pt x="1507" y="117"/>
                  </a:lnTo>
                  <a:lnTo>
                    <a:pt x="1564" y="148"/>
                  </a:lnTo>
                  <a:lnTo>
                    <a:pt x="1621" y="183"/>
                  </a:lnTo>
                  <a:lnTo>
                    <a:pt x="1678" y="222"/>
                  </a:lnTo>
                  <a:lnTo>
                    <a:pt x="1667" y="237"/>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6" name="Freeform 321"/>
            <p:cNvSpPr>
              <a:spLocks/>
            </p:cNvSpPr>
            <p:nvPr/>
          </p:nvSpPr>
          <p:spPr bwMode="auto">
            <a:xfrm>
              <a:off x="2453" y="398"/>
              <a:ext cx="46" cy="29"/>
            </a:xfrm>
            <a:custGeom>
              <a:avLst/>
              <a:gdLst/>
              <a:ahLst/>
              <a:cxnLst>
                <a:cxn ang="0">
                  <a:pos x="132" y="86"/>
                </a:cxn>
                <a:cxn ang="0">
                  <a:pos x="141" y="71"/>
                </a:cxn>
                <a:cxn ang="0">
                  <a:pos x="9" y="0"/>
                </a:cxn>
                <a:cxn ang="0">
                  <a:pos x="0" y="15"/>
                </a:cxn>
                <a:cxn ang="0">
                  <a:pos x="132" y="86"/>
                </a:cxn>
              </a:cxnLst>
              <a:rect l="0" t="0" r="r" b="b"/>
              <a:pathLst>
                <a:path w="141" h="86">
                  <a:moveTo>
                    <a:pt x="132" y="86"/>
                  </a:moveTo>
                  <a:lnTo>
                    <a:pt x="141" y="71"/>
                  </a:lnTo>
                  <a:lnTo>
                    <a:pt x="9" y="0"/>
                  </a:lnTo>
                  <a:lnTo>
                    <a:pt x="0" y="15"/>
                  </a:lnTo>
                  <a:lnTo>
                    <a:pt x="132" y="8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7" name="Freeform 322"/>
            <p:cNvSpPr>
              <a:spLocks/>
            </p:cNvSpPr>
            <p:nvPr/>
          </p:nvSpPr>
          <p:spPr bwMode="auto">
            <a:xfrm>
              <a:off x="2494" y="422"/>
              <a:ext cx="6" cy="6"/>
            </a:xfrm>
            <a:custGeom>
              <a:avLst/>
              <a:gdLst/>
              <a:ahLst/>
              <a:cxnLst>
                <a:cxn ang="0">
                  <a:pos x="14" y="13"/>
                </a:cxn>
                <a:cxn ang="0">
                  <a:pos x="10" y="20"/>
                </a:cxn>
                <a:cxn ang="0">
                  <a:pos x="2" y="15"/>
                </a:cxn>
                <a:cxn ang="0">
                  <a:pos x="11" y="0"/>
                </a:cxn>
                <a:cxn ang="0">
                  <a:pos x="0" y="2"/>
                </a:cxn>
                <a:cxn ang="0">
                  <a:pos x="14" y="13"/>
                </a:cxn>
              </a:cxnLst>
              <a:rect l="0" t="0" r="r" b="b"/>
              <a:pathLst>
                <a:path w="14" h="20">
                  <a:moveTo>
                    <a:pt x="14" y="13"/>
                  </a:moveTo>
                  <a:lnTo>
                    <a:pt x="10" y="20"/>
                  </a:lnTo>
                  <a:lnTo>
                    <a:pt x="2" y="15"/>
                  </a:lnTo>
                  <a:lnTo>
                    <a:pt x="11" y="0"/>
                  </a:lnTo>
                  <a:lnTo>
                    <a:pt x="0" y="2"/>
                  </a:lnTo>
                  <a:lnTo>
                    <a:pt x="14" y="1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8" name="Freeform 323"/>
            <p:cNvSpPr>
              <a:spLocks/>
            </p:cNvSpPr>
            <p:nvPr/>
          </p:nvSpPr>
          <p:spPr bwMode="auto">
            <a:xfrm>
              <a:off x="2451" y="197"/>
              <a:ext cx="604" cy="206"/>
            </a:xfrm>
            <a:custGeom>
              <a:avLst/>
              <a:gdLst/>
              <a:ahLst/>
              <a:cxnLst>
                <a:cxn ang="0">
                  <a:pos x="37" y="552"/>
                </a:cxn>
                <a:cxn ang="0">
                  <a:pos x="119" y="451"/>
                </a:cxn>
                <a:cxn ang="0">
                  <a:pos x="207" y="360"/>
                </a:cxn>
                <a:cxn ang="0">
                  <a:pos x="303" y="277"/>
                </a:cxn>
                <a:cxn ang="0">
                  <a:pos x="406" y="202"/>
                </a:cxn>
                <a:cxn ang="0">
                  <a:pos x="515" y="140"/>
                </a:cxn>
                <a:cxn ang="0">
                  <a:pos x="628" y="88"/>
                </a:cxn>
                <a:cxn ang="0">
                  <a:pos x="745" y="47"/>
                </a:cxn>
                <a:cxn ang="0">
                  <a:pos x="868" y="20"/>
                </a:cxn>
                <a:cxn ang="0">
                  <a:pos x="991" y="3"/>
                </a:cxn>
                <a:cxn ang="0">
                  <a:pos x="1116" y="1"/>
                </a:cxn>
                <a:cxn ang="0">
                  <a:pos x="1243" y="13"/>
                </a:cxn>
                <a:cxn ang="0">
                  <a:pos x="1371" y="39"/>
                </a:cxn>
                <a:cxn ang="0">
                  <a:pos x="1467" y="68"/>
                </a:cxn>
                <a:cxn ang="0">
                  <a:pos x="1561" y="106"/>
                </a:cxn>
                <a:cxn ang="0">
                  <a:pos x="1686" y="171"/>
                </a:cxn>
                <a:cxn ang="0">
                  <a:pos x="1810" y="253"/>
                </a:cxn>
                <a:cxn ang="0">
                  <a:pos x="1738" y="225"/>
                </a:cxn>
                <a:cxn ang="0">
                  <a:pos x="1616" y="153"/>
                </a:cxn>
                <a:cxn ang="0">
                  <a:pos x="1491" y="97"/>
                </a:cxn>
                <a:cxn ang="0">
                  <a:pos x="1429" y="74"/>
                </a:cxn>
                <a:cxn ang="0">
                  <a:pos x="1304" y="42"/>
                </a:cxn>
                <a:cxn ang="0">
                  <a:pos x="1177" y="23"/>
                </a:cxn>
                <a:cxn ang="0">
                  <a:pos x="1053" y="18"/>
                </a:cxn>
                <a:cxn ang="0">
                  <a:pos x="931" y="28"/>
                </a:cxn>
                <a:cxn ang="0">
                  <a:pos x="809" y="49"/>
                </a:cxn>
                <a:cxn ang="0">
                  <a:pos x="691" y="83"/>
                </a:cxn>
                <a:cxn ang="0">
                  <a:pos x="579" y="129"/>
                </a:cxn>
                <a:cxn ang="0">
                  <a:pos x="469" y="186"/>
                </a:cxn>
                <a:cxn ang="0">
                  <a:pos x="365" y="253"/>
                </a:cxn>
                <a:cxn ang="0">
                  <a:pos x="266" y="331"/>
                </a:cxn>
                <a:cxn ang="0">
                  <a:pos x="175" y="417"/>
                </a:cxn>
                <a:cxn ang="0">
                  <a:pos x="90" y="513"/>
                </a:cxn>
                <a:cxn ang="0">
                  <a:pos x="13" y="617"/>
                </a:cxn>
              </a:cxnLst>
              <a:rect l="0" t="0" r="r" b="b"/>
              <a:pathLst>
                <a:path w="1810" h="617">
                  <a:moveTo>
                    <a:pt x="0" y="606"/>
                  </a:moveTo>
                  <a:lnTo>
                    <a:pt x="37" y="552"/>
                  </a:lnTo>
                  <a:lnTo>
                    <a:pt x="76" y="501"/>
                  </a:lnTo>
                  <a:lnTo>
                    <a:pt x="119" y="451"/>
                  </a:lnTo>
                  <a:lnTo>
                    <a:pt x="162" y="405"/>
                  </a:lnTo>
                  <a:lnTo>
                    <a:pt x="207" y="360"/>
                  </a:lnTo>
                  <a:lnTo>
                    <a:pt x="254" y="317"/>
                  </a:lnTo>
                  <a:lnTo>
                    <a:pt x="303" y="277"/>
                  </a:lnTo>
                  <a:lnTo>
                    <a:pt x="354" y="238"/>
                  </a:lnTo>
                  <a:lnTo>
                    <a:pt x="406" y="202"/>
                  </a:lnTo>
                  <a:lnTo>
                    <a:pt x="460" y="170"/>
                  </a:lnTo>
                  <a:lnTo>
                    <a:pt x="515" y="140"/>
                  </a:lnTo>
                  <a:lnTo>
                    <a:pt x="571" y="113"/>
                  </a:lnTo>
                  <a:lnTo>
                    <a:pt x="628" y="88"/>
                  </a:lnTo>
                  <a:lnTo>
                    <a:pt x="686" y="66"/>
                  </a:lnTo>
                  <a:lnTo>
                    <a:pt x="745" y="47"/>
                  </a:lnTo>
                  <a:lnTo>
                    <a:pt x="807" y="31"/>
                  </a:lnTo>
                  <a:lnTo>
                    <a:pt x="868" y="20"/>
                  </a:lnTo>
                  <a:lnTo>
                    <a:pt x="928" y="10"/>
                  </a:lnTo>
                  <a:lnTo>
                    <a:pt x="991" y="3"/>
                  </a:lnTo>
                  <a:lnTo>
                    <a:pt x="1053" y="0"/>
                  </a:lnTo>
                  <a:lnTo>
                    <a:pt x="1116" y="1"/>
                  </a:lnTo>
                  <a:lnTo>
                    <a:pt x="1180" y="5"/>
                  </a:lnTo>
                  <a:lnTo>
                    <a:pt x="1243" y="13"/>
                  </a:lnTo>
                  <a:lnTo>
                    <a:pt x="1306" y="24"/>
                  </a:lnTo>
                  <a:lnTo>
                    <a:pt x="1371" y="39"/>
                  </a:lnTo>
                  <a:lnTo>
                    <a:pt x="1434" y="57"/>
                  </a:lnTo>
                  <a:lnTo>
                    <a:pt x="1467" y="68"/>
                  </a:lnTo>
                  <a:lnTo>
                    <a:pt x="1498" y="79"/>
                  </a:lnTo>
                  <a:lnTo>
                    <a:pt x="1561" y="106"/>
                  </a:lnTo>
                  <a:lnTo>
                    <a:pt x="1624" y="137"/>
                  </a:lnTo>
                  <a:lnTo>
                    <a:pt x="1686" y="171"/>
                  </a:lnTo>
                  <a:lnTo>
                    <a:pt x="1749" y="210"/>
                  </a:lnTo>
                  <a:lnTo>
                    <a:pt x="1810" y="253"/>
                  </a:lnTo>
                  <a:lnTo>
                    <a:pt x="1799" y="268"/>
                  </a:lnTo>
                  <a:lnTo>
                    <a:pt x="1738" y="225"/>
                  </a:lnTo>
                  <a:lnTo>
                    <a:pt x="1678" y="187"/>
                  </a:lnTo>
                  <a:lnTo>
                    <a:pt x="1616" y="153"/>
                  </a:lnTo>
                  <a:lnTo>
                    <a:pt x="1554" y="123"/>
                  </a:lnTo>
                  <a:lnTo>
                    <a:pt x="1491" y="97"/>
                  </a:lnTo>
                  <a:lnTo>
                    <a:pt x="1461" y="85"/>
                  </a:lnTo>
                  <a:lnTo>
                    <a:pt x="1429" y="74"/>
                  </a:lnTo>
                  <a:lnTo>
                    <a:pt x="1366" y="56"/>
                  </a:lnTo>
                  <a:lnTo>
                    <a:pt x="1304" y="42"/>
                  </a:lnTo>
                  <a:lnTo>
                    <a:pt x="1241" y="31"/>
                  </a:lnTo>
                  <a:lnTo>
                    <a:pt x="1177" y="23"/>
                  </a:lnTo>
                  <a:lnTo>
                    <a:pt x="1115" y="20"/>
                  </a:lnTo>
                  <a:lnTo>
                    <a:pt x="1053" y="18"/>
                  </a:lnTo>
                  <a:lnTo>
                    <a:pt x="992" y="22"/>
                  </a:lnTo>
                  <a:lnTo>
                    <a:pt x="931" y="28"/>
                  </a:lnTo>
                  <a:lnTo>
                    <a:pt x="870" y="38"/>
                  </a:lnTo>
                  <a:lnTo>
                    <a:pt x="809" y="49"/>
                  </a:lnTo>
                  <a:lnTo>
                    <a:pt x="751" y="64"/>
                  </a:lnTo>
                  <a:lnTo>
                    <a:pt x="691" y="83"/>
                  </a:lnTo>
                  <a:lnTo>
                    <a:pt x="635" y="105"/>
                  </a:lnTo>
                  <a:lnTo>
                    <a:pt x="579" y="129"/>
                  </a:lnTo>
                  <a:lnTo>
                    <a:pt x="523" y="156"/>
                  </a:lnTo>
                  <a:lnTo>
                    <a:pt x="469" y="186"/>
                  </a:lnTo>
                  <a:lnTo>
                    <a:pt x="417" y="217"/>
                  </a:lnTo>
                  <a:lnTo>
                    <a:pt x="365" y="253"/>
                  </a:lnTo>
                  <a:lnTo>
                    <a:pt x="315" y="291"/>
                  </a:lnTo>
                  <a:lnTo>
                    <a:pt x="266" y="331"/>
                  </a:lnTo>
                  <a:lnTo>
                    <a:pt x="220" y="373"/>
                  </a:lnTo>
                  <a:lnTo>
                    <a:pt x="175" y="417"/>
                  </a:lnTo>
                  <a:lnTo>
                    <a:pt x="132" y="463"/>
                  </a:lnTo>
                  <a:lnTo>
                    <a:pt x="90" y="513"/>
                  </a:lnTo>
                  <a:lnTo>
                    <a:pt x="51" y="564"/>
                  </a:lnTo>
                  <a:lnTo>
                    <a:pt x="13" y="617"/>
                  </a:lnTo>
                  <a:lnTo>
                    <a:pt x="0" y="606"/>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39" name="Freeform 324"/>
            <p:cNvSpPr>
              <a:spLocks/>
            </p:cNvSpPr>
            <p:nvPr/>
          </p:nvSpPr>
          <p:spPr bwMode="auto">
            <a:xfrm>
              <a:off x="2449" y="398"/>
              <a:ext cx="6" cy="6"/>
            </a:xfrm>
            <a:custGeom>
              <a:avLst/>
              <a:gdLst/>
              <a:ahLst/>
              <a:cxnLst>
                <a:cxn ang="0">
                  <a:pos x="9" y="15"/>
                </a:cxn>
                <a:cxn ang="0">
                  <a:pos x="0" y="10"/>
                </a:cxn>
                <a:cxn ang="0">
                  <a:pos x="7" y="2"/>
                </a:cxn>
                <a:cxn ang="0">
                  <a:pos x="20" y="13"/>
                </a:cxn>
                <a:cxn ang="0">
                  <a:pos x="18" y="0"/>
                </a:cxn>
                <a:cxn ang="0">
                  <a:pos x="9" y="15"/>
                </a:cxn>
              </a:cxnLst>
              <a:rect l="0" t="0" r="r" b="b"/>
              <a:pathLst>
                <a:path w="20" h="15">
                  <a:moveTo>
                    <a:pt x="9" y="15"/>
                  </a:moveTo>
                  <a:lnTo>
                    <a:pt x="0" y="10"/>
                  </a:lnTo>
                  <a:lnTo>
                    <a:pt x="7" y="2"/>
                  </a:lnTo>
                  <a:lnTo>
                    <a:pt x="20" y="13"/>
                  </a:lnTo>
                  <a:lnTo>
                    <a:pt x="18" y="0"/>
                  </a:lnTo>
                  <a:lnTo>
                    <a:pt x="9" y="15"/>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0" name="Freeform 325"/>
            <p:cNvSpPr>
              <a:spLocks/>
            </p:cNvSpPr>
            <p:nvPr/>
          </p:nvSpPr>
          <p:spPr bwMode="auto">
            <a:xfrm>
              <a:off x="3052" y="281"/>
              <a:ext cx="3" cy="5"/>
            </a:xfrm>
            <a:custGeom>
              <a:avLst/>
              <a:gdLst/>
              <a:ahLst/>
              <a:cxnLst>
                <a:cxn ang="0">
                  <a:pos x="11" y="0"/>
                </a:cxn>
                <a:cxn ang="0">
                  <a:pos x="0" y="15"/>
                </a:cxn>
                <a:cxn ang="0">
                  <a:pos x="11" y="0"/>
                </a:cxn>
                <a:cxn ang="0">
                  <a:pos x="0" y="15"/>
                </a:cxn>
                <a:cxn ang="0">
                  <a:pos x="11" y="0"/>
                </a:cxn>
              </a:cxnLst>
              <a:rect l="0" t="0" r="r" b="b"/>
              <a:pathLst>
                <a:path w="11" h="15">
                  <a:moveTo>
                    <a:pt x="11" y="0"/>
                  </a:moveTo>
                  <a:lnTo>
                    <a:pt x="0" y="15"/>
                  </a:lnTo>
                  <a:lnTo>
                    <a:pt x="11" y="0"/>
                  </a:lnTo>
                  <a:lnTo>
                    <a:pt x="0" y="15"/>
                  </a:lnTo>
                  <a:lnTo>
                    <a:pt x="11"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1" name="Freeform 326"/>
            <p:cNvSpPr>
              <a:spLocks/>
            </p:cNvSpPr>
            <p:nvPr/>
          </p:nvSpPr>
          <p:spPr bwMode="auto">
            <a:xfrm>
              <a:off x="2528" y="227"/>
              <a:ext cx="525" cy="240"/>
            </a:xfrm>
            <a:custGeom>
              <a:avLst/>
              <a:gdLst/>
              <a:ahLst/>
              <a:cxnLst>
                <a:cxn ang="0">
                  <a:pos x="1541" y="154"/>
                </a:cxn>
                <a:cxn ang="0">
                  <a:pos x="1481" y="127"/>
                </a:cxn>
                <a:cxn ang="0">
                  <a:pos x="1421" y="105"/>
                </a:cxn>
                <a:cxn ang="0">
                  <a:pos x="1363" y="86"/>
                </a:cxn>
                <a:cxn ang="0">
                  <a:pos x="1305" y="72"/>
                </a:cxn>
                <a:cxn ang="0">
                  <a:pos x="1250" y="60"/>
                </a:cxn>
                <a:cxn ang="0">
                  <a:pos x="1194" y="54"/>
                </a:cxn>
                <a:cxn ang="0">
                  <a:pos x="1140" y="49"/>
                </a:cxn>
                <a:cxn ang="0">
                  <a:pos x="1088" y="49"/>
                </a:cxn>
                <a:cxn ang="0">
                  <a:pos x="1036" y="52"/>
                </a:cxn>
                <a:cxn ang="0">
                  <a:pos x="985" y="58"/>
                </a:cxn>
                <a:cxn ang="0">
                  <a:pos x="936" y="68"/>
                </a:cxn>
                <a:cxn ang="0">
                  <a:pos x="887" y="79"/>
                </a:cxn>
                <a:cxn ang="0">
                  <a:pos x="840" y="94"/>
                </a:cxn>
                <a:cxn ang="0">
                  <a:pos x="793" y="111"/>
                </a:cxn>
                <a:cxn ang="0">
                  <a:pos x="748" y="132"/>
                </a:cxn>
                <a:cxn ang="0">
                  <a:pos x="703" y="154"/>
                </a:cxn>
                <a:cxn ang="0">
                  <a:pos x="660" y="179"/>
                </a:cxn>
                <a:cxn ang="0">
                  <a:pos x="618" y="206"/>
                </a:cxn>
                <a:cxn ang="0">
                  <a:pos x="576" y="234"/>
                </a:cxn>
                <a:cxn ang="0">
                  <a:pos x="536" y="265"/>
                </a:cxn>
                <a:cxn ang="0">
                  <a:pos x="477" y="316"/>
                </a:cxn>
                <a:cxn ang="0">
                  <a:pos x="420" y="368"/>
                </a:cxn>
                <a:cxn ang="0">
                  <a:pos x="366" y="425"/>
                </a:cxn>
                <a:cxn ang="0">
                  <a:pos x="330" y="464"/>
                </a:cxn>
                <a:cxn ang="0">
                  <a:pos x="263" y="546"/>
                </a:cxn>
                <a:cxn ang="0">
                  <a:pos x="199" y="631"/>
                </a:cxn>
                <a:cxn ang="0">
                  <a:pos x="139" y="719"/>
                </a:cxn>
                <a:cxn ang="0">
                  <a:pos x="14" y="620"/>
                </a:cxn>
                <a:cxn ang="0">
                  <a:pos x="62" y="551"/>
                </a:cxn>
                <a:cxn ang="0">
                  <a:pos x="95" y="506"/>
                </a:cxn>
                <a:cxn ang="0">
                  <a:pos x="129" y="463"/>
                </a:cxn>
                <a:cxn ang="0">
                  <a:pos x="166" y="421"/>
                </a:cxn>
                <a:cxn ang="0">
                  <a:pos x="203" y="380"/>
                </a:cxn>
                <a:cxn ang="0">
                  <a:pos x="261" y="321"/>
                </a:cxn>
                <a:cxn ang="0">
                  <a:pos x="323" y="267"/>
                </a:cxn>
                <a:cxn ang="0">
                  <a:pos x="366" y="231"/>
                </a:cxn>
                <a:cxn ang="0">
                  <a:pos x="409" y="199"/>
                </a:cxn>
                <a:cxn ang="0">
                  <a:pos x="455" y="168"/>
                </a:cxn>
                <a:cxn ang="0">
                  <a:pos x="501" y="140"/>
                </a:cxn>
                <a:cxn ang="0">
                  <a:pos x="549" y="114"/>
                </a:cxn>
                <a:cxn ang="0">
                  <a:pos x="596" y="90"/>
                </a:cxn>
                <a:cxn ang="0">
                  <a:pos x="646" y="69"/>
                </a:cxn>
                <a:cxn ang="0">
                  <a:pos x="698" y="50"/>
                </a:cxn>
                <a:cxn ang="0">
                  <a:pos x="749" y="34"/>
                </a:cxn>
                <a:cxn ang="0">
                  <a:pos x="802" y="22"/>
                </a:cxn>
                <a:cxn ang="0">
                  <a:pos x="855" y="12"/>
                </a:cxn>
                <a:cxn ang="0">
                  <a:pos x="910" y="4"/>
                </a:cxn>
                <a:cxn ang="0">
                  <a:pos x="966" y="1"/>
                </a:cxn>
                <a:cxn ang="0">
                  <a:pos x="1023" y="1"/>
                </a:cxn>
                <a:cxn ang="0">
                  <a:pos x="1081" y="4"/>
                </a:cxn>
                <a:cxn ang="0">
                  <a:pos x="1139" y="11"/>
                </a:cxn>
                <a:cxn ang="0">
                  <a:pos x="1199" y="22"/>
                </a:cxn>
                <a:cxn ang="0">
                  <a:pos x="1259" y="36"/>
                </a:cxn>
                <a:cxn ang="0">
                  <a:pos x="1320" y="54"/>
                </a:cxn>
                <a:cxn ang="0">
                  <a:pos x="1382" y="76"/>
                </a:cxn>
                <a:cxn ang="0">
                  <a:pos x="1445" y="103"/>
                </a:cxn>
                <a:cxn ang="0">
                  <a:pos x="1508" y="134"/>
                </a:cxn>
                <a:cxn ang="0">
                  <a:pos x="1572" y="169"/>
                </a:cxn>
              </a:cxnLst>
              <a:rect l="0" t="0" r="r" b="b"/>
              <a:pathLst>
                <a:path w="1572" h="719">
                  <a:moveTo>
                    <a:pt x="1572" y="169"/>
                  </a:moveTo>
                  <a:lnTo>
                    <a:pt x="1541" y="154"/>
                  </a:lnTo>
                  <a:lnTo>
                    <a:pt x="1510" y="140"/>
                  </a:lnTo>
                  <a:lnTo>
                    <a:pt x="1481" y="127"/>
                  </a:lnTo>
                  <a:lnTo>
                    <a:pt x="1451" y="116"/>
                  </a:lnTo>
                  <a:lnTo>
                    <a:pt x="1421" y="105"/>
                  </a:lnTo>
                  <a:lnTo>
                    <a:pt x="1392" y="95"/>
                  </a:lnTo>
                  <a:lnTo>
                    <a:pt x="1363" y="86"/>
                  </a:lnTo>
                  <a:lnTo>
                    <a:pt x="1334" y="78"/>
                  </a:lnTo>
                  <a:lnTo>
                    <a:pt x="1305" y="72"/>
                  </a:lnTo>
                  <a:lnTo>
                    <a:pt x="1277" y="65"/>
                  </a:lnTo>
                  <a:lnTo>
                    <a:pt x="1250" y="60"/>
                  </a:lnTo>
                  <a:lnTo>
                    <a:pt x="1222" y="57"/>
                  </a:lnTo>
                  <a:lnTo>
                    <a:pt x="1194" y="54"/>
                  </a:lnTo>
                  <a:lnTo>
                    <a:pt x="1168" y="50"/>
                  </a:lnTo>
                  <a:lnTo>
                    <a:pt x="1140" y="49"/>
                  </a:lnTo>
                  <a:lnTo>
                    <a:pt x="1114" y="49"/>
                  </a:lnTo>
                  <a:lnTo>
                    <a:pt x="1088" y="49"/>
                  </a:lnTo>
                  <a:lnTo>
                    <a:pt x="1061" y="50"/>
                  </a:lnTo>
                  <a:lnTo>
                    <a:pt x="1036" y="52"/>
                  </a:lnTo>
                  <a:lnTo>
                    <a:pt x="1010" y="55"/>
                  </a:lnTo>
                  <a:lnTo>
                    <a:pt x="985" y="58"/>
                  </a:lnTo>
                  <a:lnTo>
                    <a:pt x="960" y="62"/>
                  </a:lnTo>
                  <a:lnTo>
                    <a:pt x="936" y="68"/>
                  </a:lnTo>
                  <a:lnTo>
                    <a:pt x="911" y="73"/>
                  </a:lnTo>
                  <a:lnTo>
                    <a:pt x="887" y="79"/>
                  </a:lnTo>
                  <a:lnTo>
                    <a:pt x="864" y="87"/>
                  </a:lnTo>
                  <a:lnTo>
                    <a:pt x="840" y="94"/>
                  </a:lnTo>
                  <a:lnTo>
                    <a:pt x="817" y="103"/>
                  </a:lnTo>
                  <a:lnTo>
                    <a:pt x="793" y="111"/>
                  </a:lnTo>
                  <a:lnTo>
                    <a:pt x="770" y="121"/>
                  </a:lnTo>
                  <a:lnTo>
                    <a:pt x="748" y="132"/>
                  </a:lnTo>
                  <a:lnTo>
                    <a:pt x="725" y="142"/>
                  </a:lnTo>
                  <a:lnTo>
                    <a:pt x="703" y="154"/>
                  </a:lnTo>
                  <a:lnTo>
                    <a:pt x="682" y="166"/>
                  </a:lnTo>
                  <a:lnTo>
                    <a:pt x="660" y="179"/>
                  </a:lnTo>
                  <a:lnTo>
                    <a:pt x="639" y="192"/>
                  </a:lnTo>
                  <a:lnTo>
                    <a:pt x="618" y="206"/>
                  </a:lnTo>
                  <a:lnTo>
                    <a:pt x="596" y="219"/>
                  </a:lnTo>
                  <a:lnTo>
                    <a:pt x="576" y="234"/>
                  </a:lnTo>
                  <a:lnTo>
                    <a:pt x="556" y="249"/>
                  </a:lnTo>
                  <a:lnTo>
                    <a:pt x="536" y="265"/>
                  </a:lnTo>
                  <a:lnTo>
                    <a:pt x="516" y="282"/>
                  </a:lnTo>
                  <a:lnTo>
                    <a:pt x="477" y="316"/>
                  </a:lnTo>
                  <a:lnTo>
                    <a:pt x="439" y="350"/>
                  </a:lnTo>
                  <a:lnTo>
                    <a:pt x="420" y="368"/>
                  </a:lnTo>
                  <a:lnTo>
                    <a:pt x="402" y="387"/>
                  </a:lnTo>
                  <a:lnTo>
                    <a:pt x="366" y="425"/>
                  </a:lnTo>
                  <a:lnTo>
                    <a:pt x="349" y="444"/>
                  </a:lnTo>
                  <a:lnTo>
                    <a:pt x="330" y="464"/>
                  </a:lnTo>
                  <a:lnTo>
                    <a:pt x="296" y="505"/>
                  </a:lnTo>
                  <a:lnTo>
                    <a:pt x="263" y="546"/>
                  </a:lnTo>
                  <a:lnTo>
                    <a:pt x="230" y="589"/>
                  </a:lnTo>
                  <a:lnTo>
                    <a:pt x="199" y="631"/>
                  </a:lnTo>
                  <a:lnTo>
                    <a:pt x="169" y="675"/>
                  </a:lnTo>
                  <a:lnTo>
                    <a:pt x="139" y="719"/>
                  </a:lnTo>
                  <a:lnTo>
                    <a:pt x="0" y="642"/>
                  </a:lnTo>
                  <a:lnTo>
                    <a:pt x="14" y="620"/>
                  </a:lnTo>
                  <a:lnTo>
                    <a:pt x="30" y="596"/>
                  </a:lnTo>
                  <a:lnTo>
                    <a:pt x="62" y="551"/>
                  </a:lnTo>
                  <a:lnTo>
                    <a:pt x="78" y="529"/>
                  </a:lnTo>
                  <a:lnTo>
                    <a:pt x="95" y="506"/>
                  </a:lnTo>
                  <a:lnTo>
                    <a:pt x="112" y="485"/>
                  </a:lnTo>
                  <a:lnTo>
                    <a:pt x="129" y="463"/>
                  </a:lnTo>
                  <a:lnTo>
                    <a:pt x="147" y="442"/>
                  </a:lnTo>
                  <a:lnTo>
                    <a:pt x="166" y="421"/>
                  </a:lnTo>
                  <a:lnTo>
                    <a:pt x="185" y="400"/>
                  </a:lnTo>
                  <a:lnTo>
                    <a:pt x="203" y="380"/>
                  </a:lnTo>
                  <a:lnTo>
                    <a:pt x="242" y="340"/>
                  </a:lnTo>
                  <a:lnTo>
                    <a:pt x="261" y="321"/>
                  </a:lnTo>
                  <a:lnTo>
                    <a:pt x="282" y="302"/>
                  </a:lnTo>
                  <a:lnTo>
                    <a:pt x="323" y="267"/>
                  </a:lnTo>
                  <a:lnTo>
                    <a:pt x="344" y="248"/>
                  </a:lnTo>
                  <a:lnTo>
                    <a:pt x="366" y="231"/>
                  </a:lnTo>
                  <a:lnTo>
                    <a:pt x="388" y="215"/>
                  </a:lnTo>
                  <a:lnTo>
                    <a:pt x="409" y="199"/>
                  </a:lnTo>
                  <a:lnTo>
                    <a:pt x="432" y="183"/>
                  </a:lnTo>
                  <a:lnTo>
                    <a:pt x="455" y="168"/>
                  </a:lnTo>
                  <a:lnTo>
                    <a:pt x="477" y="154"/>
                  </a:lnTo>
                  <a:lnTo>
                    <a:pt x="501" y="140"/>
                  </a:lnTo>
                  <a:lnTo>
                    <a:pt x="524" y="126"/>
                  </a:lnTo>
                  <a:lnTo>
                    <a:pt x="549" y="114"/>
                  </a:lnTo>
                  <a:lnTo>
                    <a:pt x="572" y="102"/>
                  </a:lnTo>
                  <a:lnTo>
                    <a:pt x="596" y="90"/>
                  </a:lnTo>
                  <a:lnTo>
                    <a:pt x="621" y="79"/>
                  </a:lnTo>
                  <a:lnTo>
                    <a:pt x="646" y="69"/>
                  </a:lnTo>
                  <a:lnTo>
                    <a:pt x="672" y="59"/>
                  </a:lnTo>
                  <a:lnTo>
                    <a:pt x="698" y="50"/>
                  </a:lnTo>
                  <a:lnTo>
                    <a:pt x="723" y="42"/>
                  </a:lnTo>
                  <a:lnTo>
                    <a:pt x="749" y="34"/>
                  </a:lnTo>
                  <a:lnTo>
                    <a:pt x="775" y="28"/>
                  </a:lnTo>
                  <a:lnTo>
                    <a:pt x="802" y="22"/>
                  </a:lnTo>
                  <a:lnTo>
                    <a:pt x="828" y="16"/>
                  </a:lnTo>
                  <a:lnTo>
                    <a:pt x="855" y="12"/>
                  </a:lnTo>
                  <a:lnTo>
                    <a:pt x="883" y="8"/>
                  </a:lnTo>
                  <a:lnTo>
                    <a:pt x="910" y="4"/>
                  </a:lnTo>
                  <a:lnTo>
                    <a:pt x="938" y="2"/>
                  </a:lnTo>
                  <a:lnTo>
                    <a:pt x="966" y="1"/>
                  </a:lnTo>
                  <a:lnTo>
                    <a:pt x="994" y="0"/>
                  </a:lnTo>
                  <a:lnTo>
                    <a:pt x="1023" y="1"/>
                  </a:lnTo>
                  <a:lnTo>
                    <a:pt x="1052" y="2"/>
                  </a:lnTo>
                  <a:lnTo>
                    <a:pt x="1081" y="4"/>
                  </a:lnTo>
                  <a:lnTo>
                    <a:pt x="1109" y="7"/>
                  </a:lnTo>
                  <a:lnTo>
                    <a:pt x="1139" y="11"/>
                  </a:lnTo>
                  <a:lnTo>
                    <a:pt x="1169" y="15"/>
                  </a:lnTo>
                  <a:lnTo>
                    <a:pt x="1199" y="22"/>
                  </a:lnTo>
                  <a:lnTo>
                    <a:pt x="1229" y="28"/>
                  </a:lnTo>
                  <a:lnTo>
                    <a:pt x="1259" y="36"/>
                  </a:lnTo>
                  <a:lnTo>
                    <a:pt x="1289" y="44"/>
                  </a:lnTo>
                  <a:lnTo>
                    <a:pt x="1320" y="54"/>
                  </a:lnTo>
                  <a:lnTo>
                    <a:pt x="1351" y="64"/>
                  </a:lnTo>
                  <a:lnTo>
                    <a:pt x="1382" y="76"/>
                  </a:lnTo>
                  <a:lnTo>
                    <a:pt x="1414" y="89"/>
                  </a:lnTo>
                  <a:lnTo>
                    <a:pt x="1445" y="103"/>
                  </a:lnTo>
                  <a:lnTo>
                    <a:pt x="1476" y="118"/>
                  </a:lnTo>
                  <a:lnTo>
                    <a:pt x="1508" y="134"/>
                  </a:lnTo>
                  <a:lnTo>
                    <a:pt x="1540" y="151"/>
                  </a:lnTo>
                  <a:lnTo>
                    <a:pt x="1572" y="169"/>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2" name="Freeform 327"/>
            <p:cNvSpPr>
              <a:spLocks/>
            </p:cNvSpPr>
            <p:nvPr/>
          </p:nvSpPr>
          <p:spPr bwMode="auto">
            <a:xfrm>
              <a:off x="2572" y="241"/>
              <a:ext cx="483" cy="228"/>
            </a:xfrm>
            <a:custGeom>
              <a:avLst/>
              <a:gdLst/>
              <a:ahLst/>
              <a:cxnLst>
                <a:cxn ang="0">
                  <a:pos x="1375" y="109"/>
                </a:cxn>
                <a:cxn ang="0">
                  <a:pos x="1257" y="64"/>
                </a:cxn>
                <a:cxn ang="0">
                  <a:pos x="1144" y="34"/>
                </a:cxn>
                <a:cxn ang="0">
                  <a:pos x="1035" y="19"/>
                </a:cxn>
                <a:cxn ang="0">
                  <a:pos x="932" y="19"/>
                </a:cxn>
                <a:cxn ang="0">
                  <a:pos x="831" y="31"/>
                </a:cxn>
                <a:cxn ang="0">
                  <a:pos x="735" y="54"/>
                </a:cxn>
                <a:cxn ang="0">
                  <a:pos x="666" y="80"/>
                </a:cxn>
                <a:cxn ang="0">
                  <a:pos x="598" y="111"/>
                </a:cxn>
                <a:cxn ang="0">
                  <a:pos x="513" y="159"/>
                </a:cxn>
                <a:cxn ang="0">
                  <a:pos x="430" y="217"/>
                </a:cxn>
                <a:cxn ang="0">
                  <a:pos x="353" y="281"/>
                </a:cxn>
                <a:cxn ang="0">
                  <a:pos x="277" y="354"/>
                </a:cxn>
                <a:cxn ang="0">
                  <a:pos x="206" y="431"/>
                </a:cxn>
                <a:cxn ang="0">
                  <a:pos x="107" y="554"/>
                </a:cxn>
                <a:cxn ang="0">
                  <a:pos x="15" y="684"/>
                </a:cxn>
                <a:cxn ang="0">
                  <a:pos x="60" y="586"/>
                </a:cxn>
                <a:cxn ang="0">
                  <a:pos x="124" y="500"/>
                </a:cxn>
                <a:cxn ang="0">
                  <a:pos x="228" y="378"/>
                </a:cxn>
                <a:cxn ang="0">
                  <a:pos x="302" y="304"/>
                </a:cxn>
                <a:cxn ang="0">
                  <a:pos x="378" y="235"/>
                </a:cxn>
                <a:cxn ang="0">
                  <a:pos x="459" y="173"/>
                </a:cxn>
                <a:cxn ang="0">
                  <a:pos x="545" y="119"/>
                </a:cxn>
                <a:cxn ang="0">
                  <a:pos x="635" y="74"/>
                </a:cxn>
                <a:cxn ang="0">
                  <a:pos x="683" y="54"/>
                </a:cxn>
                <a:cxn ang="0">
                  <a:pos x="777" y="24"/>
                </a:cxn>
                <a:cxn ang="0">
                  <a:pos x="877" y="6"/>
                </a:cxn>
                <a:cxn ang="0">
                  <a:pos x="983" y="0"/>
                </a:cxn>
                <a:cxn ang="0">
                  <a:pos x="1092" y="7"/>
                </a:cxn>
                <a:cxn ang="0">
                  <a:pos x="1205" y="30"/>
                </a:cxn>
                <a:cxn ang="0">
                  <a:pos x="1323" y="68"/>
                </a:cxn>
                <a:cxn ang="0">
                  <a:pos x="1445" y="122"/>
                </a:cxn>
              </a:cxnLst>
              <a:rect l="0" t="0" r="r" b="b"/>
              <a:pathLst>
                <a:path w="1445" h="684">
                  <a:moveTo>
                    <a:pt x="1437" y="138"/>
                  </a:moveTo>
                  <a:lnTo>
                    <a:pt x="1375" y="109"/>
                  </a:lnTo>
                  <a:lnTo>
                    <a:pt x="1316" y="84"/>
                  </a:lnTo>
                  <a:lnTo>
                    <a:pt x="1257" y="64"/>
                  </a:lnTo>
                  <a:lnTo>
                    <a:pt x="1200" y="47"/>
                  </a:lnTo>
                  <a:lnTo>
                    <a:pt x="1144" y="34"/>
                  </a:lnTo>
                  <a:lnTo>
                    <a:pt x="1089" y="24"/>
                  </a:lnTo>
                  <a:lnTo>
                    <a:pt x="1035" y="19"/>
                  </a:lnTo>
                  <a:lnTo>
                    <a:pt x="983" y="18"/>
                  </a:lnTo>
                  <a:lnTo>
                    <a:pt x="932" y="19"/>
                  </a:lnTo>
                  <a:lnTo>
                    <a:pt x="880" y="23"/>
                  </a:lnTo>
                  <a:lnTo>
                    <a:pt x="831" y="31"/>
                  </a:lnTo>
                  <a:lnTo>
                    <a:pt x="783" y="42"/>
                  </a:lnTo>
                  <a:lnTo>
                    <a:pt x="735" y="54"/>
                  </a:lnTo>
                  <a:lnTo>
                    <a:pt x="689" y="71"/>
                  </a:lnTo>
                  <a:lnTo>
                    <a:pt x="666" y="80"/>
                  </a:lnTo>
                  <a:lnTo>
                    <a:pt x="643" y="90"/>
                  </a:lnTo>
                  <a:lnTo>
                    <a:pt x="598" y="111"/>
                  </a:lnTo>
                  <a:lnTo>
                    <a:pt x="555" y="133"/>
                  </a:lnTo>
                  <a:lnTo>
                    <a:pt x="513" y="159"/>
                  </a:lnTo>
                  <a:lnTo>
                    <a:pt x="471" y="187"/>
                  </a:lnTo>
                  <a:lnTo>
                    <a:pt x="430" y="217"/>
                  </a:lnTo>
                  <a:lnTo>
                    <a:pt x="390" y="249"/>
                  </a:lnTo>
                  <a:lnTo>
                    <a:pt x="353" y="281"/>
                  </a:lnTo>
                  <a:lnTo>
                    <a:pt x="314" y="316"/>
                  </a:lnTo>
                  <a:lnTo>
                    <a:pt x="277" y="354"/>
                  </a:lnTo>
                  <a:lnTo>
                    <a:pt x="241" y="391"/>
                  </a:lnTo>
                  <a:lnTo>
                    <a:pt x="206" y="431"/>
                  </a:lnTo>
                  <a:lnTo>
                    <a:pt x="138" y="512"/>
                  </a:lnTo>
                  <a:lnTo>
                    <a:pt x="107" y="554"/>
                  </a:lnTo>
                  <a:lnTo>
                    <a:pt x="75" y="597"/>
                  </a:lnTo>
                  <a:lnTo>
                    <a:pt x="15" y="684"/>
                  </a:lnTo>
                  <a:lnTo>
                    <a:pt x="0" y="674"/>
                  </a:lnTo>
                  <a:lnTo>
                    <a:pt x="60" y="586"/>
                  </a:lnTo>
                  <a:lnTo>
                    <a:pt x="92" y="543"/>
                  </a:lnTo>
                  <a:lnTo>
                    <a:pt x="124" y="500"/>
                  </a:lnTo>
                  <a:lnTo>
                    <a:pt x="192" y="419"/>
                  </a:lnTo>
                  <a:lnTo>
                    <a:pt x="228" y="378"/>
                  </a:lnTo>
                  <a:lnTo>
                    <a:pt x="264" y="341"/>
                  </a:lnTo>
                  <a:lnTo>
                    <a:pt x="302" y="304"/>
                  </a:lnTo>
                  <a:lnTo>
                    <a:pt x="340" y="268"/>
                  </a:lnTo>
                  <a:lnTo>
                    <a:pt x="378" y="235"/>
                  </a:lnTo>
                  <a:lnTo>
                    <a:pt x="419" y="203"/>
                  </a:lnTo>
                  <a:lnTo>
                    <a:pt x="459" y="173"/>
                  </a:lnTo>
                  <a:lnTo>
                    <a:pt x="503" y="144"/>
                  </a:lnTo>
                  <a:lnTo>
                    <a:pt x="545" y="119"/>
                  </a:lnTo>
                  <a:lnTo>
                    <a:pt x="590" y="95"/>
                  </a:lnTo>
                  <a:lnTo>
                    <a:pt x="635" y="74"/>
                  </a:lnTo>
                  <a:lnTo>
                    <a:pt x="658" y="64"/>
                  </a:lnTo>
                  <a:lnTo>
                    <a:pt x="683" y="54"/>
                  </a:lnTo>
                  <a:lnTo>
                    <a:pt x="729" y="37"/>
                  </a:lnTo>
                  <a:lnTo>
                    <a:pt x="777" y="24"/>
                  </a:lnTo>
                  <a:lnTo>
                    <a:pt x="827" y="14"/>
                  </a:lnTo>
                  <a:lnTo>
                    <a:pt x="877" y="6"/>
                  </a:lnTo>
                  <a:lnTo>
                    <a:pt x="929" y="2"/>
                  </a:lnTo>
                  <a:lnTo>
                    <a:pt x="983" y="0"/>
                  </a:lnTo>
                  <a:lnTo>
                    <a:pt x="1037" y="2"/>
                  </a:lnTo>
                  <a:lnTo>
                    <a:pt x="1092" y="7"/>
                  </a:lnTo>
                  <a:lnTo>
                    <a:pt x="1149" y="17"/>
                  </a:lnTo>
                  <a:lnTo>
                    <a:pt x="1205" y="30"/>
                  </a:lnTo>
                  <a:lnTo>
                    <a:pt x="1262" y="47"/>
                  </a:lnTo>
                  <a:lnTo>
                    <a:pt x="1323" y="68"/>
                  </a:lnTo>
                  <a:lnTo>
                    <a:pt x="1383" y="93"/>
                  </a:lnTo>
                  <a:lnTo>
                    <a:pt x="1445" y="122"/>
                  </a:lnTo>
                  <a:lnTo>
                    <a:pt x="1437" y="138"/>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3" name="Freeform 328"/>
            <p:cNvSpPr>
              <a:spLocks/>
            </p:cNvSpPr>
            <p:nvPr/>
          </p:nvSpPr>
          <p:spPr bwMode="auto">
            <a:xfrm>
              <a:off x="2527" y="439"/>
              <a:ext cx="50" cy="31"/>
            </a:xfrm>
            <a:custGeom>
              <a:avLst/>
              <a:gdLst/>
              <a:ahLst/>
              <a:cxnLst>
                <a:cxn ang="0">
                  <a:pos x="140" y="92"/>
                </a:cxn>
                <a:cxn ang="0">
                  <a:pos x="149" y="77"/>
                </a:cxn>
                <a:cxn ang="0">
                  <a:pos x="10" y="0"/>
                </a:cxn>
                <a:cxn ang="0">
                  <a:pos x="0" y="14"/>
                </a:cxn>
                <a:cxn ang="0">
                  <a:pos x="140" y="92"/>
                </a:cxn>
              </a:cxnLst>
              <a:rect l="0" t="0" r="r" b="b"/>
              <a:pathLst>
                <a:path w="149" h="92">
                  <a:moveTo>
                    <a:pt x="140" y="92"/>
                  </a:moveTo>
                  <a:lnTo>
                    <a:pt x="149" y="77"/>
                  </a:lnTo>
                  <a:lnTo>
                    <a:pt x="10" y="0"/>
                  </a:lnTo>
                  <a:lnTo>
                    <a:pt x="0" y="14"/>
                  </a:lnTo>
                  <a:lnTo>
                    <a:pt x="140" y="9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4" name="Freeform 329"/>
            <p:cNvSpPr>
              <a:spLocks/>
            </p:cNvSpPr>
            <p:nvPr/>
          </p:nvSpPr>
          <p:spPr bwMode="auto">
            <a:xfrm>
              <a:off x="2572" y="464"/>
              <a:ext cx="5" cy="6"/>
            </a:xfrm>
            <a:custGeom>
              <a:avLst/>
              <a:gdLst/>
              <a:ahLst/>
              <a:cxnLst>
                <a:cxn ang="0">
                  <a:pos x="15" y="12"/>
                </a:cxn>
                <a:cxn ang="0">
                  <a:pos x="11" y="19"/>
                </a:cxn>
                <a:cxn ang="0">
                  <a:pos x="3" y="15"/>
                </a:cxn>
                <a:cxn ang="0">
                  <a:pos x="12" y="0"/>
                </a:cxn>
                <a:cxn ang="0">
                  <a:pos x="0" y="2"/>
                </a:cxn>
                <a:cxn ang="0">
                  <a:pos x="15" y="12"/>
                </a:cxn>
              </a:cxnLst>
              <a:rect l="0" t="0" r="r" b="b"/>
              <a:pathLst>
                <a:path w="15" h="19">
                  <a:moveTo>
                    <a:pt x="15" y="12"/>
                  </a:moveTo>
                  <a:lnTo>
                    <a:pt x="11" y="19"/>
                  </a:lnTo>
                  <a:lnTo>
                    <a:pt x="3" y="15"/>
                  </a:lnTo>
                  <a:lnTo>
                    <a:pt x="12" y="0"/>
                  </a:lnTo>
                  <a:lnTo>
                    <a:pt x="0" y="2"/>
                  </a:lnTo>
                  <a:lnTo>
                    <a:pt x="15" y="12"/>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5" name="Freeform 330"/>
            <p:cNvSpPr>
              <a:spLocks/>
            </p:cNvSpPr>
            <p:nvPr/>
          </p:nvSpPr>
          <p:spPr bwMode="auto">
            <a:xfrm>
              <a:off x="2525" y="225"/>
              <a:ext cx="529" cy="217"/>
            </a:xfrm>
            <a:custGeom>
              <a:avLst/>
              <a:gdLst/>
              <a:ahLst/>
              <a:cxnLst>
                <a:cxn ang="0">
                  <a:pos x="63" y="553"/>
                </a:cxn>
                <a:cxn ang="0">
                  <a:pos x="130" y="464"/>
                </a:cxn>
                <a:cxn ang="0">
                  <a:pos x="167" y="421"/>
                </a:cxn>
                <a:cxn ang="0">
                  <a:pos x="244" y="341"/>
                </a:cxn>
                <a:cxn ang="0">
                  <a:pos x="325" y="266"/>
                </a:cxn>
                <a:cxn ang="0">
                  <a:pos x="412" y="199"/>
                </a:cxn>
                <a:cxn ang="0">
                  <a:pos x="504" y="140"/>
                </a:cxn>
                <a:cxn ang="0">
                  <a:pos x="600" y="90"/>
                </a:cxn>
                <a:cxn ang="0">
                  <a:pos x="701" y="49"/>
                </a:cxn>
                <a:cxn ang="0">
                  <a:pos x="809" y="20"/>
                </a:cxn>
                <a:cxn ang="0">
                  <a:pos x="890" y="6"/>
                </a:cxn>
                <a:cxn ang="0">
                  <a:pos x="974" y="0"/>
                </a:cxn>
                <a:cxn ang="0">
                  <a:pos x="1089" y="3"/>
                </a:cxn>
                <a:cxn ang="0">
                  <a:pos x="1208" y="20"/>
                </a:cxn>
                <a:cxn ang="0">
                  <a:pos x="1330" y="52"/>
                </a:cxn>
                <a:cxn ang="0">
                  <a:pos x="1457" y="102"/>
                </a:cxn>
                <a:cxn ang="0">
                  <a:pos x="1584" y="169"/>
                </a:cxn>
                <a:cxn ang="0">
                  <a:pos x="1512" y="149"/>
                </a:cxn>
                <a:cxn ang="0">
                  <a:pos x="1387" y="92"/>
                </a:cxn>
                <a:cxn ang="0">
                  <a:pos x="1263" y="51"/>
                </a:cxn>
                <a:cxn ang="0">
                  <a:pos x="1146" y="28"/>
                </a:cxn>
                <a:cxn ang="0">
                  <a:pos x="1031" y="18"/>
                </a:cxn>
                <a:cxn ang="0">
                  <a:pos x="919" y="21"/>
                </a:cxn>
                <a:cxn ang="0">
                  <a:pos x="864" y="29"/>
                </a:cxn>
                <a:cxn ang="0">
                  <a:pos x="759" y="50"/>
                </a:cxn>
                <a:cxn ang="0">
                  <a:pos x="658" y="84"/>
                </a:cxn>
                <a:cxn ang="0">
                  <a:pos x="560" y="129"/>
                </a:cxn>
                <a:cxn ang="0">
                  <a:pos x="468" y="183"/>
                </a:cxn>
                <a:cxn ang="0">
                  <a:pos x="379" y="246"/>
                </a:cxn>
                <a:cxn ang="0">
                  <a:pos x="295" y="316"/>
                </a:cxn>
                <a:cxn ang="0">
                  <a:pos x="217" y="393"/>
                </a:cxn>
                <a:cxn ang="0">
                  <a:pos x="162" y="455"/>
                </a:cxn>
                <a:cxn ang="0">
                  <a:pos x="110" y="520"/>
                </a:cxn>
                <a:cxn ang="0">
                  <a:pos x="15" y="654"/>
                </a:cxn>
              </a:cxnLst>
              <a:rect l="0" t="0" r="r" b="b"/>
              <a:pathLst>
                <a:path w="1584" h="654">
                  <a:moveTo>
                    <a:pt x="0" y="644"/>
                  </a:moveTo>
                  <a:lnTo>
                    <a:pt x="63" y="553"/>
                  </a:lnTo>
                  <a:lnTo>
                    <a:pt x="96" y="508"/>
                  </a:lnTo>
                  <a:lnTo>
                    <a:pt x="130" y="464"/>
                  </a:lnTo>
                  <a:lnTo>
                    <a:pt x="149" y="443"/>
                  </a:lnTo>
                  <a:lnTo>
                    <a:pt x="167" y="421"/>
                  </a:lnTo>
                  <a:lnTo>
                    <a:pt x="204" y="381"/>
                  </a:lnTo>
                  <a:lnTo>
                    <a:pt x="244" y="341"/>
                  </a:lnTo>
                  <a:lnTo>
                    <a:pt x="283" y="302"/>
                  </a:lnTo>
                  <a:lnTo>
                    <a:pt x="325" y="266"/>
                  </a:lnTo>
                  <a:lnTo>
                    <a:pt x="367" y="232"/>
                  </a:lnTo>
                  <a:lnTo>
                    <a:pt x="412" y="199"/>
                  </a:lnTo>
                  <a:lnTo>
                    <a:pt x="458" y="168"/>
                  </a:lnTo>
                  <a:lnTo>
                    <a:pt x="504" y="140"/>
                  </a:lnTo>
                  <a:lnTo>
                    <a:pt x="551" y="113"/>
                  </a:lnTo>
                  <a:lnTo>
                    <a:pt x="600" y="90"/>
                  </a:lnTo>
                  <a:lnTo>
                    <a:pt x="651" y="67"/>
                  </a:lnTo>
                  <a:lnTo>
                    <a:pt x="701" y="49"/>
                  </a:lnTo>
                  <a:lnTo>
                    <a:pt x="753" y="33"/>
                  </a:lnTo>
                  <a:lnTo>
                    <a:pt x="809" y="20"/>
                  </a:lnTo>
                  <a:lnTo>
                    <a:pt x="862" y="10"/>
                  </a:lnTo>
                  <a:lnTo>
                    <a:pt x="890" y="6"/>
                  </a:lnTo>
                  <a:lnTo>
                    <a:pt x="918" y="3"/>
                  </a:lnTo>
                  <a:lnTo>
                    <a:pt x="974" y="0"/>
                  </a:lnTo>
                  <a:lnTo>
                    <a:pt x="1031" y="0"/>
                  </a:lnTo>
                  <a:lnTo>
                    <a:pt x="1089" y="3"/>
                  </a:lnTo>
                  <a:lnTo>
                    <a:pt x="1148" y="9"/>
                  </a:lnTo>
                  <a:lnTo>
                    <a:pt x="1208" y="20"/>
                  </a:lnTo>
                  <a:lnTo>
                    <a:pt x="1268" y="34"/>
                  </a:lnTo>
                  <a:lnTo>
                    <a:pt x="1330" y="52"/>
                  </a:lnTo>
                  <a:lnTo>
                    <a:pt x="1393" y="75"/>
                  </a:lnTo>
                  <a:lnTo>
                    <a:pt x="1457" y="102"/>
                  </a:lnTo>
                  <a:lnTo>
                    <a:pt x="1521" y="133"/>
                  </a:lnTo>
                  <a:lnTo>
                    <a:pt x="1584" y="169"/>
                  </a:lnTo>
                  <a:lnTo>
                    <a:pt x="1576" y="185"/>
                  </a:lnTo>
                  <a:lnTo>
                    <a:pt x="1512" y="149"/>
                  </a:lnTo>
                  <a:lnTo>
                    <a:pt x="1448" y="118"/>
                  </a:lnTo>
                  <a:lnTo>
                    <a:pt x="1387" y="92"/>
                  </a:lnTo>
                  <a:lnTo>
                    <a:pt x="1325" y="69"/>
                  </a:lnTo>
                  <a:lnTo>
                    <a:pt x="1263" y="51"/>
                  </a:lnTo>
                  <a:lnTo>
                    <a:pt x="1206" y="38"/>
                  </a:lnTo>
                  <a:lnTo>
                    <a:pt x="1146" y="28"/>
                  </a:lnTo>
                  <a:lnTo>
                    <a:pt x="1088" y="21"/>
                  </a:lnTo>
                  <a:lnTo>
                    <a:pt x="1031" y="18"/>
                  </a:lnTo>
                  <a:lnTo>
                    <a:pt x="974" y="18"/>
                  </a:lnTo>
                  <a:lnTo>
                    <a:pt x="919" y="21"/>
                  </a:lnTo>
                  <a:lnTo>
                    <a:pt x="892" y="24"/>
                  </a:lnTo>
                  <a:lnTo>
                    <a:pt x="864" y="29"/>
                  </a:lnTo>
                  <a:lnTo>
                    <a:pt x="811" y="38"/>
                  </a:lnTo>
                  <a:lnTo>
                    <a:pt x="759" y="50"/>
                  </a:lnTo>
                  <a:lnTo>
                    <a:pt x="707" y="66"/>
                  </a:lnTo>
                  <a:lnTo>
                    <a:pt x="658" y="84"/>
                  </a:lnTo>
                  <a:lnTo>
                    <a:pt x="609" y="106"/>
                  </a:lnTo>
                  <a:lnTo>
                    <a:pt x="560" y="129"/>
                  </a:lnTo>
                  <a:lnTo>
                    <a:pt x="513" y="156"/>
                  </a:lnTo>
                  <a:lnTo>
                    <a:pt x="468" y="183"/>
                  </a:lnTo>
                  <a:lnTo>
                    <a:pt x="423" y="214"/>
                  </a:lnTo>
                  <a:lnTo>
                    <a:pt x="379" y="246"/>
                  </a:lnTo>
                  <a:lnTo>
                    <a:pt x="336" y="280"/>
                  </a:lnTo>
                  <a:lnTo>
                    <a:pt x="295" y="316"/>
                  </a:lnTo>
                  <a:lnTo>
                    <a:pt x="257" y="354"/>
                  </a:lnTo>
                  <a:lnTo>
                    <a:pt x="217" y="393"/>
                  </a:lnTo>
                  <a:lnTo>
                    <a:pt x="180" y="434"/>
                  </a:lnTo>
                  <a:lnTo>
                    <a:pt x="162" y="455"/>
                  </a:lnTo>
                  <a:lnTo>
                    <a:pt x="144" y="476"/>
                  </a:lnTo>
                  <a:lnTo>
                    <a:pt x="110" y="520"/>
                  </a:lnTo>
                  <a:lnTo>
                    <a:pt x="77" y="565"/>
                  </a:lnTo>
                  <a:lnTo>
                    <a:pt x="15" y="654"/>
                  </a:lnTo>
                  <a:lnTo>
                    <a:pt x="0" y="64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6" name="Freeform 331"/>
            <p:cNvSpPr>
              <a:spLocks/>
            </p:cNvSpPr>
            <p:nvPr/>
          </p:nvSpPr>
          <p:spPr bwMode="auto">
            <a:xfrm>
              <a:off x="2524" y="439"/>
              <a:ext cx="8" cy="5"/>
            </a:xfrm>
            <a:custGeom>
              <a:avLst/>
              <a:gdLst/>
              <a:ahLst/>
              <a:cxnLst>
                <a:cxn ang="0">
                  <a:pos x="7" y="14"/>
                </a:cxn>
                <a:cxn ang="0">
                  <a:pos x="0" y="10"/>
                </a:cxn>
                <a:cxn ang="0">
                  <a:pos x="5" y="2"/>
                </a:cxn>
                <a:cxn ang="0">
                  <a:pos x="20" y="12"/>
                </a:cxn>
                <a:cxn ang="0">
                  <a:pos x="17" y="0"/>
                </a:cxn>
                <a:cxn ang="0">
                  <a:pos x="7" y="14"/>
                </a:cxn>
              </a:cxnLst>
              <a:rect l="0" t="0" r="r" b="b"/>
              <a:pathLst>
                <a:path w="20" h="14">
                  <a:moveTo>
                    <a:pt x="7" y="14"/>
                  </a:moveTo>
                  <a:lnTo>
                    <a:pt x="0" y="10"/>
                  </a:lnTo>
                  <a:lnTo>
                    <a:pt x="5" y="2"/>
                  </a:lnTo>
                  <a:lnTo>
                    <a:pt x="20" y="12"/>
                  </a:lnTo>
                  <a:lnTo>
                    <a:pt x="17" y="0"/>
                  </a:lnTo>
                  <a:lnTo>
                    <a:pt x="7" y="14"/>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7" name="Freeform 332"/>
            <p:cNvSpPr>
              <a:spLocks/>
            </p:cNvSpPr>
            <p:nvPr/>
          </p:nvSpPr>
          <p:spPr bwMode="auto">
            <a:xfrm>
              <a:off x="3052" y="281"/>
              <a:ext cx="3" cy="6"/>
            </a:xfrm>
            <a:custGeom>
              <a:avLst/>
              <a:gdLst/>
              <a:ahLst/>
              <a:cxnLst>
                <a:cxn ang="0">
                  <a:pos x="8" y="0"/>
                </a:cxn>
                <a:cxn ang="0">
                  <a:pos x="0" y="16"/>
                </a:cxn>
                <a:cxn ang="0">
                  <a:pos x="8" y="0"/>
                </a:cxn>
                <a:cxn ang="0">
                  <a:pos x="0" y="16"/>
                </a:cxn>
                <a:cxn ang="0">
                  <a:pos x="8" y="0"/>
                </a:cxn>
              </a:cxnLst>
              <a:rect l="0" t="0" r="r" b="b"/>
              <a:pathLst>
                <a:path w="8" h="16">
                  <a:moveTo>
                    <a:pt x="8" y="0"/>
                  </a:moveTo>
                  <a:lnTo>
                    <a:pt x="0" y="16"/>
                  </a:lnTo>
                  <a:lnTo>
                    <a:pt x="8" y="0"/>
                  </a:lnTo>
                  <a:lnTo>
                    <a:pt x="0" y="16"/>
                  </a:lnTo>
                  <a:lnTo>
                    <a:pt x="8" y="0"/>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sp>
          <p:nvSpPr>
            <p:cNvPr id="48" name="Freeform 333"/>
            <p:cNvSpPr>
              <a:spLocks noEditPoints="1"/>
            </p:cNvSpPr>
            <p:nvPr/>
          </p:nvSpPr>
          <p:spPr bwMode="auto">
            <a:xfrm>
              <a:off x="3387" y="404"/>
              <a:ext cx="67" cy="65"/>
            </a:xfrm>
            <a:custGeom>
              <a:avLst/>
              <a:gdLst/>
              <a:ahLst/>
              <a:cxnLst>
                <a:cxn ang="0">
                  <a:pos x="134" y="7"/>
                </a:cxn>
                <a:cxn ang="0">
                  <a:pos x="167" y="27"/>
                </a:cxn>
                <a:cxn ang="0">
                  <a:pos x="182" y="49"/>
                </a:cxn>
                <a:cxn ang="0">
                  <a:pos x="193" y="79"/>
                </a:cxn>
                <a:cxn ang="0">
                  <a:pos x="194" y="111"/>
                </a:cxn>
                <a:cxn ang="0">
                  <a:pos x="185" y="141"/>
                </a:cxn>
                <a:cxn ang="0">
                  <a:pos x="171" y="163"/>
                </a:cxn>
                <a:cxn ang="0">
                  <a:pos x="152" y="180"/>
                </a:cxn>
                <a:cxn ang="0">
                  <a:pos x="110" y="195"/>
                </a:cxn>
                <a:cxn ang="0">
                  <a:pos x="72" y="193"/>
                </a:cxn>
                <a:cxn ang="0">
                  <a:pos x="43" y="180"/>
                </a:cxn>
                <a:cxn ang="0">
                  <a:pos x="20" y="158"/>
                </a:cxn>
                <a:cxn ang="0">
                  <a:pos x="3" y="123"/>
                </a:cxn>
                <a:cxn ang="0">
                  <a:pos x="3" y="73"/>
                </a:cxn>
                <a:cxn ang="0">
                  <a:pos x="16" y="43"/>
                </a:cxn>
                <a:cxn ang="0">
                  <a:pos x="38" y="20"/>
                </a:cxn>
                <a:cxn ang="0">
                  <a:pos x="73" y="3"/>
                </a:cxn>
                <a:cxn ang="0">
                  <a:pos x="87" y="17"/>
                </a:cxn>
                <a:cxn ang="0">
                  <a:pos x="57" y="26"/>
                </a:cxn>
                <a:cxn ang="0">
                  <a:pos x="33" y="48"/>
                </a:cxn>
                <a:cxn ang="0">
                  <a:pos x="19" y="77"/>
                </a:cxn>
                <a:cxn ang="0">
                  <a:pos x="17" y="109"/>
                </a:cxn>
                <a:cxn ang="0">
                  <a:pos x="22" y="129"/>
                </a:cxn>
                <a:cxn ang="0">
                  <a:pos x="36" y="153"/>
                </a:cxn>
                <a:cxn ang="0">
                  <a:pos x="57" y="169"/>
                </a:cxn>
                <a:cxn ang="0">
                  <a:pos x="87" y="179"/>
                </a:cxn>
                <a:cxn ang="0">
                  <a:pos x="118" y="177"/>
                </a:cxn>
                <a:cxn ang="0">
                  <a:pos x="142" y="166"/>
                </a:cxn>
                <a:cxn ang="0">
                  <a:pos x="163" y="148"/>
                </a:cxn>
                <a:cxn ang="0">
                  <a:pos x="173" y="129"/>
                </a:cxn>
                <a:cxn ang="0">
                  <a:pos x="179" y="87"/>
                </a:cxn>
                <a:cxn ang="0">
                  <a:pos x="173" y="67"/>
                </a:cxn>
                <a:cxn ang="0">
                  <a:pos x="162" y="48"/>
                </a:cxn>
                <a:cxn ang="0">
                  <a:pos x="137" y="26"/>
                </a:cxn>
                <a:cxn ang="0">
                  <a:pos x="113" y="18"/>
                </a:cxn>
                <a:cxn ang="0">
                  <a:pos x="55" y="153"/>
                </a:cxn>
                <a:cxn ang="0">
                  <a:pos x="107" y="48"/>
                </a:cxn>
                <a:cxn ang="0">
                  <a:pos x="125" y="53"/>
                </a:cxn>
                <a:cxn ang="0">
                  <a:pos x="135" y="67"/>
                </a:cxn>
                <a:cxn ang="0">
                  <a:pos x="134" y="86"/>
                </a:cxn>
                <a:cxn ang="0">
                  <a:pos x="118" y="102"/>
                </a:cxn>
                <a:cxn ang="0">
                  <a:pos x="115" y="111"/>
                </a:cxn>
                <a:cxn ang="0">
                  <a:pos x="122" y="153"/>
                </a:cxn>
                <a:cxn ang="0">
                  <a:pos x="97" y="113"/>
                </a:cxn>
                <a:cxn ang="0">
                  <a:pos x="86" y="108"/>
                </a:cxn>
                <a:cxn ang="0">
                  <a:pos x="55" y="153"/>
                </a:cxn>
                <a:cxn ang="0">
                  <a:pos x="105" y="92"/>
                </a:cxn>
                <a:cxn ang="0">
                  <a:pos x="117" y="83"/>
                </a:cxn>
                <a:cxn ang="0">
                  <a:pos x="115" y="68"/>
                </a:cxn>
                <a:cxn ang="0">
                  <a:pos x="105" y="62"/>
                </a:cxn>
                <a:cxn ang="0">
                  <a:pos x="71" y="93"/>
                </a:cxn>
              </a:cxnLst>
              <a:rect l="0" t="0" r="r" b="b"/>
              <a:pathLst>
                <a:path w="196" h="196">
                  <a:moveTo>
                    <a:pt x="98" y="0"/>
                  </a:moveTo>
                  <a:lnTo>
                    <a:pt x="109" y="1"/>
                  </a:lnTo>
                  <a:lnTo>
                    <a:pt x="122" y="3"/>
                  </a:lnTo>
                  <a:lnTo>
                    <a:pt x="134" y="7"/>
                  </a:lnTo>
                  <a:lnTo>
                    <a:pt x="139" y="9"/>
                  </a:lnTo>
                  <a:lnTo>
                    <a:pt x="146" y="12"/>
                  </a:lnTo>
                  <a:lnTo>
                    <a:pt x="156" y="20"/>
                  </a:lnTo>
                  <a:lnTo>
                    <a:pt x="167" y="27"/>
                  </a:lnTo>
                  <a:lnTo>
                    <a:pt x="171" y="33"/>
                  </a:lnTo>
                  <a:lnTo>
                    <a:pt x="175" y="38"/>
                  </a:lnTo>
                  <a:lnTo>
                    <a:pt x="179" y="43"/>
                  </a:lnTo>
                  <a:lnTo>
                    <a:pt x="182" y="49"/>
                  </a:lnTo>
                  <a:lnTo>
                    <a:pt x="188" y="61"/>
                  </a:lnTo>
                  <a:lnTo>
                    <a:pt x="190" y="67"/>
                  </a:lnTo>
                  <a:lnTo>
                    <a:pt x="192" y="73"/>
                  </a:lnTo>
                  <a:lnTo>
                    <a:pt x="193" y="79"/>
                  </a:lnTo>
                  <a:lnTo>
                    <a:pt x="194" y="85"/>
                  </a:lnTo>
                  <a:lnTo>
                    <a:pt x="196" y="98"/>
                  </a:lnTo>
                  <a:lnTo>
                    <a:pt x="194" y="104"/>
                  </a:lnTo>
                  <a:lnTo>
                    <a:pt x="194" y="111"/>
                  </a:lnTo>
                  <a:lnTo>
                    <a:pt x="193" y="117"/>
                  </a:lnTo>
                  <a:lnTo>
                    <a:pt x="192" y="123"/>
                  </a:lnTo>
                  <a:lnTo>
                    <a:pt x="188" y="135"/>
                  </a:lnTo>
                  <a:lnTo>
                    <a:pt x="185" y="141"/>
                  </a:lnTo>
                  <a:lnTo>
                    <a:pt x="183" y="147"/>
                  </a:lnTo>
                  <a:lnTo>
                    <a:pt x="179" y="153"/>
                  </a:lnTo>
                  <a:lnTo>
                    <a:pt x="175" y="158"/>
                  </a:lnTo>
                  <a:lnTo>
                    <a:pt x="171" y="163"/>
                  </a:lnTo>
                  <a:lnTo>
                    <a:pt x="167" y="168"/>
                  </a:lnTo>
                  <a:lnTo>
                    <a:pt x="163" y="172"/>
                  </a:lnTo>
                  <a:lnTo>
                    <a:pt x="157" y="176"/>
                  </a:lnTo>
                  <a:lnTo>
                    <a:pt x="152" y="180"/>
                  </a:lnTo>
                  <a:lnTo>
                    <a:pt x="147" y="184"/>
                  </a:lnTo>
                  <a:lnTo>
                    <a:pt x="134" y="189"/>
                  </a:lnTo>
                  <a:lnTo>
                    <a:pt x="122" y="193"/>
                  </a:lnTo>
                  <a:lnTo>
                    <a:pt x="110" y="195"/>
                  </a:lnTo>
                  <a:lnTo>
                    <a:pt x="98" y="196"/>
                  </a:lnTo>
                  <a:lnTo>
                    <a:pt x="85" y="195"/>
                  </a:lnTo>
                  <a:lnTo>
                    <a:pt x="79" y="194"/>
                  </a:lnTo>
                  <a:lnTo>
                    <a:pt x="72" y="193"/>
                  </a:lnTo>
                  <a:lnTo>
                    <a:pt x="60" y="189"/>
                  </a:lnTo>
                  <a:lnTo>
                    <a:pt x="55" y="187"/>
                  </a:lnTo>
                  <a:lnTo>
                    <a:pt x="49" y="184"/>
                  </a:lnTo>
                  <a:lnTo>
                    <a:pt x="43" y="180"/>
                  </a:lnTo>
                  <a:lnTo>
                    <a:pt x="38" y="176"/>
                  </a:lnTo>
                  <a:lnTo>
                    <a:pt x="33" y="172"/>
                  </a:lnTo>
                  <a:lnTo>
                    <a:pt x="28" y="168"/>
                  </a:lnTo>
                  <a:lnTo>
                    <a:pt x="20" y="158"/>
                  </a:lnTo>
                  <a:lnTo>
                    <a:pt x="16" y="153"/>
                  </a:lnTo>
                  <a:lnTo>
                    <a:pt x="13" y="147"/>
                  </a:lnTo>
                  <a:lnTo>
                    <a:pt x="7" y="135"/>
                  </a:lnTo>
                  <a:lnTo>
                    <a:pt x="3" y="123"/>
                  </a:lnTo>
                  <a:lnTo>
                    <a:pt x="1" y="111"/>
                  </a:lnTo>
                  <a:lnTo>
                    <a:pt x="0" y="98"/>
                  </a:lnTo>
                  <a:lnTo>
                    <a:pt x="1" y="85"/>
                  </a:lnTo>
                  <a:lnTo>
                    <a:pt x="3" y="73"/>
                  </a:lnTo>
                  <a:lnTo>
                    <a:pt x="7" y="61"/>
                  </a:lnTo>
                  <a:lnTo>
                    <a:pt x="9" y="54"/>
                  </a:lnTo>
                  <a:lnTo>
                    <a:pt x="13" y="49"/>
                  </a:lnTo>
                  <a:lnTo>
                    <a:pt x="16" y="43"/>
                  </a:lnTo>
                  <a:lnTo>
                    <a:pt x="20" y="38"/>
                  </a:lnTo>
                  <a:lnTo>
                    <a:pt x="28" y="27"/>
                  </a:lnTo>
                  <a:lnTo>
                    <a:pt x="33" y="23"/>
                  </a:lnTo>
                  <a:lnTo>
                    <a:pt x="38" y="20"/>
                  </a:lnTo>
                  <a:lnTo>
                    <a:pt x="43" y="16"/>
                  </a:lnTo>
                  <a:lnTo>
                    <a:pt x="50" y="12"/>
                  </a:lnTo>
                  <a:lnTo>
                    <a:pt x="61" y="7"/>
                  </a:lnTo>
                  <a:lnTo>
                    <a:pt x="73" y="3"/>
                  </a:lnTo>
                  <a:lnTo>
                    <a:pt x="85" y="1"/>
                  </a:lnTo>
                  <a:lnTo>
                    <a:pt x="98" y="0"/>
                  </a:lnTo>
                  <a:close/>
                  <a:moveTo>
                    <a:pt x="98" y="16"/>
                  </a:moveTo>
                  <a:lnTo>
                    <a:pt x="87" y="17"/>
                  </a:lnTo>
                  <a:lnTo>
                    <a:pt x="77" y="19"/>
                  </a:lnTo>
                  <a:lnTo>
                    <a:pt x="72" y="20"/>
                  </a:lnTo>
                  <a:lnTo>
                    <a:pt x="67" y="22"/>
                  </a:lnTo>
                  <a:lnTo>
                    <a:pt x="57" y="26"/>
                  </a:lnTo>
                  <a:lnTo>
                    <a:pt x="48" y="33"/>
                  </a:lnTo>
                  <a:lnTo>
                    <a:pt x="40" y="39"/>
                  </a:lnTo>
                  <a:lnTo>
                    <a:pt x="36" y="43"/>
                  </a:lnTo>
                  <a:lnTo>
                    <a:pt x="33" y="48"/>
                  </a:lnTo>
                  <a:lnTo>
                    <a:pt x="30" y="52"/>
                  </a:lnTo>
                  <a:lnTo>
                    <a:pt x="26" y="57"/>
                  </a:lnTo>
                  <a:lnTo>
                    <a:pt x="22" y="67"/>
                  </a:lnTo>
                  <a:lnTo>
                    <a:pt x="19" y="77"/>
                  </a:lnTo>
                  <a:lnTo>
                    <a:pt x="17" y="87"/>
                  </a:lnTo>
                  <a:lnTo>
                    <a:pt x="16" y="93"/>
                  </a:lnTo>
                  <a:lnTo>
                    <a:pt x="16" y="98"/>
                  </a:lnTo>
                  <a:lnTo>
                    <a:pt x="17" y="109"/>
                  </a:lnTo>
                  <a:lnTo>
                    <a:pt x="18" y="114"/>
                  </a:lnTo>
                  <a:lnTo>
                    <a:pt x="19" y="118"/>
                  </a:lnTo>
                  <a:lnTo>
                    <a:pt x="20" y="124"/>
                  </a:lnTo>
                  <a:lnTo>
                    <a:pt x="22" y="129"/>
                  </a:lnTo>
                  <a:lnTo>
                    <a:pt x="26" y="139"/>
                  </a:lnTo>
                  <a:lnTo>
                    <a:pt x="30" y="144"/>
                  </a:lnTo>
                  <a:lnTo>
                    <a:pt x="33" y="148"/>
                  </a:lnTo>
                  <a:lnTo>
                    <a:pt x="36" y="153"/>
                  </a:lnTo>
                  <a:lnTo>
                    <a:pt x="39" y="156"/>
                  </a:lnTo>
                  <a:lnTo>
                    <a:pt x="48" y="163"/>
                  </a:lnTo>
                  <a:lnTo>
                    <a:pt x="52" y="166"/>
                  </a:lnTo>
                  <a:lnTo>
                    <a:pt x="57" y="169"/>
                  </a:lnTo>
                  <a:lnTo>
                    <a:pt x="61" y="172"/>
                  </a:lnTo>
                  <a:lnTo>
                    <a:pt x="67" y="174"/>
                  </a:lnTo>
                  <a:lnTo>
                    <a:pt x="76" y="177"/>
                  </a:lnTo>
                  <a:lnTo>
                    <a:pt x="87" y="179"/>
                  </a:lnTo>
                  <a:lnTo>
                    <a:pt x="98" y="180"/>
                  </a:lnTo>
                  <a:lnTo>
                    <a:pt x="108" y="179"/>
                  </a:lnTo>
                  <a:lnTo>
                    <a:pt x="113" y="178"/>
                  </a:lnTo>
                  <a:lnTo>
                    <a:pt x="118" y="177"/>
                  </a:lnTo>
                  <a:lnTo>
                    <a:pt x="123" y="176"/>
                  </a:lnTo>
                  <a:lnTo>
                    <a:pt x="129" y="174"/>
                  </a:lnTo>
                  <a:lnTo>
                    <a:pt x="138" y="169"/>
                  </a:lnTo>
                  <a:lnTo>
                    <a:pt x="142" y="166"/>
                  </a:lnTo>
                  <a:lnTo>
                    <a:pt x="148" y="163"/>
                  </a:lnTo>
                  <a:lnTo>
                    <a:pt x="151" y="160"/>
                  </a:lnTo>
                  <a:lnTo>
                    <a:pt x="155" y="156"/>
                  </a:lnTo>
                  <a:lnTo>
                    <a:pt x="163" y="148"/>
                  </a:lnTo>
                  <a:lnTo>
                    <a:pt x="166" y="144"/>
                  </a:lnTo>
                  <a:lnTo>
                    <a:pt x="168" y="139"/>
                  </a:lnTo>
                  <a:lnTo>
                    <a:pt x="171" y="133"/>
                  </a:lnTo>
                  <a:lnTo>
                    <a:pt x="173" y="129"/>
                  </a:lnTo>
                  <a:lnTo>
                    <a:pt x="176" y="118"/>
                  </a:lnTo>
                  <a:lnTo>
                    <a:pt x="179" y="109"/>
                  </a:lnTo>
                  <a:lnTo>
                    <a:pt x="179" y="98"/>
                  </a:lnTo>
                  <a:lnTo>
                    <a:pt x="179" y="87"/>
                  </a:lnTo>
                  <a:lnTo>
                    <a:pt x="177" y="82"/>
                  </a:lnTo>
                  <a:lnTo>
                    <a:pt x="176" y="77"/>
                  </a:lnTo>
                  <a:lnTo>
                    <a:pt x="174" y="72"/>
                  </a:lnTo>
                  <a:lnTo>
                    <a:pt x="173" y="67"/>
                  </a:lnTo>
                  <a:lnTo>
                    <a:pt x="171" y="62"/>
                  </a:lnTo>
                  <a:lnTo>
                    <a:pt x="168" y="57"/>
                  </a:lnTo>
                  <a:lnTo>
                    <a:pt x="165" y="52"/>
                  </a:lnTo>
                  <a:lnTo>
                    <a:pt x="162" y="48"/>
                  </a:lnTo>
                  <a:lnTo>
                    <a:pt x="158" y="43"/>
                  </a:lnTo>
                  <a:lnTo>
                    <a:pt x="155" y="39"/>
                  </a:lnTo>
                  <a:lnTo>
                    <a:pt x="147" y="33"/>
                  </a:lnTo>
                  <a:lnTo>
                    <a:pt x="137" y="26"/>
                  </a:lnTo>
                  <a:lnTo>
                    <a:pt x="133" y="24"/>
                  </a:lnTo>
                  <a:lnTo>
                    <a:pt x="127" y="22"/>
                  </a:lnTo>
                  <a:lnTo>
                    <a:pt x="118" y="19"/>
                  </a:lnTo>
                  <a:lnTo>
                    <a:pt x="113" y="18"/>
                  </a:lnTo>
                  <a:lnTo>
                    <a:pt x="107" y="17"/>
                  </a:lnTo>
                  <a:lnTo>
                    <a:pt x="103" y="16"/>
                  </a:lnTo>
                  <a:lnTo>
                    <a:pt x="98" y="16"/>
                  </a:lnTo>
                  <a:close/>
                  <a:moveTo>
                    <a:pt x="55" y="153"/>
                  </a:moveTo>
                  <a:lnTo>
                    <a:pt x="55" y="47"/>
                  </a:lnTo>
                  <a:lnTo>
                    <a:pt x="91" y="47"/>
                  </a:lnTo>
                  <a:lnTo>
                    <a:pt x="100" y="47"/>
                  </a:lnTo>
                  <a:lnTo>
                    <a:pt x="107" y="48"/>
                  </a:lnTo>
                  <a:lnTo>
                    <a:pt x="113" y="49"/>
                  </a:lnTo>
                  <a:lnTo>
                    <a:pt x="118" y="50"/>
                  </a:lnTo>
                  <a:lnTo>
                    <a:pt x="121" y="51"/>
                  </a:lnTo>
                  <a:lnTo>
                    <a:pt x="125" y="53"/>
                  </a:lnTo>
                  <a:lnTo>
                    <a:pt x="129" y="56"/>
                  </a:lnTo>
                  <a:lnTo>
                    <a:pt x="131" y="60"/>
                  </a:lnTo>
                  <a:lnTo>
                    <a:pt x="133" y="64"/>
                  </a:lnTo>
                  <a:lnTo>
                    <a:pt x="135" y="67"/>
                  </a:lnTo>
                  <a:lnTo>
                    <a:pt x="136" y="71"/>
                  </a:lnTo>
                  <a:lnTo>
                    <a:pt x="136" y="76"/>
                  </a:lnTo>
                  <a:lnTo>
                    <a:pt x="135" y="81"/>
                  </a:lnTo>
                  <a:lnTo>
                    <a:pt x="134" y="86"/>
                  </a:lnTo>
                  <a:lnTo>
                    <a:pt x="131" y="91"/>
                  </a:lnTo>
                  <a:lnTo>
                    <a:pt x="127" y="96"/>
                  </a:lnTo>
                  <a:lnTo>
                    <a:pt x="123" y="99"/>
                  </a:lnTo>
                  <a:lnTo>
                    <a:pt x="118" y="102"/>
                  </a:lnTo>
                  <a:lnTo>
                    <a:pt x="113" y="104"/>
                  </a:lnTo>
                  <a:lnTo>
                    <a:pt x="105" y="106"/>
                  </a:lnTo>
                  <a:lnTo>
                    <a:pt x="110" y="108"/>
                  </a:lnTo>
                  <a:lnTo>
                    <a:pt x="115" y="111"/>
                  </a:lnTo>
                  <a:lnTo>
                    <a:pt x="122" y="119"/>
                  </a:lnTo>
                  <a:lnTo>
                    <a:pt x="130" y="131"/>
                  </a:lnTo>
                  <a:lnTo>
                    <a:pt x="143" y="153"/>
                  </a:lnTo>
                  <a:lnTo>
                    <a:pt x="122" y="153"/>
                  </a:lnTo>
                  <a:lnTo>
                    <a:pt x="113" y="135"/>
                  </a:lnTo>
                  <a:lnTo>
                    <a:pt x="103" y="119"/>
                  </a:lnTo>
                  <a:lnTo>
                    <a:pt x="99" y="114"/>
                  </a:lnTo>
                  <a:lnTo>
                    <a:pt x="97" y="113"/>
                  </a:lnTo>
                  <a:lnTo>
                    <a:pt x="96" y="111"/>
                  </a:lnTo>
                  <a:lnTo>
                    <a:pt x="92" y="110"/>
                  </a:lnTo>
                  <a:lnTo>
                    <a:pt x="89" y="109"/>
                  </a:lnTo>
                  <a:lnTo>
                    <a:pt x="86" y="108"/>
                  </a:lnTo>
                  <a:lnTo>
                    <a:pt x="82" y="108"/>
                  </a:lnTo>
                  <a:lnTo>
                    <a:pt x="71" y="108"/>
                  </a:lnTo>
                  <a:lnTo>
                    <a:pt x="71" y="153"/>
                  </a:lnTo>
                  <a:lnTo>
                    <a:pt x="55" y="153"/>
                  </a:lnTo>
                  <a:close/>
                  <a:moveTo>
                    <a:pt x="71" y="93"/>
                  </a:moveTo>
                  <a:lnTo>
                    <a:pt x="92" y="93"/>
                  </a:lnTo>
                  <a:lnTo>
                    <a:pt x="99" y="93"/>
                  </a:lnTo>
                  <a:lnTo>
                    <a:pt x="105" y="92"/>
                  </a:lnTo>
                  <a:lnTo>
                    <a:pt x="109" y="91"/>
                  </a:lnTo>
                  <a:lnTo>
                    <a:pt x="113" y="88"/>
                  </a:lnTo>
                  <a:lnTo>
                    <a:pt x="115" y="86"/>
                  </a:lnTo>
                  <a:lnTo>
                    <a:pt x="117" y="83"/>
                  </a:lnTo>
                  <a:lnTo>
                    <a:pt x="118" y="80"/>
                  </a:lnTo>
                  <a:lnTo>
                    <a:pt x="118" y="77"/>
                  </a:lnTo>
                  <a:lnTo>
                    <a:pt x="117" y="72"/>
                  </a:lnTo>
                  <a:lnTo>
                    <a:pt x="115" y="68"/>
                  </a:lnTo>
                  <a:lnTo>
                    <a:pt x="114" y="67"/>
                  </a:lnTo>
                  <a:lnTo>
                    <a:pt x="111" y="65"/>
                  </a:lnTo>
                  <a:lnTo>
                    <a:pt x="108" y="63"/>
                  </a:lnTo>
                  <a:lnTo>
                    <a:pt x="105" y="62"/>
                  </a:lnTo>
                  <a:lnTo>
                    <a:pt x="101" y="62"/>
                  </a:lnTo>
                  <a:lnTo>
                    <a:pt x="91" y="61"/>
                  </a:lnTo>
                  <a:lnTo>
                    <a:pt x="71" y="61"/>
                  </a:lnTo>
                  <a:lnTo>
                    <a:pt x="71" y="93"/>
                  </a:lnTo>
                  <a:close/>
                </a:path>
              </a:pathLst>
            </a:custGeom>
            <a:solidFill>
              <a:srgbClr val="FFCC00"/>
            </a:solidFill>
            <a:ln w="9525">
              <a:noFill/>
              <a:round/>
              <a:headEnd/>
              <a:tailEnd/>
            </a:ln>
          </p:spPr>
          <p:txBody>
            <a:bodyPr/>
            <a:lstStyle/>
            <a:p>
              <a:pPr>
                <a:defRPr/>
              </a:pPr>
              <a:endParaRPr lang="en-US" kern="0">
                <a:solidFill>
                  <a:sysClr val="windowText" lastClr="000000"/>
                </a:solidFill>
              </a:endParaRPr>
            </a:p>
          </p:txBody>
        </p:sp>
      </p:grpSp>
      <p:sp>
        <p:nvSpPr>
          <p:cNvPr id="49" name="Title 1"/>
          <p:cNvSpPr txBox="1">
            <a:spLocks/>
          </p:cNvSpPr>
          <p:nvPr/>
        </p:nvSpPr>
        <p:spPr>
          <a:xfrm>
            <a:off x="4457700" y="6170154"/>
            <a:ext cx="3695700" cy="687846"/>
          </a:xfrm>
          <a:prstGeom prst="rect">
            <a:avLst/>
          </a:prstGeom>
        </p:spPr>
        <p:txBody>
          <a:bodyPr>
            <a:noAutofit/>
          </a:bodyPr>
          <a:lstStyle>
            <a:lvl1pPr algn="l" rtl="0" eaLnBrk="0" fontAlgn="base" hangingPunct="0">
              <a:lnSpc>
                <a:spcPts val="4800"/>
              </a:lnSpc>
              <a:spcBef>
                <a:spcPct val="0"/>
              </a:spcBef>
              <a:spcAft>
                <a:spcPct val="0"/>
              </a:spcAft>
              <a:defRPr sz="4000" b="1">
                <a:solidFill>
                  <a:srgbClr val="BEF0EF"/>
                </a:solidFill>
                <a:latin typeface="+mj-lt"/>
                <a:ea typeface="+mj-ea"/>
                <a:cs typeface="+mj-cs"/>
              </a:defRPr>
            </a:lvl1pPr>
            <a:lvl2pPr algn="l" rtl="0" eaLnBrk="0" fontAlgn="base" hangingPunct="0">
              <a:lnSpc>
                <a:spcPts val="4800"/>
              </a:lnSpc>
              <a:spcBef>
                <a:spcPct val="0"/>
              </a:spcBef>
              <a:spcAft>
                <a:spcPct val="0"/>
              </a:spcAft>
              <a:defRPr sz="4000" b="1">
                <a:solidFill>
                  <a:srgbClr val="BEF0EF"/>
                </a:solidFill>
                <a:latin typeface="Arial" charset="0"/>
              </a:defRPr>
            </a:lvl2pPr>
            <a:lvl3pPr algn="l" rtl="0" eaLnBrk="0" fontAlgn="base" hangingPunct="0">
              <a:lnSpc>
                <a:spcPts val="4800"/>
              </a:lnSpc>
              <a:spcBef>
                <a:spcPct val="0"/>
              </a:spcBef>
              <a:spcAft>
                <a:spcPct val="0"/>
              </a:spcAft>
              <a:defRPr sz="4000" b="1">
                <a:solidFill>
                  <a:srgbClr val="BEF0EF"/>
                </a:solidFill>
                <a:latin typeface="Arial" charset="0"/>
              </a:defRPr>
            </a:lvl3pPr>
            <a:lvl4pPr algn="l" rtl="0" eaLnBrk="0" fontAlgn="base" hangingPunct="0">
              <a:lnSpc>
                <a:spcPts val="4800"/>
              </a:lnSpc>
              <a:spcBef>
                <a:spcPct val="0"/>
              </a:spcBef>
              <a:spcAft>
                <a:spcPct val="0"/>
              </a:spcAft>
              <a:defRPr sz="4000" b="1">
                <a:solidFill>
                  <a:srgbClr val="BEF0EF"/>
                </a:solidFill>
                <a:latin typeface="Arial" charset="0"/>
              </a:defRPr>
            </a:lvl4pPr>
            <a:lvl5pPr algn="l" rtl="0" eaLnBrk="0" fontAlgn="base" hangingPunct="0">
              <a:lnSpc>
                <a:spcPts val="4800"/>
              </a:lnSpc>
              <a:spcBef>
                <a:spcPct val="0"/>
              </a:spcBef>
              <a:spcAft>
                <a:spcPct val="0"/>
              </a:spcAft>
              <a:defRPr sz="4000" b="1">
                <a:solidFill>
                  <a:srgbClr val="BEF0EF"/>
                </a:solidFill>
                <a:latin typeface="Arial" charset="0"/>
              </a:defRPr>
            </a:lvl5pPr>
            <a:lvl6pPr marL="457177" algn="l" rtl="0" fontAlgn="base">
              <a:lnSpc>
                <a:spcPts val="4800"/>
              </a:lnSpc>
              <a:spcBef>
                <a:spcPct val="0"/>
              </a:spcBef>
              <a:spcAft>
                <a:spcPct val="0"/>
              </a:spcAft>
              <a:defRPr sz="4000" b="1">
                <a:solidFill>
                  <a:srgbClr val="BEF0EF"/>
                </a:solidFill>
                <a:latin typeface="Arial" charset="0"/>
              </a:defRPr>
            </a:lvl6pPr>
            <a:lvl7pPr marL="914353" algn="l" rtl="0" fontAlgn="base">
              <a:lnSpc>
                <a:spcPts val="4800"/>
              </a:lnSpc>
              <a:spcBef>
                <a:spcPct val="0"/>
              </a:spcBef>
              <a:spcAft>
                <a:spcPct val="0"/>
              </a:spcAft>
              <a:defRPr sz="4000" b="1">
                <a:solidFill>
                  <a:srgbClr val="BEF0EF"/>
                </a:solidFill>
                <a:latin typeface="Arial" charset="0"/>
              </a:defRPr>
            </a:lvl7pPr>
            <a:lvl8pPr marL="1371530" algn="l" rtl="0" fontAlgn="base">
              <a:lnSpc>
                <a:spcPts val="4800"/>
              </a:lnSpc>
              <a:spcBef>
                <a:spcPct val="0"/>
              </a:spcBef>
              <a:spcAft>
                <a:spcPct val="0"/>
              </a:spcAft>
              <a:defRPr sz="4000" b="1">
                <a:solidFill>
                  <a:srgbClr val="BEF0EF"/>
                </a:solidFill>
                <a:latin typeface="Arial" charset="0"/>
              </a:defRPr>
            </a:lvl8pPr>
            <a:lvl9pPr marL="1828706" algn="l" rtl="0" fontAlgn="base">
              <a:lnSpc>
                <a:spcPts val="4800"/>
              </a:lnSpc>
              <a:spcBef>
                <a:spcPct val="0"/>
              </a:spcBef>
              <a:spcAft>
                <a:spcPct val="0"/>
              </a:spcAft>
              <a:defRPr sz="4000" b="1">
                <a:solidFill>
                  <a:srgbClr val="BEF0EF"/>
                </a:solidFill>
                <a:latin typeface="Arial" charset="0"/>
              </a:defRPr>
            </a:lvl9pPr>
          </a:lstStyle>
          <a:p>
            <a:pPr algn="ctr">
              <a:defRPr/>
            </a:pPr>
            <a:r>
              <a:rPr lang="en-US" sz="1400" dirty="0">
                <a:solidFill>
                  <a:schemeClr val="tx1"/>
                </a:solidFill>
                <a:effectLst>
                  <a:outerShdw blurRad="38100" dist="38100" dir="2700000" algn="tl">
                    <a:srgbClr val="000000">
                      <a:alpha val="43137"/>
                    </a:srgbClr>
                  </a:outerShdw>
                </a:effectLst>
                <a:latin typeface="Century Gothic" pitchFamily="34" charset="0"/>
              </a:rPr>
              <a:t>Feroze1888 Mills Limited</a:t>
            </a:r>
          </a:p>
        </p:txBody>
      </p:sp>
      <p:sp>
        <p:nvSpPr>
          <p:cNvPr id="51" name="TextBox 50"/>
          <p:cNvSpPr txBox="1"/>
          <p:nvPr/>
        </p:nvSpPr>
        <p:spPr>
          <a:xfrm>
            <a:off x="1828800" y="228601"/>
            <a:ext cx="8610600" cy="830997"/>
          </a:xfrm>
          <a:prstGeom prst="rect">
            <a:avLst/>
          </a:prstGeom>
          <a:noFill/>
        </p:spPr>
        <p:txBody>
          <a:bodyPr wrap="square" rtlCol="0">
            <a:spAutoFit/>
          </a:bodyPr>
          <a:lstStyle/>
          <a:p>
            <a:r>
              <a:rPr lang="en-US" sz="4800" dirty="0">
                <a:solidFill>
                  <a:schemeClr val="accent6">
                    <a:lumMod val="75000"/>
                  </a:schemeClr>
                </a:solidFill>
                <a:effectLst>
                  <a:outerShdw blurRad="38100" dist="38100" dir="2700000" algn="tl">
                    <a:srgbClr val="000000">
                      <a:alpha val="43137"/>
                    </a:srgbClr>
                  </a:outerShdw>
                </a:effectLst>
                <a:latin typeface="Calisto MT" pitchFamily="18" charset="0"/>
              </a:rPr>
              <a:t>Common &amp; Special Causes</a:t>
            </a:r>
          </a:p>
        </p:txBody>
      </p:sp>
      <p:cxnSp>
        <p:nvCxnSpPr>
          <p:cNvPr id="5" name="Straight Connector 4"/>
          <p:cNvCxnSpPr/>
          <p:nvPr/>
        </p:nvCxnSpPr>
        <p:spPr>
          <a:xfrm>
            <a:off x="2246586" y="2514600"/>
            <a:ext cx="73152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56" name="Straight Connector 55"/>
          <p:cNvCxnSpPr/>
          <p:nvPr/>
        </p:nvCxnSpPr>
        <p:spPr>
          <a:xfrm>
            <a:off x="2246586" y="4648200"/>
            <a:ext cx="73152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57" name="Straight Connector 56"/>
          <p:cNvCxnSpPr/>
          <p:nvPr/>
        </p:nvCxnSpPr>
        <p:spPr>
          <a:xfrm>
            <a:off x="2286000" y="3581400"/>
            <a:ext cx="7315200"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60" name="Straight Connector 59"/>
          <p:cNvCxnSpPr/>
          <p:nvPr/>
        </p:nvCxnSpPr>
        <p:spPr>
          <a:xfrm flipV="1">
            <a:off x="2590800" y="2971800"/>
            <a:ext cx="990600" cy="12192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62" name="Straight Connector 61"/>
          <p:cNvCxnSpPr/>
          <p:nvPr/>
        </p:nvCxnSpPr>
        <p:spPr>
          <a:xfrm>
            <a:off x="3581400" y="2971800"/>
            <a:ext cx="860274" cy="12192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64" name="Straight Connector 63"/>
          <p:cNvCxnSpPr/>
          <p:nvPr/>
        </p:nvCxnSpPr>
        <p:spPr>
          <a:xfrm flipV="1">
            <a:off x="4441674" y="3352800"/>
            <a:ext cx="684412" cy="8382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66" name="Straight Connector 65"/>
          <p:cNvCxnSpPr/>
          <p:nvPr/>
        </p:nvCxnSpPr>
        <p:spPr>
          <a:xfrm>
            <a:off x="5126086" y="3352800"/>
            <a:ext cx="1122314" cy="17526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68" name="Straight Connector 67"/>
          <p:cNvCxnSpPr/>
          <p:nvPr/>
        </p:nvCxnSpPr>
        <p:spPr>
          <a:xfrm flipV="1">
            <a:off x="6248400" y="4191000"/>
            <a:ext cx="228600" cy="9144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70" name="Straight Connector 69"/>
          <p:cNvCxnSpPr/>
          <p:nvPr/>
        </p:nvCxnSpPr>
        <p:spPr>
          <a:xfrm flipV="1">
            <a:off x="6477000" y="3352800"/>
            <a:ext cx="1066800" cy="8382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72" name="Straight Connector 71"/>
          <p:cNvCxnSpPr/>
          <p:nvPr/>
        </p:nvCxnSpPr>
        <p:spPr>
          <a:xfrm flipV="1">
            <a:off x="7543800" y="1981200"/>
            <a:ext cx="457200" cy="13716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74" name="Straight Connector 73"/>
          <p:cNvCxnSpPr/>
          <p:nvPr/>
        </p:nvCxnSpPr>
        <p:spPr>
          <a:xfrm>
            <a:off x="8001000" y="1981200"/>
            <a:ext cx="533400" cy="19812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76" name="Straight Connector 75"/>
          <p:cNvCxnSpPr/>
          <p:nvPr/>
        </p:nvCxnSpPr>
        <p:spPr>
          <a:xfrm flipV="1">
            <a:off x="8534400" y="2971800"/>
            <a:ext cx="762000" cy="990600"/>
          </a:xfrm>
          <a:prstGeom prst="line">
            <a:avLst/>
          </a:prstGeom>
          <a:ln>
            <a:headEnd type="oval" w="med" len="med"/>
            <a:tailEnd type="oval" w="med" len="med"/>
          </a:ln>
        </p:spPr>
        <p:style>
          <a:lnRef idx="3">
            <a:schemeClr val="dk1"/>
          </a:lnRef>
          <a:fillRef idx="0">
            <a:schemeClr val="dk1"/>
          </a:fillRef>
          <a:effectRef idx="2">
            <a:schemeClr val="dk1"/>
          </a:effectRef>
          <a:fontRef idx="minor">
            <a:schemeClr val="tx1"/>
          </a:fontRef>
        </p:style>
      </p:cxnSp>
      <p:cxnSp>
        <p:nvCxnSpPr>
          <p:cNvPr id="78" name="Straight Arrow Connector 77"/>
          <p:cNvCxnSpPr/>
          <p:nvPr/>
        </p:nvCxnSpPr>
        <p:spPr>
          <a:xfrm flipH="1">
            <a:off x="8153400" y="1447800"/>
            <a:ext cx="533400" cy="4427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0" name="Straight Arrow Connector 79"/>
          <p:cNvCxnSpPr/>
          <p:nvPr/>
        </p:nvCxnSpPr>
        <p:spPr>
          <a:xfrm flipH="1" flipV="1">
            <a:off x="6400800" y="5181600"/>
            <a:ext cx="914400" cy="4572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3" name="TextBox 82"/>
          <p:cNvSpPr txBox="1"/>
          <p:nvPr/>
        </p:nvSpPr>
        <p:spPr>
          <a:xfrm>
            <a:off x="8589579" y="1093020"/>
            <a:ext cx="1828800" cy="369332"/>
          </a:xfrm>
          <a:prstGeom prst="rect">
            <a:avLst/>
          </a:prstGeom>
          <a:noFill/>
        </p:spPr>
        <p:txBody>
          <a:bodyPr wrap="square" rtlCol="0">
            <a:spAutoFit/>
          </a:bodyPr>
          <a:lstStyle/>
          <a:p>
            <a:r>
              <a:rPr lang="en-US" b="1" dirty="0">
                <a:latin typeface="Century Gothic" panose="020B0502020202020204" pitchFamily="34" charset="0"/>
              </a:rPr>
              <a:t>Special Cause</a:t>
            </a:r>
          </a:p>
        </p:txBody>
      </p:sp>
      <p:sp>
        <p:nvSpPr>
          <p:cNvPr id="86" name="TextBox 85"/>
          <p:cNvSpPr txBox="1"/>
          <p:nvPr/>
        </p:nvSpPr>
        <p:spPr>
          <a:xfrm>
            <a:off x="6794938" y="5654353"/>
            <a:ext cx="1828800" cy="369332"/>
          </a:xfrm>
          <a:prstGeom prst="rect">
            <a:avLst/>
          </a:prstGeom>
          <a:noFill/>
        </p:spPr>
        <p:txBody>
          <a:bodyPr wrap="square" rtlCol="0">
            <a:spAutoFit/>
          </a:bodyPr>
          <a:lstStyle/>
          <a:p>
            <a:r>
              <a:rPr lang="en-US" b="1" dirty="0">
                <a:latin typeface="Century Gothic" panose="020B0502020202020204" pitchFamily="34" charset="0"/>
              </a:rPr>
              <a:t>Special Cause</a:t>
            </a:r>
          </a:p>
        </p:txBody>
      </p:sp>
      <p:sp>
        <p:nvSpPr>
          <p:cNvPr id="87" name="TextBox 86"/>
          <p:cNvSpPr txBox="1"/>
          <p:nvPr/>
        </p:nvSpPr>
        <p:spPr>
          <a:xfrm rot="19356120">
            <a:off x="5701332" y="3322978"/>
            <a:ext cx="2018118" cy="369332"/>
          </a:xfrm>
          <a:prstGeom prst="rect">
            <a:avLst/>
          </a:prstGeom>
          <a:noFill/>
        </p:spPr>
        <p:txBody>
          <a:bodyPr wrap="square" rtlCol="0">
            <a:spAutoFit/>
          </a:bodyPr>
          <a:lstStyle/>
          <a:p>
            <a:r>
              <a:rPr lang="en-US" b="1" dirty="0">
                <a:latin typeface="Century Gothic" panose="020B0502020202020204" pitchFamily="34" charset="0"/>
              </a:rPr>
              <a:t>Common Cause</a:t>
            </a:r>
          </a:p>
        </p:txBody>
      </p:sp>
      <p:sp>
        <p:nvSpPr>
          <p:cNvPr id="88" name="TextBox 87"/>
          <p:cNvSpPr txBox="1"/>
          <p:nvPr/>
        </p:nvSpPr>
        <p:spPr>
          <a:xfrm>
            <a:off x="2151993" y="1941730"/>
            <a:ext cx="1828800" cy="369332"/>
          </a:xfrm>
          <a:prstGeom prst="rect">
            <a:avLst/>
          </a:prstGeom>
          <a:noFill/>
        </p:spPr>
        <p:txBody>
          <a:bodyPr wrap="square" rtlCol="0">
            <a:spAutoFit/>
          </a:bodyPr>
          <a:lstStyle/>
          <a:p>
            <a:r>
              <a:rPr lang="en-US" b="1" dirty="0">
                <a:latin typeface="Century Gothic" panose="020B0502020202020204" pitchFamily="34" charset="0"/>
              </a:rPr>
              <a:t>UCL</a:t>
            </a:r>
          </a:p>
        </p:txBody>
      </p:sp>
      <p:sp>
        <p:nvSpPr>
          <p:cNvPr id="89" name="TextBox 88"/>
          <p:cNvSpPr txBox="1"/>
          <p:nvPr/>
        </p:nvSpPr>
        <p:spPr>
          <a:xfrm>
            <a:off x="2126457" y="4920734"/>
            <a:ext cx="1828800" cy="369332"/>
          </a:xfrm>
          <a:prstGeom prst="rect">
            <a:avLst/>
          </a:prstGeom>
          <a:noFill/>
        </p:spPr>
        <p:txBody>
          <a:bodyPr wrap="square" rtlCol="0">
            <a:spAutoFit/>
          </a:bodyPr>
          <a:lstStyle/>
          <a:p>
            <a:r>
              <a:rPr lang="en-US" b="1" dirty="0">
                <a:latin typeface="Century Gothic" panose="020B0502020202020204" pitchFamily="34" charset="0"/>
              </a:rPr>
              <a:t>LCL</a:t>
            </a:r>
          </a:p>
        </p:txBody>
      </p:sp>
      <p:sp>
        <p:nvSpPr>
          <p:cNvPr id="90" name="TextBox 89"/>
          <p:cNvSpPr txBox="1"/>
          <p:nvPr/>
        </p:nvSpPr>
        <p:spPr>
          <a:xfrm>
            <a:off x="1702655" y="3404800"/>
            <a:ext cx="1828800" cy="369332"/>
          </a:xfrm>
          <a:prstGeom prst="rect">
            <a:avLst/>
          </a:prstGeom>
          <a:noFill/>
        </p:spPr>
        <p:txBody>
          <a:bodyPr wrap="square" rtlCol="0">
            <a:spAutoFit/>
          </a:bodyPr>
          <a:lstStyle/>
          <a:p>
            <a:r>
              <a:rPr lang="en-US" b="1" dirty="0">
                <a:latin typeface="Century Gothic" panose="020B0502020202020204" pitchFamily="34" charset="0"/>
              </a:rPr>
              <a:t>CL</a:t>
            </a:r>
          </a:p>
        </p:txBody>
      </p:sp>
    </p:spTree>
    <p:extLst>
      <p:ext uri="{BB962C8B-B14F-4D97-AF65-F5344CB8AC3E}">
        <p14:creationId xmlns:p14="http://schemas.microsoft.com/office/powerpoint/2010/main" val="574920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1711</Words>
  <Application>Microsoft Office PowerPoint</Application>
  <PresentationFormat>Widescreen</PresentationFormat>
  <Paragraphs>588</Paragraphs>
  <Slides>35</Slides>
  <Notes>34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6" baseType="lpstr">
      <vt:lpstr>PalmSprings</vt:lpstr>
      <vt:lpstr>Arial</vt:lpstr>
      <vt:lpstr>Bradley Hand ITC</vt:lpstr>
      <vt:lpstr>Calibri</vt:lpstr>
      <vt:lpstr>Calibri Light</vt:lpstr>
      <vt:lpstr>Calisto MT</vt:lpstr>
      <vt:lpstr>Century Gothic</vt:lpstr>
      <vt:lpstr>Times New Roman</vt:lpstr>
      <vt:lpstr>Wingdings</vt:lpstr>
      <vt:lpstr>Office Theme</vt:lpstr>
      <vt:lpstr>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Arsalan Fayyaz</dc:creator>
  <cp:lastModifiedBy>Arsalan Fayyaz</cp:lastModifiedBy>
  <cp:revision>1</cp:revision>
  <dcterms:created xsi:type="dcterms:W3CDTF">2025-12-20T20:34:04Z</dcterms:created>
  <dcterms:modified xsi:type="dcterms:W3CDTF">2025-12-20T20:35:00Z</dcterms:modified>
</cp:coreProperties>
</file>