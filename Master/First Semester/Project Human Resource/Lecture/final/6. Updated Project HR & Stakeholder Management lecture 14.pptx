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53"/>
  </p:notesMasterIdLst>
  <p:sldIdLst>
    <p:sldId id="256" r:id="rId2"/>
    <p:sldId id="329" r:id="rId3"/>
    <p:sldId id="270" r:id="rId4"/>
    <p:sldId id="271" r:id="rId5"/>
    <p:sldId id="272" r:id="rId6"/>
    <p:sldId id="273" r:id="rId7"/>
    <p:sldId id="269" r:id="rId8"/>
    <p:sldId id="257" r:id="rId9"/>
    <p:sldId id="258" r:id="rId10"/>
    <p:sldId id="259" r:id="rId11"/>
    <p:sldId id="260" r:id="rId12"/>
    <p:sldId id="261" r:id="rId13"/>
    <p:sldId id="262" r:id="rId14"/>
    <p:sldId id="265" r:id="rId15"/>
    <p:sldId id="266" r:id="rId16"/>
    <p:sldId id="267" r:id="rId17"/>
    <p:sldId id="268" r:id="rId18"/>
    <p:sldId id="287" r:id="rId19"/>
    <p:sldId id="288" r:id="rId20"/>
    <p:sldId id="289" r:id="rId21"/>
    <p:sldId id="290" r:id="rId22"/>
    <p:sldId id="293" r:id="rId23"/>
    <p:sldId id="294" r:id="rId24"/>
    <p:sldId id="275" r:id="rId25"/>
    <p:sldId id="277" r:id="rId26"/>
    <p:sldId id="278" r:id="rId27"/>
    <p:sldId id="282" r:id="rId28"/>
    <p:sldId id="295" r:id="rId29"/>
    <p:sldId id="296" r:id="rId30"/>
    <p:sldId id="297" r:id="rId31"/>
    <p:sldId id="298" r:id="rId32"/>
    <p:sldId id="300" r:id="rId33"/>
    <p:sldId id="284" r:id="rId34"/>
    <p:sldId id="305" r:id="rId35"/>
    <p:sldId id="306" r:id="rId36"/>
    <p:sldId id="307" r:id="rId37"/>
    <p:sldId id="308" r:id="rId38"/>
    <p:sldId id="309" r:id="rId39"/>
    <p:sldId id="279" r:id="rId40"/>
    <p:sldId id="310" r:id="rId41"/>
    <p:sldId id="313" r:id="rId42"/>
    <p:sldId id="316" r:id="rId43"/>
    <p:sldId id="319" r:id="rId44"/>
    <p:sldId id="281" r:id="rId45"/>
    <p:sldId id="320" r:id="rId46"/>
    <p:sldId id="322" r:id="rId47"/>
    <p:sldId id="323" r:id="rId48"/>
    <p:sldId id="324" r:id="rId49"/>
    <p:sldId id="325" r:id="rId50"/>
    <p:sldId id="326" r:id="rId51"/>
    <p:sldId id="327"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17" autoAdjust="0"/>
    <p:restoredTop sz="94660"/>
  </p:normalViewPr>
  <p:slideViewPr>
    <p:cSldViewPr snapToGrid="0">
      <p:cViewPr>
        <p:scale>
          <a:sx n="67" d="100"/>
          <a:sy n="67" d="100"/>
        </p:scale>
        <p:origin x="26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87F92-972B-416E-AE1D-6741F7BA3A7D}"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119EB-1FCA-45F1-AC80-ECC81506978F}" type="slidenum">
              <a:rPr lang="en-US" smtClean="0"/>
              <a:t>‹#›</a:t>
            </a:fld>
            <a:endParaRPr lang="en-US"/>
          </a:p>
        </p:txBody>
      </p:sp>
    </p:spTree>
    <p:extLst>
      <p:ext uri="{BB962C8B-B14F-4D97-AF65-F5344CB8AC3E}">
        <p14:creationId xmlns:p14="http://schemas.microsoft.com/office/powerpoint/2010/main" val="2594842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2F0CC374-A74B-C0AF-9CAE-CAC62FE22B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1325F615-B9E6-5C5B-4BA8-669DAA0D86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6" name="Slide Number Placeholder 3">
            <a:extLst>
              <a:ext uri="{FF2B5EF4-FFF2-40B4-BE49-F238E27FC236}">
                <a16:creationId xmlns:a16="http://schemas.microsoft.com/office/drawing/2014/main" id="{F8E1BA52-154B-D974-FBCB-66A3308F6D7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B534480-067B-439B-9D0E-54C050199FDF}" type="slidenum">
              <a:rPr lang="en-US" altLang="en-US"/>
              <a:pPr>
                <a:spcBef>
                  <a:spcPct val="0"/>
                </a:spcBef>
              </a:pPr>
              <a:t>27</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FFDDAE5E-D10A-D9A7-CA71-AB9FDAAE74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CBDB095A-CB95-0629-E895-C312A2BF78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6628" name="Slide Number Placeholder 3">
            <a:extLst>
              <a:ext uri="{FF2B5EF4-FFF2-40B4-BE49-F238E27FC236}">
                <a16:creationId xmlns:a16="http://schemas.microsoft.com/office/drawing/2014/main" id="{219C087C-7AE7-FBE8-B1B8-1A6AB47F1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49221CC-89A0-47D3-9914-0A7B7D0B479B}" type="slidenum">
              <a:rPr lang="en-US" altLang="en-US"/>
              <a:pPr>
                <a:spcBef>
                  <a:spcPct val="0"/>
                </a:spcBef>
              </a:pPr>
              <a:t>29</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AD203FDB-2D86-7CD0-0EF9-32F060601A2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3309BE-72EB-491E-A46A-CA74FA281259}" type="slidenum">
              <a:rPr lang="en-US" altLang="en-US">
                <a:latin typeface="Arial" panose="020B0604020202020204" pitchFamily="34" charset="0"/>
              </a:rPr>
              <a:pPr>
                <a:spcBef>
                  <a:spcPct val="0"/>
                </a:spcBef>
              </a:pPr>
              <a:t>47</a:t>
            </a:fld>
            <a:endParaRPr lang="en-US" altLang="en-US">
              <a:latin typeface="Arial" panose="020B0604020202020204" pitchFamily="34" charset="0"/>
            </a:endParaRPr>
          </a:p>
        </p:txBody>
      </p:sp>
      <p:sp>
        <p:nvSpPr>
          <p:cNvPr id="20483" name="Rectangle 2">
            <a:extLst>
              <a:ext uri="{FF2B5EF4-FFF2-40B4-BE49-F238E27FC236}">
                <a16:creationId xmlns:a16="http://schemas.microsoft.com/office/drawing/2014/main" id="{346199D3-3B2C-1FB2-8687-E57742EC228C}"/>
              </a:ext>
            </a:extLst>
          </p:cNvPr>
          <p:cNvSpPr>
            <a:spLocks noRo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a:extLst>
              <a:ext uri="{FF2B5EF4-FFF2-40B4-BE49-F238E27FC236}">
                <a16:creationId xmlns:a16="http://schemas.microsoft.com/office/drawing/2014/main" id="{3B216ED4-B9A3-5652-5E7F-E3B8622B9D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E888C11-7F13-3990-6A5B-4E67761B16C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4200604-E743-4A17-B9CC-27542C694456}" type="slidenum">
              <a:rPr lang="en-US" altLang="en-US">
                <a:latin typeface="Arial" panose="020B0604020202020204" pitchFamily="34" charset="0"/>
              </a:rPr>
              <a:pPr>
                <a:spcBef>
                  <a:spcPct val="0"/>
                </a:spcBef>
              </a:pPr>
              <a:t>48</a:t>
            </a:fld>
            <a:endParaRPr lang="en-US" altLang="en-US">
              <a:latin typeface="Arial" panose="020B0604020202020204" pitchFamily="34" charset="0"/>
            </a:endParaRPr>
          </a:p>
        </p:txBody>
      </p:sp>
      <p:sp>
        <p:nvSpPr>
          <p:cNvPr id="22531" name="Rectangle 2">
            <a:extLst>
              <a:ext uri="{FF2B5EF4-FFF2-40B4-BE49-F238E27FC236}">
                <a16:creationId xmlns:a16="http://schemas.microsoft.com/office/drawing/2014/main" id="{D88B21D5-A0A5-874C-FEF4-3DB49326E595}"/>
              </a:ext>
            </a:extLst>
          </p:cNvPr>
          <p:cNvSpPr>
            <a:spLocks noRo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a:extLst>
              <a:ext uri="{FF2B5EF4-FFF2-40B4-BE49-F238E27FC236}">
                <a16:creationId xmlns:a16="http://schemas.microsoft.com/office/drawing/2014/main" id="{807C2071-AC11-618A-128A-2F1E739131B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02E26C48-1C27-0019-9B21-A52D35930FD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D4AA988-0FE9-4711-BA75-A5D63E3C43C5}" type="slidenum">
              <a:rPr lang="en-US" altLang="en-US">
                <a:latin typeface="Arial" panose="020B0604020202020204" pitchFamily="34" charset="0"/>
              </a:rPr>
              <a:pPr>
                <a:spcBef>
                  <a:spcPct val="0"/>
                </a:spcBef>
              </a:pPr>
              <a:t>50</a:t>
            </a:fld>
            <a:endParaRPr lang="en-US" altLang="en-US">
              <a:latin typeface="Arial" panose="020B0604020202020204" pitchFamily="34" charset="0"/>
            </a:endParaRPr>
          </a:p>
        </p:txBody>
      </p:sp>
      <p:sp>
        <p:nvSpPr>
          <p:cNvPr id="25603" name="Rectangle 2">
            <a:extLst>
              <a:ext uri="{FF2B5EF4-FFF2-40B4-BE49-F238E27FC236}">
                <a16:creationId xmlns:a16="http://schemas.microsoft.com/office/drawing/2014/main" id="{D72A6673-12A8-DBAE-AFD8-9368EEE646E4}"/>
              </a:ext>
            </a:extLst>
          </p:cNvPr>
          <p:cNvSpPr>
            <a:spLocks noRo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4" name="Rectangle 3">
            <a:extLst>
              <a:ext uri="{FF2B5EF4-FFF2-40B4-BE49-F238E27FC236}">
                <a16:creationId xmlns:a16="http://schemas.microsoft.com/office/drawing/2014/main" id="{6BDEB37E-E529-9937-AABF-EE36E993CD5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3695419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937635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3322362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8835DF-FDC5-4C03-BDB6-17C5CC388DDB}"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245284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8835DF-FDC5-4C03-BDB6-17C5CC388DDB}"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2259696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302990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1726182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2236357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8835DF-FDC5-4C03-BDB6-17C5CC388DDB}"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256999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8835DF-FDC5-4C03-BDB6-17C5CC388DDB}"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399215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388762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11536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268260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2770482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4195912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1484501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8835DF-FDC5-4C03-BDB6-17C5CC388DDB}"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98EA11-B762-4646-A144-900A9EFED9EC}" type="slidenum">
              <a:rPr lang="en-US" smtClean="0"/>
              <a:t>‹#›</a:t>
            </a:fld>
            <a:endParaRPr lang="en-US"/>
          </a:p>
        </p:txBody>
      </p:sp>
    </p:spTree>
    <p:extLst>
      <p:ext uri="{BB962C8B-B14F-4D97-AF65-F5344CB8AC3E}">
        <p14:creationId xmlns:p14="http://schemas.microsoft.com/office/powerpoint/2010/main" val="3287675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78835DF-FDC5-4C03-BDB6-17C5CC388DDB}" type="datetimeFigureOut">
              <a:rPr lang="en-US" smtClean="0"/>
              <a:t>12/13/2025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598EA11-B762-4646-A144-900A9EFED9EC}" type="slidenum">
              <a:rPr lang="en-US" smtClean="0"/>
              <a:t>‹#›</a:t>
            </a:fld>
            <a:endParaRPr lang="en-US"/>
          </a:p>
        </p:txBody>
      </p:sp>
    </p:spTree>
    <p:extLst>
      <p:ext uri="{BB962C8B-B14F-4D97-AF65-F5344CB8AC3E}">
        <p14:creationId xmlns:p14="http://schemas.microsoft.com/office/powerpoint/2010/main" val="175574880"/>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051CC-2B1D-8F97-6CD4-B211DD88A281}"/>
              </a:ext>
            </a:extLst>
          </p:cNvPr>
          <p:cNvSpPr>
            <a:spLocks noGrp="1"/>
          </p:cNvSpPr>
          <p:nvPr>
            <p:ph type="ctrTitle"/>
          </p:nvPr>
        </p:nvSpPr>
        <p:spPr>
          <a:xfrm>
            <a:off x="1178817" y="4221162"/>
            <a:ext cx="9144000" cy="2387600"/>
          </a:xfrm>
        </p:spPr>
        <p:txBody>
          <a:bodyPr>
            <a:normAutofit fontScale="90000"/>
          </a:bodyPr>
          <a:lstStyle/>
          <a:p>
            <a:r>
              <a:rPr lang="en-US" b="1" dirty="0"/>
              <a:t> Project HR &amp; Stakeholder Management: A Strategic Framework</a:t>
            </a:r>
            <a:br>
              <a:rPr lang="en-US" dirty="0"/>
            </a:br>
            <a:br>
              <a:rPr lang="en-US" dirty="0"/>
            </a:br>
            <a:endParaRPr lang="en-US" dirty="0"/>
          </a:p>
        </p:txBody>
      </p:sp>
    </p:spTree>
    <p:extLst>
      <p:ext uri="{BB962C8B-B14F-4D97-AF65-F5344CB8AC3E}">
        <p14:creationId xmlns:p14="http://schemas.microsoft.com/office/powerpoint/2010/main" val="1610895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1733E8-4281-31F8-FABB-3FD1D5687C50}"/>
              </a:ext>
            </a:extLst>
          </p:cNvPr>
          <p:cNvSpPr>
            <a:spLocks noGrp="1"/>
          </p:cNvSpPr>
          <p:nvPr>
            <p:ph idx="1"/>
          </p:nvPr>
        </p:nvSpPr>
        <p:spPr>
          <a:xfrm>
            <a:off x="475456" y="270809"/>
            <a:ext cx="11241088" cy="6316382"/>
          </a:xfrm>
        </p:spPr>
        <p:txBody>
          <a:bodyPr>
            <a:normAutofit fontScale="92500" lnSpcReduction="20000"/>
          </a:bodyPr>
          <a:lstStyle/>
          <a:p>
            <a:pPr algn="just"/>
            <a:r>
              <a:rPr lang="en-US" b="1" dirty="0"/>
              <a:t>Rational Culture (Market Culture)</a:t>
            </a:r>
          </a:p>
          <a:p>
            <a:pPr marL="0" indent="0" algn="just">
              <a:buNone/>
            </a:pPr>
            <a:r>
              <a:rPr lang="en-US" b="1" dirty="0"/>
              <a:t>    </a:t>
            </a:r>
            <a:r>
              <a:rPr lang="en-US" dirty="0"/>
              <a:t>A rational culture, also known as a market culture, i</a:t>
            </a:r>
            <a:r>
              <a:rPr lang="en-US" dirty="0">
                <a:solidFill>
                  <a:schemeClr val="tx2"/>
                </a:solidFill>
              </a:rPr>
              <a:t>s results-oriented and focuses primarily on productivity, performance metrics, and achieving concrete, often financial, outcomes.</a:t>
            </a:r>
            <a:r>
              <a:rPr lang="en-US" dirty="0"/>
              <a:t> Success is measured by quantifiable achievements, and a competitive mindset, both internally and externally, is encouraged to drive performance. </a:t>
            </a:r>
          </a:p>
          <a:p>
            <a:pPr lvl="0" algn="just"/>
            <a:r>
              <a:rPr lang="en-US" b="1" dirty="0"/>
              <a:t>Innovative Culture (Adhocracy Culture):</a:t>
            </a:r>
            <a:r>
              <a:rPr lang="en-US" dirty="0"/>
              <a:t> An innovative culture, or adhocracy culture, fosters creativity, individual initiative, and an entrepreneurial spirit. It values agility, transformation, and adaptability to dynamic environments. Organizations with this culture encourage risk-taking and experimentation, viewing failure as a learning opportunity. Breakthrough innovations, strategic agility, and long-term growth define success. This culture is often found in tech startups and research institutions.</a:t>
            </a:r>
          </a:p>
          <a:p>
            <a:pPr lvl="0" algn="just"/>
            <a:r>
              <a:rPr lang="en-US" b="1" dirty="0"/>
              <a:t>Developmental Culture (Clan Culture):</a:t>
            </a:r>
            <a:r>
              <a:rPr lang="en-US" dirty="0"/>
              <a:t> A developmental culture, also called a clan culture, emphasizes collaboration, teamwork, and </a:t>
            </a:r>
            <a:r>
              <a:rPr lang="en-US" dirty="0">
                <a:solidFill>
                  <a:schemeClr val="tx2"/>
                </a:solidFill>
              </a:rPr>
              <a:t>strong interpersonal relationships,</a:t>
            </a:r>
            <a:r>
              <a:rPr lang="en-US" dirty="0"/>
              <a:t> much like a family or community. It prioritizes employee development, mentoring, </a:t>
            </a:r>
            <a:r>
              <a:rPr lang="en-US" b="1" dirty="0">
                <a:solidFill>
                  <a:srgbClr val="FFC000"/>
                </a:solidFill>
              </a:rPr>
              <a:t>and open communication</a:t>
            </a:r>
            <a:r>
              <a:rPr lang="en-US" dirty="0"/>
              <a:t>. This culture is effective when employee retention, knowledge sharing, and collaborative problem-solving are crucial for success, and it can also support innovation through psychological safety and shared purpose.</a:t>
            </a:r>
          </a:p>
          <a:p>
            <a:pPr lvl="0" algn="just"/>
            <a:r>
              <a:rPr lang="en-US" b="1" dirty="0"/>
              <a:t>Hierarchical Culture:</a:t>
            </a:r>
            <a:r>
              <a:rPr lang="en-US" dirty="0"/>
              <a:t> A hierarchical culture emphasizes control through structure, organization, and a clear chain of command. It values stability, consistency, and </a:t>
            </a:r>
            <a:r>
              <a:rPr lang="en-US" dirty="0">
                <a:solidFill>
                  <a:schemeClr val="tx2"/>
                </a:solidFill>
              </a:rPr>
              <a:t>adherence to established rules and procedures to ensure dependable and repeatable processes. Decision-making follows a top-down approach, with well-defined roles and r</a:t>
            </a:r>
            <a:r>
              <a:rPr lang="en-US" dirty="0"/>
              <a:t>esponsibilities. This culture works well in regulated industries (like government or healthcare) where consistency, safety, and risk management are paramount</a:t>
            </a:r>
          </a:p>
          <a:p>
            <a:pPr algn="just"/>
            <a:r>
              <a:rPr lang="en-US" dirty="0"/>
              <a:t> </a:t>
            </a:r>
          </a:p>
          <a:p>
            <a:pPr algn="just"/>
            <a:endParaRPr lang="en-US" sz="1400" dirty="0"/>
          </a:p>
        </p:txBody>
      </p:sp>
    </p:spTree>
    <p:extLst>
      <p:ext uri="{BB962C8B-B14F-4D97-AF65-F5344CB8AC3E}">
        <p14:creationId xmlns:p14="http://schemas.microsoft.com/office/powerpoint/2010/main" val="3712878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531760-3844-83B2-BFFD-A7287F7F432D}"/>
              </a:ext>
            </a:extLst>
          </p:cNvPr>
          <p:cNvSpPr txBox="1"/>
          <p:nvPr/>
        </p:nvSpPr>
        <p:spPr>
          <a:xfrm>
            <a:off x="1" y="113554"/>
            <a:ext cx="12192000" cy="6458306"/>
          </a:xfrm>
          <a:prstGeom prst="rect">
            <a:avLst/>
          </a:prstGeom>
          <a:solidFill>
            <a:schemeClr val="bg2">
              <a:lumMod val="90000"/>
            </a:schemeClr>
          </a:solidFill>
        </p:spPr>
        <p:txBody>
          <a:bodyPr wrap="square">
            <a:spAutoFit/>
          </a:bodyPr>
          <a:lstStyle/>
          <a:p>
            <a:pPr marL="0" marR="0">
              <a:lnSpc>
                <a:spcPct val="115000"/>
              </a:lnSpc>
              <a:spcAft>
                <a:spcPts val="800"/>
              </a:spcAft>
              <a:buNone/>
            </a:pPr>
            <a:r>
              <a:rPr lang="en-US" sz="2800" b="1" kern="100" dirty="0">
                <a:effectLst/>
                <a:latin typeface="Times New Roman" panose="02020603050405020304" pitchFamily="18" charset="0"/>
                <a:ea typeface="DengXian" panose="02010600030101010101" pitchFamily="2" charset="-122"/>
                <a:cs typeface="Times New Roman" panose="02020603050405020304" pitchFamily="18" charset="0"/>
              </a:rPr>
              <a:t>1. Rational Culture (Market Culture)</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Focuses on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results, productivity, efficiency, competition, and targets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Organization is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externally focused</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(market, customers, competitors)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Success =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profit, market share, performance</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Key Characteristics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Goal-oriented</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Performance measured by KPIs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Managers act like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hard drivers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Emphasis on winning and meeting deadlines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Example</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A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manufacturing firm</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that:</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Rewards employees for meeting production targets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Penalizes delays or cost overruns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Competes aggressively with rivals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Example organizations Include Sales-Driven companies, consulting firms, and private manufacturing firms</a:t>
            </a:r>
            <a:r>
              <a:rPr lang="en-US" sz="14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4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92952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99C714-4775-A109-7AB0-B4D5EBFD011F}"/>
              </a:ext>
            </a:extLst>
          </p:cNvPr>
          <p:cNvSpPr txBox="1"/>
          <p:nvPr/>
        </p:nvSpPr>
        <p:spPr>
          <a:xfrm>
            <a:off x="0" y="85321"/>
            <a:ext cx="11689278" cy="7128939"/>
          </a:xfrm>
          <a:prstGeom prst="rect">
            <a:avLst/>
          </a:prstGeom>
          <a:solidFill>
            <a:schemeClr val="bg2">
              <a:lumMod val="90000"/>
            </a:schemeClr>
          </a:solidFill>
        </p:spPr>
        <p:txBody>
          <a:bodyPr wrap="square">
            <a:spAutoFit/>
          </a:bodyPr>
          <a:lstStyle/>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2. Hierarchical Culture</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Meaning</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Focuses on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rules, procedures, stability, and control</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Organization is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internally focused</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Authority flows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top-down</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Key Characteristics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Clear chain of command</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Standard operating procedures (SOPs)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Formal communication</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Risk-averse environment</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Example</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government department or public university</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where:</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Decisions require multiple approvals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Rules are strictly followed</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Employees know exactly “who reports to whom”</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Example organizations: Government offices, banks, military, public universities.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98070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7DBBF2-8BB7-B65B-91BA-41B099177FF2}"/>
              </a:ext>
            </a:extLst>
          </p:cNvPr>
          <p:cNvSpPr txBox="1"/>
          <p:nvPr/>
        </p:nvSpPr>
        <p:spPr>
          <a:xfrm>
            <a:off x="0" y="0"/>
            <a:ext cx="12192000" cy="6858000"/>
          </a:xfrm>
          <a:prstGeom prst="rect">
            <a:avLst/>
          </a:prstGeom>
          <a:solidFill>
            <a:schemeClr val="bg2">
              <a:lumMod val="90000"/>
            </a:schemeClr>
          </a:solidFill>
        </p:spPr>
        <p:txBody>
          <a:bodyPr wrap="square">
            <a:spAutoFit/>
          </a:bodyPr>
          <a:lstStyle/>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3. Innovative Culture (Adhocracy Culture)</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Meaning</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Focuses on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creativity, innovation, risk-taking, and new ideas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Organization is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externally focused and flexible</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Success = innovation and being first in the market</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Key Characteristics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Encourages experimentation</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Low formalization</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Flexible roles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Accepts failure as part of learning</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Example</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 </a:t>
            </a:r>
            <a:r>
              <a:rPr lang="en-US" sz="1800" b="1" kern="100" dirty="0">
                <a:effectLst/>
                <a:latin typeface="Times New Roman" panose="02020603050405020304" pitchFamily="18" charset="0"/>
                <a:ea typeface="DengXian" panose="02010600030101010101" pitchFamily="2" charset="-122"/>
                <a:cs typeface="Times New Roman" panose="02020603050405020304" pitchFamily="18" charset="0"/>
              </a:rPr>
              <a:t>tech startup</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that:</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Encourages employees to try new ideas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Invests heavily in R&amp;D</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Rapidly launches new products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Example organizations: Technology startups, R&amp;D labs, product design firms.</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72502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72E844-B08A-AEF7-3521-78BA67C7A23E}"/>
              </a:ext>
            </a:extLst>
          </p:cNvPr>
          <p:cNvSpPr txBox="1"/>
          <p:nvPr/>
        </p:nvSpPr>
        <p:spPr>
          <a:xfrm>
            <a:off x="257174" y="75101"/>
            <a:ext cx="11934825" cy="6707798"/>
          </a:xfrm>
          <a:prstGeom prst="rect">
            <a:avLst/>
          </a:prstGeom>
          <a:solidFill>
            <a:schemeClr val="bg2">
              <a:lumMod val="75000"/>
            </a:schemeClr>
          </a:solidFill>
        </p:spPr>
        <p:txBody>
          <a:bodyPr wrap="square">
            <a:spAutoFit/>
          </a:bodyPr>
          <a:lstStyle/>
          <a:p>
            <a:pPr marL="0" marR="0">
              <a:lnSpc>
                <a:spcPct val="115000"/>
              </a:lnSpc>
              <a:spcAft>
                <a:spcPts val="800"/>
              </a:spcAft>
              <a:buNone/>
            </a:pP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4. Developmental Culture (Human Relations / Clan Culture)</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Meaning</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Focuses on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people development, teamwork, trust, and learning</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Organization is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internally focused and flexible</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Success = employee satisfaction and skill growth</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Key Characteristics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Strong teamwork</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Mentoring and coaching</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High employee involvement</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Emphasis on training and growth</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Example</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A </a:t>
            </a:r>
            <a:r>
              <a:rPr lang="en-US" b="1" kern="100" dirty="0">
                <a:effectLst/>
                <a:latin typeface="Times New Roman" panose="02020603050405020304" pitchFamily="18" charset="0"/>
                <a:ea typeface="DengXian" panose="02010600030101010101" pitchFamily="2" charset="-122"/>
                <a:cs typeface="Times New Roman" panose="02020603050405020304" pitchFamily="18" charset="0"/>
              </a:rPr>
              <a:t>training-oriented company</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where:</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Employees receive continuous learning</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Managers act as mentors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Collaboration is encouraged</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Example organizations: Educational institutions, NGOs, HR-focused firms.</a:t>
            </a: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63220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1B9AFC7-E1F6-8C2D-7DEF-7C13A114387B}"/>
              </a:ext>
            </a:extLst>
          </p:cNvPr>
          <p:cNvGraphicFramePr>
            <a:graphicFrameLocks noGrp="1"/>
          </p:cNvGraphicFramePr>
          <p:nvPr>
            <p:extLst>
              <p:ext uri="{D42A27DB-BD31-4B8C-83A1-F6EECF244321}">
                <p14:modId xmlns:p14="http://schemas.microsoft.com/office/powerpoint/2010/main" val="3847694553"/>
              </p:ext>
            </p:extLst>
          </p:nvPr>
        </p:nvGraphicFramePr>
        <p:xfrm>
          <a:off x="0" y="1"/>
          <a:ext cx="12192000" cy="6892723"/>
        </p:xfrm>
        <a:graphic>
          <a:graphicData uri="http://schemas.openxmlformats.org/drawingml/2006/table">
            <a:tbl>
              <a:tblPr/>
              <a:tblGrid>
                <a:gridCol w="2438400">
                  <a:extLst>
                    <a:ext uri="{9D8B030D-6E8A-4147-A177-3AD203B41FA5}">
                      <a16:colId xmlns:a16="http://schemas.microsoft.com/office/drawing/2014/main" val="3446776853"/>
                    </a:ext>
                  </a:extLst>
                </a:gridCol>
                <a:gridCol w="2438400">
                  <a:extLst>
                    <a:ext uri="{9D8B030D-6E8A-4147-A177-3AD203B41FA5}">
                      <a16:colId xmlns:a16="http://schemas.microsoft.com/office/drawing/2014/main" val="3257987268"/>
                    </a:ext>
                  </a:extLst>
                </a:gridCol>
                <a:gridCol w="2438400">
                  <a:extLst>
                    <a:ext uri="{9D8B030D-6E8A-4147-A177-3AD203B41FA5}">
                      <a16:colId xmlns:a16="http://schemas.microsoft.com/office/drawing/2014/main" val="3036629802"/>
                    </a:ext>
                  </a:extLst>
                </a:gridCol>
                <a:gridCol w="2438400">
                  <a:extLst>
                    <a:ext uri="{9D8B030D-6E8A-4147-A177-3AD203B41FA5}">
                      <a16:colId xmlns:a16="http://schemas.microsoft.com/office/drawing/2014/main" val="1584874473"/>
                    </a:ext>
                  </a:extLst>
                </a:gridCol>
                <a:gridCol w="2438400">
                  <a:extLst>
                    <a:ext uri="{9D8B030D-6E8A-4147-A177-3AD203B41FA5}">
                      <a16:colId xmlns:a16="http://schemas.microsoft.com/office/drawing/2014/main" val="2054147377"/>
                    </a:ext>
                  </a:extLst>
                </a:gridCol>
              </a:tblGrid>
              <a:tr h="846203">
                <a:tc>
                  <a:txBody>
                    <a:bodyPr/>
                    <a:lstStyle/>
                    <a:p>
                      <a:pPr>
                        <a:buNone/>
                      </a:pPr>
                      <a:r>
                        <a:rPr lang="en-US" sz="2400" b="1" dirty="0">
                          <a:solidFill>
                            <a:schemeClr val="bg1"/>
                          </a:solidFill>
                          <a:latin typeface="Times New Roman" panose="02020603050405020304" pitchFamily="18" charset="0"/>
                          <a:cs typeface="Times New Roman" panose="02020603050405020304" pitchFamily="18" charset="0"/>
                        </a:rPr>
                        <a:t>Aspect</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b="1">
                          <a:solidFill>
                            <a:schemeClr val="bg1"/>
                          </a:solidFill>
                          <a:latin typeface="Times New Roman" panose="02020603050405020304" pitchFamily="18" charset="0"/>
                          <a:cs typeface="Times New Roman" panose="02020603050405020304" pitchFamily="18" charset="0"/>
                        </a:rPr>
                        <a:t>Rational Culture</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b="1">
                          <a:solidFill>
                            <a:schemeClr val="bg1"/>
                          </a:solidFill>
                          <a:latin typeface="Times New Roman" panose="02020603050405020304" pitchFamily="18" charset="0"/>
                          <a:cs typeface="Times New Roman" panose="02020603050405020304" pitchFamily="18" charset="0"/>
                        </a:rPr>
                        <a:t>Hierarchical Culture</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b="1" dirty="0">
                          <a:solidFill>
                            <a:schemeClr val="bg1"/>
                          </a:solidFill>
                          <a:latin typeface="Times New Roman" panose="02020603050405020304" pitchFamily="18" charset="0"/>
                          <a:cs typeface="Times New Roman" panose="02020603050405020304" pitchFamily="18" charset="0"/>
                        </a:rPr>
                        <a:t>Innovative Culture</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b="1" dirty="0">
                          <a:solidFill>
                            <a:schemeClr val="bg1"/>
                          </a:solidFill>
                          <a:latin typeface="Times New Roman" panose="02020603050405020304" pitchFamily="18" charset="0"/>
                          <a:cs typeface="Times New Roman" panose="02020603050405020304" pitchFamily="18" charset="0"/>
                        </a:rPr>
                        <a:t>Developmental Culture</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539237562"/>
                  </a:ext>
                </a:extLst>
              </a:tr>
              <a:tr h="826811">
                <a:tc>
                  <a:txBody>
                    <a:bodyPr/>
                    <a:lstStyle/>
                    <a:p>
                      <a:pPr>
                        <a:buNone/>
                      </a:pPr>
                      <a:r>
                        <a:rPr lang="en-US" sz="2400" dirty="0">
                          <a:solidFill>
                            <a:schemeClr val="bg1"/>
                          </a:solidFill>
                          <a:latin typeface="Times New Roman" panose="02020603050405020304" pitchFamily="18" charset="0"/>
                          <a:cs typeface="Times New Roman" panose="02020603050405020304" pitchFamily="18" charset="0"/>
                        </a:rPr>
                        <a:t>Main Focus</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Results &amp; productivity</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Stability &amp; control</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Innovation &amp; creativity</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dirty="0">
                          <a:solidFill>
                            <a:schemeClr val="bg1"/>
                          </a:solidFill>
                          <a:latin typeface="Times New Roman" panose="02020603050405020304" pitchFamily="18" charset="0"/>
                          <a:cs typeface="Times New Roman" panose="02020603050405020304" pitchFamily="18" charset="0"/>
                        </a:rPr>
                        <a:t>People development</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832015164"/>
                  </a:ext>
                </a:extLst>
              </a:tr>
              <a:tr h="482160">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Orientation</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External</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Internal</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External</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Internal</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3181559726"/>
                  </a:ext>
                </a:extLst>
              </a:tr>
              <a:tr h="482160">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Flexibility</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Low</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Very low</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High</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High</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3301511136"/>
                  </a:ext>
                </a:extLst>
              </a:tr>
              <a:tr h="775913">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Decision Making</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Performance-based</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Rule-based</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Experimental</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Participative</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48747445"/>
                  </a:ext>
                </a:extLst>
              </a:tr>
              <a:tr h="482160">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Leadership Style</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Task-oriented</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Authority-driven</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Visionary</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Mentoring</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2884209933"/>
                  </a:ext>
                </a:extLst>
              </a:tr>
              <a:tr h="482160">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Risk Taking</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Low</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Very low</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Very high</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Moderate</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2732751689"/>
                  </a:ext>
                </a:extLst>
              </a:tr>
              <a:tr h="826811">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Key Success Measure</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Profit, targets</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Efficiency, consistency</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New ideas, growth</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Employee satisfaction</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2206964919"/>
                  </a:ext>
                </a:extLst>
              </a:tr>
              <a:tr h="826811">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Communication</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Formal, target-driven</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Very formal</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Informal</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Open &amp; collaborative</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731163438"/>
                  </a:ext>
                </a:extLst>
              </a:tr>
              <a:tr h="826811">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Example Organization</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Sales firm</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Government office</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a:solidFill>
                            <a:schemeClr val="bg1"/>
                          </a:solidFill>
                          <a:latin typeface="Times New Roman" panose="02020603050405020304" pitchFamily="18" charset="0"/>
                          <a:cs typeface="Times New Roman" panose="02020603050405020304" pitchFamily="18" charset="0"/>
                        </a:rPr>
                        <a:t>Tech startup</a:t>
                      </a:r>
                    </a:p>
                  </a:txBody>
                  <a:tcPr marL="79115" marR="79115" marT="39558" marB="39558" anchor="ctr">
                    <a:lnL>
                      <a:noFill/>
                    </a:lnL>
                    <a:lnR>
                      <a:noFill/>
                    </a:lnR>
                    <a:lnT>
                      <a:noFill/>
                    </a:lnT>
                    <a:lnB>
                      <a:noFill/>
                    </a:lnB>
                    <a:solidFill>
                      <a:schemeClr val="tx2">
                        <a:lumMod val="40000"/>
                        <a:lumOff val="60000"/>
                      </a:schemeClr>
                    </a:solidFill>
                  </a:tcPr>
                </a:tc>
                <a:tc>
                  <a:txBody>
                    <a:bodyPr/>
                    <a:lstStyle/>
                    <a:p>
                      <a:pPr>
                        <a:buNone/>
                      </a:pPr>
                      <a:r>
                        <a:rPr lang="en-US" sz="2400" dirty="0">
                          <a:solidFill>
                            <a:schemeClr val="bg1"/>
                          </a:solidFill>
                          <a:latin typeface="Times New Roman" panose="02020603050405020304" pitchFamily="18" charset="0"/>
                          <a:cs typeface="Times New Roman" panose="02020603050405020304" pitchFamily="18" charset="0"/>
                        </a:rPr>
                        <a:t>Training institute</a:t>
                      </a:r>
                    </a:p>
                  </a:txBody>
                  <a:tcPr marL="79115" marR="79115" marT="39558" marB="39558"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460874028"/>
                  </a:ext>
                </a:extLst>
              </a:tr>
            </a:tbl>
          </a:graphicData>
        </a:graphic>
      </p:graphicFrame>
    </p:spTree>
    <p:extLst>
      <p:ext uri="{BB962C8B-B14F-4D97-AF65-F5344CB8AC3E}">
        <p14:creationId xmlns:p14="http://schemas.microsoft.com/office/powerpoint/2010/main" val="355204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BF1B5-F69A-69A2-808F-0FF40401F8F4}"/>
              </a:ext>
            </a:extLst>
          </p:cNvPr>
          <p:cNvSpPr>
            <a:spLocks noGrp="1"/>
          </p:cNvSpPr>
          <p:nvPr>
            <p:ph idx="1"/>
          </p:nvPr>
        </p:nvSpPr>
        <p:spPr>
          <a:xfrm>
            <a:off x="838200" y="469436"/>
            <a:ext cx="10905162" cy="4351338"/>
          </a:xfrm>
        </p:spPr>
        <p:txBody>
          <a:bodyPr/>
          <a:lstStyle/>
          <a:p>
            <a:pPr algn="just"/>
            <a:r>
              <a:rPr lang="en-US" dirty="0"/>
              <a:t>The historical perception of </a:t>
            </a:r>
            <a:r>
              <a:rPr lang="en-US" dirty="0">
                <a:solidFill>
                  <a:srgbClr val="FF0000"/>
                </a:solidFill>
              </a:rPr>
              <a:t>HR</a:t>
            </a:r>
            <a:r>
              <a:rPr lang="en-US" dirty="0"/>
              <a:t> </a:t>
            </a:r>
            <a:r>
              <a:rPr lang="en-US" b="1" dirty="0">
                <a:solidFill>
                  <a:srgbClr val="FF0000"/>
                </a:solidFill>
              </a:rPr>
              <a:t>as a reactive cost center </a:t>
            </a:r>
            <a:r>
              <a:rPr lang="en-US" dirty="0"/>
              <a:t>can be overcome by adopting a </a:t>
            </a:r>
            <a:r>
              <a:rPr lang="en-US" b="1" dirty="0"/>
              <a:t>Project Management</a:t>
            </a:r>
            <a:r>
              <a:rPr lang="en-US" dirty="0"/>
              <a:t> mindset. In the new model, the organization's talent needs are managed as critical projects, with HR acting as the project leader responsible for managing the </a:t>
            </a:r>
            <a:r>
              <a:rPr lang="en-US" dirty="0">
                <a:solidFill>
                  <a:srgbClr val="FF0000"/>
                </a:solidFill>
              </a:rPr>
              <a:t>organizational resources including  utilities, employees, materials and ensuring effective buying to ensure key stakeholders</a:t>
            </a:r>
          </a:p>
          <a:p>
            <a:pPr algn="just"/>
            <a:endParaRPr lang="en-US" dirty="0"/>
          </a:p>
          <a:p>
            <a:pPr algn="just"/>
            <a:r>
              <a:rPr lang="en-US" b="1" dirty="0"/>
              <a:t>Action for Project HR:</a:t>
            </a:r>
            <a:r>
              <a:rPr lang="en-US" dirty="0"/>
              <a:t> HR must not wait for the market to shift to become relevant. It must actively </a:t>
            </a:r>
            <a:r>
              <a:rPr lang="en-US" b="1" dirty="0">
                <a:solidFill>
                  <a:srgbClr val="FF0000"/>
                </a:solidFill>
              </a:rPr>
              <a:t>manage stakeholder expectations</a:t>
            </a:r>
            <a:r>
              <a:rPr lang="en-US" dirty="0">
                <a:solidFill>
                  <a:srgbClr val="FF0000"/>
                </a:solidFill>
              </a:rPr>
              <a:t> </a:t>
            </a:r>
            <a:r>
              <a:rPr lang="en-US" dirty="0"/>
              <a:t>by consistently demonstrating value, mainly when labor is plentiful.  It has A, B, and C categories </a:t>
            </a:r>
          </a:p>
          <a:p>
            <a:pPr algn="just"/>
            <a:endParaRPr lang="en-US" dirty="0"/>
          </a:p>
        </p:txBody>
      </p:sp>
    </p:spTree>
    <p:extLst>
      <p:ext uri="{BB962C8B-B14F-4D97-AF65-F5344CB8AC3E}">
        <p14:creationId xmlns:p14="http://schemas.microsoft.com/office/powerpoint/2010/main" val="2314626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7F1EC4-2ECC-219F-50A7-5A59A3E91B60}"/>
              </a:ext>
            </a:extLst>
          </p:cNvPr>
          <p:cNvSpPr>
            <a:spLocks noGrp="1"/>
          </p:cNvSpPr>
          <p:nvPr>
            <p:ph idx="1"/>
          </p:nvPr>
        </p:nvSpPr>
        <p:spPr>
          <a:xfrm>
            <a:off x="838200" y="657546"/>
            <a:ext cx="10515600" cy="5262563"/>
          </a:xfrm>
        </p:spPr>
        <p:txBody>
          <a:bodyPr>
            <a:normAutofit/>
          </a:bodyPr>
          <a:lstStyle/>
          <a:p>
            <a:pPr marL="0" indent="0">
              <a:buNone/>
            </a:pPr>
            <a:r>
              <a:rPr lang="en-US" b="1" dirty="0"/>
              <a:t>A. Define &amp; Initiate the Talent Project (The Strategic Agenda)</a:t>
            </a:r>
            <a:endParaRPr lang="en-US" dirty="0"/>
          </a:p>
          <a:p>
            <a:r>
              <a:rPr lang="en-US" dirty="0"/>
              <a:t>This is about defining the project scope and securing executive offers </a:t>
            </a:r>
            <a:r>
              <a:rPr lang="en-US" sz="2400" b="1" dirty="0">
                <a:solidFill>
                  <a:srgbClr val="FF0000"/>
                </a:solidFill>
              </a:rPr>
              <a:t>before</a:t>
            </a:r>
            <a:r>
              <a:rPr lang="en-US" sz="2400" dirty="0">
                <a:solidFill>
                  <a:srgbClr val="FF0000"/>
                </a:solidFill>
              </a:rPr>
              <a:t> a crisis hit</a:t>
            </a:r>
            <a:r>
              <a:rPr lang="en-US" dirty="0"/>
              <a:t>s</a:t>
            </a:r>
            <a:r>
              <a:rPr lang="en-US" baseline="30000" dirty="0"/>
              <a:t>.</a:t>
            </a:r>
            <a:endParaRPr lang="en-US" dirty="0"/>
          </a:p>
          <a:p>
            <a:pPr lvl="0"/>
            <a:r>
              <a:rPr lang="en-US" b="1" dirty="0">
                <a:solidFill>
                  <a:srgbClr val="FF0000"/>
                </a:solidFill>
              </a:rPr>
              <a:t>Set the Agenda:</a:t>
            </a:r>
            <a:r>
              <a:rPr lang="en-US" dirty="0">
                <a:solidFill>
                  <a:srgbClr val="FF0000"/>
                </a:solidFill>
              </a:rPr>
              <a:t> </a:t>
            </a:r>
            <a:r>
              <a:rPr lang="en-US" dirty="0"/>
              <a:t>HR must be the one to articulate a point of view on every people-related topic (e.g., layoffs, recruiting, performance management) and show how it matters to the business.</a:t>
            </a:r>
          </a:p>
          <a:p>
            <a:pPr lvl="0"/>
            <a:r>
              <a:rPr lang="en-US" b="1" dirty="0">
                <a:solidFill>
                  <a:srgbClr val="FF0000"/>
                </a:solidFill>
              </a:rPr>
              <a:t>Acquire Business Knowledge</a:t>
            </a:r>
            <a:r>
              <a:rPr lang="en-US" b="1" dirty="0"/>
              <a:t>:</a:t>
            </a:r>
            <a:r>
              <a:rPr lang="en-US" dirty="0"/>
              <a:t> Use first-rate knowledge minds to mine employee data (the "Project Resource Information") to inform decisions. This is key to turning talent management into a data-driven business decision.</a:t>
            </a:r>
          </a:p>
          <a:p>
            <a:pPr lvl="0"/>
            <a:r>
              <a:rPr lang="en-US" b="1" dirty="0">
                <a:solidFill>
                  <a:srgbClr val="FF0000"/>
                </a:solidFill>
              </a:rPr>
              <a:t>Manage Financial Stakeholders (ROI):</a:t>
            </a:r>
            <a:r>
              <a:rPr lang="en-US" dirty="0">
                <a:solidFill>
                  <a:srgbClr val="FF0000"/>
                </a:solidFill>
              </a:rPr>
              <a:t> </a:t>
            </a:r>
            <a:r>
              <a:rPr lang="en-US" dirty="0"/>
              <a:t>Translate talent programs into clear financial benefits (Project Justification). Don't just focus on soft outcomes like job satisfaction. Try to calculate </a:t>
            </a:r>
            <a:r>
              <a:rPr lang="en-US" b="1" dirty="0"/>
              <a:t>ROI</a:t>
            </a:r>
            <a:r>
              <a:rPr lang="en-US" dirty="0"/>
              <a:t> for HR initiatives.</a:t>
            </a:r>
          </a:p>
          <a:p>
            <a:endParaRPr lang="en-US" dirty="0"/>
          </a:p>
        </p:txBody>
      </p:sp>
    </p:spTree>
    <p:extLst>
      <p:ext uri="{BB962C8B-B14F-4D97-AF65-F5344CB8AC3E}">
        <p14:creationId xmlns:p14="http://schemas.microsoft.com/office/powerpoint/2010/main" val="2504566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EC6547-C0DD-9C68-59F0-3A39B642F91D}"/>
              </a:ext>
            </a:extLst>
          </p:cNvPr>
          <p:cNvSpPr>
            <a:spLocks noGrp="1"/>
          </p:cNvSpPr>
          <p:nvPr>
            <p:ph idx="1"/>
          </p:nvPr>
        </p:nvSpPr>
        <p:spPr>
          <a:xfrm>
            <a:off x="838200" y="545465"/>
            <a:ext cx="10515600" cy="4351338"/>
          </a:xfrm>
        </p:spPr>
        <p:txBody>
          <a:bodyPr>
            <a:normAutofit/>
          </a:bodyPr>
          <a:lstStyle/>
          <a:p>
            <a:pPr marL="0" indent="0">
              <a:buNone/>
            </a:pPr>
            <a:r>
              <a:rPr lang="en-US" b="1" dirty="0"/>
              <a:t>B. Plan the Talent Project (Focus &amp; Context)</a:t>
            </a:r>
            <a:endParaRPr lang="en-US" dirty="0"/>
          </a:p>
          <a:p>
            <a:r>
              <a:rPr lang="en-US" dirty="0"/>
              <a:t>Project plans must be tailored to the immediate and specific context of the organization, not generic templates.</a:t>
            </a:r>
          </a:p>
          <a:p>
            <a:pPr lvl="0"/>
            <a:r>
              <a:rPr lang="en-US" b="1" dirty="0"/>
              <a:t>Focus on the Here and Now:</a:t>
            </a:r>
            <a:r>
              <a:rPr lang="en-US" dirty="0"/>
              <a:t> Stop copying outdated playbooks. The plan must be </a:t>
            </a:r>
            <a:r>
              <a:rPr lang="en-US" b="1" dirty="0">
                <a:solidFill>
                  <a:srgbClr val="FF0000"/>
                </a:solidFill>
              </a:rPr>
              <a:t>company-specific</a:t>
            </a:r>
            <a:r>
              <a:rPr lang="en-US" dirty="0">
                <a:solidFill>
                  <a:srgbClr val="FF0000"/>
                </a:solidFill>
              </a:rPr>
              <a:t> and </a:t>
            </a:r>
            <a:r>
              <a:rPr lang="en-US" b="1" dirty="0">
                <a:solidFill>
                  <a:srgbClr val="FF0000"/>
                </a:solidFill>
              </a:rPr>
              <a:t>industry-specific</a:t>
            </a:r>
            <a:r>
              <a:rPr lang="en-US" dirty="0">
                <a:solidFill>
                  <a:srgbClr val="FF0000"/>
                </a:solidFill>
              </a:rPr>
              <a:t>.</a:t>
            </a:r>
          </a:p>
          <a:p>
            <a:pPr lvl="0"/>
            <a:r>
              <a:rPr lang="en-US" b="1" dirty="0"/>
              <a:t>Adopt Contextual Practices:</a:t>
            </a:r>
            <a:r>
              <a:rPr lang="en-US" dirty="0"/>
              <a:t> Follow the lead of companies who are moving away from traditional, reviled practices (e.g., appraisals) toward flexible, ongoing conversation models that meet the specific needs of their key talent.</a:t>
            </a:r>
          </a:p>
          <a:p>
            <a:r>
              <a:rPr lang="en-US" b="1" dirty="0"/>
              <a:t>Risk Management (Time Wasters):</a:t>
            </a:r>
            <a:r>
              <a:rPr lang="en-US" dirty="0"/>
              <a:t> Identify and "walk away" from low-impact initiatives that drain time and social capital with line managers.</a:t>
            </a:r>
          </a:p>
        </p:txBody>
      </p:sp>
    </p:spTree>
    <p:extLst>
      <p:ext uri="{BB962C8B-B14F-4D97-AF65-F5344CB8AC3E}">
        <p14:creationId xmlns:p14="http://schemas.microsoft.com/office/powerpoint/2010/main" val="851299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C110C6-6869-EA3A-2526-5E9C7FE6D5AA}"/>
              </a:ext>
            </a:extLst>
          </p:cNvPr>
          <p:cNvSpPr>
            <a:spLocks noGrp="1"/>
          </p:cNvSpPr>
          <p:nvPr>
            <p:ph idx="1"/>
          </p:nvPr>
        </p:nvSpPr>
        <p:spPr>
          <a:xfrm>
            <a:off x="838200" y="577901"/>
            <a:ext cx="10515600" cy="5599062"/>
          </a:xfrm>
        </p:spPr>
        <p:txBody>
          <a:bodyPr>
            <a:normAutofit/>
          </a:bodyPr>
          <a:lstStyle/>
          <a:p>
            <a:pPr marL="0" indent="0" algn="just">
              <a:buNone/>
            </a:pPr>
            <a:r>
              <a:rPr lang="en-US" b="1" dirty="0"/>
              <a:t>C. Execute &amp; Monitor the Talent Project (Implementation &amp; Alignment)</a:t>
            </a:r>
            <a:endParaRPr lang="en-US" dirty="0"/>
          </a:p>
          <a:p>
            <a:pPr marL="0" indent="0" algn="just">
              <a:buNone/>
            </a:pPr>
            <a:r>
              <a:rPr lang="en-US" dirty="0"/>
              <a:t>This is where HR works with line managers to ensure the talent plan is executed and monitored for results.</a:t>
            </a:r>
          </a:p>
          <a:p>
            <a:pPr lvl="0" algn="just"/>
            <a:r>
              <a:rPr lang="en-US" b="1" dirty="0"/>
              <a:t>Empower Line Managers (Project Leadership):</a:t>
            </a:r>
            <a:r>
              <a:rPr lang="en-US" b="1" dirty="0">
                <a:solidFill>
                  <a:srgbClr val="FF0000"/>
                </a:solidFill>
              </a:rPr>
              <a:t> Recognize that line managers are pushed to follow procedures without HR having direct power. </a:t>
            </a:r>
            <a:r>
              <a:rPr lang="en-US" dirty="0"/>
              <a:t>The goal is to make them take their supervisory responsibilities more seriously.</a:t>
            </a:r>
          </a:p>
          <a:p>
            <a:pPr lvl="0" algn="just"/>
            <a:r>
              <a:rPr lang="en-US" b="1" dirty="0"/>
              <a:t>Align Short-Term with Long-Term:</a:t>
            </a:r>
            <a:r>
              <a:rPr lang="en-US" dirty="0"/>
              <a:t> Reconcile/resolve the short-term with the long-term nature of talent development, turnover, and culture-building. </a:t>
            </a:r>
            <a:r>
              <a:rPr lang="en-US" b="1" dirty="0">
                <a:solidFill>
                  <a:srgbClr val="FF0000"/>
                </a:solidFill>
              </a:rPr>
              <a:t>HR must study short-term initiatives in the aggregate to spot emerging needs</a:t>
            </a:r>
          </a:p>
          <a:p>
            <a:pPr lvl="0" algn="just"/>
            <a:r>
              <a:rPr lang="en-US" b="1" dirty="0"/>
              <a:t>Control/Corrective Action:</a:t>
            </a:r>
            <a:r>
              <a:rPr lang="en-US" dirty="0"/>
              <a:t> Use analytics to monitor the effectiveness of practices e.g., using an algorithm to identify employees likely to break rules to ensure project goals are met.</a:t>
            </a:r>
          </a:p>
          <a:p>
            <a:pPr algn="just"/>
            <a:endParaRPr lang="en-US" dirty="0"/>
          </a:p>
        </p:txBody>
      </p:sp>
    </p:spTree>
    <p:extLst>
      <p:ext uri="{BB962C8B-B14F-4D97-AF65-F5344CB8AC3E}">
        <p14:creationId xmlns:p14="http://schemas.microsoft.com/office/powerpoint/2010/main" val="743475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00F591-D6AF-B2EF-EA1F-AF0AFA5862FD}"/>
              </a:ext>
            </a:extLst>
          </p:cNvPr>
          <p:cNvSpPr>
            <a:spLocks noGrp="1"/>
          </p:cNvSpPr>
          <p:nvPr>
            <p:ph idx="1"/>
          </p:nvPr>
        </p:nvSpPr>
        <p:spPr>
          <a:xfrm>
            <a:off x="622442" y="667704"/>
            <a:ext cx="11295580" cy="4351338"/>
          </a:xfrm>
        </p:spPr>
        <p:txBody>
          <a:bodyPr/>
          <a:lstStyle/>
          <a:p>
            <a:pPr marL="0" indent="0" algn="just">
              <a:buNone/>
            </a:pPr>
            <a:r>
              <a:rPr lang="en-US" b="1" dirty="0"/>
              <a:t>The Project HR and stakeholder Outcome: Sustained Success</a:t>
            </a:r>
            <a:endParaRPr lang="en-US" dirty="0"/>
          </a:p>
          <a:p>
            <a:pPr marL="0" indent="0" algn="just">
              <a:buNone/>
            </a:pPr>
            <a:r>
              <a:rPr lang="en-US" dirty="0"/>
              <a:t>By managing talent through a project lens, HR shifts its role from administrator to strategic partner. The ultimate deliverable is maximizing mandatory/</a:t>
            </a:r>
            <a:r>
              <a:rPr lang="en-US" b="1" dirty="0"/>
              <a:t>discretionary effort</a:t>
            </a:r>
            <a:r>
              <a:rPr lang="en-US" b="1" dirty="0">
                <a:solidFill>
                  <a:srgbClr val="FF0000"/>
                </a:solidFill>
              </a:rPr>
              <a:t>, thus employees who are engaged and willing to give their best will eventually lead to opt for organizational success and/or a direct driver of profitability.</a:t>
            </a:r>
          </a:p>
          <a:p>
            <a:pPr algn="just"/>
            <a:endParaRPr lang="en-US" dirty="0"/>
          </a:p>
        </p:txBody>
      </p:sp>
    </p:spTree>
    <p:extLst>
      <p:ext uri="{BB962C8B-B14F-4D97-AF65-F5344CB8AC3E}">
        <p14:creationId xmlns:p14="http://schemas.microsoft.com/office/powerpoint/2010/main" val="425721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3D9600-35F6-BD02-593C-C9B928E4A125}"/>
              </a:ext>
            </a:extLst>
          </p:cNvPr>
          <p:cNvSpPr>
            <a:spLocks noGrp="1"/>
          </p:cNvSpPr>
          <p:nvPr>
            <p:ph idx="1"/>
          </p:nvPr>
        </p:nvSpPr>
        <p:spPr>
          <a:xfrm>
            <a:off x="419558" y="239195"/>
            <a:ext cx="11772441" cy="5566693"/>
          </a:xfrm>
        </p:spPr>
        <p:txBody>
          <a:bodyPr>
            <a:norm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Fundamental Attribution Error (FAE)</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chemeClr val="tx2"/>
                </a:solidFill>
                <a:latin typeface="Times New Roman" panose="02020603050405020304" pitchFamily="18" charset="0"/>
                <a:cs typeface="Times New Roman" panose="02020603050405020304" pitchFamily="18" charset="0"/>
              </a:rPr>
              <a:t> The FAE is the tendency to </a:t>
            </a:r>
            <a:r>
              <a:rPr lang="en-US" b="1" dirty="0">
                <a:solidFill>
                  <a:schemeClr val="tx2"/>
                </a:solidFill>
                <a:latin typeface="Times New Roman" panose="02020603050405020304" pitchFamily="18" charset="0"/>
                <a:cs typeface="Times New Roman" panose="02020603050405020304" pitchFamily="18" charset="0"/>
              </a:rPr>
              <a:t>overemphasize internal factors</a:t>
            </a:r>
            <a:r>
              <a:rPr lang="en-US" dirty="0">
                <a:solidFill>
                  <a:schemeClr val="tx2"/>
                </a:solidFill>
                <a:latin typeface="Times New Roman" panose="02020603050405020304" pitchFamily="18" charset="0"/>
                <a:cs typeface="Times New Roman" panose="02020603050405020304" pitchFamily="18" charset="0"/>
              </a:rPr>
              <a:t> (a person's personality, character, or disposition) and </a:t>
            </a:r>
            <a:r>
              <a:rPr lang="en-US" b="1" dirty="0">
                <a:solidFill>
                  <a:schemeClr val="tx2"/>
                </a:solidFill>
                <a:latin typeface="Times New Roman" panose="02020603050405020304" pitchFamily="18" charset="0"/>
                <a:cs typeface="Times New Roman" panose="02020603050405020304" pitchFamily="18" charset="0"/>
              </a:rPr>
              <a:t>underestimate external factors</a:t>
            </a:r>
            <a:r>
              <a:rPr lang="en-US" dirty="0">
                <a:solidFill>
                  <a:schemeClr val="tx2"/>
                </a:solidFill>
                <a:latin typeface="Times New Roman" panose="02020603050405020304" pitchFamily="18" charset="0"/>
                <a:cs typeface="Times New Roman" panose="02020603050405020304" pitchFamily="18" charset="0"/>
              </a:rPr>
              <a:t> (situational context or environment) when judging the behavior of others.</a:t>
            </a:r>
          </a:p>
          <a:p>
            <a:pPr marL="0" indent="0">
              <a:buNone/>
            </a:pPr>
            <a:r>
              <a:rPr lang="en-US" b="1" dirty="0">
                <a:latin typeface="Times New Roman" panose="02020603050405020304" pitchFamily="18" charset="0"/>
                <a:cs typeface="Times New Roman" panose="02020603050405020304" pitchFamily="18" charset="0"/>
              </a:rPr>
              <a:t>Key Concepts to learn</a:t>
            </a:r>
            <a:endParaRPr lang="en-US" dirty="0">
              <a:latin typeface="Times New Roman" panose="02020603050405020304" pitchFamily="18" charset="0"/>
              <a:cs typeface="Times New Roman" panose="02020603050405020304" pitchFamily="18" charset="0"/>
            </a:endParaRPr>
          </a:p>
          <a:p>
            <a:pPr marL="0" lvl="0" indent="0">
              <a:buNone/>
            </a:pPr>
            <a:r>
              <a:rPr lang="en-US" b="1" dirty="0">
                <a:latin typeface="Times New Roman" panose="02020603050405020304" pitchFamily="18" charset="0"/>
                <a:cs typeface="Times New Roman" panose="02020603050405020304" pitchFamily="18" charset="0"/>
              </a:rPr>
              <a:t>Internal vs. External Attribution:</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Internal:</a:t>
            </a:r>
            <a:r>
              <a:rPr lang="en-US" dirty="0">
                <a:latin typeface="Times New Roman" panose="02020603050405020304" pitchFamily="18" charset="0"/>
                <a:cs typeface="Times New Roman" panose="02020603050405020304" pitchFamily="18" charset="0"/>
              </a:rPr>
              <a:t> "Jane missed the deadline because she is lazy/incompetent." (FAE occurs here)</a:t>
            </a:r>
          </a:p>
          <a:p>
            <a:pPr lvl="1"/>
            <a:r>
              <a:rPr lang="en-US" b="1" dirty="0">
                <a:latin typeface="Times New Roman" panose="02020603050405020304" pitchFamily="18" charset="0"/>
                <a:cs typeface="Times New Roman" panose="02020603050405020304" pitchFamily="18" charset="0"/>
              </a:rPr>
              <a:t>External:</a:t>
            </a:r>
            <a:r>
              <a:rPr lang="en-US" dirty="0">
                <a:latin typeface="Times New Roman" panose="02020603050405020304" pitchFamily="18" charset="0"/>
                <a:cs typeface="Times New Roman" panose="02020603050405020304" pitchFamily="18" charset="0"/>
              </a:rPr>
              <a:t> "Jane missed the deadline because the IT system was down for two days."</a:t>
            </a:r>
          </a:p>
          <a:p>
            <a:pPr marL="0" lvl="0" indent="0">
              <a:buNone/>
            </a:pPr>
            <a:r>
              <a:rPr lang="en-US" b="1" dirty="0">
                <a:latin typeface="Times New Roman" panose="02020603050405020304" pitchFamily="18" charset="0"/>
                <a:cs typeface="Times New Roman" panose="02020603050405020304" pitchFamily="18" charset="0"/>
              </a:rPr>
              <a:t>The Reverse Bias:</a:t>
            </a:r>
            <a:r>
              <a:rPr lang="en-US" dirty="0">
                <a:latin typeface="Times New Roman" panose="02020603050405020304" pitchFamily="18" charset="0"/>
                <a:cs typeface="Times New Roman" panose="02020603050405020304" pitchFamily="18" charset="0"/>
              </a:rPr>
              <a:t> We often do the opposite when judging </a:t>
            </a:r>
            <a:r>
              <a:rPr lang="en-US" i="1" dirty="0">
                <a:latin typeface="Times New Roman" panose="02020603050405020304" pitchFamily="18" charset="0"/>
                <a:cs typeface="Times New Roman" panose="02020603050405020304" pitchFamily="18" charset="0"/>
              </a:rPr>
              <a:t>our own</a:t>
            </a:r>
            <a:r>
              <a:rPr lang="en-US" dirty="0">
                <a:latin typeface="Times New Roman" panose="02020603050405020304" pitchFamily="18" charset="0"/>
                <a:cs typeface="Times New Roman" panose="02020603050405020304" pitchFamily="18" charset="0"/>
              </a:rPr>
              <a:t> failures (attributing them to external factors).</a:t>
            </a:r>
          </a:p>
          <a:p>
            <a:pPr marL="0" lvl="0" indent="0">
              <a:buNone/>
            </a:pPr>
            <a:r>
              <a:rPr lang="en-US" b="1" dirty="0">
                <a:latin typeface="Times New Roman" panose="02020603050405020304" pitchFamily="18" charset="0"/>
                <a:cs typeface="Times New Roman" panose="02020603050405020304" pitchFamily="18" charset="0"/>
              </a:rPr>
              <a:t>Impact on HR:</a:t>
            </a:r>
            <a:r>
              <a:rPr lang="en-US" dirty="0">
                <a:latin typeface="Times New Roman" panose="02020603050405020304" pitchFamily="18" charset="0"/>
                <a:cs typeface="Times New Roman" panose="02020603050405020304" pitchFamily="18" charset="0"/>
              </a:rPr>
              <a:t> This error leads managers to unfairly punish or fire employees without investigating situational causes, poisoning performance reviews.</a:t>
            </a:r>
          </a:p>
          <a:p>
            <a:pPr lvl="1"/>
            <a:r>
              <a:rPr lang="en-US" b="1" dirty="0">
                <a:latin typeface="Times New Roman" panose="02020603050405020304" pitchFamily="18" charset="0"/>
                <a:cs typeface="Times New Roman" panose="02020603050405020304" pitchFamily="18" charset="0"/>
              </a:rPr>
              <a:t>FAE Reaction:</a:t>
            </a:r>
            <a:r>
              <a:rPr lang="en-US" dirty="0">
                <a:latin typeface="Times New Roman" panose="02020603050405020304" pitchFamily="18" charset="0"/>
                <a:cs typeface="Times New Roman" panose="02020603050405020304" pitchFamily="18" charset="0"/>
              </a:rPr>
              <a:t> What's your immediate thought? ("They aren't a good fit for the job.")</a:t>
            </a:r>
          </a:p>
          <a:p>
            <a:pPr lvl="1"/>
            <a:r>
              <a:rPr lang="en-US" b="1" dirty="0">
                <a:latin typeface="Times New Roman" panose="02020603050405020304" pitchFamily="18" charset="0"/>
                <a:cs typeface="Times New Roman" panose="02020603050405020304" pitchFamily="18" charset="0"/>
              </a:rPr>
              <a:t>HR Reaction:</a:t>
            </a:r>
            <a:r>
              <a:rPr lang="en-US" dirty="0">
                <a:latin typeface="Times New Roman" panose="02020603050405020304" pitchFamily="18" charset="0"/>
                <a:cs typeface="Times New Roman" panose="02020603050405020304" pitchFamily="18" charset="0"/>
              </a:rPr>
              <a:t> What external factors should you investigate before judging? (Staffing levels, training, new software interface, etc.)</a:t>
            </a: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8678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5B4E14B-BBFA-6283-3325-4A4C3378EF98}"/>
              </a:ext>
            </a:extLst>
          </p:cNvPr>
          <p:cNvGraphicFramePr>
            <a:graphicFrameLocks noGrp="1"/>
          </p:cNvGraphicFramePr>
          <p:nvPr>
            <p:ph idx="1"/>
            <p:extLst>
              <p:ext uri="{D42A27DB-BD31-4B8C-83A1-F6EECF244321}">
                <p14:modId xmlns:p14="http://schemas.microsoft.com/office/powerpoint/2010/main" val="1504798823"/>
              </p:ext>
            </p:extLst>
          </p:nvPr>
        </p:nvGraphicFramePr>
        <p:xfrm>
          <a:off x="0" y="2454876"/>
          <a:ext cx="12192000" cy="4235001"/>
        </p:xfrm>
        <a:graphic>
          <a:graphicData uri="http://schemas.openxmlformats.org/drawingml/2006/table">
            <a:tbl>
              <a:tblPr firstRow="1" firstCol="1" bandRow="1">
                <a:tableStyleId>{5C22544A-7EE6-4342-B048-85BDC9FD1C3A}</a:tableStyleId>
              </a:tblPr>
              <a:tblGrid>
                <a:gridCol w="11938000">
                  <a:extLst>
                    <a:ext uri="{9D8B030D-6E8A-4147-A177-3AD203B41FA5}">
                      <a16:colId xmlns:a16="http://schemas.microsoft.com/office/drawing/2014/main" val="1137756248"/>
                    </a:ext>
                  </a:extLst>
                </a:gridCol>
                <a:gridCol w="254000">
                  <a:extLst>
                    <a:ext uri="{9D8B030D-6E8A-4147-A177-3AD203B41FA5}">
                      <a16:colId xmlns:a16="http://schemas.microsoft.com/office/drawing/2014/main" val="4028230439"/>
                    </a:ext>
                  </a:extLst>
                </a:gridCol>
              </a:tblGrid>
              <a:tr h="729533">
                <a:tc>
                  <a:txBody>
                    <a:bodyPr/>
                    <a:lstStyle/>
                    <a:p>
                      <a:pPr marL="0" marR="0" algn="ctr">
                        <a:lnSpc>
                          <a:spcPct val="115000"/>
                        </a:lnSpc>
                        <a:spcAft>
                          <a:spcPts val="800"/>
                        </a:spcAft>
                        <a:buNone/>
                      </a:pPr>
                      <a:r>
                        <a:rPr lang="en-US" sz="1600" kern="100" dirty="0">
                          <a:effectLst/>
                        </a:rPr>
                        <a:t>Core Job Dimensions</a:t>
                      </a: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tc rowSpan="6">
                  <a:txBody>
                    <a:bodyPr/>
                    <a:lstStyle/>
                    <a:p>
                      <a:pPr marL="0" marR="0" algn="just">
                        <a:lnSpc>
                          <a:spcPct val="115000"/>
                        </a:lnSpc>
                        <a:spcAft>
                          <a:spcPts val="800"/>
                        </a:spcAft>
                        <a:buNone/>
                      </a:pP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extLst>
                  <a:ext uri="{0D108BD9-81ED-4DB2-BD59-A6C34878D82A}">
                    <a16:rowId xmlns:a16="http://schemas.microsoft.com/office/drawing/2014/main" val="2876372700"/>
                  </a:ext>
                </a:extLst>
              </a:tr>
              <a:tr h="729533">
                <a:tc>
                  <a:txBody>
                    <a:bodyPr/>
                    <a:lstStyle/>
                    <a:p>
                      <a:pPr marL="0" marR="0" algn="ctr">
                        <a:lnSpc>
                          <a:spcPct val="115000"/>
                        </a:lnSpc>
                        <a:spcAft>
                          <a:spcPts val="800"/>
                        </a:spcAft>
                        <a:buNone/>
                      </a:pPr>
                      <a:r>
                        <a:rPr lang="en-US" sz="1600" kern="100" dirty="0">
                          <a:effectLst/>
                        </a:rPr>
                        <a:t>Skill Variety</a:t>
                      </a: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tc vMerge="1">
                  <a:txBody>
                    <a:bodyPr/>
                    <a:lstStyle/>
                    <a:p>
                      <a:pPr marL="0" marR="0" algn="just">
                        <a:lnSpc>
                          <a:spcPct val="115000"/>
                        </a:lnSpc>
                        <a:spcAft>
                          <a:spcPts val="800"/>
                        </a:spcAft>
                        <a:buNone/>
                      </a:pP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extLst>
                  <a:ext uri="{0D108BD9-81ED-4DB2-BD59-A6C34878D82A}">
                    <a16:rowId xmlns:a16="http://schemas.microsoft.com/office/drawing/2014/main" val="1917583029"/>
                  </a:ext>
                </a:extLst>
              </a:tr>
              <a:tr h="729533">
                <a:tc>
                  <a:txBody>
                    <a:bodyPr/>
                    <a:lstStyle/>
                    <a:p>
                      <a:pPr marL="0" marR="0" algn="ctr">
                        <a:lnSpc>
                          <a:spcPct val="115000"/>
                        </a:lnSpc>
                        <a:spcAft>
                          <a:spcPts val="800"/>
                        </a:spcAft>
                        <a:buNone/>
                      </a:pPr>
                      <a:r>
                        <a:rPr lang="en-US" sz="1600" kern="100">
                          <a:effectLst/>
                        </a:rPr>
                        <a:t>Task Identity</a:t>
                      </a:r>
                      <a:endParaRPr lang="en-US" sz="1600" kern="10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tc vMerge="1">
                  <a:txBody>
                    <a:bodyPr/>
                    <a:lstStyle/>
                    <a:p>
                      <a:pPr>
                        <a:lnSpc>
                          <a:spcPct val="115000"/>
                        </a:lnSpc>
                        <a:buNone/>
                      </a:pPr>
                      <a:endParaRPr lang="en-US" sz="1600" kern="100" dirty="0">
                        <a:effectLst/>
                        <a:latin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85735495"/>
                  </a:ext>
                </a:extLst>
              </a:tr>
              <a:tr h="729533">
                <a:tc>
                  <a:txBody>
                    <a:bodyPr/>
                    <a:lstStyle/>
                    <a:p>
                      <a:pPr marL="0" marR="0" algn="ctr">
                        <a:lnSpc>
                          <a:spcPct val="115000"/>
                        </a:lnSpc>
                        <a:spcAft>
                          <a:spcPts val="800"/>
                        </a:spcAft>
                        <a:buNone/>
                      </a:pPr>
                      <a:r>
                        <a:rPr lang="en-US" sz="1600" kern="100">
                          <a:effectLst/>
                        </a:rPr>
                        <a:t>Task Significance</a:t>
                      </a:r>
                      <a:endParaRPr lang="en-US" sz="1600" kern="10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tc vMerge="1">
                  <a:txBody>
                    <a:bodyPr/>
                    <a:lstStyle/>
                    <a:p>
                      <a:pPr>
                        <a:lnSpc>
                          <a:spcPct val="115000"/>
                        </a:lnSpc>
                        <a:buNone/>
                      </a:pPr>
                      <a:endParaRPr lang="en-US" sz="1600" kern="100" dirty="0">
                        <a:effectLst/>
                        <a:latin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810355758"/>
                  </a:ext>
                </a:extLst>
              </a:tr>
              <a:tr h="729533">
                <a:tc>
                  <a:txBody>
                    <a:bodyPr/>
                    <a:lstStyle/>
                    <a:p>
                      <a:pPr marL="0" marR="0" algn="ctr">
                        <a:lnSpc>
                          <a:spcPct val="115000"/>
                        </a:lnSpc>
                        <a:spcAft>
                          <a:spcPts val="800"/>
                        </a:spcAft>
                        <a:buNone/>
                      </a:pPr>
                      <a:r>
                        <a:rPr lang="en-US" sz="1600" kern="100" dirty="0">
                          <a:effectLst/>
                        </a:rPr>
                        <a:t>Autonomy/self-rule</a:t>
                      </a: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tc vMerge="1">
                  <a:txBody>
                    <a:bodyPr/>
                    <a:lstStyle/>
                    <a:p>
                      <a:pPr marL="0" marR="0" algn="just">
                        <a:lnSpc>
                          <a:spcPct val="115000"/>
                        </a:lnSpc>
                        <a:spcAft>
                          <a:spcPts val="800"/>
                        </a:spcAft>
                        <a:buNone/>
                      </a:pP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extLst>
                  <a:ext uri="{0D108BD9-81ED-4DB2-BD59-A6C34878D82A}">
                    <a16:rowId xmlns:a16="http://schemas.microsoft.com/office/drawing/2014/main" val="3007211570"/>
                  </a:ext>
                </a:extLst>
              </a:tr>
              <a:tr h="587336">
                <a:tc>
                  <a:txBody>
                    <a:bodyPr/>
                    <a:lstStyle/>
                    <a:p>
                      <a:pPr marL="0" marR="0" algn="ctr">
                        <a:lnSpc>
                          <a:spcPct val="115000"/>
                        </a:lnSpc>
                        <a:spcAft>
                          <a:spcPts val="800"/>
                        </a:spcAft>
                        <a:buNone/>
                      </a:pPr>
                      <a:r>
                        <a:rPr lang="en-US" sz="1600" kern="100" dirty="0">
                          <a:effectLst/>
                        </a:rPr>
                        <a:t>Feedback</a:t>
                      </a: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tc vMerge="1">
                  <a:txBody>
                    <a:bodyPr/>
                    <a:lstStyle/>
                    <a:p>
                      <a:pPr marL="0" marR="0" algn="just">
                        <a:lnSpc>
                          <a:spcPct val="115000"/>
                        </a:lnSpc>
                        <a:spcAft>
                          <a:spcPts val="800"/>
                        </a:spcAft>
                        <a:buNone/>
                      </a:pPr>
                      <a:endParaRPr lang="en-US" sz="1600" kern="100" dirty="0">
                        <a:effectLst/>
                        <a:latin typeface="Calibri" panose="020F0502020204030204" pitchFamily="34" charset="0"/>
                        <a:ea typeface="DengXian" panose="02010600030101010101" pitchFamily="2" charset="-122"/>
                        <a:cs typeface="Times New Roman" panose="02020603050405020304" pitchFamily="18" charset="0"/>
                      </a:endParaRPr>
                    </a:p>
                  </a:txBody>
                  <a:tcPr marL="114300" marR="114300" marT="76200" marB="76200" anchor="ctr"/>
                </a:tc>
                <a:extLst>
                  <a:ext uri="{0D108BD9-81ED-4DB2-BD59-A6C34878D82A}">
                    <a16:rowId xmlns:a16="http://schemas.microsoft.com/office/drawing/2014/main" val="2848701607"/>
                  </a:ext>
                </a:extLst>
              </a:tr>
            </a:tbl>
          </a:graphicData>
        </a:graphic>
      </p:graphicFrame>
      <p:sp>
        <p:nvSpPr>
          <p:cNvPr id="5" name="Rectangle 1">
            <a:extLst>
              <a:ext uri="{FF2B5EF4-FFF2-40B4-BE49-F238E27FC236}">
                <a16:creationId xmlns:a16="http://schemas.microsoft.com/office/drawing/2014/main" id="{75EDE3C1-BBA1-4DE8-FB3B-39D080BBA363}"/>
              </a:ext>
            </a:extLst>
          </p:cNvPr>
          <p:cNvSpPr>
            <a:spLocks noChangeArrowheads="1"/>
          </p:cNvSpPr>
          <p:nvPr/>
        </p:nvSpPr>
        <p:spPr bwMode="auto">
          <a:xfrm>
            <a:off x="127552" y="0"/>
            <a:ext cx="1193689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 Job Characteristics Model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Developed by Hackman and Oldham, the JCM is a seminal theory in job design. It posits that a job's structure, or its inherent characteristics, directly impacts employee motivation, satisfaction, and performance by creating specific </a:t>
            </a:r>
            <a:r>
              <a:rPr kumimoji="0" lang="en-US" altLang="en-US" sz="2000" b="1"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critical psychological states</a:t>
            </a:r>
            <a:r>
              <a:rPr kumimoji="0" lang="en-US" altLang="en-US" sz="2000" b="0"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 This is crucial for designing meaningful work.</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Key Concepts to Teach</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The JCM links five </a:t>
            </a:r>
            <a:r>
              <a:rPr kumimoji="0" lang="en-US" altLang="en-US" sz="2000" b="1"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Core Job Dimensions</a:t>
            </a:r>
            <a:r>
              <a:rPr kumimoji="0" lang="en-US" altLang="en-US" sz="2000" b="0"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 to </a:t>
            </a:r>
            <a:r>
              <a:rPr kumimoji="0" lang="en-US" altLang="en-US" sz="2000" b="1" i="0" u="none" strike="noStrike" cap="none" normalizeH="0" baseline="0" dirty="0">
                <a:ln>
                  <a:noFill/>
                </a:ln>
                <a:solidFill>
                  <a:schemeClr val="tx2"/>
                </a:solidFill>
                <a:effectLst/>
                <a:latin typeface="Times New Roman" panose="02020603050405020304" pitchFamily="18" charset="0"/>
                <a:ea typeface="DengXian" panose="02010600030101010101" pitchFamily="2" charset="-122"/>
                <a:cs typeface="Times New Roman" panose="02020603050405020304" pitchFamily="18" charset="0"/>
              </a:rPr>
              <a:t>Critical Psychological States</a:t>
            </a:r>
            <a:r>
              <a:rPr kumimoji="0" lang="en-US" altLang="en-US" sz="2000" b="0" i="0" u="none" strike="noStrike" cap="none" normalizeH="0" baseline="0" dirty="0">
                <a:ln>
                  <a:noFill/>
                </a:ln>
                <a:solidFill>
                  <a:schemeClr val="tx2"/>
                </a:solidFill>
                <a:effectLst/>
                <a:latin typeface="Times New Roman" panose="02020603050405020304" pitchFamily="18" charset="0"/>
                <a:ea typeface="DengXian" panose="02010600030101010101" pitchFamily="2" charset="-122"/>
                <a:cs typeface="Times New Roman" panose="02020603050405020304" pitchFamily="18" charset="0"/>
              </a:rPr>
              <a:t>, which then lead to desired </a:t>
            </a:r>
            <a:r>
              <a:rPr kumimoji="0" lang="en-US" altLang="en-US" sz="2000" b="1" i="0" u="none" strike="noStrike" cap="none" normalizeH="0" baseline="0" dirty="0">
                <a:ln>
                  <a:noFill/>
                </a:ln>
                <a:solidFill>
                  <a:schemeClr val="tx2"/>
                </a:solidFill>
                <a:effectLst/>
                <a:latin typeface="Times New Roman" panose="02020603050405020304" pitchFamily="18" charset="0"/>
                <a:ea typeface="DengXian" panose="02010600030101010101" pitchFamily="2" charset="-122"/>
                <a:cs typeface="Times New Roman" panose="02020603050405020304" pitchFamily="18" charset="0"/>
              </a:rPr>
              <a:t>Personal and Work Outcomes</a:t>
            </a:r>
            <a:r>
              <a:rPr kumimoji="0" lang="en-US" altLang="en-US" sz="2000" b="0" i="0" u="none" strike="noStrike" cap="none" normalizeH="0" baseline="0" dirty="0">
                <a:ln>
                  <a:noFill/>
                </a:ln>
                <a:solidFill>
                  <a:schemeClr val="tx2"/>
                </a:solidFill>
                <a:effectLst/>
                <a:latin typeface="Times New Roman" panose="02020603050405020304" pitchFamily="18" charset="0"/>
                <a:ea typeface="DengXian" panose="02010600030101010101" pitchFamily="2" charset="-122"/>
                <a:cs typeface="Times New Roman" panose="02020603050405020304" pitchFamily="18" charset="0"/>
              </a:rPr>
              <a:t>.</a:t>
            </a:r>
            <a:endParaRPr kumimoji="0" lang="en-US" altLang="en-US" sz="3200" b="0" i="0" u="none" strike="noStrike" cap="none" normalizeH="0" baseline="0" dirty="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2349116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F4C9E4-D9F4-FBF3-B920-57742D93253A}"/>
              </a:ext>
            </a:extLst>
          </p:cNvPr>
          <p:cNvSpPr>
            <a:spLocks noGrp="1"/>
          </p:cNvSpPr>
          <p:nvPr>
            <p:ph idx="1"/>
          </p:nvPr>
        </p:nvSpPr>
        <p:spPr>
          <a:xfrm>
            <a:off x="838200" y="318052"/>
            <a:ext cx="10515600" cy="5858911"/>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The Psychological Contract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Psychological Contract (PC) is the </a:t>
            </a:r>
            <a:r>
              <a:rPr lang="en-US" b="1" dirty="0">
                <a:latin typeface="Times New Roman" panose="02020603050405020304" pitchFamily="18" charset="0"/>
                <a:cs typeface="Times New Roman" panose="02020603050405020304" pitchFamily="18" charset="0"/>
              </a:rPr>
              <a:t>unwritten set of expectations</a:t>
            </a:r>
            <a:r>
              <a:rPr lang="en-US" dirty="0">
                <a:latin typeface="Times New Roman" panose="02020603050405020304" pitchFamily="18" charset="0"/>
                <a:cs typeface="Times New Roman" panose="02020603050405020304" pitchFamily="18" charset="0"/>
              </a:rPr>
              <a:t> that exists between an employee and the organization. It's not a legal document but a powerful driver of motivation, commitment, and, if violated, organizational conflict and turnover. This is a highly relevant, modern HRM concept.</a:t>
            </a:r>
          </a:p>
          <a:p>
            <a:pPr lvl="0" algn="just"/>
            <a:r>
              <a:rPr lang="en-US" b="1" dirty="0">
                <a:latin typeface="Times New Roman" panose="02020603050405020304" pitchFamily="18" charset="0"/>
                <a:cs typeface="Times New Roman" panose="02020603050405020304" pitchFamily="18" charset="0"/>
              </a:rPr>
              <a:t>Contract Breach or open:</a:t>
            </a:r>
            <a:r>
              <a:rPr lang="en-US" dirty="0">
                <a:latin typeface="Times New Roman" panose="02020603050405020304" pitchFamily="18" charset="0"/>
                <a:cs typeface="Times New Roman" panose="02020603050405020304" pitchFamily="18" charset="0"/>
              </a:rPr>
              <a:t> Occurs when an employee perceives the organization has failed to fulfill one or more promises (written or unwritten). This is purely perceptual.</a:t>
            </a:r>
          </a:p>
          <a:p>
            <a:pPr lvl="0" algn="just"/>
            <a:r>
              <a:rPr lang="en-US" b="1" dirty="0">
                <a:latin typeface="Times New Roman" panose="02020603050405020304" pitchFamily="18" charset="0"/>
                <a:cs typeface="Times New Roman" panose="02020603050405020304" pitchFamily="18" charset="0"/>
              </a:rPr>
              <a:t>Contract Violation:</a:t>
            </a:r>
            <a:r>
              <a:rPr lang="en-US" dirty="0">
                <a:latin typeface="Times New Roman" panose="02020603050405020304" pitchFamily="18" charset="0"/>
                <a:cs typeface="Times New Roman" panose="02020603050405020304" pitchFamily="18" charset="0"/>
              </a:rPr>
              <a:t> The emotional reaction (anger, betrayal) that follows a serious breach. This is a strong predictor of employee disengagement and turnover.</a:t>
            </a:r>
          </a:p>
          <a:p>
            <a:pPr lvl="0"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605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1E1B88-BBA3-E958-4A2F-3343E04CB327}"/>
              </a:ext>
            </a:extLst>
          </p:cNvPr>
          <p:cNvSpPr>
            <a:spLocks noGrp="1"/>
          </p:cNvSpPr>
          <p:nvPr>
            <p:ph idx="1"/>
          </p:nvPr>
        </p:nvSpPr>
        <p:spPr>
          <a:xfrm>
            <a:off x="454801" y="1780543"/>
            <a:ext cx="8946541" cy="4195481"/>
          </a:xfrm>
        </p:spPr>
        <p:txBody>
          <a:bodyPr/>
          <a:lstStyle/>
          <a:p>
            <a:pPr marL="0" indent="0" algn="just">
              <a:buNone/>
            </a:pPr>
            <a:r>
              <a:rPr lang="en-US" dirty="0"/>
              <a:t>Conflict Management  The most common Sources of conflicts are following the schedule, fixing priorities of project activities, assigning resources, technical beliefs of team members, administrative policies and procedures, fixing the project costs, and differences in personalities of team members.</a:t>
            </a:r>
          </a:p>
        </p:txBody>
      </p:sp>
    </p:spTree>
    <p:extLst>
      <p:ext uri="{BB962C8B-B14F-4D97-AF65-F5344CB8AC3E}">
        <p14:creationId xmlns:p14="http://schemas.microsoft.com/office/powerpoint/2010/main" val="1010111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11710-A20B-ECAB-69F4-936BFF4E8F38}"/>
              </a:ext>
            </a:extLst>
          </p:cNvPr>
          <p:cNvSpPr>
            <a:spLocks noGrp="1"/>
          </p:cNvSpPr>
          <p:nvPr>
            <p:ph idx="1"/>
          </p:nvPr>
        </p:nvSpPr>
        <p:spPr>
          <a:xfrm>
            <a:off x="838200" y="457200"/>
            <a:ext cx="10515600" cy="5719763"/>
          </a:xfrm>
        </p:spPr>
        <p:txBody>
          <a:bodyPr>
            <a:normAutofit/>
          </a:bodyPr>
          <a:lstStyle/>
          <a:p>
            <a:pPr marL="0" indent="0" algn="just">
              <a:buNone/>
            </a:pPr>
            <a:r>
              <a:rPr lang="en-US" dirty="0"/>
              <a:t>Dealing with the conflict.</a:t>
            </a:r>
          </a:p>
          <a:p>
            <a:pPr marL="0" indent="0" algn="just">
              <a:buNone/>
            </a:pPr>
            <a:r>
              <a:rPr lang="en-US" dirty="0"/>
              <a:t>1. Compromising: Hearing problems from all the parties and providing solutions that satisfy all the parties, and all the parties are compromised and agree on the project manager. </a:t>
            </a:r>
          </a:p>
          <a:p>
            <a:pPr marL="0" indent="0" algn="just">
              <a:buNone/>
            </a:pPr>
            <a:r>
              <a:rPr lang="en-US" dirty="0"/>
              <a:t>2. Withdrawal: The project manager temporarily withdrawing from the conflict assumes that the conflict will resolve among the team itself over a period of time, or for better preparation by the project manager.</a:t>
            </a:r>
          </a:p>
          <a:p>
            <a:pPr marL="0" indent="0" algn="just">
              <a:buNone/>
            </a:pPr>
            <a:r>
              <a:rPr lang="en-US" dirty="0"/>
              <a:t>3. Smoothing: project manager is calming both the parties by focusing on points which are agreeable to all the parties rather than on differences, but the problem will again resurface when these team do the same process next time. </a:t>
            </a:r>
          </a:p>
          <a:p>
            <a:pPr marL="0" indent="0" algn="just">
              <a:buNone/>
            </a:pPr>
            <a:r>
              <a:rPr lang="en-US" dirty="0"/>
              <a:t>4. Forcing: The project manager is not listening to anyone and forcing the team to do as he says. </a:t>
            </a:r>
          </a:p>
          <a:p>
            <a:pPr marL="0" indent="0" algn="just">
              <a:buNone/>
            </a:pPr>
            <a:r>
              <a:rPr lang="en-US" dirty="0"/>
              <a:t>5. Confronting: Researching on all points of view of the problem and finding the solution from a different perspective in a practical and professional manner. </a:t>
            </a:r>
          </a:p>
        </p:txBody>
      </p:sp>
    </p:spTree>
    <p:extLst>
      <p:ext uri="{BB962C8B-B14F-4D97-AF65-F5344CB8AC3E}">
        <p14:creationId xmlns:p14="http://schemas.microsoft.com/office/powerpoint/2010/main" val="774866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EC94A543-E397-AF62-35B5-274081A79A3F}"/>
              </a:ext>
            </a:extLst>
          </p:cNvPr>
          <p:cNvSpPr>
            <a:spLocks noGrp="1" noChangeArrowheads="1"/>
          </p:cNvSpPr>
          <p:nvPr>
            <p:ph idx="1"/>
          </p:nvPr>
        </p:nvSpPr>
        <p:spPr/>
        <p:txBody>
          <a:bodyPr/>
          <a:lstStyle/>
          <a:p>
            <a:pPr eaLnBrk="1" hangingPunct="1"/>
            <a:r>
              <a:rPr lang="en-US" altLang="en-US"/>
              <a:t>Strategic management</a:t>
            </a:r>
          </a:p>
          <a:p>
            <a:pPr lvl="1" eaLnBrk="1" hangingPunct="1"/>
            <a:r>
              <a:rPr lang="en-US" altLang="en-US"/>
              <a:t>The process of identifying and executing the organization’s mission by matching its capabilities with the demands of its environment.</a:t>
            </a:r>
          </a:p>
          <a:p>
            <a:pPr eaLnBrk="1" hangingPunct="1"/>
            <a:r>
              <a:rPr lang="en-US" altLang="en-US"/>
              <a:t>Strategy</a:t>
            </a:r>
          </a:p>
          <a:p>
            <a:pPr lvl="1" eaLnBrk="1" hangingPunct="1"/>
            <a:r>
              <a:rPr lang="en-US" altLang="en-US"/>
              <a:t>A strategy is a course of action.</a:t>
            </a:r>
          </a:p>
          <a:p>
            <a:pPr lvl="1" eaLnBrk="1" hangingPunct="1"/>
            <a:r>
              <a:rPr lang="en-US" altLang="en-US"/>
              <a:t>The company’s long-term plan for how it will balance its internal strengths and weaknesses with its external opportunities and threats to maintain a competitive advantage.</a:t>
            </a:r>
          </a:p>
        </p:txBody>
      </p:sp>
      <p:sp>
        <p:nvSpPr>
          <p:cNvPr id="11267" name="Slide Number Placeholder 4">
            <a:extLst>
              <a:ext uri="{FF2B5EF4-FFF2-40B4-BE49-F238E27FC236}">
                <a16:creationId xmlns:a16="http://schemas.microsoft.com/office/drawing/2014/main" id="{253C877D-5E99-4309-0C03-AAADD4DA624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392F2EDF-EAD3-464F-8B6D-95C766970BB6}" type="slidenum">
              <a:rPr lang="en-US" altLang="en-US" sz="1000"/>
              <a:pPr>
                <a:spcBef>
                  <a:spcPct val="0"/>
                </a:spcBef>
                <a:buClrTx/>
                <a:buSzTx/>
                <a:buFontTx/>
                <a:buNone/>
              </a:pPr>
              <a:t>18</a:t>
            </a:fld>
            <a:endParaRPr lang="en-US" altLang="en-US" sz="1000"/>
          </a:p>
        </p:txBody>
      </p:sp>
      <p:sp>
        <p:nvSpPr>
          <p:cNvPr id="319490" name="Rectangle 2">
            <a:extLst>
              <a:ext uri="{FF2B5EF4-FFF2-40B4-BE49-F238E27FC236}">
                <a16:creationId xmlns:a16="http://schemas.microsoft.com/office/drawing/2014/main" id="{0C64CA3A-A81B-1F90-1DD3-576F4B814931}"/>
              </a:ext>
            </a:extLst>
          </p:cNvPr>
          <p:cNvSpPr>
            <a:spLocks noGrp="1" noChangeArrowheads="1"/>
          </p:cNvSpPr>
          <p:nvPr>
            <p:ph type="title"/>
          </p:nvPr>
        </p:nvSpPr>
        <p:spPr/>
        <p:txBody>
          <a:bodyPr>
            <a:normAutofit/>
          </a:bodyPr>
          <a:lstStyle/>
          <a:p>
            <a:pPr>
              <a:defRPr/>
            </a:pPr>
            <a:r>
              <a:rPr lang="en-US"/>
              <a:t>The Strategic Management Process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9" name="Rectangle 3">
            <a:extLst>
              <a:ext uri="{FF2B5EF4-FFF2-40B4-BE49-F238E27FC236}">
                <a16:creationId xmlns:a16="http://schemas.microsoft.com/office/drawing/2014/main" id="{269BC115-B71E-AFFE-5335-FACF511E1215}"/>
              </a:ext>
            </a:extLst>
          </p:cNvPr>
          <p:cNvSpPr>
            <a:spLocks noGrp="1" noChangeArrowheads="1"/>
          </p:cNvSpPr>
          <p:nvPr>
            <p:ph idx="1"/>
          </p:nvPr>
        </p:nvSpPr>
        <p:spPr/>
        <p:txBody>
          <a:bodyPr>
            <a:normAutofit/>
          </a:bodyPr>
          <a:lstStyle/>
          <a:p>
            <a:pPr marL="365760" indent="-256032">
              <a:spcBef>
                <a:spcPct val="50000"/>
              </a:spcBef>
              <a:buFont typeface="Wingdings 3"/>
              <a:buChar char=""/>
              <a:tabLst>
                <a:tab pos="1828800" algn="l"/>
              </a:tabLst>
              <a:defRPr/>
            </a:pPr>
            <a:r>
              <a:rPr lang="en-US" dirty="0"/>
              <a:t>Strategic management tasks</a:t>
            </a:r>
          </a:p>
          <a:p>
            <a:pPr marL="621792" lvl="1">
              <a:spcBef>
                <a:spcPct val="50000"/>
              </a:spcBef>
              <a:buFont typeface="Verdana"/>
              <a:buChar char="◦"/>
              <a:tabLst>
                <a:tab pos="1828800" algn="l"/>
              </a:tabLst>
              <a:defRPr/>
            </a:pPr>
            <a:r>
              <a:rPr lang="en-US" dirty="0">
                <a:solidFill>
                  <a:schemeClr val="tx2"/>
                </a:solidFill>
              </a:rPr>
              <a:t>Step 1: Define the Business and Its Mission.</a:t>
            </a:r>
          </a:p>
          <a:p>
            <a:pPr marL="621792" lvl="1">
              <a:spcBef>
                <a:spcPct val="50000"/>
              </a:spcBef>
              <a:buFont typeface="Verdana"/>
              <a:buChar char="◦"/>
              <a:tabLst>
                <a:tab pos="1828800" algn="l"/>
              </a:tabLst>
              <a:defRPr/>
            </a:pPr>
            <a:r>
              <a:rPr lang="en-US" dirty="0">
                <a:solidFill>
                  <a:schemeClr val="tx2"/>
                </a:solidFill>
              </a:rPr>
              <a:t>Step 2: Perform External and Internal Audits</a:t>
            </a:r>
            <a:endParaRPr lang="en-US" dirty="0"/>
          </a:p>
          <a:p>
            <a:pPr marL="621792" lvl="1">
              <a:spcBef>
                <a:spcPct val="50000"/>
              </a:spcBef>
              <a:buFont typeface="Verdana"/>
              <a:buChar char="◦"/>
              <a:tabLst>
                <a:tab pos="1828800" algn="l"/>
              </a:tabLst>
              <a:defRPr/>
            </a:pPr>
            <a:r>
              <a:rPr lang="en-US" dirty="0">
                <a:solidFill>
                  <a:schemeClr val="tx2"/>
                </a:solidFill>
              </a:rPr>
              <a:t>Step 3: Translate the Mission into Strategic Goals</a:t>
            </a:r>
            <a:r>
              <a:rPr lang="en-US" dirty="0"/>
              <a:t>.</a:t>
            </a:r>
            <a:endParaRPr lang="en-US" i="1" dirty="0"/>
          </a:p>
          <a:p>
            <a:pPr marL="621792" lvl="1">
              <a:spcBef>
                <a:spcPct val="50000"/>
              </a:spcBef>
              <a:buFont typeface="Verdana"/>
              <a:buChar char="◦"/>
              <a:tabLst>
                <a:tab pos="1828800" algn="l"/>
              </a:tabLst>
              <a:defRPr/>
            </a:pPr>
            <a:r>
              <a:rPr lang="en-US" dirty="0">
                <a:solidFill>
                  <a:schemeClr val="tx2"/>
                </a:solidFill>
              </a:rPr>
              <a:t>Step 4: Formulate a Strategy to Achieve the Strategic Goals</a:t>
            </a:r>
            <a:r>
              <a:rPr lang="en-US" dirty="0"/>
              <a:t>. </a:t>
            </a:r>
            <a:endParaRPr lang="en-US" i="1" dirty="0"/>
          </a:p>
          <a:p>
            <a:pPr marL="621792" lvl="1">
              <a:spcBef>
                <a:spcPct val="50000"/>
              </a:spcBef>
              <a:buFont typeface="Verdana"/>
              <a:buChar char="◦"/>
              <a:tabLst>
                <a:tab pos="1828800" algn="l"/>
              </a:tabLst>
              <a:defRPr/>
            </a:pPr>
            <a:r>
              <a:rPr lang="en-US" dirty="0">
                <a:solidFill>
                  <a:schemeClr val="tx2"/>
                </a:solidFill>
              </a:rPr>
              <a:t>Step 5: Implement the Strategy.</a:t>
            </a:r>
          </a:p>
          <a:p>
            <a:pPr marL="621792" lvl="1">
              <a:spcBef>
                <a:spcPct val="50000"/>
              </a:spcBef>
              <a:buFont typeface="Verdana"/>
              <a:buChar char="◦"/>
              <a:tabLst>
                <a:tab pos="1828800" algn="l"/>
              </a:tabLst>
              <a:defRPr/>
            </a:pPr>
            <a:r>
              <a:rPr lang="en-US" dirty="0">
                <a:solidFill>
                  <a:schemeClr val="tx2"/>
                </a:solidFill>
              </a:rPr>
              <a:t>Step 6: Evaluate Performance</a:t>
            </a:r>
            <a:endParaRPr lang="en-US" sz="2200" i="1" dirty="0"/>
          </a:p>
        </p:txBody>
      </p:sp>
      <p:sp>
        <p:nvSpPr>
          <p:cNvPr id="12291" name="Slide Number Placeholder 4">
            <a:extLst>
              <a:ext uri="{FF2B5EF4-FFF2-40B4-BE49-F238E27FC236}">
                <a16:creationId xmlns:a16="http://schemas.microsoft.com/office/drawing/2014/main" id="{5E53DEEC-329B-E040-F247-AB43AECC47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3E6697C6-0848-40B7-AF0D-02274D7389E2}" type="slidenum">
              <a:rPr lang="en-US" altLang="en-US" sz="1000"/>
              <a:pPr>
                <a:spcBef>
                  <a:spcPct val="0"/>
                </a:spcBef>
                <a:buClrTx/>
                <a:buSzTx/>
                <a:buFontTx/>
                <a:buNone/>
              </a:pPr>
              <a:t>19</a:t>
            </a:fld>
            <a:endParaRPr lang="en-US" altLang="en-US" sz="1000"/>
          </a:p>
        </p:txBody>
      </p:sp>
      <p:sp>
        <p:nvSpPr>
          <p:cNvPr id="321538" name="Rectangle 2">
            <a:extLst>
              <a:ext uri="{FF2B5EF4-FFF2-40B4-BE49-F238E27FC236}">
                <a16:creationId xmlns:a16="http://schemas.microsoft.com/office/drawing/2014/main" id="{D95899D6-5A18-E5A0-B076-C2E34E4437A3}"/>
              </a:ext>
            </a:extLst>
          </p:cNvPr>
          <p:cNvSpPr>
            <a:spLocks noGrp="1" noChangeArrowheads="1"/>
          </p:cNvSpPr>
          <p:nvPr>
            <p:ph type="title"/>
          </p:nvPr>
        </p:nvSpPr>
        <p:spPr/>
        <p:txBody>
          <a:bodyPr/>
          <a:lstStyle/>
          <a:p>
            <a:pPr>
              <a:defRPr/>
            </a:pPr>
            <a:r>
              <a:rPr lang="en-US" dirty="0"/>
              <a:t>Strategic Management Process </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5CF59DF7-9661-075B-62E0-6F835F843F9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1B8E19A7-B470-4FE4-A2E4-093504AC4927}" type="slidenum">
              <a:rPr lang="en-US" altLang="en-US" sz="1000"/>
              <a:pPr>
                <a:spcBef>
                  <a:spcPct val="0"/>
                </a:spcBef>
                <a:buClrTx/>
                <a:buSzTx/>
                <a:buFontTx/>
                <a:buNone/>
              </a:pPr>
              <a:t>20</a:t>
            </a:fld>
            <a:endParaRPr lang="en-US" altLang="en-US" sz="1000"/>
          </a:p>
        </p:txBody>
      </p:sp>
      <p:sp>
        <p:nvSpPr>
          <p:cNvPr id="322562" name="Rectangle 2">
            <a:extLst>
              <a:ext uri="{FF2B5EF4-FFF2-40B4-BE49-F238E27FC236}">
                <a16:creationId xmlns:a16="http://schemas.microsoft.com/office/drawing/2014/main" id="{6D910F48-D260-4373-E68F-DA21C574FD8B}"/>
              </a:ext>
            </a:extLst>
          </p:cNvPr>
          <p:cNvSpPr>
            <a:spLocks noGrp="1" noChangeArrowheads="1"/>
          </p:cNvSpPr>
          <p:nvPr>
            <p:ph type="title"/>
          </p:nvPr>
        </p:nvSpPr>
        <p:spPr/>
        <p:txBody>
          <a:bodyPr/>
          <a:lstStyle/>
          <a:p>
            <a:pPr algn="ctr">
              <a:defRPr/>
            </a:pPr>
            <a:r>
              <a:rPr lang="en-US" sz="2800">
                <a:solidFill>
                  <a:schemeClr val="tx1"/>
                </a:solidFill>
              </a:rPr>
              <a:t>Overview of Strategic Management</a:t>
            </a:r>
          </a:p>
        </p:txBody>
      </p:sp>
      <p:pic>
        <p:nvPicPr>
          <p:cNvPr id="13316" name="Picture 4">
            <a:extLst>
              <a:ext uri="{FF2B5EF4-FFF2-40B4-BE49-F238E27FC236}">
                <a16:creationId xmlns:a16="http://schemas.microsoft.com/office/drawing/2014/main" id="{5EA3B4D9-FD25-2A1C-4FE1-B858B8EA49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5" name="Rectangle 3">
            <a:extLst>
              <a:ext uri="{FF2B5EF4-FFF2-40B4-BE49-F238E27FC236}">
                <a16:creationId xmlns:a16="http://schemas.microsoft.com/office/drawing/2014/main" id="{A99F708C-862A-CA85-E4BE-1415C300383B}"/>
              </a:ext>
            </a:extLst>
          </p:cNvPr>
          <p:cNvSpPr>
            <a:spLocks noGrp="1" noChangeArrowheads="1"/>
          </p:cNvSpPr>
          <p:nvPr>
            <p:ph idx="1"/>
          </p:nvPr>
        </p:nvSpPr>
        <p:spPr>
          <a:xfrm>
            <a:off x="1025674" y="1474948"/>
            <a:ext cx="9998884" cy="4195481"/>
          </a:xfrm>
        </p:spPr>
        <p:txBody>
          <a:bodyPr>
            <a:normAutofit lnSpcReduction="10000"/>
          </a:bodyPr>
          <a:lstStyle/>
          <a:p>
            <a:pPr marL="566928" indent="-457200">
              <a:spcBef>
                <a:spcPct val="50000"/>
              </a:spcBef>
              <a:buFont typeface="+mj-lt"/>
              <a:buAutoNum type="arabicPeriod"/>
              <a:defRPr/>
            </a:pPr>
            <a:r>
              <a:rPr lang="en-US" sz="2400" dirty="0"/>
              <a:t>Corporate-level strategy …Identifies the portfolio of businesses that, in total, comprise the company and how these businesses relate to each other.</a:t>
            </a:r>
          </a:p>
          <a:p>
            <a:pPr marL="566928" indent="-457200">
              <a:spcBef>
                <a:spcPct val="50000"/>
              </a:spcBef>
              <a:buFont typeface="+mj-lt"/>
              <a:buAutoNum type="arabicPeriod"/>
              <a:defRPr/>
            </a:pPr>
            <a:r>
              <a:rPr lang="en-US" sz="2400" b="1" dirty="0"/>
              <a:t>Diversification strategy</a:t>
            </a:r>
            <a:r>
              <a:rPr lang="en-US" sz="2400" dirty="0"/>
              <a:t> implies that the firm will expand by adding new product lines. </a:t>
            </a:r>
          </a:p>
          <a:p>
            <a:pPr marL="566928" indent="-457200">
              <a:spcBef>
                <a:spcPct val="50000"/>
              </a:spcBef>
              <a:buFont typeface="+mj-lt"/>
              <a:buAutoNum type="arabicPeriod"/>
              <a:defRPr/>
            </a:pPr>
            <a:r>
              <a:rPr lang="en-US" sz="2400" b="1" dirty="0"/>
              <a:t>Vertical integration strategy</a:t>
            </a:r>
            <a:r>
              <a:rPr lang="en-US" sz="2400" dirty="0"/>
              <a:t> means the firm expands by, perhaps, producing its own raw materials, or selling its products directly</a:t>
            </a:r>
          </a:p>
          <a:p>
            <a:pPr marL="566928" indent="-457200">
              <a:spcBef>
                <a:spcPct val="50000"/>
              </a:spcBef>
              <a:buFont typeface="+mj-lt"/>
              <a:buAutoNum type="arabicPeriod"/>
              <a:defRPr/>
            </a:pPr>
            <a:r>
              <a:rPr lang="en-US" sz="2400" b="1" dirty="0"/>
              <a:t>Consolidation strategy</a:t>
            </a:r>
            <a:r>
              <a:rPr lang="en-US" sz="2400" dirty="0"/>
              <a:t> reduces the company’s size.</a:t>
            </a:r>
          </a:p>
          <a:p>
            <a:pPr marL="566928" indent="-457200">
              <a:spcBef>
                <a:spcPct val="50000"/>
              </a:spcBef>
              <a:buFont typeface="+mj-lt"/>
              <a:buAutoNum type="arabicPeriod"/>
              <a:defRPr/>
            </a:pPr>
            <a:r>
              <a:rPr lang="en-US" sz="2400" b="1" dirty="0"/>
              <a:t>Geographic expansion strategy</a:t>
            </a:r>
            <a:r>
              <a:rPr lang="en-US" sz="2400" dirty="0"/>
              <a:t> takes the company abroad.</a:t>
            </a:r>
          </a:p>
        </p:txBody>
      </p:sp>
      <p:sp>
        <p:nvSpPr>
          <p:cNvPr id="14340" name="Slide Number Placeholder 4">
            <a:extLst>
              <a:ext uri="{FF2B5EF4-FFF2-40B4-BE49-F238E27FC236}">
                <a16:creationId xmlns:a16="http://schemas.microsoft.com/office/drawing/2014/main" id="{D58E4DB4-3CAC-53D9-D6C6-CA7AAE0E0F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86D3C8E3-236F-4B6F-A926-9062243403EE}" type="slidenum">
              <a:rPr lang="en-US" altLang="en-US" sz="1000"/>
              <a:pPr>
                <a:spcBef>
                  <a:spcPct val="0"/>
                </a:spcBef>
                <a:buClrTx/>
                <a:buSzTx/>
                <a:buFontTx/>
                <a:buNone/>
              </a:pPr>
              <a:t>21</a:t>
            </a:fld>
            <a:endParaRPr lang="en-US" altLang="en-US" sz="1000"/>
          </a:p>
        </p:txBody>
      </p:sp>
      <p:sp>
        <p:nvSpPr>
          <p:cNvPr id="325634" name="Rectangle 2">
            <a:extLst>
              <a:ext uri="{FF2B5EF4-FFF2-40B4-BE49-F238E27FC236}">
                <a16:creationId xmlns:a16="http://schemas.microsoft.com/office/drawing/2014/main" id="{F061E946-EC95-7B80-97F1-B2A378563A27}"/>
              </a:ext>
            </a:extLst>
          </p:cNvPr>
          <p:cNvSpPr>
            <a:spLocks noGrp="1" noChangeArrowheads="1"/>
          </p:cNvSpPr>
          <p:nvPr>
            <p:ph type="title"/>
          </p:nvPr>
        </p:nvSpPr>
        <p:spPr/>
        <p:txBody>
          <a:bodyPr/>
          <a:lstStyle/>
          <a:p>
            <a:pPr>
              <a:defRPr/>
            </a:pPr>
            <a:r>
              <a:rPr lang="en-US"/>
              <a:t>Types of Strategic Planning</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3" name="Rectangle 3">
            <a:extLst>
              <a:ext uri="{FF2B5EF4-FFF2-40B4-BE49-F238E27FC236}">
                <a16:creationId xmlns:a16="http://schemas.microsoft.com/office/drawing/2014/main" id="{3B26A3DA-A218-54FC-57A9-27937B6E63FF}"/>
              </a:ext>
            </a:extLst>
          </p:cNvPr>
          <p:cNvSpPr>
            <a:spLocks noGrp="1" noChangeArrowheads="1"/>
          </p:cNvSpPr>
          <p:nvPr>
            <p:ph idx="1"/>
          </p:nvPr>
        </p:nvSpPr>
        <p:spPr>
          <a:xfrm>
            <a:off x="1972087" y="1783062"/>
            <a:ext cx="8229600" cy="2252662"/>
          </a:xfrm>
        </p:spPr>
        <p:txBody>
          <a:bodyPr>
            <a:normAutofit/>
          </a:bodyPr>
          <a:lstStyle/>
          <a:p>
            <a:pPr marL="621792" lvl="1">
              <a:spcBef>
                <a:spcPct val="40000"/>
              </a:spcBef>
              <a:buFont typeface="Verdana"/>
              <a:buChar char="◦"/>
              <a:defRPr/>
            </a:pPr>
            <a:r>
              <a:rPr lang="en-US" dirty="0"/>
              <a:t>The linking of HRM with strategic goals and objectives in order to improve business performance and develop organizational cultures that foster innovation and flexibility.</a:t>
            </a:r>
          </a:p>
          <a:p>
            <a:pPr marL="621792" lvl="1">
              <a:spcBef>
                <a:spcPct val="40000"/>
              </a:spcBef>
              <a:buFont typeface="Verdana"/>
              <a:buChar char="◦"/>
              <a:defRPr/>
            </a:pPr>
            <a:r>
              <a:rPr lang="en-US" dirty="0"/>
              <a:t>Formulating and executing HR systems—HR policies and activities—that produce the employee competencies and behaviors the company needs to achieve its strategic aims.</a:t>
            </a:r>
          </a:p>
        </p:txBody>
      </p:sp>
      <p:sp>
        <p:nvSpPr>
          <p:cNvPr id="17411" name="Slide Number Placeholder 4">
            <a:extLst>
              <a:ext uri="{FF2B5EF4-FFF2-40B4-BE49-F238E27FC236}">
                <a16:creationId xmlns:a16="http://schemas.microsoft.com/office/drawing/2014/main" id="{BB295C62-FA36-51CA-C1EC-6F3EAD225B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52ABBF2B-8679-4DF2-A584-C739BE1BA9C6}" type="slidenum">
              <a:rPr lang="en-US" altLang="en-US" sz="1000"/>
              <a:pPr>
                <a:spcBef>
                  <a:spcPct val="0"/>
                </a:spcBef>
                <a:buClrTx/>
                <a:buSzTx/>
                <a:buFontTx/>
                <a:buNone/>
              </a:pPr>
              <a:t>22</a:t>
            </a:fld>
            <a:endParaRPr lang="en-US" altLang="en-US" sz="1000"/>
          </a:p>
        </p:txBody>
      </p:sp>
      <p:sp>
        <p:nvSpPr>
          <p:cNvPr id="332802" name="Rectangle 2">
            <a:extLst>
              <a:ext uri="{FF2B5EF4-FFF2-40B4-BE49-F238E27FC236}">
                <a16:creationId xmlns:a16="http://schemas.microsoft.com/office/drawing/2014/main" id="{1F96EF92-FB4B-6397-F693-4813D3033379}"/>
              </a:ext>
            </a:extLst>
          </p:cNvPr>
          <p:cNvSpPr>
            <a:spLocks noGrp="1" noChangeArrowheads="1"/>
          </p:cNvSpPr>
          <p:nvPr>
            <p:ph type="title"/>
          </p:nvPr>
        </p:nvSpPr>
        <p:spPr/>
        <p:txBody>
          <a:bodyPr>
            <a:normAutofit/>
          </a:bodyPr>
          <a:lstStyle/>
          <a:p>
            <a:pPr>
              <a:defRPr/>
            </a:pPr>
            <a:r>
              <a:rPr lang="en-US"/>
              <a:t>Strategic Human Resource Management</a:t>
            </a:r>
          </a:p>
        </p:txBody>
      </p:sp>
      <p:sp>
        <p:nvSpPr>
          <p:cNvPr id="17413" name="Rectangle 5">
            <a:extLst>
              <a:ext uri="{FF2B5EF4-FFF2-40B4-BE49-F238E27FC236}">
                <a16:creationId xmlns:a16="http://schemas.microsoft.com/office/drawing/2014/main" id="{F271BFDC-17B2-2AFF-337E-31A2E2F84CDC}"/>
              </a:ext>
            </a:extLst>
          </p:cNvPr>
          <p:cNvSpPr txBox="1">
            <a:spLocks noChangeArrowheads="1"/>
          </p:cNvSpPr>
          <p:nvPr/>
        </p:nvSpPr>
        <p:spPr bwMode="auto">
          <a:xfrm>
            <a:off x="1981200" y="3810000"/>
            <a:ext cx="82296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620713" indent="-22860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eaLnBrk="1" hangingPunct="1">
              <a:buFontTx/>
              <a:buNone/>
            </a:pPr>
            <a:r>
              <a:rPr lang="en-US" altLang="en-US"/>
              <a:t>HR and Competitive advantage</a:t>
            </a:r>
          </a:p>
          <a:p>
            <a:pPr lvl="1" eaLnBrk="1" hangingPunct="1"/>
            <a:r>
              <a:rPr lang="en-US" altLang="en-US" sz="2000"/>
              <a:t>Any factors that allow an organization to differentiate its product or service from those of its competitors to increase market share.</a:t>
            </a:r>
          </a:p>
          <a:p>
            <a:pPr lvl="1" eaLnBrk="1" hangingPunct="1"/>
            <a:r>
              <a:rPr lang="en-US" altLang="en-US" sz="2000"/>
              <a:t>Superior human resources are an important source of competitive advantage</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F38D0036-326F-36EA-461F-7944E2D79CE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5ADEAEC1-B446-4BC4-9A58-8E913F56B1EF}" type="slidenum">
              <a:rPr lang="en-US" altLang="en-US" sz="1000"/>
              <a:pPr>
                <a:spcBef>
                  <a:spcPct val="0"/>
                </a:spcBef>
                <a:buClrTx/>
                <a:buSzTx/>
                <a:buFontTx/>
                <a:buNone/>
              </a:pPr>
              <a:t>23</a:t>
            </a:fld>
            <a:endParaRPr lang="en-US" altLang="en-US" sz="1000"/>
          </a:p>
        </p:txBody>
      </p:sp>
      <p:sp>
        <p:nvSpPr>
          <p:cNvPr id="333826" name="Rectangle 2">
            <a:extLst>
              <a:ext uri="{FF2B5EF4-FFF2-40B4-BE49-F238E27FC236}">
                <a16:creationId xmlns:a16="http://schemas.microsoft.com/office/drawing/2014/main" id="{557F75EE-140F-1E1B-6DFE-14445F999BA8}"/>
              </a:ext>
            </a:extLst>
          </p:cNvPr>
          <p:cNvSpPr>
            <a:spLocks noGrp="1" noChangeArrowheads="1"/>
          </p:cNvSpPr>
          <p:nvPr>
            <p:ph type="title" idx="4294967295"/>
          </p:nvPr>
        </p:nvSpPr>
        <p:spPr>
          <a:xfrm>
            <a:off x="1524000" y="274638"/>
            <a:ext cx="8229600" cy="868362"/>
          </a:xfrm>
        </p:spPr>
        <p:txBody>
          <a:bodyPr/>
          <a:lstStyle/>
          <a:p>
            <a:pPr algn="ctr">
              <a:defRPr/>
            </a:pPr>
            <a:r>
              <a:rPr lang="en-US" sz="2800" dirty="0">
                <a:solidFill>
                  <a:schemeClr val="tx1"/>
                </a:solidFill>
              </a:rPr>
              <a:t>Linking Corporate and HR Strategies</a:t>
            </a:r>
          </a:p>
        </p:txBody>
      </p:sp>
      <p:sp>
        <p:nvSpPr>
          <p:cNvPr id="18436" name="Text Box 3">
            <a:extLst>
              <a:ext uri="{FF2B5EF4-FFF2-40B4-BE49-F238E27FC236}">
                <a16:creationId xmlns:a16="http://schemas.microsoft.com/office/drawing/2014/main" id="{67DCF4C5-CBE4-DD9B-0221-B0C163E2D342}"/>
              </a:ext>
            </a:extLst>
          </p:cNvPr>
          <p:cNvSpPr txBox="1">
            <a:spLocks noChangeArrowheads="1"/>
          </p:cNvSpPr>
          <p:nvPr/>
        </p:nvSpPr>
        <p:spPr bwMode="auto">
          <a:xfrm>
            <a:off x="7832725" y="61722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lgn="r" eaLnBrk="1" hangingPunct="1">
              <a:spcBef>
                <a:spcPct val="50000"/>
              </a:spcBef>
              <a:buClrTx/>
              <a:buSzTx/>
              <a:buFontTx/>
              <a:buNone/>
            </a:pPr>
            <a:r>
              <a:rPr lang="en-US" altLang="en-US" sz="1200"/>
              <a:t>Figure 3–6 </a:t>
            </a:r>
          </a:p>
        </p:txBody>
      </p:sp>
      <p:pic>
        <p:nvPicPr>
          <p:cNvPr id="18437" name="Picture 4">
            <a:extLst>
              <a:ext uri="{FF2B5EF4-FFF2-40B4-BE49-F238E27FC236}">
                <a16:creationId xmlns:a16="http://schemas.microsoft.com/office/drawing/2014/main" id="{763C652B-5645-925A-AD1E-506293644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4300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044F627A-2728-E8B7-67EC-3A4B142F4CE0}"/>
              </a:ext>
            </a:extLst>
          </p:cNvPr>
          <p:cNvSpPr>
            <a:spLocks noGrp="1" noChangeArrowheads="1"/>
          </p:cNvSpPr>
          <p:nvPr>
            <p:ph idx="1"/>
          </p:nvPr>
        </p:nvSpPr>
        <p:spPr/>
        <p:txBody>
          <a:bodyPr/>
          <a:lstStyle/>
          <a:p>
            <a:pPr eaLnBrk="1" hangingPunct="1">
              <a:spcBef>
                <a:spcPct val="35000"/>
              </a:spcBef>
            </a:pPr>
            <a:r>
              <a:rPr lang="en-US" altLang="en-US"/>
              <a:t>HR professionals should be part of the firm’s strategic planning executive team.</a:t>
            </a:r>
          </a:p>
          <a:p>
            <a:pPr lvl="1" eaLnBrk="1" hangingPunct="1">
              <a:spcBef>
                <a:spcPct val="35000"/>
              </a:spcBef>
            </a:pPr>
            <a:r>
              <a:rPr lang="en-US" altLang="en-US"/>
              <a:t>Identify the human issues that are vital to business strategy.</a:t>
            </a:r>
          </a:p>
          <a:p>
            <a:pPr lvl="1" eaLnBrk="1" hangingPunct="1">
              <a:spcBef>
                <a:spcPct val="35000"/>
              </a:spcBef>
            </a:pPr>
            <a:r>
              <a:rPr lang="en-US" altLang="en-US"/>
              <a:t>Help establish and execute strategy.</a:t>
            </a:r>
          </a:p>
          <a:p>
            <a:pPr lvl="1" eaLnBrk="1" hangingPunct="1">
              <a:spcBef>
                <a:spcPct val="35000"/>
              </a:spcBef>
            </a:pPr>
            <a:r>
              <a:rPr lang="en-US" altLang="en-US"/>
              <a:t>Provide alternative insights.</a:t>
            </a:r>
          </a:p>
          <a:p>
            <a:pPr lvl="1" eaLnBrk="1" hangingPunct="1">
              <a:spcBef>
                <a:spcPct val="35000"/>
              </a:spcBef>
            </a:pPr>
            <a:r>
              <a:rPr lang="en-US" altLang="en-US"/>
              <a:t>Are centrally involved in creating responsive and market-driven organizations. </a:t>
            </a:r>
          </a:p>
          <a:p>
            <a:pPr lvl="1" eaLnBrk="1" hangingPunct="1">
              <a:spcBef>
                <a:spcPct val="35000"/>
              </a:spcBef>
            </a:pPr>
            <a:r>
              <a:rPr lang="en-US" altLang="en-US"/>
              <a:t>Conceptualize and execute organizational change.</a:t>
            </a:r>
          </a:p>
        </p:txBody>
      </p:sp>
      <p:sp>
        <p:nvSpPr>
          <p:cNvPr id="19459" name="Slide Number Placeholder 4">
            <a:extLst>
              <a:ext uri="{FF2B5EF4-FFF2-40B4-BE49-F238E27FC236}">
                <a16:creationId xmlns:a16="http://schemas.microsoft.com/office/drawing/2014/main" id="{A02FBF8C-ED14-8A2E-4501-FBAC2C943C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61B6A96C-9D4C-4BCF-A687-8AAD50AFCFFA}" type="slidenum">
              <a:rPr lang="en-US" altLang="en-US" sz="1000"/>
              <a:pPr>
                <a:spcBef>
                  <a:spcPct val="0"/>
                </a:spcBef>
                <a:buClrTx/>
                <a:buSzTx/>
                <a:buFontTx/>
                <a:buNone/>
              </a:pPr>
              <a:t>24</a:t>
            </a:fld>
            <a:endParaRPr lang="en-US" altLang="en-US" sz="1000"/>
          </a:p>
        </p:txBody>
      </p:sp>
      <p:sp>
        <p:nvSpPr>
          <p:cNvPr id="334850" name="Rectangle 2">
            <a:extLst>
              <a:ext uri="{FF2B5EF4-FFF2-40B4-BE49-F238E27FC236}">
                <a16:creationId xmlns:a16="http://schemas.microsoft.com/office/drawing/2014/main" id="{6CFD39C9-CC19-3203-3D87-B519957A9171}"/>
              </a:ext>
            </a:extLst>
          </p:cNvPr>
          <p:cNvSpPr>
            <a:spLocks noGrp="1" noChangeArrowheads="1"/>
          </p:cNvSpPr>
          <p:nvPr>
            <p:ph type="title"/>
          </p:nvPr>
        </p:nvSpPr>
        <p:spPr/>
        <p:txBody>
          <a:bodyPr/>
          <a:lstStyle/>
          <a:p>
            <a:pPr>
              <a:defRPr/>
            </a:pPr>
            <a:r>
              <a:rPr lang="en-US"/>
              <a:t>HR’S Strategic Roles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137C92A2-7DB1-DC77-889A-C8F821144657}"/>
              </a:ext>
            </a:extLst>
          </p:cNvPr>
          <p:cNvSpPr>
            <a:spLocks noGrp="1" noChangeArrowheads="1"/>
          </p:cNvSpPr>
          <p:nvPr>
            <p:ph idx="1"/>
          </p:nvPr>
        </p:nvSpPr>
        <p:spPr/>
        <p:txBody>
          <a:bodyPr/>
          <a:lstStyle/>
          <a:p>
            <a:pPr eaLnBrk="1" hangingPunct="1">
              <a:spcBef>
                <a:spcPct val="50000"/>
              </a:spcBef>
            </a:pPr>
            <a:r>
              <a:rPr lang="en-US" altLang="en-US"/>
              <a:t>The HR department’s strategies, policies, and activities must make sense in terms of the company’s corporate and competitive strategies, and they must support those strategies.</a:t>
            </a:r>
          </a:p>
        </p:txBody>
      </p:sp>
      <p:sp>
        <p:nvSpPr>
          <p:cNvPr id="20483" name="Slide Number Placeholder 4">
            <a:extLst>
              <a:ext uri="{FF2B5EF4-FFF2-40B4-BE49-F238E27FC236}">
                <a16:creationId xmlns:a16="http://schemas.microsoft.com/office/drawing/2014/main" id="{D9F80B46-CC26-AE48-6929-717CDB3B8D2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B423DBD2-EA6E-4817-A31C-D001D2D4782C}" type="slidenum">
              <a:rPr lang="en-US" altLang="en-US" sz="1000"/>
              <a:pPr>
                <a:spcBef>
                  <a:spcPct val="0"/>
                </a:spcBef>
                <a:buClrTx/>
                <a:buSzTx/>
                <a:buFontTx/>
                <a:buNone/>
              </a:pPr>
              <a:t>25</a:t>
            </a:fld>
            <a:endParaRPr lang="en-US" altLang="en-US" sz="1000"/>
          </a:p>
        </p:txBody>
      </p:sp>
      <p:sp>
        <p:nvSpPr>
          <p:cNvPr id="336898" name="Rectangle 2">
            <a:extLst>
              <a:ext uri="{FF2B5EF4-FFF2-40B4-BE49-F238E27FC236}">
                <a16:creationId xmlns:a16="http://schemas.microsoft.com/office/drawing/2014/main" id="{C7F3C2E4-704F-8D18-B2F4-0A80C7B1FBAC}"/>
              </a:ext>
            </a:extLst>
          </p:cNvPr>
          <p:cNvSpPr>
            <a:spLocks noGrp="1" noChangeArrowheads="1"/>
          </p:cNvSpPr>
          <p:nvPr>
            <p:ph type="title"/>
          </p:nvPr>
        </p:nvSpPr>
        <p:spPr/>
        <p:txBody>
          <a:bodyPr/>
          <a:lstStyle/>
          <a:p>
            <a:pPr>
              <a:defRPr/>
            </a:pPr>
            <a:r>
              <a:rPr lang="en-US"/>
              <a:t>HR’s Strategy Execution Role</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A888D407-D5F8-A069-82BA-F6BEAF03314F}"/>
              </a:ext>
            </a:extLst>
          </p:cNvPr>
          <p:cNvSpPr>
            <a:spLocks noGrp="1" noChangeArrowheads="1"/>
          </p:cNvSpPr>
          <p:nvPr>
            <p:ph idx="1"/>
          </p:nvPr>
        </p:nvSpPr>
        <p:spPr/>
        <p:txBody>
          <a:bodyPr/>
          <a:lstStyle/>
          <a:p>
            <a:pPr eaLnBrk="1" hangingPunct="1"/>
            <a:r>
              <a:rPr lang="en-US" altLang="en-US"/>
              <a:t>HR helps top management formulate strategy in a variety of ways by.</a:t>
            </a:r>
          </a:p>
          <a:p>
            <a:pPr lvl="1" eaLnBrk="1" hangingPunct="1"/>
            <a:r>
              <a:rPr lang="en-US" altLang="en-US"/>
              <a:t>Supplying competitive intelligence that may be useful in the strategic planning process.</a:t>
            </a:r>
          </a:p>
          <a:p>
            <a:pPr lvl="1" eaLnBrk="1" hangingPunct="1"/>
            <a:r>
              <a:rPr lang="en-US" altLang="en-US"/>
              <a:t>Supplying information regarding the company’s internal human strengths and weaknesses.</a:t>
            </a:r>
          </a:p>
          <a:p>
            <a:pPr lvl="1" eaLnBrk="1" hangingPunct="1"/>
            <a:r>
              <a:rPr lang="en-US" altLang="en-US"/>
              <a:t>Build a persuasive case that shows how—in specific and measurable terms—the firm’s HR activities can and do contribute to creating value for the company.</a:t>
            </a:r>
            <a:endParaRPr lang="en-US" altLang="en-US" i="1"/>
          </a:p>
        </p:txBody>
      </p:sp>
      <p:sp>
        <p:nvSpPr>
          <p:cNvPr id="21507" name="Slide Number Placeholder 4">
            <a:extLst>
              <a:ext uri="{FF2B5EF4-FFF2-40B4-BE49-F238E27FC236}">
                <a16:creationId xmlns:a16="http://schemas.microsoft.com/office/drawing/2014/main" id="{38EF4024-EB84-B93D-96AD-D562D332836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4E4658E8-BF93-482E-BE1D-3EB4FCADDF64}" type="slidenum">
              <a:rPr lang="en-US" altLang="en-US" sz="1000"/>
              <a:pPr>
                <a:spcBef>
                  <a:spcPct val="0"/>
                </a:spcBef>
                <a:buClrTx/>
                <a:buSzTx/>
                <a:buFontTx/>
                <a:buNone/>
              </a:pPr>
              <a:t>26</a:t>
            </a:fld>
            <a:endParaRPr lang="en-US" altLang="en-US" sz="1000"/>
          </a:p>
        </p:txBody>
      </p:sp>
      <p:sp>
        <p:nvSpPr>
          <p:cNvPr id="337922" name="Rectangle 2">
            <a:extLst>
              <a:ext uri="{FF2B5EF4-FFF2-40B4-BE49-F238E27FC236}">
                <a16:creationId xmlns:a16="http://schemas.microsoft.com/office/drawing/2014/main" id="{12F6EC2F-6EC8-78B2-7029-9DC2BA792FDE}"/>
              </a:ext>
            </a:extLst>
          </p:cNvPr>
          <p:cNvSpPr>
            <a:spLocks noGrp="1" noChangeArrowheads="1"/>
          </p:cNvSpPr>
          <p:nvPr>
            <p:ph type="title"/>
          </p:nvPr>
        </p:nvSpPr>
        <p:spPr/>
        <p:txBody>
          <a:bodyPr/>
          <a:lstStyle/>
          <a:p>
            <a:pPr>
              <a:defRPr/>
            </a:pPr>
            <a:r>
              <a:rPr lang="en-US"/>
              <a:t>HR’s Strategy Formulation Role</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AB622FF6-AF5C-1FAD-F9A3-1923CBB9EB0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B7A2CB2E-CA8C-4CB1-B688-3E3A7DBA0B2F}" type="slidenum">
              <a:rPr lang="en-US" altLang="en-US" sz="1000"/>
              <a:pPr>
                <a:spcBef>
                  <a:spcPct val="0"/>
                </a:spcBef>
                <a:buClrTx/>
                <a:buSzTx/>
                <a:buFontTx/>
                <a:buNone/>
              </a:pPr>
              <a:t>27</a:t>
            </a:fld>
            <a:endParaRPr lang="en-US" altLang="en-US" sz="1000"/>
          </a:p>
        </p:txBody>
      </p:sp>
      <p:sp>
        <p:nvSpPr>
          <p:cNvPr id="342018" name="Rectangle 2">
            <a:extLst>
              <a:ext uri="{FF2B5EF4-FFF2-40B4-BE49-F238E27FC236}">
                <a16:creationId xmlns:a16="http://schemas.microsoft.com/office/drawing/2014/main" id="{BF5BD386-DB01-FBFF-8512-B119DB46691B}"/>
              </a:ext>
            </a:extLst>
          </p:cNvPr>
          <p:cNvSpPr>
            <a:spLocks noGrp="1" noChangeArrowheads="1"/>
          </p:cNvSpPr>
          <p:nvPr>
            <p:ph type="title" idx="4294967295"/>
          </p:nvPr>
        </p:nvSpPr>
        <p:spPr>
          <a:xfrm>
            <a:off x="1524000" y="2743200"/>
            <a:ext cx="2789238" cy="2773362"/>
          </a:xfrm>
        </p:spPr>
        <p:txBody>
          <a:bodyPr/>
          <a:lstStyle/>
          <a:p>
            <a:pPr>
              <a:defRPr/>
            </a:pPr>
            <a:r>
              <a:rPr lang="en-US" sz="2400" dirty="0">
                <a:solidFill>
                  <a:schemeClr val="tx1"/>
                </a:solidFill>
              </a:rPr>
              <a:t>Basic Model of How to Align</a:t>
            </a:r>
            <a:br>
              <a:rPr lang="en-US" sz="2400" dirty="0">
                <a:solidFill>
                  <a:schemeClr val="tx1"/>
                </a:solidFill>
              </a:rPr>
            </a:br>
            <a:r>
              <a:rPr lang="en-US" sz="2400" dirty="0">
                <a:solidFill>
                  <a:schemeClr val="tx1"/>
                </a:solidFill>
              </a:rPr>
              <a:t>HR Strategy </a:t>
            </a:r>
            <a:br>
              <a:rPr lang="en-US" sz="2400" dirty="0">
                <a:solidFill>
                  <a:schemeClr val="tx1"/>
                </a:solidFill>
              </a:rPr>
            </a:br>
            <a:r>
              <a:rPr lang="en-US" sz="2400" dirty="0">
                <a:solidFill>
                  <a:schemeClr val="tx1"/>
                </a:solidFill>
              </a:rPr>
              <a:t>and Actions</a:t>
            </a:r>
            <a:br>
              <a:rPr lang="en-US" sz="2400" dirty="0">
                <a:solidFill>
                  <a:schemeClr val="tx1"/>
                </a:solidFill>
              </a:rPr>
            </a:br>
            <a:r>
              <a:rPr lang="en-US" sz="2400" dirty="0">
                <a:solidFill>
                  <a:schemeClr val="tx1"/>
                </a:solidFill>
              </a:rPr>
              <a:t>with Business Strategy</a:t>
            </a:r>
          </a:p>
        </p:txBody>
      </p:sp>
      <p:pic>
        <p:nvPicPr>
          <p:cNvPr id="22532" name="Picture 4">
            <a:extLst>
              <a:ext uri="{FF2B5EF4-FFF2-40B4-BE49-F238E27FC236}">
                <a16:creationId xmlns:a16="http://schemas.microsoft.com/office/drawing/2014/main" id="{A001361F-79C8-9F03-B36A-AF75FD9B1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0"/>
            <a:ext cx="5410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6">
            <a:extLst>
              <a:ext uri="{FF2B5EF4-FFF2-40B4-BE49-F238E27FC236}">
                <a16:creationId xmlns:a16="http://schemas.microsoft.com/office/drawing/2014/main" id="{E61AB277-E752-B879-4E48-5C4493202A84}"/>
              </a:ext>
            </a:extLst>
          </p:cNvPr>
          <p:cNvSpPr>
            <a:spLocks noChangeArrowheads="1"/>
          </p:cNvSpPr>
          <p:nvPr/>
        </p:nvSpPr>
        <p:spPr bwMode="blackWhite">
          <a:xfrm>
            <a:off x="2198689" y="960438"/>
            <a:ext cx="26177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82880" anchor="ct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eaLnBrk="1" hangingPunct="1">
              <a:spcBef>
                <a:spcPct val="0"/>
              </a:spcBef>
              <a:buClrTx/>
              <a:buSzTx/>
              <a:buFontTx/>
              <a:buNone/>
            </a:pPr>
            <a:r>
              <a:rPr lang="en-US" altLang="en-US" sz="3200">
                <a:solidFill>
                  <a:srgbClr val="800080"/>
                </a:solidFill>
                <a:latin typeface="Tahoma" panose="020B0604030504040204" pitchFamily="34" charset="0"/>
              </a:rPr>
              <a:t>Translating Strategy into HR Policy and Practice</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5405-F769-B12D-7569-52BA9D859A13}"/>
              </a:ext>
            </a:extLst>
          </p:cNvPr>
          <p:cNvSpPr>
            <a:spLocks noGrp="1"/>
          </p:cNvSpPr>
          <p:nvPr>
            <p:ph type="title"/>
          </p:nvPr>
        </p:nvSpPr>
        <p:spPr>
          <a:xfrm>
            <a:off x="1981200" y="304800"/>
            <a:ext cx="8229600" cy="1371600"/>
          </a:xfrm>
          <a:solidFill>
            <a:schemeClr val="bg1"/>
          </a:solidFill>
        </p:spPr>
        <p:style>
          <a:lnRef idx="0">
            <a:schemeClr val="accent6"/>
          </a:lnRef>
          <a:fillRef idx="3">
            <a:schemeClr val="accent6"/>
          </a:fillRef>
          <a:effectRef idx="3">
            <a:schemeClr val="accent6"/>
          </a:effectRef>
          <a:fontRef idx="minor">
            <a:schemeClr val="lt1"/>
          </a:fontRef>
        </p:style>
        <p:txBody>
          <a:bodyPr/>
          <a:lstStyle/>
          <a:p>
            <a:pPr algn="ctr">
              <a:defRPr/>
            </a:pPr>
            <a:r>
              <a:rPr lang="en-US" dirty="0">
                <a:solidFill>
                  <a:schemeClr val="tx1"/>
                </a:solidFill>
                <a:latin typeface="Baskerville Old Face" pitchFamily="18" charset="0"/>
              </a:rPr>
              <a:t>THREE IMPORTANT STRATEGIC HR TOOLS</a:t>
            </a:r>
          </a:p>
        </p:txBody>
      </p:sp>
      <p:pic>
        <p:nvPicPr>
          <p:cNvPr id="24579" name="Picture 2" descr="C:\Users\PGDM-2011\Desktop\online-tools-business-should-be-using.jpg">
            <a:extLst>
              <a:ext uri="{FF2B5EF4-FFF2-40B4-BE49-F238E27FC236}">
                <a16:creationId xmlns:a16="http://schemas.microsoft.com/office/drawing/2014/main" id="{67B7283C-CA4C-C068-4D9C-D598359F9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752600"/>
            <a:ext cx="8763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B8BCF-00B6-6ED6-2A30-5C40F40D2D3C}"/>
              </a:ext>
            </a:extLst>
          </p:cNvPr>
          <p:cNvSpPr>
            <a:spLocks noGrp="1"/>
          </p:cNvSpPr>
          <p:nvPr>
            <p:ph sz="half" idx="4294967295"/>
          </p:nvPr>
        </p:nvSpPr>
        <p:spPr>
          <a:xfrm>
            <a:off x="1524000" y="1066800"/>
            <a:ext cx="9144000" cy="5791200"/>
          </a:xfrm>
          <a:solidFill>
            <a:schemeClr val="bg1"/>
          </a:solidFill>
        </p:spPr>
        <p:style>
          <a:lnRef idx="1">
            <a:schemeClr val="accent6"/>
          </a:lnRef>
          <a:fillRef idx="2">
            <a:schemeClr val="accent6"/>
          </a:fillRef>
          <a:effectRef idx="1">
            <a:schemeClr val="accent6"/>
          </a:effectRef>
          <a:fontRef idx="minor">
            <a:schemeClr val="dk1"/>
          </a:fontRef>
        </p:style>
        <p:txBody>
          <a:bodyPr>
            <a:normAutofit/>
          </a:bodyPr>
          <a:lstStyle/>
          <a:p>
            <a:pPr>
              <a:defRPr/>
            </a:pPr>
            <a:endParaRPr lang="en-US" dirty="0">
              <a:solidFill>
                <a:schemeClr val="tx1"/>
              </a:solidFill>
            </a:endParaRPr>
          </a:p>
          <a:p>
            <a:pPr>
              <a:defRPr/>
            </a:pPr>
            <a:r>
              <a:rPr lang="en-US" dirty="0">
                <a:solidFill>
                  <a:schemeClr val="tx1"/>
                </a:solidFill>
              </a:rPr>
              <a:t>Graphical tool that summarizes the chain of activities that contribute to the company’s success, and shows employees the “big picture” of how their performance contributes to achieving the company’s overall strategic goals.</a:t>
            </a:r>
          </a:p>
        </p:txBody>
      </p:sp>
      <p:sp>
        <p:nvSpPr>
          <p:cNvPr id="2" name="Title 1">
            <a:extLst>
              <a:ext uri="{FF2B5EF4-FFF2-40B4-BE49-F238E27FC236}">
                <a16:creationId xmlns:a16="http://schemas.microsoft.com/office/drawing/2014/main" id="{1E5C9418-268B-5AEA-FBBC-99B40B2945DE}"/>
              </a:ext>
            </a:extLst>
          </p:cNvPr>
          <p:cNvSpPr>
            <a:spLocks noGrp="1"/>
          </p:cNvSpPr>
          <p:nvPr>
            <p:ph type="title" idx="4294967295"/>
          </p:nvPr>
        </p:nvSpPr>
        <p:spPr>
          <a:xfrm>
            <a:off x="1524000" y="0"/>
            <a:ext cx="9144000" cy="1143000"/>
          </a:xfrm>
          <a:solidFill>
            <a:schemeClr val="bg1"/>
          </a:solidFill>
        </p:spPr>
        <p:style>
          <a:lnRef idx="0">
            <a:schemeClr val="accent6"/>
          </a:lnRef>
          <a:fillRef idx="3">
            <a:schemeClr val="accent6"/>
          </a:fillRef>
          <a:effectRef idx="3">
            <a:schemeClr val="accent6"/>
          </a:effectRef>
          <a:fontRef idx="minor">
            <a:schemeClr val="lt1"/>
          </a:fontRef>
        </p:style>
        <p:txBody>
          <a:bodyPr/>
          <a:lstStyle/>
          <a:p>
            <a:pPr algn="ctr">
              <a:defRPr/>
            </a:pPr>
            <a:r>
              <a:rPr lang="en-US" b="0" dirty="0">
                <a:solidFill>
                  <a:schemeClr val="tx1"/>
                </a:solidFill>
                <a:latin typeface="Baskerville Old Face" pitchFamily="18" charset="0"/>
              </a:rPr>
              <a:t>1. STARTEGY MAP</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EA8FF95B-A2D0-1F17-C3B9-9C5FA1187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1A41-C992-1D2F-377E-9AD494EF984D}"/>
              </a:ext>
            </a:extLst>
          </p:cNvPr>
          <p:cNvSpPr>
            <a:spLocks noGrp="1"/>
          </p:cNvSpPr>
          <p:nvPr>
            <p:ph type="title"/>
          </p:nvPr>
        </p:nvSpPr>
        <p:spPr>
          <a:xfrm>
            <a:off x="1524000" y="0"/>
            <a:ext cx="9144000" cy="1447800"/>
          </a:xfrm>
          <a:solidFill>
            <a:schemeClr val="tx1"/>
          </a:solidFill>
        </p:spPr>
        <p:style>
          <a:lnRef idx="0">
            <a:schemeClr val="accent6"/>
          </a:lnRef>
          <a:fillRef idx="3">
            <a:schemeClr val="accent6"/>
          </a:fillRef>
          <a:effectRef idx="3">
            <a:schemeClr val="accent6"/>
          </a:effectRef>
          <a:fontRef idx="minor">
            <a:schemeClr val="lt1"/>
          </a:fontRef>
        </p:style>
        <p:txBody>
          <a:bodyPr/>
          <a:lstStyle/>
          <a:p>
            <a:pPr algn="ctr">
              <a:defRPr/>
            </a:pPr>
            <a:r>
              <a:rPr lang="en-US" sz="4800" dirty="0">
                <a:solidFill>
                  <a:schemeClr val="bg2"/>
                </a:solidFill>
                <a:latin typeface="Baskerville Old Face" pitchFamily="18" charset="0"/>
              </a:rPr>
              <a:t>2. HR SCORECARD</a:t>
            </a:r>
          </a:p>
        </p:txBody>
      </p:sp>
      <p:sp>
        <p:nvSpPr>
          <p:cNvPr id="3" name="Content Placeholder 2">
            <a:extLst>
              <a:ext uri="{FF2B5EF4-FFF2-40B4-BE49-F238E27FC236}">
                <a16:creationId xmlns:a16="http://schemas.microsoft.com/office/drawing/2014/main" id="{4BFDB941-4D52-9851-B4CA-55D1FBBE7DA3}"/>
              </a:ext>
            </a:extLst>
          </p:cNvPr>
          <p:cNvSpPr>
            <a:spLocks noGrp="1"/>
          </p:cNvSpPr>
          <p:nvPr>
            <p:ph sz="half" idx="1"/>
          </p:nvPr>
        </p:nvSpPr>
        <p:spPr>
          <a:xfrm>
            <a:off x="1524001" y="1445941"/>
            <a:ext cx="9144000" cy="5410200"/>
          </a:xfrm>
          <a:solidFill>
            <a:schemeClr val="tx1"/>
          </a:solidFill>
        </p:spPr>
        <p:style>
          <a:lnRef idx="1">
            <a:schemeClr val="accent6"/>
          </a:lnRef>
          <a:fillRef idx="2">
            <a:schemeClr val="accent6"/>
          </a:fillRef>
          <a:effectRef idx="1">
            <a:schemeClr val="accent6"/>
          </a:effectRef>
          <a:fontRef idx="minor">
            <a:schemeClr val="dk1"/>
          </a:fontRef>
        </p:style>
        <p:txBody>
          <a:bodyPr>
            <a:normAutofit/>
          </a:bodyPr>
          <a:lstStyle/>
          <a:p>
            <a:pPr>
              <a:buFont typeface="Wingdings 3" panose="05040102010807070707" pitchFamily="18" charset="2"/>
              <a:buNone/>
              <a:defRPr/>
            </a:pPr>
            <a:endParaRPr lang="en-US" dirty="0"/>
          </a:p>
          <a:p>
            <a:pPr>
              <a:defRPr/>
            </a:pPr>
            <a:r>
              <a:rPr lang="en-US" dirty="0"/>
              <a:t>A process for managing employee performance and for aligning all employees with key objectives, by assigning financial and non-financial goals, monitoring and assessing performance, and quickly taking corrective </a:t>
            </a:r>
            <a:r>
              <a:rPr lang="en-US" dirty="0" err="1"/>
              <a:t>actIon</a:t>
            </a:r>
            <a:r>
              <a:rPr lang="en-US" dirty="0"/>
              <a:t>.</a:t>
            </a:r>
          </a:p>
          <a:p>
            <a:pPr>
              <a:defRPr/>
            </a:pPr>
            <a:r>
              <a:rPr lang="en-GB" dirty="0"/>
              <a:t>The HR Scorecard is intended as an easy way for HR teams to measure the effects of their policies on the organisation’s financial performance.</a:t>
            </a:r>
            <a:r>
              <a:rPr lang="en-US"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BD1F5-AB60-3A98-34A2-DDF7D6BFA908}"/>
              </a:ext>
            </a:extLst>
          </p:cNvPr>
          <p:cNvSpPr>
            <a:spLocks noGrp="1"/>
          </p:cNvSpPr>
          <p:nvPr>
            <p:ph type="title"/>
          </p:nvPr>
        </p:nvSpPr>
        <p:spPr>
          <a:xfrm>
            <a:off x="1524000" y="0"/>
            <a:ext cx="9144000" cy="1295400"/>
          </a:xfrm>
          <a:solidFill>
            <a:schemeClr val="tx1"/>
          </a:solidFill>
        </p:spPr>
        <p:style>
          <a:lnRef idx="0">
            <a:schemeClr val="accent6"/>
          </a:lnRef>
          <a:fillRef idx="3">
            <a:schemeClr val="accent6"/>
          </a:fillRef>
          <a:effectRef idx="3">
            <a:schemeClr val="accent6"/>
          </a:effectRef>
          <a:fontRef idx="minor">
            <a:schemeClr val="lt1"/>
          </a:fontRef>
        </p:style>
        <p:txBody>
          <a:bodyPr/>
          <a:lstStyle/>
          <a:p>
            <a:pPr algn="ctr">
              <a:defRPr/>
            </a:pPr>
            <a:r>
              <a:rPr lang="en-US" dirty="0">
                <a:solidFill>
                  <a:schemeClr val="bg2"/>
                </a:solidFill>
                <a:latin typeface="Baskerville Old Face" pitchFamily="18" charset="0"/>
              </a:rPr>
              <a:t>3. DIGITAL DASHBOARD</a:t>
            </a:r>
          </a:p>
        </p:txBody>
      </p:sp>
      <p:sp>
        <p:nvSpPr>
          <p:cNvPr id="3" name="Content Placeholder 2">
            <a:extLst>
              <a:ext uri="{FF2B5EF4-FFF2-40B4-BE49-F238E27FC236}">
                <a16:creationId xmlns:a16="http://schemas.microsoft.com/office/drawing/2014/main" id="{D39F7FEB-B2CA-10EB-3EC8-12F70789EF77}"/>
              </a:ext>
            </a:extLst>
          </p:cNvPr>
          <p:cNvSpPr>
            <a:spLocks noGrp="1"/>
          </p:cNvSpPr>
          <p:nvPr>
            <p:ph sz="half" idx="1"/>
          </p:nvPr>
        </p:nvSpPr>
        <p:spPr>
          <a:xfrm>
            <a:off x="1524000" y="1219200"/>
            <a:ext cx="4267200" cy="5638800"/>
          </a:xfrm>
          <a:solidFill>
            <a:schemeClr val="tx1"/>
          </a:solidFill>
        </p:spPr>
        <p:style>
          <a:lnRef idx="1">
            <a:schemeClr val="accent6"/>
          </a:lnRef>
          <a:fillRef idx="2">
            <a:schemeClr val="accent6"/>
          </a:fillRef>
          <a:effectRef idx="1">
            <a:schemeClr val="accent6"/>
          </a:effectRef>
          <a:fontRef idx="minor">
            <a:schemeClr val="dk1"/>
          </a:fontRef>
        </p:style>
        <p:txBody>
          <a:bodyPr/>
          <a:lstStyle/>
          <a:p>
            <a:pPr>
              <a:defRPr/>
            </a:pPr>
            <a:endParaRPr lang="en-US" sz="2400" dirty="0"/>
          </a:p>
          <a:p>
            <a:pPr>
              <a:defRPr/>
            </a:pPr>
            <a:r>
              <a:rPr lang="en-US" sz="2400" dirty="0"/>
              <a:t>The saying </a:t>
            </a:r>
            <a:r>
              <a:rPr lang="en-US" sz="2400" i="1" dirty="0"/>
              <a:t>that a picture is worth a thousand words</a:t>
            </a:r>
            <a:r>
              <a:rPr lang="en-US" sz="2400" dirty="0"/>
              <a:t> explain the purpose of digital dashboards.</a:t>
            </a:r>
          </a:p>
          <a:p>
            <a:pPr>
              <a:defRPr/>
            </a:pPr>
            <a:r>
              <a:rPr lang="en-US" sz="2400" dirty="0"/>
              <a:t>It presents the manager with desktop graphs and charts, so he or she gets a picture of where the company has been and where it’s going. In terms of each activity in the strategy map.</a:t>
            </a:r>
          </a:p>
        </p:txBody>
      </p:sp>
      <p:pic>
        <p:nvPicPr>
          <p:cNvPr id="30724" name="Content Placeholder 7" descr="hr-dashboard.jpg">
            <a:extLst>
              <a:ext uri="{FF2B5EF4-FFF2-40B4-BE49-F238E27FC236}">
                <a16:creationId xmlns:a16="http://schemas.microsoft.com/office/drawing/2014/main" id="{CCED7552-BF12-8DC8-8D58-358369DD748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791200" y="1219200"/>
            <a:ext cx="4876800" cy="2819400"/>
          </a:xfrm>
        </p:spPr>
      </p:pic>
      <p:pic>
        <p:nvPicPr>
          <p:cNvPr id="30725" name="Picture 5">
            <a:extLst>
              <a:ext uri="{FF2B5EF4-FFF2-40B4-BE49-F238E27FC236}">
                <a16:creationId xmlns:a16="http://schemas.microsoft.com/office/drawing/2014/main" id="{56A885DA-5897-C76D-4180-B8DE17162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4038600"/>
            <a:ext cx="48768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B502E8D5-E0FA-0ACB-F9FC-B2C3D0CA95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spcBef>
                <a:spcPct val="0"/>
              </a:spcBef>
              <a:buClrTx/>
              <a:buSzTx/>
              <a:buFontTx/>
              <a:buNone/>
            </a:pPr>
            <a:r>
              <a:rPr lang="en-US" altLang="en-US" sz="1000"/>
              <a:t>3–</a:t>
            </a:r>
            <a:fld id="{372F8DAC-30C4-4449-B675-7AAED476C826}" type="slidenum">
              <a:rPr lang="en-US" altLang="en-US" sz="1000"/>
              <a:pPr>
                <a:spcBef>
                  <a:spcPct val="0"/>
                </a:spcBef>
                <a:buClrTx/>
                <a:buSzTx/>
                <a:buFontTx/>
                <a:buNone/>
              </a:pPr>
              <a:t>33</a:t>
            </a:fld>
            <a:endParaRPr lang="en-US" altLang="en-US" sz="1000"/>
          </a:p>
        </p:txBody>
      </p:sp>
      <p:sp>
        <p:nvSpPr>
          <p:cNvPr id="344066" name="Rectangle 2">
            <a:extLst>
              <a:ext uri="{FF2B5EF4-FFF2-40B4-BE49-F238E27FC236}">
                <a16:creationId xmlns:a16="http://schemas.microsoft.com/office/drawing/2014/main" id="{5F168BB4-51BD-31A6-9E12-BC8AE5A35DB2}"/>
              </a:ext>
            </a:extLst>
          </p:cNvPr>
          <p:cNvSpPr>
            <a:spLocks noGrp="1" noChangeArrowheads="1"/>
          </p:cNvSpPr>
          <p:nvPr>
            <p:ph type="title" idx="4294967295"/>
          </p:nvPr>
        </p:nvSpPr>
        <p:spPr>
          <a:xfrm>
            <a:off x="1524000" y="274638"/>
            <a:ext cx="8229600" cy="1143000"/>
          </a:xfrm>
        </p:spPr>
        <p:txBody>
          <a:bodyPr/>
          <a:lstStyle/>
          <a:p>
            <a:pPr algn="ctr">
              <a:defRPr/>
            </a:pPr>
            <a:r>
              <a:rPr lang="en-US" sz="3600" dirty="0">
                <a:solidFill>
                  <a:schemeClr val="tx1"/>
                </a:solidFill>
              </a:rPr>
              <a:t>Strategic HR Relationships</a:t>
            </a:r>
          </a:p>
        </p:txBody>
      </p:sp>
      <p:sp>
        <p:nvSpPr>
          <p:cNvPr id="31748" name="Text Box 3">
            <a:extLst>
              <a:ext uri="{FF2B5EF4-FFF2-40B4-BE49-F238E27FC236}">
                <a16:creationId xmlns:a16="http://schemas.microsoft.com/office/drawing/2014/main" id="{EA6D2FD7-68FD-FDC4-21EE-14DD8BA7501A}"/>
              </a:ext>
            </a:extLst>
          </p:cNvPr>
          <p:cNvSpPr txBox="1">
            <a:spLocks noChangeArrowheads="1"/>
          </p:cNvSpPr>
          <p:nvPr/>
        </p:nvSpPr>
        <p:spPr bwMode="auto">
          <a:xfrm>
            <a:off x="7832725" y="6172200"/>
            <a:ext cx="2286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lgn="r" eaLnBrk="1" hangingPunct="1">
              <a:spcBef>
                <a:spcPct val="50000"/>
              </a:spcBef>
              <a:buClrTx/>
              <a:buSzTx/>
              <a:buFontTx/>
              <a:buNone/>
            </a:pPr>
            <a:r>
              <a:rPr lang="en-US" altLang="en-US" sz="1200"/>
              <a:t>Figure 3–10 </a:t>
            </a:r>
          </a:p>
        </p:txBody>
      </p:sp>
      <p:sp>
        <p:nvSpPr>
          <p:cNvPr id="344069" name="Text Box 5">
            <a:extLst>
              <a:ext uri="{FF2B5EF4-FFF2-40B4-BE49-F238E27FC236}">
                <a16:creationId xmlns:a16="http://schemas.microsoft.com/office/drawing/2014/main" id="{E79C4A90-ED6F-DCA7-D4A9-0FEC17ADFA51}"/>
              </a:ext>
            </a:extLst>
          </p:cNvPr>
          <p:cNvSpPr txBox="1">
            <a:spLocks noChangeArrowheads="1"/>
          </p:cNvSpPr>
          <p:nvPr/>
        </p:nvSpPr>
        <p:spPr bwMode="auto">
          <a:xfrm>
            <a:off x="2163763" y="2501900"/>
            <a:ext cx="1096962" cy="1189038"/>
          </a:xfrm>
          <a:prstGeom prst="rect">
            <a:avLst/>
          </a:prstGeom>
          <a:solidFill>
            <a:srgbClr val="333399"/>
          </a:solidFill>
          <a:ln w="3175">
            <a:solidFill>
              <a:schemeClr val="tx1"/>
            </a:solidFill>
            <a:miter lim="800000"/>
            <a:headEnd/>
            <a:tailEnd/>
          </a:ln>
          <a:effectLst/>
        </p:spPr>
        <p:txBody>
          <a:bodyPr lIns="0" rIns="0" anchor="ctr" anchorCtr="1"/>
          <a:lstStyle/>
          <a:p>
            <a:pPr algn="ctr">
              <a:spcBef>
                <a:spcPct val="50000"/>
              </a:spcBef>
              <a:defRPr/>
            </a:pPr>
            <a:r>
              <a:rPr lang="en-US" sz="1400">
                <a:solidFill>
                  <a:schemeClr val="bg1"/>
                </a:solidFill>
                <a:effectLst>
                  <a:outerShdw blurRad="38100" dist="38100" dir="2700000" algn="tl">
                    <a:srgbClr val="000000"/>
                  </a:outerShdw>
                </a:effectLst>
              </a:rPr>
              <a:t>HR </a:t>
            </a:r>
            <a:br>
              <a:rPr lang="en-US" sz="1400">
                <a:solidFill>
                  <a:schemeClr val="bg1"/>
                </a:solidFill>
                <a:effectLst>
                  <a:outerShdw blurRad="38100" dist="38100" dir="2700000" algn="tl">
                    <a:srgbClr val="000000"/>
                  </a:outerShdw>
                </a:effectLst>
              </a:rPr>
            </a:br>
            <a:r>
              <a:rPr lang="en-US" sz="1400">
                <a:solidFill>
                  <a:schemeClr val="bg1"/>
                </a:solidFill>
                <a:effectLst>
                  <a:outerShdw blurRad="38100" dist="38100" dir="2700000" algn="tl">
                    <a:srgbClr val="000000"/>
                  </a:outerShdw>
                </a:effectLst>
              </a:rPr>
              <a:t>Activities</a:t>
            </a:r>
          </a:p>
        </p:txBody>
      </p:sp>
      <p:sp>
        <p:nvSpPr>
          <p:cNvPr id="344070" name="Line 6">
            <a:extLst>
              <a:ext uri="{FF2B5EF4-FFF2-40B4-BE49-F238E27FC236}">
                <a16:creationId xmlns:a16="http://schemas.microsoft.com/office/drawing/2014/main" id="{A5F2D391-356F-C07B-3E04-72A6797858A4}"/>
              </a:ext>
            </a:extLst>
          </p:cNvPr>
          <p:cNvSpPr>
            <a:spLocks noChangeShapeType="1"/>
          </p:cNvSpPr>
          <p:nvPr/>
        </p:nvSpPr>
        <p:spPr bwMode="auto">
          <a:xfrm>
            <a:off x="3260726" y="3108325"/>
            <a:ext cx="366713" cy="0"/>
          </a:xfrm>
          <a:prstGeom prst="line">
            <a:avLst/>
          </a:prstGeom>
          <a:noFill/>
          <a:ln w="5715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4071" name="Text Box 7">
            <a:extLst>
              <a:ext uri="{FF2B5EF4-FFF2-40B4-BE49-F238E27FC236}">
                <a16:creationId xmlns:a16="http://schemas.microsoft.com/office/drawing/2014/main" id="{16F55833-6CD4-806D-8C17-78E448D9D7FC}"/>
              </a:ext>
            </a:extLst>
          </p:cNvPr>
          <p:cNvSpPr txBox="1">
            <a:spLocks noChangeArrowheads="1"/>
          </p:cNvSpPr>
          <p:nvPr/>
        </p:nvSpPr>
        <p:spPr bwMode="auto">
          <a:xfrm>
            <a:off x="3624264" y="2513014"/>
            <a:ext cx="1190625" cy="1189037"/>
          </a:xfrm>
          <a:prstGeom prst="rect">
            <a:avLst/>
          </a:prstGeom>
          <a:solidFill>
            <a:srgbClr val="993300"/>
          </a:solidFill>
          <a:ln w="3175">
            <a:solidFill>
              <a:schemeClr val="tx1"/>
            </a:solidFill>
            <a:miter lim="800000"/>
            <a:headEnd/>
            <a:tailEnd/>
          </a:ln>
          <a:effectLst/>
        </p:spPr>
        <p:txBody>
          <a:bodyPr lIns="0" rIns="0" anchor="ctr" anchorCtr="1"/>
          <a:lstStyle/>
          <a:p>
            <a:pPr algn="ctr">
              <a:spcBef>
                <a:spcPct val="50000"/>
              </a:spcBef>
              <a:defRPr/>
            </a:pPr>
            <a:r>
              <a:rPr lang="en-US" sz="1400">
                <a:solidFill>
                  <a:schemeClr val="bg1"/>
                </a:solidFill>
                <a:effectLst>
                  <a:outerShdw blurRad="38100" dist="38100" dir="2700000" algn="tl">
                    <a:srgbClr val="000000"/>
                  </a:outerShdw>
                </a:effectLst>
              </a:rPr>
              <a:t>Emergent Employee Behaviors</a:t>
            </a:r>
          </a:p>
        </p:txBody>
      </p:sp>
      <p:sp>
        <p:nvSpPr>
          <p:cNvPr id="344072" name="Text Box 8">
            <a:extLst>
              <a:ext uri="{FF2B5EF4-FFF2-40B4-BE49-F238E27FC236}">
                <a16:creationId xmlns:a16="http://schemas.microsoft.com/office/drawing/2014/main" id="{9C7D4388-CA7A-6D6A-66DA-24FB88C12110}"/>
              </a:ext>
            </a:extLst>
          </p:cNvPr>
          <p:cNvSpPr txBox="1">
            <a:spLocks noChangeArrowheads="1"/>
          </p:cNvSpPr>
          <p:nvPr/>
        </p:nvSpPr>
        <p:spPr bwMode="auto">
          <a:xfrm>
            <a:off x="5180013" y="2514600"/>
            <a:ext cx="1371600" cy="1189038"/>
          </a:xfrm>
          <a:prstGeom prst="rect">
            <a:avLst/>
          </a:prstGeom>
          <a:solidFill>
            <a:srgbClr val="008000"/>
          </a:solidFill>
          <a:ln w="3175">
            <a:solidFill>
              <a:schemeClr val="tx1"/>
            </a:solidFill>
            <a:miter lim="800000"/>
            <a:headEnd/>
            <a:tailEnd/>
          </a:ln>
          <a:effectLst/>
        </p:spPr>
        <p:txBody>
          <a:bodyPr lIns="0" rIns="0" anchor="ctr" anchorCtr="1"/>
          <a:lstStyle/>
          <a:p>
            <a:pPr algn="ctr">
              <a:spcBef>
                <a:spcPct val="50000"/>
              </a:spcBef>
              <a:defRPr/>
            </a:pPr>
            <a:r>
              <a:rPr lang="en-US" sz="1400">
                <a:solidFill>
                  <a:schemeClr val="bg1"/>
                </a:solidFill>
                <a:effectLst>
                  <a:outerShdw blurRad="38100" dist="38100" dir="2700000" algn="tl">
                    <a:srgbClr val="000000"/>
                  </a:outerShdw>
                </a:effectLst>
              </a:rPr>
              <a:t>Strategically Relevant Organizational Outcomes</a:t>
            </a:r>
          </a:p>
        </p:txBody>
      </p:sp>
      <p:sp>
        <p:nvSpPr>
          <p:cNvPr id="344074" name="Text Box 10">
            <a:extLst>
              <a:ext uri="{FF2B5EF4-FFF2-40B4-BE49-F238E27FC236}">
                <a16:creationId xmlns:a16="http://schemas.microsoft.com/office/drawing/2014/main" id="{09C87F79-768F-AB2A-7D26-CC5F53EC549D}"/>
              </a:ext>
            </a:extLst>
          </p:cNvPr>
          <p:cNvSpPr txBox="1">
            <a:spLocks noChangeArrowheads="1"/>
          </p:cNvSpPr>
          <p:nvPr/>
        </p:nvSpPr>
        <p:spPr bwMode="auto">
          <a:xfrm>
            <a:off x="6915151" y="2513014"/>
            <a:ext cx="1465263" cy="1189037"/>
          </a:xfrm>
          <a:prstGeom prst="rect">
            <a:avLst/>
          </a:prstGeom>
          <a:solidFill>
            <a:srgbClr val="996600"/>
          </a:solidFill>
          <a:ln w="3175">
            <a:solidFill>
              <a:schemeClr val="tx1"/>
            </a:solidFill>
            <a:miter lim="800000"/>
            <a:headEnd/>
            <a:tailEnd/>
          </a:ln>
          <a:effectLst/>
        </p:spPr>
        <p:txBody>
          <a:bodyPr lIns="0" rIns="0" anchor="ctr" anchorCtr="1"/>
          <a:lstStyle/>
          <a:p>
            <a:pPr algn="ctr">
              <a:spcBef>
                <a:spcPct val="50000"/>
              </a:spcBef>
              <a:defRPr/>
            </a:pPr>
            <a:r>
              <a:rPr lang="en-US" sz="1400">
                <a:solidFill>
                  <a:schemeClr val="bg1"/>
                </a:solidFill>
                <a:effectLst>
                  <a:outerShdw blurRad="38100" dist="38100" dir="2700000" algn="tl">
                    <a:srgbClr val="000000"/>
                  </a:outerShdw>
                </a:effectLst>
              </a:rPr>
              <a:t>Organizational Performance</a:t>
            </a:r>
          </a:p>
        </p:txBody>
      </p:sp>
      <p:sp>
        <p:nvSpPr>
          <p:cNvPr id="344076" name="Text Box 12">
            <a:extLst>
              <a:ext uri="{FF2B5EF4-FFF2-40B4-BE49-F238E27FC236}">
                <a16:creationId xmlns:a16="http://schemas.microsoft.com/office/drawing/2014/main" id="{9CF98374-A8B1-C0E4-851C-F3AE2D91FC96}"/>
              </a:ext>
            </a:extLst>
          </p:cNvPr>
          <p:cNvSpPr txBox="1">
            <a:spLocks noChangeArrowheads="1"/>
          </p:cNvSpPr>
          <p:nvPr/>
        </p:nvSpPr>
        <p:spPr bwMode="auto">
          <a:xfrm>
            <a:off x="8745538" y="2513014"/>
            <a:ext cx="1282700" cy="1189037"/>
          </a:xfrm>
          <a:prstGeom prst="rect">
            <a:avLst/>
          </a:prstGeom>
          <a:solidFill>
            <a:srgbClr val="CC9900"/>
          </a:solidFill>
          <a:ln w="3175">
            <a:solidFill>
              <a:schemeClr val="tx1"/>
            </a:solidFill>
            <a:miter lim="800000"/>
            <a:headEnd/>
            <a:tailEnd/>
          </a:ln>
          <a:effectLst/>
        </p:spPr>
        <p:txBody>
          <a:bodyPr lIns="0" rIns="0" anchor="ctr" anchorCtr="1"/>
          <a:lstStyle/>
          <a:p>
            <a:pPr algn="ctr">
              <a:spcBef>
                <a:spcPct val="50000"/>
              </a:spcBef>
              <a:defRPr/>
            </a:pPr>
            <a:r>
              <a:rPr lang="en-US" sz="1400">
                <a:solidFill>
                  <a:schemeClr val="bg1"/>
                </a:solidFill>
                <a:effectLst>
                  <a:outerShdw blurRad="38100" dist="38100" dir="2700000" algn="tl">
                    <a:srgbClr val="000000"/>
                  </a:outerShdw>
                </a:effectLst>
              </a:rPr>
              <a:t>Achieve Strategic Goals</a:t>
            </a:r>
          </a:p>
        </p:txBody>
      </p:sp>
      <p:sp>
        <p:nvSpPr>
          <p:cNvPr id="344078" name="Line 14">
            <a:extLst>
              <a:ext uri="{FF2B5EF4-FFF2-40B4-BE49-F238E27FC236}">
                <a16:creationId xmlns:a16="http://schemas.microsoft.com/office/drawing/2014/main" id="{6FE194B6-0D34-6FFC-AA49-C2FB5B7C06EA}"/>
              </a:ext>
            </a:extLst>
          </p:cNvPr>
          <p:cNvSpPr>
            <a:spLocks noChangeShapeType="1"/>
          </p:cNvSpPr>
          <p:nvPr/>
        </p:nvSpPr>
        <p:spPr bwMode="auto">
          <a:xfrm>
            <a:off x="4816476" y="3116263"/>
            <a:ext cx="366713" cy="0"/>
          </a:xfrm>
          <a:prstGeom prst="line">
            <a:avLst/>
          </a:prstGeom>
          <a:noFill/>
          <a:ln w="5715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4079" name="Line 15">
            <a:extLst>
              <a:ext uri="{FF2B5EF4-FFF2-40B4-BE49-F238E27FC236}">
                <a16:creationId xmlns:a16="http://schemas.microsoft.com/office/drawing/2014/main" id="{04878CB8-1456-03BC-93B1-07CD2D75ABCB}"/>
              </a:ext>
            </a:extLst>
          </p:cNvPr>
          <p:cNvSpPr>
            <a:spLocks noChangeShapeType="1"/>
          </p:cNvSpPr>
          <p:nvPr/>
        </p:nvSpPr>
        <p:spPr bwMode="auto">
          <a:xfrm>
            <a:off x="6553201" y="3108325"/>
            <a:ext cx="366713" cy="0"/>
          </a:xfrm>
          <a:prstGeom prst="line">
            <a:avLst/>
          </a:prstGeom>
          <a:noFill/>
          <a:ln w="5715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4080" name="Line 16">
            <a:extLst>
              <a:ext uri="{FF2B5EF4-FFF2-40B4-BE49-F238E27FC236}">
                <a16:creationId xmlns:a16="http://schemas.microsoft.com/office/drawing/2014/main" id="{350A0A8D-69B9-DC30-740E-B988484B2FE1}"/>
              </a:ext>
            </a:extLst>
          </p:cNvPr>
          <p:cNvSpPr>
            <a:spLocks noChangeShapeType="1"/>
          </p:cNvSpPr>
          <p:nvPr/>
        </p:nvSpPr>
        <p:spPr bwMode="auto">
          <a:xfrm>
            <a:off x="8382001" y="3084513"/>
            <a:ext cx="366713" cy="0"/>
          </a:xfrm>
          <a:prstGeom prst="line">
            <a:avLst/>
          </a:prstGeom>
          <a:noFill/>
          <a:ln w="5715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4069"/>
                                        </p:tgtEl>
                                        <p:attrNameLst>
                                          <p:attrName>style.visibility</p:attrName>
                                        </p:attrNameLst>
                                      </p:cBhvr>
                                      <p:to>
                                        <p:strVal val="visible"/>
                                      </p:to>
                                    </p:set>
                                    <p:animEffect transition="in" filter="wipe(left)">
                                      <p:cBhvr>
                                        <p:cTn id="7" dur="500"/>
                                        <p:tgtEl>
                                          <p:spTgt spid="34406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44070"/>
                                        </p:tgtEl>
                                        <p:attrNameLst>
                                          <p:attrName>style.visibility</p:attrName>
                                        </p:attrNameLst>
                                      </p:cBhvr>
                                      <p:to>
                                        <p:strVal val="visible"/>
                                      </p:to>
                                    </p:set>
                                    <p:animEffect transition="in" filter="wipe(left)">
                                      <p:cBhvr>
                                        <p:cTn id="11" dur="500"/>
                                        <p:tgtEl>
                                          <p:spTgt spid="344070"/>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44071"/>
                                        </p:tgtEl>
                                        <p:attrNameLst>
                                          <p:attrName>style.visibility</p:attrName>
                                        </p:attrNameLst>
                                      </p:cBhvr>
                                      <p:to>
                                        <p:strVal val="visible"/>
                                      </p:to>
                                    </p:set>
                                    <p:animEffect transition="in" filter="wipe(left)">
                                      <p:cBhvr>
                                        <p:cTn id="15" dur="500"/>
                                        <p:tgtEl>
                                          <p:spTgt spid="344071"/>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44078"/>
                                        </p:tgtEl>
                                        <p:attrNameLst>
                                          <p:attrName>style.visibility</p:attrName>
                                        </p:attrNameLst>
                                      </p:cBhvr>
                                      <p:to>
                                        <p:strVal val="visible"/>
                                      </p:to>
                                    </p:set>
                                    <p:animEffect transition="in" filter="wipe(left)">
                                      <p:cBhvr>
                                        <p:cTn id="19" dur="500"/>
                                        <p:tgtEl>
                                          <p:spTgt spid="344078"/>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44072"/>
                                        </p:tgtEl>
                                        <p:attrNameLst>
                                          <p:attrName>style.visibility</p:attrName>
                                        </p:attrNameLst>
                                      </p:cBhvr>
                                      <p:to>
                                        <p:strVal val="visible"/>
                                      </p:to>
                                    </p:set>
                                    <p:animEffect transition="in" filter="wipe(left)">
                                      <p:cBhvr>
                                        <p:cTn id="23" dur="500"/>
                                        <p:tgtEl>
                                          <p:spTgt spid="344072"/>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344079"/>
                                        </p:tgtEl>
                                        <p:attrNameLst>
                                          <p:attrName>style.visibility</p:attrName>
                                        </p:attrNameLst>
                                      </p:cBhvr>
                                      <p:to>
                                        <p:strVal val="visible"/>
                                      </p:to>
                                    </p:set>
                                    <p:animEffect transition="in" filter="wipe(left)">
                                      <p:cBhvr>
                                        <p:cTn id="27" dur="500"/>
                                        <p:tgtEl>
                                          <p:spTgt spid="344079"/>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44074"/>
                                        </p:tgtEl>
                                        <p:attrNameLst>
                                          <p:attrName>style.visibility</p:attrName>
                                        </p:attrNameLst>
                                      </p:cBhvr>
                                      <p:to>
                                        <p:strVal val="visible"/>
                                      </p:to>
                                    </p:set>
                                    <p:animEffect transition="in" filter="wipe(left)">
                                      <p:cBhvr>
                                        <p:cTn id="31" dur="500"/>
                                        <p:tgtEl>
                                          <p:spTgt spid="344074"/>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344080"/>
                                        </p:tgtEl>
                                        <p:attrNameLst>
                                          <p:attrName>style.visibility</p:attrName>
                                        </p:attrNameLst>
                                      </p:cBhvr>
                                      <p:to>
                                        <p:strVal val="visible"/>
                                      </p:to>
                                    </p:set>
                                    <p:animEffect transition="in" filter="wipe(left)">
                                      <p:cBhvr>
                                        <p:cTn id="35" dur="500"/>
                                        <p:tgtEl>
                                          <p:spTgt spid="344080"/>
                                        </p:tgtEl>
                                      </p:cBhvr>
                                    </p:animEffect>
                                  </p:childTnLst>
                                </p:cTn>
                              </p:par>
                            </p:childTnLst>
                          </p:cTn>
                        </p:par>
                        <p:par>
                          <p:cTn id="36" fill="hold" nodeType="afterGroup">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344076"/>
                                        </p:tgtEl>
                                        <p:attrNameLst>
                                          <p:attrName>style.visibility</p:attrName>
                                        </p:attrNameLst>
                                      </p:cBhvr>
                                      <p:to>
                                        <p:strVal val="visible"/>
                                      </p:to>
                                    </p:set>
                                    <p:animEffect transition="in" filter="wipe(left)">
                                      <p:cBhvr>
                                        <p:cTn id="39" dur="500"/>
                                        <p:tgtEl>
                                          <p:spTgt spid="344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9" grpId="0" animBg="1"/>
      <p:bldP spid="344071" grpId="0" animBg="1"/>
      <p:bldP spid="344072" grpId="0" animBg="1"/>
      <p:bldP spid="344074" grpId="0" animBg="1"/>
      <p:bldP spid="34407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a:extLst>
              <a:ext uri="{FF2B5EF4-FFF2-40B4-BE49-F238E27FC236}">
                <a16:creationId xmlns:a16="http://schemas.microsoft.com/office/drawing/2014/main" id="{7251FEB2-4F01-566B-2D1A-EFE63328D9AC}"/>
              </a:ext>
            </a:extLst>
          </p:cNvPr>
          <p:cNvSpPr>
            <a:spLocks noGrp="1"/>
          </p:cNvSpPr>
          <p:nvPr>
            <p:ph idx="1"/>
          </p:nvPr>
        </p:nvSpPr>
        <p:spPr/>
        <p:txBody>
          <a:bodyPr/>
          <a:lstStyle/>
          <a:p>
            <a:pPr eaLnBrk="1" hangingPunct="1">
              <a:buFont typeface="Wingdings 3" panose="05040102010807070707" pitchFamily="18" charset="2"/>
              <a:buNone/>
            </a:pPr>
            <a:r>
              <a:rPr lang="en-US" altLang="en-US"/>
              <a:t>  Training is a planned attempted by an organisation to facilitate employee learning of job-related, knowledge, skills and behaviours.</a:t>
            </a:r>
          </a:p>
          <a:p>
            <a:pPr eaLnBrk="1" hangingPunct="1">
              <a:buFont typeface="Wingdings 3" panose="05040102010807070707" pitchFamily="18" charset="2"/>
              <a:buNone/>
            </a:pPr>
            <a:endParaRPr lang="en-US" altLang="en-US"/>
          </a:p>
          <a:p>
            <a:pPr eaLnBrk="1" hangingPunct="1">
              <a:buFont typeface="Wingdings 3" panose="05040102010807070707" pitchFamily="18" charset="2"/>
              <a:buNone/>
            </a:pPr>
            <a:r>
              <a:rPr lang="en-US" altLang="en-US"/>
              <a:t>   Development refers to enhance the skills needed for both present and future jobs.</a:t>
            </a:r>
          </a:p>
          <a:p>
            <a:pPr eaLnBrk="1" hangingPunct="1">
              <a:buFont typeface="Wingdings 3" panose="05040102010807070707" pitchFamily="18" charset="2"/>
              <a:buNone/>
            </a:pPr>
            <a:r>
              <a:rPr lang="en-US" altLang="en-US"/>
              <a:t> </a:t>
            </a:r>
          </a:p>
        </p:txBody>
      </p:sp>
      <p:sp>
        <p:nvSpPr>
          <p:cNvPr id="3" name="Title 2">
            <a:extLst>
              <a:ext uri="{FF2B5EF4-FFF2-40B4-BE49-F238E27FC236}">
                <a16:creationId xmlns:a16="http://schemas.microsoft.com/office/drawing/2014/main" id="{07F8A5F0-49BE-4F39-2FAF-D7F865D8540C}"/>
              </a:ext>
            </a:extLst>
          </p:cNvPr>
          <p:cNvSpPr>
            <a:spLocks noGrp="1"/>
          </p:cNvSpPr>
          <p:nvPr>
            <p:ph type="title"/>
          </p:nvPr>
        </p:nvSpPr>
        <p:spPr/>
        <p:txBody>
          <a:bodyPr/>
          <a:lstStyle/>
          <a:p>
            <a:pPr>
              <a:defRPr/>
            </a:pPr>
            <a:r>
              <a:rPr lang="en-US" dirty="0"/>
              <a:t>Training and Development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A26AF55A-4E78-56E0-6D88-43EAF1CEB69E}"/>
              </a:ext>
            </a:extLst>
          </p:cNvPr>
          <p:cNvSpPr>
            <a:spLocks noGrp="1"/>
          </p:cNvSpPr>
          <p:nvPr>
            <p:ph type="subTitle" idx="4294967295"/>
          </p:nvPr>
        </p:nvSpPr>
        <p:spPr>
          <a:xfrm>
            <a:off x="1524000" y="-304800"/>
            <a:ext cx="8839200" cy="4953000"/>
          </a:xfrm>
        </p:spPr>
        <p:txBody>
          <a:bodyPr>
            <a:normAutofit fontScale="92500" lnSpcReduction="10000"/>
          </a:bodyPr>
          <a:lstStyle/>
          <a:p>
            <a:pPr eaLnBrk="1" hangingPunct="1">
              <a:lnSpc>
                <a:spcPct val="90000"/>
              </a:lnSpc>
              <a:spcBef>
                <a:spcPct val="0"/>
              </a:spcBef>
              <a:buFont typeface="Wingdings 2" panose="05020102010507070707" pitchFamily="18" charset="2"/>
              <a:buNone/>
            </a:pPr>
            <a:r>
              <a:rPr lang="en-US" altLang="en-US" sz="3600"/>
              <a:t>          </a:t>
            </a:r>
          </a:p>
          <a:p>
            <a:pPr algn="ctr" eaLnBrk="1" hangingPunct="1">
              <a:lnSpc>
                <a:spcPct val="90000"/>
              </a:lnSpc>
              <a:spcBef>
                <a:spcPct val="0"/>
              </a:spcBef>
              <a:buFont typeface="Wingdings 2" panose="05020102010507070707" pitchFamily="18" charset="2"/>
              <a:buNone/>
            </a:pPr>
            <a:r>
              <a:rPr lang="en-US" altLang="en-US" sz="3600" u="sng"/>
              <a:t>NEED FOR TRAINING</a:t>
            </a:r>
            <a:endParaRPr lang="en-US" altLang="en-US" sz="3600"/>
          </a:p>
          <a:p>
            <a:pPr eaLnBrk="1" hangingPunct="1">
              <a:lnSpc>
                <a:spcPct val="90000"/>
              </a:lnSpc>
              <a:buFont typeface="Wingdings 2" panose="05020102010507070707" pitchFamily="18" charset="2"/>
              <a:buNone/>
            </a:pPr>
            <a:endParaRPr lang="en-US" altLang="en-US" sz="2200"/>
          </a:p>
          <a:p>
            <a:pPr eaLnBrk="1" hangingPunct="1">
              <a:lnSpc>
                <a:spcPct val="90000"/>
              </a:lnSpc>
              <a:buFont typeface="Wingdings 2" panose="05020102010507070707" pitchFamily="18" charset="2"/>
              <a:buNone/>
            </a:pPr>
            <a:r>
              <a:rPr lang="en-US" altLang="en-US" sz="2200"/>
              <a:t>The need for training arises because of the following reasons:-</a:t>
            </a:r>
          </a:p>
          <a:p>
            <a:pPr eaLnBrk="1" hangingPunct="1">
              <a:lnSpc>
                <a:spcPct val="90000"/>
              </a:lnSpc>
              <a:buSzPct val="99000"/>
              <a:buFont typeface="Wingdings 3" panose="05040102010807070707" pitchFamily="18" charset="2"/>
              <a:buNone/>
            </a:pPr>
            <a:r>
              <a:rPr lang="en-US" altLang="en-US" sz="2200" b="1" u="sng"/>
              <a:t>CHANGING TECHNOLOGY</a:t>
            </a:r>
            <a:r>
              <a:rPr lang="en-US" altLang="en-US" sz="2200"/>
              <a:t>: Technology  is changing at a fast place. The workers must learn new techniques to make use of advanced technology. Thus, training should  be treated as a continuous process to update the employees in new methods &amp; practices.</a:t>
            </a:r>
          </a:p>
          <a:p>
            <a:pPr eaLnBrk="1" hangingPunct="1">
              <a:lnSpc>
                <a:spcPct val="90000"/>
              </a:lnSpc>
              <a:buSzPct val="99000"/>
              <a:buFont typeface="Wingdings 3" panose="05040102010807070707" pitchFamily="18" charset="2"/>
              <a:buNone/>
            </a:pPr>
            <a:r>
              <a:rPr lang="en-US" altLang="en-US" sz="2200" b="1" u="sng"/>
              <a:t>QUALITY CONSCIOUS CUSTOMERS: </a:t>
            </a:r>
            <a:r>
              <a:rPr lang="en-US" altLang="en-US" sz="2200"/>
              <a:t>The customers have become quality conscious &amp; their requirements keep on changing. To satisfy the customers, quality of products must be improved through training of workers.</a:t>
            </a:r>
          </a:p>
          <a:p>
            <a:pPr eaLnBrk="1" hangingPunct="1">
              <a:lnSpc>
                <a:spcPct val="90000"/>
              </a:lnSpc>
              <a:buSzPct val="99000"/>
              <a:buFont typeface="Wingdings 3" panose="05040102010807070707" pitchFamily="18" charset="2"/>
              <a:buNone/>
            </a:pPr>
            <a:r>
              <a:rPr lang="en-US" altLang="en-US" sz="2200" b="1" u="sng"/>
              <a:t>GREATER PRODUCTIVITY:</a:t>
            </a:r>
            <a:r>
              <a:rPr lang="en-US" altLang="en-US" sz="2200"/>
              <a:t> It is essential to increase productivity &amp;reduce cost of production for meeting competition in the market. Effective training can help  increase productivity of the workers.</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ED66DD64-5C6B-844D-CBE2-7A22B515AC53}"/>
              </a:ext>
            </a:extLst>
          </p:cNvPr>
          <p:cNvSpPr>
            <a:spLocks/>
          </p:cNvSpPr>
          <p:nvPr>
            <p:ph type="body" idx="1"/>
          </p:nvPr>
        </p:nvSpPr>
        <p:spPr>
          <a:xfrm>
            <a:off x="1981200" y="533400"/>
            <a:ext cx="8229600" cy="6172200"/>
          </a:xfrm>
        </p:spPr>
        <p:txBody>
          <a:bodyPr/>
          <a:lstStyle/>
          <a:p>
            <a:pPr marL="234950" indent="-234950">
              <a:spcBef>
                <a:spcPct val="0"/>
              </a:spcBef>
              <a:buNone/>
            </a:pPr>
            <a:r>
              <a:rPr lang="en-US" altLang="en-US" sz="2400" b="1" u="sng" dirty="0"/>
              <a:t>STABLE WORKFORCE: </a:t>
            </a:r>
            <a:r>
              <a:rPr lang="en-US" altLang="en-US" sz="2400" dirty="0"/>
              <a:t>Training  creates a feeling of confidence in the minds of the workers. It gives them at the workplace. As a result, </a:t>
            </a:r>
            <a:r>
              <a:rPr lang="en-US" altLang="en-US" sz="2400" dirty="0" err="1"/>
              <a:t>labour</a:t>
            </a:r>
            <a:r>
              <a:rPr lang="en-US" altLang="en-US" sz="2400" dirty="0"/>
              <a:t> turnover &amp; absenteeism rates  are reduced.</a:t>
            </a:r>
            <a:endParaRPr lang="en-US" altLang="en-US" dirty="0"/>
          </a:p>
          <a:p>
            <a:pPr marL="234950" indent="-234950">
              <a:buNone/>
            </a:pPr>
            <a:r>
              <a:rPr lang="en-US" altLang="en-US" sz="2400" b="1" u="sng" dirty="0"/>
              <a:t>INCREASED SAFETY: </a:t>
            </a:r>
            <a:r>
              <a:rPr lang="en-US" altLang="en-US" sz="2400" dirty="0"/>
              <a:t>Trained workers handle the machines safely. They also know the use of various safety devices in the factory. Thus, they are less prone to industrial accidents.</a:t>
            </a:r>
            <a:endParaRPr lang="en-US" altLang="en-US" dirty="0"/>
          </a:p>
          <a:p>
            <a:pPr marL="234950" indent="-234950">
              <a:buNone/>
            </a:pPr>
            <a:r>
              <a:rPr lang="en-US" altLang="en-US" sz="2400" b="1" u="sng" dirty="0"/>
              <a:t>BETTER MANAGEMENT: </a:t>
            </a:r>
            <a:r>
              <a:rPr lang="en-US" altLang="en-US" sz="2400" dirty="0"/>
              <a:t>Training can be used as an effective tool of planning and control. It develops skills among workers for the future and also prepares them for promotion. It also helps to increase productivity and quality.</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087">
            <a:extLst>
              <a:ext uri="{FF2B5EF4-FFF2-40B4-BE49-F238E27FC236}">
                <a16:creationId xmlns:a16="http://schemas.microsoft.com/office/drawing/2014/main" id="{17F116FF-9E43-D980-120E-E85F9FD0A47D}"/>
              </a:ext>
            </a:extLst>
          </p:cNvPr>
          <p:cNvSpPr txBox="1">
            <a:spLocks noChangeArrowheads="1"/>
          </p:cNvSpPr>
          <p:nvPr/>
        </p:nvSpPr>
        <p:spPr bwMode="auto">
          <a:xfrm>
            <a:off x="2133600" y="441326"/>
            <a:ext cx="853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eaLnBrk="1" hangingPunct="1">
              <a:spcBef>
                <a:spcPct val="50000"/>
              </a:spcBef>
              <a:buClrTx/>
              <a:buSzTx/>
              <a:buFontTx/>
              <a:buNone/>
            </a:pPr>
            <a:r>
              <a:rPr lang="en-US" altLang="en-US" sz="3000" b="1">
                <a:latin typeface="Verdana" panose="020B0604030504040204" pitchFamily="34" charset="0"/>
                <a:cs typeface="Times New Roman" panose="02020603050405020304" pitchFamily="18" charset="0"/>
              </a:rPr>
              <a:t>Training vs. Development </a:t>
            </a:r>
          </a:p>
        </p:txBody>
      </p:sp>
      <p:sp>
        <p:nvSpPr>
          <p:cNvPr id="64585" name="Text Box 1097">
            <a:extLst>
              <a:ext uri="{FF2B5EF4-FFF2-40B4-BE49-F238E27FC236}">
                <a16:creationId xmlns:a16="http://schemas.microsoft.com/office/drawing/2014/main" id="{0BDD70EE-FF90-F954-0937-8E3A2FF6383A}"/>
              </a:ext>
            </a:extLst>
          </p:cNvPr>
          <p:cNvSpPr txBox="1">
            <a:spLocks noChangeArrowheads="1"/>
          </p:cNvSpPr>
          <p:nvPr/>
        </p:nvSpPr>
        <p:spPr bwMode="auto">
          <a:xfrm>
            <a:off x="2133600" y="1371600"/>
            <a:ext cx="8001000" cy="1016000"/>
          </a:xfrm>
          <a:prstGeom prst="rect">
            <a:avLst/>
          </a:prstGeom>
          <a:noFill/>
          <a:ln w="9525">
            <a:noFill/>
            <a:miter lim="800000"/>
            <a:headEnd/>
            <a:tailEnd/>
          </a:ln>
          <a:effectLst/>
        </p:spPr>
        <p:txBody>
          <a:bodyPr>
            <a:spAutoFit/>
          </a:bodyPr>
          <a:lstStyle/>
          <a:p>
            <a:pPr algn="just" defTabSz="563563">
              <a:spcBef>
                <a:spcPct val="50000"/>
              </a:spcBef>
              <a:buClr>
                <a:srgbClr val="CC0000"/>
              </a:buClr>
              <a:defRPr/>
            </a:pPr>
            <a:r>
              <a:rPr lang="en-US" sz="2000" dirty="0">
                <a:cs typeface="Times New Roman" pitchFamily="18" charset="0"/>
              </a:rPr>
              <a:t>Training is concerned with teaching specific job related skills and </a:t>
            </a:r>
            <a:r>
              <a:rPr lang="en-US" sz="2000" dirty="0" err="1">
                <a:cs typeface="Times New Roman" pitchFamily="18" charset="0"/>
              </a:rPr>
              <a:t>behaviour</a:t>
            </a:r>
            <a:r>
              <a:rPr lang="en-US" sz="2000" dirty="0">
                <a:cs typeface="Times New Roman" pitchFamily="18" charset="0"/>
              </a:rPr>
              <a:t>. Development is future oriented training, focusing on the personal growth of the employee. </a:t>
            </a:r>
          </a:p>
        </p:txBody>
      </p:sp>
      <p:sp>
        <p:nvSpPr>
          <p:cNvPr id="21508" name="Text Box 1104">
            <a:extLst>
              <a:ext uri="{FF2B5EF4-FFF2-40B4-BE49-F238E27FC236}">
                <a16:creationId xmlns:a16="http://schemas.microsoft.com/office/drawing/2014/main" id="{203B75B2-590F-813D-2B67-767394D7F777}"/>
              </a:ext>
            </a:extLst>
          </p:cNvPr>
          <p:cNvSpPr txBox="1">
            <a:spLocks noChangeArrowheads="1"/>
          </p:cNvSpPr>
          <p:nvPr/>
        </p:nvSpPr>
        <p:spPr bwMode="auto">
          <a:xfrm>
            <a:off x="2133600" y="2514601"/>
            <a:ext cx="7467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eaLnBrk="1" hangingPunct="1">
              <a:spcBef>
                <a:spcPct val="50000"/>
              </a:spcBef>
              <a:buClrTx/>
              <a:buSzTx/>
              <a:buFontTx/>
              <a:buNone/>
            </a:pPr>
            <a:r>
              <a:rPr lang="en-US" altLang="en-US" sz="3000" b="1">
                <a:latin typeface="Verdana" panose="020B0604030504040204" pitchFamily="34" charset="0"/>
                <a:cs typeface="Times New Roman" panose="02020603050405020304" pitchFamily="18" charset="0"/>
              </a:rPr>
              <a:t>Training vs. Development</a:t>
            </a:r>
            <a:r>
              <a:rPr lang="en-US" altLang="en-US" sz="3000" b="1">
                <a:latin typeface="Verdana" panose="020B0604030504040204" pitchFamily="34" charset="0"/>
              </a:rPr>
              <a:t> </a:t>
            </a:r>
          </a:p>
        </p:txBody>
      </p:sp>
      <p:graphicFrame>
        <p:nvGraphicFramePr>
          <p:cNvPr id="21509" name="Object 2">
            <a:extLst>
              <a:ext uri="{FF2B5EF4-FFF2-40B4-BE49-F238E27FC236}">
                <a16:creationId xmlns:a16="http://schemas.microsoft.com/office/drawing/2014/main" id="{59A9735D-F06F-8AB0-926C-09F4CF51BDB7}"/>
              </a:ext>
            </a:extLst>
          </p:cNvPr>
          <p:cNvGraphicFramePr>
            <a:graphicFrameLocks noChangeAspect="1"/>
          </p:cNvGraphicFramePr>
          <p:nvPr/>
        </p:nvGraphicFramePr>
        <p:xfrm>
          <a:off x="2209800" y="3200400"/>
          <a:ext cx="7620000" cy="2433638"/>
        </p:xfrm>
        <a:graphic>
          <a:graphicData uri="http://schemas.openxmlformats.org/presentationml/2006/ole">
            <mc:AlternateContent xmlns:mc="http://schemas.openxmlformats.org/markup-compatibility/2006">
              <mc:Choice xmlns:v="urn:schemas-microsoft-com:vml" Requires="v">
                <p:oleObj name="CorelDRAW" r:id="rId2" imgW="4602480" imgH="1469136" progId="">
                  <p:embed/>
                </p:oleObj>
              </mc:Choice>
              <mc:Fallback>
                <p:oleObj name="CorelDRAW" r:id="rId2" imgW="4602480" imgH="1469136" progId="">
                  <p:embed/>
                  <p:pic>
                    <p:nvPicPr>
                      <p:cNvPr id="21509" name="Object 2">
                        <a:extLst>
                          <a:ext uri="{FF2B5EF4-FFF2-40B4-BE49-F238E27FC236}">
                            <a16:creationId xmlns:a16="http://schemas.microsoft.com/office/drawing/2014/main" id="{59A9735D-F06F-8AB0-926C-09F4CF51B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200400"/>
                        <a:ext cx="7620000" cy="243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248775-2483-D916-624C-DDC122AFBD14}"/>
              </a:ext>
            </a:extLst>
          </p:cNvPr>
          <p:cNvSpPr>
            <a:spLocks noGrp="1"/>
          </p:cNvSpPr>
          <p:nvPr>
            <p:ph type="title"/>
          </p:nvPr>
        </p:nvSpPr>
        <p:spPr/>
        <p:txBody>
          <a:bodyPr vert="horz" wrap="square" lIns="91440" tIns="45720" rIns="91440" bIns="45720" numCol="1" rtlCol="0" anchor="t" anchorCtr="0" compatLnSpc="1">
            <a:prstTxWarp prst="textNoShape">
              <a:avLst/>
            </a:prstTxWarp>
            <a:noAutofit/>
          </a:bodyPr>
          <a:lstStyle/>
          <a:p>
            <a:pPr>
              <a:defRPr/>
            </a:pPr>
            <a:endParaRPr lang="en-US">
              <a:effectLst>
                <a:outerShdw blurRad="38100" dist="38100" dir="2700000" algn="tl">
                  <a:srgbClr val="C0C0C0"/>
                </a:outerShdw>
              </a:effectLst>
            </a:endParaRPr>
          </a:p>
        </p:txBody>
      </p:sp>
      <p:sp>
        <p:nvSpPr>
          <p:cNvPr id="22531" name="Content Placeholder 4">
            <a:extLst>
              <a:ext uri="{FF2B5EF4-FFF2-40B4-BE49-F238E27FC236}">
                <a16:creationId xmlns:a16="http://schemas.microsoft.com/office/drawing/2014/main" id="{2CFAA1A7-A77D-2EA7-2861-256C215752AE}"/>
              </a:ext>
            </a:extLst>
          </p:cNvPr>
          <p:cNvSpPr>
            <a:spLocks noGrp="1"/>
          </p:cNvSpPr>
          <p:nvPr>
            <p:ph idx="1"/>
          </p:nvPr>
        </p:nvSpPr>
        <p:spPr>
          <a:xfrm>
            <a:off x="1981200" y="2374900"/>
            <a:ext cx="8229600" cy="4025900"/>
          </a:xfrm>
        </p:spPr>
        <p:txBody>
          <a:bodyPr>
            <a:normAutofit lnSpcReduction="10000"/>
          </a:bodyPr>
          <a:lstStyle/>
          <a:p>
            <a:pPr>
              <a:lnSpc>
                <a:spcPct val="80000"/>
              </a:lnSpc>
            </a:pPr>
            <a:endParaRPr lang="en-US" altLang="en-US" sz="2500"/>
          </a:p>
          <a:p>
            <a:pPr>
              <a:lnSpc>
                <a:spcPct val="80000"/>
              </a:lnSpc>
            </a:pPr>
            <a:endParaRPr lang="en-US" altLang="en-US" sz="2500"/>
          </a:p>
          <a:p>
            <a:pPr>
              <a:lnSpc>
                <a:spcPct val="80000"/>
              </a:lnSpc>
            </a:pPr>
            <a:endParaRPr lang="en-US" altLang="en-US" sz="2500"/>
          </a:p>
          <a:p>
            <a:pPr>
              <a:lnSpc>
                <a:spcPct val="80000"/>
              </a:lnSpc>
            </a:pPr>
            <a:endParaRPr lang="en-US" altLang="en-US" sz="2500"/>
          </a:p>
          <a:p>
            <a:pPr>
              <a:lnSpc>
                <a:spcPct val="80000"/>
              </a:lnSpc>
              <a:buFont typeface="Wingdings 3" panose="05040102010807070707" pitchFamily="18" charset="2"/>
              <a:buNone/>
            </a:pPr>
            <a:r>
              <a:rPr lang="en-US" altLang="en-US" sz="2500"/>
              <a:t>   Secret of Pixars successful computer animated films. </a:t>
            </a:r>
          </a:p>
          <a:p>
            <a:pPr>
              <a:lnSpc>
                <a:spcPct val="80000"/>
              </a:lnSpc>
            </a:pPr>
            <a:r>
              <a:rPr lang="en-US" altLang="en-US" sz="2400"/>
              <a:t>a. All employees must have freedom to communicate to other employees.</a:t>
            </a:r>
          </a:p>
          <a:p>
            <a:pPr>
              <a:lnSpc>
                <a:spcPct val="80000"/>
              </a:lnSpc>
            </a:pPr>
            <a:r>
              <a:rPr lang="en-US" altLang="en-US" sz="2400"/>
              <a:t>b. Safe for everyone to offer ideas.</a:t>
            </a:r>
          </a:p>
          <a:p>
            <a:pPr>
              <a:lnSpc>
                <a:spcPct val="80000"/>
              </a:lnSpc>
            </a:pPr>
            <a:r>
              <a:rPr lang="en-US" altLang="en-US" sz="2400"/>
              <a:t>c. the company must stay close to innovations occurring in the academic community. </a:t>
            </a:r>
          </a:p>
        </p:txBody>
      </p:sp>
      <p:pic>
        <p:nvPicPr>
          <p:cNvPr id="22532" name="Content Placeholder 3" descr="Pixar-Studios.jpg">
            <a:extLst>
              <a:ext uri="{FF2B5EF4-FFF2-40B4-BE49-F238E27FC236}">
                <a16:creationId xmlns:a16="http://schemas.microsoft.com/office/drawing/2014/main" id="{5F3B1986-6EE8-4C26-8CD2-CBBC46AEA6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3505200"/>
          </a:xfrm>
        </p:spPr>
      </p:pic>
      <p:pic>
        <p:nvPicPr>
          <p:cNvPr id="22533" name="Picture 2" descr="C:\Users\saad hashmi\Downloads\Pixar-Studios.jpg">
            <a:extLst>
              <a:ext uri="{FF2B5EF4-FFF2-40B4-BE49-F238E27FC236}">
                <a16:creationId xmlns:a16="http://schemas.microsoft.com/office/drawing/2014/main" id="{21932519-000E-BE19-1F0A-555A29250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a:extLst>
              <a:ext uri="{FF2B5EF4-FFF2-40B4-BE49-F238E27FC236}">
                <a16:creationId xmlns:a16="http://schemas.microsoft.com/office/drawing/2014/main" id="{42DB24CC-3B26-7723-AC3A-C145CEA39BA2}"/>
              </a:ext>
            </a:extLst>
          </p:cNvPr>
          <p:cNvSpPr>
            <a:spLocks noGrp="1"/>
          </p:cNvSpPr>
          <p:nvPr>
            <p:ph idx="1"/>
          </p:nvPr>
        </p:nvSpPr>
        <p:spPr>
          <a:xfrm>
            <a:off x="1325254" y="1573524"/>
            <a:ext cx="8946541" cy="4195481"/>
          </a:xfrm>
        </p:spPr>
        <p:txBody>
          <a:bodyPr>
            <a:normAutofit/>
          </a:bodyPr>
          <a:lstStyle/>
          <a:p>
            <a:pPr algn="just">
              <a:lnSpc>
                <a:spcPct val="80000"/>
              </a:lnSpc>
            </a:pPr>
            <a:r>
              <a:rPr lang="en-US" altLang="en-US" sz="2300" dirty="0"/>
              <a:t>Pixar developed the "Pixar Braintrust," the studio's primary creative development process, in which all directors, writers, and lead storyboard artists at the studio look at each other's projects regularly and give each other very candid "notes" .The Braintrust operates under a philosophy of a "filmmaker-driven studio", in which creative ones help each other move their films forward through a process somewhat like peer review, as opposed to the traditional Hollywood approach of an "executive-driven studio“</a:t>
            </a:r>
          </a:p>
          <a:p>
            <a:pPr algn="just">
              <a:lnSpc>
                <a:spcPct val="80000"/>
              </a:lnSpc>
            </a:pPr>
            <a:endParaRPr lang="en-US" altLang="en-US" sz="2300" dirty="0"/>
          </a:p>
          <a:p>
            <a:pPr algn="just">
              <a:lnSpc>
                <a:spcPct val="80000"/>
              </a:lnSpc>
            </a:pPr>
            <a:r>
              <a:rPr lang="en-US" altLang="en-US" sz="2300" dirty="0"/>
              <a:t>Pixar university offers a collection of in-house courses for training and cross-training employees within their specialty areas.</a:t>
            </a:r>
          </a:p>
          <a:p>
            <a:pPr algn="just">
              <a:lnSpc>
                <a:spcPct val="80000"/>
              </a:lnSpc>
            </a:pPr>
            <a:endParaRPr lang="en-US" altLang="en-US" sz="2300" dirty="0"/>
          </a:p>
        </p:txBody>
      </p:sp>
      <p:sp>
        <p:nvSpPr>
          <p:cNvPr id="3" name="Title 2">
            <a:extLst>
              <a:ext uri="{FF2B5EF4-FFF2-40B4-BE49-F238E27FC236}">
                <a16:creationId xmlns:a16="http://schemas.microsoft.com/office/drawing/2014/main" id="{70CB3EE3-29C4-7A96-45C4-69D4C9F40DED}"/>
              </a:ext>
            </a:extLst>
          </p:cNvPr>
          <p:cNvSpPr>
            <a:spLocks noGrp="1"/>
          </p:cNvSpPr>
          <p:nvPr>
            <p:ph type="title"/>
          </p:nvPr>
        </p:nvSpPr>
        <p:spPr/>
        <p:txBody>
          <a:bodyPr/>
          <a:lstStyle/>
          <a:p>
            <a:pPr algn="ctr">
              <a:defRPr/>
            </a:pPr>
            <a:r>
              <a:rPr lang="en-US" dirty="0"/>
              <a:t>Pixar </a:t>
            </a:r>
            <a:r>
              <a:rPr lang="en-US" dirty="0" err="1"/>
              <a:t>Braintrust</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8">
            <a:extLst>
              <a:ext uri="{FF2B5EF4-FFF2-40B4-BE49-F238E27FC236}">
                <a16:creationId xmlns:a16="http://schemas.microsoft.com/office/drawing/2014/main" id="{1D694676-4553-A3A7-6571-9137655091EB}"/>
              </a:ext>
            </a:extLst>
          </p:cNvPr>
          <p:cNvSpPr txBox="1">
            <a:spLocks noChangeArrowheads="1"/>
          </p:cNvSpPr>
          <p:nvPr/>
        </p:nvSpPr>
        <p:spPr bwMode="auto">
          <a:xfrm>
            <a:off x="2247900" y="0"/>
            <a:ext cx="7696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eaLnBrk="1" hangingPunct="1">
              <a:spcBef>
                <a:spcPct val="50000"/>
              </a:spcBef>
              <a:buClrTx/>
              <a:buSzTx/>
              <a:buFontTx/>
              <a:buNone/>
            </a:pPr>
            <a:r>
              <a:rPr lang="en-US" altLang="en-US" sz="3000" b="1" dirty="0">
                <a:latin typeface="Verdana" panose="020B0604030504040204" pitchFamily="34" charset="0"/>
                <a:cs typeface="Times New Roman" panose="02020603050405020304" pitchFamily="18" charset="0"/>
              </a:rPr>
              <a:t>A Systematic Approach To Training </a:t>
            </a:r>
          </a:p>
        </p:txBody>
      </p:sp>
      <p:sp>
        <p:nvSpPr>
          <p:cNvPr id="24579" name="Text Box 39">
            <a:extLst>
              <a:ext uri="{FF2B5EF4-FFF2-40B4-BE49-F238E27FC236}">
                <a16:creationId xmlns:a16="http://schemas.microsoft.com/office/drawing/2014/main" id="{7F1F8082-E394-7534-6C63-5BC68BDFC7BE}"/>
              </a:ext>
            </a:extLst>
          </p:cNvPr>
          <p:cNvSpPr txBox="1">
            <a:spLocks noChangeArrowheads="1"/>
          </p:cNvSpPr>
          <p:nvPr/>
        </p:nvSpPr>
        <p:spPr bwMode="auto">
          <a:xfrm>
            <a:off x="2133600" y="540543"/>
            <a:ext cx="81534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Lucida Sans Unicode" panose="020B0602030504020204" pitchFamily="34" charset="0"/>
              </a:defRPr>
            </a:lvl9pPr>
          </a:lstStyle>
          <a:p>
            <a:pPr algn="just" eaLnBrk="1" hangingPunct="1">
              <a:lnSpc>
                <a:spcPct val="110000"/>
              </a:lnSpc>
              <a:spcBef>
                <a:spcPct val="50000"/>
              </a:spcBef>
              <a:buClrTx/>
              <a:buSzTx/>
              <a:buFontTx/>
              <a:buNone/>
            </a:pPr>
            <a:r>
              <a:rPr lang="en-US" altLang="en-US" sz="1800" dirty="0">
                <a:latin typeface="Arial" panose="020B0604020202020204" pitchFamily="34" charset="0"/>
                <a:cs typeface="Times New Roman" panose="02020603050405020304" pitchFamily="18" charset="0"/>
              </a:rPr>
              <a:t>A systematic approach to training would consist of three phases: training needs assessment, implementation and evaluation </a:t>
            </a:r>
          </a:p>
        </p:txBody>
      </p:sp>
      <p:sp>
        <p:nvSpPr>
          <p:cNvPr id="24580" name="Text Box 44">
            <a:extLst>
              <a:ext uri="{FF2B5EF4-FFF2-40B4-BE49-F238E27FC236}">
                <a16:creationId xmlns:a16="http://schemas.microsoft.com/office/drawing/2014/main" id="{50FF2673-52A3-1887-426C-57024D85A598}"/>
              </a:ext>
            </a:extLst>
          </p:cNvPr>
          <p:cNvSpPr txBox="1">
            <a:spLocks noChangeArrowheads="1"/>
          </p:cNvSpPr>
          <p:nvPr/>
        </p:nvSpPr>
        <p:spPr bwMode="auto">
          <a:xfrm>
            <a:off x="167269" y="1167209"/>
            <a:ext cx="11942955"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71550">
              <a:spcBef>
                <a:spcPts val="400"/>
              </a:spcBef>
              <a:buClr>
                <a:schemeClr val="accent1"/>
              </a:buClr>
              <a:buSzPct val="68000"/>
              <a:buFont typeface="Wingdings 3" panose="05040102010807070707" pitchFamily="18" charset="2"/>
              <a:buChar char=""/>
              <a:tabLst>
                <a:tab pos="400050" algn="l"/>
                <a:tab pos="628650" algn="l"/>
              </a:tabLst>
              <a:defRPr sz="2700">
                <a:solidFill>
                  <a:schemeClr val="tx1"/>
                </a:solidFill>
                <a:latin typeface="Lucida Sans Unicode" panose="020B0602030504020204" pitchFamily="34" charset="0"/>
              </a:defRPr>
            </a:lvl1pPr>
            <a:lvl2pPr marL="742950" indent="-285750" defTabSz="971550">
              <a:spcBef>
                <a:spcPts val="325"/>
              </a:spcBef>
              <a:buClr>
                <a:schemeClr val="accent1"/>
              </a:buClr>
              <a:buFont typeface="Verdana" panose="020B0604030504040204" pitchFamily="34" charset="0"/>
              <a:buChar char="◦"/>
              <a:tabLst>
                <a:tab pos="400050" algn="l"/>
                <a:tab pos="628650" algn="l"/>
              </a:tabLst>
              <a:defRPr sz="2300">
                <a:solidFill>
                  <a:schemeClr val="tx1"/>
                </a:solidFill>
                <a:latin typeface="Lucida Sans Unicode" panose="020B0602030504020204" pitchFamily="34" charset="0"/>
              </a:defRPr>
            </a:lvl2pPr>
            <a:lvl3pPr marL="1143000" indent="-228600" defTabSz="971550">
              <a:spcBef>
                <a:spcPts val="350"/>
              </a:spcBef>
              <a:buClr>
                <a:schemeClr val="accent2"/>
              </a:buClr>
              <a:buSzPct val="100000"/>
              <a:buFont typeface="Wingdings 2" panose="05020102010507070707" pitchFamily="18" charset="2"/>
              <a:buChar char=""/>
              <a:tabLst>
                <a:tab pos="400050" algn="l"/>
                <a:tab pos="628650" algn="l"/>
              </a:tabLst>
              <a:defRPr sz="2100">
                <a:solidFill>
                  <a:schemeClr val="tx1"/>
                </a:solidFill>
                <a:latin typeface="Lucida Sans Unicode" panose="020B0602030504020204" pitchFamily="34" charset="0"/>
              </a:defRPr>
            </a:lvl3pPr>
            <a:lvl4pPr marL="1600200" indent="-228600" defTabSz="971550">
              <a:spcBef>
                <a:spcPts val="350"/>
              </a:spcBef>
              <a:buClr>
                <a:schemeClr val="accent2"/>
              </a:buClr>
              <a:buFont typeface="Wingdings 2" panose="05020102010507070707" pitchFamily="18" charset="2"/>
              <a:buChar char=""/>
              <a:tabLst>
                <a:tab pos="400050" algn="l"/>
                <a:tab pos="628650" algn="l"/>
              </a:tabLst>
              <a:defRPr sz="1900">
                <a:solidFill>
                  <a:schemeClr val="tx1"/>
                </a:solidFill>
                <a:latin typeface="Lucida Sans Unicode" panose="020B0602030504020204" pitchFamily="34" charset="0"/>
              </a:defRPr>
            </a:lvl4pPr>
            <a:lvl5pPr marL="2057400" indent="-228600" defTabSz="971550">
              <a:spcBef>
                <a:spcPts val="350"/>
              </a:spcBef>
              <a:buClr>
                <a:schemeClr val="accent2"/>
              </a:buClr>
              <a:buFont typeface="Wingdings 2" panose="05020102010507070707" pitchFamily="18" charset="2"/>
              <a:buChar char=""/>
              <a:tabLst>
                <a:tab pos="400050" algn="l"/>
                <a:tab pos="628650" algn="l"/>
              </a:tabLst>
              <a:defRPr sz="2000">
                <a:solidFill>
                  <a:schemeClr val="tx1"/>
                </a:solidFill>
                <a:latin typeface="Lucida Sans Unicode" panose="020B0602030504020204" pitchFamily="34" charset="0"/>
              </a:defRPr>
            </a:lvl5pPr>
            <a:lvl6pPr marL="2514600" indent="-228600" defTabSz="971550" eaLnBrk="0" fontAlgn="base" hangingPunct="0">
              <a:spcBef>
                <a:spcPts val="350"/>
              </a:spcBef>
              <a:spcAft>
                <a:spcPct val="0"/>
              </a:spcAft>
              <a:buClr>
                <a:schemeClr val="accent2"/>
              </a:buClr>
              <a:buFont typeface="Wingdings 2" panose="05020102010507070707" pitchFamily="18" charset="2"/>
              <a:buChar char=""/>
              <a:tabLst>
                <a:tab pos="400050" algn="l"/>
                <a:tab pos="628650" algn="l"/>
              </a:tabLst>
              <a:defRPr sz="2000">
                <a:solidFill>
                  <a:schemeClr val="tx1"/>
                </a:solidFill>
                <a:latin typeface="Lucida Sans Unicode" panose="020B0602030504020204" pitchFamily="34" charset="0"/>
              </a:defRPr>
            </a:lvl6pPr>
            <a:lvl7pPr marL="2971800" indent="-228600" defTabSz="971550" eaLnBrk="0" fontAlgn="base" hangingPunct="0">
              <a:spcBef>
                <a:spcPts val="350"/>
              </a:spcBef>
              <a:spcAft>
                <a:spcPct val="0"/>
              </a:spcAft>
              <a:buClr>
                <a:schemeClr val="accent2"/>
              </a:buClr>
              <a:buFont typeface="Wingdings 2" panose="05020102010507070707" pitchFamily="18" charset="2"/>
              <a:buChar char=""/>
              <a:tabLst>
                <a:tab pos="400050" algn="l"/>
                <a:tab pos="628650" algn="l"/>
              </a:tabLst>
              <a:defRPr sz="2000">
                <a:solidFill>
                  <a:schemeClr val="tx1"/>
                </a:solidFill>
                <a:latin typeface="Lucida Sans Unicode" panose="020B0602030504020204" pitchFamily="34" charset="0"/>
              </a:defRPr>
            </a:lvl7pPr>
            <a:lvl8pPr marL="3429000" indent="-228600" defTabSz="971550" eaLnBrk="0" fontAlgn="base" hangingPunct="0">
              <a:spcBef>
                <a:spcPts val="350"/>
              </a:spcBef>
              <a:spcAft>
                <a:spcPct val="0"/>
              </a:spcAft>
              <a:buClr>
                <a:schemeClr val="accent2"/>
              </a:buClr>
              <a:buFont typeface="Wingdings 2" panose="05020102010507070707" pitchFamily="18" charset="2"/>
              <a:buChar char=""/>
              <a:tabLst>
                <a:tab pos="400050" algn="l"/>
                <a:tab pos="628650" algn="l"/>
              </a:tabLst>
              <a:defRPr sz="2000">
                <a:solidFill>
                  <a:schemeClr val="tx1"/>
                </a:solidFill>
                <a:latin typeface="Lucida Sans Unicode" panose="020B0602030504020204" pitchFamily="34" charset="0"/>
              </a:defRPr>
            </a:lvl8pPr>
            <a:lvl9pPr marL="3886200" indent="-228600" defTabSz="971550" eaLnBrk="0" fontAlgn="base" hangingPunct="0">
              <a:spcBef>
                <a:spcPts val="350"/>
              </a:spcBef>
              <a:spcAft>
                <a:spcPct val="0"/>
              </a:spcAft>
              <a:buClr>
                <a:schemeClr val="accent2"/>
              </a:buClr>
              <a:buFont typeface="Wingdings 2" panose="05020102010507070707" pitchFamily="18" charset="2"/>
              <a:buChar char=""/>
              <a:tabLst>
                <a:tab pos="400050" algn="l"/>
                <a:tab pos="628650" algn="l"/>
              </a:tabLst>
              <a:defRPr sz="2000">
                <a:solidFill>
                  <a:schemeClr val="tx1"/>
                </a:solidFill>
                <a:latin typeface="Lucida Sans Unicode" panose="020B0602030504020204" pitchFamily="34" charset="0"/>
              </a:defRPr>
            </a:lvl9pPr>
          </a:lstStyle>
          <a:p>
            <a:pPr algn="just" eaLnBrk="1" hangingPunct="1">
              <a:spcBef>
                <a:spcPct val="50000"/>
              </a:spcBef>
              <a:buClrTx/>
              <a:buSzTx/>
              <a:buFontTx/>
              <a:buNone/>
            </a:pPr>
            <a:r>
              <a:rPr lang="en-US" altLang="en-US" sz="2000" b="1" dirty="0">
                <a:latin typeface="Arial" panose="020B0604020202020204" pitchFamily="34" charset="0"/>
                <a:cs typeface="Times New Roman" panose="02020603050405020304" pitchFamily="18" charset="0"/>
              </a:rPr>
              <a:t>Training needs assessment</a:t>
            </a:r>
            <a:endParaRPr lang="en-US" altLang="en-US" sz="2000" dirty="0">
              <a:latin typeface="Arial" panose="020B0604020202020204" pitchFamily="34" charset="0"/>
              <a:cs typeface="Times New Roman" panose="02020603050405020304" pitchFamily="18" charset="0"/>
            </a:endParaRPr>
          </a:p>
          <a:p>
            <a:pPr algn="just" eaLnBrk="1" hangingPunct="1">
              <a:spcBef>
                <a:spcPct val="50000"/>
              </a:spcBef>
              <a:buClrTx/>
              <a:buSzTx/>
              <a:buFontTx/>
              <a:buNone/>
            </a:pPr>
            <a:r>
              <a:rPr lang="en-US" altLang="en-US" sz="1800" dirty="0">
                <a:latin typeface="Arial" panose="020B0604020202020204" pitchFamily="34" charset="0"/>
                <a:cs typeface="Times New Roman" panose="02020603050405020304" pitchFamily="18" charset="0"/>
              </a:rPr>
              <a:t>Training efforts must aim at meeting the needs of the </a:t>
            </a:r>
            <a:r>
              <a:rPr lang="en-US" altLang="en-US" sz="1800" dirty="0" err="1">
                <a:latin typeface="Arial" panose="020B0604020202020204" pitchFamily="34" charset="0"/>
                <a:cs typeface="Times New Roman" panose="02020603050405020304" pitchFamily="18" charset="0"/>
              </a:rPr>
              <a:t>organiation</a:t>
            </a:r>
            <a:r>
              <a:rPr lang="en-US" altLang="en-US" sz="1800" dirty="0">
                <a:latin typeface="Arial" panose="020B0604020202020204" pitchFamily="34" charset="0"/>
                <a:cs typeface="Times New Roman" panose="02020603050405020304" pitchFamily="18" charset="0"/>
              </a:rPr>
              <a:t> and the individual employees. This, essentially, involves three types of analysis:</a:t>
            </a:r>
          </a:p>
          <a:p>
            <a:pPr algn="just" eaLnBrk="1" hangingPunct="1">
              <a:spcBef>
                <a:spcPct val="50000"/>
              </a:spcBef>
              <a:buClrTx/>
              <a:buSzTx/>
              <a:buFontTx/>
              <a:buNone/>
            </a:pPr>
            <a:r>
              <a:rPr lang="en-US" altLang="en-US" sz="1800" b="1" i="1" dirty="0">
                <a:latin typeface="Arial" panose="020B0604020202020204" pitchFamily="34" charset="0"/>
                <a:cs typeface="Times New Roman" panose="02020603050405020304" pitchFamily="18" charset="0"/>
              </a:rPr>
              <a:t>a. 	</a:t>
            </a:r>
            <a:r>
              <a:rPr lang="en-US" altLang="en-US" sz="1800" b="1" i="1" dirty="0" err="1">
                <a:latin typeface="Arial" panose="020B0604020202020204" pitchFamily="34" charset="0"/>
                <a:cs typeface="Times New Roman" panose="02020603050405020304" pitchFamily="18" charset="0"/>
              </a:rPr>
              <a:t>Organisational</a:t>
            </a:r>
            <a:r>
              <a:rPr lang="en-US" altLang="en-US" sz="1800" b="1" i="1" dirty="0">
                <a:latin typeface="Arial" panose="020B0604020202020204" pitchFamily="34" charset="0"/>
                <a:cs typeface="Times New Roman" panose="02020603050405020304" pitchFamily="18" charset="0"/>
              </a:rPr>
              <a:t> analysis</a:t>
            </a:r>
            <a:r>
              <a:rPr lang="en-US" altLang="en-US" sz="1800" b="1" dirty="0">
                <a:latin typeface="Arial" panose="020B0604020202020204" pitchFamily="34" charset="0"/>
                <a:cs typeface="Times New Roman" panose="02020603050405020304" pitchFamily="18" charset="0"/>
              </a:rPr>
              <a:t>:</a:t>
            </a:r>
            <a:r>
              <a:rPr lang="en-US" altLang="en-US" sz="1800" b="1" dirty="0">
                <a:solidFill>
                  <a:srgbClr val="FF6600"/>
                </a:solidFill>
                <a:latin typeface="Arial" panose="020B0604020202020204" pitchFamily="34" charset="0"/>
                <a:cs typeface="Times New Roman" panose="02020603050405020304" pitchFamily="18" charset="0"/>
              </a:rPr>
              <a:t> </a:t>
            </a:r>
            <a:r>
              <a:rPr lang="en-US" altLang="en-US" sz="1800" dirty="0">
                <a:latin typeface="Arial" panose="020B0604020202020204" pitchFamily="34" charset="0"/>
                <a:cs typeface="Times New Roman" panose="02020603050405020304" pitchFamily="18" charset="0"/>
              </a:rPr>
              <a:t>This is a study of the entire organization in terms of its objectives</a:t>
            </a:r>
            <a:r>
              <a:rPr lang="en-US" altLang="en-US" sz="1800" dirty="0">
                <a:solidFill>
                  <a:schemeClr val="tx2"/>
                </a:solidFill>
                <a:latin typeface="Arial" panose="020B0604020202020204" pitchFamily="34" charset="0"/>
                <a:cs typeface="Times New Roman" panose="02020603050405020304" pitchFamily="18" charset="0"/>
              </a:rPr>
              <a:t>,  utilization of resources to achieve objectives etc.</a:t>
            </a:r>
            <a:r>
              <a:rPr lang="en-US" altLang="en-US" sz="1800" dirty="0">
                <a:solidFill>
                  <a:schemeClr val="tx2"/>
                </a:solidFill>
                <a:latin typeface="Symbol" panose="05050102010706020507" pitchFamily="18" charset="2"/>
                <a:cs typeface="Times New Roman" panose="02020603050405020304" pitchFamily="18" charset="0"/>
              </a:rPr>
              <a:t> </a:t>
            </a:r>
            <a:endParaRPr lang="en-US" altLang="en-US" sz="1800" dirty="0">
              <a:solidFill>
                <a:schemeClr val="tx2"/>
              </a:solidFill>
              <a:latin typeface="Arial" panose="020B0604020202020204" pitchFamily="34" charset="0"/>
            </a:endParaRPr>
          </a:p>
        </p:txBody>
      </p:sp>
      <p:sp>
        <p:nvSpPr>
          <p:cNvPr id="71717" name="Text Box 37">
            <a:extLst>
              <a:ext uri="{FF2B5EF4-FFF2-40B4-BE49-F238E27FC236}">
                <a16:creationId xmlns:a16="http://schemas.microsoft.com/office/drawing/2014/main" id="{A4F7ECA3-2FB9-76AB-2C16-A8BC5B6DD9E2}"/>
              </a:ext>
            </a:extLst>
          </p:cNvPr>
          <p:cNvSpPr txBox="1">
            <a:spLocks noChangeArrowheads="1"/>
          </p:cNvSpPr>
          <p:nvPr/>
        </p:nvSpPr>
        <p:spPr bwMode="auto">
          <a:xfrm>
            <a:off x="197934" y="3050987"/>
            <a:ext cx="12024731" cy="1736309"/>
          </a:xfrm>
          <a:prstGeom prst="rect">
            <a:avLst/>
          </a:prstGeom>
          <a:noFill/>
          <a:ln w="9525">
            <a:noFill/>
            <a:miter lim="800000"/>
            <a:headEnd/>
            <a:tailEnd/>
          </a:ln>
          <a:effectLst/>
        </p:spPr>
        <p:txBody>
          <a:bodyPr wrap="square">
            <a:spAutoFit/>
          </a:bodyPr>
          <a:lstStyle/>
          <a:p>
            <a:pPr algn="just" defTabSz="466725">
              <a:lnSpc>
                <a:spcPct val="140000"/>
              </a:lnSpc>
              <a:spcBef>
                <a:spcPct val="50000"/>
              </a:spcBef>
              <a:buClr>
                <a:srgbClr val="CC0000"/>
              </a:buClr>
              <a:tabLst>
                <a:tab pos="342900" algn="l"/>
              </a:tabLst>
              <a:defRPr/>
            </a:pPr>
            <a:r>
              <a:rPr lang="en-US" b="1" i="1" dirty="0">
                <a:cs typeface="Times New Roman" pitchFamily="18" charset="0"/>
              </a:rPr>
              <a:t>b. Task or role analysis: </a:t>
            </a:r>
            <a:r>
              <a:rPr lang="en-US" dirty="0">
                <a:cs typeface="Times New Roman" pitchFamily="18" charset="0"/>
              </a:rPr>
              <a:t>This is a </a:t>
            </a:r>
            <a:r>
              <a:rPr lang="en-US" dirty="0">
                <a:solidFill>
                  <a:schemeClr val="tx2"/>
                </a:solidFill>
                <a:cs typeface="Times New Roman" pitchFamily="18" charset="0"/>
              </a:rPr>
              <a:t>detailed examination of a job, its components, its various operations, and the conditions under which it has to be performed. </a:t>
            </a:r>
          </a:p>
          <a:p>
            <a:pPr algn="just" defTabSz="466725">
              <a:lnSpc>
                <a:spcPct val="140000"/>
              </a:lnSpc>
              <a:spcBef>
                <a:spcPct val="50000"/>
              </a:spcBef>
              <a:buClr>
                <a:srgbClr val="CC0000"/>
              </a:buClr>
              <a:tabLst>
                <a:tab pos="342900" algn="l"/>
              </a:tabLst>
              <a:defRPr/>
            </a:pPr>
            <a:r>
              <a:rPr lang="en-US" b="1" i="1" dirty="0">
                <a:cs typeface="Times New Roman" pitchFamily="18" charset="0"/>
              </a:rPr>
              <a:t>c. Person analysis: </a:t>
            </a:r>
            <a:r>
              <a:rPr lang="en-US" dirty="0">
                <a:cs typeface="Times New Roman" pitchFamily="18" charset="0"/>
              </a:rPr>
              <a:t>here the focus is on the individual in a given job; 	</a:t>
            </a:r>
            <a:r>
              <a:rPr lang="en-US" dirty="0">
                <a:solidFill>
                  <a:schemeClr val="tx2"/>
                </a:solidFill>
                <a:cs typeface="Times New Roman" pitchFamily="18" charset="0"/>
              </a:rPr>
              <a:t>whether training is needed, whether the employee is capable of being trained, and the areas where the training is needed</a:t>
            </a:r>
            <a:r>
              <a:rPr lang="en-US" dirty="0">
                <a:cs typeface="Times New Roman" pitchFamily="18" charset="0"/>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43" name="Text Box 115">
            <a:extLst>
              <a:ext uri="{FF2B5EF4-FFF2-40B4-BE49-F238E27FC236}">
                <a16:creationId xmlns:a16="http://schemas.microsoft.com/office/drawing/2014/main" id="{43074918-F1EE-1544-98A9-FB0417BCAB5E}"/>
              </a:ext>
            </a:extLst>
          </p:cNvPr>
          <p:cNvSpPr txBox="1">
            <a:spLocks noChangeArrowheads="1"/>
          </p:cNvSpPr>
          <p:nvPr/>
        </p:nvSpPr>
        <p:spPr bwMode="auto">
          <a:xfrm>
            <a:off x="2133600" y="2286001"/>
            <a:ext cx="4876800" cy="549275"/>
          </a:xfrm>
          <a:prstGeom prst="rect">
            <a:avLst/>
          </a:prstGeom>
          <a:noFill/>
          <a:ln w="9525">
            <a:noFill/>
            <a:miter lim="800000"/>
            <a:headEnd/>
            <a:tailEnd/>
          </a:ln>
          <a:effectLst/>
        </p:spPr>
        <p:txBody>
          <a:bodyPr>
            <a:spAutoFit/>
          </a:bodyPr>
          <a:lstStyle/>
          <a:p>
            <a:pPr eaLnBrk="1" hangingPunct="1">
              <a:spcBef>
                <a:spcPct val="50000"/>
              </a:spcBef>
              <a:defRPr/>
            </a:pPr>
            <a:r>
              <a:rPr lang="en-US" sz="3000" b="1" dirty="0">
                <a:latin typeface="+mj-lt"/>
                <a:cs typeface="Times New Roman" pitchFamily="18" charset="0"/>
              </a:rPr>
              <a:t>Objectives of training</a:t>
            </a:r>
            <a:r>
              <a:rPr lang="en-US" sz="3000" b="1" dirty="0">
                <a:latin typeface="+mj-lt"/>
              </a:rPr>
              <a:t> </a:t>
            </a:r>
          </a:p>
        </p:txBody>
      </p:sp>
      <p:graphicFrame>
        <p:nvGraphicFramePr>
          <p:cNvPr id="28676" name="Object 2">
            <a:extLst>
              <a:ext uri="{FF2B5EF4-FFF2-40B4-BE49-F238E27FC236}">
                <a16:creationId xmlns:a16="http://schemas.microsoft.com/office/drawing/2014/main" id="{AD9C19A4-D8DF-2063-6574-F16E34BA26B7}"/>
              </a:ext>
            </a:extLst>
          </p:cNvPr>
          <p:cNvGraphicFramePr>
            <a:graphicFrameLocks noChangeAspect="1"/>
          </p:cNvGraphicFramePr>
          <p:nvPr/>
        </p:nvGraphicFramePr>
        <p:xfrm>
          <a:off x="2209800" y="3048001"/>
          <a:ext cx="7467600" cy="2500313"/>
        </p:xfrm>
        <a:graphic>
          <a:graphicData uri="http://schemas.openxmlformats.org/presentationml/2006/ole">
            <mc:AlternateContent xmlns:mc="http://schemas.openxmlformats.org/markup-compatibility/2006">
              <mc:Choice xmlns:v="urn:schemas-microsoft-com:vml" Requires="v">
                <p:oleObj name="CorelDRAW" r:id="rId2" imgW="4837176" imgH="1618488" progId="">
                  <p:embed/>
                </p:oleObj>
              </mc:Choice>
              <mc:Fallback>
                <p:oleObj name="CorelDRAW" r:id="rId2" imgW="4837176" imgH="1618488" progId="">
                  <p:embed/>
                  <p:pic>
                    <p:nvPicPr>
                      <p:cNvPr id="28676" name="Object 2">
                        <a:extLst>
                          <a:ext uri="{FF2B5EF4-FFF2-40B4-BE49-F238E27FC236}">
                            <a16:creationId xmlns:a16="http://schemas.microsoft.com/office/drawing/2014/main" id="{AD9C19A4-D8DF-2063-6574-F16E34BA2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048001"/>
                        <a:ext cx="7467600" cy="250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6">
            <a:extLst>
              <a:ext uri="{FF2B5EF4-FFF2-40B4-BE49-F238E27FC236}">
                <a16:creationId xmlns:a16="http://schemas.microsoft.com/office/drawing/2014/main" id="{1C2CC8C4-0896-8B06-CE07-CBB0E3177639}"/>
              </a:ext>
            </a:extLst>
          </p:cNvPr>
          <p:cNvSpPr>
            <a:spLocks noGrp="1" noChangeArrowheads="1"/>
          </p:cNvSpPr>
          <p:nvPr>
            <p:ph type="title"/>
          </p:nvPr>
        </p:nvSpPr>
        <p:spPr>
          <a:xfrm>
            <a:off x="1981200" y="195263"/>
            <a:ext cx="8229600" cy="1511300"/>
          </a:xfrm>
        </p:spPr>
        <p:txBody>
          <a:bodyPr/>
          <a:lstStyle/>
          <a:p>
            <a:pPr>
              <a:defRPr/>
            </a:pPr>
            <a:r>
              <a:rPr lang="en-US" sz="4000" u="sng" dirty="0">
                <a:solidFill>
                  <a:schemeClr val="tx1"/>
                </a:solidFill>
              </a:rPr>
              <a:t>METHODS OF TRAINING &amp; DEVELOPMENT</a:t>
            </a:r>
          </a:p>
        </p:txBody>
      </p:sp>
      <p:sp>
        <p:nvSpPr>
          <p:cNvPr id="11267" name="Rectangle 7">
            <a:extLst>
              <a:ext uri="{FF2B5EF4-FFF2-40B4-BE49-F238E27FC236}">
                <a16:creationId xmlns:a16="http://schemas.microsoft.com/office/drawing/2014/main" id="{FDFF2407-1E3B-AE7A-C8AE-A5322F045155}"/>
              </a:ext>
            </a:extLst>
          </p:cNvPr>
          <p:cNvSpPr>
            <a:spLocks noGrp="1" noChangeArrowheads="1"/>
          </p:cNvSpPr>
          <p:nvPr>
            <p:ph type="body" idx="1"/>
          </p:nvPr>
        </p:nvSpPr>
        <p:spPr>
          <a:xfrm>
            <a:off x="1524000" y="1371601"/>
            <a:ext cx="9067800" cy="6359525"/>
          </a:xfrm>
        </p:spPr>
        <p:txBody>
          <a:bodyPr/>
          <a:lstStyle/>
          <a:p>
            <a:pPr marL="476250" indent="-476250">
              <a:lnSpc>
                <a:spcPct val="80000"/>
              </a:lnSpc>
              <a:spcBef>
                <a:spcPct val="0"/>
              </a:spcBef>
              <a:buSzPct val="99000"/>
              <a:buNone/>
            </a:pPr>
            <a:endParaRPr lang="en-US" altLang="en-US" sz="2200" dirty="0">
              <a:latin typeface="Andalus" pitchFamily="18" charset="0"/>
              <a:cs typeface="Andalus" pitchFamily="18" charset="0"/>
            </a:endParaRPr>
          </a:p>
          <a:p>
            <a:pPr marL="476250" indent="-476250">
              <a:spcBef>
                <a:spcPts val="700"/>
              </a:spcBef>
              <a:buNone/>
            </a:pPr>
            <a:r>
              <a:rPr lang="en-US" altLang="en-US" sz="2200" b="1" dirty="0">
                <a:latin typeface="Andalus" pitchFamily="18" charset="0"/>
                <a:cs typeface="Andalus" pitchFamily="18" charset="0"/>
              </a:rPr>
              <a:t>        </a:t>
            </a:r>
            <a:r>
              <a:rPr lang="en-US" altLang="en-US" sz="2200" b="1" u="sng" dirty="0">
                <a:latin typeface="Andalus" pitchFamily="18" charset="0"/>
                <a:cs typeface="Andalus" pitchFamily="18" charset="0"/>
              </a:rPr>
              <a:t>COACHING: </a:t>
            </a:r>
            <a:r>
              <a:rPr lang="en-US" altLang="en-US" sz="2200" dirty="0">
                <a:latin typeface="Andalus" pitchFamily="18" charset="0"/>
                <a:cs typeface="Andalus" pitchFamily="18" charset="0"/>
              </a:rPr>
              <a:t> Coaching  is an important and potentially effective approach if coach is properly trained and oriented. The technique involves direct personnel instruction and guidance, usually, with extensive demonstration and continuous critical evaluation and correction. The advantage is increased motivation for the trainee.</a:t>
            </a:r>
          </a:p>
          <a:p>
            <a:pPr marL="476250" indent="-476250">
              <a:buNone/>
            </a:pPr>
            <a:endParaRPr lang="en-US" altLang="en-US" sz="2200" dirty="0">
              <a:latin typeface="Andalus" pitchFamily="18" charset="0"/>
              <a:cs typeface="Andalus" pitchFamily="18" charset="0"/>
            </a:endParaRPr>
          </a:p>
          <a:p>
            <a:pPr marL="476250" indent="-476250">
              <a:buNone/>
            </a:pPr>
            <a:r>
              <a:rPr lang="en-US" altLang="en-US" sz="2200" b="1" dirty="0">
                <a:latin typeface="Andalus" pitchFamily="18" charset="0"/>
                <a:cs typeface="Andalus" pitchFamily="18" charset="0"/>
              </a:rPr>
              <a:t>  	 </a:t>
            </a:r>
            <a:r>
              <a:rPr lang="en-US" altLang="en-US" sz="2200" b="1" u="sng" dirty="0">
                <a:latin typeface="Andalus" pitchFamily="18" charset="0"/>
                <a:cs typeface="Andalus" pitchFamily="18" charset="0"/>
              </a:rPr>
              <a:t>MENTORING</a:t>
            </a:r>
            <a:r>
              <a:rPr lang="en-US" altLang="en-US" sz="2200" b="1" dirty="0">
                <a:latin typeface="Andalus" pitchFamily="18" charset="0"/>
                <a:cs typeface="Andalus" pitchFamily="18" charset="0"/>
              </a:rPr>
              <a:t>: </a:t>
            </a:r>
            <a:r>
              <a:rPr lang="en-US" altLang="en-US" sz="2200" dirty="0">
                <a:latin typeface="Andalus" pitchFamily="18" charset="0"/>
                <a:cs typeface="Andalus" pitchFamily="18" charset="0"/>
              </a:rPr>
              <a:t>The use of an experienced person to teach and train   someone with less knowledge and experience in a given area is known as mentoring. The mentor nurtures, supports and guides the efforts of young persons by giving appropriate information, feedback and encouragement whenever required. </a:t>
            </a:r>
          </a:p>
          <a:p>
            <a:pPr marL="476250" indent="-476250">
              <a:lnSpc>
                <a:spcPct val="80000"/>
              </a:lnSpc>
              <a:spcBef>
                <a:spcPts val="700"/>
              </a:spcBef>
              <a:buNone/>
            </a:pPr>
            <a:br>
              <a:rPr lang="en-US" altLang="en-US" sz="2400" dirty="0"/>
            </a:br>
            <a:br>
              <a:rPr lang="en-US" altLang="en-US" sz="2400" dirty="0"/>
            </a:br>
            <a:endParaRPr lang="en-US" altLang="en-US" sz="24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
            <a:extLst>
              <a:ext uri="{FF2B5EF4-FFF2-40B4-BE49-F238E27FC236}">
                <a16:creationId xmlns:a16="http://schemas.microsoft.com/office/drawing/2014/main" id="{19A95D08-998E-A5DD-2DFD-44F5C660FE3C}"/>
              </a:ext>
            </a:extLst>
          </p:cNvPr>
          <p:cNvSpPr>
            <a:spLocks noGrp="1"/>
          </p:cNvSpPr>
          <p:nvPr>
            <p:ph idx="1"/>
          </p:nvPr>
        </p:nvSpPr>
        <p:spPr>
          <a:xfrm>
            <a:off x="1981200" y="533400"/>
            <a:ext cx="8229600" cy="4711700"/>
          </a:xfrm>
        </p:spPr>
        <p:txBody>
          <a:bodyPr>
            <a:normAutofit fontScale="92500" lnSpcReduction="10000"/>
          </a:bodyPr>
          <a:lstStyle/>
          <a:p>
            <a:r>
              <a:rPr lang="en-US" altLang="en-US" sz="2800" b="1" u="sng" dirty="0">
                <a:latin typeface="Andalus" pitchFamily="18" charset="0"/>
                <a:cs typeface="Andalus" pitchFamily="18" charset="0"/>
              </a:rPr>
              <a:t>ROLE PLAYS:</a:t>
            </a:r>
            <a:r>
              <a:rPr lang="en-US" altLang="en-US" sz="2800" dirty="0">
                <a:latin typeface="Andalus" pitchFamily="18" charset="0"/>
                <a:cs typeface="Andalus" pitchFamily="18" charset="0"/>
              </a:rPr>
              <a:t> Role plays have trainees act out the character assigned to them. Information regarding the situation (Work or interpersonal problem) is provided to them. </a:t>
            </a:r>
          </a:p>
          <a:p>
            <a:r>
              <a:rPr lang="en-US" altLang="en-US" sz="2800" b="1" u="sng" dirty="0">
                <a:latin typeface="Andalus" pitchFamily="18" charset="0"/>
                <a:cs typeface="Andalus" pitchFamily="18" charset="0"/>
              </a:rPr>
              <a:t>CASE STUDY:</a:t>
            </a:r>
            <a:r>
              <a:rPr lang="en-US" altLang="en-US" sz="2800" b="1" dirty="0">
                <a:latin typeface="Andalus" pitchFamily="18" charset="0"/>
                <a:cs typeface="Andalus" pitchFamily="18" charset="0"/>
              </a:rPr>
              <a:t> </a:t>
            </a:r>
            <a:r>
              <a:rPr lang="en-US" altLang="en-US" sz="2800" dirty="0">
                <a:latin typeface="Andalus" pitchFamily="18" charset="0"/>
                <a:cs typeface="Andalus" pitchFamily="18" charset="0"/>
              </a:rPr>
              <a:t>This technique, which has been developed and </a:t>
            </a:r>
            <a:r>
              <a:rPr lang="en-US" altLang="en-US" sz="2800" dirty="0" err="1">
                <a:latin typeface="Andalus" pitchFamily="18" charset="0"/>
                <a:cs typeface="Andalus" pitchFamily="18" charset="0"/>
              </a:rPr>
              <a:t>popularised</a:t>
            </a:r>
            <a:r>
              <a:rPr lang="en-US" altLang="en-US" sz="2800" dirty="0">
                <a:latin typeface="Andalus" pitchFamily="18" charset="0"/>
                <a:cs typeface="Andalus" pitchFamily="18" charset="0"/>
              </a:rPr>
              <a:t> by the Harvard Business School, U.S.A. is one of the most common form of training. A case is a written account of a trained reporter or analyst seeking to describe an actual situation. This method increases the trainee's power of observation, helping him to ask better questions and to look for a broader range of problems.</a:t>
            </a:r>
          </a:p>
          <a:p>
            <a:endParaRPr lang="en-US" altLang="en-US" sz="2400" dirty="0">
              <a:latin typeface="Andalus" pitchFamily="18" charset="0"/>
              <a:cs typeface="Andalus"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a:extLst>
              <a:ext uri="{FF2B5EF4-FFF2-40B4-BE49-F238E27FC236}">
                <a16:creationId xmlns:a16="http://schemas.microsoft.com/office/drawing/2014/main" id="{F9DBFD50-6C17-A5B5-C2E9-1D3C30ED8048}"/>
              </a:ext>
            </a:extLst>
          </p:cNvPr>
          <p:cNvSpPr>
            <a:spLocks noGrp="1"/>
          </p:cNvSpPr>
          <p:nvPr>
            <p:ph idx="1"/>
          </p:nvPr>
        </p:nvSpPr>
        <p:spPr/>
        <p:txBody>
          <a:bodyPr/>
          <a:lstStyle/>
          <a:p>
            <a:r>
              <a:rPr lang="en-US" altLang="en-US"/>
              <a:t>A learning organisation is one whose employees continously learn new things and to use what they learn to improve product or service quality.</a:t>
            </a:r>
            <a:endParaRPr lang="en-GB" altLang="en-US"/>
          </a:p>
        </p:txBody>
      </p:sp>
      <p:sp>
        <p:nvSpPr>
          <p:cNvPr id="3" name="Title 2">
            <a:extLst>
              <a:ext uri="{FF2B5EF4-FFF2-40B4-BE49-F238E27FC236}">
                <a16:creationId xmlns:a16="http://schemas.microsoft.com/office/drawing/2014/main" id="{422A71B4-4483-E4A8-28D6-C02AC86F453F}"/>
              </a:ext>
            </a:extLst>
          </p:cNvPr>
          <p:cNvSpPr>
            <a:spLocks noGrp="1"/>
          </p:cNvSpPr>
          <p:nvPr>
            <p:ph type="title"/>
          </p:nvPr>
        </p:nvSpPr>
        <p:spPr/>
        <p:txBody>
          <a:bodyPr/>
          <a:lstStyle/>
          <a:p>
            <a:pPr>
              <a:defRPr/>
            </a:pPr>
            <a:r>
              <a:rPr lang="en-US" dirty="0"/>
              <a:t>Learning </a:t>
            </a:r>
            <a:r>
              <a:rPr lang="en-US" dirty="0" err="1"/>
              <a:t>Organisation</a:t>
            </a:r>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a:extLst>
              <a:ext uri="{FF2B5EF4-FFF2-40B4-BE49-F238E27FC236}">
                <a16:creationId xmlns:a16="http://schemas.microsoft.com/office/drawing/2014/main" id="{7BB100CB-35E6-E150-F15E-EBE8E377DF8A}"/>
              </a:ext>
            </a:extLst>
          </p:cNvPr>
          <p:cNvSpPr>
            <a:spLocks noGrp="1"/>
          </p:cNvSpPr>
          <p:nvPr>
            <p:ph idx="1"/>
          </p:nvPr>
        </p:nvSpPr>
        <p:spPr/>
        <p:txBody>
          <a:bodyPr>
            <a:normAutofit lnSpcReduction="10000"/>
          </a:bodyPr>
          <a:lstStyle/>
          <a:p>
            <a:pPr eaLnBrk="1" hangingPunct="1">
              <a:buFont typeface="Wingdings 3" panose="05040102010807070707" pitchFamily="18" charset="2"/>
              <a:buNone/>
            </a:pPr>
            <a:r>
              <a:rPr lang="en-US" altLang="en-US" sz="2400" i="1"/>
              <a:t>   Organisation learning is a process of detecting and correcting errors. </a:t>
            </a:r>
          </a:p>
          <a:p>
            <a:pPr eaLnBrk="1" hangingPunct="1">
              <a:buFont typeface="Wingdings 3" panose="05040102010807070707" pitchFamily="18" charset="2"/>
              <a:buNone/>
            </a:pPr>
            <a:r>
              <a:rPr lang="en-US" altLang="en-US"/>
              <a:t>						</a:t>
            </a:r>
            <a:r>
              <a:rPr lang="en-US" altLang="en-US" sz="2800"/>
              <a:t>(Chris Argyris) </a:t>
            </a:r>
          </a:p>
          <a:p>
            <a:pPr eaLnBrk="1" hangingPunct="1">
              <a:buFont typeface="Wingdings 3" panose="05040102010807070707" pitchFamily="18" charset="2"/>
              <a:buNone/>
            </a:pPr>
            <a:endParaRPr lang="en-US" altLang="en-US"/>
          </a:p>
          <a:p>
            <a:pPr eaLnBrk="1" hangingPunct="1">
              <a:buFont typeface="Wingdings 3" panose="05040102010807070707" pitchFamily="18" charset="2"/>
              <a:buNone/>
            </a:pPr>
            <a:r>
              <a:rPr lang="en-US" altLang="en-US" sz="2400" i="1"/>
              <a:t>  Organisations where people continually expand their capacity to create the results they truly desire, where new patterns of thinking are nurtured, where collective aspiration is set free, and where people are continually learning.   </a:t>
            </a:r>
          </a:p>
          <a:p>
            <a:pPr eaLnBrk="1" hangingPunct="1">
              <a:buFont typeface="Wingdings 3" panose="05040102010807070707" pitchFamily="18" charset="2"/>
              <a:buNone/>
            </a:pPr>
            <a:r>
              <a:rPr lang="en-US" altLang="en-US" sz="2400" i="1"/>
              <a:t>                                            </a:t>
            </a:r>
            <a:r>
              <a:rPr lang="en-US" altLang="en-US" sz="2800"/>
              <a:t>(Peter Senge) </a:t>
            </a:r>
          </a:p>
        </p:txBody>
      </p:sp>
      <p:sp>
        <p:nvSpPr>
          <p:cNvPr id="3" name="Title 2">
            <a:extLst>
              <a:ext uri="{FF2B5EF4-FFF2-40B4-BE49-F238E27FC236}">
                <a16:creationId xmlns:a16="http://schemas.microsoft.com/office/drawing/2014/main" id="{5347198E-4759-9769-9912-3132EEE39C2C}"/>
              </a:ext>
            </a:extLst>
          </p:cNvPr>
          <p:cNvSpPr>
            <a:spLocks noGrp="1"/>
          </p:cNvSpPr>
          <p:nvPr>
            <p:ph type="title"/>
          </p:nvPr>
        </p:nvSpPr>
        <p:spPr/>
        <p:txBody>
          <a:bodyPr/>
          <a:lstStyle/>
          <a:p>
            <a:pPr algn="ctr">
              <a:defRPr/>
            </a:pPr>
            <a:r>
              <a:rPr lang="en-US" dirty="0"/>
              <a:t>Learning </a:t>
            </a:r>
            <a:r>
              <a:rPr lang="en-US" dirty="0" err="1"/>
              <a:t>Organisations</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a:extLst>
              <a:ext uri="{FF2B5EF4-FFF2-40B4-BE49-F238E27FC236}">
                <a16:creationId xmlns:a16="http://schemas.microsoft.com/office/drawing/2014/main" id="{EF695AFA-BF3B-F07D-BE23-3DB8A5DACC71}"/>
              </a:ext>
            </a:extLst>
          </p:cNvPr>
          <p:cNvSpPr>
            <a:spLocks noGrp="1"/>
          </p:cNvSpPr>
          <p:nvPr>
            <p:ph idx="1"/>
          </p:nvPr>
        </p:nvSpPr>
        <p:spPr/>
        <p:txBody>
          <a:bodyPr/>
          <a:lstStyle/>
          <a:p>
            <a:pPr>
              <a:buFont typeface="Wingdings 3" panose="05040102010807070707" pitchFamily="18" charset="2"/>
              <a:buNone/>
            </a:pPr>
            <a:r>
              <a:rPr lang="en-US" altLang="en-US" i="1">
                <a:latin typeface="Andalus" pitchFamily="18" charset="0"/>
                <a:cs typeface="Andalus" pitchFamily="18" charset="0"/>
              </a:rPr>
              <a:t>  To meet the demands of the fast-changing competitive scene, we must simply learn to love change as much as we have hated it in the past.</a:t>
            </a:r>
          </a:p>
          <a:p>
            <a:pPr>
              <a:buFont typeface="Wingdings 3" panose="05040102010807070707" pitchFamily="18" charset="2"/>
              <a:buNone/>
            </a:pPr>
            <a:r>
              <a:rPr lang="en-US" altLang="en-US" i="1"/>
              <a:t>             (Tom Peters)</a:t>
            </a:r>
          </a:p>
          <a:p>
            <a:pPr>
              <a:buFont typeface="Wingdings 3" panose="05040102010807070707" pitchFamily="18" charset="2"/>
              <a:buNone/>
            </a:pPr>
            <a:r>
              <a:rPr lang="en-US" altLang="en-US" i="1"/>
              <a:t>    </a:t>
            </a:r>
            <a:endParaRPr lang="en-US" altLang="en-US"/>
          </a:p>
          <a:p>
            <a:pPr>
              <a:buFont typeface="Wingdings 3" panose="05040102010807070707" pitchFamily="18" charset="2"/>
              <a:buNone/>
            </a:pPr>
            <a:r>
              <a:rPr lang="en-US" altLang="en-US"/>
              <a:t>                 </a:t>
            </a:r>
          </a:p>
        </p:txBody>
      </p:sp>
      <p:sp>
        <p:nvSpPr>
          <p:cNvPr id="3" name="Title 2">
            <a:extLst>
              <a:ext uri="{FF2B5EF4-FFF2-40B4-BE49-F238E27FC236}">
                <a16:creationId xmlns:a16="http://schemas.microsoft.com/office/drawing/2014/main" id="{17D4A62B-AEE3-768F-9CF3-645D73D0767D}"/>
              </a:ext>
            </a:extLst>
          </p:cNvPr>
          <p:cNvSpPr>
            <a:spLocks noGrp="1"/>
          </p:cNvSpPr>
          <p:nvPr>
            <p:ph type="title"/>
          </p:nvPr>
        </p:nvSpPr>
        <p:spPr/>
        <p:txBody>
          <a:bodyPr/>
          <a:lstStyle/>
          <a:p>
            <a:pPr algn="ctr">
              <a:defRPr/>
            </a:pPr>
            <a:r>
              <a:rPr lang="en-US" dirty="0"/>
              <a:t>Managing Change</a:t>
            </a:r>
          </a:p>
        </p:txBody>
      </p:sp>
      <p:pic>
        <p:nvPicPr>
          <p:cNvPr id="18436" name="Picture 4" descr="C:\Users\saad hashmi\Downloads\images (2).jpg">
            <a:extLst>
              <a:ext uri="{FF2B5EF4-FFF2-40B4-BE49-F238E27FC236}">
                <a16:creationId xmlns:a16="http://schemas.microsoft.com/office/drawing/2014/main" id="{8B9BC1C3-C6E2-AEB5-B455-45A1E0F1C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5550" y="2862264"/>
            <a:ext cx="39814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BF2ACF7-9BAF-AE1A-9448-32E5F8F038E8}"/>
              </a:ext>
            </a:extLst>
          </p:cNvPr>
          <p:cNvSpPr>
            <a:spLocks noGrp="1" noChangeArrowheads="1"/>
          </p:cNvSpPr>
          <p:nvPr>
            <p:ph type="title"/>
          </p:nvPr>
        </p:nvSpPr>
        <p:spPr>
          <a:xfrm>
            <a:off x="2209800" y="228601"/>
            <a:ext cx="7772400" cy="1135063"/>
          </a:xfrm>
        </p:spPr>
        <p:txBody>
          <a:bodyPr/>
          <a:lstStyle/>
          <a:p>
            <a:pPr eaLnBrk="1" hangingPunct="1">
              <a:defRPr/>
            </a:pPr>
            <a:r>
              <a:rPr lang="en-US" sz="3200"/>
              <a:t>Organizational Change Management</a:t>
            </a:r>
          </a:p>
        </p:txBody>
      </p:sp>
      <p:sp>
        <p:nvSpPr>
          <p:cNvPr id="19459" name="Rectangle 3">
            <a:extLst>
              <a:ext uri="{FF2B5EF4-FFF2-40B4-BE49-F238E27FC236}">
                <a16:creationId xmlns:a16="http://schemas.microsoft.com/office/drawing/2014/main" id="{A230097D-E650-82FB-13D0-064B2ECC9273}"/>
              </a:ext>
            </a:extLst>
          </p:cNvPr>
          <p:cNvSpPr>
            <a:spLocks noGrp="1" noChangeArrowheads="1"/>
          </p:cNvSpPr>
          <p:nvPr>
            <p:ph type="body" idx="1"/>
          </p:nvPr>
        </p:nvSpPr>
        <p:spPr>
          <a:xfrm>
            <a:off x="2209800" y="1219200"/>
            <a:ext cx="7772400" cy="4800600"/>
          </a:xfrm>
          <a:noFill/>
        </p:spPr>
        <p:txBody>
          <a:bodyPr>
            <a:normAutofit fontScale="92500" lnSpcReduction="10000"/>
          </a:bodyPr>
          <a:lstStyle/>
          <a:p>
            <a:pPr eaLnBrk="1" hangingPunct="1">
              <a:lnSpc>
                <a:spcPct val="90000"/>
              </a:lnSpc>
              <a:buSzPct val="80000"/>
              <a:buFont typeface="Wingdings 3" panose="05040102010807070707" pitchFamily="18" charset="2"/>
              <a:buNone/>
            </a:pPr>
            <a:r>
              <a:rPr lang="en-US" altLang="en-US" sz="2800" dirty="0"/>
              <a:t>   What is Organizational Change? </a:t>
            </a:r>
          </a:p>
          <a:p>
            <a:pPr lvl="2" eaLnBrk="1" hangingPunct="1">
              <a:lnSpc>
                <a:spcPct val="90000"/>
              </a:lnSpc>
              <a:buFont typeface="Wingdings" panose="05000000000000000000" pitchFamily="2" charset="2"/>
              <a:buNone/>
            </a:pPr>
            <a:endParaRPr lang="en-US" altLang="en-US" sz="2400" dirty="0">
              <a:latin typeface="Andalus" pitchFamily="18" charset="0"/>
              <a:cs typeface="Andalus" pitchFamily="18" charset="0"/>
            </a:endParaRPr>
          </a:p>
          <a:p>
            <a:pPr lvl="1" eaLnBrk="1" hangingPunct="1">
              <a:lnSpc>
                <a:spcPct val="90000"/>
              </a:lnSpc>
              <a:buSzPct val="90000"/>
            </a:pPr>
            <a:r>
              <a:rPr lang="en-US" altLang="en-US" sz="2400" dirty="0">
                <a:latin typeface="Andalus" pitchFamily="18" charset="0"/>
                <a:cs typeface="Andalus" pitchFamily="18" charset="0"/>
              </a:rPr>
              <a:t>It is generally considered to be an organization-wide change, as opposed to smaller changes such as adding a new person.  </a:t>
            </a:r>
          </a:p>
          <a:p>
            <a:pPr lvl="2" eaLnBrk="1" hangingPunct="1">
              <a:lnSpc>
                <a:spcPct val="90000"/>
              </a:lnSpc>
              <a:buFont typeface="Wingdings" panose="05000000000000000000" pitchFamily="2" charset="2"/>
              <a:buNone/>
            </a:pPr>
            <a:endParaRPr lang="en-US" altLang="en-US" sz="2400" dirty="0">
              <a:latin typeface="Andalus" pitchFamily="18" charset="0"/>
              <a:cs typeface="Andalus" pitchFamily="18" charset="0"/>
            </a:endParaRPr>
          </a:p>
          <a:p>
            <a:pPr lvl="1" eaLnBrk="1" hangingPunct="1">
              <a:lnSpc>
                <a:spcPct val="90000"/>
              </a:lnSpc>
              <a:buSzPct val="90000"/>
            </a:pPr>
            <a:r>
              <a:rPr lang="en-US" altLang="en-US" sz="2400" dirty="0">
                <a:latin typeface="Andalus" pitchFamily="18" charset="0"/>
                <a:cs typeface="Andalus" pitchFamily="18" charset="0"/>
              </a:rPr>
              <a:t>It includes the management of changes to the organizational culture, business processes, physical environment, job design / responsibilities, staff skills / knowledge and policies / procedures. </a:t>
            </a:r>
            <a:r>
              <a:rPr lang="en-US" altLang="en-US" sz="2400" dirty="0" err="1">
                <a:latin typeface="Andalus" pitchFamily="18" charset="0"/>
                <a:cs typeface="Andalus" pitchFamily="18" charset="0"/>
              </a:rPr>
              <a:t>E.g</a:t>
            </a:r>
            <a:r>
              <a:rPr lang="en-US" altLang="en-US" sz="2400" dirty="0">
                <a:latin typeface="Andalus" pitchFamily="18" charset="0"/>
                <a:cs typeface="Andalus" pitchFamily="18" charset="0"/>
              </a:rPr>
              <a:t> paperwork</a:t>
            </a:r>
          </a:p>
          <a:p>
            <a:pPr lvl="1" eaLnBrk="1" hangingPunct="1">
              <a:lnSpc>
                <a:spcPct val="90000"/>
              </a:lnSpc>
              <a:buFontTx/>
              <a:buNone/>
            </a:pPr>
            <a:endParaRPr lang="en-US" altLang="en-US" sz="2400" dirty="0">
              <a:latin typeface="Andalus" pitchFamily="18" charset="0"/>
              <a:cs typeface="Andalus" pitchFamily="18" charset="0"/>
            </a:endParaRPr>
          </a:p>
          <a:p>
            <a:pPr lvl="1" eaLnBrk="1" hangingPunct="1">
              <a:lnSpc>
                <a:spcPct val="90000"/>
              </a:lnSpc>
              <a:buSzPct val="90000"/>
            </a:pPr>
            <a:r>
              <a:rPr lang="en-US" altLang="en-US" sz="2400" dirty="0">
                <a:latin typeface="Andalus" pitchFamily="18" charset="0"/>
                <a:cs typeface="Andalus" pitchFamily="18" charset="0"/>
              </a:rPr>
              <a:t>When the change is fundamental and radical, one might call it organizational transformation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62DE484-7199-227E-BE58-8F7262EC5BA3}"/>
              </a:ext>
            </a:extLst>
          </p:cNvPr>
          <p:cNvSpPr>
            <a:spLocks noGrp="1" noChangeArrowheads="1"/>
          </p:cNvSpPr>
          <p:nvPr>
            <p:ph type="title"/>
          </p:nvPr>
        </p:nvSpPr>
        <p:spPr>
          <a:xfrm>
            <a:off x="2209800" y="76201"/>
            <a:ext cx="7772400" cy="771525"/>
          </a:xfrm>
        </p:spPr>
        <p:txBody>
          <a:bodyPr/>
          <a:lstStyle/>
          <a:p>
            <a:pPr eaLnBrk="1" hangingPunct="1">
              <a:defRPr/>
            </a:pPr>
            <a:r>
              <a:rPr lang="en-US" sz="3200" dirty="0"/>
              <a:t>Organizational Change Management</a:t>
            </a:r>
          </a:p>
        </p:txBody>
      </p:sp>
      <p:pic>
        <p:nvPicPr>
          <p:cNvPr id="21507" name="Content Placeholder 5" descr="GENERIC-HumanChangeCurve.png">
            <a:extLst>
              <a:ext uri="{FF2B5EF4-FFF2-40B4-BE49-F238E27FC236}">
                <a16:creationId xmlns:a16="http://schemas.microsoft.com/office/drawing/2014/main" id="{B46A6894-3CD0-9997-A40E-84EEEB469F9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0" y="762000"/>
            <a:ext cx="9144000" cy="6096000"/>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saad hashmi\Downloads\happy_potato_smiling_postcard-r200712f07ecc4964bc07686ef487cba1_vgbaq_8byvr_512.jpg">
            <a:extLst>
              <a:ext uri="{FF2B5EF4-FFF2-40B4-BE49-F238E27FC236}">
                <a16:creationId xmlns:a16="http://schemas.microsoft.com/office/drawing/2014/main" id="{83AC9A4D-EA60-CFF6-ACFA-FE0946D70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0"/>
            <a:ext cx="3505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Content Placeholder 1">
            <a:extLst>
              <a:ext uri="{FF2B5EF4-FFF2-40B4-BE49-F238E27FC236}">
                <a16:creationId xmlns:a16="http://schemas.microsoft.com/office/drawing/2014/main" id="{ADF710DD-3E7B-90FD-5089-587D998EF81E}"/>
              </a:ext>
            </a:extLst>
          </p:cNvPr>
          <p:cNvSpPr>
            <a:spLocks noGrp="1"/>
          </p:cNvSpPr>
          <p:nvPr>
            <p:ph idx="1"/>
          </p:nvPr>
        </p:nvSpPr>
        <p:spPr/>
        <p:txBody>
          <a:bodyPr/>
          <a:lstStyle/>
          <a:p>
            <a:endParaRPr lang="en-US" altLang="en-US"/>
          </a:p>
          <a:p>
            <a:pPr>
              <a:buFont typeface="Wingdings 3" panose="05040102010807070707" pitchFamily="18" charset="2"/>
              <a:buNone/>
            </a:pPr>
            <a:endParaRPr lang="en-US" altLang="en-US"/>
          </a:p>
          <a:p>
            <a:pPr>
              <a:buFont typeface="Wingdings 3" panose="05040102010807070707" pitchFamily="18" charset="2"/>
              <a:buNone/>
            </a:pPr>
            <a:endParaRPr lang="en-US" altLang="en-US"/>
          </a:p>
          <a:p>
            <a:pPr>
              <a:buFont typeface="Wingdings 3" panose="05040102010807070707" pitchFamily="18" charset="2"/>
              <a:buNone/>
            </a:pPr>
            <a:endParaRPr lang="en-US" altLang="en-US"/>
          </a:p>
          <a:p>
            <a:r>
              <a:rPr lang="en-US" altLang="en-US"/>
              <a:t>People are like….it is not going to happen.</a:t>
            </a:r>
          </a:p>
          <a:p>
            <a:r>
              <a:rPr lang="en-US" altLang="en-US"/>
              <a:t>Stupid idea…But  all great ideas were considered once stupid.</a:t>
            </a:r>
          </a:p>
          <a:p>
            <a:r>
              <a:rPr lang="en-US" altLang="en-US"/>
              <a:t>I want to see others succeeding first. </a:t>
            </a:r>
          </a:p>
          <a:p>
            <a:r>
              <a:rPr lang="en-US" altLang="en-US"/>
              <a:t>If they succeed I will join then</a:t>
            </a:r>
          </a:p>
        </p:txBody>
      </p:sp>
      <p:sp>
        <p:nvSpPr>
          <p:cNvPr id="3" name="Title 2">
            <a:extLst>
              <a:ext uri="{FF2B5EF4-FFF2-40B4-BE49-F238E27FC236}">
                <a16:creationId xmlns:a16="http://schemas.microsoft.com/office/drawing/2014/main" id="{EDDC6AA5-0242-CAA4-EABE-19B01C10A0C4}"/>
              </a:ext>
            </a:extLst>
          </p:cNvPr>
          <p:cNvSpPr>
            <a:spLocks noGrp="1"/>
          </p:cNvSpPr>
          <p:nvPr>
            <p:ph type="title"/>
          </p:nvPr>
        </p:nvSpPr>
        <p:spPr>
          <a:xfrm>
            <a:off x="1752600" y="1524000"/>
            <a:ext cx="8229600" cy="1143000"/>
          </a:xfrm>
        </p:spPr>
        <p:txBody>
          <a:bodyPr>
            <a:normAutofit fontScale="90000"/>
          </a:bodyPr>
          <a:lstStyle/>
          <a:p>
            <a:pPr>
              <a:defRPr/>
            </a:pPr>
            <a:r>
              <a:rPr lang="en-US" dirty="0"/>
              <a:t>Lessons from Potato</a:t>
            </a:r>
            <a:br>
              <a:rPr lang="en-US" dirty="0"/>
            </a:br>
            <a:r>
              <a:rPr lang="en-US" dirty="0"/>
              <a:t>Ice Breaker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7DB64199-503C-754B-020B-DD6E2EC23CF3}"/>
              </a:ext>
            </a:extLst>
          </p:cNvPr>
          <p:cNvSpPr>
            <a:spLocks noGrp="1" noChangeArrowheads="1"/>
          </p:cNvSpPr>
          <p:nvPr>
            <p:ph type="title"/>
          </p:nvPr>
        </p:nvSpPr>
        <p:spPr>
          <a:xfrm>
            <a:off x="2209800" y="203200"/>
            <a:ext cx="7772400" cy="889000"/>
          </a:xfrm>
        </p:spPr>
        <p:txBody>
          <a:bodyPr/>
          <a:lstStyle/>
          <a:p>
            <a:pPr eaLnBrk="1" hangingPunct="1">
              <a:defRPr/>
            </a:pPr>
            <a:r>
              <a:rPr lang="en-US" sz="3200"/>
              <a:t>Organizational Change Management</a:t>
            </a:r>
          </a:p>
        </p:txBody>
      </p:sp>
      <p:sp>
        <p:nvSpPr>
          <p:cNvPr id="24579" name="Rectangle 3">
            <a:extLst>
              <a:ext uri="{FF2B5EF4-FFF2-40B4-BE49-F238E27FC236}">
                <a16:creationId xmlns:a16="http://schemas.microsoft.com/office/drawing/2014/main" id="{3ABEA68E-02B5-4527-C68F-400C7CA103EF}"/>
              </a:ext>
            </a:extLst>
          </p:cNvPr>
          <p:cNvSpPr>
            <a:spLocks noGrp="1" noChangeArrowheads="1"/>
          </p:cNvSpPr>
          <p:nvPr>
            <p:ph type="body" idx="1"/>
          </p:nvPr>
        </p:nvSpPr>
        <p:spPr>
          <a:xfrm>
            <a:off x="2209800" y="1254126"/>
            <a:ext cx="7772400" cy="4841875"/>
          </a:xfrm>
          <a:noFill/>
        </p:spPr>
        <p:txBody>
          <a:bodyPr/>
          <a:lstStyle/>
          <a:p>
            <a:pPr eaLnBrk="1" hangingPunct="1">
              <a:buSzPct val="80000"/>
              <a:buFont typeface="Wingdings 3" panose="05040102010807070707" pitchFamily="18" charset="2"/>
              <a:buNone/>
            </a:pPr>
            <a:r>
              <a:rPr lang="en-US" altLang="en-US" sz="2800"/>
              <a:t>How prevalent is Resistance to Change? </a:t>
            </a:r>
          </a:p>
          <a:p>
            <a:pPr lvl="2" eaLnBrk="1" hangingPunct="1">
              <a:buFont typeface="Wingdings" panose="05000000000000000000" pitchFamily="2" charset="2"/>
              <a:buNone/>
            </a:pPr>
            <a:endParaRPr lang="en-US" altLang="en-US" sz="2000"/>
          </a:p>
          <a:p>
            <a:pPr lvl="1" eaLnBrk="1" hangingPunct="1">
              <a:buSzPct val="90000"/>
            </a:pPr>
            <a:r>
              <a:rPr lang="en-US" altLang="en-US" sz="2400"/>
              <a:t>It is generally acknowledged that in an average organization, when the intention for change is announced:</a:t>
            </a:r>
          </a:p>
          <a:p>
            <a:pPr lvl="1" eaLnBrk="1" hangingPunct="1">
              <a:buFontTx/>
              <a:buNone/>
            </a:pPr>
            <a:endParaRPr lang="en-US" altLang="en-US" sz="2400"/>
          </a:p>
          <a:p>
            <a:pPr lvl="2" eaLnBrk="1" hangingPunct="1">
              <a:buSzPct val="60000"/>
              <a:buFont typeface="Wingdings 2" panose="05020102010507070707" pitchFamily="18" charset="2"/>
              <a:buNone/>
            </a:pPr>
            <a:r>
              <a:rPr lang="en-US" altLang="en-US" sz="2000" b="1"/>
              <a:t>. 15% of the workforce is eager to accept it</a:t>
            </a:r>
          </a:p>
          <a:p>
            <a:pPr lvl="2" eaLnBrk="1" hangingPunct="1">
              <a:buSzPct val="60000"/>
              <a:buFont typeface="Wingdings 2" panose="05020102010507070707" pitchFamily="18" charset="2"/>
              <a:buNone/>
            </a:pPr>
            <a:r>
              <a:rPr lang="en-US" altLang="en-US" sz="2000" b="1"/>
              <a:t>. 15% of the workforce is dead set against it</a:t>
            </a:r>
          </a:p>
          <a:p>
            <a:pPr lvl="2" eaLnBrk="1" hangingPunct="1">
              <a:buSzPct val="60000"/>
              <a:buFont typeface="Wingdings 2" panose="05020102010507070707" pitchFamily="18" charset="2"/>
              <a:buNone/>
            </a:pPr>
            <a:r>
              <a:rPr lang="en-US" altLang="en-US" sz="2000" b="1"/>
              <a:t> . 70% is sitting on the fence, waiting to see what happens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100" name="Rectangle 4">
            <a:extLst>
              <a:ext uri="{FF2B5EF4-FFF2-40B4-BE49-F238E27FC236}">
                <a16:creationId xmlns:a16="http://schemas.microsoft.com/office/drawing/2014/main" id="{5F32AF6C-5A7E-3ED0-5929-6FC0D4D76D9F}"/>
              </a:ext>
            </a:extLst>
          </p:cNvPr>
          <p:cNvSpPr>
            <a:spLocks noGrp="1" noChangeArrowheads="1"/>
          </p:cNvSpPr>
          <p:nvPr>
            <p:ph type="title"/>
          </p:nvPr>
        </p:nvSpPr>
        <p:spPr/>
        <p:txBody>
          <a:bodyPr>
            <a:normAutofit/>
          </a:bodyPr>
          <a:lstStyle/>
          <a:p>
            <a:pPr eaLnBrk="1" hangingPunct="1">
              <a:defRPr/>
            </a:pPr>
            <a:r>
              <a:rPr lang="en-US"/>
              <a:t>Overcoming Resistance to Change</a:t>
            </a:r>
          </a:p>
        </p:txBody>
      </p:sp>
      <p:sp>
        <p:nvSpPr>
          <p:cNvPr id="26627" name="Rectangle 5">
            <a:extLst>
              <a:ext uri="{FF2B5EF4-FFF2-40B4-BE49-F238E27FC236}">
                <a16:creationId xmlns:a16="http://schemas.microsoft.com/office/drawing/2014/main" id="{E9FF2D97-E90E-03C2-80CB-A06108CC368E}"/>
              </a:ext>
            </a:extLst>
          </p:cNvPr>
          <p:cNvSpPr>
            <a:spLocks noGrp="1" noChangeArrowheads="1"/>
          </p:cNvSpPr>
          <p:nvPr>
            <p:ph type="body" idx="1"/>
          </p:nvPr>
        </p:nvSpPr>
        <p:spPr/>
        <p:txBody>
          <a:bodyPr/>
          <a:lstStyle/>
          <a:p>
            <a:pPr eaLnBrk="1" hangingPunct="1">
              <a:spcBef>
                <a:spcPct val="40000"/>
              </a:spcBef>
            </a:pPr>
            <a:r>
              <a:rPr lang="en-US" altLang="en-US">
                <a:latin typeface="Andalus" pitchFamily="18" charset="0"/>
                <a:cs typeface="Andalus" pitchFamily="18" charset="0"/>
              </a:rPr>
              <a:t>What causes resistance?</a:t>
            </a:r>
          </a:p>
          <a:p>
            <a:pPr lvl="1" eaLnBrk="1" hangingPunct="1">
              <a:spcBef>
                <a:spcPct val="40000"/>
              </a:spcBef>
            </a:pPr>
            <a:r>
              <a:rPr lang="en-US" altLang="en-US">
                <a:latin typeface="Andalus" pitchFamily="18" charset="0"/>
                <a:cs typeface="Andalus" pitchFamily="18" charset="0"/>
              </a:rPr>
              <a:t>All behavior in organizations is a product of two kinds of forces—those striving to maintain the status quo and those pushing for change.</a:t>
            </a:r>
          </a:p>
          <a:p>
            <a:pPr eaLnBrk="1" hangingPunct="1">
              <a:spcBef>
                <a:spcPct val="40000"/>
              </a:spcBef>
            </a:pPr>
            <a:r>
              <a:rPr lang="en-US" altLang="en-US">
                <a:latin typeface="Andalus" pitchFamily="18" charset="0"/>
                <a:cs typeface="Andalus" pitchFamily="18" charset="0"/>
              </a:rPr>
              <a:t>Lewin’s Change Process</a:t>
            </a:r>
          </a:p>
          <a:p>
            <a:pPr lvl="1" eaLnBrk="1" hangingPunct="1">
              <a:spcBef>
                <a:spcPct val="40000"/>
              </a:spcBef>
            </a:pPr>
            <a:r>
              <a:rPr lang="en-US" altLang="en-US">
                <a:latin typeface="Andalus" pitchFamily="18" charset="0"/>
                <a:cs typeface="Andalus" pitchFamily="18" charset="0"/>
              </a:rPr>
              <a:t>Unfreezing: reducing the forces striving to maintain the status quo.</a:t>
            </a:r>
          </a:p>
          <a:p>
            <a:pPr lvl="1" eaLnBrk="1" hangingPunct="1">
              <a:spcBef>
                <a:spcPct val="40000"/>
              </a:spcBef>
            </a:pPr>
            <a:r>
              <a:rPr lang="en-US" altLang="en-US">
                <a:latin typeface="Andalus" pitchFamily="18" charset="0"/>
                <a:cs typeface="Andalus" pitchFamily="18" charset="0"/>
              </a:rPr>
              <a:t>Moving: developing new behaviors, values, and attitudes, sometimes through structural changes.</a:t>
            </a:r>
          </a:p>
          <a:p>
            <a:pPr lvl="1" eaLnBrk="1" hangingPunct="1">
              <a:spcBef>
                <a:spcPct val="40000"/>
              </a:spcBef>
            </a:pPr>
            <a:r>
              <a:rPr lang="en-US" altLang="en-US">
                <a:latin typeface="Andalus" pitchFamily="18" charset="0"/>
                <a:cs typeface="Andalus" pitchFamily="18" charset="0"/>
              </a:rPr>
              <a:t>Refreezing: reinforcing the changes.</a:t>
            </a:r>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2963</TotalTime>
  <Words>3802</Words>
  <Application>Microsoft Office PowerPoint</Application>
  <PresentationFormat>Widescreen</PresentationFormat>
  <Paragraphs>345</Paragraphs>
  <Slides>51</Slides>
  <Notes>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65" baseType="lpstr">
      <vt:lpstr>Andalus</vt:lpstr>
      <vt:lpstr>Arial</vt:lpstr>
      <vt:lpstr>Baskerville Old Face</vt:lpstr>
      <vt:lpstr>Calibri</vt:lpstr>
      <vt:lpstr>Century Gothic</vt:lpstr>
      <vt:lpstr>Symbol</vt:lpstr>
      <vt:lpstr>Tahoma</vt:lpstr>
      <vt:lpstr>Times New Roman</vt:lpstr>
      <vt:lpstr>Verdana</vt:lpstr>
      <vt:lpstr>Wingdings</vt:lpstr>
      <vt:lpstr>Wingdings 2</vt:lpstr>
      <vt:lpstr>Wingdings 3</vt:lpstr>
      <vt:lpstr>Ion</vt:lpstr>
      <vt:lpstr>CorelDRAW</vt:lpstr>
      <vt:lpstr> Project HR &amp; Stakeholder Management: A Strategic Framework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Strategic Management Process</vt:lpstr>
      <vt:lpstr>Strategic Management Process </vt:lpstr>
      <vt:lpstr>Overview of Strategic Management</vt:lpstr>
      <vt:lpstr>Types of Strategic Planning</vt:lpstr>
      <vt:lpstr>Strategic Human Resource Management</vt:lpstr>
      <vt:lpstr>Linking Corporate and HR Strategies</vt:lpstr>
      <vt:lpstr>HR’S Strategic Roles</vt:lpstr>
      <vt:lpstr>HR’s Strategy Execution Role</vt:lpstr>
      <vt:lpstr>HR’s Strategy Formulation Role</vt:lpstr>
      <vt:lpstr>Basic Model of How to Align HR Strategy  and Actions with Business Strategy</vt:lpstr>
      <vt:lpstr>THREE IMPORTANT STRATEGIC HR TOOLS</vt:lpstr>
      <vt:lpstr>1. STARTEGY MAP</vt:lpstr>
      <vt:lpstr>PowerPoint Presentation</vt:lpstr>
      <vt:lpstr>2. HR SCORECARD</vt:lpstr>
      <vt:lpstr>3. DIGITAL DASHBOARD</vt:lpstr>
      <vt:lpstr>Strategic HR Relationships</vt:lpstr>
      <vt:lpstr>Training and Development </vt:lpstr>
      <vt:lpstr>PowerPoint Presentation</vt:lpstr>
      <vt:lpstr>PowerPoint Presentation</vt:lpstr>
      <vt:lpstr>PowerPoint Presentation</vt:lpstr>
      <vt:lpstr>PowerPoint Presentation</vt:lpstr>
      <vt:lpstr>Pixar Braintrust</vt:lpstr>
      <vt:lpstr>PowerPoint Presentation</vt:lpstr>
      <vt:lpstr>PowerPoint Presentation</vt:lpstr>
      <vt:lpstr>METHODS OF TRAINING &amp; DEVELOPMENT</vt:lpstr>
      <vt:lpstr>PowerPoint Presentation</vt:lpstr>
      <vt:lpstr>Learning Organisation</vt:lpstr>
      <vt:lpstr>Learning Organisations</vt:lpstr>
      <vt:lpstr>Managing Change</vt:lpstr>
      <vt:lpstr>Organizational Change Management</vt:lpstr>
      <vt:lpstr>Organizational Change Management</vt:lpstr>
      <vt:lpstr>Lessons from Potato Ice Breaker</vt:lpstr>
      <vt:lpstr>Organizational Change Management</vt:lpstr>
      <vt:lpstr>Overcoming Resistance to Change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Arsalan Fayyaz</dc:creator>
  <cp:lastModifiedBy>Arsalan Fayyaz</cp:lastModifiedBy>
  <cp:revision>49</cp:revision>
  <dcterms:created xsi:type="dcterms:W3CDTF">2025-11-29T21:50:52Z</dcterms:created>
  <dcterms:modified xsi:type="dcterms:W3CDTF">2025-12-13T14:43:23Z</dcterms:modified>
</cp:coreProperties>
</file>