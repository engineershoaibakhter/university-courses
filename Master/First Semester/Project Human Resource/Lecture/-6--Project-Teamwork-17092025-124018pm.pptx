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25"/>
  </p:notesMasterIdLst>
  <p:handoutMasterIdLst>
    <p:handoutMasterId r:id="rId26"/>
  </p:handoutMasterIdLst>
  <p:sldIdLst>
    <p:sldId id="313" r:id="rId2"/>
    <p:sldId id="314" r:id="rId3"/>
    <p:sldId id="259" r:id="rId4"/>
    <p:sldId id="257" r:id="rId5"/>
    <p:sldId id="260" r:id="rId6"/>
    <p:sldId id="290" r:id="rId7"/>
    <p:sldId id="289" r:id="rId8"/>
    <p:sldId id="262" r:id="rId9"/>
    <p:sldId id="282" r:id="rId10"/>
    <p:sldId id="284" r:id="rId11"/>
    <p:sldId id="285" r:id="rId12"/>
    <p:sldId id="286" r:id="rId13"/>
    <p:sldId id="287" r:id="rId14"/>
    <p:sldId id="288" r:id="rId15"/>
    <p:sldId id="283" r:id="rId16"/>
    <p:sldId id="309" r:id="rId17"/>
    <p:sldId id="270" r:id="rId18"/>
    <p:sldId id="293" r:id="rId19"/>
    <p:sldId id="276" r:id="rId20"/>
    <p:sldId id="277" r:id="rId21"/>
    <p:sldId id="271" r:id="rId22"/>
    <p:sldId id="278" r:id="rId23"/>
    <p:sldId id="315" r:id="rId24"/>
  </p:sldIdLst>
  <p:sldSz cx="9144000" cy="6858000" type="screen4x3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3F8F2B-1C52-4A53-BB9A-DEC9B4A0934A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GB"/>
        </a:p>
      </dgm:t>
    </dgm:pt>
    <dgm:pt modelId="{300E3BA5-093B-43BE-94A6-16EE3B0F081A}">
      <dgm:prSet/>
      <dgm:spPr/>
      <dgm:t>
        <a:bodyPr/>
        <a:lstStyle/>
        <a:p>
          <a:pPr algn="ctr" rtl="0"/>
          <a:r>
            <a:rPr lang="en-GB" b="1" i="1" dirty="0" smtClean="0"/>
            <a:t>“A chain is only as strong as its weakest link”</a:t>
          </a:r>
          <a:endParaRPr lang="en-GB" dirty="0"/>
        </a:p>
      </dgm:t>
    </dgm:pt>
    <dgm:pt modelId="{9C942262-2051-4DF9-94FC-441DA89FA998}" type="parTrans" cxnId="{0A39D393-6107-4CF4-9515-302AA36937B7}">
      <dgm:prSet/>
      <dgm:spPr/>
      <dgm:t>
        <a:bodyPr/>
        <a:lstStyle/>
        <a:p>
          <a:endParaRPr lang="en-GB"/>
        </a:p>
      </dgm:t>
    </dgm:pt>
    <dgm:pt modelId="{6D851D7E-CBEE-41B2-A512-2386888D363C}" type="sibTrans" cxnId="{0A39D393-6107-4CF4-9515-302AA36937B7}">
      <dgm:prSet/>
      <dgm:spPr/>
      <dgm:t>
        <a:bodyPr/>
        <a:lstStyle/>
        <a:p>
          <a:endParaRPr lang="en-GB"/>
        </a:p>
      </dgm:t>
    </dgm:pt>
    <dgm:pt modelId="{871229EA-CFBC-4C95-90D7-219EC4103EE6}" type="pres">
      <dgm:prSet presAssocID="{AB3F8F2B-1C52-4A53-BB9A-DEC9B4A0934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2D95F9A-2445-4B2C-8C10-713D57C5FBCC}" type="pres">
      <dgm:prSet presAssocID="{300E3BA5-093B-43BE-94A6-16EE3B0F081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A39D393-6107-4CF4-9515-302AA36937B7}" srcId="{AB3F8F2B-1C52-4A53-BB9A-DEC9B4A0934A}" destId="{300E3BA5-093B-43BE-94A6-16EE3B0F081A}" srcOrd="0" destOrd="0" parTransId="{9C942262-2051-4DF9-94FC-441DA89FA998}" sibTransId="{6D851D7E-CBEE-41B2-A512-2386888D363C}"/>
    <dgm:cxn modelId="{7AF624B0-5045-4001-A93C-ECA5B5AB9542}" type="presOf" srcId="{AB3F8F2B-1C52-4A53-BB9A-DEC9B4A0934A}" destId="{871229EA-CFBC-4C95-90D7-219EC4103EE6}" srcOrd="0" destOrd="0" presId="urn:microsoft.com/office/officeart/2005/8/layout/vList2"/>
    <dgm:cxn modelId="{CCDC7A31-AF20-4101-A61A-4636F3D7562F}" type="presOf" srcId="{300E3BA5-093B-43BE-94A6-16EE3B0F081A}" destId="{F2D95F9A-2445-4B2C-8C10-713D57C5FBCC}" srcOrd="0" destOrd="0" presId="urn:microsoft.com/office/officeart/2005/8/layout/vList2"/>
    <dgm:cxn modelId="{19E65029-CF09-4827-8C99-E4920C1C3C2A}" type="presParOf" srcId="{871229EA-CFBC-4C95-90D7-219EC4103EE6}" destId="{F2D95F9A-2445-4B2C-8C10-713D57C5FBC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8242B1-BF0A-4D5E-84C1-93F0F745C0F6}" type="doc">
      <dgm:prSet loTypeId="urn:microsoft.com/office/officeart/2005/8/layout/vList2" loCatId="list" qsTypeId="urn:microsoft.com/office/officeart/2005/8/quickstyle/3d2" qsCatId="3D" csTypeId="urn:microsoft.com/office/officeart/2005/8/colors/accent2_2" csCatId="accent2"/>
      <dgm:spPr/>
      <dgm:t>
        <a:bodyPr/>
        <a:lstStyle/>
        <a:p>
          <a:endParaRPr lang="en-GB"/>
        </a:p>
      </dgm:t>
    </dgm:pt>
    <dgm:pt modelId="{B051FD10-CB60-4078-A06A-7C1D913CB35F}">
      <dgm:prSet/>
      <dgm:spPr/>
      <dgm:t>
        <a:bodyPr/>
        <a:lstStyle/>
        <a:p>
          <a:pPr algn="ctr" rtl="0"/>
          <a:r>
            <a:rPr lang="en-GB" b="1" i="1" dirty="0" smtClean="0"/>
            <a:t>“So a team is as strong as its weakest member”</a:t>
          </a:r>
          <a:endParaRPr lang="en-GB" dirty="0"/>
        </a:p>
      </dgm:t>
    </dgm:pt>
    <dgm:pt modelId="{D68E3B4A-D8A5-40B0-9022-DE8D2A33A1C8}" type="parTrans" cxnId="{74016416-458B-483F-A5AE-48DB4FE7E2BE}">
      <dgm:prSet/>
      <dgm:spPr/>
      <dgm:t>
        <a:bodyPr/>
        <a:lstStyle/>
        <a:p>
          <a:endParaRPr lang="en-GB"/>
        </a:p>
      </dgm:t>
    </dgm:pt>
    <dgm:pt modelId="{814E166F-BFC9-4960-8C64-A8C3DA509567}" type="sibTrans" cxnId="{74016416-458B-483F-A5AE-48DB4FE7E2BE}">
      <dgm:prSet/>
      <dgm:spPr/>
      <dgm:t>
        <a:bodyPr/>
        <a:lstStyle/>
        <a:p>
          <a:endParaRPr lang="en-GB"/>
        </a:p>
      </dgm:t>
    </dgm:pt>
    <dgm:pt modelId="{FF724C47-BE1E-4E2F-B48B-F1B7CA59554C}" type="pres">
      <dgm:prSet presAssocID="{198242B1-BF0A-4D5E-84C1-93F0F745C0F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03D9DC3A-1923-4EA5-BDF6-CAAD8B51B469}" type="pres">
      <dgm:prSet presAssocID="{B051FD10-CB60-4078-A06A-7C1D913CB35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74016416-458B-483F-A5AE-48DB4FE7E2BE}" srcId="{198242B1-BF0A-4D5E-84C1-93F0F745C0F6}" destId="{B051FD10-CB60-4078-A06A-7C1D913CB35F}" srcOrd="0" destOrd="0" parTransId="{D68E3B4A-D8A5-40B0-9022-DE8D2A33A1C8}" sibTransId="{814E166F-BFC9-4960-8C64-A8C3DA509567}"/>
    <dgm:cxn modelId="{00A4094E-5DA0-4F0C-B7DD-340BCEEE1113}" type="presOf" srcId="{198242B1-BF0A-4D5E-84C1-93F0F745C0F6}" destId="{FF724C47-BE1E-4E2F-B48B-F1B7CA59554C}" srcOrd="0" destOrd="0" presId="urn:microsoft.com/office/officeart/2005/8/layout/vList2"/>
    <dgm:cxn modelId="{22C852C1-16AF-4E6E-9D34-6E99349ED4AB}" type="presOf" srcId="{B051FD10-CB60-4078-A06A-7C1D913CB35F}" destId="{03D9DC3A-1923-4EA5-BDF6-CAAD8B51B469}" srcOrd="0" destOrd="0" presId="urn:microsoft.com/office/officeart/2005/8/layout/vList2"/>
    <dgm:cxn modelId="{70C2186F-B2FF-46B8-8591-253D45536186}" type="presParOf" srcId="{FF724C47-BE1E-4E2F-B48B-F1B7CA59554C}" destId="{03D9DC3A-1923-4EA5-BDF6-CAAD8B51B46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1C8C3E-5404-48F0-BBFF-8D908F515283}" type="doc">
      <dgm:prSet loTypeId="urn:microsoft.com/office/officeart/2005/8/layout/vList2" loCatId="list" qsTypeId="urn:microsoft.com/office/officeart/2005/8/quickstyle/3d2" qsCatId="3D" csTypeId="urn:microsoft.com/office/officeart/2005/8/colors/accent3_2" csCatId="accent3" phldr="1"/>
      <dgm:spPr/>
      <dgm:t>
        <a:bodyPr/>
        <a:lstStyle/>
        <a:p>
          <a:endParaRPr lang="en-GB"/>
        </a:p>
      </dgm:t>
    </dgm:pt>
    <dgm:pt modelId="{51D91D5A-DDAB-4ED4-974E-E7CEE3538266}">
      <dgm:prSet/>
      <dgm:spPr/>
      <dgm:t>
        <a:bodyPr/>
        <a:lstStyle/>
        <a:p>
          <a:pPr algn="ctr" rtl="0"/>
          <a:r>
            <a:rPr lang="en-GB" dirty="0" smtClean="0"/>
            <a:t>A single problematic member will have a dangerous effect on the strength of the entire team</a:t>
          </a:r>
          <a:endParaRPr lang="en-GB" i="1" dirty="0"/>
        </a:p>
      </dgm:t>
    </dgm:pt>
    <dgm:pt modelId="{8BCA60B8-7BEA-400A-A766-4E79027FFF9F}" type="parTrans" cxnId="{2F540E05-6EF6-4646-86EA-94B51483DB7B}">
      <dgm:prSet/>
      <dgm:spPr/>
      <dgm:t>
        <a:bodyPr/>
        <a:lstStyle/>
        <a:p>
          <a:endParaRPr lang="en-GB"/>
        </a:p>
      </dgm:t>
    </dgm:pt>
    <dgm:pt modelId="{A1BA0042-9BC5-4FF9-85E3-F75313E00DDA}" type="sibTrans" cxnId="{2F540E05-6EF6-4646-86EA-94B51483DB7B}">
      <dgm:prSet/>
      <dgm:spPr/>
      <dgm:t>
        <a:bodyPr/>
        <a:lstStyle/>
        <a:p>
          <a:endParaRPr lang="en-GB"/>
        </a:p>
      </dgm:t>
    </dgm:pt>
    <dgm:pt modelId="{41EF025B-03F6-4B36-B22F-1CBE7EC84270}" type="pres">
      <dgm:prSet presAssocID="{C91C8C3E-5404-48F0-BBFF-8D908F51528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8401B0B5-39DD-4223-816D-F059438BAF5C}" type="pres">
      <dgm:prSet presAssocID="{51D91D5A-DDAB-4ED4-974E-E7CEE353826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A147F6D3-99C3-4057-84BA-AE7225FB272F}" type="presOf" srcId="{51D91D5A-DDAB-4ED4-974E-E7CEE3538266}" destId="{8401B0B5-39DD-4223-816D-F059438BAF5C}" srcOrd="0" destOrd="0" presId="urn:microsoft.com/office/officeart/2005/8/layout/vList2"/>
    <dgm:cxn modelId="{45C5421E-3CED-4B5E-8A8C-DE9CF32567F5}" type="presOf" srcId="{C91C8C3E-5404-48F0-BBFF-8D908F515283}" destId="{41EF025B-03F6-4B36-B22F-1CBE7EC84270}" srcOrd="0" destOrd="0" presId="urn:microsoft.com/office/officeart/2005/8/layout/vList2"/>
    <dgm:cxn modelId="{2F540E05-6EF6-4646-86EA-94B51483DB7B}" srcId="{C91C8C3E-5404-48F0-BBFF-8D908F515283}" destId="{51D91D5A-DDAB-4ED4-974E-E7CEE3538266}" srcOrd="0" destOrd="0" parTransId="{8BCA60B8-7BEA-400A-A766-4E79027FFF9F}" sibTransId="{A1BA0042-9BC5-4FF9-85E3-F75313E00DDA}"/>
    <dgm:cxn modelId="{548CF4F9-C5E3-4007-9950-251C001C6331}" type="presParOf" srcId="{41EF025B-03F6-4B36-B22F-1CBE7EC84270}" destId="{8401B0B5-39DD-4223-816D-F059438BAF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D06003-33B4-4B04-BBA4-8089819792B6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A1551DF-8A9D-469F-B85E-8D539AB20D4A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Salient topics</a:t>
          </a:r>
          <a:endParaRPr lang="en-GB" b="1" dirty="0">
            <a:solidFill>
              <a:srgbClr val="FFFF00"/>
            </a:solidFill>
          </a:endParaRPr>
        </a:p>
      </dgm:t>
    </dgm:pt>
    <dgm:pt modelId="{00AA0941-2B52-4552-940A-403FC4C7E84A}" type="parTrans" cxnId="{D7BCB2BE-0912-4E8E-89B4-0953E8835B0C}">
      <dgm:prSet/>
      <dgm:spPr/>
      <dgm:t>
        <a:bodyPr/>
        <a:lstStyle/>
        <a:p>
          <a:endParaRPr lang="en-GB"/>
        </a:p>
      </dgm:t>
    </dgm:pt>
    <dgm:pt modelId="{6ECDE7CF-30FB-4E8D-963A-191147910888}" type="sibTrans" cxnId="{D7BCB2BE-0912-4E8E-89B4-0953E8835B0C}">
      <dgm:prSet/>
      <dgm:spPr/>
      <dgm:t>
        <a:bodyPr/>
        <a:lstStyle/>
        <a:p>
          <a:endParaRPr lang="en-GB"/>
        </a:p>
      </dgm:t>
    </dgm:pt>
    <dgm:pt modelId="{91A3AD33-CB78-4571-B628-F646AB1D3A9D}" type="pres">
      <dgm:prSet presAssocID="{F3D06003-33B4-4B04-BBA4-8089819792B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243B0D0-E6E5-44A2-B6C9-20913F3A3A37}" type="pres">
      <dgm:prSet presAssocID="{7A1551DF-8A9D-469F-B85E-8D539AB20D4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9FCAB80-D7F0-4D52-87F0-8854EB7111EA}" type="presOf" srcId="{7A1551DF-8A9D-469F-B85E-8D539AB20D4A}" destId="{F243B0D0-E6E5-44A2-B6C9-20913F3A3A37}" srcOrd="0" destOrd="0" presId="urn:microsoft.com/office/officeart/2005/8/layout/vList2"/>
    <dgm:cxn modelId="{D7BCB2BE-0912-4E8E-89B4-0953E8835B0C}" srcId="{F3D06003-33B4-4B04-BBA4-8089819792B6}" destId="{7A1551DF-8A9D-469F-B85E-8D539AB20D4A}" srcOrd="0" destOrd="0" parTransId="{00AA0941-2B52-4552-940A-403FC4C7E84A}" sibTransId="{6ECDE7CF-30FB-4E8D-963A-191147910888}"/>
    <dgm:cxn modelId="{E1D109D1-4B98-47D3-9FD2-201BEB4A089A}" type="presOf" srcId="{F3D06003-33B4-4B04-BBA4-8089819792B6}" destId="{91A3AD33-CB78-4571-B628-F646AB1D3A9D}" srcOrd="0" destOrd="0" presId="urn:microsoft.com/office/officeart/2005/8/layout/vList2"/>
    <dgm:cxn modelId="{031AAE9E-7B6B-4107-B1FE-ECB7F2C57618}" type="presParOf" srcId="{91A3AD33-CB78-4571-B628-F646AB1D3A9D}" destId="{F243B0D0-E6E5-44A2-B6C9-20913F3A3A3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B0B98A-68C5-4247-BF5D-39E94FB199BD}" type="doc">
      <dgm:prSet loTypeId="urn:microsoft.com/office/officeart/2005/8/layout/list1" loCatId="list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4E4E0F65-7802-46ED-868A-6ACD6D5A8CE6}">
      <dgm:prSet phldrT="[Text]" custT="1"/>
      <dgm:spPr/>
      <dgm:t>
        <a:bodyPr/>
        <a:lstStyle/>
        <a:p>
          <a:r>
            <a:rPr lang="en-GB" sz="2400" b="1" spc="50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rPr>
            <a:t>Project Team and Teamwork</a:t>
          </a:r>
          <a:endParaRPr lang="en-GB" sz="2400" b="1" dirty="0"/>
        </a:p>
      </dgm:t>
    </dgm:pt>
    <dgm:pt modelId="{C9439A08-04EC-4008-89EA-3988ECB67ECF}" type="parTrans" cxnId="{0DD76C9B-7475-428B-9D43-3EDEB4BBA261}">
      <dgm:prSet/>
      <dgm:spPr/>
      <dgm:t>
        <a:bodyPr/>
        <a:lstStyle/>
        <a:p>
          <a:endParaRPr lang="en-GB" sz="2400" b="1"/>
        </a:p>
      </dgm:t>
    </dgm:pt>
    <dgm:pt modelId="{CC2D196F-88AC-43CB-84F1-C3AA2B49F2F5}" type="sibTrans" cxnId="{0DD76C9B-7475-428B-9D43-3EDEB4BBA261}">
      <dgm:prSet/>
      <dgm:spPr/>
      <dgm:t>
        <a:bodyPr/>
        <a:lstStyle/>
        <a:p>
          <a:endParaRPr lang="en-GB" sz="2400" b="1"/>
        </a:p>
      </dgm:t>
    </dgm:pt>
    <dgm:pt modelId="{8193120C-A37A-4543-9270-B581C63A91C4}">
      <dgm:prSet custT="1"/>
      <dgm:spPr/>
      <dgm:t>
        <a:bodyPr/>
        <a:lstStyle/>
        <a:p>
          <a:r>
            <a:rPr lang="en-GB" sz="2400" b="1" spc="5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rPr>
            <a:t>Stages of Team Development</a:t>
          </a:r>
          <a:endParaRPr lang="en-GB" sz="2400" b="1" spc="50" dirty="0" smtClean="0">
            <a:ln w="11430"/>
            <a:effectLst>
              <a:outerShdw blurRad="76200" dist="50800" dir="5400000" algn="tl" rotWithShape="0">
                <a:srgbClr val="000000">
                  <a:alpha val="65000"/>
                </a:srgbClr>
              </a:outerShdw>
            </a:effectLst>
          </a:endParaRPr>
        </a:p>
      </dgm:t>
    </dgm:pt>
    <dgm:pt modelId="{FC763870-7ECB-4912-B025-1E3482197661}" type="parTrans" cxnId="{46A58848-9099-4D98-B957-43422CA4CCCC}">
      <dgm:prSet/>
      <dgm:spPr/>
      <dgm:t>
        <a:bodyPr/>
        <a:lstStyle/>
        <a:p>
          <a:endParaRPr lang="en-GB" sz="2400" b="1"/>
        </a:p>
      </dgm:t>
    </dgm:pt>
    <dgm:pt modelId="{CA100EE8-C7F4-4206-A25B-11BF45287FBB}" type="sibTrans" cxnId="{46A58848-9099-4D98-B957-43422CA4CCCC}">
      <dgm:prSet/>
      <dgm:spPr/>
      <dgm:t>
        <a:bodyPr/>
        <a:lstStyle/>
        <a:p>
          <a:endParaRPr lang="en-GB" sz="2400" b="1"/>
        </a:p>
      </dgm:t>
    </dgm:pt>
    <dgm:pt modelId="{467D4D63-C301-4C45-ACC8-21EA38F43DB9}">
      <dgm:prSet custT="1"/>
      <dgm:spPr/>
      <dgm:t>
        <a:bodyPr/>
        <a:lstStyle/>
        <a:p>
          <a:r>
            <a:rPr lang="en-GB" sz="2400" b="1" spc="5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rPr>
            <a:t>Issues in Teamwork</a:t>
          </a:r>
          <a:endParaRPr lang="en-GB" sz="2400" b="1" spc="50" dirty="0" smtClean="0">
            <a:ln w="11430"/>
            <a:effectLst>
              <a:outerShdw blurRad="76200" dist="50800" dir="5400000" algn="tl" rotWithShape="0">
                <a:srgbClr val="000000">
                  <a:alpha val="65000"/>
                </a:srgbClr>
              </a:outerShdw>
            </a:effectLst>
          </a:endParaRPr>
        </a:p>
      </dgm:t>
    </dgm:pt>
    <dgm:pt modelId="{D7257CC5-E52C-4E47-AFDC-C009486E6C6B}" type="parTrans" cxnId="{1B6366F3-532E-4CEE-A374-9A4AB066BE2E}">
      <dgm:prSet/>
      <dgm:spPr/>
      <dgm:t>
        <a:bodyPr/>
        <a:lstStyle/>
        <a:p>
          <a:endParaRPr lang="en-GB" sz="2400" b="1"/>
        </a:p>
      </dgm:t>
    </dgm:pt>
    <dgm:pt modelId="{34F5CF18-169B-4B3F-957B-B473E4C89B2E}" type="sibTrans" cxnId="{1B6366F3-532E-4CEE-A374-9A4AB066BE2E}">
      <dgm:prSet/>
      <dgm:spPr/>
      <dgm:t>
        <a:bodyPr/>
        <a:lstStyle/>
        <a:p>
          <a:endParaRPr lang="en-GB" sz="2400" b="1"/>
        </a:p>
      </dgm:t>
    </dgm:pt>
    <dgm:pt modelId="{246BF354-B854-4C9E-B61D-A126CD1C349B}">
      <dgm:prSet custT="1"/>
      <dgm:spPr/>
      <dgm:t>
        <a:bodyPr/>
        <a:lstStyle/>
        <a:p>
          <a:r>
            <a:rPr lang="en-GB" sz="2400" b="1" spc="5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rPr>
            <a:t>Remedies of Issues</a:t>
          </a:r>
          <a:endParaRPr lang="en-GB" sz="2400" b="1" spc="50" dirty="0" smtClean="0">
            <a:ln w="11430"/>
            <a:effectLst>
              <a:outerShdw blurRad="76200" dist="50800" dir="5400000" algn="tl" rotWithShape="0">
                <a:srgbClr val="000000">
                  <a:alpha val="65000"/>
                </a:srgbClr>
              </a:outerShdw>
            </a:effectLst>
          </a:endParaRPr>
        </a:p>
      </dgm:t>
    </dgm:pt>
    <dgm:pt modelId="{8A45680C-AE00-42AE-8914-D683C4AFCF7E}" type="parTrans" cxnId="{2212CA14-8DDA-4742-BDBB-500240DB99E0}">
      <dgm:prSet/>
      <dgm:spPr/>
      <dgm:t>
        <a:bodyPr/>
        <a:lstStyle/>
        <a:p>
          <a:endParaRPr lang="en-GB" sz="2400" b="1"/>
        </a:p>
      </dgm:t>
    </dgm:pt>
    <dgm:pt modelId="{61A011A9-EE7C-46CF-8A91-A634DD2CEE95}" type="sibTrans" cxnId="{2212CA14-8DDA-4742-BDBB-500240DB99E0}">
      <dgm:prSet/>
      <dgm:spPr/>
      <dgm:t>
        <a:bodyPr/>
        <a:lstStyle/>
        <a:p>
          <a:endParaRPr lang="en-GB" sz="2400" b="1"/>
        </a:p>
      </dgm:t>
    </dgm:pt>
    <dgm:pt modelId="{D1A8D748-40D6-4EF4-98E3-16925C7DD6CB}">
      <dgm:prSet custT="1"/>
      <dgm:spPr/>
      <dgm:t>
        <a:bodyPr/>
        <a:lstStyle/>
        <a:p>
          <a:r>
            <a:rPr lang="en-GB" sz="2400" b="1" spc="5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rPr>
            <a:t>Conclusion</a:t>
          </a:r>
          <a:endParaRPr lang="en-GB" sz="2400" b="1"/>
        </a:p>
      </dgm:t>
    </dgm:pt>
    <dgm:pt modelId="{E684AF03-3045-4A13-8A50-0C5FF14246E5}" type="parTrans" cxnId="{09C1D646-2D44-4290-8616-24D7FA59D1D2}">
      <dgm:prSet/>
      <dgm:spPr/>
      <dgm:t>
        <a:bodyPr/>
        <a:lstStyle/>
        <a:p>
          <a:endParaRPr lang="en-GB" sz="2400" b="1"/>
        </a:p>
      </dgm:t>
    </dgm:pt>
    <dgm:pt modelId="{7F1A1A12-ED08-4B8D-9F26-682E7C5FB3E0}" type="sibTrans" cxnId="{09C1D646-2D44-4290-8616-24D7FA59D1D2}">
      <dgm:prSet/>
      <dgm:spPr/>
      <dgm:t>
        <a:bodyPr/>
        <a:lstStyle/>
        <a:p>
          <a:endParaRPr lang="en-GB" sz="2400" b="1"/>
        </a:p>
      </dgm:t>
    </dgm:pt>
    <dgm:pt modelId="{8D93BFF0-51C2-47D0-9DBB-9ABF8023F912}" type="pres">
      <dgm:prSet presAssocID="{EDB0B98A-68C5-4247-BF5D-39E94FB199B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A379B17F-D1C4-4091-B5AA-AB831B02E51A}" type="pres">
      <dgm:prSet presAssocID="{4E4E0F65-7802-46ED-868A-6ACD6D5A8CE6}" presName="parentLin" presStyleCnt="0"/>
      <dgm:spPr/>
    </dgm:pt>
    <dgm:pt modelId="{6C94B24A-BFF0-42E2-84C3-7366619619AE}" type="pres">
      <dgm:prSet presAssocID="{4E4E0F65-7802-46ED-868A-6ACD6D5A8CE6}" presName="parentLeftMargin" presStyleLbl="node1" presStyleIdx="0" presStyleCnt="5"/>
      <dgm:spPr/>
      <dgm:t>
        <a:bodyPr/>
        <a:lstStyle/>
        <a:p>
          <a:endParaRPr lang="en-GB"/>
        </a:p>
      </dgm:t>
    </dgm:pt>
    <dgm:pt modelId="{1637E2E8-1CDA-4295-AC6F-72EEDA1A57C3}" type="pres">
      <dgm:prSet presAssocID="{4E4E0F65-7802-46ED-868A-6ACD6D5A8CE6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EB99F81-8AFC-461A-BFC0-D48AF5BEED33}" type="pres">
      <dgm:prSet presAssocID="{4E4E0F65-7802-46ED-868A-6ACD6D5A8CE6}" presName="negativeSpace" presStyleCnt="0"/>
      <dgm:spPr/>
    </dgm:pt>
    <dgm:pt modelId="{516138CB-0E8C-4630-B11E-18F3B866C359}" type="pres">
      <dgm:prSet presAssocID="{4E4E0F65-7802-46ED-868A-6ACD6D5A8CE6}" presName="childText" presStyleLbl="conFgAcc1" presStyleIdx="0" presStyleCnt="5">
        <dgm:presLayoutVars>
          <dgm:bulletEnabled val="1"/>
        </dgm:presLayoutVars>
      </dgm:prSet>
      <dgm:spPr/>
    </dgm:pt>
    <dgm:pt modelId="{C0E1E703-C39F-488C-8429-8FB1FFD5E0A6}" type="pres">
      <dgm:prSet presAssocID="{CC2D196F-88AC-43CB-84F1-C3AA2B49F2F5}" presName="spaceBetweenRectangles" presStyleCnt="0"/>
      <dgm:spPr/>
    </dgm:pt>
    <dgm:pt modelId="{3705BDCF-2F56-421E-98A8-B69774942948}" type="pres">
      <dgm:prSet presAssocID="{8193120C-A37A-4543-9270-B581C63A91C4}" presName="parentLin" presStyleCnt="0"/>
      <dgm:spPr/>
    </dgm:pt>
    <dgm:pt modelId="{97449214-954B-43E1-B507-173C40201E37}" type="pres">
      <dgm:prSet presAssocID="{8193120C-A37A-4543-9270-B581C63A91C4}" presName="parentLeftMargin" presStyleLbl="node1" presStyleIdx="0" presStyleCnt="5"/>
      <dgm:spPr/>
      <dgm:t>
        <a:bodyPr/>
        <a:lstStyle/>
        <a:p>
          <a:endParaRPr lang="en-GB"/>
        </a:p>
      </dgm:t>
    </dgm:pt>
    <dgm:pt modelId="{931CEF29-3FC5-496A-8DF5-31C52F6A79D6}" type="pres">
      <dgm:prSet presAssocID="{8193120C-A37A-4543-9270-B581C63A91C4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EE4FCBA-E392-423C-8429-E202973F86F4}" type="pres">
      <dgm:prSet presAssocID="{8193120C-A37A-4543-9270-B581C63A91C4}" presName="negativeSpace" presStyleCnt="0"/>
      <dgm:spPr/>
    </dgm:pt>
    <dgm:pt modelId="{6E62764B-D35C-4682-8E97-5BFAF3733711}" type="pres">
      <dgm:prSet presAssocID="{8193120C-A37A-4543-9270-B581C63A91C4}" presName="childText" presStyleLbl="conFgAcc1" presStyleIdx="1" presStyleCnt="5">
        <dgm:presLayoutVars>
          <dgm:bulletEnabled val="1"/>
        </dgm:presLayoutVars>
      </dgm:prSet>
      <dgm:spPr/>
    </dgm:pt>
    <dgm:pt modelId="{C32B4A4F-5450-43DB-92F1-6C6CCE0B6EE1}" type="pres">
      <dgm:prSet presAssocID="{CA100EE8-C7F4-4206-A25B-11BF45287FBB}" presName="spaceBetweenRectangles" presStyleCnt="0"/>
      <dgm:spPr/>
    </dgm:pt>
    <dgm:pt modelId="{86F1B92C-E884-403E-82EF-46D04F833232}" type="pres">
      <dgm:prSet presAssocID="{467D4D63-C301-4C45-ACC8-21EA38F43DB9}" presName="parentLin" presStyleCnt="0"/>
      <dgm:spPr/>
    </dgm:pt>
    <dgm:pt modelId="{D78ED9A1-7682-49B6-989E-71796A96EA6B}" type="pres">
      <dgm:prSet presAssocID="{467D4D63-C301-4C45-ACC8-21EA38F43DB9}" presName="parentLeftMargin" presStyleLbl="node1" presStyleIdx="1" presStyleCnt="5"/>
      <dgm:spPr/>
      <dgm:t>
        <a:bodyPr/>
        <a:lstStyle/>
        <a:p>
          <a:endParaRPr lang="en-GB"/>
        </a:p>
      </dgm:t>
    </dgm:pt>
    <dgm:pt modelId="{645147F0-B7B1-4CC4-A47F-6398147D06A4}" type="pres">
      <dgm:prSet presAssocID="{467D4D63-C301-4C45-ACC8-21EA38F43DB9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508BAA8-1143-479D-8B20-E2FBDCFB05E1}" type="pres">
      <dgm:prSet presAssocID="{467D4D63-C301-4C45-ACC8-21EA38F43DB9}" presName="negativeSpace" presStyleCnt="0"/>
      <dgm:spPr/>
    </dgm:pt>
    <dgm:pt modelId="{AD798453-35AC-46C5-A89C-459A9A99E254}" type="pres">
      <dgm:prSet presAssocID="{467D4D63-C301-4C45-ACC8-21EA38F43DB9}" presName="childText" presStyleLbl="conFgAcc1" presStyleIdx="2" presStyleCnt="5">
        <dgm:presLayoutVars>
          <dgm:bulletEnabled val="1"/>
        </dgm:presLayoutVars>
      </dgm:prSet>
      <dgm:spPr/>
    </dgm:pt>
    <dgm:pt modelId="{643C2185-FA62-457C-BEFF-012B8E0DCB6B}" type="pres">
      <dgm:prSet presAssocID="{34F5CF18-169B-4B3F-957B-B473E4C89B2E}" presName="spaceBetweenRectangles" presStyleCnt="0"/>
      <dgm:spPr/>
    </dgm:pt>
    <dgm:pt modelId="{779E842B-30EF-41C9-81E7-060D5DD14641}" type="pres">
      <dgm:prSet presAssocID="{246BF354-B854-4C9E-B61D-A126CD1C349B}" presName="parentLin" presStyleCnt="0"/>
      <dgm:spPr/>
    </dgm:pt>
    <dgm:pt modelId="{97C1E575-9BE6-4EBA-806B-DAC0AB025A17}" type="pres">
      <dgm:prSet presAssocID="{246BF354-B854-4C9E-B61D-A126CD1C349B}" presName="parentLeftMargin" presStyleLbl="node1" presStyleIdx="2" presStyleCnt="5"/>
      <dgm:spPr/>
      <dgm:t>
        <a:bodyPr/>
        <a:lstStyle/>
        <a:p>
          <a:endParaRPr lang="en-GB"/>
        </a:p>
      </dgm:t>
    </dgm:pt>
    <dgm:pt modelId="{C6011727-0FE9-48FD-8778-05CC03F51C2E}" type="pres">
      <dgm:prSet presAssocID="{246BF354-B854-4C9E-B61D-A126CD1C349B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5114634-BD9B-448A-96C6-919E4A0E8EDD}" type="pres">
      <dgm:prSet presAssocID="{246BF354-B854-4C9E-B61D-A126CD1C349B}" presName="negativeSpace" presStyleCnt="0"/>
      <dgm:spPr/>
    </dgm:pt>
    <dgm:pt modelId="{DB93BE63-E227-4631-AE6F-A30B3ACB59FB}" type="pres">
      <dgm:prSet presAssocID="{246BF354-B854-4C9E-B61D-A126CD1C349B}" presName="childText" presStyleLbl="conFgAcc1" presStyleIdx="3" presStyleCnt="5">
        <dgm:presLayoutVars>
          <dgm:bulletEnabled val="1"/>
        </dgm:presLayoutVars>
      </dgm:prSet>
      <dgm:spPr/>
    </dgm:pt>
    <dgm:pt modelId="{BEB743A6-89E2-4F37-80E9-AA238A38D3E5}" type="pres">
      <dgm:prSet presAssocID="{61A011A9-EE7C-46CF-8A91-A634DD2CEE95}" presName="spaceBetweenRectangles" presStyleCnt="0"/>
      <dgm:spPr/>
    </dgm:pt>
    <dgm:pt modelId="{4C81153D-3195-491F-BB7C-3BE459E30248}" type="pres">
      <dgm:prSet presAssocID="{D1A8D748-40D6-4EF4-98E3-16925C7DD6CB}" presName="parentLin" presStyleCnt="0"/>
      <dgm:spPr/>
    </dgm:pt>
    <dgm:pt modelId="{9584DB38-C035-4E00-943D-B6C437AB47E4}" type="pres">
      <dgm:prSet presAssocID="{D1A8D748-40D6-4EF4-98E3-16925C7DD6CB}" presName="parentLeftMargin" presStyleLbl="node1" presStyleIdx="3" presStyleCnt="5"/>
      <dgm:spPr/>
      <dgm:t>
        <a:bodyPr/>
        <a:lstStyle/>
        <a:p>
          <a:endParaRPr lang="en-GB"/>
        </a:p>
      </dgm:t>
    </dgm:pt>
    <dgm:pt modelId="{C13D73EB-D5F2-4B16-8885-6074BB83C3BA}" type="pres">
      <dgm:prSet presAssocID="{D1A8D748-40D6-4EF4-98E3-16925C7DD6CB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4456EF9-59F3-4CFD-BEB4-734F845D6F5E}" type="pres">
      <dgm:prSet presAssocID="{D1A8D748-40D6-4EF4-98E3-16925C7DD6CB}" presName="negativeSpace" presStyleCnt="0"/>
      <dgm:spPr/>
    </dgm:pt>
    <dgm:pt modelId="{2B89FCE3-85E8-4D5D-A938-BC22ACCA8E41}" type="pres">
      <dgm:prSet presAssocID="{D1A8D748-40D6-4EF4-98E3-16925C7DD6CB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B71B917-E6D7-4A75-A058-28BA54257016}" type="presOf" srcId="{4E4E0F65-7802-46ED-868A-6ACD6D5A8CE6}" destId="{1637E2E8-1CDA-4295-AC6F-72EEDA1A57C3}" srcOrd="1" destOrd="0" presId="urn:microsoft.com/office/officeart/2005/8/layout/list1"/>
    <dgm:cxn modelId="{09C1D646-2D44-4290-8616-24D7FA59D1D2}" srcId="{EDB0B98A-68C5-4247-BF5D-39E94FB199BD}" destId="{D1A8D748-40D6-4EF4-98E3-16925C7DD6CB}" srcOrd="4" destOrd="0" parTransId="{E684AF03-3045-4A13-8A50-0C5FF14246E5}" sibTransId="{7F1A1A12-ED08-4B8D-9F26-682E7C5FB3E0}"/>
    <dgm:cxn modelId="{E5CC126C-F2A3-4841-9BE9-F41D06F21707}" type="presOf" srcId="{246BF354-B854-4C9E-B61D-A126CD1C349B}" destId="{97C1E575-9BE6-4EBA-806B-DAC0AB025A17}" srcOrd="0" destOrd="0" presId="urn:microsoft.com/office/officeart/2005/8/layout/list1"/>
    <dgm:cxn modelId="{2212CA14-8DDA-4742-BDBB-500240DB99E0}" srcId="{EDB0B98A-68C5-4247-BF5D-39E94FB199BD}" destId="{246BF354-B854-4C9E-B61D-A126CD1C349B}" srcOrd="3" destOrd="0" parTransId="{8A45680C-AE00-42AE-8914-D683C4AFCF7E}" sibTransId="{61A011A9-EE7C-46CF-8A91-A634DD2CEE95}"/>
    <dgm:cxn modelId="{67907DA7-232A-4573-852C-0A32263F09E9}" type="presOf" srcId="{467D4D63-C301-4C45-ACC8-21EA38F43DB9}" destId="{645147F0-B7B1-4CC4-A47F-6398147D06A4}" srcOrd="1" destOrd="0" presId="urn:microsoft.com/office/officeart/2005/8/layout/list1"/>
    <dgm:cxn modelId="{0DD76C9B-7475-428B-9D43-3EDEB4BBA261}" srcId="{EDB0B98A-68C5-4247-BF5D-39E94FB199BD}" destId="{4E4E0F65-7802-46ED-868A-6ACD6D5A8CE6}" srcOrd="0" destOrd="0" parTransId="{C9439A08-04EC-4008-89EA-3988ECB67ECF}" sibTransId="{CC2D196F-88AC-43CB-84F1-C3AA2B49F2F5}"/>
    <dgm:cxn modelId="{1B6366F3-532E-4CEE-A374-9A4AB066BE2E}" srcId="{EDB0B98A-68C5-4247-BF5D-39E94FB199BD}" destId="{467D4D63-C301-4C45-ACC8-21EA38F43DB9}" srcOrd="2" destOrd="0" parTransId="{D7257CC5-E52C-4E47-AFDC-C009486E6C6B}" sibTransId="{34F5CF18-169B-4B3F-957B-B473E4C89B2E}"/>
    <dgm:cxn modelId="{F9FEB386-4C11-4542-BA3E-CA222F018976}" type="presOf" srcId="{246BF354-B854-4C9E-B61D-A126CD1C349B}" destId="{C6011727-0FE9-48FD-8778-05CC03F51C2E}" srcOrd="1" destOrd="0" presId="urn:microsoft.com/office/officeart/2005/8/layout/list1"/>
    <dgm:cxn modelId="{3D5E5362-C15E-4149-8170-9C96B9C767AD}" type="presOf" srcId="{EDB0B98A-68C5-4247-BF5D-39E94FB199BD}" destId="{8D93BFF0-51C2-47D0-9DBB-9ABF8023F912}" srcOrd="0" destOrd="0" presId="urn:microsoft.com/office/officeart/2005/8/layout/list1"/>
    <dgm:cxn modelId="{46A58848-9099-4D98-B957-43422CA4CCCC}" srcId="{EDB0B98A-68C5-4247-BF5D-39E94FB199BD}" destId="{8193120C-A37A-4543-9270-B581C63A91C4}" srcOrd="1" destOrd="0" parTransId="{FC763870-7ECB-4912-B025-1E3482197661}" sibTransId="{CA100EE8-C7F4-4206-A25B-11BF45287FBB}"/>
    <dgm:cxn modelId="{80086D31-D700-4E89-A4CD-7416C1FE2ABA}" type="presOf" srcId="{D1A8D748-40D6-4EF4-98E3-16925C7DD6CB}" destId="{9584DB38-C035-4E00-943D-B6C437AB47E4}" srcOrd="0" destOrd="0" presId="urn:microsoft.com/office/officeart/2005/8/layout/list1"/>
    <dgm:cxn modelId="{FD3641EB-B5F1-4F3B-A00E-813B064F98CA}" type="presOf" srcId="{467D4D63-C301-4C45-ACC8-21EA38F43DB9}" destId="{D78ED9A1-7682-49B6-989E-71796A96EA6B}" srcOrd="0" destOrd="0" presId="urn:microsoft.com/office/officeart/2005/8/layout/list1"/>
    <dgm:cxn modelId="{504D3C38-AED8-4FF5-BE39-1E8748C50317}" type="presOf" srcId="{4E4E0F65-7802-46ED-868A-6ACD6D5A8CE6}" destId="{6C94B24A-BFF0-42E2-84C3-7366619619AE}" srcOrd="0" destOrd="0" presId="urn:microsoft.com/office/officeart/2005/8/layout/list1"/>
    <dgm:cxn modelId="{86B43D35-6790-443F-962E-C83868B839B3}" type="presOf" srcId="{8193120C-A37A-4543-9270-B581C63A91C4}" destId="{931CEF29-3FC5-496A-8DF5-31C52F6A79D6}" srcOrd="1" destOrd="0" presId="urn:microsoft.com/office/officeart/2005/8/layout/list1"/>
    <dgm:cxn modelId="{1B084B44-5449-4111-9155-E3F82953DC50}" type="presOf" srcId="{D1A8D748-40D6-4EF4-98E3-16925C7DD6CB}" destId="{C13D73EB-D5F2-4B16-8885-6074BB83C3BA}" srcOrd="1" destOrd="0" presId="urn:microsoft.com/office/officeart/2005/8/layout/list1"/>
    <dgm:cxn modelId="{766B5183-CBEC-4411-8BFB-FEF24F5FAF73}" type="presOf" srcId="{8193120C-A37A-4543-9270-B581C63A91C4}" destId="{97449214-954B-43E1-B507-173C40201E37}" srcOrd="0" destOrd="0" presId="urn:microsoft.com/office/officeart/2005/8/layout/list1"/>
    <dgm:cxn modelId="{43F305B1-B028-4DDC-8109-210932DA2443}" type="presParOf" srcId="{8D93BFF0-51C2-47D0-9DBB-9ABF8023F912}" destId="{A379B17F-D1C4-4091-B5AA-AB831B02E51A}" srcOrd="0" destOrd="0" presId="urn:microsoft.com/office/officeart/2005/8/layout/list1"/>
    <dgm:cxn modelId="{8B8183AD-F6CE-4849-81C3-41098FBDAE12}" type="presParOf" srcId="{A379B17F-D1C4-4091-B5AA-AB831B02E51A}" destId="{6C94B24A-BFF0-42E2-84C3-7366619619AE}" srcOrd="0" destOrd="0" presId="urn:microsoft.com/office/officeart/2005/8/layout/list1"/>
    <dgm:cxn modelId="{F99AB774-79BF-42A3-8489-FE3FE2332CB3}" type="presParOf" srcId="{A379B17F-D1C4-4091-B5AA-AB831B02E51A}" destId="{1637E2E8-1CDA-4295-AC6F-72EEDA1A57C3}" srcOrd="1" destOrd="0" presId="urn:microsoft.com/office/officeart/2005/8/layout/list1"/>
    <dgm:cxn modelId="{9604F5F4-2D17-4BB6-9690-32837A5BB1F7}" type="presParOf" srcId="{8D93BFF0-51C2-47D0-9DBB-9ABF8023F912}" destId="{5EB99F81-8AFC-461A-BFC0-D48AF5BEED33}" srcOrd="1" destOrd="0" presId="urn:microsoft.com/office/officeart/2005/8/layout/list1"/>
    <dgm:cxn modelId="{AB7726DF-6135-4131-944F-B5401703CABB}" type="presParOf" srcId="{8D93BFF0-51C2-47D0-9DBB-9ABF8023F912}" destId="{516138CB-0E8C-4630-B11E-18F3B866C359}" srcOrd="2" destOrd="0" presId="urn:microsoft.com/office/officeart/2005/8/layout/list1"/>
    <dgm:cxn modelId="{7310FA3C-21F2-4A62-97B7-74DF15685EE8}" type="presParOf" srcId="{8D93BFF0-51C2-47D0-9DBB-9ABF8023F912}" destId="{C0E1E703-C39F-488C-8429-8FB1FFD5E0A6}" srcOrd="3" destOrd="0" presId="urn:microsoft.com/office/officeart/2005/8/layout/list1"/>
    <dgm:cxn modelId="{E7E5E9A3-6DBA-437D-AD47-8AD92739FEBA}" type="presParOf" srcId="{8D93BFF0-51C2-47D0-9DBB-9ABF8023F912}" destId="{3705BDCF-2F56-421E-98A8-B69774942948}" srcOrd="4" destOrd="0" presId="urn:microsoft.com/office/officeart/2005/8/layout/list1"/>
    <dgm:cxn modelId="{C96299E0-A26C-4587-AF12-3F6348AE2B83}" type="presParOf" srcId="{3705BDCF-2F56-421E-98A8-B69774942948}" destId="{97449214-954B-43E1-B507-173C40201E37}" srcOrd="0" destOrd="0" presId="urn:microsoft.com/office/officeart/2005/8/layout/list1"/>
    <dgm:cxn modelId="{7E1F1831-741B-463B-861B-3CFD10708B62}" type="presParOf" srcId="{3705BDCF-2F56-421E-98A8-B69774942948}" destId="{931CEF29-3FC5-496A-8DF5-31C52F6A79D6}" srcOrd="1" destOrd="0" presId="urn:microsoft.com/office/officeart/2005/8/layout/list1"/>
    <dgm:cxn modelId="{88755ADA-5EF6-49F1-8779-86108E266DE6}" type="presParOf" srcId="{8D93BFF0-51C2-47D0-9DBB-9ABF8023F912}" destId="{CEE4FCBA-E392-423C-8429-E202973F86F4}" srcOrd="5" destOrd="0" presId="urn:microsoft.com/office/officeart/2005/8/layout/list1"/>
    <dgm:cxn modelId="{92626B57-8C65-4301-B5DF-870192AED56A}" type="presParOf" srcId="{8D93BFF0-51C2-47D0-9DBB-9ABF8023F912}" destId="{6E62764B-D35C-4682-8E97-5BFAF3733711}" srcOrd="6" destOrd="0" presId="urn:microsoft.com/office/officeart/2005/8/layout/list1"/>
    <dgm:cxn modelId="{E7F534EF-F972-4B8B-84C6-1F6F0F309A1B}" type="presParOf" srcId="{8D93BFF0-51C2-47D0-9DBB-9ABF8023F912}" destId="{C32B4A4F-5450-43DB-92F1-6C6CCE0B6EE1}" srcOrd="7" destOrd="0" presId="urn:microsoft.com/office/officeart/2005/8/layout/list1"/>
    <dgm:cxn modelId="{8FCB37BF-3335-44EA-AC9C-09E54CC575CB}" type="presParOf" srcId="{8D93BFF0-51C2-47D0-9DBB-9ABF8023F912}" destId="{86F1B92C-E884-403E-82EF-46D04F833232}" srcOrd="8" destOrd="0" presId="urn:microsoft.com/office/officeart/2005/8/layout/list1"/>
    <dgm:cxn modelId="{3EF27E01-3457-4C14-AD84-8FC9C07BBC40}" type="presParOf" srcId="{86F1B92C-E884-403E-82EF-46D04F833232}" destId="{D78ED9A1-7682-49B6-989E-71796A96EA6B}" srcOrd="0" destOrd="0" presId="urn:microsoft.com/office/officeart/2005/8/layout/list1"/>
    <dgm:cxn modelId="{1ECEBBE3-C24D-4B47-90CB-42ADF67381AD}" type="presParOf" srcId="{86F1B92C-E884-403E-82EF-46D04F833232}" destId="{645147F0-B7B1-4CC4-A47F-6398147D06A4}" srcOrd="1" destOrd="0" presId="urn:microsoft.com/office/officeart/2005/8/layout/list1"/>
    <dgm:cxn modelId="{49F88A27-9FC8-4F46-8580-C6ABC07B78AC}" type="presParOf" srcId="{8D93BFF0-51C2-47D0-9DBB-9ABF8023F912}" destId="{D508BAA8-1143-479D-8B20-E2FBDCFB05E1}" srcOrd="9" destOrd="0" presId="urn:microsoft.com/office/officeart/2005/8/layout/list1"/>
    <dgm:cxn modelId="{6CC011B6-0F1A-4AC1-ACDB-02788FFA45B3}" type="presParOf" srcId="{8D93BFF0-51C2-47D0-9DBB-9ABF8023F912}" destId="{AD798453-35AC-46C5-A89C-459A9A99E254}" srcOrd="10" destOrd="0" presId="urn:microsoft.com/office/officeart/2005/8/layout/list1"/>
    <dgm:cxn modelId="{45E1BA3D-E570-4646-93FE-196AC8B6AF47}" type="presParOf" srcId="{8D93BFF0-51C2-47D0-9DBB-9ABF8023F912}" destId="{643C2185-FA62-457C-BEFF-012B8E0DCB6B}" srcOrd="11" destOrd="0" presId="urn:microsoft.com/office/officeart/2005/8/layout/list1"/>
    <dgm:cxn modelId="{7FF1B75C-1464-4681-965B-333A15FCA914}" type="presParOf" srcId="{8D93BFF0-51C2-47D0-9DBB-9ABF8023F912}" destId="{779E842B-30EF-41C9-81E7-060D5DD14641}" srcOrd="12" destOrd="0" presId="urn:microsoft.com/office/officeart/2005/8/layout/list1"/>
    <dgm:cxn modelId="{C5FA2182-0238-4C7C-9070-D1B6F2871AB9}" type="presParOf" srcId="{779E842B-30EF-41C9-81E7-060D5DD14641}" destId="{97C1E575-9BE6-4EBA-806B-DAC0AB025A17}" srcOrd="0" destOrd="0" presId="urn:microsoft.com/office/officeart/2005/8/layout/list1"/>
    <dgm:cxn modelId="{9417FD7E-3B76-4537-ADDF-B6B5CB1CAAE3}" type="presParOf" srcId="{779E842B-30EF-41C9-81E7-060D5DD14641}" destId="{C6011727-0FE9-48FD-8778-05CC03F51C2E}" srcOrd="1" destOrd="0" presId="urn:microsoft.com/office/officeart/2005/8/layout/list1"/>
    <dgm:cxn modelId="{30922AAD-DB0E-4EC9-84D2-027D51C1A6DD}" type="presParOf" srcId="{8D93BFF0-51C2-47D0-9DBB-9ABF8023F912}" destId="{35114634-BD9B-448A-96C6-919E4A0E8EDD}" srcOrd="13" destOrd="0" presId="urn:microsoft.com/office/officeart/2005/8/layout/list1"/>
    <dgm:cxn modelId="{A36DCAFF-8328-4FBE-BF24-44DFF98366C8}" type="presParOf" srcId="{8D93BFF0-51C2-47D0-9DBB-9ABF8023F912}" destId="{DB93BE63-E227-4631-AE6F-A30B3ACB59FB}" srcOrd="14" destOrd="0" presId="urn:microsoft.com/office/officeart/2005/8/layout/list1"/>
    <dgm:cxn modelId="{6A933A38-5776-4D73-AA8D-CE8D0FD99941}" type="presParOf" srcId="{8D93BFF0-51C2-47D0-9DBB-9ABF8023F912}" destId="{BEB743A6-89E2-4F37-80E9-AA238A38D3E5}" srcOrd="15" destOrd="0" presId="urn:microsoft.com/office/officeart/2005/8/layout/list1"/>
    <dgm:cxn modelId="{33EE7DA1-BC61-4931-B64A-261A7F5CD401}" type="presParOf" srcId="{8D93BFF0-51C2-47D0-9DBB-9ABF8023F912}" destId="{4C81153D-3195-491F-BB7C-3BE459E30248}" srcOrd="16" destOrd="0" presId="urn:microsoft.com/office/officeart/2005/8/layout/list1"/>
    <dgm:cxn modelId="{C3A7BFA7-9AF4-4B2B-B26C-9706BB0E1664}" type="presParOf" srcId="{4C81153D-3195-491F-BB7C-3BE459E30248}" destId="{9584DB38-C035-4E00-943D-B6C437AB47E4}" srcOrd="0" destOrd="0" presId="urn:microsoft.com/office/officeart/2005/8/layout/list1"/>
    <dgm:cxn modelId="{2E266B2A-C54A-4944-AB09-1B492E33F028}" type="presParOf" srcId="{4C81153D-3195-491F-BB7C-3BE459E30248}" destId="{C13D73EB-D5F2-4B16-8885-6074BB83C3BA}" srcOrd="1" destOrd="0" presId="urn:microsoft.com/office/officeart/2005/8/layout/list1"/>
    <dgm:cxn modelId="{DFDB35FA-C396-4B5E-92A7-B635A6144FA7}" type="presParOf" srcId="{8D93BFF0-51C2-47D0-9DBB-9ABF8023F912}" destId="{24456EF9-59F3-4CFD-BEB4-734F845D6F5E}" srcOrd="17" destOrd="0" presId="urn:microsoft.com/office/officeart/2005/8/layout/list1"/>
    <dgm:cxn modelId="{0FA94293-0438-44B1-8B25-04A846CB14C4}" type="presParOf" srcId="{8D93BFF0-51C2-47D0-9DBB-9ABF8023F912}" destId="{2B89FCE3-85E8-4D5D-A938-BC22ACCA8E4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F49828-255F-4E87-B2C8-3FB57F05D83A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0651BBE4-8A7F-4169-A064-1072FE185B9F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Team and Teamwork</a:t>
          </a:r>
          <a:endParaRPr lang="en-GB" b="1" dirty="0">
            <a:solidFill>
              <a:srgbClr val="FFFF00"/>
            </a:solidFill>
          </a:endParaRPr>
        </a:p>
      </dgm:t>
    </dgm:pt>
    <dgm:pt modelId="{8E88B530-2810-41A8-AD87-477C12B0E0B4}" type="parTrans" cxnId="{98BB6C3F-0454-4CCE-B308-8F0A3C481392}">
      <dgm:prSet/>
      <dgm:spPr/>
      <dgm:t>
        <a:bodyPr/>
        <a:lstStyle/>
        <a:p>
          <a:endParaRPr lang="en-GB"/>
        </a:p>
      </dgm:t>
    </dgm:pt>
    <dgm:pt modelId="{C59114D3-8206-47BD-A0E9-77B7BBCE9A91}" type="sibTrans" cxnId="{98BB6C3F-0454-4CCE-B308-8F0A3C481392}">
      <dgm:prSet/>
      <dgm:spPr/>
      <dgm:t>
        <a:bodyPr/>
        <a:lstStyle/>
        <a:p>
          <a:endParaRPr lang="en-GB"/>
        </a:p>
      </dgm:t>
    </dgm:pt>
    <dgm:pt modelId="{1DF1C777-4E97-4846-9938-9E3B707B33B5}" type="pres">
      <dgm:prSet presAssocID="{D6F49828-255F-4E87-B2C8-3FB57F05D83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EB98947-0641-46AE-B285-AB1A2506D79D}" type="pres">
      <dgm:prSet presAssocID="{0651BBE4-8A7F-4169-A064-1072FE185B9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6B6763A-EC97-4B35-A165-3AF2D1B24975}" type="presOf" srcId="{D6F49828-255F-4E87-B2C8-3FB57F05D83A}" destId="{1DF1C777-4E97-4846-9938-9E3B707B33B5}" srcOrd="0" destOrd="0" presId="urn:microsoft.com/office/officeart/2005/8/layout/vList2"/>
    <dgm:cxn modelId="{E72F5E07-E332-4D84-AB20-CB3FFCE30538}" type="presOf" srcId="{0651BBE4-8A7F-4169-A064-1072FE185B9F}" destId="{EEB98947-0641-46AE-B285-AB1A2506D79D}" srcOrd="0" destOrd="0" presId="urn:microsoft.com/office/officeart/2005/8/layout/vList2"/>
    <dgm:cxn modelId="{98BB6C3F-0454-4CCE-B308-8F0A3C481392}" srcId="{D6F49828-255F-4E87-B2C8-3FB57F05D83A}" destId="{0651BBE4-8A7F-4169-A064-1072FE185B9F}" srcOrd="0" destOrd="0" parTransId="{8E88B530-2810-41A8-AD87-477C12B0E0B4}" sibTransId="{C59114D3-8206-47BD-A0E9-77B7BBCE9A91}"/>
    <dgm:cxn modelId="{E777FD84-083A-4BB1-A63D-F8A2CEA0D222}" type="presParOf" srcId="{1DF1C777-4E97-4846-9938-9E3B707B33B5}" destId="{EEB98947-0641-46AE-B285-AB1A2506D79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62A8FA-4A60-406D-8241-29C3370F6DBB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C6555098-65AD-4D93-9F01-112E49DBA7BE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Team and Teamwork</a:t>
          </a:r>
          <a:endParaRPr lang="en-GB" b="1" dirty="0">
            <a:solidFill>
              <a:srgbClr val="FFFF00"/>
            </a:solidFill>
          </a:endParaRPr>
        </a:p>
      </dgm:t>
    </dgm:pt>
    <dgm:pt modelId="{D93218BD-84E2-4314-B464-48E37ADD4FDB}" type="parTrans" cxnId="{71103123-42C8-47B6-BDB5-5C854EC0B0F8}">
      <dgm:prSet/>
      <dgm:spPr/>
      <dgm:t>
        <a:bodyPr/>
        <a:lstStyle/>
        <a:p>
          <a:endParaRPr lang="en-GB"/>
        </a:p>
      </dgm:t>
    </dgm:pt>
    <dgm:pt modelId="{1786A059-E429-499C-9C7E-7DCF2548AC1F}" type="sibTrans" cxnId="{71103123-42C8-47B6-BDB5-5C854EC0B0F8}">
      <dgm:prSet/>
      <dgm:spPr/>
      <dgm:t>
        <a:bodyPr/>
        <a:lstStyle/>
        <a:p>
          <a:endParaRPr lang="en-GB"/>
        </a:p>
      </dgm:t>
    </dgm:pt>
    <dgm:pt modelId="{ED5F69D2-E5E2-4BAF-AADB-70925304ABA3}" type="pres">
      <dgm:prSet presAssocID="{9062A8FA-4A60-406D-8241-29C3370F6DB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82FA3E5B-B166-44AA-85B6-7D42B6D11FCE}" type="pres">
      <dgm:prSet presAssocID="{C6555098-65AD-4D93-9F01-112E49DBA7B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A1E645F4-14E7-40A1-9A65-44C31C624168}" type="presOf" srcId="{9062A8FA-4A60-406D-8241-29C3370F6DBB}" destId="{ED5F69D2-E5E2-4BAF-AADB-70925304ABA3}" srcOrd="0" destOrd="0" presId="urn:microsoft.com/office/officeart/2005/8/layout/vList2"/>
    <dgm:cxn modelId="{71103123-42C8-47B6-BDB5-5C854EC0B0F8}" srcId="{9062A8FA-4A60-406D-8241-29C3370F6DBB}" destId="{C6555098-65AD-4D93-9F01-112E49DBA7BE}" srcOrd="0" destOrd="0" parTransId="{D93218BD-84E2-4314-B464-48E37ADD4FDB}" sibTransId="{1786A059-E429-499C-9C7E-7DCF2548AC1F}"/>
    <dgm:cxn modelId="{01F105D2-397D-49A6-A950-F7569578F611}" type="presOf" srcId="{C6555098-65AD-4D93-9F01-112E49DBA7BE}" destId="{82FA3E5B-B166-44AA-85B6-7D42B6D11FCE}" srcOrd="0" destOrd="0" presId="urn:microsoft.com/office/officeart/2005/8/layout/vList2"/>
    <dgm:cxn modelId="{A9491335-1F45-41D9-85F3-D5D8D8408CFB}" type="presParOf" srcId="{ED5F69D2-E5E2-4BAF-AADB-70925304ABA3}" destId="{82FA3E5B-B166-44AA-85B6-7D42B6D11F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1CFECD3-4C0C-4757-9E61-51486ABF3835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7A6D4922-A454-4F71-8BE8-CB2AF84DD136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Team and Teamwork</a:t>
          </a:r>
          <a:endParaRPr lang="en-GB" b="1" dirty="0">
            <a:solidFill>
              <a:srgbClr val="FFFF00"/>
            </a:solidFill>
          </a:endParaRPr>
        </a:p>
      </dgm:t>
    </dgm:pt>
    <dgm:pt modelId="{33CE5D5A-D62F-41B9-AEBF-4E0AB588F20F}" type="parTrans" cxnId="{50B2331E-8319-4749-84DB-30262AFF547A}">
      <dgm:prSet/>
      <dgm:spPr/>
      <dgm:t>
        <a:bodyPr/>
        <a:lstStyle/>
        <a:p>
          <a:endParaRPr lang="en-GB"/>
        </a:p>
      </dgm:t>
    </dgm:pt>
    <dgm:pt modelId="{DE0DA401-2242-49EB-A554-98A659F41338}" type="sibTrans" cxnId="{50B2331E-8319-4749-84DB-30262AFF547A}">
      <dgm:prSet/>
      <dgm:spPr/>
      <dgm:t>
        <a:bodyPr/>
        <a:lstStyle/>
        <a:p>
          <a:endParaRPr lang="en-GB"/>
        </a:p>
      </dgm:t>
    </dgm:pt>
    <dgm:pt modelId="{8365F867-EE90-4439-B160-E80C2EEF99C8}" type="pres">
      <dgm:prSet presAssocID="{31CFECD3-4C0C-4757-9E61-51486ABF383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4516BE1-52C7-4A2E-B641-58C83280027D}" type="pres">
      <dgm:prSet presAssocID="{7A6D4922-A454-4F71-8BE8-CB2AF84DD13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A9985CE-A70A-4E6B-A5D0-51200E59C478}" type="presOf" srcId="{31CFECD3-4C0C-4757-9E61-51486ABF3835}" destId="{8365F867-EE90-4439-B160-E80C2EEF99C8}" srcOrd="0" destOrd="0" presId="urn:microsoft.com/office/officeart/2005/8/layout/vList2"/>
    <dgm:cxn modelId="{50B2331E-8319-4749-84DB-30262AFF547A}" srcId="{31CFECD3-4C0C-4757-9E61-51486ABF3835}" destId="{7A6D4922-A454-4F71-8BE8-CB2AF84DD136}" srcOrd="0" destOrd="0" parTransId="{33CE5D5A-D62F-41B9-AEBF-4E0AB588F20F}" sibTransId="{DE0DA401-2242-49EB-A554-98A659F41338}"/>
    <dgm:cxn modelId="{D8E2BF48-7439-4AAF-B318-C9FA28EF4018}" type="presOf" srcId="{7A6D4922-A454-4F71-8BE8-CB2AF84DD136}" destId="{C4516BE1-52C7-4A2E-B641-58C83280027D}" srcOrd="0" destOrd="0" presId="urn:microsoft.com/office/officeart/2005/8/layout/vList2"/>
    <dgm:cxn modelId="{26CB30BB-D0E3-45AF-8F94-7208CDDDBB47}" type="presParOf" srcId="{8365F867-EE90-4439-B160-E80C2EEF99C8}" destId="{C4516BE1-52C7-4A2E-B641-58C83280027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8F84F3-88F0-4045-86BD-C82825097493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DBF39047-712F-4DA4-B6D5-5E741A83DBFF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Team and Teamwork</a:t>
          </a:r>
          <a:endParaRPr lang="en-GB" b="1" dirty="0">
            <a:solidFill>
              <a:srgbClr val="FFFF00"/>
            </a:solidFill>
          </a:endParaRPr>
        </a:p>
      </dgm:t>
    </dgm:pt>
    <dgm:pt modelId="{CE24CA88-FA8C-45C2-86F1-4E36DF6AD0C8}" type="parTrans" cxnId="{C21C520C-18E8-49CE-A3C6-5684912E3A8E}">
      <dgm:prSet/>
      <dgm:spPr/>
      <dgm:t>
        <a:bodyPr/>
        <a:lstStyle/>
        <a:p>
          <a:endParaRPr lang="en-GB"/>
        </a:p>
      </dgm:t>
    </dgm:pt>
    <dgm:pt modelId="{29E7D6C3-5125-4E4C-8FAE-6221A57C5D2D}" type="sibTrans" cxnId="{C21C520C-18E8-49CE-A3C6-5684912E3A8E}">
      <dgm:prSet/>
      <dgm:spPr/>
      <dgm:t>
        <a:bodyPr/>
        <a:lstStyle/>
        <a:p>
          <a:endParaRPr lang="en-GB"/>
        </a:p>
      </dgm:t>
    </dgm:pt>
    <dgm:pt modelId="{E167CB27-EC67-41EB-ABDD-BCFF493DA65B}" type="pres">
      <dgm:prSet presAssocID="{AF8F84F3-88F0-4045-86BD-C8282509749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DAACF97-1C99-47C1-8911-EA37B136F608}" type="pres">
      <dgm:prSet presAssocID="{DBF39047-712F-4DA4-B6D5-5E741A83DBF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21C520C-18E8-49CE-A3C6-5684912E3A8E}" srcId="{AF8F84F3-88F0-4045-86BD-C82825097493}" destId="{DBF39047-712F-4DA4-B6D5-5E741A83DBFF}" srcOrd="0" destOrd="0" parTransId="{CE24CA88-FA8C-45C2-86F1-4E36DF6AD0C8}" sibTransId="{29E7D6C3-5125-4E4C-8FAE-6221A57C5D2D}"/>
    <dgm:cxn modelId="{C87DE342-9287-4EAF-B133-D19FC98404DA}" type="presOf" srcId="{DBF39047-712F-4DA4-B6D5-5E741A83DBFF}" destId="{2DAACF97-1C99-47C1-8911-EA37B136F608}" srcOrd="0" destOrd="0" presId="urn:microsoft.com/office/officeart/2005/8/layout/vList2"/>
    <dgm:cxn modelId="{3494EF2D-5FE7-4DBD-A68E-07AD2D39C07C}" type="presOf" srcId="{AF8F84F3-88F0-4045-86BD-C82825097493}" destId="{E167CB27-EC67-41EB-ABDD-BCFF493DA65B}" srcOrd="0" destOrd="0" presId="urn:microsoft.com/office/officeart/2005/8/layout/vList2"/>
    <dgm:cxn modelId="{20C0DED5-69F7-4544-B5CA-FBE5D0A74763}" type="presParOf" srcId="{E167CB27-EC67-41EB-ABDD-BCFF493DA65B}" destId="{2DAACF97-1C99-47C1-8911-EA37B136F60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EC3065E-A69C-494B-BA04-35192CD44872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3BB5DFFA-8FCC-4470-8DDE-57D56203CF17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Stages of Team Development</a:t>
          </a:r>
          <a:endParaRPr lang="en-GB" b="1" dirty="0">
            <a:solidFill>
              <a:srgbClr val="FFFF00"/>
            </a:solidFill>
          </a:endParaRPr>
        </a:p>
      </dgm:t>
    </dgm:pt>
    <dgm:pt modelId="{ED588CAB-9C23-4042-A35A-A59C18667DE3}" type="parTrans" cxnId="{23E0906D-4AF4-4E95-B10D-BE9B07D316A9}">
      <dgm:prSet/>
      <dgm:spPr/>
      <dgm:t>
        <a:bodyPr/>
        <a:lstStyle/>
        <a:p>
          <a:endParaRPr lang="en-GB"/>
        </a:p>
      </dgm:t>
    </dgm:pt>
    <dgm:pt modelId="{9F336FAB-B1E3-492C-81BE-AC66CEEAA208}" type="sibTrans" cxnId="{23E0906D-4AF4-4E95-B10D-BE9B07D316A9}">
      <dgm:prSet/>
      <dgm:spPr/>
      <dgm:t>
        <a:bodyPr/>
        <a:lstStyle/>
        <a:p>
          <a:endParaRPr lang="en-GB"/>
        </a:p>
      </dgm:t>
    </dgm:pt>
    <dgm:pt modelId="{5FF8544C-8204-4E40-97AA-F8DA179F689B}" type="pres">
      <dgm:prSet presAssocID="{CEC3065E-A69C-494B-BA04-35192CD4487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4D303208-6170-4263-A42F-A51A079677EB}" type="pres">
      <dgm:prSet presAssocID="{3BB5DFFA-8FCC-4470-8DDE-57D56203CF1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11C7127D-D7C1-4251-9D30-3EA2CFC15342}" type="presOf" srcId="{3BB5DFFA-8FCC-4470-8DDE-57D56203CF17}" destId="{4D303208-6170-4263-A42F-A51A079677EB}" srcOrd="0" destOrd="0" presId="urn:microsoft.com/office/officeart/2005/8/layout/vList2"/>
    <dgm:cxn modelId="{F4A7C390-D892-467B-BDFD-A7EB702E2AEB}" type="presOf" srcId="{CEC3065E-A69C-494B-BA04-35192CD44872}" destId="{5FF8544C-8204-4E40-97AA-F8DA179F689B}" srcOrd="0" destOrd="0" presId="urn:microsoft.com/office/officeart/2005/8/layout/vList2"/>
    <dgm:cxn modelId="{23E0906D-4AF4-4E95-B10D-BE9B07D316A9}" srcId="{CEC3065E-A69C-494B-BA04-35192CD44872}" destId="{3BB5DFFA-8FCC-4470-8DDE-57D56203CF17}" srcOrd="0" destOrd="0" parTransId="{ED588CAB-9C23-4042-A35A-A59C18667DE3}" sibTransId="{9F336FAB-B1E3-492C-81BE-AC66CEEAA208}"/>
    <dgm:cxn modelId="{A67AB2BF-087B-43E4-8149-FEFD93E622D9}" type="presParOf" srcId="{5FF8544C-8204-4E40-97AA-F8DA179F689B}" destId="{4D303208-6170-4263-A42F-A51A079677E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337E7BA-BB65-438A-B3E0-ED08372C33F3}" type="doc">
      <dgm:prSet loTypeId="urn:microsoft.com/office/officeart/2005/8/layout/process4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7D6ED8F8-CA9E-480B-8AF5-6FDF6A19C700}">
      <dgm:prSet phldrT="[Text]" custT="1"/>
      <dgm:spPr/>
      <dgm:t>
        <a:bodyPr/>
        <a:lstStyle/>
        <a:p>
          <a:r>
            <a:rPr lang="en-GB" sz="3200" dirty="0" smtClean="0"/>
            <a:t>Every team has to pass through these stages  in order to </a:t>
          </a:r>
          <a:r>
            <a:rPr lang="en-GB" sz="3200" b="1" dirty="0" smtClean="0">
              <a:solidFill>
                <a:srgbClr val="FFFF00"/>
              </a:solidFill>
            </a:rPr>
            <a:t>GROW</a:t>
          </a:r>
          <a:r>
            <a:rPr lang="en-GB" sz="3200" dirty="0" smtClean="0"/>
            <a:t> to the point where it functions </a:t>
          </a:r>
          <a:r>
            <a:rPr lang="en-GB" sz="3200" b="1" dirty="0" smtClean="0">
              <a:solidFill>
                <a:srgbClr val="FFFF00"/>
              </a:solidFill>
            </a:rPr>
            <a:t>EFFECTIVELY </a:t>
          </a:r>
          <a:r>
            <a:rPr lang="en-GB" sz="3200" dirty="0" smtClean="0"/>
            <a:t>in unison and deliver high quality </a:t>
          </a:r>
          <a:r>
            <a:rPr lang="en-GB" sz="3200" b="1" dirty="0" smtClean="0">
              <a:solidFill>
                <a:srgbClr val="FFFF00"/>
              </a:solidFill>
            </a:rPr>
            <a:t>RESULTS</a:t>
          </a:r>
          <a:endParaRPr lang="en-GB" sz="3200" b="1" dirty="0">
            <a:solidFill>
              <a:srgbClr val="FFFF00"/>
            </a:solidFill>
          </a:endParaRPr>
        </a:p>
      </dgm:t>
    </dgm:pt>
    <dgm:pt modelId="{B41F8E35-B33B-4B60-BA72-EA395F69BB0B}" type="parTrans" cxnId="{CB8F248A-C44F-49F4-A178-FF8E7DD7CF57}">
      <dgm:prSet/>
      <dgm:spPr/>
      <dgm:t>
        <a:bodyPr/>
        <a:lstStyle/>
        <a:p>
          <a:endParaRPr lang="en-GB" sz="1600"/>
        </a:p>
      </dgm:t>
    </dgm:pt>
    <dgm:pt modelId="{3BD0D313-1118-4304-B6A7-ED50A554D587}" type="sibTrans" cxnId="{CB8F248A-C44F-49F4-A178-FF8E7DD7CF57}">
      <dgm:prSet/>
      <dgm:spPr/>
      <dgm:t>
        <a:bodyPr/>
        <a:lstStyle/>
        <a:p>
          <a:endParaRPr lang="en-GB" sz="1600"/>
        </a:p>
      </dgm:t>
    </dgm:pt>
    <dgm:pt modelId="{AF2E4C4F-EA1E-4209-93F0-4BF3E045E9A4}" type="pres">
      <dgm:prSet presAssocID="{1337E7BA-BB65-438A-B3E0-ED08372C33F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019F76B7-A973-4127-B019-1BC844972C94}" type="pres">
      <dgm:prSet presAssocID="{7D6ED8F8-CA9E-480B-8AF5-6FDF6A19C700}" presName="boxAndChildren" presStyleCnt="0"/>
      <dgm:spPr/>
      <dgm:t>
        <a:bodyPr/>
        <a:lstStyle/>
        <a:p>
          <a:endParaRPr lang="en-GB"/>
        </a:p>
      </dgm:t>
    </dgm:pt>
    <dgm:pt modelId="{063AB512-9B34-4875-994F-7D9D9100805C}" type="pres">
      <dgm:prSet presAssocID="{7D6ED8F8-CA9E-480B-8AF5-6FDF6A19C700}" presName="parentTextBox" presStyleLbl="node1" presStyleIdx="0" presStyleCnt="1" custLinFactNeighborX="1887"/>
      <dgm:spPr/>
      <dgm:t>
        <a:bodyPr/>
        <a:lstStyle/>
        <a:p>
          <a:endParaRPr lang="en-GB"/>
        </a:p>
      </dgm:t>
    </dgm:pt>
  </dgm:ptLst>
  <dgm:cxnLst>
    <dgm:cxn modelId="{CB8F248A-C44F-49F4-A178-FF8E7DD7CF57}" srcId="{1337E7BA-BB65-438A-B3E0-ED08372C33F3}" destId="{7D6ED8F8-CA9E-480B-8AF5-6FDF6A19C700}" srcOrd="0" destOrd="0" parTransId="{B41F8E35-B33B-4B60-BA72-EA395F69BB0B}" sibTransId="{3BD0D313-1118-4304-B6A7-ED50A554D587}"/>
    <dgm:cxn modelId="{F0F60169-ED36-4BFA-90EC-16E645D7D9DE}" type="presOf" srcId="{7D6ED8F8-CA9E-480B-8AF5-6FDF6A19C700}" destId="{063AB512-9B34-4875-994F-7D9D9100805C}" srcOrd="0" destOrd="0" presId="urn:microsoft.com/office/officeart/2005/8/layout/process4"/>
    <dgm:cxn modelId="{55D3838C-B291-4E51-8E3C-721F281804F6}" type="presOf" srcId="{1337E7BA-BB65-438A-B3E0-ED08372C33F3}" destId="{AF2E4C4F-EA1E-4209-93F0-4BF3E045E9A4}" srcOrd="0" destOrd="0" presId="urn:microsoft.com/office/officeart/2005/8/layout/process4"/>
    <dgm:cxn modelId="{E9DCB0A1-7E35-44EA-8ABC-0E7D8B82C859}" type="presParOf" srcId="{AF2E4C4F-EA1E-4209-93F0-4BF3E045E9A4}" destId="{019F76B7-A973-4127-B019-1BC844972C94}" srcOrd="0" destOrd="0" presId="urn:microsoft.com/office/officeart/2005/8/layout/process4"/>
    <dgm:cxn modelId="{8D973F38-E1BA-4AD6-88DF-9C80CBF1B53C}" type="presParOf" srcId="{019F76B7-A973-4127-B019-1BC844972C94}" destId="{063AB512-9B34-4875-994F-7D9D9100805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708B079-16D4-4D71-97C9-3104948D7EAA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A36EB4C1-F714-4147-BA87-8ACBBAD8399B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Stages of Team Development</a:t>
          </a:r>
          <a:endParaRPr lang="en-GB" b="1" dirty="0">
            <a:solidFill>
              <a:srgbClr val="FFFF00"/>
            </a:solidFill>
          </a:endParaRPr>
        </a:p>
      </dgm:t>
    </dgm:pt>
    <dgm:pt modelId="{8E7545DB-C592-43E2-8662-BD620A8BDA8F}" type="parTrans" cxnId="{46BD3EB4-C2BF-420F-AE0B-894D8316F60A}">
      <dgm:prSet/>
      <dgm:spPr/>
      <dgm:t>
        <a:bodyPr/>
        <a:lstStyle/>
        <a:p>
          <a:endParaRPr lang="en-GB"/>
        </a:p>
      </dgm:t>
    </dgm:pt>
    <dgm:pt modelId="{0424D886-085E-45A8-A230-4E43508409DC}" type="sibTrans" cxnId="{46BD3EB4-C2BF-420F-AE0B-894D8316F60A}">
      <dgm:prSet/>
      <dgm:spPr/>
      <dgm:t>
        <a:bodyPr/>
        <a:lstStyle/>
        <a:p>
          <a:endParaRPr lang="en-GB"/>
        </a:p>
      </dgm:t>
    </dgm:pt>
    <dgm:pt modelId="{79BCC6EB-EBD1-4A67-8661-5FC048274CA9}" type="pres">
      <dgm:prSet presAssocID="{F708B079-16D4-4D71-97C9-3104948D7EA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F106565-2C18-4D1C-A8C7-74E049DFC3FD}" type="pres">
      <dgm:prSet presAssocID="{A36EB4C1-F714-4147-BA87-8ACBBAD8399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6BD3EB4-C2BF-420F-AE0B-894D8316F60A}" srcId="{F708B079-16D4-4D71-97C9-3104948D7EAA}" destId="{A36EB4C1-F714-4147-BA87-8ACBBAD8399B}" srcOrd="0" destOrd="0" parTransId="{8E7545DB-C592-43E2-8662-BD620A8BDA8F}" sibTransId="{0424D886-085E-45A8-A230-4E43508409DC}"/>
    <dgm:cxn modelId="{CE373831-6A38-4A92-9F18-2152E0B3BBE8}" type="presOf" srcId="{F708B079-16D4-4D71-97C9-3104948D7EAA}" destId="{79BCC6EB-EBD1-4A67-8661-5FC048274CA9}" srcOrd="0" destOrd="0" presId="urn:microsoft.com/office/officeart/2005/8/layout/vList2"/>
    <dgm:cxn modelId="{805A3729-2AC6-4984-AD4D-391EA6AF098E}" type="presOf" srcId="{A36EB4C1-F714-4147-BA87-8ACBBAD8399B}" destId="{5F106565-2C18-4D1C-A8C7-74E049DFC3FD}" srcOrd="0" destOrd="0" presId="urn:microsoft.com/office/officeart/2005/8/layout/vList2"/>
    <dgm:cxn modelId="{8189959D-FA0D-4D43-81F5-0B9ACD3A34E9}" type="presParOf" srcId="{79BCC6EB-EBD1-4A67-8661-5FC048274CA9}" destId="{5F106565-2C18-4D1C-A8C7-74E049DFC3F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47403F8-611D-4532-AF50-1AFCA0CE944D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F01C6FD4-C021-470B-A2D4-C48AA10D17B0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Stages of Team Development</a:t>
          </a:r>
          <a:endParaRPr lang="en-GB" b="1" dirty="0">
            <a:solidFill>
              <a:srgbClr val="FFFF00"/>
            </a:solidFill>
          </a:endParaRPr>
        </a:p>
      </dgm:t>
    </dgm:pt>
    <dgm:pt modelId="{441EAF94-D7D6-46E3-92A7-8217895A609E}" type="parTrans" cxnId="{16C518B6-3C44-4C74-8927-7B2CB2CB97E1}">
      <dgm:prSet/>
      <dgm:spPr/>
      <dgm:t>
        <a:bodyPr/>
        <a:lstStyle/>
        <a:p>
          <a:endParaRPr lang="en-GB"/>
        </a:p>
      </dgm:t>
    </dgm:pt>
    <dgm:pt modelId="{698E68D7-3783-436C-AB16-5D53B6BB844E}" type="sibTrans" cxnId="{16C518B6-3C44-4C74-8927-7B2CB2CB97E1}">
      <dgm:prSet/>
      <dgm:spPr/>
      <dgm:t>
        <a:bodyPr/>
        <a:lstStyle/>
        <a:p>
          <a:endParaRPr lang="en-GB"/>
        </a:p>
      </dgm:t>
    </dgm:pt>
    <dgm:pt modelId="{6162952B-5F91-4AA9-8613-B470EA3F15C6}" type="pres">
      <dgm:prSet presAssocID="{047403F8-611D-4532-AF50-1AFCA0CE944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FBCAF7B-3BF7-4499-8A57-417581D77391}" type="pres">
      <dgm:prSet presAssocID="{F01C6FD4-C021-470B-A2D4-C48AA10D17B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16C518B6-3C44-4C74-8927-7B2CB2CB97E1}" srcId="{047403F8-611D-4532-AF50-1AFCA0CE944D}" destId="{F01C6FD4-C021-470B-A2D4-C48AA10D17B0}" srcOrd="0" destOrd="0" parTransId="{441EAF94-D7D6-46E3-92A7-8217895A609E}" sibTransId="{698E68D7-3783-436C-AB16-5D53B6BB844E}"/>
    <dgm:cxn modelId="{002E8B2E-F470-4201-91C9-6E03F9BF02EC}" type="presOf" srcId="{F01C6FD4-C021-470B-A2D4-C48AA10D17B0}" destId="{5FBCAF7B-3BF7-4499-8A57-417581D77391}" srcOrd="0" destOrd="0" presId="urn:microsoft.com/office/officeart/2005/8/layout/vList2"/>
    <dgm:cxn modelId="{63DEED4A-23CE-4747-BA50-8696066BC93D}" type="presOf" srcId="{047403F8-611D-4532-AF50-1AFCA0CE944D}" destId="{6162952B-5F91-4AA9-8613-B470EA3F15C6}" srcOrd="0" destOrd="0" presId="urn:microsoft.com/office/officeart/2005/8/layout/vList2"/>
    <dgm:cxn modelId="{CD12759E-DD1E-4F83-BEAF-36353290C18C}" type="presParOf" srcId="{6162952B-5F91-4AA9-8613-B470EA3F15C6}" destId="{5FBCAF7B-3BF7-4499-8A57-417581D7739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B9CF6D3-05FF-4562-8533-D78719F55BDD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8BB8D0A4-22F9-4A99-AD6E-C099E23D6843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Stages of Team Development</a:t>
          </a:r>
          <a:endParaRPr lang="en-GB" b="1" dirty="0">
            <a:solidFill>
              <a:srgbClr val="FFFF00"/>
            </a:solidFill>
          </a:endParaRPr>
        </a:p>
      </dgm:t>
    </dgm:pt>
    <dgm:pt modelId="{C590EFC4-8BAC-4732-94A8-6FC8AE124550}" type="parTrans" cxnId="{73AA1586-A002-42CF-97E6-CC3B3C381616}">
      <dgm:prSet/>
      <dgm:spPr/>
      <dgm:t>
        <a:bodyPr/>
        <a:lstStyle/>
        <a:p>
          <a:endParaRPr lang="en-GB"/>
        </a:p>
      </dgm:t>
    </dgm:pt>
    <dgm:pt modelId="{A6F1167D-93F3-46D3-8F72-53DFC0B7F96F}" type="sibTrans" cxnId="{73AA1586-A002-42CF-97E6-CC3B3C381616}">
      <dgm:prSet/>
      <dgm:spPr/>
      <dgm:t>
        <a:bodyPr/>
        <a:lstStyle/>
        <a:p>
          <a:endParaRPr lang="en-GB"/>
        </a:p>
      </dgm:t>
    </dgm:pt>
    <dgm:pt modelId="{77BA151F-B71F-49BB-A246-EEB3FB01DB0D}" type="pres">
      <dgm:prSet presAssocID="{5B9CF6D3-05FF-4562-8533-D78719F55BD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DD407A2-3E63-41DE-90AC-CA75D39301E2}" type="pres">
      <dgm:prSet presAssocID="{8BB8D0A4-22F9-4A99-AD6E-C099E23D684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9C4A110-FD8C-425C-BD4F-CAFF61B2F117}" type="presOf" srcId="{5B9CF6D3-05FF-4562-8533-D78719F55BDD}" destId="{77BA151F-B71F-49BB-A246-EEB3FB01DB0D}" srcOrd="0" destOrd="0" presId="urn:microsoft.com/office/officeart/2005/8/layout/vList2"/>
    <dgm:cxn modelId="{73AA1586-A002-42CF-97E6-CC3B3C381616}" srcId="{5B9CF6D3-05FF-4562-8533-D78719F55BDD}" destId="{8BB8D0A4-22F9-4A99-AD6E-C099E23D6843}" srcOrd="0" destOrd="0" parTransId="{C590EFC4-8BAC-4732-94A8-6FC8AE124550}" sibTransId="{A6F1167D-93F3-46D3-8F72-53DFC0B7F96F}"/>
    <dgm:cxn modelId="{1ADF596A-FBDE-4A66-8216-43F25EC25B77}" type="presOf" srcId="{8BB8D0A4-22F9-4A99-AD6E-C099E23D6843}" destId="{CDD407A2-3E63-41DE-90AC-CA75D39301E2}" srcOrd="0" destOrd="0" presId="urn:microsoft.com/office/officeart/2005/8/layout/vList2"/>
    <dgm:cxn modelId="{506426CD-A087-4428-8DF0-367D12C85D4B}" type="presParOf" srcId="{77BA151F-B71F-49BB-A246-EEB3FB01DB0D}" destId="{CDD407A2-3E63-41DE-90AC-CA75D39301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D0F0F00B-DF2B-44BE-A4FD-E84345E79D19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87533635-CE4B-4E64-BA70-B7B07F26458B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Stages of Team Development</a:t>
          </a:r>
          <a:endParaRPr lang="en-GB" b="1" dirty="0">
            <a:solidFill>
              <a:srgbClr val="FFFF00"/>
            </a:solidFill>
          </a:endParaRPr>
        </a:p>
      </dgm:t>
    </dgm:pt>
    <dgm:pt modelId="{3C642AB5-ADA6-4612-B74C-6C81E59DFE1B}" type="parTrans" cxnId="{C7370597-0D9F-4D72-96AA-6BFBB1584E8B}">
      <dgm:prSet/>
      <dgm:spPr/>
      <dgm:t>
        <a:bodyPr/>
        <a:lstStyle/>
        <a:p>
          <a:endParaRPr lang="en-GB"/>
        </a:p>
      </dgm:t>
    </dgm:pt>
    <dgm:pt modelId="{692DA70B-1362-449C-B4E9-C379DB6FC88F}" type="sibTrans" cxnId="{C7370597-0D9F-4D72-96AA-6BFBB1584E8B}">
      <dgm:prSet/>
      <dgm:spPr/>
      <dgm:t>
        <a:bodyPr/>
        <a:lstStyle/>
        <a:p>
          <a:endParaRPr lang="en-GB"/>
        </a:p>
      </dgm:t>
    </dgm:pt>
    <dgm:pt modelId="{7CE830B7-3C31-411F-BBAF-D3D47D007441}" type="pres">
      <dgm:prSet presAssocID="{D0F0F00B-DF2B-44BE-A4FD-E84345E79D1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3F931983-5169-427C-A50E-FDC015509EB2}" type="pres">
      <dgm:prSet presAssocID="{87533635-CE4B-4E64-BA70-B7B07F26458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C2BB1E28-D9EB-4848-9AE8-53BBC4C83BDA}" type="presOf" srcId="{D0F0F00B-DF2B-44BE-A4FD-E84345E79D19}" destId="{7CE830B7-3C31-411F-BBAF-D3D47D007441}" srcOrd="0" destOrd="0" presId="urn:microsoft.com/office/officeart/2005/8/layout/vList2"/>
    <dgm:cxn modelId="{C7370597-0D9F-4D72-96AA-6BFBB1584E8B}" srcId="{D0F0F00B-DF2B-44BE-A4FD-E84345E79D19}" destId="{87533635-CE4B-4E64-BA70-B7B07F26458B}" srcOrd="0" destOrd="0" parTransId="{3C642AB5-ADA6-4612-B74C-6C81E59DFE1B}" sibTransId="{692DA70B-1362-449C-B4E9-C379DB6FC88F}"/>
    <dgm:cxn modelId="{AAE72E41-53D0-40E2-8450-32A9A707FAE5}" type="presOf" srcId="{87533635-CE4B-4E64-BA70-B7B07F26458B}" destId="{3F931983-5169-427C-A50E-FDC015509EB2}" srcOrd="0" destOrd="0" presId="urn:microsoft.com/office/officeart/2005/8/layout/vList2"/>
    <dgm:cxn modelId="{806E6C3D-BFD7-4DF1-9DA7-F48ED289C626}" type="presParOf" srcId="{7CE830B7-3C31-411F-BBAF-D3D47D007441}" destId="{3F931983-5169-427C-A50E-FDC015509EB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A76085C-FE03-41B8-8980-FC4357FD713D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84904470-58EE-4D30-B993-DC1E9185BDF3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Stages of Team Development</a:t>
          </a:r>
          <a:endParaRPr lang="en-GB" b="1" dirty="0">
            <a:solidFill>
              <a:srgbClr val="FFFF00"/>
            </a:solidFill>
          </a:endParaRPr>
        </a:p>
      </dgm:t>
    </dgm:pt>
    <dgm:pt modelId="{EB4CAFD7-59A5-4428-BAC6-28D26078BA12}" type="parTrans" cxnId="{5509D1A0-341E-4138-BAC3-75FDB77B8C1E}">
      <dgm:prSet/>
      <dgm:spPr/>
      <dgm:t>
        <a:bodyPr/>
        <a:lstStyle/>
        <a:p>
          <a:endParaRPr lang="en-GB"/>
        </a:p>
      </dgm:t>
    </dgm:pt>
    <dgm:pt modelId="{99316E7A-086B-4F2B-9A8A-AB82BD9AC346}" type="sibTrans" cxnId="{5509D1A0-341E-4138-BAC3-75FDB77B8C1E}">
      <dgm:prSet/>
      <dgm:spPr/>
      <dgm:t>
        <a:bodyPr/>
        <a:lstStyle/>
        <a:p>
          <a:endParaRPr lang="en-GB"/>
        </a:p>
      </dgm:t>
    </dgm:pt>
    <dgm:pt modelId="{56D7E77E-6494-450A-8491-0A841EEF99E4}" type="pres">
      <dgm:prSet presAssocID="{CA76085C-FE03-41B8-8980-FC4357FD71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FA18307-34A5-479B-B491-13859386DD2F}" type="pres">
      <dgm:prSet presAssocID="{84904470-58EE-4D30-B993-DC1E9185BDF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509D1A0-341E-4138-BAC3-75FDB77B8C1E}" srcId="{CA76085C-FE03-41B8-8980-FC4357FD713D}" destId="{84904470-58EE-4D30-B993-DC1E9185BDF3}" srcOrd="0" destOrd="0" parTransId="{EB4CAFD7-59A5-4428-BAC6-28D26078BA12}" sibTransId="{99316E7A-086B-4F2B-9A8A-AB82BD9AC346}"/>
    <dgm:cxn modelId="{C2E74C84-327C-41C4-87A3-1A9B0DA8B796}" type="presOf" srcId="{84904470-58EE-4D30-B993-DC1E9185BDF3}" destId="{EFA18307-34A5-479B-B491-13859386DD2F}" srcOrd="0" destOrd="0" presId="urn:microsoft.com/office/officeart/2005/8/layout/vList2"/>
    <dgm:cxn modelId="{3623A8B0-E594-4003-87F8-A82748D9D4D0}" type="presOf" srcId="{CA76085C-FE03-41B8-8980-FC4357FD713D}" destId="{56D7E77E-6494-450A-8491-0A841EEF99E4}" srcOrd="0" destOrd="0" presId="urn:microsoft.com/office/officeart/2005/8/layout/vList2"/>
    <dgm:cxn modelId="{18383708-A081-44D5-BB27-EE1A85679E50}" type="presParOf" srcId="{56D7E77E-6494-450A-8491-0A841EEF99E4}" destId="{EFA18307-34A5-479B-B491-13859386DD2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36A7FAB-1ABA-4DD4-B04E-239161714594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E6694070-BFC4-4A30-B4F9-3C87E2E1ED6A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Stages of Team Development</a:t>
          </a:r>
          <a:endParaRPr lang="en-GB" b="1" dirty="0">
            <a:solidFill>
              <a:srgbClr val="FFFF00"/>
            </a:solidFill>
          </a:endParaRPr>
        </a:p>
      </dgm:t>
    </dgm:pt>
    <dgm:pt modelId="{4A1A76DD-F10A-4626-9A76-715E9D3803D4}" type="parTrans" cxnId="{3A681AF2-523F-4AC3-A8E1-B30F920836B5}">
      <dgm:prSet/>
      <dgm:spPr/>
      <dgm:t>
        <a:bodyPr/>
        <a:lstStyle/>
        <a:p>
          <a:endParaRPr lang="en-GB"/>
        </a:p>
      </dgm:t>
    </dgm:pt>
    <dgm:pt modelId="{2789B637-01B7-4D12-9068-AB62E2746E19}" type="sibTrans" cxnId="{3A681AF2-523F-4AC3-A8E1-B30F920836B5}">
      <dgm:prSet/>
      <dgm:spPr/>
      <dgm:t>
        <a:bodyPr/>
        <a:lstStyle/>
        <a:p>
          <a:endParaRPr lang="en-GB"/>
        </a:p>
      </dgm:t>
    </dgm:pt>
    <dgm:pt modelId="{BCE7BD7D-1A4B-4C87-9DD7-96375A397A1A}" type="pres">
      <dgm:prSet presAssocID="{336A7FAB-1ABA-4DD4-B04E-23916171459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6C187B98-6AAA-4F8B-BCD5-C04C8E4A70FC}" type="pres">
      <dgm:prSet presAssocID="{E6694070-BFC4-4A30-B4F9-3C87E2E1ED6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4F00325-1286-4E19-89A4-F1188D153C09}" type="presOf" srcId="{336A7FAB-1ABA-4DD4-B04E-239161714594}" destId="{BCE7BD7D-1A4B-4C87-9DD7-96375A397A1A}" srcOrd="0" destOrd="0" presId="urn:microsoft.com/office/officeart/2005/8/layout/vList2"/>
    <dgm:cxn modelId="{3A681AF2-523F-4AC3-A8E1-B30F920836B5}" srcId="{336A7FAB-1ABA-4DD4-B04E-239161714594}" destId="{E6694070-BFC4-4A30-B4F9-3C87E2E1ED6A}" srcOrd="0" destOrd="0" parTransId="{4A1A76DD-F10A-4626-9A76-715E9D3803D4}" sibTransId="{2789B637-01B7-4D12-9068-AB62E2746E19}"/>
    <dgm:cxn modelId="{889B50B1-C524-463D-9237-CB1C56AC9D8A}" type="presOf" srcId="{E6694070-BFC4-4A30-B4F9-3C87E2E1ED6A}" destId="{6C187B98-6AAA-4F8B-BCD5-C04C8E4A70FC}" srcOrd="0" destOrd="0" presId="urn:microsoft.com/office/officeart/2005/8/layout/vList2"/>
    <dgm:cxn modelId="{A263903D-1C36-4184-84EA-2D0AA7D13CFC}" type="presParOf" srcId="{BCE7BD7D-1A4B-4C87-9DD7-96375A397A1A}" destId="{6C187B98-6AAA-4F8B-BCD5-C04C8E4A70F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1CE7BE3-9C47-44B0-B7EA-D464360B299A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6B74EC6-93C5-4AA1-98A7-5DD23119FC38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Issues in Teamwork – Causes </a:t>
          </a:r>
          <a:endParaRPr lang="en-GB" b="1" dirty="0">
            <a:solidFill>
              <a:srgbClr val="FFFF00"/>
            </a:solidFill>
          </a:endParaRPr>
        </a:p>
      </dgm:t>
    </dgm:pt>
    <dgm:pt modelId="{7538A2FF-AF8B-48D0-9881-2FE22A155F8C}" type="parTrans" cxnId="{E1EABA54-C145-4884-BE40-6C5A920ED15C}">
      <dgm:prSet/>
      <dgm:spPr/>
      <dgm:t>
        <a:bodyPr/>
        <a:lstStyle/>
        <a:p>
          <a:endParaRPr lang="en-GB"/>
        </a:p>
      </dgm:t>
    </dgm:pt>
    <dgm:pt modelId="{282A3CBB-5FAE-4FA0-9203-32EAAB44F788}" type="sibTrans" cxnId="{E1EABA54-C145-4884-BE40-6C5A920ED15C}">
      <dgm:prSet/>
      <dgm:spPr/>
      <dgm:t>
        <a:bodyPr/>
        <a:lstStyle/>
        <a:p>
          <a:endParaRPr lang="en-GB"/>
        </a:p>
      </dgm:t>
    </dgm:pt>
    <dgm:pt modelId="{4F663F2D-B3EF-41E3-A745-B30F387F601B}" type="pres">
      <dgm:prSet presAssocID="{01CE7BE3-9C47-44B0-B7EA-D464360B299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7018590A-46E4-408C-AF16-EAFF33D2F036}" type="pres">
      <dgm:prSet presAssocID="{A6B74EC6-93C5-4AA1-98A7-5DD23119FC3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E1EABA54-C145-4884-BE40-6C5A920ED15C}" srcId="{01CE7BE3-9C47-44B0-B7EA-D464360B299A}" destId="{A6B74EC6-93C5-4AA1-98A7-5DD23119FC38}" srcOrd="0" destOrd="0" parTransId="{7538A2FF-AF8B-48D0-9881-2FE22A155F8C}" sibTransId="{282A3CBB-5FAE-4FA0-9203-32EAAB44F788}"/>
    <dgm:cxn modelId="{35F5A390-F64E-4E43-98F6-50EB21901AD1}" type="presOf" srcId="{01CE7BE3-9C47-44B0-B7EA-D464360B299A}" destId="{4F663F2D-B3EF-41E3-A745-B30F387F601B}" srcOrd="0" destOrd="0" presId="urn:microsoft.com/office/officeart/2005/8/layout/vList2"/>
    <dgm:cxn modelId="{33242DA3-D871-442A-94AF-9333F0AB172E}" type="presOf" srcId="{A6B74EC6-93C5-4AA1-98A7-5DD23119FC38}" destId="{7018590A-46E4-408C-AF16-EAFF33D2F036}" srcOrd="0" destOrd="0" presId="urn:microsoft.com/office/officeart/2005/8/layout/vList2"/>
    <dgm:cxn modelId="{819C4D33-70FC-4C60-A9A8-2E93C853CF0A}" type="presParOf" srcId="{4F663F2D-B3EF-41E3-A745-B30F387F601B}" destId="{7018590A-46E4-408C-AF16-EAFF33D2F03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AB41DE4-D2F2-48E7-80BA-1BD21F0869E2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BF35953-5580-4BCB-A4A9-7351E7E40C1F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Project Team Issues</a:t>
          </a:r>
          <a:endParaRPr lang="en-GB" b="1" dirty="0">
            <a:solidFill>
              <a:srgbClr val="FFFF00"/>
            </a:solidFill>
          </a:endParaRPr>
        </a:p>
      </dgm:t>
    </dgm:pt>
    <dgm:pt modelId="{287498CE-0520-4780-B930-4DD0575FF5B7}" type="parTrans" cxnId="{0A548166-4E77-407A-A162-D107EAAF679B}">
      <dgm:prSet/>
      <dgm:spPr/>
      <dgm:t>
        <a:bodyPr/>
        <a:lstStyle/>
        <a:p>
          <a:endParaRPr lang="en-GB"/>
        </a:p>
      </dgm:t>
    </dgm:pt>
    <dgm:pt modelId="{32864146-2313-45AD-A8F6-0FEE17538688}" type="sibTrans" cxnId="{0A548166-4E77-407A-A162-D107EAAF679B}">
      <dgm:prSet/>
      <dgm:spPr/>
      <dgm:t>
        <a:bodyPr/>
        <a:lstStyle/>
        <a:p>
          <a:endParaRPr lang="en-GB"/>
        </a:p>
      </dgm:t>
    </dgm:pt>
    <dgm:pt modelId="{E0F7D99D-B833-401E-9AAB-D711D96B4639}" type="pres">
      <dgm:prSet presAssocID="{6AB41DE4-D2F2-48E7-80BA-1BD21F0869E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BB8A3BF6-AB39-4E62-8DF5-7E73819DB243}" type="pres">
      <dgm:prSet presAssocID="{9BF35953-5580-4BCB-A4A9-7351E7E40C1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951D8DD-E70B-4636-9D6C-1D4C45039EE9}" type="presOf" srcId="{6AB41DE4-D2F2-48E7-80BA-1BD21F0869E2}" destId="{E0F7D99D-B833-401E-9AAB-D711D96B4639}" srcOrd="0" destOrd="0" presId="urn:microsoft.com/office/officeart/2005/8/layout/vList2"/>
    <dgm:cxn modelId="{0A548166-4E77-407A-A162-D107EAAF679B}" srcId="{6AB41DE4-D2F2-48E7-80BA-1BD21F0869E2}" destId="{9BF35953-5580-4BCB-A4A9-7351E7E40C1F}" srcOrd="0" destOrd="0" parTransId="{287498CE-0520-4780-B930-4DD0575FF5B7}" sibTransId="{32864146-2313-45AD-A8F6-0FEE17538688}"/>
    <dgm:cxn modelId="{CAE666FB-5F4E-4DE1-A0B6-866AA5912C79}" type="presOf" srcId="{9BF35953-5580-4BCB-A4A9-7351E7E40C1F}" destId="{BB8A3BF6-AB39-4E62-8DF5-7E73819DB243}" srcOrd="0" destOrd="0" presId="urn:microsoft.com/office/officeart/2005/8/layout/vList2"/>
    <dgm:cxn modelId="{AC2FF8F0-F9D7-4B6B-A718-5D34153DED45}" type="presParOf" srcId="{E0F7D99D-B833-401E-9AAB-D711D96B4639}" destId="{BB8A3BF6-AB39-4E62-8DF5-7E73819DB2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AB41DE4-D2F2-48E7-80BA-1BD21F0869E2}" type="doc">
      <dgm:prSet loTypeId="urn:microsoft.com/office/officeart/2005/8/layout/vList2" loCatId="list" qsTypeId="urn:microsoft.com/office/officeart/2005/8/quickstyle/3d2" qsCatId="3D" csTypeId="urn:microsoft.com/office/officeart/2005/8/colors/accent4_1" csCatId="accent4" phldr="1"/>
      <dgm:spPr/>
      <dgm:t>
        <a:bodyPr/>
        <a:lstStyle/>
        <a:p>
          <a:endParaRPr lang="en-GB"/>
        </a:p>
      </dgm:t>
    </dgm:pt>
    <dgm:pt modelId="{9BF35953-5580-4BCB-A4A9-7351E7E40C1F}">
      <dgm:prSet/>
      <dgm:spPr/>
      <dgm:t>
        <a:bodyPr/>
        <a:lstStyle/>
        <a:p>
          <a:pPr algn="ctr" rtl="0"/>
          <a:r>
            <a:rPr lang="en-GB" b="1" dirty="0" smtClean="0"/>
            <a:t>Understanding Equality, Justice &amp; Liberty</a:t>
          </a:r>
          <a:endParaRPr lang="en-GB" b="1" dirty="0"/>
        </a:p>
      </dgm:t>
    </dgm:pt>
    <dgm:pt modelId="{287498CE-0520-4780-B930-4DD0575FF5B7}" type="parTrans" cxnId="{0A548166-4E77-407A-A162-D107EAAF679B}">
      <dgm:prSet/>
      <dgm:spPr/>
      <dgm:t>
        <a:bodyPr/>
        <a:lstStyle/>
        <a:p>
          <a:endParaRPr lang="en-GB"/>
        </a:p>
      </dgm:t>
    </dgm:pt>
    <dgm:pt modelId="{32864146-2313-45AD-A8F6-0FEE17538688}" type="sibTrans" cxnId="{0A548166-4E77-407A-A162-D107EAAF679B}">
      <dgm:prSet/>
      <dgm:spPr/>
      <dgm:t>
        <a:bodyPr/>
        <a:lstStyle/>
        <a:p>
          <a:endParaRPr lang="en-GB"/>
        </a:p>
      </dgm:t>
    </dgm:pt>
    <dgm:pt modelId="{E0F7D99D-B833-401E-9AAB-D711D96B4639}" type="pres">
      <dgm:prSet presAssocID="{6AB41DE4-D2F2-48E7-80BA-1BD21F0869E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BB8A3BF6-AB39-4E62-8DF5-7E73819DB243}" type="pres">
      <dgm:prSet presAssocID="{9BF35953-5580-4BCB-A4A9-7351E7E40C1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DDC5FB9-8D8F-4FE3-A2D5-5331181181B7}" type="presOf" srcId="{6AB41DE4-D2F2-48E7-80BA-1BD21F0869E2}" destId="{E0F7D99D-B833-401E-9AAB-D711D96B4639}" srcOrd="0" destOrd="0" presId="urn:microsoft.com/office/officeart/2005/8/layout/vList2"/>
    <dgm:cxn modelId="{9836E0AB-802F-4A2C-8448-39ABFBBFFA87}" type="presOf" srcId="{9BF35953-5580-4BCB-A4A9-7351E7E40C1F}" destId="{BB8A3BF6-AB39-4E62-8DF5-7E73819DB243}" srcOrd="0" destOrd="0" presId="urn:microsoft.com/office/officeart/2005/8/layout/vList2"/>
    <dgm:cxn modelId="{0A548166-4E77-407A-A162-D107EAAF679B}" srcId="{6AB41DE4-D2F2-48E7-80BA-1BD21F0869E2}" destId="{9BF35953-5580-4BCB-A4A9-7351E7E40C1F}" srcOrd="0" destOrd="0" parTransId="{287498CE-0520-4780-B930-4DD0575FF5B7}" sibTransId="{32864146-2313-45AD-A8F6-0FEE17538688}"/>
    <dgm:cxn modelId="{0DDCB2CA-B9CB-4806-98E3-448537CE8DDD}" type="presParOf" srcId="{E0F7D99D-B833-401E-9AAB-D711D96B4639}" destId="{BB8A3BF6-AB39-4E62-8DF5-7E73819DB2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AB41DE4-D2F2-48E7-80BA-1BD21F0869E2}" type="doc">
      <dgm:prSet loTypeId="urn:microsoft.com/office/officeart/2005/8/layout/vList2" loCatId="list" qsTypeId="urn:microsoft.com/office/officeart/2005/8/quickstyle/3d2" qsCatId="3D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9BF35953-5580-4BCB-A4A9-7351E7E40C1F}">
      <dgm:prSet/>
      <dgm:spPr/>
      <dgm:t>
        <a:bodyPr/>
        <a:lstStyle/>
        <a:p>
          <a:pPr algn="ctr" rtl="0"/>
          <a:r>
            <a:rPr lang="en-GB" b="1" dirty="0" smtClean="0"/>
            <a:t>Equality does not mean Justice</a:t>
          </a:r>
          <a:endParaRPr lang="en-GB" b="1" dirty="0"/>
        </a:p>
      </dgm:t>
    </dgm:pt>
    <dgm:pt modelId="{287498CE-0520-4780-B930-4DD0575FF5B7}" type="parTrans" cxnId="{0A548166-4E77-407A-A162-D107EAAF679B}">
      <dgm:prSet/>
      <dgm:spPr/>
      <dgm:t>
        <a:bodyPr/>
        <a:lstStyle/>
        <a:p>
          <a:endParaRPr lang="en-GB"/>
        </a:p>
      </dgm:t>
    </dgm:pt>
    <dgm:pt modelId="{32864146-2313-45AD-A8F6-0FEE17538688}" type="sibTrans" cxnId="{0A548166-4E77-407A-A162-D107EAAF679B}">
      <dgm:prSet/>
      <dgm:spPr/>
      <dgm:t>
        <a:bodyPr/>
        <a:lstStyle/>
        <a:p>
          <a:endParaRPr lang="en-GB"/>
        </a:p>
      </dgm:t>
    </dgm:pt>
    <dgm:pt modelId="{E0F7D99D-B833-401E-9AAB-D711D96B4639}" type="pres">
      <dgm:prSet presAssocID="{6AB41DE4-D2F2-48E7-80BA-1BD21F0869E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BB8A3BF6-AB39-4E62-8DF5-7E73819DB243}" type="pres">
      <dgm:prSet presAssocID="{9BF35953-5580-4BCB-A4A9-7351E7E40C1F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27391070-E9CB-4489-BE85-48A5B5ABF0DD}" type="presOf" srcId="{9BF35953-5580-4BCB-A4A9-7351E7E40C1F}" destId="{BB8A3BF6-AB39-4E62-8DF5-7E73819DB243}" srcOrd="0" destOrd="0" presId="urn:microsoft.com/office/officeart/2005/8/layout/vList2"/>
    <dgm:cxn modelId="{0A548166-4E77-407A-A162-D107EAAF679B}" srcId="{6AB41DE4-D2F2-48E7-80BA-1BD21F0869E2}" destId="{9BF35953-5580-4BCB-A4A9-7351E7E40C1F}" srcOrd="0" destOrd="0" parTransId="{287498CE-0520-4780-B930-4DD0575FF5B7}" sibTransId="{32864146-2313-45AD-A8F6-0FEE17538688}"/>
    <dgm:cxn modelId="{8CC296EC-798D-4666-ACFD-91A1F6C922BE}" type="presOf" srcId="{6AB41DE4-D2F2-48E7-80BA-1BD21F0869E2}" destId="{E0F7D99D-B833-401E-9AAB-D711D96B4639}" srcOrd="0" destOrd="0" presId="urn:microsoft.com/office/officeart/2005/8/layout/vList2"/>
    <dgm:cxn modelId="{726C7F9C-F7E2-4AFB-8E9F-E12435055F37}" type="presParOf" srcId="{E0F7D99D-B833-401E-9AAB-D711D96B4639}" destId="{BB8A3BF6-AB39-4E62-8DF5-7E73819DB24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0695871-7115-47D1-9F83-093D7A8C5387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0F4C392-2948-48EB-8562-435213A12241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26 Teamwork Key Issues</a:t>
          </a:r>
          <a:endParaRPr lang="en-GB" b="1" dirty="0">
            <a:solidFill>
              <a:srgbClr val="FFFF00"/>
            </a:solidFill>
          </a:endParaRPr>
        </a:p>
      </dgm:t>
    </dgm:pt>
    <dgm:pt modelId="{A309851F-5D89-47EE-BB89-EAFE1D401A01}" type="parTrans" cxnId="{E17AAC89-2C9D-4598-9B6C-82E18F323485}">
      <dgm:prSet/>
      <dgm:spPr/>
      <dgm:t>
        <a:bodyPr/>
        <a:lstStyle/>
        <a:p>
          <a:endParaRPr lang="en-GB"/>
        </a:p>
      </dgm:t>
    </dgm:pt>
    <dgm:pt modelId="{C6BA86C6-4E4D-4871-B948-50AAE5FDF442}" type="sibTrans" cxnId="{E17AAC89-2C9D-4598-9B6C-82E18F323485}">
      <dgm:prSet/>
      <dgm:spPr/>
      <dgm:t>
        <a:bodyPr/>
        <a:lstStyle/>
        <a:p>
          <a:endParaRPr lang="en-GB"/>
        </a:p>
      </dgm:t>
    </dgm:pt>
    <dgm:pt modelId="{EAB12CE7-C433-4FE9-966B-26AAAA499A80}" type="pres">
      <dgm:prSet presAssocID="{C0695871-7115-47D1-9F83-093D7A8C538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275C0C73-4323-44AB-90A0-780755BDB58D}" type="pres">
      <dgm:prSet presAssocID="{B0F4C392-2948-48EB-8562-435213A12241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F6DE757-CCE4-4B0B-9F1D-889D9C6FF856}" type="presOf" srcId="{C0695871-7115-47D1-9F83-093D7A8C5387}" destId="{EAB12CE7-C433-4FE9-966B-26AAAA499A80}" srcOrd="0" destOrd="0" presId="urn:microsoft.com/office/officeart/2005/8/layout/vList2"/>
    <dgm:cxn modelId="{3C80E256-D8CF-4E63-BDA5-4715346B69AA}" type="presOf" srcId="{B0F4C392-2948-48EB-8562-435213A12241}" destId="{275C0C73-4323-44AB-90A0-780755BDB58D}" srcOrd="0" destOrd="0" presId="urn:microsoft.com/office/officeart/2005/8/layout/vList2"/>
    <dgm:cxn modelId="{E17AAC89-2C9D-4598-9B6C-82E18F323485}" srcId="{C0695871-7115-47D1-9F83-093D7A8C5387}" destId="{B0F4C392-2948-48EB-8562-435213A12241}" srcOrd="0" destOrd="0" parTransId="{A309851F-5D89-47EE-BB89-EAFE1D401A01}" sibTransId="{C6BA86C6-4E4D-4871-B948-50AAE5FDF442}"/>
    <dgm:cxn modelId="{30656583-A772-4C43-8FDD-A1726763409B}" type="presParOf" srcId="{EAB12CE7-C433-4FE9-966B-26AAAA499A80}" destId="{275C0C73-4323-44AB-90A0-780755BDB58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7ADBB0E-69C5-4BB5-B235-5A2A20E61C83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D8EA50D-07C4-4D27-B3BC-01BB1F2DE136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26 Teamwork Key Issues</a:t>
          </a:r>
          <a:endParaRPr lang="en-GB" b="1" dirty="0">
            <a:solidFill>
              <a:srgbClr val="FFFF00"/>
            </a:solidFill>
          </a:endParaRPr>
        </a:p>
      </dgm:t>
    </dgm:pt>
    <dgm:pt modelId="{4F422299-2534-42ED-988C-DEA4A773F5BB}" type="parTrans" cxnId="{3AAE8FB6-3851-4709-A377-366BB47CF7B5}">
      <dgm:prSet/>
      <dgm:spPr/>
      <dgm:t>
        <a:bodyPr/>
        <a:lstStyle/>
        <a:p>
          <a:endParaRPr lang="en-GB"/>
        </a:p>
      </dgm:t>
    </dgm:pt>
    <dgm:pt modelId="{DA676850-9D19-42CC-86DA-CFC0FACC77FF}" type="sibTrans" cxnId="{3AAE8FB6-3851-4709-A377-366BB47CF7B5}">
      <dgm:prSet/>
      <dgm:spPr/>
      <dgm:t>
        <a:bodyPr/>
        <a:lstStyle/>
        <a:p>
          <a:endParaRPr lang="en-GB"/>
        </a:p>
      </dgm:t>
    </dgm:pt>
    <dgm:pt modelId="{01AE5AC1-F5E4-4E4F-B80C-BD4E586782C1}" type="pres">
      <dgm:prSet presAssocID="{67ADBB0E-69C5-4BB5-B235-5A2A20E61C8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4874E66F-6850-4541-9932-6E7007165E95}" type="pres">
      <dgm:prSet presAssocID="{FD8EA50D-07C4-4D27-B3BC-01BB1F2DE13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92443CB-10A1-469C-9A3D-757FB570C7AE}" type="presOf" srcId="{67ADBB0E-69C5-4BB5-B235-5A2A20E61C83}" destId="{01AE5AC1-F5E4-4E4F-B80C-BD4E586782C1}" srcOrd="0" destOrd="0" presId="urn:microsoft.com/office/officeart/2005/8/layout/vList2"/>
    <dgm:cxn modelId="{F37595EE-6BA8-49B0-BCDC-1E6AB2023300}" type="presOf" srcId="{FD8EA50D-07C4-4D27-B3BC-01BB1F2DE136}" destId="{4874E66F-6850-4541-9932-6E7007165E95}" srcOrd="0" destOrd="0" presId="urn:microsoft.com/office/officeart/2005/8/layout/vList2"/>
    <dgm:cxn modelId="{3AAE8FB6-3851-4709-A377-366BB47CF7B5}" srcId="{67ADBB0E-69C5-4BB5-B235-5A2A20E61C83}" destId="{FD8EA50D-07C4-4D27-B3BC-01BB1F2DE136}" srcOrd="0" destOrd="0" parTransId="{4F422299-2534-42ED-988C-DEA4A773F5BB}" sibTransId="{DA676850-9D19-42CC-86DA-CFC0FACC77FF}"/>
    <dgm:cxn modelId="{B67704CC-BDD2-46E3-B3DD-4FD0050D083D}" type="presParOf" srcId="{01AE5AC1-F5E4-4E4F-B80C-BD4E586782C1}" destId="{4874E66F-6850-4541-9932-6E7007165E9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322EAFA-DE5A-4523-AA8F-3871E8BB4ED9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D93D6A3-F9F5-49AA-B15F-7FB7F0762337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15 Remedies of Key Issues</a:t>
          </a:r>
          <a:endParaRPr lang="en-GB" b="1" dirty="0">
            <a:solidFill>
              <a:srgbClr val="FFFF00"/>
            </a:solidFill>
          </a:endParaRPr>
        </a:p>
      </dgm:t>
    </dgm:pt>
    <dgm:pt modelId="{E6A587D5-1858-4819-A342-4DD0EE781742}" type="parTrans" cxnId="{35664A9C-2995-445C-847E-DDB831CB512F}">
      <dgm:prSet/>
      <dgm:spPr/>
      <dgm:t>
        <a:bodyPr/>
        <a:lstStyle/>
        <a:p>
          <a:endParaRPr lang="en-GB"/>
        </a:p>
      </dgm:t>
    </dgm:pt>
    <dgm:pt modelId="{9FD8D58E-D808-4E4D-B3B7-0C9622C377E0}" type="sibTrans" cxnId="{35664A9C-2995-445C-847E-DDB831CB512F}">
      <dgm:prSet/>
      <dgm:spPr/>
      <dgm:t>
        <a:bodyPr/>
        <a:lstStyle/>
        <a:p>
          <a:endParaRPr lang="en-GB"/>
        </a:p>
      </dgm:t>
    </dgm:pt>
    <dgm:pt modelId="{28886FA9-4F42-41FE-96F6-29ABE740B3C0}" type="pres">
      <dgm:prSet presAssocID="{4322EAFA-DE5A-4523-AA8F-3871E8BB4ED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FD8D04F-F809-4CD4-9A7F-D4EA9501AC42}" type="pres">
      <dgm:prSet presAssocID="{CD93D6A3-F9F5-49AA-B15F-7FB7F0762337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A4B32FA5-DAEA-4BB9-AAF1-9AE6D4773106}" type="presOf" srcId="{4322EAFA-DE5A-4523-AA8F-3871E8BB4ED9}" destId="{28886FA9-4F42-41FE-96F6-29ABE740B3C0}" srcOrd="0" destOrd="0" presId="urn:microsoft.com/office/officeart/2005/8/layout/vList2"/>
    <dgm:cxn modelId="{35664A9C-2995-445C-847E-DDB831CB512F}" srcId="{4322EAFA-DE5A-4523-AA8F-3871E8BB4ED9}" destId="{CD93D6A3-F9F5-49AA-B15F-7FB7F0762337}" srcOrd="0" destOrd="0" parTransId="{E6A587D5-1858-4819-A342-4DD0EE781742}" sibTransId="{9FD8D58E-D808-4E4D-B3B7-0C9622C377E0}"/>
    <dgm:cxn modelId="{C9CC665E-5215-4366-ABD2-04FDCC8A868B}" type="presOf" srcId="{CD93D6A3-F9F5-49AA-B15F-7FB7F0762337}" destId="{CFD8D04F-F809-4CD4-9A7F-D4EA9501AC42}" srcOrd="0" destOrd="0" presId="urn:microsoft.com/office/officeart/2005/8/layout/vList2"/>
    <dgm:cxn modelId="{93E1AF5F-7520-4C52-9E0B-1740F552DE02}" type="presParOf" srcId="{28886FA9-4F42-41FE-96F6-29ABE740B3C0}" destId="{CFD8D04F-F809-4CD4-9A7F-D4EA9501AC4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54943DBA-FF77-433A-9B52-4BDC0A7023A0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E6BDFEA-CDEF-4A11-BFA1-A74190AFF281}">
      <dgm:prSet/>
      <dgm:spPr/>
      <dgm:t>
        <a:bodyPr/>
        <a:lstStyle/>
        <a:p>
          <a:pPr rtl="0"/>
          <a:r>
            <a:rPr lang="en-GB" b="1" dirty="0" smtClean="0">
              <a:solidFill>
                <a:srgbClr val="FFFF00"/>
              </a:solidFill>
            </a:rPr>
            <a:t>15 Remedies of Key Issues</a:t>
          </a:r>
          <a:endParaRPr lang="en-GB" b="1" dirty="0">
            <a:solidFill>
              <a:srgbClr val="FFFF00"/>
            </a:solidFill>
          </a:endParaRPr>
        </a:p>
      </dgm:t>
    </dgm:pt>
    <dgm:pt modelId="{135B8B10-AABE-492C-BB5F-F3293DAE1789}" type="parTrans" cxnId="{3DA0F04F-E2D0-4BC1-B965-4DE6194E23A0}">
      <dgm:prSet/>
      <dgm:spPr/>
      <dgm:t>
        <a:bodyPr/>
        <a:lstStyle/>
        <a:p>
          <a:endParaRPr lang="en-GB"/>
        </a:p>
      </dgm:t>
    </dgm:pt>
    <dgm:pt modelId="{2C579F96-594C-4BA8-83D4-1D63ABC28748}" type="sibTrans" cxnId="{3DA0F04F-E2D0-4BC1-B965-4DE6194E23A0}">
      <dgm:prSet/>
      <dgm:spPr/>
      <dgm:t>
        <a:bodyPr/>
        <a:lstStyle/>
        <a:p>
          <a:endParaRPr lang="en-GB"/>
        </a:p>
      </dgm:t>
    </dgm:pt>
    <dgm:pt modelId="{E5BA89F7-6D42-4415-A228-30A00D707541}" type="pres">
      <dgm:prSet presAssocID="{54943DBA-FF77-433A-9B52-4BDC0A7023A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68FE467-EE8F-4DE1-859A-7BCF0135750E}" type="pres">
      <dgm:prSet presAssocID="{DE6BDFEA-CDEF-4A11-BFA1-A74190AFF281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58F61E21-84F6-43AB-8A64-6DB60029B622}" type="presOf" srcId="{DE6BDFEA-CDEF-4A11-BFA1-A74190AFF281}" destId="{968FE467-EE8F-4DE1-859A-7BCF0135750E}" srcOrd="0" destOrd="0" presId="urn:microsoft.com/office/officeart/2005/8/layout/vList2"/>
    <dgm:cxn modelId="{CD9C9647-80E5-47B5-8901-B93EABF32E5D}" type="presOf" srcId="{54943DBA-FF77-433A-9B52-4BDC0A7023A0}" destId="{E5BA89F7-6D42-4415-A228-30A00D707541}" srcOrd="0" destOrd="0" presId="urn:microsoft.com/office/officeart/2005/8/layout/vList2"/>
    <dgm:cxn modelId="{3DA0F04F-E2D0-4BC1-B965-4DE6194E23A0}" srcId="{54943DBA-FF77-433A-9B52-4BDC0A7023A0}" destId="{DE6BDFEA-CDEF-4A11-BFA1-A74190AFF281}" srcOrd="0" destOrd="0" parTransId="{135B8B10-AABE-492C-BB5F-F3293DAE1789}" sibTransId="{2C579F96-594C-4BA8-83D4-1D63ABC28748}"/>
    <dgm:cxn modelId="{0491C931-AE6F-469F-AFB1-57F7BCAC68CD}" type="presParOf" srcId="{E5BA89F7-6D42-4415-A228-30A00D707541}" destId="{968FE467-EE8F-4DE1-859A-7BCF0135750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D3456-B92D-40BC-8625-56EB7358EF6E}" type="datetimeFigureOut">
              <a:rPr lang="en-GB" smtClean="0"/>
              <a:pPr/>
              <a:t>11/09/2025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132DD-C014-4E16-84F8-A4479CF4816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0548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915A4-C546-4096-B874-0E8B8AC31DF6}" type="datetimeFigureOut">
              <a:rPr lang="en-GB" smtClean="0"/>
              <a:pPr/>
              <a:t>11/09/2025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956"/>
            <a:ext cx="5486400" cy="447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73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8FC26-76BE-42D0-97F1-0A6F76D5F20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34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BFABED7-2151-47F2-AC20-70BA89989F13}" type="slidenum">
              <a:rPr lang="en-US" sz="1200" b="0" smtClean="0">
                <a:latin typeface="Times New Roman" pitchFamily="18" charset="0"/>
              </a:rPr>
              <a:pPr eaLnBrk="1" hangingPunct="1"/>
              <a:t>1</a:t>
            </a:fld>
            <a:endParaRPr lang="en-US" sz="1200" b="0" smtClean="0">
              <a:latin typeface="Times New Roman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724956"/>
            <a:ext cx="5486400" cy="447627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655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smtClean="0">
                <a:latin typeface="Arial" pitchFamily="34" charset="0"/>
              </a:rPr>
              <a:t>The incidence of both lower incomes due to economic crisis and persistent high food prices has proved to be a devastating combination for the world’s most vulnerable populations. </a:t>
            </a:r>
            <a:endParaRPr lang="en-GB" smtClean="0">
              <a:latin typeface="Arial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GB" smtClean="0">
              <a:latin typeface="Arial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F90E0D6-F849-4BF8-9FFF-7762B3BE2159}" type="slidenum">
              <a:rPr lang="en-US" sz="1200" b="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</a:t>
            </a:fld>
            <a:endParaRPr lang="en-US" sz="1200" b="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889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68FC26-76BE-42D0-97F1-0A6F76D5F20F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030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A83B-1A1A-497B-9FBC-0B7F4D3EDAA0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3714A-0C4D-4C14-95DF-A94693094C23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6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84E22-7662-4F25-A5A9-CE8C5F4F9652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2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38C1-EA72-4A05-8A90-9DCD0A7BE629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1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A1582-B731-405D-86AF-5E9C680F24B6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6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D9A94-7703-4B19-A063-E234DA8FE055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6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7335-E32E-4F00-A110-91CB53A22B2A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9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E1F63-E97C-45B1-B8FB-AC96CF000D55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2385-1282-4736-A46E-30702FC074FE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13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8223C-4B71-455B-BE9F-82A5D749F55F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8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53D0-7FE1-44AB-B3C5-46E43AED994A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2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219200"/>
            <a:ext cx="38100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2003 Prentice Hall Inc. All rights reserved.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</a:t>
            </a:r>
            <a:r>
              <a:rPr lang="en-US">
                <a:cs typeface="Arial" charset="0"/>
              </a:rPr>
              <a:t>–</a:t>
            </a:r>
            <a:fld id="{6D0BEC7F-E34B-4BCE-AC3C-1BB65BA7C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45539"/>
      </p:ext>
    </p:extLst>
  </p:cSld>
  <p:clrMapOvr>
    <a:masterClrMapping/>
  </p:clrMapOvr>
  <p:transition>
    <p:cut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B513-F506-4245-B3E6-3A935E13A5DA}" type="datetime3">
              <a:rPr lang="en-US" smtClean="0"/>
              <a:pPr/>
              <a:t>11 September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Contemporary Issues in Teamwork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60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image" Target="../media/image3.jpeg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QuickStyle" Target="../diagrams/quickStyle2.xml"/><Relationship Id="rId5" Type="http://schemas.openxmlformats.org/officeDocument/2006/relationships/diagramQuickStyle" Target="../diagrams/quickStyle1.xml"/><Relationship Id="rId15" Type="http://schemas.openxmlformats.org/officeDocument/2006/relationships/diagramLayout" Target="../diagrams/layout3.xml"/><Relationship Id="rId10" Type="http://schemas.openxmlformats.org/officeDocument/2006/relationships/diagramLayout" Target="../diagrams/layout2.xml"/><Relationship Id="rId4" Type="http://schemas.openxmlformats.org/officeDocument/2006/relationships/diagramLayout" Target="../diagrams/layout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5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Layout" Target="../diagrams/layout9.xml"/><Relationship Id="rId7" Type="http://schemas.openxmlformats.org/officeDocument/2006/relationships/image" Target="../media/image6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Relationship Id="rId9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9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1.xml"/><Relationship Id="rId3" Type="http://schemas.openxmlformats.org/officeDocument/2006/relationships/diagramLayout" Target="../diagrams/layout20.xml"/><Relationship Id="rId7" Type="http://schemas.openxmlformats.org/officeDocument/2006/relationships/image" Target="../media/image10.jpeg"/><Relationship Id="rId12" Type="http://schemas.microsoft.com/office/2007/relationships/diagramDrawing" Target="../diagrams/drawing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11" Type="http://schemas.openxmlformats.org/officeDocument/2006/relationships/diagramColors" Target="../diagrams/colors21.xml"/><Relationship Id="rId5" Type="http://schemas.openxmlformats.org/officeDocument/2006/relationships/diagramColors" Target="../diagrams/colors20.xml"/><Relationship Id="rId10" Type="http://schemas.openxmlformats.org/officeDocument/2006/relationships/diagramQuickStyle" Target="../diagrams/quickStyle21.xml"/><Relationship Id="rId4" Type="http://schemas.openxmlformats.org/officeDocument/2006/relationships/diagramQuickStyle" Target="../diagrams/quickStyle20.xml"/><Relationship Id="rId9" Type="http://schemas.openxmlformats.org/officeDocument/2006/relationships/diagramLayout" Target="../diagrams/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0" t="26001" r="28000" b="32666"/>
          <a:stretch>
            <a:fillRect/>
          </a:stretch>
        </p:blipFill>
        <p:spPr>
          <a:xfrm>
            <a:off x="228600" y="228600"/>
            <a:ext cx="8686800" cy="6400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7864988"/>
      </p:ext>
    </p:extLst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228600" y="2925525"/>
            <a:ext cx="86868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smtClean="0">
                <a:solidFill>
                  <a:srgbClr val="0070C0"/>
                </a:solidFill>
                <a:ea typeface="Times New Roman" pitchFamily="18" charset="0"/>
                <a:cs typeface="Arial" pitchFamily="34" charset="0"/>
              </a:rPr>
              <a:t> PROJECT </a:t>
            </a:r>
            <a:r>
              <a:rPr lang="en-US" sz="3200" b="1" dirty="0" smtClean="0">
                <a:solidFill>
                  <a:srgbClr val="0070C0"/>
                </a:solidFill>
                <a:ea typeface="Times New Roman" pitchFamily="18" charset="0"/>
                <a:cs typeface="Arial" pitchFamily="34" charset="0"/>
              </a:rPr>
              <a:t>TEAMWORK</a:t>
            </a:r>
            <a:endParaRPr lang="en-US" sz="3200" b="1" dirty="0">
              <a:solidFill>
                <a:srgbClr val="0070C0"/>
              </a:solidFill>
              <a:ea typeface="Times New Roman" pitchFamily="18" charset="0"/>
              <a:cs typeface="Arial" pitchFamily="34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42291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02130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://www.practicalmanliness.com/wp-content/uploads/2010/01/Chain-350x26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468" y="2189202"/>
            <a:ext cx="4038600" cy="2290356"/>
          </a:xfrm>
          <a:prstGeom prst="rect">
            <a:avLst/>
          </a:prstGeom>
          <a:ln w="88900" cap="sq" cmpd="thickThin">
            <a:solidFill>
              <a:srgbClr val="FFFF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aphicFrame>
        <p:nvGraphicFramePr>
          <p:cNvPr id="7" name="Diagram 6"/>
          <p:cNvGraphicFramePr/>
          <p:nvPr/>
        </p:nvGraphicFramePr>
        <p:xfrm>
          <a:off x="228600" y="1046202"/>
          <a:ext cx="4267200" cy="95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386" name="Picture 2" descr="https://nocompromiseleadership.files.wordpress.com/2012/04/link_chai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724400" y="1274802"/>
            <a:ext cx="4062523" cy="2286000"/>
          </a:xfrm>
          <a:prstGeom prst="rect">
            <a:avLst/>
          </a:prstGeom>
          <a:ln w="88900" cap="sq" cmpd="thickThin">
            <a:solidFill>
              <a:srgbClr val="FFFF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graphicFrame>
        <p:nvGraphicFramePr>
          <p:cNvPr id="8" name="Diagram 7"/>
          <p:cNvGraphicFramePr/>
          <p:nvPr/>
        </p:nvGraphicFramePr>
        <p:xfrm>
          <a:off x="4630992" y="3713202"/>
          <a:ext cx="4267200" cy="95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38382612"/>
              </p:ext>
            </p:extLst>
          </p:nvPr>
        </p:nvGraphicFramePr>
        <p:xfrm>
          <a:off x="304800" y="5171182"/>
          <a:ext cx="8610600" cy="1077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8" grpId="0">
        <p:bldAsOne/>
      </p:bldGraphic>
      <p:bldGraphic spid="9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3343248665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021090581"/>
              </p:ext>
            </p:extLst>
          </p:nvPr>
        </p:nvGraphicFramePr>
        <p:xfrm>
          <a:off x="609600" y="1828800"/>
          <a:ext cx="78486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>
              <a:buNone/>
            </a:pPr>
            <a:endParaRPr lang="en-GB" sz="1600" dirty="0" smtClean="0"/>
          </a:p>
        </p:txBody>
      </p:sp>
      <p:grpSp>
        <p:nvGrpSpPr>
          <p:cNvPr id="8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chemeClr val="accent6">
              <a:lumMod val="75000"/>
            </a:schemeClr>
          </a:solidFill>
        </p:grpSpPr>
        <p:sp>
          <p:nvSpPr>
            <p:cNvPr id="9" name="Chevron 8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4000" b="1" kern="1200" dirty="0" smtClean="0"/>
                <a:t>Team</a:t>
              </a:r>
              <a:endParaRPr lang="en-GB" sz="4000" b="1" kern="1200" dirty="0"/>
            </a:p>
          </p:txBody>
        </p:sp>
      </p:grpSp>
      <p:sp>
        <p:nvSpPr>
          <p:cNvPr id="13" name="Right Arrow 12"/>
          <p:cNvSpPr/>
          <p:nvPr/>
        </p:nvSpPr>
        <p:spPr>
          <a:xfrm>
            <a:off x="1139189" y="2108200"/>
            <a:ext cx="6865620" cy="4064000"/>
          </a:xfrm>
          <a:prstGeom prst="rightArrow">
            <a:avLst/>
          </a:prstGeom>
          <a:scene3d>
            <a:camera prst="orthographicFront"/>
            <a:lightRig rig="threePt" dir="t">
              <a:rot lat="0" lon="0" rev="7500000"/>
            </a:lightRig>
          </a:scene3d>
          <a:sp3d z="-152400" extrusionH="63500" prstMaterial="matte">
            <a:bevelT w="144450" h="6350" prst="relaxedInset"/>
            <a:contourClr>
              <a:schemeClr val="bg1"/>
            </a:contourClr>
          </a:sp3d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3">
            <a:schemeClr val="accent6">
              <a:tint val="55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tint val="5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Freeform 13"/>
          <p:cNvSpPr/>
          <p:nvPr/>
        </p:nvSpPr>
        <p:spPr>
          <a:xfrm>
            <a:off x="533400" y="3327399"/>
            <a:ext cx="2423160" cy="1625600"/>
          </a:xfrm>
          <a:custGeom>
            <a:avLst/>
            <a:gdLst>
              <a:gd name="connsiteX0" fmla="*/ 0 w 2423160"/>
              <a:gd name="connsiteY0" fmla="*/ 270939 h 1625600"/>
              <a:gd name="connsiteX1" fmla="*/ 79356 w 2423160"/>
              <a:gd name="connsiteY1" fmla="*/ 79356 h 1625600"/>
              <a:gd name="connsiteX2" fmla="*/ 270939 w 2423160"/>
              <a:gd name="connsiteY2" fmla="*/ 0 h 1625600"/>
              <a:gd name="connsiteX3" fmla="*/ 2152221 w 2423160"/>
              <a:gd name="connsiteY3" fmla="*/ 0 h 1625600"/>
              <a:gd name="connsiteX4" fmla="*/ 2343804 w 2423160"/>
              <a:gd name="connsiteY4" fmla="*/ 79356 h 1625600"/>
              <a:gd name="connsiteX5" fmla="*/ 2423160 w 2423160"/>
              <a:gd name="connsiteY5" fmla="*/ 270939 h 1625600"/>
              <a:gd name="connsiteX6" fmla="*/ 2423160 w 2423160"/>
              <a:gd name="connsiteY6" fmla="*/ 1354661 h 1625600"/>
              <a:gd name="connsiteX7" fmla="*/ 2343804 w 2423160"/>
              <a:gd name="connsiteY7" fmla="*/ 1546244 h 1625600"/>
              <a:gd name="connsiteX8" fmla="*/ 2152221 w 2423160"/>
              <a:gd name="connsiteY8" fmla="*/ 1625600 h 1625600"/>
              <a:gd name="connsiteX9" fmla="*/ 270939 w 2423160"/>
              <a:gd name="connsiteY9" fmla="*/ 1625600 h 1625600"/>
              <a:gd name="connsiteX10" fmla="*/ 79356 w 2423160"/>
              <a:gd name="connsiteY10" fmla="*/ 1546244 h 1625600"/>
              <a:gd name="connsiteX11" fmla="*/ 0 w 2423160"/>
              <a:gd name="connsiteY11" fmla="*/ 1354661 h 1625600"/>
              <a:gd name="connsiteX12" fmla="*/ 0 w 2423160"/>
              <a:gd name="connsiteY12" fmla="*/ 270939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23160" h="1625600">
                <a:moveTo>
                  <a:pt x="0" y="270939"/>
                </a:moveTo>
                <a:cubicBezTo>
                  <a:pt x="0" y="199081"/>
                  <a:pt x="28545" y="130167"/>
                  <a:pt x="79356" y="79356"/>
                </a:cubicBezTo>
                <a:cubicBezTo>
                  <a:pt x="130167" y="28545"/>
                  <a:pt x="199081" y="0"/>
                  <a:pt x="270939" y="0"/>
                </a:cubicBezTo>
                <a:lnTo>
                  <a:pt x="2152221" y="0"/>
                </a:lnTo>
                <a:cubicBezTo>
                  <a:pt x="2224079" y="0"/>
                  <a:pt x="2292993" y="28545"/>
                  <a:pt x="2343804" y="79356"/>
                </a:cubicBezTo>
                <a:cubicBezTo>
                  <a:pt x="2394615" y="130167"/>
                  <a:pt x="2423160" y="199081"/>
                  <a:pt x="2423160" y="270939"/>
                </a:cubicBezTo>
                <a:lnTo>
                  <a:pt x="2423160" y="1354661"/>
                </a:lnTo>
                <a:cubicBezTo>
                  <a:pt x="2423160" y="1426519"/>
                  <a:pt x="2394615" y="1495433"/>
                  <a:pt x="2343804" y="1546244"/>
                </a:cubicBezTo>
                <a:cubicBezTo>
                  <a:pt x="2292993" y="1597055"/>
                  <a:pt x="2224079" y="1625600"/>
                  <a:pt x="2152221" y="1625600"/>
                </a:cubicBezTo>
                <a:lnTo>
                  <a:pt x="270939" y="1625600"/>
                </a:lnTo>
                <a:cubicBezTo>
                  <a:pt x="199081" y="1625600"/>
                  <a:pt x="130167" y="1597055"/>
                  <a:pt x="79356" y="1546244"/>
                </a:cubicBezTo>
                <a:cubicBezTo>
                  <a:pt x="28545" y="1495433"/>
                  <a:pt x="0" y="1426519"/>
                  <a:pt x="0" y="1354661"/>
                </a:cubicBezTo>
                <a:lnTo>
                  <a:pt x="0" y="2709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795" tIns="170795" rIns="170795" bIns="170795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A group of </a:t>
            </a:r>
            <a:r>
              <a:rPr lang="en-GB" sz="2400" b="1" kern="1200" dirty="0" smtClean="0">
                <a:solidFill>
                  <a:srgbClr val="FFFF00"/>
                </a:solidFill>
              </a:rPr>
              <a:t>PEOPLE 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3360419" y="3327399"/>
            <a:ext cx="2423160" cy="1625600"/>
          </a:xfrm>
          <a:custGeom>
            <a:avLst/>
            <a:gdLst>
              <a:gd name="connsiteX0" fmla="*/ 0 w 2423160"/>
              <a:gd name="connsiteY0" fmla="*/ 270939 h 1625600"/>
              <a:gd name="connsiteX1" fmla="*/ 79356 w 2423160"/>
              <a:gd name="connsiteY1" fmla="*/ 79356 h 1625600"/>
              <a:gd name="connsiteX2" fmla="*/ 270939 w 2423160"/>
              <a:gd name="connsiteY2" fmla="*/ 0 h 1625600"/>
              <a:gd name="connsiteX3" fmla="*/ 2152221 w 2423160"/>
              <a:gd name="connsiteY3" fmla="*/ 0 h 1625600"/>
              <a:gd name="connsiteX4" fmla="*/ 2343804 w 2423160"/>
              <a:gd name="connsiteY4" fmla="*/ 79356 h 1625600"/>
              <a:gd name="connsiteX5" fmla="*/ 2423160 w 2423160"/>
              <a:gd name="connsiteY5" fmla="*/ 270939 h 1625600"/>
              <a:gd name="connsiteX6" fmla="*/ 2423160 w 2423160"/>
              <a:gd name="connsiteY6" fmla="*/ 1354661 h 1625600"/>
              <a:gd name="connsiteX7" fmla="*/ 2343804 w 2423160"/>
              <a:gd name="connsiteY7" fmla="*/ 1546244 h 1625600"/>
              <a:gd name="connsiteX8" fmla="*/ 2152221 w 2423160"/>
              <a:gd name="connsiteY8" fmla="*/ 1625600 h 1625600"/>
              <a:gd name="connsiteX9" fmla="*/ 270939 w 2423160"/>
              <a:gd name="connsiteY9" fmla="*/ 1625600 h 1625600"/>
              <a:gd name="connsiteX10" fmla="*/ 79356 w 2423160"/>
              <a:gd name="connsiteY10" fmla="*/ 1546244 h 1625600"/>
              <a:gd name="connsiteX11" fmla="*/ 0 w 2423160"/>
              <a:gd name="connsiteY11" fmla="*/ 1354661 h 1625600"/>
              <a:gd name="connsiteX12" fmla="*/ 0 w 2423160"/>
              <a:gd name="connsiteY12" fmla="*/ 270939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23160" h="1625600">
                <a:moveTo>
                  <a:pt x="0" y="270939"/>
                </a:moveTo>
                <a:cubicBezTo>
                  <a:pt x="0" y="199081"/>
                  <a:pt x="28545" y="130167"/>
                  <a:pt x="79356" y="79356"/>
                </a:cubicBezTo>
                <a:cubicBezTo>
                  <a:pt x="130167" y="28545"/>
                  <a:pt x="199081" y="0"/>
                  <a:pt x="270939" y="0"/>
                </a:cubicBezTo>
                <a:lnTo>
                  <a:pt x="2152221" y="0"/>
                </a:lnTo>
                <a:cubicBezTo>
                  <a:pt x="2224079" y="0"/>
                  <a:pt x="2292993" y="28545"/>
                  <a:pt x="2343804" y="79356"/>
                </a:cubicBezTo>
                <a:cubicBezTo>
                  <a:pt x="2394615" y="130167"/>
                  <a:pt x="2423160" y="199081"/>
                  <a:pt x="2423160" y="270939"/>
                </a:cubicBezTo>
                <a:lnTo>
                  <a:pt x="2423160" y="1354661"/>
                </a:lnTo>
                <a:cubicBezTo>
                  <a:pt x="2423160" y="1426519"/>
                  <a:pt x="2394615" y="1495433"/>
                  <a:pt x="2343804" y="1546244"/>
                </a:cubicBezTo>
                <a:cubicBezTo>
                  <a:pt x="2292993" y="1597055"/>
                  <a:pt x="2224079" y="1625600"/>
                  <a:pt x="2152221" y="1625600"/>
                </a:cubicBezTo>
                <a:lnTo>
                  <a:pt x="270939" y="1625600"/>
                </a:lnTo>
                <a:cubicBezTo>
                  <a:pt x="199081" y="1625600"/>
                  <a:pt x="130167" y="1597055"/>
                  <a:pt x="79356" y="1546244"/>
                </a:cubicBezTo>
                <a:cubicBezTo>
                  <a:pt x="28545" y="1495433"/>
                  <a:pt x="0" y="1426519"/>
                  <a:pt x="0" y="1354661"/>
                </a:cubicBezTo>
                <a:lnTo>
                  <a:pt x="0" y="2709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-307796"/>
              <a:satOff val="20520"/>
              <a:lumOff val="26790"/>
              <a:alphaOff val="0"/>
            </a:schemeClr>
          </a:fillRef>
          <a:effectRef idx="2">
            <a:schemeClr val="accent6">
              <a:shade val="50000"/>
              <a:hueOff val="-307796"/>
              <a:satOff val="20520"/>
              <a:lumOff val="2679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795" tIns="170795" rIns="170795" bIns="170795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with a full set of complementary </a:t>
            </a:r>
            <a:r>
              <a:rPr lang="en-GB" sz="2400" b="1" kern="1200" dirty="0" smtClean="0">
                <a:solidFill>
                  <a:srgbClr val="FFFF00"/>
                </a:solidFill>
              </a:rPr>
              <a:t>SKILLS 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6187440" y="3327399"/>
            <a:ext cx="2423160" cy="1625600"/>
          </a:xfrm>
          <a:custGeom>
            <a:avLst/>
            <a:gdLst>
              <a:gd name="connsiteX0" fmla="*/ 0 w 2423160"/>
              <a:gd name="connsiteY0" fmla="*/ 270939 h 1625600"/>
              <a:gd name="connsiteX1" fmla="*/ 79356 w 2423160"/>
              <a:gd name="connsiteY1" fmla="*/ 79356 h 1625600"/>
              <a:gd name="connsiteX2" fmla="*/ 270939 w 2423160"/>
              <a:gd name="connsiteY2" fmla="*/ 0 h 1625600"/>
              <a:gd name="connsiteX3" fmla="*/ 2152221 w 2423160"/>
              <a:gd name="connsiteY3" fmla="*/ 0 h 1625600"/>
              <a:gd name="connsiteX4" fmla="*/ 2343804 w 2423160"/>
              <a:gd name="connsiteY4" fmla="*/ 79356 h 1625600"/>
              <a:gd name="connsiteX5" fmla="*/ 2423160 w 2423160"/>
              <a:gd name="connsiteY5" fmla="*/ 270939 h 1625600"/>
              <a:gd name="connsiteX6" fmla="*/ 2423160 w 2423160"/>
              <a:gd name="connsiteY6" fmla="*/ 1354661 h 1625600"/>
              <a:gd name="connsiteX7" fmla="*/ 2343804 w 2423160"/>
              <a:gd name="connsiteY7" fmla="*/ 1546244 h 1625600"/>
              <a:gd name="connsiteX8" fmla="*/ 2152221 w 2423160"/>
              <a:gd name="connsiteY8" fmla="*/ 1625600 h 1625600"/>
              <a:gd name="connsiteX9" fmla="*/ 270939 w 2423160"/>
              <a:gd name="connsiteY9" fmla="*/ 1625600 h 1625600"/>
              <a:gd name="connsiteX10" fmla="*/ 79356 w 2423160"/>
              <a:gd name="connsiteY10" fmla="*/ 1546244 h 1625600"/>
              <a:gd name="connsiteX11" fmla="*/ 0 w 2423160"/>
              <a:gd name="connsiteY11" fmla="*/ 1354661 h 1625600"/>
              <a:gd name="connsiteX12" fmla="*/ 0 w 2423160"/>
              <a:gd name="connsiteY12" fmla="*/ 270939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23160" h="1625600">
                <a:moveTo>
                  <a:pt x="0" y="270939"/>
                </a:moveTo>
                <a:cubicBezTo>
                  <a:pt x="0" y="199081"/>
                  <a:pt x="28545" y="130167"/>
                  <a:pt x="79356" y="79356"/>
                </a:cubicBezTo>
                <a:cubicBezTo>
                  <a:pt x="130167" y="28545"/>
                  <a:pt x="199081" y="0"/>
                  <a:pt x="270939" y="0"/>
                </a:cubicBezTo>
                <a:lnTo>
                  <a:pt x="2152221" y="0"/>
                </a:lnTo>
                <a:cubicBezTo>
                  <a:pt x="2224079" y="0"/>
                  <a:pt x="2292993" y="28545"/>
                  <a:pt x="2343804" y="79356"/>
                </a:cubicBezTo>
                <a:cubicBezTo>
                  <a:pt x="2394615" y="130167"/>
                  <a:pt x="2423160" y="199081"/>
                  <a:pt x="2423160" y="270939"/>
                </a:cubicBezTo>
                <a:lnTo>
                  <a:pt x="2423160" y="1354661"/>
                </a:lnTo>
                <a:cubicBezTo>
                  <a:pt x="2423160" y="1426519"/>
                  <a:pt x="2394615" y="1495433"/>
                  <a:pt x="2343804" y="1546244"/>
                </a:cubicBezTo>
                <a:cubicBezTo>
                  <a:pt x="2292993" y="1597055"/>
                  <a:pt x="2224079" y="1625600"/>
                  <a:pt x="2152221" y="1625600"/>
                </a:cubicBezTo>
                <a:lnTo>
                  <a:pt x="270939" y="1625600"/>
                </a:lnTo>
                <a:cubicBezTo>
                  <a:pt x="199081" y="1625600"/>
                  <a:pt x="130167" y="1597055"/>
                  <a:pt x="79356" y="1546244"/>
                </a:cubicBezTo>
                <a:cubicBezTo>
                  <a:pt x="28545" y="1495433"/>
                  <a:pt x="0" y="1426519"/>
                  <a:pt x="0" y="1354661"/>
                </a:cubicBezTo>
                <a:lnTo>
                  <a:pt x="0" y="2709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-307796"/>
              <a:satOff val="20520"/>
              <a:lumOff val="26790"/>
              <a:alphaOff val="0"/>
            </a:schemeClr>
          </a:fillRef>
          <a:effectRef idx="2">
            <a:schemeClr val="accent6">
              <a:shade val="50000"/>
              <a:hueOff val="-307796"/>
              <a:satOff val="20520"/>
              <a:lumOff val="2679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795" tIns="170795" rIns="170795" bIns="170795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required to complete a </a:t>
            </a:r>
            <a:r>
              <a:rPr lang="en-GB" sz="2400" b="1" kern="1200" dirty="0" smtClean="0">
                <a:solidFill>
                  <a:srgbClr val="FFFF00"/>
                </a:solidFill>
              </a:rPr>
              <a:t>TASK</a:t>
            </a:r>
            <a:r>
              <a:rPr lang="en-GB" sz="2400" kern="1200" dirty="0" smtClean="0"/>
              <a:t>, </a:t>
            </a:r>
            <a:r>
              <a:rPr lang="en-GB" sz="2400" b="1" kern="1200" dirty="0" smtClean="0">
                <a:solidFill>
                  <a:srgbClr val="FFFF00"/>
                </a:solidFill>
              </a:rPr>
              <a:t>JOB</a:t>
            </a:r>
            <a:r>
              <a:rPr lang="en-GB" sz="2400" kern="1200" dirty="0" smtClean="0"/>
              <a:t>, or </a:t>
            </a:r>
            <a:r>
              <a:rPr lang="en-GB" sz="2400" b="1" kern="1200" dirty="0" smtClean="0">
                <a:solidFill>
                  <a:srgbClr val="FFFF00"/>
                </a:solidFill>
              </a:rPr>
              <a:t>PROJECT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grpSp>
        <p:nvGrpSpPr>
          <p:cNvPr id="18" name="Group 8"/>
          <p:cNvGrpSpPr/>
          <p:nvPr/>
        </p:nvGrpSpPr>
        <p:grpSpPr>
          <a:xfrm>
            <a:off x="838201" y="5257800"/>
            <a:ext cx="5029199" cy="762000"/>
            <a:chOff x="2064" y="572231"/>
            <a:chExt cx="1837841" cy="735136"/>
          </a:xfrm>
          <a:solidFill>
            <a:schemeClr val="accent6">
              <a:lumMod val="75000"/>
            </a:schemeClr>
          </a:solidFill>
        </p:grpSpPr>
        <p:sp>
          <p:nvSpPr>
            <p:cNvPr id="19" name="Chevron 18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400" b="1" kern="1200" dirty="0" smtClean="0"/>
                <a:t>Each member is having more than one skills</a:t>
              </a:r>
              <a:endParaRPr lang="en-GB" sz="24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 18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>
              <a:buNone/>
            </a:pPr>
            <a:endParaRPr lang="en-GB" sz="1600" dirty="0" smtClean="0"/>
          </a:p>
        </p:txBody>
      </p:sp>
      <p:grpSp>
        <p:nvGrpSpPr>
          <p:cNvPr id="4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chemeClr val="accent6">
              <a:lumMod val="75000"/>
            </a:schemeClr>
          </a:solidFill>
        </p:grpSpPr>
        <p:sp>
          <p:nvSpPr>
            <p:cNvPr id="9" name="Chevron 8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4000" b="1" kern="1200" dirty="0" smtClean="0"/>
                <a:t>Team</a:t>
              </a:r>
              <a:endParaRPr lang="en-GB" sz="4000" b="1" kern="1200" dirty="0"/>
            </a:p>
          </p:txBody>
        </p:sp>
      </p:grpSp>
      <p:sp>
        <p:nvSpPr>
          <p:cNvPr id="14" name="Freeform 13"/>
          <p:cNvSpPr/>
          <p:nvPr/>
        </p:nvSpPr>
        <p:spPr>
          <a:xfrm>
            <a:off x="4243960" y="2917179"/>
            <a:ext cx="621879" cy="91440"/>
          </a:xfrm>
          <a:custGeom>
            <a:avLst/>
            <a:gdLst>
              <a:gd name="connsiteX0" fmla="*/ 0 w 621879"/>
              <a:gd name="connsiteY0" fmla="*/ 45720 h 91440"/>
              <a:gd name="connsiteX1" fmla="*/ 621879 w 621879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1879" h="91440">
                <a:moveTo>
                  <a:pt x="0" y="45720"/>
                </a:moveTo>
                <a:lnTo>
                  <a:pt x="621879" y="4572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  <a:scene3d>
            <a:camera prst="orthographicFront"/>
            <a:lightRig rig="threePt" dir="t">
              <a:rot lat="0" lon="0" rev="7500000"/>
            </a:lightRig>
          </a:scene3d>
          <a:sp3d z="-40000" prstMaterial="matte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07328" tIns="42455" rIns="307328" bIns="42454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400" kern="1200"/>
          </a:p>
        </p:txBody>
      </p:sp>
      <p:sp>
        <p:nvSpPr>
          <p:cNvPr id="15" name="Freeform 14"/>
          <p:cNvSpPr/>
          <p:nvPr/>
        </p:nvSpPr>
        <p:spPr>
          <a:xfrm>
            <a:off x="1408892" y="2111839"/>
            <a:ext cx="2836867" cy="1702120"/>
          </a:xfrm>
          <a:custGeom>
            <a:avLst/>
            <a:gdLst>
              <a:gd name="connsiteX0" fmla="*/ 0 w 2836867"/>
              <a:gd name="connsiteY0" fmla="*/ 0 h 1702120"/>
              <a:gd name="connsiteX1" fmla="*/ 2836867 w 2836867"/>
              <a:gd name="connsiteY1" fmla="*/ 0 h 1702120"/>
              <a:gd name="connsiteX2" fmla="*/ 2836867 w 2836867"/>
              <a:gd name="connsiteY2" fmla="*/ 1702120 h 1702120"/>
              <a:gd name="connsiteX3" fmla="*/ 0 w 2836867"/>
              <a:gd name="connsiteY3" fmla="*/ 1702120 h 1702120"/>
              <a:gd name="connsiteX4" fmla="*/ 0 w 2836867"/>
              <a:gd name="connsiteY4" fmla="*/ 0 h 170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6867" h="1702120">
                <a:moveTo>
                  <a:pt x="0" y="0"/>
                </a:moveTo>
                <a:lnTo>
                  <a:pt x="2836867" y="0"/>
                </a:lnTo>
                <a:lnTo>
                  <a:pt x="2836867" y="1702120"/>
                </a:lnTo>
                <a:lnTo>
                  <a:pt x="0" y="170212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8" tIns="170688" rIns="170688" bIns="170688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A team becomes more than just a </a:t>
            </a:r>
            <a:r>
              <a:rPr lang="en-GB" sz="2400" b="1" kern="1200" dirty="0" smtClean="0">
                <a:solidFill>
                  <a:srgbClr val="FFFF00"/>
                </a:solidFill>
              </a:rPr>
              <a:t>COLLECTION OF PEOPLE </a:t>
            </a:r>
            <a:r>
              <a:rPr lang="en-GB" sz="2400" kern="1200" dirty="0" smtClean="0"/>
              <a:t>...</a:t>
            </a:r>
          </a:p>
        </p:txBody>
      </p:sp>
      <p:sp>
        <p:nvSpPr>
          <p:cNvPr id="16" name="Freeform 15"/>
          <p:cNvSpPr/>
          <p:nvPr/>
        </p:nvSpPr>
        <p:spPr>
          <a:xfrm>
            <a:off x="2848773" y="3812160"/>
            <a:ext cx="3467900" cy="621879"/>
          </a:xfrm>
          <a:custGeom>
            <a:avLst/>
            <a:gdLst>
              <a:gd name="connsiteX0" fmla="*/ 3467900 w 3467900"/>
              <a:gd name="connsiteY0" fmla="*/ 0 h 621879"/>
              <a:gd name="connsiteX1" fmla="*/ 3467900 w 3467900"/>
              <a:gd name="connsiteY1" fmla="*/ 328039 h 621879"/>
              <a:gd name="connsiteX2" fmla="*/ 0 w 3467900"/>
              <a:gd name="connsiteY2" fmla="*/ 328039 h 621879"/>
              <a:gd name="connsiteX3" fmla="*/ 0 w 3467900"/>
              <a:gd name="connsiteY3" fmla="*/ 621879 h 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900" h="621879">
                <a:moveTo>
                  <a:pt x="3467900" y="0"/>
                </a:moveTo>
                <a:lnTo>
                  <a:pt x="3467900" y="328039"/>
                </a:lnTo>
                <a:lnTo>
                  <a:pt x="0" y="328039"/>
                </a:lnTo>
                <a:lnTo>
                  <a:pt x="0" y="621879"/>
                </a:lnTo>
              </a:path>
            </a:pathLst>
          </a:custGeom>
          <a:noFill/>
          <a:ln>
            <a:headEnd type="none" w="med" len="med"/>
            <a:tailEnd type="arrow" w="med" len="med"/>
          </a:ln>
          <a:scene3d>
            <a:camera prst="orthographicFront"/>
            <a:lightRig rig="threePt" dir="t">
              <a:rot lat="0" lon="0" rev="7500000"/>
            </a:lightRig>
          </a:scene3d>
          <a:sp3d z="-40000" prstMaterial="matte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58431" tIns="307674" rIns="1658432" bIns="307674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GB" sz="2400" kern="1200"/>
          </a:p>
        </p:txBody>
      </p:sp>
      <p:sp>
        <p:nvSpPr>
          <p:cNvPr id="17" name="Freeform 16"/>
          <p:cNvSpPr/>
          <p:nvPr/>
        </p:nvSpPr>
        <p:spPr>
          <a:xfrm>
            <a:off x="4898239" y="2111839"/>
            <a:ext cx="2836867" cy="1702120"/>
          </a:xfrm>
          <a:custGeom>
            <a:avLst/>
            <a:gdLst>
              <a:gd name="connsiteX0" fmla="*/ 0 w 2836867"/>
              <a:gd name="connsiteY0" fmla="*/ 0 h 1702120"/>
              <a:gd name="connsiteX1" fmla="*/ 2836867 w 2836867"/>
              <a:gd name="connsiteY1" fmla="*/ 0 h 1702120"/>
              <a:gd name="connsiteX2" fmla="*/ 2836867 w 2836867"/>
              <a:gd name="connsiteY2" fmla="*/ 1702120 h 1702120"/>
              <a:gd name="connsiteX3" fmla="*/ 0 w 2836867"/>
              <a:gd name="connsiteY3" fmla="*/ 1702120 h 1702120"/>
              <a:gd name="connsiteX4" fmla="*/ 0 w 2836867"/>
              <a:gd name="connsiteY4" fmla="*/ 0 h 170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6867" h="1702120">
                <a:moveTo>
                  <a:pt x="0" y="0"/>
                </a:moveTo>
                <a:lnTo>
                  <a:pt x="2836867" y="0"/>
                </a:lnTo>
                <a:lnTo>
                  <a:pt x="2836867" y="1702120"/>
                </a:lnTo>
                <a:lnTo>
                  <a:pt x="0" y="170212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-307796"/>
              <a:satOff val="20520"/>
              <a:lumOff val="26790"/>
              <a:alphaOff val="0"/>
            </a:schemeClr>
          </a:fillRef>
          <a:effectRef idx="2">
            <a:schemeClr val="accent6">
              <a:shade val="50000"/>
              <a:hueOff val="-307796"/>
              <a:satOff val="20520"/>
              <a:lumOff val="2679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8" tIns="170688" rIns="170688" bIns="170688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... when a strong sense of </a:t>
            </a:r>
            <a:r>
              <a:rPr lang="en-GB" sz="2400" b="1" kern="1200" dirty="0" smtClean="0">
                <a:solidFill>
                  <a:srgbClr val="FFFF00"/>
                </a:solidFill>
              </a:rPr>
              <a:t>MUTUAL COMMITMENT </a:t>
            </a:r>
            <a:r>
              <a:rPr lang="en-GB" sz="2400" kern="1200" dirty="0" smtClean="0"/>
              <a:t>creates synergy ...</a:t>
            </a:r>
          </a:p>
        </p:txBody>
      </p:sp>
      <p:sp>
        <p:nvSpPr>
          <p:cNvPr id="18" name="Freeform 17"/>
          <p:cNvSpPr/>
          <p:nvPr/>
        </p:nvSpPr>
        <p:spPr>
          <a:xfrm>
            <a:off x="685803" y="4466439"/>
            <a:ext cx="4325939" cy="1702120"/>
          </a:xfrm>
          <a:custGeom>
            <a:avLst/>
            <a:gdLst>
              <a:gd name="connsiteX0" fmla="*/ 0 w 4325939"/>
              <a:gd name="connsiteY0" fmla="*/ 0 h 1702120"/>
              <a:gd name="connsiteX1" fmla="*/ 4325939 w 4325939"/>
              <a:gd name="connsiteY1" fmla="*/ 0 h 1702120"/>
              <a:gd name="connsiteX2" fmla="*/ 4325939 w 4325939"/>
              <a:gd name="connsiteY2" fmla="*/ 1702120 h 1702120"/>
              <a:gd name="connsiteX3" fmla="*/ 0 w 4325939"/>
              <a:gd name="connsiteY3" fmla="*/ 1702120 h 1702120"/>
              <a:gd name="connsiteX4" fmla="*/ 0 w 4325939"/>
              <a:gd name="connsiteY4" fmla="*/ 0 h 170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25939" h="1702120">
                <a:moveTo>
                  <a:pt x="0" y="0"/>
                </a:moveTo>
                <a:lnTo>
                  <a:pt x="4325939" y="0"/>
                </a:lnTo>
                <a:lnTo>
                  <a:pt x="4325939" y="1702120"/>
                </a:lnTo>
                <a:lnTo>
                  <a:pt x="0" y="170212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-307796"/>
              <a:satOff val="20520"/>
              <a:lumOff val="26790"/>
              <a:alphaOff val="0"/>
            </a:schemeClr>
          </a:fillRef>
          <a:effectRef idx="2">
            <a:schemeClr val="accent6">
              <a:shade val="50000"/>
              <a:hueOff val="-307796"/>
              <a:satOff val="20520"/>
              <a:lumOff val="2679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0688" tIns="170688" rIns="170688" bIns="170688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... thus generating </a:t>
            </a:r>
            <a:r>
              <a:rPr lang="en-GB" sz="2400" b="1" kern="1200" dirty="0" smtClean="0">
                <a:solidFill>
                  <a:srgbClr val="FFFF00"/>
                </a:solidFill>
              </a:rPr>
              <a:t>PERFORMANCE </a:t>
            </a:r>
            <a:r>
              <a:rPr lang="en-GB" sz="2400" kern="1200" dirty="0" smtClean="0"/>
              <a:t>greater than the sum of the performance of its individual members</a:t>
            </a:r>
          </a:p>
        </p:txBody>
      </p:sp>
      <p:pic>
        <p:nvPicPr>
          <p:cNvPr id="12" name="Picture 11" descr="imagesV6SZ2KTX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34000" y="4419600"/>
            <a:ext cx="2676525" cy="17049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Diagram 24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>
              <a:buNone/>
            </a:pPr>
            <a:endParaRPr lang="en-GB" sz="1600" dirty="0" smtClean="0"/>
          </a:p>
          <a:p>
            <a:pPr lvl="1" algn="just"/>
            <a:endParaRPr lang="en-GB" sz="2400" dirty="0" smtClean="0">
              <a:solidFill>
                <a:srgbClr val="FFFF00"/>
              </a:solidFill>
            </a:endParaRPr>
          </a:p>
          <a:p>
            <a:pPr lvl="1" algn="just"/>
            <a:endParaRPr lang="en-GB" sz="2400" dirty="0" smtClean="0">
              <a:solidFill>
                <a:srgbClr val="FFFF00"/>
              </a:solidFill>
            </a:endParaRPr>
          </a:p>
        </p:txBody>
      </p:sp>
      <p:grpSp>
        <p:nvGrpSpPr>
          <p:cNvPr id="12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chemeClr val="accent6">
              <a:lumMod val="75000"/>
            </a:schemeClr>
          </a:solidFill>
        </p:grpSpPr>
        <p:sp>
          <p:nvSpPr>
            <p:cNvPr id="13" name="Chevron 12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4000" b="1" kern="1200" dirty="0" smtClean="0"/>
                <a:t>Team Members</a:t>
              </a:r>
              <a:endParaRPr lang="en-GB" sz="4000" b="1" kern="1200" dirty="0"/>
            </a:p>
          </p:txBody>
        </p:sp>
      </p:grpSp>
      <p:sp>
        <p:nvSpPr>
          <p:cNvPr id="17" name="Pie 16"/>
          <p:cNvSpPr/>
          <p:nvPr/>
        </p:nvSpPr>
        <p:spPr>
          <a:xfrm>
            <a:off x="1066800" y="2184400"/>
            <a:ext cx="4064000" cy="4064000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Freeform 17"/>
          <p:cNvSpPr/>
          <p:nvPr/>
        </p:nvSpPr>
        <p:spPr>
          <a:xfrm>
            <a:off x="3098800" y="2184400"/>
            <a:ext cx="5283200" cy="4064000"/>
          </a:xfrm>
          <a:custGeom>
            <a:avLst/>
            <a:gdLst>
              <a:gd name="connsiteX0" fmla="*/ 0 w 4978399"/>
              <a:gd name="connsiteY0" fmla="*/ 0 h 4064000"/>
              <a:gd name="connsiteX1" fmla="*/ 4978399 w 4978399"/>
              <a:gd name="connsiteY1" fmla="*/ 0 h 4064000"/>
              <a:gd name="connsiteX2" fmla="*/ 4978399 w 4978399"/>
              <a:gd name="connsiteY2" fmla="*/ 4064000 h 4064000"/>
              <a:gd name="connsiteX3" fmla="*/ 0 w 4978399"/>
              <a:gd name="connsiteY3" fmla="*/ 4064000 h 4064000"/>
              <a:gd name="connsiteX4" fmla="*/ 0 w 4978399"/>
              <a:gd name="connsiteY4" fmla="*/ 0 h 40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8399" h="4064000">
                <a:moveTo>
                  <a:pt x="0" y="0"/>
                </a:moveTo>
                <a:lnTo>
                  <a:pt x="4978399" y="0"/>
                </a:lnTo>
                <a:lnTo>
                  <a:pt x="4978399" y="4064000"/>
                </a:lnTo>
                <a:lnTo>
                  <a:pt x="0" y="406400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extrusionH="190500" prstMaterial="dkEdge">
            <a:bevelT w="135400" h="16350" prst="relaxedInset"/>
            <a:contourClr>
              <a:schemeClr val="bg1"/>
            </a:contourClr>
          </a:sp3d>
        </p:spPr>
        <p:style>
          <a:lnRef idx="1">
            <a:schemeClr val="accent6">
              <a:shade val="50000"/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329184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Operate with a high degree of </a:t>
            </a:r>
            <a:r>
              <a:rPr lang="en-GB" sz="2400" b="1" kern="1200" dirty="0" smtClean="0">
                <a:solidFill>
                  <a:schemeClr val="accent6">
                    <a:lumMod val="75000"/>
                  </a:schemeClr>
                </a:solidFill>
              </a:rPr>
              <a:t>INTERDEPENDENCE</a:t>
            </a:r>
            <a:endParaRPr lang="en-GB" sz="2400" b="1" kern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Pie 18"/>
          <p:cNvSpPr/>
          <p:nvPr/>
        </p:nvSpPr>
        <p:spPr>
          <a:xfrm>
            <a:off x="1600199" y="3048000"/>
            <a:ext cx="2997200" cy="2997200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-230847"/>
              <a:satOff val="15390"/>
              <a:lumOff val="20092"/>
              <a:alphaOff val="0"/>
            </a:schemeClr>
          </a:fillRef>
          <a:effectRef idx="2">
            <a:schemeClr val="accent6">
              <a:shade val="50000"/>
              <a:hueOff val="-230847"/>
              <a:satOff val="15390"/>
              <a:lumOff val="20092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Freeform 19"/>
          <p:cNvSpPr/>
          <p:nvPr/>
        </p:nvSpPr>
        <p:spPr>
          <a:xfrm>
            <a:off x="3098800" y="3048000"/>
            <a:ext cx="5283200" cy="2997200"/>
          </a:xfrm>
          <a:custGeom>
            <a:avLst/>
            <a:gdLst>
              <a:gd name="connsiteX0" fmla="*/ 0 w 4978399"/>
              <a:gd name="connsiteY0" fmla="*/ 0 h 2997200"/>
              <a:gd name="connsiteX1" fmla="*/ 4978399 w 4978399"/>
              <a:gd name="connsiteY1" fmla="*/ 0 h 2997200"/>
              <a:gd name="connsiteX2" fmla="*/ 4978399 w 4978399"/>
              <a:gd name="connsiteY2" fmla="*/ 2997200 h 2997200"/>
              <a:gd name="connsiteX3" fmla="*/ 0 w 4978399"/>
              <a:gd name="connsiteY3" fmla="*/ 2997200 h 2997200"/>
              <a:gd name="connsiteX4" fmla="*/ 0 w 4978399"/>
              <a:gd name="connsiteY4" fmla="*/ 0 h 299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8399" h="2997200">
                <a:moveTo>
                  <a:pt x="0" y="0"/>
                </a:moveTo>
                <a:lnTo>
                  <a:pt x="4978399" y="0"/>
                </a:lnTo>
                <a:lnTo>
                  <a:pt x="4978399" y="2997200"/>
                </a:lnTo>
                <a:lnTo>
                  <a:pt x="0" y="299720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extrusionH="190500" prstMaterial="dkEdge">
            <a:bevelT w="135400" h="16350" prst="relaxedInset"/>
            <a:contourClr>
              <a:schemeClr val="bg1"/>
            </a:contourClr>
          </a:sp3d>
        </p:spPr>
        <p:style>
          <a:lnRef idx="1">
            <a:schemeClr val="accent6">
              <a:shade val="50000"/>
              <a:hueOff val="-230847"/>
              <a:satOff val="15390"/>
              <a:lumOff val="20092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22250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Share authority &amp; responsibility for </a:t>
            </a:r>
          </a:p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b="1" kern="1200" dirty="0" smtClean="0">
                <a:solidFill>
                  <a:schemeClr val="accent6">
                    <a:lumMod val="75000"/>
                  </a:schemeClr>
                </a:solidFill>
              </a:rPr>
              <a:t>SELF-MANAGEMENT</a:t>
            </a:r>
          </a:p>
        </p:txBody>
      </p:sp>
      <p:sp>
        <p:nvSpPr>
          <p:cNvPr id="21" name="Pie 20"/>
          <p:cNvSpPr/>
          <p:nvPr/>
        </p:nvSpPr>
        <p:spPr>
          <a:xfrm>
            <a:off x="2133600" y="3911600"/>
            <a:ext cx="1930400" cy="1930400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-461694"/>
              <a:satOff val="30780"/>
              <a:lumOff val="40185"/>
              <a:alphaOff val="0"/>
            </a:schemeClr>
          </a:fillRef>
          <a:effectRef idx="2">
            <a:schemeClr val="accent6">
              <a:shade val="50000"/>
              <a:hueOff val="-461694"/>
              <a:satOff val="30780"/>
              <a:lumOff val="40185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Freeform 21"/>
          <p:cNvSpPr/>
          <p:nvPr/>
        </p:nvSpPr>
        <p:spPr>
          <a:xfrm>
            <a:off x="3098800" y="3911600"/>
            <a:ext cx="5283200" cy="1930400"/>
          </a:xfrm>
          <a:custGeom>
            <a:avLst/>
            <a:gdLst>
              <a:gd name="connsiteX0" fmla="*/ 0 w 4978399"/>
              <a:gd name="connsiteY0" fmla="*/ 0 h 1930400"/>
              <a:gd name="connsiteX1" fmla="*/ 4978399 w 4978399"/>
              <a:gd name="connsiteY1" fmla="*/ 0 h 1930400"/>
              <a:gd name="connsiteX2" fmla="*/ 4978399 w 4978399"/>
              <a:gd name="connsiteY2" fmla="*/ 1930400 h 1930400"/>
              <a:gd name="connsiteX3" fmla="*/ 0 w 4978399"/>
              <a:gd name="connsiteY3" fmla="*/ 1930400 h 1930400"/>
              <a:gd name="connsiteX4" fmla="*/ 0 w 4978399"/>
              <a:gd name="connsiteY4" fmla="*/ 0 h 193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8399" h="1930400">
                <a:moveTo>
                  <a:pt x="0" y="0"/>
                </a:moveTo>
                <a:lnTo>
                  <a:pt x="4978399" y="0"/>
                </a:lnTo>
                <a:lnTo>
                  <a:pt x="4978399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extrusionH="190500" prstMaterial="dkEdge">
            <a:bevelT w="135400" h="16350" prst="relaxedInset"/>
            <a:contourClr>
              <a:schemeClr val="bg1"/>
            </a:contourClr>
          </a:sp3d>
        </p:spPr>
        <p:style>
          <a:lnRef idx="1">
            <a:schemeClr val="accent6">
              <a:shade val="50000"/>
              <a:hueOff val="-461694"/>
              <a:satOff val="30780"/>
              <a:lumOff val="40185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1158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Are accountable for the </a:t>
            </a:r>
          </a:p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b="1" kern="1200" dirty="0" smtClean="0">
                <a:solidFill>
                  <a:schemeClr val="accent6">
                    <a:lumMod val="75000"/>
                  </a:schemeClr>
                </a:solidFill>
              </a:rPr>
              <a:t>COLLECTIVE PERFORMANCE</a:t>
            </a:r>
          </a:p>
        </p:txBody>
      </p:sp>
      <p:sp>
        <p:nvSpPr>
          <p:cNvPr id="23" name="Pie 22"/>
          <p:cNvSpPr/>
          <p:nvPr/>
        </p:nvSpPr>
        <p:spPr>
          <a:xfrm>
            <a:off x="2667000" y="4775200"/>
            <a:ext cx="863600" cy="863600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shade val="50000"/>
              <a:hueOff val="-230847"/>
              <a:satOff val="15390"/>
              <a:lumOff val="20092"/>
              <a:alphaOff val="0"/>
            </a:schemeClr>
          </a:fillRef>
          <a:effectRef idx="2">
            <a:schemeClr val="accent6">
              <a:shade val="50000"/>
              <a:hueOff val="-230847"/>
              <a:satOff val="15390"/>
              <a:lumOff val="20092"/>
              <a:alphaOff val="0"/>
            </a:schemeClr>
          </a:effectRef>
          <a:fontRef idx="minor">
            <a:schemeClr val="lt1"/>
          </a:fontRef>
        </p:style>
      </p:sp>
      <p:sp>
        <p:nvSpPr>
          <p:cNvPr id="24" name="Freeform 23"/>
          <p:cNvSpPr/>
          <p:nvPr/>
        </p:nvSpPr>
        <p:spPr>
          <a:xfrm>
            <a:off x="3098800" y="4775200"/>
            <a:ext cx="5283200" cy="863600"/>
          </a:xfrm>
          <a:custGeom>
            <a:avLst/>
            <a:gdLst>
              <a:gd name="connsiteX0" fmla="*/ 0 w 4978399"/>
              <a:gd name="connsiteY0" fmla="*/ 0 h 863600"/>
              <a:gd name="connsiteX1" fmla="*/ 4978399 w 4978399"/>
              <a:gd name="connsiteY1" fmla="*/ 0 h 863600"/>
              <a:gd name="connsiteX2" fmla="*/ 4978399 w 4978399"/>
              <a:gd name="connsiteY2" fmla="*/ 863600 h 863600"/>
              <a:gd name="connsiteX3" fmla="*/ 0 w 4978399"/>
              <a:gd name="connsiteY3" fmla="*/ 863600 h 863600"/>
              <a:gd name="connsiteX4" fmla="*/ 0 w 4978399"/>
              <a:gd name="connsiteY4" fmla="*/ 0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8399" h="863600">
                <a:moveTo>
                  <a:pt x="0" y="0"/>
                </a:moveTo>
                <a:lnTo>
                  <a:pt x="4978399" y="0"/>
                </a:lnTo>
                <a:lnTo>
                  <a:pt x="4978399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extrusionH="190500" prstMaterial="dkEdge">
            <a:bevelT w="135400" h="16350" prst="relaxedInset"/>
            <a:contourClr>
              <a:schemeClr val="bg1"/>
            </a:contourClr>
          </a:sp3d>
        </p:spPr>
        <p:style>
          <a:lnRef idx="1">
            <a:schemeClr val="accent6">
              <a:shade val="50000"/>
              <a:hueOff val="-230847"/>
              <a:satOff val="15390"/>
              <a:lumOff val="20092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Work towards a </a:t>
            </a:r>
          </a:p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b="1" kern="1200" dirty="0" smtClean="0">
                <a:solidFill>
                  <a:schemeClr val="accent6">
                    <a:lumMod val="75000"/>
                  </a:schemeClr>
                </a:solidFill>
              </a:rPr>
              <a:t>COMMON GOAL </a:t>
            </a:r>
            <a:r>
              <a:rPr lang="en-GB" sz="2400" kern="1200" dirty="0" smtClean="0"/>
              <a:t>and </a:t>
            </a:r>
            <a:r>
              <a:rPr lang="en-GB" sz="2400" b="1" kern="1200" dirty="0" smtClean="0">
                <a:solidFill>
                  <a:schemeClr val="accent6">
                    <a:lumMod val="75000"/>
                  </a:schemeClr>
                </a:solidFill>
              </a:rPr>
              <a:t>SHARED REWARDS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Diagram 19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chemeClr val="accent3">
              <a:lumMod val="75000"/>
            </a:schemeClr>
          </a:solidFill>
        </p:grpSpPr>
        <p:sp>
          <p:nvSpPr>
            <p:cNvPr id="10" name="Chevron 9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4000" b="1" kern="1200" dirty="0" smtClean="0"/>
                <a:t>Teamwork</a:t>
              </a:r>
              <a:endParaRPr lang="en-GB" sz="4000" b="1" kern="1200" dirty="0"/>
            </a:p>
          </p:txBody>
        </p:sp>
      </p:grpSp>
      <p:sp>
        <p:nvSpPr>
          <p:cNvPr id="14" name="Freeform 13"/>
          <p:cNvSpPr/>
          <p:nvPr/>
        </p:nvSpPr>
        <p:spPr>
          <a:xfrm>
            <a:off x="381000" y="2184400"/>
            <a:ext cx="8534400" cy="1269999"/>
          </a:xfrm>
          <a:custGeom>
            <a:avLst/>
            <a:gdLst>
              <a:gd name="connsiteX0" fmla="*/ 0 w 8534400"/>
              <a:gd name="connsiteY0" fmla="*/ 127000 h 1269999"/>
              <a:gd name="connsiteX1" fmla="*/ 37198 w 8534400"/>
              <a:gd name="connsiteY1" fmla="*/ 37197 h 1269999"/>
              <a:gd name="connsiteX2" fmla="*/ 127001 w 8534400"/>
              <a:gd name="connsiteY2" fmla="*/ 0 h 1269999"/>
              <a:gd name="connsiteX3" fmla="*/ 8407400 w 8534400"/>
              <a:gd name="connsiteY3" fmla="*/ 0 h 1269999"/>
              <a:gd name="connsiteX4" fmla="*/ 8497203 w 8534400"/>
              <a:gd name="connsiteY4" fmla="*/ 37198 h 1269999"/>
              <a:gd name="connsiteX5" fmla="*/ 8534400 w 8534400"/>
              <a:gd name="connsiteY5" fmla="*/ 127001 h 1269999"/>
              <a:gd name="connsiteX6" fmla="*/ 8534400 w 8534400"/>
              <a:gd name="connsiteY6" fmla="*/ 1142999 h 1269999"/>
              <a:gd name="connsiteX7" fmla="*/ 8497203 w 8534400"/>
              <a:gd name="connsiteY7" fmla="*/ 1232802 h 1269999"/>
              <a:gd name="connsiteX8" fmla="*/ 8407400 w 8534400"/>
              <a:gd name="connsiteY8" fmla="*/ 1269999 h 1269999"/>
              <a:gd name="connsiteX9" fmla="*/ 127000 w 8534400"/>
              <a:gd name="connsiteY9" fmla="*/ 1269999 h 1269999"/>
              <a:gd name="connsiteX10" fmla="*/ 37197 w 8534400"/>
              <a:gd name="connsiteY10" fmla="*/ 1232801 h 1269999"/>
              <a:gd name="connsiteX11" fmla="*/ 0 w 8534400"/>
              <a:gd name="connsiteY11" fmla="*/ 1142998 h 1269999"/>
              <a:gd name="connsiteX12" fmla="*/ 0 w 8534400"/>
              <a:gd name="connsiteY12" fmla="*/ 12700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4400" h="1269999">
                <a:moveTo>
                  <a:pt x="0" y="127000"/>
                </a:moveTo>
                <a:cubicBezTo>
                  <a:pt x="0" y="93317"/>
                  <a:pt x="13380" y="61015"/>
                  <a:pt x="37198" y="37197"/>
                </a:cubicBezTo>
                <a:cubicBezTo>
                  <a:pt x="61015" y="13380"/>
                  <a:pt x="93318" y="0"/>
                  <a:pt x="127001" y="0"/>
                </a:cubicBezTo>
                <a:lnTo>
                  <a:pt x="8407400" y="0"/>
                </a:lnTo>
                <a:cubicBezTo>
                  <a:pt x="8441083" y="0"/>
                  <a:pt x="8473385" y="13380"/>
                  <a:pt x="8497203" y="37198"/>
                </a:cubicBezTo>
                <a:cubicBezTo>
                  <a:pt x="8521020" y="61015"/>
                  <a:pt x="8534400" y="93318"/>
                  <a:pt x="8534400" y="127001"/>
                </a:cubicBezTo>
                <a:lnTo>
                  <a:pt x="8534400" y="1142999"/>
                </a:lnTo>
                <a:cubicBezTo>
                  <a:pt x="8534400" y="1176682"/>
                  <a:pt x="8521020" y="1208984"/>
                  <a:pt x="8497203" y="1232802"/>
                </a:cubicBezTo>
                <a:cubicBezTo>
                  <a:pt x="8473386" y="1256619"/>
                  <a:pt x="8441083" y="1269999"/>
                  <a:pt x="8407400" y="1269999"/>
                </a:cubicBezTo>
                <a:lnTo>
                  <a:pt x="127000" y="1269999"/>
                </a:lnTo>
                <a:cubicBezTo>
                  <a:pt x="93317" y="1269999"/>
                  <a:pt x="61015" y="1256619"/>
                  <a:pt x="37197" y="1232801"/>
                </a:cubicBezTo>
                <a:cubicBezTo>
                  <a:pt x="13380" y="1208984"/>
                  <a:pt x="0" y="1176681"/>
                  <a:pt x="0" y="1142998"/>
                </a:cubicBezTo>
                <a:lnTo>
                  <a:pt x="0" y="127000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accent3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5320" tIns="91440" rIns="91441" bIns="91440" numCol="1" spcCol="1270" anchor="ctr" anchorCtr="0">
            <a:noAutofit/>
          </a:bodyPr>
          <a:lstStyle/>
          <a:p>
            <a:pPr lvl="0" algn="just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The process of </a:t>
            </a:r>
            <a:r>
              <a:rPr lang="en-GB" sz="2400" b="1" kern="1200" dirty="0" smtClean="0">
                <a:solidFill>
                  <a:srgbClr val="FFFF00"/>
                </a:solidFill>
              </a:rPr>
              <a:t>Working Collaboratively </a:t>
            </a:r>
            <a:r>
              <a:rPr lang="en-GB" sz="2400" kern="1200" dirty="0" smtClean="0"/>
              <a:t>with a group of people in order to achieve a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999" y="2311399"/>
            <a:ext cx="1706880" cy="1015999"/>
          </a:xfrm>
          <a:prstGeom prst="roundRect">
            <a:avLst>
              <a:gd name="adj" fmla="val 10000"/>
            </a:avLst>
          </a:prstGeom>
          <a:blipFill rotWithShape="0">
            <a:blip r:embed="rId7" cstate="print"/>
            <a:stretch>
              <a:fillRect/>
            </a:stretch>
          </a:blip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3">
              <a:tint val="5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Freeform 15"/>
          <p:cNvSpPr/>
          <p:nvPr/>
        </p:nvSpPr>
        <p:spPr>
          <a:xfrm>
            <a:off x="381000" y="3581399"/>
            <a:ext cx="8534400" cy="1269999"/>
          </a:xfrm>
          <a:custGeom>
            <a:avLst/>
            <a:gdLst>
              <a:gd name="connsiteX0" fmla="*/ 0 w 8534400"/>
              <a:gd name="connsiteY0" fmla="*/ 127000 h 1269999"/>
              <a:gd name="connsiteX1" fmla="*/ 37198 w 8534400"/>
              <a:gd name="connsiteY1" fmla="*/ 37197 h 1269999"/>
              <a:gd name="connsiteX2" fmla="*/ 127001 w 8534400"/>
              <a:gd name="connsiteY2" fmla="*/ 0 h 1269999"/>
              <a:gd name="connsiteX3" fmla="*/ 8407400 w 8534400"/>
              <a:gd name="connsiteY3" fmla="*/ 0 h 1269999"/>
              <a:gd name="connsiteX4" fmla="*/ 8497203 w 8534400"/>
              <a:gd name="connsiteY4" fmla="*/ 37198 h 1269999"/>
              <a:gd name="connsiteX5" fmla="*/ 8534400 w 8534400"/>
              <a:gd name="connsiteY5" fmla="*/ 127001 h 1269999"/>
              <a:gd name="connsiteX6" fmla="*/ 8534400 w 8534400"/>
              <a:gd name="connsiteY6" fmla="*/ 1142999 h 1269999"/>
              <a:gd name="connsiteX7" fmla="*/ 8497203 w 8534400"/>
              <a:gd name="connsiteY7" fmla="*/ 1232802 h 1269999"/>
              <a:gd name="connsiteX8" fmla="*/ 8407400 w 8534400"/>
              <a:gd name="connsiteY8" fmla="*/ 1269999 h 1269999"/>
              <a:gd name="connsiteX9" fmla="*/ 127000 w 8534400"/>
              <a:gd name="connsiteY9" fmla="*/ 1269999 h 1269999"/>
              <a:gd name="connsiteX10" fmla="*/ 37197 w 8534400"/>
              <a:gd name="connsiteY10" fmla="*/ 1232801 h 1269999"/>
              <a:gd name="connsiteX11" fmla="*/ 0 w 8534400"/>
              <a:gd name="connsiteY11" fmla="*/ 1142998 h 1269999"/>
              <a:gd name="connsiteX12" fmla="*/ 0 w 8534400"/>
              <a:gd name="connsiteY12" fmla="*/ 12700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4400" h="1269999">
                <a:moveTo>
                  <a:pt x="0" y="127000"/>
                </a:moveTo>
                <a:cubicBezTo>
                  <a:pt x="0" y="93317"/>
                  <a:pt x="13380" y="61015"/>
                  <a:pt x="37198" y="37197"/>
                </a:cubicBezTo>
                <a:cubicBezTo>
                  <a:pt x="61015" y="13380"/>
                  <a:pt x="93318" y="0"/>
                  <a:pt x="127001" y="0"/>
                </a:cubicBezTo>
                <a:lnTo>
                  <a:pt x="8407400" y="0"/>
                </a:lnTo>
                <a:cubicBezTo>
                  <a:pt x="8441083" y="0"/>
                  <a:pt x="8473385" y="13380"/>
                  <a:pt x="8497203" y="37198"/>
                </a:cubicBezTo>
                <a:cubicBezTo>
                  <a:pt x="8521020" y="61015"/>
                  <a:pt x="8534400" y="93318"/>
                  <a:pt x="8534400" y="127001"/>
                </a:cubicBezTo>
                <a:lnTo>
                  <a:pt x="8534400" y="1142999"/>
                </a:lnTo>
                <a:cubicBezTo>
                  <a:pt x="8534400" y="1176682"/>
                  <a:pt x="8521020" y="1208984"/>
                  <a:pt x="8497203" y="1232802"/>
                </a:cubicBezTo>
                <a:cubicBezTo>
                  <a:pt x="8473386" y="1256619"/>
                  <a:pt x="8441083" y="1269999"/>
                  <a:pt x="8407400" y="1269999"/>
                </a:cubicBezTo>
                <a:lnTo>
                  <a:pt x="127000" y="1269999"/>
                </a:lnTo>
                <a:cubicBezTo>
                  <a:pt x="93317" y="1269999"/>
                  <a:pt x="61015" y="1256619"/>
                  <a:pt x="37197" y="1232801"/>
                </a:cubicBezTo>
                <a:cubicBezTo>
                  <a:pt x="13380" y="1208984"/>
                  <a:pt x="0" y="1176681"/>
                  <a:pt x="0" y="1142998"/>
                </a:cubicBezTo>
                <a:lnTo>
                  <a:pt x="0" y="127000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20000"/>
            </a:schemeClr>
          </a:fillRef>
          <a:effectRef idx="2">
            <a:schemeClr val="accent3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925320" tIns="91440" rIns="91441" bIns="91440" numCol="1" spcCol="1270" anchor="ctr" anchorCtr="0">
            <a:noAutofit/>
          </a:bodyPr>
          <a:lstStyle/>
          <a:p>
            <a:pPr lvl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Teamwork is often necessary for colleagues to work well together, </a:t>
            </a:r>
            <a:r>
              <a:rPr lang="en-GB" sz="2400" b="1" kern="1200" dirty="0" smtClean="0">
                <a:solidFill>
                  <a:srgbClr val="FFFF00"/>
                </a:solidFill>
              </a:rPr>
              <a:t>Trying Their Best </a:t>
            </a:r>
            <a:r>
              <a:rPr lang="en-GB" sz="2400" kern="1200" dirty="0" smtClean="0"/>
              <a:t>in any circumstance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999" y="3708399"/>
            <a:ext cx="1706880" cy="1015999"/>
          </a:xfrm>
          <a:prstGeom prst="roundRect">
            <a:avLst>
              <a:gd name="adj" fmla="val 10000"/>
            </a:avLst>
          </a:prstGeom>
          <a:blipFill rotWithShape="0">
            <a:blip r:embed="rId8" cstate="print"/>
            <a:stretch>
              <a:fillRect/>
            </a:stretch>
          </a:blip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3">
              <a:tint val="50000"/>
              <a:alpha val="90000"/>
              <a:hueOff val="27077"/>
              <a:satOff val="-1234"/>
              <a:lumOff val="5582"/>
              <a:alphaOff val="-2000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Freeform 17"/>
          <p:cNvSpPr/>
          <p:nvPr/>
        </p:nvSpPr>
        <p:spPr>
          <a:xfrm>
            <a:off x="381000" y="4978399"/>
            <a:ext cx="8534400" cy="1269999"/>
          </a:xfrm>
          <a:custGeom>
            <a:avLst/>
            <a:gdLst>
              <a:gd name="connsiteX0" fmla="*/ 0 w 8534400"/>
              <a:gd name="connsiteY0" fmla="*/ 127000 h 1269999"/>
              <a:gd name="connsiteX1" fmla="*/ 37198 w 8534400"/>
              <a:gd name="connsiteY1" fmla="*/ 37197 h 1269999"/>
              <a:gd name="connsiteX2" fmla="*/ 127001 w 8534400"/>
              <a:gd name="connsiteY2" fmla="*/ 0 h 1269999"/>
              <a:gd name="connsiteX3" fmla="*/ 8407400 w 8534400"/>
              <a:gd name="connsiteY3" fmla="*/ 0 h 1269999"/>
              <a:gd name="connsiteX4" fmla="*/ 8497203 w 8534400"/>
              <a:gd name="connsiteY4" fmla="*/ 37198 h 1269999"/>
              <a:gd name="connsiteX5" fmla="*/ 8534400 w 8534400"/>
              <a:gd name="connsiteY5" fmla="*/ 127001 h 1269999"/>
              <a:gd name="connsiteX6" fmla="*/ 8534400 w 8534400"/>
              <a:gd name="connsiteY6" fmla="*/ 1142999 h 1269999"/>
              <a:gd name="connsiteX7" fmla="*/ 8497203 w 8534400"/>
              <a:gd name="connsiteY7" fmla="*/ 1232802 h 1269999"/>
              <a:gd name="connsiteX8" fmla="*/ 8407400 w 8534400"/>
              <a:gd name="connsiteY8" fmla="*/ 1269999 h 1269999"/>
              <a:gd name="connsiteX9" fmla="*/ 127000 w 8534400"/>
              <a:gd name="connsiteY9" fmla="*/ 1269999 h 1269999"/>
              <a:gd name="connsiteX10" fmla="*/ 37197 w 8534400"/>
              <a:gd name="connsiteY10" fmla="*/ 1232801 h 1269999"/>
              <a:gd name="connsiteX11" fmla="*/ 0 w 8534400"/>
              <a:gd name="connsiteY11" fmla="*/ 1142998 h 1269999"/>
              <a:gd name="connsiteX12" fmla="*/ 0 w 8534400"/>
              <a:gd name="connsiteY12" fmla="*/ 12700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4400" h="1269999">
                <a:moveTo>
                  <a:pt x="0" y="127000"/>
                </a:moveTo>
                <a:cubicBezTo>
                  <a:pt x="0" y="93317"/>
                  <a:pt x="13380" y="61015"/>
                  <a:pt x="37198" y="37197"/>
                </a:cubicBezTo>
                <a:cubicBezTo>
                  <a:pt x="61015" y="13380"/>
                  <a:pt x="93318" y="0"/>
                  <a:pt x="127001" y="0"/>
                </a:cubicBezTo>
                <a:lnTo>
                  <a:pt x="8407400" y="0"/>
                </a:lnTo>
                <a:cubicBezTo>
                  <a:pt x="8441083" y="0"/>
                  <a:pt x="8473385" y="13380"/>
                  <a:pt x="8497203" y="37198"/>
                </a:cubicBezTo>
                <a:cubicBezTo>
                  <a:pt x="8521020" y="61015"/>
                  <a:pt x="8534400" y="93318"/>
                  <a:pt x="8534400" y="127001"/>
                </a:cubicBezTo>
                <a:lnTo>
                  <a:pt x="8534400" y="1142999"/>
                </a:lnTo>
                <a:cubicBezTo>
                  <a:pt x="8534400" y="1176682"/>
                  <a:pt x="8521020" y="1208984"/>
                  <a:pt x="8497203" y="1232802"/>
                </a:cubicBezTo>
                <a:cubicBezTo>
                  <a:pt x="8473386" y="1256619"/>
                  <a:pt x="8441083" y="1269999"/>
                  <a:pt x="8407400" y="1269999"/>
                </a:cubicBezTo>
                <a:lnTo>
                  <a:pt x="127000" y="1269999"/>
                </a:lnTo>
                <a:cubicBezTo>
                  <a:pt x="93317" y="1269999"/>
                  <a:pt x="61015" y="1256619"/>
                  <a:pt x="37197" y="1232801"/>
                </a:cubicBezTo>
                <a:cubicBezTo>
                  <a:pt x="13380" y="1208984"/>
                  <a:pt x="0" y="1176681"/>
                  <a:pt x="0" y="1142998"/>
                </a:cubicBezTo>
                <a:lnTo>
                  <a:pt x="0" y="127000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3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1925320" tIns="91440" rIns="91441" bIns="91440" numCol="1" spcCol="1270" anchor="ctr" anchorCtr="0">
            <a:noAutofit/>
          </a:bodyPr>
          <a:lstStyle/>
          <a:p>
            <a:pPr lvl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People try to cooperate,</a:t>
            </a:r>
            <a:r>
              <a:rPr lang="en-GB" sz="2400" b="1" kern="1200" dirty="0" smtClean="0">
                <a:solidFill>
                  <a:srgbClr val="002060"/>
                </a:solidFill>
              </a:rPr>
              <a:t> </a:t>
            </a:r>
            <a:r>
              <a:rPr lang="en-GB" sz="2400" kern="1200" dirty="0" smtClean="0">
                <a:solidFill>
                  <a:schemeClr val="tx1"/>
                </a:solidFill>
              </a:rPr>
              <a:t>using their </a:t>
            </a:r>
            <a:r>
              <a:rPr lang="en-GB" sz="2400" b="1" kern="1200" dirty="0" smtClean="0">
                <a:solidFill>
                  <a:srgbClr val="FFFF00"/>
                </a:solidFill>
              </a:rPr>
              <a:t>Individual Skills </a:t>
            </a:r>
            <a:r>
              <a:rPr lang="en-GB" sz="2400" kern="1200" dirty="0" smtClean="0">
                <a:solidFill>
                  <a:schemeClr val="tx1"/>
                </a:solidFill>
              </a:rPr>
              <a:t>and providing</a:t>
            </a:r>
            <a:r>
              <a:rPr lang="en-GB" sz="2400" b="1" kern="1200" dirty="0" smtClean="0">
                <a:solidFill>
                  <a:srgbClr val="FFFF00"/>
                </a:solidFill>
              </a:rPr>
              <a:t> Constructive Feedback</a:t>
            </a:r>
            <a:r>
              <a:rPr lang="en-GB" sz="2400" kern="1200" dirty="0" smtClean="0"/>
              <a:t>, despite any personal conflict between individuals</a:t>
            </a:r>
            <a:endParaRPr lang="en-GB" sz="2400" kern="1200" dirty="0"/>
          </a:p>
        </p:txBody>
      </p:sp>
      <p:sp>
        <p:nvSpPr>
          <p:cNvPr id="19" name="Rounded Rectangle 18"/>
          <p:cNvSpPr/>
          <p:nvPr/>
        </p:nvSpPr>
        <p:spPr>
          <a:xfrm>
            <a:off x="507999" y="5105399"/>
            <a:ext cx="1706880" cy="1015999"/>
          </a:xfrm>
          <a:prstGeom prst="roundRect">
            <a:avLst>
              <a:gd name="adj" fmla="val 10000"/>
            </a:avLst>
          </a:prstGeom>
          <a:blipFill rotWithShape="0">
            <a:blip r:embed="rId9" cstate="print"/>
            <a:stretch>
              <a:fillRect/>
            </a:stretch>
          </a:blip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3">
              <a:tint val="50000"/>
              <a:alpha val="90000"/>
              <a:hueOff val="54155"/>
              <a:satOff val="-2468"/>
              <a:lumOff val="11164"/>
              <a:alphaOff val="-4000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 18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Freeform 13"/>
          <p:cNvSpPr/>
          <p:nvPr/>
        </p:nvSpPr>
        <p:spPr>
          <a:xfrm>
            <a:off x="687864" y="1828800"/>
            <a:ext cx="3274536" cy="735136"/>
          </a:xfrm>
          <a:custGeom>
            <a:avLst/>
            <a:gdLst>
              <a:gd name="connsiteX0" fmla="*/ 0 w 1837841"/>
              <a:gd name="connsiteY0" fmla="*/ 0 h 735136"/>
              <a:gd name="connsiteX1" fmla="*/ 1470273 w 1837841"/>
              <a:gd name="connsiteY1" fmla="*/ 0 h 735136"/>
              <a:gd name="connsiteX2" fmla="*/ 1837841 w 1837841"/>
              <a:gd name="connsiteY2" fmla="*/ 367568 h 735136"/>
              <a:gd name="connsiteX3" fmla="*/ 1470273 w 1837841"/>
              <a:gd name="connsiteY3" fmla="*/ 735136 h 735136"/>
              <a:gd name="connsiteX4" fmla="*/ 0 w 1837841"/>
              <a:gd name="connsiteY4" fmla="*/ 735136 h 735136"/>
              <a:gd name="connsiteX5" fmla="*/ 367568 w 1837841"/>
              <a:gd name="connsiteY5" fmla="*/ 367568 h 735136"/>
              <a:gd name="connsiteX6" fmla="*/ 0 w 1837841"/>
              <a:gd name="connsiteY6" fmla="*/ 0 h 73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7841" h="735136">
                <a:moveTo>
                  <a:pt x="0" y="0"/>
                </a:moveTo>
                <a:lnTo>
                  <a:pt x="1470273" y="0"/>
                </a:lnTo>
                <a:lnTo>
                  <a:pt x="1837841" y="367568"/>
                </a:lnTo>
                <a:lnTo>
                  <a:pt x="1470273" y="735136"/>
                </a:lnTo>
                <a:lnTo>
                  <a:pt x="0" y="735136"/>
                </a:lnTo>
                <a:lnTo>
                  <a:pt x="367568" y="3675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1576" tIns="21336" rIns="388904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b="1" kern="1200" dirty="0" smtClean="0"/>
              <a:t>Forming</a:t>
            </a:r>
            <a:endParaRPr lang="en-GB" sz="2800" b="1" kern="1200" dirty="0"/>
          </a:p>
        </p:txBody>
      </p:sp>
      <p:sp>
        <p:nvSpPr>
          <p:cNvPr id="15" name="Freeform 14"/>
          <p:cNvSpPr/>
          <p:nvPr/>
        </p:nvSpPr>
        <p:spPr>
          <a:xfrm>
            <a:off x="685800" y="2667000"/>
            <a:ext cx="3276600" cy="735136"/>
          </a:xfrm>
          <a:custGeom>
            <a:avLst/>
            <a:gdLst>
              <a:gd name="connsiteX0" fmla="*/ 0 w 1837841"/>
              <a:gd name="connsiteY0" fmla="*/ 0 h 735136"/>
              <a:gd name="connsiteX1" fmla="*/ 1470273 w 1837841"/>
              <a:gd name="connsiteY1" fmla="*/ 0 h 735136"/>
              <a:gd name="connsiteX2" fmla="*/ 1837841 w 1837841"/>
              <a:gd name="connsiteY2" fmla="*/ 367568 h 735136"/>
              <a:gd name="connsiteX3" fmla="*/ 1470273 w 1837841"/>
              <a:gd name="connsiteY3" fmla="*/ 735136 h 735136"/>
              <a:gd name="connsiteX4" fmla="*/ 0 w 1837841"/>
              <a:gd name="connsiteY4" fmla="*/ 735136 h 735136"/>
              <a:gd name="connsiteX5" fmla="*/ 367568 w 1837841"/>
              <a:gd name="connsiteY5" fmla="*/ 367568 h 735136"/>
              <a:gd name="connsiteX6" fmla="*/ 0 w 1837841"/>
              <a:gd name="connsiteY6" fmla="*/ 0 h 73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7841" h="735136">
                <a:moveTo>
                  <a:pt x="0" y="0"/>
                </a:moveTo>
                <a:lnTo>
                  <a:pt x="1470273" y="0"/>
                </a:lnTo>
                <a:lnTo>
                  <a:pt x="1837841" y="367568"/>
                </a:lnTo>
                <a:lnTo>
                  <a:pt x="1470273" y="735136"/>
                </a:lnTo>
                <a:lnTo>
                  <a:pt x="0" y="735136"/>
                </a:lnTo>
                <a:lnTo>
                  <a:pt x="367568" y="3675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1576" tIns="21336" rIns="388904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b="1" kern="1200" dirty="0" smtClean="0"/>
              <a:t>Storming</a:t>
            </a:r>
            <a:endParaRPr lang="en-GB" sz="2800" b="1" kern="1200" dirty="0"/>
          </a:p>
        </p:txBody>
      </p:sp>
      <p:sp>
        <p:nvSpPr>
          <p:cNvPr id="16" name="Freeform 15"/>
          <p:cNvSpPr/>
          <p:nvPr/>
        </p:nvSpPr>
        <p:spPr>
          <a:xfrm>
            <a:off x="685800" y="3505200"/>
            <a:ext cx="3276600" cy="735136"/>
          </a:xfrm>
          <a:custGeom>
            <a:avLst/>
            <a:gdLst>
              <a:gd name="connsiteX0" fmla="*/ 0 w 1837841"/>
              <a:gd name="connsiteY0" fmla="*/ 0 h 735136"/>
              <a:gd name="connsiteX1" fmla="*/ 1470273 w 1837841"/>
              <a:gd name="connsiteY1" fmla="*/ 0 h 735136"/>
              <a:gd name="connsiteX2" fmla="*/ 1837841 w 1837841"/>
              <a:gd name="connsiteY2" fmla="*/ 367568 h 735136"/>
              <a:gd name="connsiteX3" fmla="*/ 1470273 w 1837841"/>
              <a:gd name="connsiteY3" fmla="*/ 735136 h 735136"/>
              <a:gd name="connsiteX4" fmla="*/ 0 w 1837841"/>
              <a:gd name="connsiteY4" fmla="*/ 735136 h 735136"/>
              <a:gd name="connsiteX5" fmla="*/ 367568 w 1837841"/>
              <a:gd name="connsiteY5" fmla="*/ 367568 h 735136"/>
              <a:gd name="connsiteX6" fmla="*/ 0 w 1837841"/>
              <a:gd name="connsiteY6" fmla="*/ 0 h 73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7841" h="735136">
                <a:moveTo>
                  <a:pt x="0" y="0"/>
                </a:moveTo>
                <a:lnTo>
                  <a:pt x="1470273" y="0"/>
                </a:lnTo>
                <a:lnTo>
                  <a:pt x="1837841" y="367568"/>
                </a:lnTo>
                <a:lnTo>
                  <a:pt x="1470273" y="735136"/>
                </a:lnTo>
                <a:lnTo>
                  <a:pt x="0" y="735136"/>
                </a:lnTo>
                <a:lnTo>
                  <a:pt x="367568" y="3675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1576" tIns="21336" rIns="388904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b="1" kern="1200" dirty="0" smtClean="0"/>
              <a:t>Norming</a:t>
            </a:r>
            <a:endParaRPr lang="en-GB" sz="2800" b="1" kern="1200" dirty="0"/>
          </a:p>
        </p:txBody>
      </p:sp>
      <p:sp>
        <p:nvSpPr>
          <p:cNvPr id="17" name="Freeform 16"/>
          <p:cNvSpPr/>
          <p:nvPr/>
        </p:nvSpPr>
        <p:spPr>
          <a:xfrm>
            <a:off x="685800" y="4343400"/>
            <a:ext cx="3276600" cy="735136"/>
          </a:xfrm>
          <a:custGeom>
            <a:avLst/>
            <a:gdLst>
              <a:gd name="connsiteX0" fmla="*/ 0 w 1837841"/>
              <a:gd name="connsiteY0" fmla="*/ 0 h 735136"/>
              <a:gd name="connsiteX1" fmla="*/ 1470273 w 1837841"/>
              <a:gd name="connsiteY1" fmla="*/ 0 h 735136"/>
              <a:gd name="connsiteX2" fmla="*/ 1837841 w 1837841"/>
              <a:gd name="connsiteY2" fmla="*/ 367568 h 735136"/>
              <a:gd name="connsiteX3" fmla="*/ 1470273 w 1837841"/>
              <a:gd name="connsiteY3" fmla="*/ 735136 h 735136"/>
              <a:gd name="connsiteX4" fmla="*/ 0 w 1837841"/>
              <a:gd name="connsiteY4" fmla="*/ 735136 h 735136"/>
              <a:gd name="connsiteX5" fmla="*/ 367568 w 1837841"/>
              <a:gd name="connsiteY5" fmla="*/ 367568 h 735136"/>
              <a:gd name="connsiteX6" fmla="*/ 0 w 1837841"/>
              <a:gd name="connsiteY6" fmla="*/ 0 h 73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7841" h="735136">
                <a:moveTo>
                  <a:pt x="0" y="0"/>
                </a:moveTo>
                <a:lnTo>
                  <a:pt x="1470273" y="0"/>
                </a:lnTo>
                <a:lnTo>
                  <a:pt x="1837841" y="367568"/>
                </a:lnTo>
                <a:lnTo>
                  <a:pt x="1470273" y="735136"/>
                </a:lnTo>
                <a:lnTo>
                  <a:pt x="0" y="735136"/>
                </a:lnTo>
                <a:lnTo>
                  <a:pt x="367568" y="3675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1576" tIns="21336" rIns="388904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b="1" kern="1200" dirty="0" smtClean="0"/>
              <a:t>   Performing</a:t>
            </a:r>
            <a:endParaRPr lang="en-GB" sz="2800" b="1" kern="1200" dirty="0"/>
          </a:p>
        </p:txBody>
      </p:sp>
      <p:sp>
        <p:nvSpPr>
          <p:cNvPr id="18" name="Freeform 17"/>
          <p:cNvSpPr/>
          <p:nvPr/>
        </p:nvSpPr>
        <p:spPr>
          <a:xfrm>
            <a:off x="685801" y="5208464"/>
            <a:ext cx="3276599" cy="735136"/>
          </a:xfrm>
          <a:custGeom>
            <a:avLst/>
            <a:gdLst>
              <a:gd name="connsiteX0" fmla="*/ 0 w 1837841"/>
              <a:gd name="connsiteY0" fmla="*/ 0 h 735136"/>
              <a:gd name="connsiteX1" fmla="*/ 1470273 w 1837841"/>
              <a:gd name="connsiteY1" fmla="*/ 0 h 735136"/>
              <a:gd name="connsiteX2" fmla="*/ 1837841 w 1837841"/>
              <a:gd name="connsiteY2" fmla="*/ 367568 h 735136"/>
              <a:gd name="connsiteX3" fmla="*/ 1470273 w 1837841"/>
              <a:gd name="connsiteY3" fmla="*/ 735136 h 735136"/>
              <a:gd name="connsiteX4" fmla="*/ 0 w 1837841"/>
              <a:gd name="connsiteY4" fmla="*/ 735136 h 735136"/>
              <a:gd name="connsiteX5" fmla="*/ 367568 w 1837841"/>
              <a:gd name="connsiteY5" fmla="*/ 367568 h 735136"/>
              <a:gd name="connsiteX6" fmla="*/ 0 w 1837841"/>
              <a:gd name="connsiteY6" fmla="*/ 0 h 73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7841" h="735136">
                <a:moveTo>
                  <a:pt x="0" y="0"/>
                </a:moveTo>
                <a:lnTo>
                  <a:pt x="1470273" y="0"/>
                </a:lnTo>
                <a:lnTo>
                  <a:pt x="1837841" y="367568"/>
                </a:lnTo>
                <a:lnTo>
                  <a:pt x="1470273" y="735136"/>
                </a:lnTo>
                <a:lnTo>
                  <a:pt x="0" y="735136"/>
                </a:lnTo>
                <a:lnTo>
                  <a:pt x="367568" y="36756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31576" tIns="21336" rIns="388904" bIns="21336" numCol="1" spcCol="1270" anchor="ctr" anchorCtr="0">
            <a:noAutofit/>
          </a:bodyPr>
          <a:lstStyle/>
          <a:p>
            <a:pPr lvl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b="1" kern="1200" dirty="0" smtClean="0"/>
              <a:t>Adjourning</a:t>
            </a:r>
            <a:endParaRPr lang="en-GB" sz="1600" b="1" kern="1200" dirty="0"/>
          </a:p>
        </p:txBody>
      </p:sp>
      <p:graphicFrame>
        <p:nvGraphicFramePr>
          <p:cNvPr id="12" name="Diagram 11"/>
          <p:cNvGraphicFramePr/>
          <p:nvPr/>
        </p:nvGraphicFramePr>
        <p:xfrm>
          <a:off x="4267200" y="1905000"/>
          <a:ext cx="43434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Graphic spid="12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657600"/>
            <a:ext cx="8229600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endParaRPr lang="en-GB" sz="1600" dirty="0" smtClean="0"/>
          </a:p>
          <a:p>
            <a:pPr algn="just">
              <a:buNone/>
            </a:pPr>
            <a:endParaRPr lang="en-GB" sz="1600" dirty="0" smtClean="0"/>
          </a:p>
        </p:txBody>
      </p:sp>
      <p:sp>
        <p:nvSpPr>
          <p:cNvPr id="13" name="Freeform 12"/>
          <p:cNvSpPr/>
          <p:nvPr/>
        </p:nvSpPr>
        <p:spPr>
          <a:xfrm rot="21600000">
            <a:off x="382005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It is a situation that members of a group </a:t>
            </a:r>
            <a:r>
              <a:rPr lang="en-GB" sz="2400" b="1" kern="1200" dirty="0" smtClean="0">
                <a:solidFill>
                  <a:srgbClr val="FFFF00"/>
                </a:solidFill>
              </a:rPr>
              <a:t>don’t </a:t>
            </a:r>
            <a:r>
              <a:rPr lang="en-GB" sz="2400" kern="1200" dirty="0" smtClean="0"/>
              <a:t>truly understand about their duty, regulations and rules</a:t>
            </a:r>
            <a:endParaRPr lang="en-GB" sz="2400" kern="1200" dirty="0"/>
          </a:p>
        </p:txBody>
      </p:sp>
      <p:sp>
        <p:nvSpPr>
          <p:cNvPr id="14" name="Freeform 13"/>
          <p:cNvSpPr/>
          <p:nvPr/>
        </p:nvSpPr>
        <p:spPr>
          <a:xfrm rot="21600000">
            <a:off x="3189832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alpha val="90000"/>
              <a:hueOff val="0"/>
              <a:satOff val="0"/>
              <a:lumOff val="0"/>
              <a:alphaOff val="-20000"/>
            </a:schemeClr>
          </a:fillRef>
          <a:effectRef idx="2">
            <a:schemeClr val="accent2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The members </a:t>
            </a:r>
            <a:r>
              <a:rPr lang="en-GB" sz="2400" b="1" kern="1200" dirty="0" smtClean="0">
                <a:solidFill>
                  <a:srgbClr val="FFFF00"/>
                </a:solidFill>
              </a:rPr>
              <a:t>cannot </a:t>
            </a:r>
            <a:r>
              <a:rPr lang="en-GB" sz="2400" kern="1200" dirty="0" smtClean="0"/>
              <a:t>finish their job without leader or manager </a:t>
            </a:r>
            <a:r>
              <a:rPr lang="en-GB" sz="2400" dirty="0" smtClean="0"/>
              <a:t>due to</a:t>
            </a:r>
            <a:r>
              <a:rPr lang="en-GB" sz="2400" kern="1200" dirty="0" smtClean="0"/>
              <a:t> lack of confidence</a:t>
            </a:r>
            <a:endParaRPr lang="en-GB" sz="2400" kern="1200" dirty="0"/>
          </a:p>
        </p:txBody>
      </p:sp>
      <p:sp>
        <p:nvSpPr>
          <p:cNvPr id="15" name="Freeform 14"/>
          <p:cNvSpPr/>
          <p:nvPr/>
        </p:nvSpPr>
        <p:spPr>
          <a:xfrm rot="21600000">
            <a:off x="5997661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2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They have to be </a:t>
            </a:r>
            <a:r>
              <a:rPr lang="en-GB" sz="2400" b="1" kern="1200" dirty="0" smtClean="0">
                <a:solidFill>
                  <a:srgbClr val="FFFF00"/>
                </a:solidFill>
              </a:rPr>
              <a:t>encouraged </a:t>
            </a:r>
            <a:r>
              <a:rPr lang="en-GB" sz="2400" kern="1200" dirty="0" smtClean="0"/>
              <a:t>and </a:t>
            </a:r>
            <a:r>
              <a:rPr lang="en-GB" sz="2400" b="1" kern="1200" dirty="0" smtClean="0">
                <a:solidFill>
                  <a:srgbClr val="FFFF00"/>
                </a:solidFill>
              </a:rPr>
              <a:t>motivated</a:t>
            </a:r>
            <a:r>
              <a:rPr lang="en-GB" sz="2400" kern="1200" dirty="0" smtClean="0"/>
              <a:t> by the leader so they feel as a significant part of a team</a:t>
            </a:r>
            <a:endParaRPr lang="en-GB" sz="2400" kern="1200" dirty="0"/>
          </a:p>
        </p:txBody>
      </p:sp>
      <p:grpSp>
        <p:nvGrpSpPr>
          <p:cNvPr id="9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</p:grpSpPr>
        <p:sp>
          <p:nvSpPr>
            <p:cNvPr id="10" name="Chevron 9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b="1" kern="1200" dirty="0" smtClean="0"/>
                <a:t>Stage 1 -   Forming</a:t>
              </a:r>
              <a:endParaRPr lang="en-GB" sz="28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 18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657600"/>
            <a:ext cx="8229600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endParaRPr lang="en-GB" sz="1600" dirty="0" smtClean="0"/>
          </a:p>
          <a:p>
            <a:pPr algn="just">
              <a:buNone/>
            </a:pPr>
            <a:endParaRPr lang="en-GB" sz="1600" dirty="0" smtClean="0"/>
          </a:p>
        </p:txBody>
      </p:sp>
      <p:sp>
        <p:nvSpPr>
          <p:cNvPr id="16" name="Freeform 15"/>
          <p:cNvSpPr/>
          <p:nvPr/>
        </p:nvSpPr>
        <p:spPr>
          <a:xfrm rot="21600000">
            <a:off x="382005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accent3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It is a situation that often starts when team members prefer to use </a:t>
            </a:r>
            <a:r>
              <a:rPr lang="en-GB" sz="2400" b="1" kern="1200" dirty="0" smtClean="0">
                <a:solidFill>
                  <a:srgbClr val="FFFF00"/>
                </a:solidFill>
              </a:rPr>
              <a:t>conflicting work styles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 rot="21600000">
            <a:off x="3189832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alpha val="90000"/>
              <a:hueOff val="0"/>
              <a:satOff val="0"/>
              <a:lumOff val="0"/>
              <a:alphaOff val="-20000"/>
            </a:schemeClr>
          </a:fillRef>
          <a:effectRef idx="2">
            <a:schemeClr val="accent3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People may work in different ways, but if it causes unforeseen </a:t>
            </a:r>
            <a:r>
              <a:rPr lang="en-GB" sz="2400" b="1" kern="1200" dirty="0" smtClean="0">
                <a:solidFill>
                  <a:srgbClr val="FFFF00"/>
                </a:solidFill>
              </a:rPr>
              <a:t>problems</a:t>
            </a:r>
            <a:r>
              <a:rPr lang="en-GB" sz="2400" kern="1200" dirty="0" smtClean="0"/>
              <a:t>, they may become frustrated</a:t>
            </a:r>
            <a:endParaRPr lang="en-GB" sz="2400" kern="1200" dirty="0"/>
          </a:p>
        </p:txBody>
      </p:sp>
      <p:sp>
        <p:nvSpPr>
          <p:cNvPr id="18" name="Freeform 17"/>
          <p:cNvSpPr/>
          <p:nvPr/>
        </p:nvSpPr>
        <p:spPr>
          <a:xfrm rot="21600000">
            <a:off x="5997661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3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Team leader should </a:t>
            </a:r>
            <a:r>
              <a:rPr lang="en-GB" sz="2400" b="1" kern="1200" dirty="0" smtClean="0">
                <a:solidFill>
                  <a:srgbClr val="FFFF00"/>
                </a:solidFill>
              </a:rPr>
              <a:t>help </a:t>
            </a:r>
            <a:r>
              <a:rPr lang="en-GB" sz="2400" kern="1200" dirty="0" smtClean="0"/>
              <a:t>all members to </a:t>
            </a:r>
            <a:r>
              <a:rPr lang="en-GB" sz="2400" b="1" kern="1200" dirty="0" smtClean="0">
                <a:solidFill>
                  <a:srgbClr val="FFFF00"/>
                </a:solidFill>
              </a:rPr>
              <a:t>accept </a:t>
            </a:r>
            <a:r>
              <a:rPr lang="en-GB" sz="2400" kern="1200" dirty="0" smtClean="0"/>
              <a:t>each other and </a:t>
            </a:r>
            <a:r>
              <a:rPr lang="en-GB" sz="2400" b="1" kern="1200" dirty="0" smtClean="0">
                <a:solidFill>
                  <a:srgbClr val="FFFF00"/>
                </a:solidFill>
              </a:rPr>
              <a:t>respect </a:t>
            </a:r>
            <a:r>
              <a:rPr lang="en-GB" sz="2400" kern="1200" dirty="0" smtClean="0"/>
              <a:t>in each individual task</a:t>
            </a:r>
            <a:endParaRPr lang="en-GB" sz="2400" kern="12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rgbClr val="92D050"/>
          </a:solidFill>
        </p:grpSpPr>
        <p:sp>
          <p:nvSpPr>
            <p:cNvPr id="13" name="Chevron 12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b="1" kern="1200" dirty="0" smtClean="0"/>
                <a:t>Stage 2 - Storming</a:t>
              </a:r>
              <a:endParaRPr lang="en-GB" sz="28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Freeform 12"/>
          <p:cNvSpPr/>
          <p:nvPr/>
        </p:nvSpPr>
        <p:spPr>
          <a:xfrm rot="21600000">
            <a:off x="382005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accent4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This stage is a period when team members</a:t>
            </a:r>
            <a:r>
              <a:rPr lang="en-GB" sz="2400" b="1" kern="1200" dirty="0" smtClean="0">
                <a:solidFill>
                  <a:srgbClr val="FFFF00"/>
                </a:solidFill>
              </a:rPr>
              <a:t> know </a:t>
            </a:r>
            <a:r>
              <a:rPr lang="en-GB" sz="2400" kern="1200" dirty="0" smtClean="0"/>
              <a:t>one-another </a:t>
            </a:r>
            <a:r>
              <a:rPr lang="en-GB" sz="2400" b="1" kern="1200" dirty="0" smtClean="0">
                <a:solidFill>
                  <a:srgbClr val="FFFF00"/>
                </a:solidFill>
              </a:rPr>
              <a:t>better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 rot="21600000">
            <a:off x="3189832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alpha val="90000"/>
              <a:hueOff val="0"/>
              <a:satOff val="0"/>
              <a:lumOff val="0"/>
              <a:alphaOff val="-20000"/>
            </a:schemeClr>
          </a:fillRef>
          <a:effectRef idx="2">
            <a:schemeClr val="accent4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They </a:t>
            </a:r>
            <a:r>
              <a:rPr lang="en-GB" sz="2400" b="1" kern="1200" dirty="0" smtClean="0">
                <a:solidFill>
                  <a:srgbClr val="FFFF00"/>
                </a:solidFill>
              </a:rPr>
              <a:t>socialize </a:t>
            </a:r>
            <a:r>
              <a:rPr lang="en-GB" sz="2400" kern="1200" dirty="0" smtClean="0"/>
              <a:t>together, and are able to ask each other for </a:t>
            </a:r>
            <a:r>
              <a:rPr lang="en-GB" sz="2400" b="1" kern="1200" dirty="0" smtClean="0">
                <a:solidFill>
                  <a:srgbClr val="FFFF00"/>
                </a:solidFill>
              </a:rPr>
              <a:t>help</a:t>
            </a:r>
            <a:r>
              <a:rPr lang="en-GB" sz="2400" kern="1200" dirty="0" smtClean="0"/>
              <a:t> and provide constructive </a:t>
            </a:r>
            <a:r>
              <a:rPr lang="en-GB" sz="2400" b="1" kern="1200" dirty="0" smtClean="0">
                <a:solidFill>
                  <a:srgbClr val="FFFF00"/>
                </a:solidFill>
              </a:rPr>
              <a:t>feedback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sp>
        <p:nvSpPr>
          <p:cNvPr id="15" name="Freeform 14"/>
          <p:cNvSpPr/>
          <p:nvPr/>
        </p:nvSpPr>
        <p:spPr>
          <a:xfrm rot="21600000">
            <a:off x="5997661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4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2400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At this point the leader needs to provide a </a:t>
            </a:r>
            <a:r>
              <a:rPr lang="en-GB" sz="2400" b="1" kern="1200" dirty="0" smtClean="0">
                <a:solidFill>
                  <a:srgbClr val="FFFF00"/>
                </a:solidFill>
              </a:rPr>
              <a:t>delegate </a:t>
            </a:r>
            <a:r>
              <a:rPr lang="en-GB" sz="2400" kern="1200" dirty="0" smtClean="0"/>
              <a:t>for making </a:t>
            </a:r>
            <a:r>
              <a:rPr lang="en-GB" sz="2400" b="1" kern="1200" dirty="0" smtClean="0">
                <a:solidFill>
                  <a:srgbClr val="FFFF00"/>
                </a:solidFill>
              </a:rPr>
              <a:t>agreement </a:t>
            </a:r>
            <a:r>
              <a:rPr lang="en-GB" sz="2400" kern="1200" dirty="0" smtClean="0"/>
              <a:t>and </a:t>
            </a:r>
            <a:r>
              <a:rPr lang="en-GB" sz="2400" b="1" kern="1200" dirty="0" smtClean="0">
                <a:solidFill>
                  <a:srgbClr val="FFFF00"/>
                </a:solidFill>
              </a:rPr>
              <a:t>consensus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grpSp>
        <p:nvGrpSpPr>
          <p:cNvPr id="4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chemeClr val="accent4">
              <a:lumMod val="75000"/>
            </a:schemeClr>
          </a:solidFill>
        </p:grpSpPr>
        <p:sp>
          <p:nvSpPr>
            <p:cNvPr id="10" name="Chevron 9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b="1" kern="1200" dirty="0" smtClean="0"/>
                <a:t>Stage 3 - Norming</a:t>
              </a:r>
              <a:endParaRPr lang="en-GB" sz="2800" b="1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657600"/>
            <a:ext cx="8229600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endParaRPr lang="en-GB" sz="1600" dirty="0" smtClean="0"/>
          </a:p>
          <a:p>
            <a:pPr algn="just">
              <a:buNone/>
            </a:pPr>
            <a:endParaRPr lang="en-GB" sz="1600" dirty="0" smtClean="0"/>
          </a:p>
        </p:txBody>
      </p:sp>
      <p:sp>
        <p:nvSpPr>
          <p:cNvPr id="13" name="Freeform 12"/>
          <p:cNvSpPr/>
          <p:nvPr/>
        </p:nvSpPr>
        <p:spPr>
          <a:xfrm rot="21600000">
            <a:off x="382005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1451" tIns="762000" rIns="174590" bIns="762001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700" kern="1200" dirty="0" smtClean="0"/>
              <a:t>This is a stage where all members can </a:t>
            </a:r>
            <a:r>
              <a:rPr lang="en-GB" sz="2700" b="1" kern="1200" dirty="0" smtClean="0">
                <a:solidFill>
                  <a:srgbClr val="FFFF00"/>
                </a:solidFill>
              </a:rPr>
              <a:t>achieve </a:t>
            </a:r>
            <a:r>
              <a:rPr lang="en-GB" sz="2700" kern="1200" dirty="0" smtClean="0"/>
              <a:t>the </a:t>
            </a:r>
            <a:r>
              <a:rPr lang="en-GB" sz="2700" dirty="0" smtClean="0"/>
              <a:t>task</a:t>
            </a:r>
            <a:r>
              <a:rPr lang="en-GB" sz="2700" kern="1200" dirty="0" smtClean="0"/>
              <a:t> </a:t>
            </a:r>
            <a:r>
              <a:rPr lang="en-GB" sz="2700" b="1" kern="1200" dirty="0" smtClean="0">
                <a:solidFill>
                  <a:srgbClr val="FFFF00"/>
                </a:solidFill>
              </a:rPr>
              <a:t>without any problems</a:t>
            </a:r>
            <a:endParaRPr lang="en-GB" sz="2700" b="1" kern="1200" dirty="0">
              <a:solidFill>
                <a:srgbClr val="FFFF00"/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 rot="21600000">
            <a:off x="3189832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90000"/>
              <a:hueOff val="0"/>
              <a:satOff val="0"/>
              <a:lumOff val="0"/>
              <a:alphaOff val="-20000"/>
            </a:schemeClr>
          </a:fillRef>
          <a:effectRef idx="2">
            <a:schemeClr val="accent1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71451" tIns="762000" rIns="174590" bIns="762001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700" kern="1200" dirty="0" smtClean="0"/>
              <a:t>But they want to </a:t>
            </a:r>
            <a:r>
              <a:rPr lang="en-GB" sz="2700" b="1" kern="1200" dirty="0" smtClean="0">
                <a:solidFill>
                  <a:srgbClr val="FFFF00"/>
                </a:solidFill>
              </a:rPr>
              <a:t>develop </a:t>
            </a:r>
            <a:r>
              <a:rPr lang="en-GB" sz="2700" kern="1200" dirty="0" smtClean="0"/>
              <a:t>the team with regard to </a:t>
            </a:r>
            <a:r>
              <a:rPr lang="en-GB" sz="2700" b="1" kern="1200" dirty="0" smtClean="0">
                <a:solidFill>
                  <a:srgbClr val="FFFF00"/>
                </a:solidFill>
              </a:rPr>
              <a:t>interpersonal</a:t>
            </a:r>
            <a:r>
              <a:rPr lang="en-GB" sz="2700" kern="1200" dirty="0" smtClean="0"/>
              <a:t> development</a:t>
            </a:r>
            <a:endParaRPr lang="en-GB" sz="2700" kern="1200" dirty="0"/>
          </a:p>
        </p:txBody>
      </p:sp>
      <p:sp>
        <p:nvSpPr>
          <p:cNvPr id="15" name="Freeform 14"/>
          <p:cNvSpPr/>
          <p:nvPr/>
        </p:nvSpPr>
        <p:spPr>
          <a:xfrm rot="21600000">
            <a:off x="5997661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1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171451" tIns="762000" rIns="174590" bIns="762001" numCol="1" spcCol="1270" anchor="ctr" anchorCtr="0">
            <a:noAutofit/>
          </a:bodyPr>
          <a:lstStyle/>
          <a:p>
            <a:pPr lvl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700" kern="1200" dirty="0" smtClean="0"/>
              <a:t>The leader should </a:t>
            </a:r>
            <a:r>
              <a:rPr lang="en-GB" sz="2700" b="1" kern="1200" dirty="0" smtClean="0">
                <a:solidFill>
                  <a:srgbClr val="FFFF00"/>
                </a:solidFill>
              </a:rPr>
              <a:t>concentrate</a:t>
            </a:r>
            <a:r>
              <a:rPr lang="en-GB" sz="2700" kern="1200" dirty="0" smtClean="0"/>
              <a:t> on </a:t>
            </a:r>
            <a:r>
              <a:rPr lang="en-GB" sz="2700" b="1" kern="1200" dirty="0" smtClean="0">
                <a:solidFill>
                  <a:srgbClr val="FFFF00"/>
                </a:solidFill>
              </a:rPr>
              <a:t>developing</a:t>
            </a:r>
            <a:r>
              <a:rPr lang="en-GB" sz="2700" kern="1200" dirty="0" smtClean="0"/>
              <a:t> </a:t>
            </a:r>
            <a:r>
              <a:rPr lang="en-GB" sz="2700" b="1" kern="1200" dirty="0" smtClean="0">
                <a:solidFill>
                  <a:srgbClr val="FFFF00"/>
                </a:solidFill>
              </a:rPr>
              <a:t>performance</a:t>
            </a:r>
            <a:r>
              <a:rPr lang="en-GB" sz="2700" kern="1200" dirty="0" smtClean="0"/>
              <a:t> of the team</a:t>
            </a:r>
            <a:endParaRPr lang="en-GB" sz="2700" kern="1200" dirty="0"/>
          </a:p>
        </p:txBody>
      </p:sp>
      <p:grpSp>
        <p:nvGrpSpPr>
          <p:cNvPr id="4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rgbClr val="0070C0"/>
          </a:solidFill>
        </p:grpSpPr>
        <p:sp>
          <p:nvSpPr>
            <p:cNvPr id="10" name="Chevron 9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b="1" kern="1200" dirty="0" smtClean="0"/>
                <a:t>Stage 4 - Performing</a:t>
              </a:r>
              <a:endParaRPr lang="en-GB" sz="2800" b="1" kern="1200" dirty="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676902" y="6253192"/>
            <a:ext cx="571449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This is the last stage for permanent groups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Freeform 12"/>
          <p:cNvSpPr/>
          <p:nvPr/>
        </p:nvSpPr>
        <p:spPr>
          <a:xfrm rot="21600000">
            <a:off x="382005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5547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It is the final task when especially a group is </a:t>
            </a:r>
            <a:r>
              <a:rPr lang="en-GB" sz="2400" b="1" kern="1200" dirty="0" smtClean="0">
                <a:solidFill>
                  <a:srgbClr val="FFFF00"/>
                </a:solidFill>
              </a:rPr>
              <a:t>successful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sp>
        <p:nvSpPr>
          <p:cNvPr id="14" name="Freeform 13"/>
          <p:cNvSpPr/>
          <p:nvPr/>
        </p:nvSpPr>
        <p:spPr>
          <a:xfrm rot="21600000">
            <a:off x="3189832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2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5547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This stage helps </a:t>
            </a:r>
            <a:r>
              <a:rPr lang="en-GB" sz="2400" b="1" kern="1200" dirty="0" smtClean="0">
                <a:solidFill>
                  <a:srgbClr val="FFFF00"/>
                </a:solidFill>
              </a:rPr>
              <a:t>increase motivation </a:t>
            </a:r>
            <a:r>
              <a:rPr lang="en-GB" sz="2400" kern="1200" dirty="0" smtClean="0"/>
              <a:t>of members to move on to another task </a:t>
            </a:r>
            <a:endParaRPr lang="en-GB" sz="2400" kern="1200" dirty="0"/>
          </a:p>
        </p:txBody>
      </p:sp>
      <p:sp>
        <p:nvSpPr>
          <p:cNvPr id="15" name="Freeform 14"/>
          <p:cNvSpPr/>
          <p:nvPr/>
        </p:nvSpPr>
        <p:spPr>
          <a:xfrm rot="21600000">
            <a:off x="5997661" y="2285999"/>
            <a:ext cx="2611934" cy="38100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2000"/>
                </a:lnTo>
                <a:lnTo>
                  <a:pt x="10000" y="8000"/>
                </a:lnTo>
                <a:lnTo>
                  <a:pt x="0" y="1000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152401" tIns="762000" rIns="155547" bIns="762001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The team must be </a:t>
            </a:r>
            <a:r>
              <a:rPr lang="en-GB" sz="2400" b="1" kern="1200" dirty="0" smtClean="0">
                <a:solidFill>
                  <a:srgbClr val="FFFF00"/>
                </a:solidFill>
              </a:rPr>
              <a:t>appreciated</a:t>
            </a:r>
            <a:r>
              <a:rPr lang="en-GB" sz="2400" kern="1200" dirty="0" smtClean="0"/>
              <a:t> by the leader with the </a:t>
            </a:r>
            <a:r>
              <a:rPr lang="en-GB" sz="2400" b="1" kern="1200" dirty="0" smtClean="0">
                <a:solidFill>
                  <a:srgbClr val="FFFF00"/>
                </a:solidFill>
              </a:rPr>
              <a:t>achievement</a:t>
            </a:r>
            <a:endParaRPr lang="en-GB" sz="2400" b="1" kern="1200" dirty="0">
              <a:solidFill>
                <a:srgbClr val="FFFF00"/>
              </a:solidFill>
            </a:endParaRPr>
          </a:p>
        </p:txBody>
      </p:sp>
      <p:grpSp>
        <p:nvGrpSpPr>
          <p:cNvPr id="4" name="Group 8"/>
          <p:cNvGrpSpPr/>
          <p:nvPr/>
        </p:nvGrpSpPr>
        <p:grpSpPr>
          <a:xfrm>
            <a:off x="1143000" y="1295400"/>
            <a:ext cx="7162800" cy="609600"/>
            <a:chOff x="2064" y="572231"/>
            <a:chExt cx="1837841" cy="735136"/>
          </a:xfrm>
          <a:solidFill>
            <a:schemeClr val="accent6"/>
          </a:solidFill>
        </p:grpSpPr>
        <p:sp>
          <p:nvSpPr>
            <p:cNvPr id="10" name="Chevron 9"/>
            <p:cNvSpPr/>
            <p:nvPr/>
          </p:nvSpPr>
          <p:spPr>
            <a:xfrm>
              <a:off x="2064" y="572231"/>
              <a:ext cx="1837841" cy="735136"/>
            </a:xfrm>
            <a:prstGeom prst="chevron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Chevron 4"/>
            <p:cNvSpPr/>
            <p:nvPr/>
          </p:nvSpPr>
          <p:spPr>
            <a:xfrm>
              <a:off x="369632" y="572231"/>
              <a:ext cx="1102705" cy="73513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008" tIns="21336" rIns="21336" bIns="21336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800" b="1" kern="1200" dirty="0" smtClean="0"/>
                <a:t>Stage 5 - Adjourning</a:t>
              </a:r>
              <a:endParaRPr lang="en-GB" sz="2800" b="1" kern="1200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82004" y="6248400"/>
            <a:ext cx="8380996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This stage is for temporary groups; permanent group have only four stages.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Stages of Group Formation.png"/>
          <p:cNvPicPr>
            <a:picLocks noChangeAspect="1"/>
          </p:cNvPicPr>
          <p:nvPr/>
        </p:nvPicPr>
        <p:blipFill>
          <a:blip r:embed="rId7" cstate="print"/>
          <a:srcRect t="22709" b="23523"/>
          <a:stretch>
            <a:fillRect/>
          </a:stretch>
        </p:blipFill>
        <p:spPr>
          <a:xfrm>
            <a:off x="152400" y="1600200"/>
            <a:ext cx="8839200" cy="419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Freeform 9"/>
          <p:cNvSpPr/>
          <p:nvPr/>
        </p:nvSpPr>
        <p:spPr>
          <a:xfrm>
            <a:off x="457200" y="1643691"/>
            <a:ext cx="8229600" cy="1429740"/>
          </a:xfrm>
          <a:custGeom>
            <a:avLst/>
            <a:gdLst>
              <a:gd name="connsiteX0" fmla="*/ 0 w 8229600"/>
              <a:gd name="connsiteY0" fmla="*/ 238295 h 1429740"/>
              <a:gd name="connsiteX1" fmla="*/ 69795 w 8229600"/>
              <a:gd name="connsiteY1" fmla="*/ 69795 h 1429740"/>
              <a:gd name="connsiteX2" fmla="*/ 238295 w 8229600"/>
              <a:gd name="connsiteY2" fmla="*/ 0 h 1429740"/>
              <a:gd name="connsiteX3" fmla="*/ 7991305 w 8229600"/>
              <a:gd name="connsiteY3" fmla="*/ 0 h 1429740"/>
              <a:gd name="connsiteX4" fmla="*/ 8159805 w 8229600"/>
              <a:gd name="connsiteY4" fmla="*/ 69795 h 1429740"/>
              <a:gd name="connsiteX5" fmla="*/ 8229600 w 8229600"/>
              <a:gd name="connsiteY5" fmla="*/ 238295 h 1429740"/>
              <a:gd name="connsiteX6" fmla="*/ 8229600 w 8229600"/>
              <a:gd name="connsiteY6" fmla="*/ 1191445 h 1429740"/>
              <a:gd name="connsiteX7" fmla="*/ 8159805 w 8229600"/>
              <a:gd name="connsiteY7" fmla="*/ 1359945 h 1429740"/>
              <a:gd name="connsiteX8" fmla="*/ 7991305 w 8229600"/>
              <a:gd name="connsiteY8" fmla="*/ 1429740 h 1429740"/>
              <a:gd name="connsiteX9" fmla="*/ 238295 w 8229600"/>
              <a:gd name="connsiteY9" fmla="*/ 1429740 h 1429740"/>
              <a:gd name="connsiteX10" fmla="*/ 69795 w 8229600"/>
              <a:gd name="connsiteY10" fmla="*/ 1359945 h 1429740"/>
              <a:gd name="connsiteX11" fmla="*/ 0 w 8229600"/>
              <a:gd name="connsiteY11" fmla="*/ 1191445 h 1429740"/>
              <a:gd name="connsiteX12" fmla="*/ 0 w 8229600"/>
              <a:gd name="connsiteY12" fmla="*/ 238295 h 1429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1429740">
                <a:moveTo>
                  <a:pt x="0" y="238295"/>
                </a:moveTo>
                <a:cubicBezTo>
                  <a:pt x="0" y="175095"/>
                  <a:pt x="25106" y="114484"/>
                  <a:pt x="69795" y="69795"/>
                </a:cubicBezTo>
                <a:cubicBezTo>
                  <a:pt x="114484" y="25106"/>
                  <a:pt x="175095" y="0"/>
                  <a:pt x="238295" y="0"/>
                </a:cubicBezTo>
                <a:lnTo>
                  <a:pt x="7991305" y="0"/>
                </a:lnTo>
                <a:cubicBezTo>
                  <a:pt x="8054505" y="0"/>
                  <a:pt x="8115116" y="25106"/>
                  <a:pt x="8159805" y="69795"/>
                </a:cubicBezTo>
                <a:cubicBezTo>
                  <a:pt x="8204494" y="114484"/>
                  <a:pt x="8229600" y="175095"/>
                  <a:pt x="8229600" y="238295"/>
                </a:cubicBezTo>
                <a:lnTo>
                  <a:pt x="8229600" y="1191445"/>
                </a:lnTo>
                <a:cubicBezTo>
                  <a:pt x="8229600" y="1254645"/>
                  <a:pt x="8204494" y="1315256"/>
                  <a:pt x="8159805" y="1359945"/>
                </a:cubicBezTo>
                <a:cubicBezTo>
                  <a:pt x="8115116" y="1404634"/>
                  <a:pt x="8054505" y="1429740"/>
                  <a:pt x="7991305" y="1429740"/>
                </a:cubicBezTo>
                <a:lnTo>
                  <a:pt x="238295" y="1429740"/>
                </a:lnTo>
                <a:cubicBezTo>
                  <a:pt x="175095" y="1429740"/>
                  <a:pt x="114484" y="1404634"/>
                  <a:pt x="69795" y="1359945"/>
                </a:cubicBezTo>
                <a:cubicBezTo>
                  <a:pt x="25106" y="1315256"/>
                  <a:pt x="0" y="1254645"/>
                  <a:pt x="0" y="1191445"/>
                </a:cubicBezTo>
                <a:lnTo>
                  <a:pt x="0" y="238295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8854" tIns="168854" rIns="168854" bIns="168854" numCol="1" spcCol="1270" anchor="ctr" anchorCtr="0">
            <a:noAutofit/>
          </a:bodyPr>
          <a:lstStyle/>
          <a:p>
            <a:pPr lvl="0" algn="ctr" defTabSz="1155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600" kern="1200" dirty="0" smtClean="0"/>
              <a:t>Most of the issues arise in first two stages – i.e. during </a:t>
            </a:r>
            <a:r>
              <a:rPr lang="en-GB" sz="2600" b="1" u="sng" kern="1200" dirty="0" smtClean="0">
                <a:solidFill>
                  <a:srgbClr val="FFFF00"/>
                </a:solidFill>
              </a:rPr>
              <a:t>FORMING</a:t>
            </a:r>
            <a:r>
              <a:rPr lang="en-GB" sz="2600" kern="1200" dirty="0" smtClean="0"/>
              <a:t> and </a:t>
            </a:r>
            <a:r>
              <a:rPr lang="en-GB" sz="2600" b="1" u="sng" kern="1200" dirty="0" smtClean="0">
                <a:solidFill>
                  <a:srgbClr val="FFFF00"/>
                </a:solidFill>
              </a:rPr>
              <a:t>STORMING</a:t>
            </a:r>
            <a:r>
              <a:rPr lang="en-GB" sz="2600" kern="1200" dirty="0" smtClean="0"/>
              <a:t> primarily depends upon </a:t>
            </a:r>
          </a:p>
          <a:p>
            <a:pPr lvl="0" algn="ctr" defTabSz="1155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i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Type Of Leadership</a:t>
            </a:r>
            <a:endParaRPr lang="en-GB" sz="2600" b="1" i="1" kern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457200" y="3148311"/>
            <a:ext cx="8229600" cy="1429740"/>
          </a:xfrm>
          <a:custGeom>
            <a:avLst/>
            <a:gdLst>
              <a:gd name="connsiteX0" fmla="*/ 0 w 8229600"/>
              <a:gd name="connsiteY0" fmla="*/ 238295 h 1429740"/>
              <a:gd name="connsiteX1" fmla="*/ 69795 w 8229600"/>
              <a:gd name="connsiteY1" fmla="*/ 69795 h 1429740"/>
              <a:gd name="connsiteX2" fmla="*/ 238295 w 8229600"/>
              <a:gd name="connsiteY2" fmla="*/ 0 h 1429740"/>
              <a:gd name="connsiteX3" fmla="*/ 7991305 w 8229600"/>
              <a:gd name="connsiteY3" fmla="*/ 0 h 1429740"/>
              <a:gd name="connsiteX4" fmla="*/ 8159805 w 8229600"/>
              <a:gd name="connsiteY4" fmla="*/ 69795 h 1429740"/>
              <a:gd name="connsiteX5" fmla="*/ 8229600 w 8229600"/>
              <a:gd name="connsiteY5" fmla="*/ 238295 h 1429740"/>
              <a:gd name="connsiteX6" fmla="*/ 8229600 w 8229600"/>
              <a:gd name="connsiteY6" fmla="*/ 1191445 h 1429740"/>
              <a:gd name="connsiteX7" fmla="*/ 8159805 w 8229600"/>
              <a:gd name="connsiteY7" fmla="*/ 1359945 h 1429740"/>
              <a:gd name="connsiteX8" fmla="*/ 7991305 w 8229600"/>
              <a:gd name="connsiteY8" fmla="*/ 1429740 h 1429740"/>
              <a:gd name="connsiteX9" fmla="*/ 238295 w 8229600"/>
              <a:gd name="connsiteY9" fmla="*/ 1429740 h 1429740"/>
              <a:gd name="connsiteX10" fmla="*/ 69795 w 8229600"/>
              <a:gd name="connsiteY10" fmla="*/ 1359945 h 1429740"/>
              <a:gd name="connsiteX11" fmla="*/ 0 w 8229600"/>
              <a:gd name="connsiteY11" fmla="*/ 1191445 h 1429740"/>
              <a:gd name="connsiteX12" fmla="*/ 0 w 8229600"/>
              <a:gd name="connsiteY12" fmla="*/ 238295 h 1429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1429740">
                <a:moveTo>
                  <a:pt x="0" y="238295"/>
                </a:moveTo>
                <a:cubicBezTo>
                  <a:pt x="0" y="175095"/>
                  <a:pt x="25106" y="114484"/>
                  <a:pt x="69795" y="69795"/>
                </a:cubicBezTo>
                <a:cubicBezTo>
                  <a:pt x="114484" y="25106"/>
                  <a:pt x="175095" y="0"/>
                  <a:pt x="238295" y="0"/>
                </a:cubicBezTo>
                <a:lnTo>
                  <a:pt x="7991305" y="0"/>
                </a:lnTo>
                <a:cubicBezTo>
                  <a:pt x="8054505" y="0"/>
                  <a:pt x="8115116" y="25106"/>
                  <a:pt x="8159805" y="69795"/>
                </a:cubicBezTo>
                <a:cubicBezTo>
                  <a:pt x="8204494" y="114484"/>
                  <a:pt x="8229600" y="175095"/>
                  <a:pt x="8229600" y="238295"/>
                </a:cubicBezTo>
                <a:lnTo>
                  <a:pt x="8229600" y="1191445"/>
                </a:lnTo>
                <a:cubicBezTo>
                  <a:pt x="8229600" y="1254645"/>
                  <a:pt x="8204494" y="1315256"/>
                  <a:pt x="8159805" y="1359945"/>
                </a:cubicBezTo>
                <a:cubicBezTo>
                  <a:pt x="8115116" y="1404634"/>
                  <a:pt x="8054505" y="1429740"/>
                  <a:pt x="7991305" y="1429740"/>
                </a:cubicBezTo>
                <a:lnTo>
                  <a:pt x="238295" y="1429740"/>
                </a:lnTo>
                <a:cubicBezTo>
                  <a:pt x="175095" y="1429740"/>
                  <a:pt x="114484" y="1404634"/>
                  <a:pt x="69795" y="1359945"/>
                </a:cubicBezTo>
                <a:cubicBezTo>
                  <a:pt x="25106" y="1315256"/>
                  <a:pt x="0" y="1254645"/>
                  <a:pt x="0" y="1191445"/>
                </a:cubicBezTo>
                <a:lnTo>
                  <a:pt x="0" y="238295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8854" tIns="168854" rIns="168854" bIns="168854" numCol="1" spcCol="1270" anchor="ctr" anchorCtr="0">
            <a:noAutofit/>
          </a:bodyPr>
          <a:lstStyle/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600" kern="1200" dirty="0" smtClean="0"/>
              <a:t>Leadership that </a:t>
            </a:r>
            <a:r>
              <a:rPr lang="en-GB" sz="2600" dirty="0"/>
              <a:t>does not address these issues timely and amicably, fails to move on to further stages of </a:t>
            </a:r>
            <a:endParaRPr lang="en-GB" sz="2600" kern="1200" dirty="0" smtClean="0"/>
          </a:p>
          <a:p>
            <a:pPr lvl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i="1" kern="1200" dirty="0" smtClean="0">
                <a:solidFill>
                  <a:schemeClr val="accent4">
                    <a:lumMod val="50000"/>
                  </a:schemeClr>
                </a:solidFill>
              </a:rPr>
              <a:t>Effectiveness </a:t>
            </a:r>
            <a:r>
              <a:rPr lang="en-GB" sz="3200" b="1" i="1" kern="1200" dirty="0" smtClean="0">
                <a:solidFill>
                  <a:schemeClr val="accent4">
                    <a:lumMod val="50000"/>
                  </a:schemeClr>
                </a:solidFill>
                <a:sym typeface="Wingdings" pitchFamily="2" charset="2"/>
              </a:rPr>
              <a:t> </a:t>
            </a:r>
            <a:r>
              <a:rPr lang="en-GB" sz="3200" b="1" i="1" dirty="0" smtClean="0">
                <a:solidFill>
                  <a:schemeClr val="accent4">
                    <a:lumMod val="50000"/>
                  </a:schemeClr>
                </a:solidFill>
              </a:rPr>
              <a:t>Increased Productivity</a:t>
            </a:r>
            <a:endParaRPr lang="en-GB" sz="2600" b="1" i="1" kern="1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457200" y="4652931"/>
            <a:ext cx="8229600" cy="1429740"/>
          </a:xfrm>
          <a:custGeom>
            <a:avLst/>
            <a:gdLst>
              <a:gd name="connsiteX0" fmla="*/ 0 w 8229600"/>
              <a:gd name="connsiteY0" fmla="*/ 238295 h 1429740"/>
              <a:gd name="connsiteX1" fmla="*/ 69795 w 8229600"/>
              <a:gd name="connsiteY1" fmla="*/ 69795 h 1429740"/>
              <a:gd name="connsiteX2" fmla="*/ 238295 w 8229600"/>
              <a:gd name="connsiteY2" fmla="*/ 0 h 1429740"/>
              <a:gd name="connsiteX3" fmla="*/ 7991305 w 8229600"/>
              <a:gd name="connsiteY3" fmla="*/ 0 h 1429740"/>
              <a:gd name="connsiteX4" fmla="*/ 8159805 w 8229600"/>
              <a:gd name="connsiteY4" fmla="*/ 69795 h 1429740"/>
              <a:gd name="connsiteX5" fmla="*/ 8229600 w 8229600"/>
              <a:gd name="connsiteY5" fmla="*/ 238295 h 1429740"/>
              <a:gd name="connsiteX6" fmla="*/ 8229600 w 8229600"/>
              <a:gd name="connsiteY6" fmla="*/ 1191445 h 1429740"/>
              <a:gd name="connsiteX7" fmla="*/ 8159805 w 8229600"/>
              <a:gd name="connsiteY7" fmla="*/ 1359945 h 1429740"/>
              <a:gd name="connsiteX8" fmla="*/ 7991305 w 8229600"/>
              <a:gd name="connsiteY8" fmla="*/ 1429740 h 1429740"/>
              <a:gd name="connsiteX9" fmla="*/ 238295 w 8229600"/>
              <a:gd name="connsiteY9" fmla="*/ 1429740 h 1429740"/>
              <a:gd name="connsiteX10" fmla="*/ 69795 w 8229600"/>
              <a:gd name="connsiteY10" fmla="*/ 1359945 h 1429740"/>
              <a:gd name="connsiteX11" fmla="*/ 0 w 8229600"/>
              <a:gd name="connsiteY11" fmla="*/ 1191445 h 1429740"/>
              <a:gd name="connsiteX12" fmla="*/ 0 w 8229600"/>
              <a:gd name="connsiteY12" fmla="*/ 238295 h 1429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1429740">
                <a:moveTo>
                  <a:pt x="0" y="238295"/>
                </a:moveTo>
                <a:cubicBezTo>
                  <a:pt x="0" y="175095"/>
                  <a:pt x="25106" y="114484"/>
                  <a:pt x="69795" y="69795"/>
                </a:cubicBezTo>
                <a:cubicBezTo>
                  <a:pt x="114484" y="25106"/>
                  <a:pt x="175095" y="0"/>
                  <a:pt x="238295" y="0"/>
                </a:cubicBezTo>
                <a:lnTo>
                  <a:pt x="7991305" y="0"/>
                </a:lnTo>
                <a:cubicBezTo>
                  <a:pt x="8054505" y="0"/>
                  <a:pt x="8115116" y="25106"/>
                  <a:pt x="8159805" y="69795"/>
                </a:cubicBezTo>
                <a:cubicBezTo>
                  <a:pt x="8204494" y="114484"/>
                  <a:pt x="8229600" y="175095"/>
                  <a:pt x="8229600" y="238295"/>
                </a:cubicBezTo>
                <a:lnTo>
                  <a:pt x="8229600" y="1191445"/>
                </a:lnTo>
                <a:cubicBezTo>
                  <a:pt x="8229600" y="1254645"/>
                  <a:pt x="8204494" y="1315256"/>
                  <a:pt x="8159805" y="1359945"/>
                </a:cubicBezTo>
                <a:cubicBezTo>
                  <a:pt x="8115116" y="1404634"/>
                  <a:pt x="8054505" y="1429740"/>
                  <a:pt x="7991305" y="1429740"/>
                </a:cubicBezTo>
                <a:lnTo>
                  <a:pt x="238295" y="1429740"/>
                </a:lnTo>
                <a:cubicBezTo>
                  <a:pt x="175095" y="1429740"/>
                  <a:pt x="114484" y="1404634"/>
                  <a:pt x="69795" y="1359945"/>
                </a:cubicBezTo>
                <a:cubicBezTo>
                  <a:pt x="25106" y="1315256"/>
                  <a:pt x="0" y="1254645"/>
                  <a:pt x="0" y="1191445"/>
                </a:cubicBezTo>
                <a:lnTo>
                  <a:pt x="0" y="238295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8854" tIns="168854" rIns="168854" bIns="168854" numCol="1" spcCol="1270" anchor="ctr" anchorCtr="0">
            <a:noAutofit/>
          </a:bodyPr>
          <a:lstStyle/>
          <a:p>
            <a:pPr lvl="0" algn="ctr" defTabSz="1155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600" kern="1200" dirty="0" smtClean="0"/>
              <a:t>The incompetent leaders keep on taking the steps for task accomplishment but with </a:t>
            </a:r>
          </a:p>
          <a:p>
            <a:pPr lvl="0" algn="ctr" defTabSz="11557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3200" b="1" i="1" kern="1200" dirty="0" smtClean="0">
                <a:solidFill>
                  <a:srgbClr val="92D050"/>
                </a:solidFill>
              </a:rPr>
              <a:t>Immense Drag </a:t>
            </a:r>
            <a:r>
              <a:rPr lang="en-GB" sz="3200" b="1" i="1" kern="1200" dirty="0" smtClean="0">
                <a:solidFill>
                  <a:srgbClr val="92D050"/>
                </a:solidFill>
                <a:sym typeface="Wingdings" pitchFamily="2" charset="2"/>
              </a:rPr>
              <a:t>  26 Teamwork Key Issues</a:t>
            </a:r>
            <a:endParaRPr lang="en-GB" sz="2600" b="1" i="1" kern="12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2598836001"/>
              </p:ext>
            </p:extLst>
          </p:nvPr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Freeform 18"/>
          <p:cNvSpPr/>
          <p:nvPr/>
        </p:nvSpPr>
        <p:spPr>
          <a:xfrm>
            <a:off x="457200" y="1600577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1. Absence of team identity</a:t>
            </a:r>
            <a:endParaRPr lang="en-GB" sz="2800" kern="1200" dirty="0"/>
          </a:p>
        </p:txBody>
      </p:sp>
      <p:sp>
        <p:nvSpPr>
          <p:cNvPr id="20" name="Freeform 19"/>
          <p:cNvSpPr/>
          <p:nvPr/>
        </p:nvSpPr>
        <p:spPr>
          <a:xfrm>
            <a:off x="457200" y="2104937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2. Difficulty in decision making</a:t>
            </a:r>
            <a:endParaRPr lang="en-GB" sz="2800" kern="1200" dirty="0"/>
          </a:p>
        </p:txBody>
      </p:sp>
      <p:sp>
        <p:nvSpPr>
          <p:cNvPr id="21" name="Freeform 20"/>
          <p:cNvSpPr/>
          <p:nvPr/>
        </p:nvSpPr>
        <p:spPr>
          <a:xfrm>
            <a:off x="457200" y="2609297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3. Poor mutual coordination and communication</a:t>
            </a:r>
            <a:endParaRPr lang="en-GB" sz="2800" kern="1200" dirty="0"/>
          </a:p>
        </p:txBody>
      </p:sp>
      <p:sp>
        <p:nvSpPr>
          <p:cNvPr id="22" name="Freeform 21"/>
          <p:cNvSpPr/>
          <p:nvPr/>
        </p:nvSpPr>
        <p:spPr>
          <a:xfrm>
            <a:off x="457200" y="3113658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4. Inability to resolve conflicts</a:t>
            </a:r>
            <a:endParaRPr lang="en-GB" sz="2800" kern="1200" dirty="0"/>
          </a:p>
        </p:txBody>
      </p:sp>
      <p:sp>
        <p:nvSpPr>
          <p:cNvPr id="23" name="Freeform 22"/>
          <p:cNvSpPr/>
          <p:nvPr/>
        </p:nvSpPr>
        <p:spPr>
          <a:xfrm>
            <a:off x="457200" y="3618018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5. Lack of participation and creativity</a:t>
            </a:r>
            <a:endParaRPr lang="en-GB" sz="2800" kern="1200" dirty="0"/>
          </a:p>
        </p:txBody>
      </p:sp>
      <p:sp>
        <p:nvSpPr>
          <p:cNvPr id="24" name="Freeform 23"/>
          <p:cNvSpPr/>
          <p:nvPr/>
        </p:nvSpPr>
        <p:spPr>
          <a:xfrm>
            <a:off x="457200" y="4122378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6. Lack of group thinking </a:t>
            </a:r>
            <a:endParaRPr lang="en-GB" sz="2800" kern="1200" dirty="0"/>
          </a:p>
        </p:txBody>
      </p:sp>
      <p:sp>
        <p:nvSpPr>
          <p:cNvPr id="25" name="Freeform 24"/>
          <p:cNvSpPr/>
          <p:nvPr/>
        </p:nvSpPr>
        <p:spPr>
          <a:xfrm>
            <a:off x="457200" y="4626739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7. Ineffective leadership style</a:t>
            </a:r>
            <a:endParaRPr lang="en-GB" sz="2800" kern="1200" dirty="0"/>
          </a:p>
        </p:txBody>
      </p:sp>
      <p:sp>
        <p:nvSpPr>
          <p:cNvPr id="26" name="Freeform 25"/>
          <p:cNvSpPr/>
          <p:nvPr/>
        </p:nvSpPr>
        <p:spPr>
          <a:xfrm>
            <a:off x="457200" y="5131099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8. Inability to prioritize and focus on tasks</a:t>
            </a:r>
            <a:endParaRPr lang="en-GB" sz="2800" kern="1200" dirty="0"/>
          </a:p>
        </p:txBody>
      </p:sp>
      <p:sp>
        <p:nvSpPr>
          <p:cNvPr id="27" name="Freeform 26"/>
          <p:cNvSpPr/>
          <p:nvPr/>
        </p:nvSpPr>
        <p:spPr>
          <a:xfrm>
            <a:off x="457200" y="5635459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9. Non-Understanding of equality, justice and liberty</a:t>
            </a:r>
            <a:endParaRPr lang="en-GB" sz="2800" kern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Diagram 27"/>
          <p:cNvGraphicFramePr/>
          <p:nvPr/>
        </p:nvGraphicFramePr>
        <p:xfrm>
          <a:off x="457200" y="274638"/>
          <a:ext cx="8229600" cy="79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14" descr="JEL.jpg"/>
          <p:cNvPicPr>
            <a:picLocks noChangeAspect="1"/>
          </p:cNvPicPr>
          <p:nvPr/>
        </p:nvPicPr>
        <p:blipFill>
          <a:blip r:embed="rId7" cstate="print"/>
          <a:srcRect t="11376" r="66828"/>
          <a:stretch>
            <a:fillRect/>
          </a:stretch>
        </p:blipFill>
        <p:spPr>
          <a:xfrm>
            <a:off x="838200" y="2362200"/>
            <a:ext cx="2286000" cy="3561762"/>
          </a:xfrm>
          <a:prstGeom prst="rect">
            <a:avLst/>
          </a:prstGeom>
        </p:spPr>
      </p:pic>
      <p:graphicFrame>
        <p:nvGraphicFramePr>
          <p:cNvPr id="16" name="Diagram 15"/>
          <p:cNvGraphicFramePr/>
          <p:nvPr/>
        </p:nvGraphicFramePr>
        <p:xfrm>
          <a:off x="457200" y="1295400"/>
          <a:ext cx="8229600" cy="792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7" name="Picture 16" descr="JEL.jpg"/>
          <p:cNvPicPr>
            <a:picLocks noChangeAspect="1"/>
          </p:cNvPicPr>
          <p:nvPr/>
        </p:nvPicPr>
        <p:blipFill>
          <a:blip r:embed="rId7" cstate="print"/>
          <a:srcRect l="66344" t="11376"/>
          <a:stretch>
            <a:fillRect/>
          </a:stretch>
        </p:blipFill>
        <p:spPr>
          <a:xfrm>
            <a:off x="5986463" y="2381838"/>
            <a:ext cx="2319337" cy="3561762"/>
          </a:xfrm>
          <a:prstGeom prst="rect">
            <a:avLst/>
          </a:prstGeom>
        </p:spPr>
      </p:pic>
      <p:pic>
        <p:nvPicPr>
          <p:cNvPr id="18" name="Picture 17" descr="JEL.jpg"/>
          <p:cNvPicPr>
            <a:picLocks noChangeAspect="1"/>
          </p:cNvPicPr>
          <p:nvPr/>
        </p:nvPicPr>
        <p:blipFill>
          <a:blip r:embed="rId7" cstate="print"/>
          <a:srcRect l="33172" t="11376" r="33656"/>
          <a:stretch>
            <a:fillRect/>
          </a:stretch>
        </p:blipFill>
        <p:spPr>
          <a:xfrm>
            <a:off x="3395663" y="2362200"/>
            <a:ext cx="2286000" cy="3561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 18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Freeform 9"/>
          <p:cNvSpPr/>
          <p:nvPr/>
        </p:nvSpPr>
        <p:spPr>
          <a:xfrm>
            <a:off x="457200" y="1524001"/>
            <a:ext cx="8229600" cy="566902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10. Failure to listen, comprehend and reply</a:t>
            </a:r>
            <a:endParaRPr lang="en-GB" sz="28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457200" y="2104937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11. Distance between offices and inaccessibility </a:t>
            </a:r>
            <a:endParaRPr lang="en-GB" sz="28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457200" y="2609297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12. Cultural differences and ethnocentricity</a:t>
            </a:r>
            <a:endParaRPr lang="en-GB" sz="2800" kern="1200" dirty="0"/>
          </a:p>
        </p:txBody>
      </p:sp>
      <p:sp>
        <p:nvSpPr>
          <p:cNvPr id="13" name="Freeform 12"/>
          <p:cNvSpPr/>
          <p:nvPr/>
        </p:nvSpPr>
        <p:spPr>
          <a:xfrm>
            <a:off x="457200" y="3113658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13. Dominating personalities, attitude and ego</a:t>
            </a:r>
            <a:endParaRPr lang="en-GB" sz="28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457200" y="3618018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14. Authority, seniority or hierarchy problems</a:t>
            </a:r>
            <a:endParaRPr lang="en-GB" sz="2800" kern="1200" dirty="0"/>
          </a:p>
        </p:txBody>
      </p:sp>
      <p:sp>
        <p:nvSpPr>
          <p:cNvPr id="15" name="Freeform 14"/>
          <p:cNvSpPr/>
          <p:nvPr/>
        </p:nvSpPr>
        <p:spPr>
          <a:xfrm>
            <a:off x="457200" y="4122378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15. Poor verbal and written expression</a:t>
            </a:r>
            <a:endParaRPr lang="en-GB" sz="2800" kern="1200" dirty="0"/>
          </a:p>
        </p:txBody>
      </p:sp>
      <p:sp>
        <p:nvSpPr>
          <p:cNvPr id="16" name="Freeform 15"/>
          <p:cNvSpPr/>
          <p:nvPr/>
        </p:nvSpPr>
        <p:spPr>
          <a:xfrm>
            <a:off x="457200" y="4626739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16. Gender biasness – both for males and females</a:t>
            </a:r>
            <a:endParaRPr lang="en-GB" sz="2800" kern="1200" dirty="0"/>
          </a:p>
        </p:txBody>
      </p:sp>
      <p:sp>
        <p:nvSpPr>
          <p:cNvPr id="17" name="Freeform 16"/>
          <p:cNvSpPr/>
          <p:nvPr/>
        </p:nvSpPr>
        <p:spPr>
          <a:xfrm>
            <a:off x="457200" y="5131099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17. In-adequate knowledge but argumentative nature</a:t>
            </a:r>
            <a:endParaRPr lang="en-GB" sz="2800" kern="1200" dirty="0"/>
          </a:p>
        </p:txBody>
      </p:sp>
      <p:sp>
        <p:nvSpPr>
          <p:cNvPr id="18" name="Freeform 17"/>
          <p:cNvSpPr/>
          <p:nvPr/>
        </p:nvSpPr>
        <p:spPr>
          <a:xfrm>
            <a:off x="457200" y="5635459"/>
            <a:ext cx="8229600" cy="490325"/>
          </a:xfrm>
          <a:custGeom>
            <a:avLst/>
            <a:gdLst>
              <a:gd name="connsiteX0" fmla="*/ 0 w 8229600"/>
              <a:gd name="connsiteY0" fmla="*/ 81722 h 490325"/>
              <a:gd name="connsiteX1" fmla="*/ 23936 w 8229600"/>
              <a:gd name="connsiteY1" fmla="*/ 23936 h 490325"/>
              <a:gd name="connsiteX2" fmla="*/ 81722 w 8229600"/>
              <a:gd name="connsiteY2" fmla="*/ 0 h 490325"/>
              <a:gd name="connsiteX3" fmla="*/ 8147878 w 8229600"/>
              <a:gd name="connsiteY3" fmla="*/ 0 h 490325"/>
              <a:gd name="connsiteX4" fmla="*/ 8205664 w 8229600"/>
              <a:gd name="connsiteY4" fmla="*/ 23936 h 490325"/>
              <a:gd name="connsiteX5" fmla="*/ 8229600 w 8229600"/>
              <a:gd name="connsiteY5" fmla="*/ 81722 h 490325"/>
              <a:gd name="connsiteX6" fmla="*/ 8229600 w 8229600"/>
              <a:gd name="connsiteY6" fmla="*/ 408603 h 490325"/>
              <a:gd name="connsiteX7" fmla="*/ 8205664 w 8229600"/>
              <a:gd name="connsiteY7" fmla="*/ 466389 h 490325"/>
              <a:gd name="connsiteX8" fmla="*/ 8147878 w 8229600"/>
              <a:gd name="connsiteY8" fmla="*/ 490325 h 490325"/>
              <a:gd name="connsiteX9" fmla="*/ 81722 w 8229600"/>
              <a:gd name="connsiteY9" fmla="*/ 490325 h 490325"/>
              <a:gd name="connsiteX10" fmla="*/ 23936 w 8229600"/>
              <a:gd name="connsiteY10" fmla="*/ 466389 h 490325"/>
              <a:gd name="connsiteX11" fmla="*/ 0 w 8229600"/>
              <a:gd name="connsiteY11" fmla="*/ 408603 h 490325"/>
              <a:gd name="connsiteX12" fmla="*/ 0 w 8229600"/>
              <a:gd name="connsiteY12" fmla="*/ 81722 h 49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490325">
                <a:moveTo>
                  <a:pt x="0" y="81722"/>
                </a:moveTo>
                <a:cubicBezTo>
                  <a:pt x="0" y="60048"/>
                  <a:pt x="8610" y="39262"/>
                  <a:pt x="23936" y="23936"/>
                </a:cubicBezTo>
                <a:cubicBezTo>
                  <a:pt x="39262" y="8610"/>
                  <a:pt x="60048" y="0"/>
                  <a:pt x="81722" y="0"/>
                </a:cubicBezTo>
                <a:lnTo>
                  <a:pt x="8147878" y="0"/>
                </a:lnTo>
                <a:cubicBezTo>
                  <a:pt x="8169552" y="0"/>
                  <a:pt x="8190338" y="8610"/>
                  <a:pt x="8205664" y="23936"/>
                </a:cubicBezTo>
                <a:cubicBezTo>
                  <a:pt x="8220990" y="39262"/>
                  <a:pt x="8229600" y="60048"/>
                  <a:pt x="8229600" y="81722"/>
                </a:cubicBezTo>
                <a:lnTo>
                  <a:pt x="8229600" y="408603"/>
                </a:lnTo>
                <a:cubicBezTo>
                  <a:pt x="8229600" y="430277"/>
                  <a:pt x="8220990" y="451063"/>
                  <a:pt x="8205664" y="466389"/>
                </a:cubicBezTo>
                <a:cubicBezTo>
                  <a:pt x="8190338" y="481715"/>
                  <a:pt x="8169552" y="490325"/>
                  <a:pt x="8147878" y="490325"/>
                </a:cubicBezTo>
                <a:lnTo>
                  <a:pt x="81722" y="490325"/>
                </a:lnTo>
                <a:cubicBezTo>
                  <a:pt x="60048" y="490325"/>
                  <a:pt x="39262" y="481715"/>
                  <a:pt x="23936" y="466389"/>
                </a:cubicBezTo>
                <a:cubicBezTo>
                  <a:pt x="8610" y="451063"/>
                  <a:pt x="0" y="430277"/>
                  <a:pt x="0" y="408603"/>
                </a:cubicBezTo>
                <a:lnTo>
                  <a:pt x="0" y="8172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616" tIns="130616" rIns="130616" bIns="130616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18. Exceeding deadlines</a:t>
            </a:r>
            <a:endParaRPr lang="en-GB" sz="2800" kern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reeform 8"/>
          <p:cNvSpPr/>
          <p:nvPr/>
        </p:nvSpPr>
        <p:spPr>
          <a:xfrm>
            <a:off x="457200" y="1602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19. Self-centeredness and half-heartedness</a:t>
            </a:r>
            <a:endParaRPr lang="en-GB" sz="2800" kern="1200" dirty="0"/>
          </a:p>
        </p:txBody>
      </p:sp>
      <p:sp>
        <p:nvSpPr>
          <p:cNvPr id="10" name="Freeform 9"/>
          <p:cNvSpPr/>
          <p:nvPr/>
        </p:nvSpPr>
        <p:spPr>
          <a:xfrm>
            <a:off x="457200" y="2169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20. Uncooperativeness and stubbornness</a:t>
            </a:r>
            <a:endParaRPr lang="en-GB" sz="28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457200" y="2736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21. Mistrust</a:t>
            </a:r>
            <a:endParaRPr lang="en-GB" sz="28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457200" y="3303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22. Risk and rewards, success and failures</a:t>
            </a:r>
            <a:endParaRPr lang="en-GB" sz="2800" kern="1200" dirty="0"/>
          </a:p>
        </p:txBody>
      </p:sp>
      <p:sp>
        <p:nvSpPr>
          <p:cNvPr id="13" name="Freeform 12"/>
          <p:cNvSpPr/>
          <p:nvPr/>
        </p:nvSpPr>
        <p:spPr>
          <a:xfrm>
            <a:off x="457200" y="3870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23. </a:t>
            </a:r>
            <a:r>
              <a:rPr lang="en-GB" sz="2800" dirty="0" smtClean="0"/>
              <a:t>Lack of professional skills</a:t>
            </a:r>
            <a:endParaRPr lang="en-GB" sz="28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457200" y="4437268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24. </a:t>
            </a:r>
            <a:r>
              <a:rPr lang="en-GB" sz="2800" dirty="0" smtClean="0"/>
              <a:t>Slow progress and negative results</a:t>
            </a:r>
            <a:endParaRPr lang="en-GB" sz="2800" kern="1200" dirty="0"/>
          </a:p>
        </p:txBody>
      </p:sp>
      <p:sp>
        <p:nvSpPr>
          <p:cNvPr id="15" name="Freeform 14"/>
          <p:cNvSpPr/>
          <p:nvPr/>
        </p:nvSpPr>
        <p:spPr>
          <a:xfrm>
            <a:off x="457200" y="5004268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3">
              <a:hueOff val="0"/>
              <a:satOff val="0"/>
              <a:lumOff val="0"/>
              <a:alphaOff val="0"/>
            </a:schemeClr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kern="1200" dirty="0" smtClean="0"/>
              <a:t>25. </a:t>
            </a:r>
            <a:r>
              <a:rPr lang="en-GB" sz="2800" dirty="0" smtClean="0"/>
              <a:t>Lack of celebrations</a:t>
            </a:r>
            <a:endParaRPr lang="en-GB" sz="2800" kern="1200" dirty="0"/>
          </a:p>
        </p:txBody>
      </p:sp>
      <p:sp>
        <p:nvSpPr>
          <p:cNvPr id="16" name="Freeform 15"/>
          <p:cNvSpPr/>
          <p:nvPr/>
        </p:nvSpPr>
        <p:spPr>
          <a:xfrm>
            <a:off x="457200" y="5571268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0"/>
              <a:satOff val="0"/>
              <a:lumOff val="0"/>
              <a:alphaOff val="0"/>
            </a:schemeClr>
          </a:fillRef>
          <a:effectRef idx="2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800" dirty="0" smtClean="0"/>
              <a:t>26. Decline in motivation</a:t>
            </a:r>
            <a:endParaRPr lang="en-GB" sz="2800" kern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Freeform 9"/>
          <p:cNvSpPr/>
          <p:nvPr/>
        </p:nvSpPr>
        <p:spPr>
          <a:xfrm>
            <a:off x="457200" y="1641081"/>
            <a:ext cx="8229600" cy="575639"/>
          </a:xfrm>
          <a:custGeom>
            <a:avLst/>
            <a:gdLst>
              <a:gd name="connsiteX0" fmla="*/ 0 w 8229600"/>
              <a:gd name="connsiteY0" fmla="*/ 95942 h 575639"/>
              <a:gd name="connsiteX1" fmla="*/ 28101 w 8229600"/>
              <a:gd name="connsiteY1" fmla="*/ 28101 h 575639"/>
              <a:gd name="connsiteX2" fmla="*/ 95942 w 8229600"/>
              <a:gd name="connsiteY2" fmla="*/ 0 h 575639"/>
              <a:gd name="connsiteX3" fmla="*/ 8133658 w 8229600"/>
              <a:gd name="connsiteY3" fmla="*/ 0 h 575639"/>
              <a:gd name="connsiteX4" fmla="*/ 8201499 w 8229600"/>
              <a:gd name="connsiteY4" fmla="*/ 28101 h 575639"/>
              <a:gd name="connsiteX5" fmla="*/ 8229600 w 8229600"/>
              <a:gd name="connsiteY5" fmla="*/ 95942 h 575639"/>
              <a:gd name="connsiteX6" fmla="*/ 8229600 w 8229600"/>
              <a:gd name="connsiteY6" fmla="*/ 479697 h 575639"/>
              <a:gd name="connsiteX7" fmla="*/ 8201499 w 8229600"/>
              <a:gd name="connsiteY7" fmla="*/ 547538 h 575639"/>
              <a:gd name="connsiteX8" fmla="*/ 8133658 w 8229600"/>
              <a:gd name="connsiteY8" fmla="*/ 575639 h 575639"/>
              <a:gd name="connsiteX9" fmla="*/ 95942 w 8229600"/>
              <a:gd name="connsiteY9" fmla="*/ 575639 h 575639"/>
              <a:gd name="connsiteX10" fmla="*/ 28101 w 8229600"/>
              <a:gd name="connsiteY10" fmla="*/ 547538 h 575639"/>
              <a:gd name="connsiteX11" fmla="*/ 0 w 8229600"/>
              <a:gd name="connsiteY11" fmla="*/ 479697 h 575639"/>
              <a:gd name="connsiteX12" fmla="*/ 0 w 8229600"/>
              <a:gd name="connsiteY12" fmla="*/ 95942 h 57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75639">
                <a:moveTo>
                  <a:pt x="0" y="95942"/>
                </a:moveTo>
                <a:cubicBezTo>
                  <a:pt x="0" y="70497"/>
                  <a:pt x="10108" y="46093"/>
                  <a:pt x="28101" y="28101"/>
                </a:cubicBezTo>
                <a:cubicBezTo>
                  <a:pt x="46094" y="10108"/>
                  <a:pt x="70497" y="0"/>
                  <a:pt x="95942" y="0"/>
                </a:cubicBezTo>
                <a:lnTo>
                  <a:pt x="8133658" y="0"/>
                </a:lnTo>
                <a:cubicBezTo>
                  <a:pt x="8159103" y="0"/>
                  <a:pt x="8183507" y="10108"/>
                  <a:pt x="8201499" y="28101"/>
                </a:cubicBezTo>
                <a:cubicBezTo>
                  <a:pt x="8219492" y="46094"/>
                  <a:pt x="8229600" y="70497"/>
                  <a:pt x="8229600" y="95942"/>
                </a:cubicBezTo>
                <a:lnTo>
                  <a:pt x="8229600" y="479697"/>
                </a:lnTo>
                <a:cubicBezTo>
                  <a:pt x="8229600" y="505142"/>
                  <a:pt x="8219492" y="529546"/>
                  <a:pt x="8201499" y="547538"/>
                </a:cubicBezTo>
                <a:cubicBezTo>
                  <a:pt x="8183506" y="565531"/>
                  <a:pt x="8159103" y="575639"/>
                  <a:pt x="8133658" y="575639"/>
                </a:cubicBezTo>
                <a:lnTo>
                  <a:pt x="95942" y="575639"/>
                </a:lnTo>
                <a:cubicBezTo>
                  <a:pt x="70497" y="575639"/>
                  <a:pt x="46093" y="565531"/>
                  <a:pt x="28101" y="547538"/>
                </a:cubicBezTo>
                <a:cubicBezTo>
                  <a:pt x="10108" y="529545"/>
                  <a:pt x="0" y="505142"/>
                  <a:pt x="0" y="479697"/>
                </a:cubicBezTo>
                <a:lnTo>
                  <a:pt x="0" y="9594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9540" tIns="119540" rIns="119540" bIns="119540" numCol="1" spcCol="1270" anchor="ctr" anchorCtr="0">
            <a:noAutofit/>
          </a:bodyPr>
          <a:lstStyle/>
          <a:p>
            <a:pPr lvl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1. Promoting  importance of listening</a:t>
            </a:r>
            <a:endParaRPr lang="en-GB" sz="24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457200" y="2285841"/>
            <a:ext cx="8229600" cy="575639"/>
          </a:xfrm>
          <a:custGeom>
            <a:avLst/>
            <a:gdLst>
              <a:gd name="connsiteX0" fmla="*/ 0 w 8229600"/>
              <a:gd name="connsiteY0" fmla="*/ 95942 h 575639"/>
              <a:gd name="connsiteX1" fmla="*/ 28101 w 8229600"/>
              <a:gd name="connsiteY1" fmla="*/ 28101 h 575639"/>
              <a:gd name="connsiteX2" fmla="*/ 95942 w 8229600"/>
              <a:gd name="connsiteY2" fmla="*/ 0 h 575639"/>
              <a:gd name="connsiteX3" fmla="*/ 8133658 w 8229600"/>
              <a:gd name="connsiteY3" fmla="*/ 0 h 575639"/>
              <a:gd name="connsiteX4" fmla="*/ 8201499 w 8229600"/>
              <a:gd name="connsiteY4" fmla="*/ 28101 h 575639"/>
              <a:gd name="connsiteX5" fmla="*/ 8229600 w 8229600"/>
              <a:gd name="connsiteY5" fmla="*/ 95942 h 575639"/>
              <a:gd name="connsiteX6" fmla="*/ 8229600 w 8229600"/>
              <a:gd name="connsiteY6" fmla="*/ 479697 h 575639"/>
              <a:gd name="connsiteX7" fmla="*/ 8201499 w 8229600"/>
              <a:gd name="connsiteY7" fmla="*/ 547538 h 575639"/>
              <a:gd name="connsiteX8" fmla="*/ 8133658 w 8229600"/>
              <a:gd name="connsiteY8" fmla="*/ 575639 h 575639"/>
              <a:gd name="connsiteX9" fmla="*/ 95942 w 8229600"/>
              <a:gd name="connsiteY9" fmla="*/ 575639 h 575639"/>
              <a:gd name="connsiteX10" fmla="*/ 28101 w 8229600"/>
              <a:gd name="connsiteY10" fmla="*/ 547538 h 575639"/>
              <a:gd name="connsiteX11" fmla="*/ 0 w 8229600"/>
              <a:gd name="connsiteY11" fmla="*/ 479697 h 575639"/>
              <a:gd name="connsiteX12" fmla="*/ 0 w 8229600"/>
              <a:gd name="connsiteY12" fmla="*/ 95942 h 57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75639">
                <a:moveTo>
                  <a:pt x="0" y="95942"/>
                </a:moveTo>
                <a:cubicBezTo>
                  <a:pt x="0" y="70497"/>
                  <a:pt x="10108" y="46093"/>
                  <a:pt x="28101" y="28101"/>
                </a:cubicBezTo>
                <a:cubicBezTo>
                  <a:pt x="46094" y="10108"/>
                  <a:pt x="70497" y="0"/>
                  <a:pt x="95942" y="0"/>
                </a:cubicBezTo>
                <a:lnTo>
                  <a:pt x="8133658" y="0"/>
                </a:lnTo>
                <a:cubicBezTo>
                  <a:pt x="8159103" y="0"/>
                  <a:pt x="8183507" y="10108"/>
                  <a:pt x="8201499" y="28101"/>
                </a:cubicBezTo>
                <a:cubicBezTo>
                  <a:pt x="8219492" y="46094"/>
                  <a:pt x="8229600" y="70497"/>
                  <a:pt x="8229600" y="95942"/>
                </a:cubicBezTo>
                <a:lnTo>
                  <a:pt x="8229600" y="479697"/>
                </a:lnTo>
                <a:cubicBezTo>
                  <a:pt x="8229600" y="505142"/>
                  <a:pt x="8219492" y="529546"/>
                  <a:pt x="8201499" y="547538"/>
                </a:cubicBezTo>
                <a:cubicBezTo>
                  <a:pt x="8183506" y="565531"/>
                  <a:pt x="8159103" y="575639"/>
                  <a:pt x="8133658" y="575639"/>
                </a:cubicBezTo>
                <a:lnTo>
                  <a:pt x="95942" y="575639"/>
                </a:lnTo>
                <a:cubicBezTo>
                  <a:pt x="70497" y="575639"/>
                  <a:pt x="46093" y="565531"/>
                  <a:pt x="28101" y="547538"/>
                </a:cubicBezTo>
                <a:cubicBezTo>
                  <a:pt x="10108" y="529545"/>
                  <a:pt x="0" y="505142"/>
                  <a:pt x="0" y="479697"/>
                </a:cubicBezTo>
                <a:lnTo>
                  <a:pt x="0" y="9594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9540" tIns="119540" rIns="119540" bIns="119540" numCol="1" spcCol="1270" anchor="ctr" anchorCtr="0">
            <a:noAutofit/>
          </a:bodyPr>
          <a:lstStyle/>
          <a:p>
            <a:pPr lvl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2. Conducting regular meetings with feedback solicitation</a:t>
            </a:r>
            <a:endParaRPr lang="en-GB" sz="24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457200" y="2930601"/>
            <a:ext cx="8229600" cy="575639"/>
          </a:xfrm>
          <a:custGeom>
            <a:avLst/>
            <a:gdLst>
              <a:gd name="connsiteX0" fmla="*/ 0 w 8229600"/>
              <a:gd name="connsiteY0" fmla="*/ 95942 h 575639"/>
              <a:gd name="connsiteX1" fmla="*/ 28101 w 8229600"/>
              <a:gd name="connsiteY1" fmla="*/ 28101 h 575639"/>
              <a:gd name="connsiteX2" fmla="*/ 95942 w 8229600"/>
              <a:gd name="connsiteY2" fmla="*/ 0 h 575639"/>
              <a:gd name="connsiteX3" fmla="*/ 8133658 w 8229600"/>
              <a:gd name="connsiteY3" fmla="*/ 0 h 575639"/>
              <a:gd name="connsiteX4" fmla="*/ 8201499 w 8229600"/>
              <a:gd name="connsiteY4" fmla="*/ 28101 h 575639"/>
              <a:gd name="connsiteX5" fmla="*/ 8229600 w 8229600"/>
              <a:gd name="connsiteY5" fmla="*/ 95942 h 575639"/>
              <a:gd name="connsiteX6" fmla="*/ 8229600 w 8229600"/>
              <a:gd name="connsiteY6" fmla="*/ 479697 h 575639"/>
              <a:gd name="connsiteX7" fmla="*/ 8201499 w 8229600"/>
              <a:gd name="connsiteY7" fmla="*/ 547538 h 575639"/>
              <a:gd name="connsiteX8" fmla="*/ 8133658 w 8229600"/>
              <a:gd name="connsiteY8" fmla="*/ 575639 h 575639"/>
              <a:gd name="connsiteX9" fmla="*/ 95942 w 8229600"/>
              <a:gd name="connsiteY9" fmla="*/ 575639 h 575639"/>
              <a:gd name="connsiteX10" fmla="*/ 28101 w 8229600"/>
              <a:gd name="connsiteY10" fmla="*/ 547538 h 575639"/>
              <a:gd name="connsiteX11" fmla="*/ 0 w 8229600"/>
              <a:gd name="connsiteY11" fmla="*/ 479697 h 575639"/>
              <a:gd name="connsiteX12" fmla="*/ 0 w 8229600"/>
              <a:gd name="connsiteY12" fmla="*/ 95942 h 57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75639">
                <a:moveTo>
                  <a:pt x="0" y="95942"/>
                </a:moveTo>
                <a:cubicBezTo>
                  <a:pt x="0" y="70497"/>
                  <a:pt x="10108" y="46093"/>
                  <a:pt x="28101" y="28101"/>
                </a:cubicBezTo>
                <a:cubicBezTo>
                  <a:pt x="46094" y="10108"/>
                  <a:pt x="70497" y="0"/>
                  <a:pt x="95942" y="0"/>
                </a:cubicBezTo>
                <a:lnTo>
                  <a:pt x="8133658" y="0"/>
                </a:lnTo>
                <a:cubicBezTo>
                  <a:pt x="8159103" y="0"/>
                  <a:pt x="8183507" y="10108"/>
                  <a:pt x="8201499" y="28101"/>
                </a:cubicBezTo>
                <a:cubicBezTo>
                  <a:pt x="8219492" y="46094"/>
                  <a:pt x="8229600" y="70497"/>
                  <a:pt x="8229600" y="95942"/>
                </a:cubicBezTo>
                <a:lnTo>
                  <a:pt x="8229600" y="479697"/>
                </a:lnTo>
                <a:cubicBezTo>
                  <a:pt x="8229600" y="505142"/>
                  <a:pt x="8219492" y="529546"/>
                  <a:pt x="8201499" y="547538"/>
                </a:cubicBezTo>
                <a:cubicBezTo>
                  <a:pt x="8183506" y="565531"/>
                  <a:pt x="8159103" y="575639"/>
                  <a:pt x="8133658" y="575639"/>
                </a:cubicBezTo>
                <a:lnTo>
                  <a:pt x="95942" y="575639"/>
                </a:lnTo>
                <a:cubicBezTo>
                  <a:pt x="70497" y="575639"/>
                  <a:pt x="46093" y="565531"/>
                  <a:pt x="28101" y="547538"/>
                </a:cubicBezTo>
                <a:cubicBezTo>
                  <a:pt x="10108" y="529545"/>
                  <a:pt x="0" y="505142"/>
                  <a:pt x="0" y="479697"/>
                </a:cubicBezTo>
                <a:lnTo>
                  <a:pt x="0" y="9594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9540" tIns="119540" rIns="119540" bIns="119540" numCol="1" spcCol="1270" anchor="ctr" anchorCtr="0">
            <a:noAutofit/>
          </a:bodyPr>
          <a:lstStyle/>
          <a:p>
            <a:pPr lvl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3. Spreading commonalities instead of differences</a:t>
            </a:r>
            <a:endParaRPr lang="en-GB" sz="2400" kern="1200" dirty="0"/>
          </a:p>
        </p:txBody>
      </p:sp>
      <p:sp>
        <p:nvSpPr>
          <p:cNvPr id="13" name="Freeform 12"/>
          <p:cNvSpPr/>
          <p:nvPr/>
        </p:nvSpPr>
        <p:spPr>
          <a:xfrm>
            <a:off x="457200" y="3575361"/>
            <a:ext cx="8229600" cy="575639"/>
          </a:xfrm>
          <a:custGeom>
            <a:avLst/>
            <a:gdLst>
              <a:gd name="connsiteX0" fmla="*/ 0 w 8229600"/>
              <a:gd name="connsiteY0" fmla="*/ 95942 h 575639"/>
              <a:gd name="connsiteX1" fmla="*/ 28101 w 8229600"/>
              <a:gd name="connsiteY1" fmla="*/ 28101 h 575639"/>
              <a:gd name="connsiteX2" fmla="*/ 95942 w 8229600"/>
              <a:gd name="connsiteY2" fmla="*/ 0 h 575639"/>
              <a:gd name="connsiteX3" fmla="*/ 8133658 w 8229600"/>
              <a:gd name="connsiteY3" fmla="*/ 0 h 575639"/>
              <a:gd name="connsiteX4" fmla="*/ 8201499 w 8229600"/>
              <a:gd name="connsiteY4" fmla="*/ 28101 h 575639"/>
              <a:gd name="connsiteX5" fmla="*/ 8229600 w 8229600"/>
              <a:gd name="connsiteY5" fmla="*/ 95942 h 575639"/>
              <a:gd name="connsiteX6" fmla="*/ 8229600 w 8229600"/>
              <a:gd name="connsiteY6" fmla="*/ 479697 h 575639"/>
              <a:gd name="connsiteX7" fmla="*/ 8201499 w 8229600"/>
              <a:gd name="connsiteY7" fmla="*/ 547538 h 575639"/>
              <a:gd name="connsiteX8" fmla="*/ 8133658 w 8229600"/>
              <a:gd name="connsiteY8" fmla="*/ 575639 h 575639"/>
              <a:gd name="connsiteX9" fmla="*/ 95942 w 8229600"/>
              <a:gd name="connsiteY9" fmla="*/ 575639 h 575639"/>
              <a:gd name="connsiteX10" fmla="*/ 28101 w 8229600"/>
              <a:gd name="connsiteY10" fmla="*/ 547538 h 575639"/>
              <a:gd name="connsiteX11" fmla="*/ 0 w 8229600"/>
              <a:gd name="connsiteY11" fmla="*/ 479697 h 575639"/>
              <a:gd name="connsiteX12" fmla="*/ 0 w 8229600"/>
              <a:gd name="connsiteY12" fmla="*/ 95942 h 57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75639">
                <a:moveTo>
                  <a:pt x="0" y="95942"/>
                </a:moveTo>
                <a:cubicBezTo>
                  <a:pt x="0" y="70497"/>
                  <a:pt x="10108" y="46093"/>
                  <a:pt x="28101" y="28101"/>
                </a:cubicBezTo>
                <a:cubicBezTo>
                  <a:pt x="46094" y="10108"/>
                  <a:pt x="70497" y="0"/>
                  <a:pt x="95942" y="0"/>
                </a:cubicBezTo>
                <a:lnTo>
                  <a:pt x="8133658" y="0"/>
                </a:lnTo>
                <a:cubicBezTo>
                  <a:pt x="8159103" y="0"/>
                  <a:pt x="8183507" y="10108"/>
                  <a:pt x="8201499" y="28101"/>
                </a:cubicBezTo>
                <a:cubicBezTo>
                  <a:pt x="8219492" y="46094"/>
                  <a:pt x="8229600" y="70497"/>
                  <a:pt x="8229600" y="95942"/>
                </a:cubicBezTo>
                <a:lnTo>
                  <a:pt x="8229600" y="479697"/>
                </a:lnTo>
                <a:cubicBezTo>
                  <a:pt x="8229600" y="505142"/>
                  <a:pt x="8219492" y="529546"/>
                  <a:pt x="8201499" y="547538"/>
                </a:cubicBezTo>
                <a:cubicBezTo>
                  <a:pt x="8183506" y="565531"/>
                  <a:pt x="8159103" y="575639"/>
                  <a:pt x="8133658" y="575639"/>
                </a:cubicBezTo>
                <a:lnTo>
                  <a:pt x="95942" y="575639"/>
                </a:lnTo>
                <a:cubicBezTo>
                  <a:pt x="70497" y="575639"/>
                  <a:pt x="46093" y="565531"/>
                  <a:pt x="28101" y="547538"/>
                </a:cubicBezTo>
                <a:cubicBezTo>
                  <a:pt x="10108" y="529545"/>
                  <a:pt x="0" y="505142"/>
                  <a:pt x="0" y="479697"/>
                </a:cubicBezTo>
                <a:lnTo>
                  <a:pt x="0" y="9594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9540" tIns="119540" rIns="119540" bIns="119540" numCol="1" spcCol="1270" anchor="ctr" anchorCtr="0">
            <a:noAutofit/>
          </a:bodyPr>
          <a:lstStyle/>
          <a:p>
            <a:pPr lvl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4. Making and announcing rational and timely decisions</a:t>
            </a:r>
            <a:endParaRPr lang="en-GB" sz="24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457200" y="4220121"/>
            <a:ext cx="8229600" cy="575639"/>
          </a:xfrm>
          <a:custGeom>
            <a:avLst/>
            <a:gdLst>
              <a:gd name="connsiteX0" fmla="*/ 0 w 8229600"/>
              <a:gd name="connsiteY0" fmla="*/ 95942 h 575639"/>
              <a:gd name="connsiteX1" fmla="*/ 28101 w 8229600"/>
              <a:gd name="connsiteY1" fmla="*/ 28101 h 575639"/>
              <a:gd name="connsiteX2" fmla="*/ 95942 w 8229600"/>
              <a:gd name="connsiteY2" fmla="*/ 0 h 575639"/>
              <a:gd name="connsiteX3" fmla="*/ 8133658 w 8229600"/>
              <a:gd name="connsiteY3" fmla="*/ 0 h 575639"/>
              <a:gd name="connsiteX4" fmla="*/ 8201499 w 8229600"/>
              <a:gd name="connsiteY4" fmla="*/ 28101 h 575639"/>
              <a:gd name="connsiteX5" fmla="*/ 8229600 w 8229600"/>
              <a:gd name="connsiteY5" fmla="*/ 95942 h 575639"/>
              <a:gd name="connsiteX6" fmla="*/ 8229600 w 8229600"/>
              <a:gd name="connsiteY6" fmla="*/ 479697 h 575639"/>
              <a:gd name="connsiteX7" fmla="*/ 8201499 w 8229600"/>
              <a:gd name="connsiteY7" fmla="*/ 547538 h 575639"/>
              <a:gd name="connsiteX8" fmla="*/ 8133658 w 8229600"/>
              <a:gd name="connsiteY8" fmla="*/ 575639 h 575639"/>
              <a:gd name="connsiteX9" fmla="*/ 95942 w 8229600"/>
              <a:gd name="connsiteY9" fmla="*/ 575639 h 575639"/>
              <a:gd name="connsiteX10" fmla="*/ 28101 w 8229600"/>
              <a:gd name="connsiteY10" fmla="*/ 547538 h 575639"/>
              <a:gd name="connsiteX11" fmla="*/ 0 w 8229600"/>
              <a:gd name="connsiteY11" fmla="*/ 479697 h 575639"/>
              <a:gd name="connsiteX12" fmla="*/ 0 w 8229600"/>
              <a:gd name="connsiteY12" fmla="*/ 95942 h 57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75639">
                <a:moveTo>
                  <a:pt x="0" y="95942"/>
                </a:moveTo>
                <a:cubicBezTo>
                  <a:pt x="0" y="70497"/>
                  <a:pt x="10108" y="46093"/>
                  <a:pt x="28101" y="28101"/>
                </a:cubicBezTo>
                <a:cubicBezTo>
                  <a:pt x="46094" y="10108"/>
                  <a:pt x="70497" y="0"/>
                  <a:pt x="95942" y="0"/>
                </a:cubicBezTo>
                <a:lnTo>
                  <a:pt x="8133658" y="0"/>
                </a:lnTo>
                <a:cubicBezTo>
                  <a:pt x="8159103" y="0"/>
                  <a:pt x="8183507" y="10108"/>
                  <a:pt x="8201499" y="28101"/>
                </a:cubicBezTo>
                <a:cubicBezTo>
                  <a:pt x="8219492" y="46094"/>
                  <a:pt x="8229600" y="70497"/>
                  <a:pt x="8229600" y="95942"/>
                </a:cubicBezTo>
                <a:lnTo>
                  <a:pt x="8229600" y="479697"/>
                </a:lnTo>
                <a:cubicBezTo>
                  <a:pt x="8229600" y="505142"/>
                  <a:pt x="8219492" y="529546"/>
                  <a:pt x="8201499" y="547538"/>
                </a:cubicBezTo>
                <a:cubicBezTo>
                  <a:pt x="8183506" y="565531"/>
                  <a:pt x="8159103" y="575639"/>
                  <a:pt x="8133658" y="575639"/>
                </a:cubicBezTo>
                <a:lnTo>
                  <a:pt x="95942" y="575639"/>
                </a:lnTo>
                <a:cubicBezTo>
                  <a:pt x="70497" y="575639"/>
                  <a:pt x="46093" y="565531"/>
                  <a:pt x="28101" y="547538"/>
                </a:cubicBezTo>
                <a:cubicBezTo>
                  <a:pt x="10108" y="529545"/>
                  <a:pt x="0" y="505142"/>
                  <a:pt x="0" y="479697"/>
                </a:cubicBezTo>
                <a:lnTo>
                  <a:pt x="0" y="9594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9540" tIns="119540" rIns="119540" bIns="119540" numCol="1" spcCol="1270" anchor="ctr" anchorCtr="0">
            <a:noAutofit/>
          </a:bodyPr>
          <a:lstStyle/>
          <a:p>
            <a:pPr lvl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5. Applying equality, justice and liberty as per requirement</a:t>
            </a:r>
            <a:endParaRPr lang="en-GB" sz="2400" kern="1200" dirty="0"/>
          </a:p>
        </p:txBody>
      </p:sp>
      <p:sp>
        <p:nvSpPr>
          <p:cNvPr id="15" name="Freeform 14"/>
          <p:cNvSpPr/>
          <p:nvPr/>
        </p:nvSpPr>
        <p:spPr>
          <a:xfrm>
            <a:off x="457200" y="4864881"/>
            <a:ext cx="8229600" cy="575639"/>
          </a:xfrm>
          <a:custGeom>
            <a:avLst/>
            <a:gdLst>
              <a:gd name="connsiteX0" fmla="*/ 0 w 8229600"/>
              <a:gd name="connsiteY0" fmla="*/ 95942 h 575639"/>
              <a:gd name="connsiteX1" fmla="*/ 28101 w 8229600"/>
              <a:gd name="connsiteY1" fmla="*/ 28101 h 575639"/>
              <a:gd name="connsiteX2" fmla="*/ 95942 w 8229600"/>
              <a:gd name="connsiteY2" fmla="*/ 0 h 575639"/>
              <a:gd name="connsiteX3" fmla="*/ 8133658 w 8229600"/>
              <a:gd name="connsiteY3" fmla="*/ 0 h 575639"/>
              <a:gd name="connsiteX4" fmla="*/ 8201499 w 8229600"/>
              <a:gd name="connsiteY4" fmla="*/ 28101 h 575639"/>
              <a:gd name="connsiteX5" fmla="*/ 8229600 w 8229600"/>
              <a:gd name="connsiteY5" fmla="*/ 95942 h 575639"/>
              <a:gd name="connsiteX6" fmla="*/ 8229600 w 8229600"/>
              <a:gd name="connsiteY6" fmla="*/ 479697 h 575639"/>
              <a:gd name="connsiteX7" fmla="*/ 8201499 w 8229600"/>
              <a:gd name="connsiteY7" fmla="*/ 547538 h 575639"/>
              <a:gd name="connsiteX8" fmla="*/ 8133658 w 8229600"/>
              <a:gd name="connsiteY8" fmla="*/ 575639 h 575639"/>
              <a:gd name="connsiteX9" fmla="*/ 95942 w 8229600"/>
              <a:gd name="connsiteY9" fmla="*/ 575639 h 575639"/>
              <a:gd name="connsiteX10" fmla="*/ 28101 w 8229600"/>
              <a:gd name="connsiteY10" fmla="*/ 547538 h 575639"/>
              <a:gd name="connsiteX11" fmla="*/ 0 w 8229600"/>
              <a:gd name="connsiteY11" fmla="*/ 479697 h 575639"/>
              <a:gd name="connsiteX12" fmla="*/ 0 w 8229600"/>
              <a:gd name="connsiteY12" fmla="*/ 95942 h 57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75639">
                <a:moveTo>
                  <a:pt x="0" y="95942"/>
                </a:moveTo>
                <a:cubicBezTo>
                  <a:pt x="0" y="70497"/>
                  <a:pt x="10108" y="46093"/>
                  <a:pt x="28101" y="28101"/>
                </a:cubicBezTo>
                <a:cubicBezTo>
                  <a:pt x="46094" y="10108"/>
                  <a:pt x="70497" y="0"/>
                  <a:pt x="95942" y="0"/>
                </a:cubicBezTo>
                <a:lnTo>
                  <a:pt x="8133658" y="0"/>
                </a:lnTo>
                <a:cubicBezTo>
                  <a:pt x="8159103" y="0"/>
                  <a:pt x="8183507" y="10108"/>
                  <a:pt x="8201499" y="28101"/>
                </a:cubicBezTo>
                <a:cubicBezTo>
                  <a:pt x="8219492" y="46094"/>
                  <a:pt x="8229600" y="70497"/>
                  <a:pt x="8229600" y="95942"/>
                </a:cubicBezTo>
                <a:lnTo>
                  <a:pt x="8229600" y="479697"/>
                </a:lnTo>
                <a:cubicBezTo>
                  <a:pt x="8229600" y="505142"/>
                  <a:pt x="8219492" y="529546"/>
                  <a:pt x="8201499" y="547538"/>
                </a:cubicBezTo>
                <a:cubicBezTo>
                  <a:pt x="8183506" y="565531"/>
                  <a:pt x="8159103" y="575639"/>
                  <a:pt x="8133658" y="575639"/>
                </a:cubicBezTo>
                <a:lnTo>
                  <a:pt x="95942" y="575639"/>
                </a:lnTo>
                <a:cubicBezTo>
                  <a:pt x="70497" y="575639"/>
                  <a:pt x="46093" y="565531"/>
                  <a:pt x="28101" y="547538"/>
                </a:cubicBezTo>
                <a:cubicBezTo>
                  <a:pt x="10108" y="529545"/>
                  <a:pt x="0" y="505142"/>
                  <a:pt x="0" y="479697"/>
                </a:cubicBezTo>
                <a:lnTo>
                  <a:pt x="0" y="9594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9540" tIns="119540" rIns="119540" bIns="119540" numCol="1" spcCol="1270" anchor="ctr" anchorCtr="0">
            <a:noAutofit/>
          </a:bodyPr>
          <a:lstStyle/>
          <a:p>
            <a:pPr lvl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6. Promoting usage of common language and connotation</a:t>
            </a:r>
            <a:endParaRPr lang="en-GB" sz="2400" kern="1200" dirty="0"/>
          </a:p>
        </p:txBody>
      </p:sp>
      <p:sp>
        <p:nvSpPr>
          <p:cNvPr id="16" name="Freeform 15"/>
          <p:cNvSpPr/>
          <p:nvPr/>
        </p:nvSpPr>
        <p:spPr>
          <a:xfrm>
            <a:off x="457200" y="5509641"/>
            <a:ext cx="8229600" cy="575639"/>
          </a:xfrm>
          <a:custGeom>
            <a:avLst/>
            <a:gdLst>
              <a:gd name="connsiteX0" fmla="*/ 0 w 8229600"/>
              <a:gd name="connsiteY0" fmla="*/ 95942 h 575639"/>
              <a:gd name="connsiteX1" fmla="*/ 28101 w 8229600"/>
              <a:gd name="connsiteY1" fmla="*/ 28101 h 575639"/>
              <a:gd name="connsiteX2" fmla="*/ 95942 w 8229600"/>
              <a:gd name="connsiteY2" fmla="*/ 0 h 575639"/>
              <a:gd name="connsiteX3" fmla="*/ 8133658 w 8229600"/>
              <a:gd name="connsiteY3" fmla="*/ 0 h 575639"/>
              <a:gd name="connsiteX4" fmla="*/ 8201499 w 8229600"/>
              <a:gd name="connsiteY4" fmla="*/ 28101 h 575639"/>
              <a:gd name="connsiteX5" fmla="*/ 8229600 w 8229600"/>
              <a:gd name="connsiteY5" fmla="*/ 95942 h 575639"/>
              <a:gd name="connsiteX6" fmla="*/ 8229600 w 8229600"/>
              <a:gd name="connsiteY6" fmla="*/ 479697 h 575639"/>
              <a:gd name="connsiteX7" fmla="*/ 8201499 w 8229600"/>
              <a:gd name="connsiteY7" fmla="*/ 547538 h 575639"/>
              <a:gd name="connsiteX8" fmla="*/ 8133658 w 8229600"/>
              <a:gd name="connsiteY8" fmla="*/ 575639 h 575639"/>
              <a:gd name="connsiteX9" fmla="*/ 95942 w 8229600"/>
              <a:gd name="connsiteY9" fmla="*/ 575639 h 575639"/>
              <a:gd name="connsiteX10" fmla="*/ 28101 w 8229600"/>
              <a:gd name="connsiteY10" fmla="*/ 547538 h 575639"/>
              <a:gd name="connsiteX11" fmla="*/ 0 w 8229600"/>
              <a:gd name="connsiteY11" fmla="*/ 479697 h 575639"/>
              <a:gd name="connsiteX12" fmla="*/ 0 w 8229600"/>
              <a:gd name="connsiteY12" fmla="*/ 95942 h 57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75639">
                <a:moveTo>
                  <a:pt x="0" y="95942"/>
                </a:moveTo>
                <a:cubicBezTo>
                  <a:pt x="0" y="70497"/>
                  <a:pt x="10108" y="46093"/>
                  <a:pt x="28101" y="28101"/>
                </a:cubicBezTo>
                <a:cubicBezTo>
                  <a:pt x="46094" y="10108"/>
                  <a:pt x="70497" y="0"/>
                  <a:pt x="95942" y="0"/>
                </a:cubicBezTo>
                <a:lnTo>
                  <a:pt x="8133658" y="0"/>
                </a:lnTo>
                <a:cubicBezTo>
                  <a:pt x="8159103" y="0"/>
                  <a:pt x="8183507" y="10108"/>
                  <a:pt x="8201499" y="28101"/>
                </a:cubicBezTo>
                <a:cubicBezTo>
                  <a:pt x="8219492" y="46094"/>
                  <a:pt x="8229600" y="70497"/>
                  <a:pt x="8229600" y="95942"/>
                </a:cubicBezTo>
                <a:lnTo>
                  <a:pt x="8229600" y="479697"/>
                </a:lnTo>
                <a:cubicBezTo>
                  <a:pt x="8229600" y="505142"/>
                  <a:pt x="8219492" y="529546"/>
                  <a:pt x="8201499" y="547538"/>
                </a:cubicBezTo>
                <a:cubicBezTo>
                  <a:pt x="8183506" y="565531"/>
                  <a:pt x="8159103" y="575639"/>
                  <a:pt x="8133658" y="575639"/>
                </a:cubicBezTo>
                <a:lnTo>
                  <a:pt x="95942" y="575639"/>
                </a:lnTo>
                <a:cubicBezTo>
                  <a:pt x="70497" y="575639"/>
                  <a:pt x="46093" y="565531"/>
                  <a:pt x="28101" y="547538"/>
                </a:cubicBezTo>
                <a:cubicBezTo>
                  <a:pt x="10108" y="529545"/>
                  <a:pt x="0" y="505142"/>
                  <a:pt x="0" y="479697"/>
                </a:cubicBezTo>
                <a:lnTo>
                  <a:pt x="0" y="95942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9540" tIns="119540" rIns="119540" bIns="119540" numCol="1" spcCol="1270" anchor="ctr" anchorCtr="0">
            <a:noAutofit/>
          </a:bodyPr>
          <a:lstStyle/>
          <a:p>
            <a:pPr lvl="0" algn="l" defTabSz="10668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7. Promoting spread of candid and credible knowledge only</a:t>
            </a:r>
            <a:endParaRPr lang="en-GB" sz="2400" kern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/>
          <p:cNvGraphicFramePr/>
          <p:nvPr/>
        </p:nvGraphicFramePr>
        <p:xfrm>
          <a:off x="457200" y="2746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Freeform 8"/>
          <p:cNvSpPr/>
          <p:nvPr/>
        </p:nvSpPr>
        <p:spPr>
          <a:xfrm>
            <a:off x="457200" y="1602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8. Establishing agenda and timelines to keep meetings focussed</a:t>
            </a:r>
            <a:endParaRPr lang="en-GB" sz="2400" kern="1200" dirty="0"/>
          </a:p>
        </p:txBody>
      </p:sp>
      <p:sp>
        <p:nvSpPr>
          <p:cNvPr id="10" name="Freeform 9"/>
          <p:cNvSpPr/>
          <p:nvPr/>
        </p:nvSpPr>
        <p:spPr>
          <a:xfrm>
            <a:off x="457200" y="2169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9. Agitating habitually quiet members to take part in discussion </a:t>
            </a:r>
            <a:endParaRPr lang="en-GB" sz="2400" kern="1200" dirty="0"/>
          </a:p>
        </p:txBody>
      </p:sp>
      <p:sp>
        <p:nvSpPr>
          <p:cNvPr id="11" name="Freeform 10"/>
          <p:cNvSpPr/>
          <p:nvPr/>
        </p:nvSpPr>
        <p:spPr>
          <a:xfrm>
            <a:off x="457200" y="2736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10. Promoting acceptance and tolerance</a:t>
            </a:r>
            <a:endParaRPr lang="en-GB" sz="2400" kern="1200" dirty="0"/>
          </a:p>
        </p:txBody>
      </p:sp>
      <p:sp>
        <p:nvSpPr>
          <p:cNvPr id="12" name="Freeform 11"/>
          <p:cNvSpPr/>
          <p:nvPr/>
        </p:nvSpPr>
        <p:spPr>
          <a:xfrm>
            <a:off x="457200" y="3303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11. Justifying workload distribution </a:t>
            </a:r>
            <a:r>
              <a:rPr lang="en-GB" sz="2400" kern="1200" dirty="0" err="1" smtClean="0"/>
              <a:t>w.r.t</a:t>
            </a:r>
            <a:r>
              <a:rPr lang="en-GB" sz="2400" kern="1200" dirty="0" smtClean="0"/>
              <a:t> capacity &amp; competence</a:t>
            </a:r>
            <a:endParaRPr lang="en-GB" sz="2400" kern="1200" dirty="0"/>
          </a:p>
        </p:txBody>
      </p:sp>
      <p:sp>
        <p:nvSpPr>
          <p:cNvPr id="13" name="Freeform 12"/>
          <p:cNvSpPr/>
          <p:nvPr/>
        </p:nvSpPr>
        <p:spPr>
          <a:xfrm>
            <a:off x="457200" y="3870269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12. Blending human skills on priority – Sympathy Vs Empathy</a:t>
            </a:r>
            <a:endParaRPr lang="en-GB" sz="2400" kern="1200" dirty="0"/>
          </a:p>
        </p:txBody>
      </p:sp>
      <p:sp>
        <p:nvSpPr>
          <p:cNvPr id="14" name="Freeform 13"/>
          <p:cNvSpPr/>
          <p:nvPr/>
        </p:nvSpPr>
        <p:spPr>
          <a:xfrm>
            <a:off x="457200" y="4437268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13. Developing selflessness and dedication</a:t>
            </a:r>
            <a:endParaRPr lang="en-GB" sz="2400" kern="1200" dirty="0"/>
          </a:p>
        </p:txBody>
      </p:sp>
      <p:sp>
        <p:nvSpPr>
          <p:cNvPr id="15" name="Freeform 14"/>
          <p:cNvSpPr/>
          <p:nvPr/>
        </p:nvSpPr>
        <p:spPr>
          <a:xfrm>
            <a:off x="457200" y="5004268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14. Developing collaboration and flexibility</a:t>
            </a:r>
            <a:endParaRPr lang="en-GB" sz="2400" kern="1200" dirty="0"/>
          </a:p>
        </p:txBody>
      </p:sp>
      <p:sp>
        <p:nvSpPr>
          <p:cNvPr id="16" name="Freeform 15"/>
          <p:cNvSpPr/>
          <p:nvPr/>
        </p:nvSpPr>
        <p:spPr>
          <a:xfrm>
            <a:off x="457200" y="5571268"/>
            <a:ext cx="8229600" cy="552824"/>
          </a:xfrm>
          <a:custGeom>
            <a:avLst/>
            <a:gdLst>
              <a:gd name="connsiteX0" fmla="*/ 0 w 8229600"/>
              <a:gd name="connsiteY0" fmla="*/ 92139 h 552824"/>
              <a:gd name="connsiteX1" fmla="*/ 26987 w 8229600"/>
              <a:gd name="connsiteY1" fmla="*/ 26987 h 552824"/>
              <a:gd name="connsiteX2" fmla="*/ 92139 w 8229600"/>
              <a:gd name="connsiteY2" fmla="*/ 0 h 552824"/>
              <a:gd name="connsiteX3" fmla="*/ 8137461 w 8229600"/>
              <a:gd name="connsiteY3" fmla="*/ 0 h 552824"/>
              <a:gd name="connsiteX4" fmla="*/ 8202613 w 8229600"/>
              <a:gd name="connsiteY4" fmla="*/ 26987 h 552824"/>
              <a:gd name="connsiteX5" fmla="*/ 8229600 w 8229600"/>
              <a:gd name="connsiteY5" fmla="*/ 92139 h 552824"/>
              <a:gd name="connsiteX6" fmla="*/ 8229600 w 8229600"/>
              <a:gd name="connsiteY6" fmla="*/ 460685 h 552824"/>
              <a:gd name="connsiteX7" fmla="*/ 8202613 w 8229600"/>
              <a:gd name="connsiteY7" fmla="*/ 525837 h 552824"/>
              <a:gd name="connsiteX8" fmla="*/ 8137461 w 8229600"/>
              <a:gd name="connsiteY8" fmla="*/ 552824 h 552824"/>
              <a:gd name="connsiteX9" fmla="*/ 92139 w 8229600"/>
              <a:gd name="connsiteY9" fmla="*/ 552824 h 552824"/>
              <a:gd name="connsiteX10" fmla="*/ 26987 w 8229600"/>
              <a:gd name="connsiteY10" fmla="*/ 525837 h 552824"/>
              <a:gd name="connsiteX11" fmla="*/ 0 w 8229600"/>
              <a:gd name="connsiteY11" fmla="*/ 460685 h 552824"/>
              <a:gd name="connsiteX12" fmla="*/ 0 w 8229600"/>
              <a:gd name="connsiteY12" fmla="*/ 92139 h 55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229600" h="552824">
                <a:moveTo>
                  <a:pt x="0" y="92139"/>
                </a:moveTo>
                <a:cubicBezTo>
                  <a:pt x="0" y="67702"/>
                  <a:pt x="9708" y="44266"/>
                  <a:pt x="26987" y="26987"/>
                </a:cubicBezTo>
                <a:cubicBezTo>
                  <a:pt x="44266" y="9708"/>
                  <a:pt x="67702" y="0"/>
                  <a:pt x="92139" y="0"/>
                </a:cubicBezTo>
                <a:lnTo>
                  <a:pt x="8137461" y="0"/>
                </a:lnTo>
                <a:cubicBezTo>
                  <a:pt x="8161898" y="0"/>
                  <a:pt x="8185334" y="9708"/>
                  <a:pt x="8202613" y="26987"/>
                </a:cubicBezTo>
                <a:cubicBezTo>
                  <a:pt x="8219892" y="44266"/>
                  <a:pt x="8229600" y="67702"/>
                  <a:pt x="8229600" y="92139"/>
                </a:cubicBezTo>
                <a:lnTo>
                  <a:pt x="8229600" y="460685"/>
                </a:lnTo>
                <a:cubicBezTo>
                  <a:pt x="8229600" y="485122"/>
                  <a:pt x="8219893" y="508558"/>
                  <a:pt x="8202613" y="525837"/>
                </a:cubicBezTo>
                <a:cubicBezTo>
                  <a:pt x="8185334" y="543116"/>
                  <a:pt x="8161898" y="552824"/>
                  <a:pt x="8137461" y="552824"/>
                </a:cubicBezTo>
                <a:lnTo>
                  <a:pt x="92139" y="552824"/>
                </a:lnTo>
                <a:cubicBezTo>
                  <a:pt x="67702" y="552824"/>
                  <a:pt x="44266" y="543116"/>
                  <a:pt x="26987" y="525837"/>
                </a:cubicBezTo>
                <a:cubicBezTo>
                  <a:pt x="9708" y="508558"/>
                  <a:pt x="0" y="485122"/>
                  <a:pt x="0" y="460685"/>
                </a:cubicBezTo>
                <a:lnTo>
                  <a:pt x="0" y="92139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accent5">
              <a:shade val="80000"/>
              <a:hueOff val="0"/>
              <a:satOff val="0"/>
              <a:lumOff val="0"/>
              <a:alphaOff val="0"/>
            </a:schemeClr>
          </a:lnRef>
          <a:fillRef idx="3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667" tIns="133667" rIns="133667" bIns="133667" numCol="1" spcCol="1270" anchor="ctr" anchorCtr="0">
            <a:noAutofit/>
          </a:bodyPr>
          <a:lstStyle/>
          <a:p>
            <a:pPr lvl="0" algn="l" defTabSz="124460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GB" sz="2400" kern="1200" dirty="0" smtClean="0"/>
              <a:t>15. Developing creativity, innovation </a:t>
            </a:r>
            <a:r>
              <a:rPr lang="en-GB" sz="2400" dirty="0"/>
              <a:t>&amp;</a:t>
            </a:r>
            <a:r>
              <a:rPr lang="en-GB" sz="2400" kern="1200" dirty="0" smtClean="0"/>
              <a:t> out-of-the-box thinking</a:t>
            </a:r>
            <a:endParaRPr lang="en-GB" sz="2400" kern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Box 4"/>
          <p:cNvSpPr txBox="1">
            <a:spLocks noChangeArrowheads="1"/>
          </p:cNvSpPr>
          <p:nvPr/>
        </p:nvSpPr>
        <p:spPr bwMode="auto">
          <a:xfrm>
            <a:off x="1006475" y="2873375"/>
            <a:ext cx="71310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600">
                <a:solidFill>
                  <a:srgbClr val="0070C0"/>
                </a:solidFill>
              </a:rPr>
              <a:t>Thanks You</a:t>
            </a:r>
          </a:p>
        </p:txBody>
      </p:sp>
    </p:spTree>
    <p:extLst>
      <p:ext uri="{BB962C8B-B14F-4D97-AF65-F5344CB8AC3E}">
        <p14:creationId xmlns:p14="http://schemas.microsoft.com/office/powerpoint/2010/main" val="229419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2281</TotalTime>
  <Words>979</Words>
  <Application>Microsoft Office PowerPoint</Application>
  <PresentationFormat>On-screen Show (4:3)</PresentationFormat>
  <Paragraphs>135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Contemporary Issues in  Team Work</dc:title>
  <dc:creator>Kashif Azam</dc:creator>
  <cp:lastModifiedBy>BUKC</cp:lastModifiedBy>
  <cp:revision>56</cp:revision>
  <dcterms:created xsi:type="dcterms:W3CDTF">2006-08-16T00:00:00Z</dcterms:created>
  <dcterms:modified xsi:type="dcterms:W3CDTF">2025-09-11T04:48:12Z</dcterms:modified>
</cp:coreProperties>
</file>