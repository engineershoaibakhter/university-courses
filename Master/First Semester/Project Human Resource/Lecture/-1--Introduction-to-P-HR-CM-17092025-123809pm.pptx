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47" r:id="rId2"/>
  </p:sldMasterIdLst>
  <p:notesMasterIdLst>
    <p:notesMasterId r:id="rId74"/>
  </p:notesMasterIdLst>
  <p:handoutMasterIdLst>
    <p:handoutMasterId r:id="rId75"/>
  </p:handoutMasterIdLst>
  <p:sldIdLst>
    <p:sldId id="545" r:id="rId3"/>
    <p:sldId id="485" r:id="rId4"/>
    <p:sldId id="498" r:id="rId5"/>
    <p:sldId id="453" r:id="rId6"/>
    <p:sldId id="454" r:id="rId7"/>
    <p:sldId id="456" r:id="rId8"/>
    <p:sldId id="459" r:id="rId9"/>
    <p:sldId id="484" r:id="rId10"/>
    <p:sldId id="499" r:id="rId11"/>
    <p:sldId id="463" r:id="rId12"/>
    <p:sldId id="460" r:id="rId13"/>
    <p:sldId id="462" r:id="rId14"/>
    <p:sldId id="552" r:id="rId15"/>
    <p:sldId id="505" r:id="rId16"/>
    <p:sldId id="506" r:id="rId17"/>
    <p:sldId id="508" r:id="rId18"/>
    <p:sldId id="271" r:id="rId19"/>
    <p:sldId id="272" r:id="rId20"/>
    <p:sldId id="547" r:id="rId21"/>
    <p:sldId id="559" r:id="rId22"/>
    <p:sldId id="510" r:id="rId23"/>
    <p:sldId id="549" r:id="rId24"/>
    <p:sldId id="548" r:id="rId25"/>
    <p:sldId id="550" r:id="rId26"/>
    <p:sldId id="551" r:id="rId27"/>
    <p:sldId id="553" r:id="rId28"/>
    <p:sldId id="554" r:id="rId29"/>
    <p:sldId id="555" r:id="rId30"/>
    <p:sldId id="267" r:id="rId31"/>
    <p:sldId id="556" r:id="rId32"/>
    <p:sldId id="281" r:id="rId33"/>
    <p:sldId id="282" r:id="rId34"/>
    <p:sldId id="283" r:id="rId35"/>
    <p:sldId id="284" r:id="rId36"/>
    <p:sldId id="557" r:id="rId37"/>
    <p:sldId id="546" r:id="rId38"/>
    <p:sldId id="558" r:id="rId39"/>
    <p:sldId id="352" r:id="rId40"/>
    <p:sldId id="351" r:id="rId41"/>
    <p:sldId id="369" r:id="rId42"/>
    <p:sldId id="361" r:id="rId43"/>
    <p:sldId id="360" r:id="rId44"/>
    <p:sldId id="363" r:id="rId45"/>
    <p:sldId id="327" r:id="rId46"/>
    <p:sldId id="353" r:id="rId47"/>
    <p:sldId id="328" r:id="rId48"/>
    <p:sldId id="329" r:id="rId49"/>
    <p:sldId id="330" r:id="rId50"/>
    <p:sldId id="331" r:id="rId51"/>
    <p:sldId id="333" r:id="rId52"/>
    <p:sldId id="370" r:id="rId53"/>
    <p:sldId id="371" r:id="rId54"/>
    <p:sldId id="364" r:id="rId55"/>
    <p:sldId id="372" r:id="rId56"/>
    <p:sldId id="366" r:id="rId57"/>
    <p:sldId id="374" r:id="rId58"/>
    <p:sldId id="375" r:id="rId59"/>
    <p:sldId id="376" r:id="rId60"/>
    <p:sldId id="377" r:id="rId61"/>
    <p:sldId id="378" r:id="rId62"/>
    <p:sldId id="379" r:id="rId63"/>
    <p:sldId id="380" r:id="rId64"/>
    <p:sldId id="381" r:id="rId65"/>
    <p:sldId id="386" r:id="rId66"/>
    <p:sldId id="387" r:id="rId67"/>
    <p:sldId id="388" r:id="rId68"/>
    <p:sldId id="389" r:id="rId69"/>
    <p:sldId id="390" r:id="rId70"/>
    <p:sldId id="391" r:id="rId71"/>
    <p:sldId id="392" r:id="rId72"/>
    <p:sldId id="368" r:id="rId7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111"/>
    <a:srgbClr val="FF9933"/>
    <a:srgbClr val="FFFF00"/>
    <a:srgbClr val="FF66FF"/>
    <a:srgbClr val="CC6600"/>
    <a:srgbClr val="CCCC00"/>
    <a:srgbClr val="FF6600"/>
    <a:srgbClr val="33CC33"/>
    <a:srgbClr val="FF006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1913" autoAdjust="0"/>
  </p:normalViewPr>
  <p:slideViewPr>
    <p:cSldViewPr>
      <p:cViewPr>
        <p:scale>
          <a:sx n="49" d="100"/>
          <a:sy n="49" d="100"/>
        </p:scale>
        <p:origin x="1776" y="3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A6970E68-11B6-4927-89B0-745EDC114206}" type="datetimeFigureOut">
              <a:rPr lang="en-US"/>
              <a:pPr>
                <a:defRPr/>
              </a:pPr>
              <a:t>9/13/2025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2AD64164-3B1E-4A7A-8901-33F2F490D9E7}" type="slidenum">
              <a:rPr lang="en-US"/>
              <a:pPr>
                <a:defRPr/>
              </a:pPr>
              <a:t>‹#›</a:t>
            </a:fld>
            <a:endParaRPr lang="en-US"/>
          </a:p>
        </p:txBody>
      </p:sp>
    </p:spTree>
    <p:extLst>
      <p:ext uri="{BB962C8B-B14F-4D97-AF65-F5344CB8AC3E}">
        <p14:creationId xmlns:p14="http://schemas.microsoft.com/office/powerpoint/2010/main" val="9571689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4EE3E38C-7B8C-4AD4-A597-8D99F3268CAB}" type="datetimeFigureOut">
              <a:rPr lang="en-US"/>
              <a:pPr>
                <a:defRPr/>
              </a:pPr>
              <a:t>9/13/2025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3D03AEA4-B87F-4B94-BA67-4B0DA6239E70}" type="slidenum">
              <a:rPr lang="en-GB"/>
              <a:pPr>
                <a:defRPr/>
              </a:pPr>
              <a:t>‹#›</a:t>
            </a:fld>
            <a:endParaRPr lang="en-GB"/>
          </a:p>
        </p:txBody>
      </p:sp>
    </p:spTree>
    <p:extLst>
      <p:ext uri="{BB962C8B-B14F-4D97-AF65-F5344CB8AC3E}">
        <p14:creationId xmlns:p14="http://schemas.microsoft.com/office/powerpoint/2010/main" val="3218944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defRPr>
            </a:lvl1pPr>
            <a:lvl2pPr marL="742950" indent="-285750" eaLnBrk="0" hangingPunct="0">
              <a:defRPr sz="2400" b="1">
                <a:solidFill>
                  <a:schemeClr val="tx1"/>
                </a:solidFill>
                <a:latin typeface="Arial" charset="0"/>
              </a:defRPr>
            </a:lvl2pPr>
            <a:lvl3pPr marL="1143000" indent="-228600" eaLnBrk="0" hangingPunct="0">
              <a:defRPr sz="2400" b="1">
                <a:solidFill>
                  <a:schemeClr val="tx1"/>
                </a:solidFill>
                <a:latin typeface="Arial" charset="0"/>
              </a:defRPr>
            </a:lvl3pPr>
            <a:lvl4pPr marL="1600200" indent="-228600" eaLnBrk="0" hangingPunct="0">
              <a:defRPr sz="2400" b="1">
                <a:solidFill>
                  <a:schemeClr val="tx1"/>
                </a:solidFill>
                <a:latin typeface="Arial" charset="0"/>
              </a:defRPr>
            </a:lvl4pPr>
            <a:lvl5pPr marL="2057400" indent="-228600" eaLnBrk="0" hangingPunct="0">
              <a:defRPr sz="2400" b="1">
                <a:solidFill>
                  <a:schemeClr val="tx1"/>
                </a:solidFill>
                <a:latin typeface="Arial" charset="0"/>
              </a:defRPr>
            </a:lvl5pPr>
            <a:lvl6pPr marL="2514600" indent="-228600" eaLnBrk="0" fontAlgn="base" hangingPunct="0">
              <a:spcBef>
                <a:spcPct val="0"/>
              </a:spcBef>
              <a:spcAft>
                <a:spcPct val="0"/>
              </a:spcAft>
              <a:defRPr sz="2400" b="1">
                <a:solidFill>
                  <a:schemeClr val="tx1"/>
                </a:solidFill>
                <a:latin typeface="Arial" charset="0"/>
              </a:defRPr>
            </a:lvl6pPr>
            <a:lvl7pPr marL="2971800" indent="-228600" eaLnBrk="0" fontAlgn="base" hangingPunct="0">
              <a:spcBef>
                <a:spcPct val="0"/>
              </a:spcBef>
              <a:spcAft>
                <a:spcPct val="0"/>
              </a:spcAft>
              <a:defRPr sz="2400" b="1">
                <a:solidFill>
                  <a:schemeClr val="tx1"/>
                </a:solidFill>
                <a:latin typeface="Arial" charset="0"/>
              </a:defRPr>
            </a:lvl7pPr>
            <a:lvl8pPr marL="3429000" indent="-228600" eaLnBrk="0" fontAlgn="base" hangingPunct="0">
              <a:spcBef>
                <a:spcPct val="0"/>
              </a:spcBef>
              <a:spcAft>
                <a:spcPct val="0"/>
              </a:spcAft>
              <a:defRPr sz="2400" b="1">
                <a:solidFill>
                  <a:schemeClr val="tx1"/>
                </a:solidFill>
                <a:latin typeface="Arial" charset="0"/>
              </a:defRPr>
            </a:lvl8pPr>
            <a:lvl9pPr marL="3886200" indent="-228600" eaLnBrk="0" fontAlgn="base" hangingPunct="0">
              <a:spcBef>
                <a:spcPct val="0"/>
              </a:spcBef>
              <a:spcAft>
                <a:spcPct val="0"/>
              </a:spcAft>
              <a:defRPr sz="2400" b="1">
                <a:solidFill>
                  <a:schemeClr val="tx1"/>
                </a:solidFill>
                <a:latin typeface="Arial" charset="0"/>
              </a:defRPr>
            </a:lvl9pPr>
          </a:lstStyle>
          <a:p>
            <a:pPr eaLnBrk="1" hangingPunct="1"/>
            <a:fld id="{ECD98DD3-E47E-41B4-AC73-2F2F44E3B1D5}" type="slidenum">
              <a:rPr lang="en-US" sz="1200" b="0" smtClean="0">
                <a:latin typeface="Times New Roman" pitchFamily="18" charset="0"/>
              </a:rPr>
              <a:pPr eaLnBrk="1" hangingPunct="1"/>
              <a:t>1</a:t>
            </a:fld>
            <a:endParaRPr lang="en-US" sz="1200" b="0">
              <a:latin typeface="Times New Roman"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685800" y="4343320"/>
            <a:ext cx="5486400" cy="411464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4354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2</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3</a:t>
            </a:fld>
            <a:endParaRPr lang="en-US">
              <a:solidFill>
                <a:srgbClr val="000000"/>
              </a:solidFill>
            </a:endParaRPr>
          </a:p>
        </p:txBody>
      </p:sp>
    </p:spTree>
    <p:extLst>
      <p:ext uri="{BB962C8B-B14F-4D97-AF65-F5344CB8AC3E}">
        <p14:creationId xmlns:p14="http://schemas.microsoft.com/office/powerpoint/2010/main" val="341300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4</a:t>
            </a:fld>
            <a:endParaRPr lang="en-US">
              <a:solidFill>
                <a:srgbClr val="000000"/>
              </a:solidFill>
            </a:endParaRPr>
          </a:p>
        </p:txBody>
      </p:sp>
    </p:spTree>
    <p:extLst>
      <p:ext uri="{BB962C8B-B14F-4D97-AF65-F5344CB8AC3E}">
        <p14:creationId xmlns:p14="http://schemas.microsoft.com/office/powerpoint/2010/main" val="3011744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5</a:t>
            </a:fld>
            <a:endParaRPr lang="en-US">
              <a:solidFill>
                <a:srgbClr val="000000"/>
              </a:solidFill>
            </a:endParaRPr>
          </a:p>
        </p:txBody>
      </p:sp>
    </p:spTree>
    <p:extLst>
      <p:ext uri="{BB962C8B-B14F-4D97-AF65-F5344CB8AC3E}">
        <p14:creationId xmlns:p14="http://schemas.microsoft.com/office/powerpoint/2010/main" val="2243453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6</a:t>
            </a:fld>
            <a:endParaRPr lang="en-US">
              <a:solidFill>
                <a:srgbClr val="000000"/>
              </a:solidFill>
            </a:endParaRPr>
          </a:p>
        </p:txBody>
      </p:sp>
    </p:spTree>
    <p:extLst>
      <p:ext uri="{BB962C8B-B14F-4D97-AF65-F5344CB8AC3E}">
        <p14:creationId xmlns:p14="http://schemas.microsoft.com/office/powerpoint/2010/main" val="1875752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7</a:t>
            </a:fld>
            <a:endParaRPr lang="en-US">
              <a:solidFill>
                <a:srgbClr val="000000"/>
              </a:solidFill>
            </a:endParaRPr>
          </a:p>
        </p:txBody>
      </p:sp>
    </p:spTree>
    <p:extLst>
      <p:ext uri="{BB962C8B-B14F-4D97-AF65-F5344CB8AC3E}">
        <p14:creationId xmlns:p14="http://schemas.microsoft.com/office/powerpoint/2010/main" val="2129106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8</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9</a:t>
            </a:fld>
            <a:endParaRPr lang="en-US">
              <a:solidFill>
                <a:srgbClr val="000000"/>
              </a:solidFill>
            </a:endParaRPr>
          </a:p>
        </p:txBody>
      </p:sp>
    </p:spTree>
    <p:extLst>
      <p:ext uri="{BB962C8B-B14F-4D97-AF65-F5344CB8AC3E}">
        <p14:creationId xmlns:p14="http://schemas.microsoft.com/office/powerpoint/2010/main" val="492210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10</a:t>
            </a:fld>
            <a:endParaRPr lang="en-US">
              <a:solidFill>
                <a:srgbClr val="000000"/>
              </a:solidFill>
            </a:endParaRPr>
          </a:p>
        </p:txBody>
      </p:sp>
    </p:spTree>
    <p:extLst>
      <p:ext uri="{BB962C8B-B14F-4D97-AF65-F5344CB8AC3E}">
        <p14:creationId xmlns:p14="http://schemas.microsoft.com/office/powerpoint/2010/main" val="665637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11</a:t>
            </a:fld>
            <a:endParaRPr lang="en-US">
              <a:solidFill>
                <a:srgbClr val="000000"/>
              </a:solidFill>
            </a:endParaRPr>
          </a:p>
        </p:txBody>
      </p:sp>
    </p:spTree>
    <p:extLst>
      <p:ext uri="{BB962C8B-B14F-4D97-AF65-F5344CB8AC3E}">
        <p14:creationId xmlns:p14="http://schemas.microsoft.com/office/powerpoint/2010/main" val="1504186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12</a:t>
            </a:fld>
            <a:endParaRPr lang="en-US">
              <a:solidFill>
                <a:srgbClr val="000000"/>
              </a:solidFill>
            </a:endParaRPr>
          </a:p>
        </p:txBody>
      </p:sp>
    </p:spTree>
    <p:extLst>
      <p:ext uri="{BB962C8B-B14F-4D97-AF65-F5344CB8AC3E}">
        <p14:creationId xmlns:p14="http://schemas.microsoft.com/office/powerpoint/2010/main" val="3879349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a:t>The incidence of both lower incomes due to economic crisis and persistent high food prices has proved to be a devastating combination for the world’s most vulnerable populations. </a:t>
            </a:r>
            <a:endParaRPr lang="en-GB" altLang="en-US"/>
          </a:p>
          <a:p>
            <a:pPr eaLnBrk="1" hangingPunct="1">
              <a:spcBef>
                <a:spcPct val="0"/>
              </a:spcBef>
            </a:pPr>
            <a:endParaRPr lang="en-GB" altLang="en-US"/>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Arial" panose="020B0604020202020204" pitchFamily="34" charset="0"/>
              </a:defRPr>
            </a:lvl1pPr>
            <a:lvl2pPr marL="742950" indent="-285750" defTabSz="927100">
              <a:spcBef>
                <a:spcPct val="30000"/>
              </a:spcBef>
              <a:defRPr sz="1200">
                <a:solidFill>
                  <a:schemeClr val="tx1"/>
                </a:solidFill>
                <a:latin typeface="Times New Roman" panose="02020603050405020304" pitchFamily="18" charset="0"/>
              </a:defRPr>
            </a:lvl2pPr>
            <a:lvl3pPr marL="1143000" indent="-228600" defTabSz="927100">
              <a:spcBef>
                <a:spcPct val="30000"/>
              </a:spcBef>
              <a:defRPr sz="1200">
                <a:solidFill>
                  <a:schemeClr val="tx1"/>
                </a:solidFill>
                <a:latin typeface="Times New Roman" panose="02020603050405020304" pitchFamily="18" charset="0"/>
              </a:defRPr>
            </a:lvl3pPr>
            <a:lvl4pPr marL="1600200" indent="-228600" defTabSz="927100">
              <a:spcBef>
                <a:spcPct val="30000"/>
              </a:spcBef>
              <a:defRPr sz="1200">
                <a:solidFill>
                  <a:schemeClr val="tx1"/>
                </a:solidFill>
                <a:latin typeface="Times New Roman" panose="02020603050405020304" pitchFamily="18" charset="0"/>
              </a:defRPr>
            </a:lvl4pPr>
            <a:lvl5pPr marL="2057400" indent="-228600" defTabSz="927100">
              <a:spcBef>
                <a:spcPct val="30000"/>
              </a:spcBef>
              <a:defRPr sz="1200">
                <a:solidFill>
                  <a:schemeClr val="tx1"/>
                </a:solidFill>
                <a:latin typeface="Times New Roman" panose="02020603050405020304" pitchFamily="18" charset="0"/>
              </a:defRPr>
            </a:lvl5pPr>
            <a:lvl6pPr marL="2514600" indent="-228600" defTabSz="9271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71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71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71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2F6CFFC-C99A-4A19-BCD5-2AF64BE36148}" type="slidenum">
              <a:rPr lang="en-US" altLang="en-US" sz="900">
                <a:solidFill>
                  <a:srgbClr val="000000"/>
                </a:solidFill>
              </a:rPr>
              <a:pPr>
                <a:spcBef>
                  <a:spcPct val="0"/>
                </a:spcBef>
              </a:pPr>
              <a:t>13</a:t>
            </a:fld>
            <a:endParaRPr lang="en-US" altLang="en-US" sz="900">
              <a:solidFill>
                <a:srgbClr val="000000"/>
              </a:solidFill>
            </a:endParaRPr>
          </a:p>
        </p:txBody>
      </p:sp>
    </p:spTree>
    <p:extLst>
      <p:ext uri="{BB962C8B-B14F-4D97-AF65-F5344CB8AC3E}">
        <p14:creationId xmlns:p14="http://schemas.microsoft.com/office/powerpoint/2010/main" val="313882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14</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15</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16</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19</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21</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The incidence of both lower incomes due to economic crisis and persistent high food prices has proved to be a devastating combination for the world’s most vulnerable populations. </a:t>
            </a:r>
            <a:endParaRPr lang="en-GB" dirty="0"/>
          </a:p>
          <a:p>
            <a:pPr eaLnBrk="1" hangingPunct="1">
              <a:spcBef>
                <a:spcPct val="0"/>
              </a:spcBef>
            </a:pPr>
            <a:endParaRPr lang="en-GB" dirty="0"/>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22</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23</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24</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incidence of both lower incomes due to economic crisis and persistent high food prices has proved to be a devastating combination for the world’s most vulnerable populations. </a:t>
            </a:r>
            <a:endParaRPr lang="en-GB"/>
          </a:p>
          <a:p>
            <a:pPr eaLnBrk="1" hangingPunct="1">
              <a:spcBef>
                <a:spcPct val="0"/>
              </a:spcBef>
            </a:pPr>
            <a:endParaRPr lang="en-GB"/>
          </a:p>
        </p:txBody>
      </p:sp>
      <p:sp>
        <p:nvSpPr>
          <p:cNvPr id="1382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4370CB-B1F0-4FCF-A1D7-052A58D762D6}" type="slidenum">
              <a:rPr lang="en-US" smtClean="0">
                <a:solidFill>
                  <a:srgbClr val="000000"/>
                </a:solidFill>
              </a:rPr>
              <a:pPr fontAlgn="base">
                <a:spcBef>
                  <a:spcPct val="0"/>
                </a:spcBef>
                <a:spcAft>
                  <a:spcPct val="0"/>
                </a:spcAft>
                <a:defRPr/>
              </a:pPr>
              <a:t>25</a:t>
            </a:fld>
            <a:endParaRPr lang="en-US">
              <a:solidFill>
                <a:srgbClr val="000000"/>
              </a:solidFill>
            </a:endParaRPr>
          </a:p>
        </p:txBody>
      </p:sp>
    </p:spTree>
    <p:extLst>
      <p:ext uri="{BB962C8B-B14F-4D97-AF65-F5344CB8AC3E}">
        <p14:creationId xmlns:p14="http://schemas.microsoft.com/office/powerpoint/2010/main" val="2299192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atin typeface="Arial" charset="0"/>
              </a:rPr>
              <a:t>The incidence of both lower incomes due to economic crisis and persistent high food prices has proved to be a devastating combination for the world’s most vulnerable populations. </a:t>
            </a:r>
            <a:endParaRPr lang="en-GB">
              <a:latin typeface="Arial" charset="0"/>
            </a:endParaRPr>
          </a:p>
          <a:p>
            <a:pPr eaLnBrk="1" hangingPunct="1">
              <a:spcBef>
                <a:spcPct val="0"/>
              </a:spcBef>
            </a:pPr>
            <a:endParaRPr lang="en-GB">
              <a:latin typeface="Arial" charset="0"/>
            </a:endParaRPr>
          </a:p>
        </p:txBody>
      </p:sp>
      <p:sp>
        <p:nvSpPr>
          <p:cNvPr id="138244" name="Slide Number Placeholder 3"/>
          <p:cNvSpPr>
            <a:spLocks noGrp="1"/>
          </p:cNvSpPr>
          <p:nvPr>
            <p:ph type="sldNum" sz="quarter" idx="5"/>
          </p:nvPr>
        </p:nvSpPr>
        <p:spPr/>
        <p:txBody>
          <a:bodyPr/>
          <a:lstStyle/>
          <a:p>
            <a:pPr>
              <a:defRPr/>
            </a:pPr>
            <a:fld id="{576DE1A9-FDD2-4AF9-A697-6EF0F3FCD0F8}" type="slidenum">
              <a:rPr lang="en-US" smtClean="0">
                <a:solidFill>
                  <a:srgbClr val="000000"/>
                </a:solidFill>
              </a:rPr>
              <a:pPr>
                <a:defRPr/>
              </a:pPr>
              <a:t>36</a:t>
            </a:fld>
            <a:endParaRPr lang="en-US">
              <a:solidFill>
                <a:srgbClr val="000000"/>
              </a:solidFill>
            </a:endParaRPr>
          </a:p>
        </p:txBody>
      </p:sp>
    </p:spTree>
    <p:extLst>
      <p:ext uri="{BB962C8B-B14F-4D97-AF65-F5344CB8AC3E}">
        <p14:creationId xmlns:p14="http://schemas.microsoft.com/office/powerpoint/2010/main" val="1265426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FAD12AEA-26D4-FACE-6026-A2E2FEA4BC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A89E56E-231F-47EF-BEF1-F097A3305A86}" type="slidenum">
              <a:rPr lang="en-US" altLang="en-US"/>
              <a:pPr>
                <a:spcBef>
                  <a:spcPct val="0"/>
                </a:spcBef>
              </a:pPr>
              <a:t>38</a:t>
            </a:fld>
            <a:endParaRPr lang="en-US" altLang="en-US"/>
          </a:p>
        </p:txBody>
      </p:sp>
      <p:sp>
        <p:nvSpPr>
          <p:cNvPr id="6147" name="Rectangle 2">
            <a:extLst>
              <a:ext uri="{FF2B5EF4-FFF2-40B4-BE49-F238E27FC236}">
                <a16:creationId xmlns:a16="http://schemas.microsoft.com/office/drawing/2014/main" id="{57E2B260-34C7-A73A-551C-BB640449C87E}"/>
              </a:ext>
            </a:extLst>
          </p:cNvPr>
          <p:cNvSpPr>
            <a:spLocks noChangeArrowheads="1" noTextEdit="1"/>
          </p:cNvSpPr>
          <p:nvPr>
            <p:ph type="sldImg"/>
          </p:nvPr>
        </p:nvSpPr>
        <p:spPr>
          <a:ln/>
        </p:spPr>
      </p:sp>
      <p:sp>
        <p:nvSpPr>
          <p:cNvPr id="6148" name="Rectangle 3">
            <a:extLst>
              <a:ext uri="{FF2B5EF4-FFF2-40B4-BE49-F238E27FC236}">
                <a16:creationId xmlns:a16="http://schemas.microsoft.com/office/drawing/2014/main" id="{E333A5F4-B000-6D81-BED9-77F0786B78BE}"/>
              </a:ext>
            </a:extLst>
          </p:cNvPr>
          <p:cNvSpPr>
            <a:spLocks noGrp="1" noChangeArrowheads="1"/>
          </p:cNvSpPr>
          <p:nvPr>
            <p:ph type="body" idx="1"/>
          </p:nvPr>
        </p:nvSpPr>
        <p:spPr>
          <a:xfrm>
            <a:off x="685800" y="4313238"/>
            <a:ext cx="5486400" cy="408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BC73966-C941-9C6E-C555-A7014639FC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6E36D65-035E-46B8-97E9-7E0F95E7BFFE}" type="slidenum">
              <a:rPr lang="en-US" altLang="en-US"/>
              <a:pPr>
                <a:spcBef>
                  <a:spcPct val="0"/>
                </a:spcBef>
              </a:pPr>
              <a:t>39</a:t>
            </a:fld>
            <a:endParaRPr lang="en-US" altLang="en-US"/>
          </a:p>
        </p:txBody>
      </p:sp>
      <p:sp>
        <p:nvSpPr>
          <p:cNvPr id="8195" name="Rectangle 2">
            <a:extLst>
              <a:ext uri="{FF2B5EF4-FFF2-40B4-BE49-F238E27FC236}">
                <a16:creationId xmlns:a16="http://schemas.microsoft.com/office/drawing/2014/main" id="{BC534D52-5360-D26E-9788-D8B84C1062B9}"/>
              </a:ext>
            </a:extLst>
          </p:cNvPr>
          <p:cNvSpPr>
            <a:spLocks noChangeArrowheads="1" noTextEdit="1"/>
          </p:cNvSpPr>
          <p:nvPr>
            <p:ph type="sldImg"/>
          </p:nvPr>
        </p:nvSpPr>
        <p:spPr>
          <a:ln/>
        </p:spPr>
      </p:sp>
      <p:sp>
        <p:nvSpPr>
          <p:cNvPr id="8196" name="Rectangle 3">
            <a:extLst>
              <a:ext uri="{FF2B5EF4-FFF2-40B4-BE49-F238E27FC236}">
                <a16:creationId xmlns:a16="http://schemas.microsoft.com/office/drawing/2014/main" id="{F59769C0-B05F-B254-C0C0-A45192AD00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25C0C840-8544-3CB0-9CC5-8D6B41F04F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DA6E61-71BD-4D1A-A10E-ACA495B0FBF4}" type="slidenum">
              <a:rPr lang="en-US" altLang="en-US"/>
              <a:pPr>
                <a:spcBef>
                  <a:spcPct val="0"/>
                </a:spcBef>
              </a:pPr>
              <a:t>40</a:t>
            </a:fld>
            <a:endParaRPr lang="en-US" altLang="en-US"/>
          </a:p>
        </p:txBody>
      </p:sp>
      <p:sp>
        <p:nvSpPr>
          <p:cNvPr id="10243" name="Rectangle 2">
            <a:extLst>
              <a:ext uri="{FF2B5EF4-FFF2-40B4-BE49-F238E27FC236}">
                <a16:creationId xmlns:a16="http://schemas.microsoft.com/office/drawing/2014/main" id="{4397D4C8-BEC0-5E1C-AFBA-241CE776E913}"/>
              </a:ext>
            </a:extLst>
          </p:cNvPr>
          <p:cNvSpPr>
            <a:spLocks noChangeArrowheads="1" noTextEdit="1"/>
          </p:cNvSpPr>
          <p:nvPr>
            <p:ph type="sldImg"/>
          </p:nvPr>
        </p:nvSpPr>
        <p:spPr>
          <a:ln/>
        </p:spPr>
      </p:sp>
      <p:sp>
        <p:nvSpPr>
          <p:cNvPr id="10244" name="Rectangle 3">
            <a:extLst>
              <a:ext uri="{FF2B5EF4-FFF2-40B4-BE49-F238E27FC236}">
                <a16:creationId xmlns:a16="http://schemas.microsoft.com/office/drawing/2014/main" id="{1E131640-1F9B-4158-CED5-B142206887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C86D86BF-231B-C152-5BA6-E3B29B8C90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84B82B6-6781-43C6-B4EC-112AE49D4E50}" type="slidenum">
              <a:rPr lang="en-US" altLang="en-US"/>
              <a:pPr>
                <a:spcBef>
                  <a:spcPct val="0"/>
                </a:spcBef>
              </a:pPr>
              <a:t>41</a:t>
            </a:fld>
            <a:endParaRPr lang="en-US" altLang="en-US"/>
          </a:p>
        </p:txBody>
      </p:sp>
      <p:sp>
        <p:nvSpPr>
          <p:cNvPr id="12291" name="Rectangle 2">
            <a:extLst>
              <a:ext uri="{FF2B5EF4-FFF2-40B4-BE49-F238E27FC236}">
                <a16:creationId xmlns:a16="http://schemas.microsoft.com/office/drawing/2014/main" id="{0C198D9C-6515-13B2-7331-23CBBE58578C}"/>
              </a:ext>
            </a:extLst>
          </p:cNvPr>
          <p:cNvSpPr>
            <a:spLocks noChangeArrowheads="1" noTextEdit="1"/>
          </p:cNvSpPr>
          <p:nvPr>
            <p:ph type="sldImg"/>
          </p:nvPr>
        </p:nvSpPr>
        <p:spPr>
          <a:ln/>
        </p:spPr>
      </p:sp>
      <p:sp>
        <p:nvSpPr>
          <p:cNvPr id="12292" name="Rectangle 3">
            <a:extLst>
              <a:ext uri="{FF2B5EF4-FFF2-40B4-BE49-F238E27FC236}">
                <a16:creationId xmlns:a16="http://schemas.microsoft.com/office/drawing/2014/main" id="{2321CB6B-4611-F3B0-80CA-600DBAC992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78FF3736-EA03-7941-4FB1-59935A0C34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8F4132-1BC3-4D68-8D82-94E245DBF68C}" type="slidenum">
              <a:rPr lang="en-US" altLang="en-US"/>
              <a:pPr>
                <a:spcBef>
                  <a:spcPct val="0"/>
                </a:spcBef>
              </a:pPr>
              <a:t>42</a:t>
            </a:fld>
            <a:endParaRPr lang="en-US" altLang="en-US"/>
          </a:p>
        </p:txBody>
      </p:sp>
      <p:sp>
        <p:nvSpPr>
          <p:cNvPr id="14339" name="Rectangle 2">
            <a:extLst>
              <a:ext uri="{FF2B5EF4-FFF2-40B4-BE49-F238E27FC236}">
                <a16:creationId xmlns:a16="http://schemas.microsoft.com/office/drawing/2014/main" id="{CE112F2F-ABF1-1348-BC01-5B24DF22D855}"/>
              </a:ext>
            </a:extLst>
          </p:cNvPr>
          <p:cNvSpPr>
            <a:spLocks noChangeArrowheads="1" noTextEdit="1"/>
          </p:cNvSpPr>
          <p:nvPr>
            <p:ph type="sldImg"/>
          </p:nvPr>
        </p:nvSpPr>
        <p:spPr>
          <a:ln/>
        </p:spPr>
      </p:sp>
      <p:sp>
        <p:nvSpPr>
          <p:cNvPr id="14340" name="Rectangle 3">
            <a:extLst>
              <a:ext uri="{FF2B5EF4-FFF2-40B4-BE49-F238E27FC236}">
                <a16:creationId xmlns:a16="http://schemas.microsoft.com/office/drawing/2014/main" id="{E8B36A5E-B135-7B56-A552-FEB95D7984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53B4778A-CD71-E33B-8707-D851BAA32A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7C44732-E986-4058-9803-DFA4B1EC5667}" type="slidenum">
              <a:rPr lang="en-US" altLang="en-US"/>
              <a:pPr>
                <a:spcBef>
                  <a:spcPct val="0"/>
                </a:spcBef>
              </a:pPr>
              <a:t>43</a:t>
            </a:fld>
            <a:endParaRPr lang="en-US" altLang="en-US"/>
          </a:p>
        </p:txBody>
      </p:sp>
      <p:sp>
        <p:nvSpPr>
          <p:cNvPr id="16387" name="Rectangle 2">
            <a:extLst>
              <a:ext uri="{FF2B5EF4-FFF2-40B4-BE49-F238E27FC236}">
                <a16:creationId xmlns:a16="http://schemas.microsoft.com/office/drawing/2014/main" id="{F7A970A6-0D26-9E6C-67D0-8711799D2371}"/>
              </a:ext>
            </a:extLst>
          </p:cNvPr>
          <p:cNvSpPr>
            <a:spLocks noChangeArrowheads="1" noTextEdit="1"/>
          </p:cNvSpPr>
          <p:nvPr>
            <p:ph type="sldImg"/>
          </p:nvPr>
        </p:nvSpPr>
        <p:spPr>
          <a:ln/>
        </p:spPr>
      </p:sp>
      <p:sp>
        <p:nvSpPr>
          <p:cNvPr id="16388" name="Rectangle 3">
            <a:extLst>
              <a:ext uri="{FF2B5EF4-FFF2-40B4-BE49-F238E27FC236}">
                <a16:creationId xmlns:a16="http://schemas.microsoft.com/office/drawing/2014/main" id="{B4D6F601-2CA2-7982-A30B-4498424CB3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5C8BFE0-3D66-8095-E88D-986C4D0A5E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CBD68D2-BB8C-4166-A626-D75FB755FCA2}" type="slidenum">
              <a:rPr lang="en-US" altLang="en-US"/>
              <a:pPr>
                <a:spcBef>
                  <a:spcPct val="0"/>
                </a:spcBef>
              </a:pPr>
              <a:t>44</a:t>
            </a:fld>
            <a:endParaRPr lang="en-US" altLang="en-US"/>
          </a:p>
        </p:txBody>
      </p:sp>
      <p:sp>
        <p:nvSpPr>
          <p:cNvPr id="18435" name="Rectangle 2">
            <a:extLst>
              <a:ext uri="{FF2B5EF4-FFF2-40B4-BE49-F238E27FC236}">
                <a16:creationId xmlns:a16="http://schemas.microsoft.com/office/drawing/2014/main" id="{1A1CA371-C393-A971-E7DC-3EF73C17D8A0}"/>
              </a:ext>
            </a:extLst>
          </p:cNvPr>
          <p:cNvSpPr>
            <a:spLocks noChangeArrowheads="1" noTextEdit="1"/>
          </p:cNvSpPr>
          <p:nvPr>
            <p:ph type="sldImg"/>
          </p:nvPr>
        </p:nvSpPr>
        <p:spPr>
          <a:ln/>
        </p:spPr>
      </p:sp>
      <p:sp>
        <p:nvSpPr>
          <p:cNvPr id="18436" name="Rectangle 3">
            <a:extLst>
              <a:ext uri="{FF2B5EF4-FFF2-40B4-BE49-F238E27FC236}">
                <a16:creationId xmlns:a16="http://schemas.microsoft.com/office/drawing/2014/main" id="{C20D6057-3E81-0410-F3D5-D2176F9B4D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9F480613-3052-05BF-32CE-5602103E8B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620D20-9250-4D91-958F-52A27DA155EE}" type="slidenum">
              <a:rPr lang="en-US" altLang="en-US"/>
              <a:pPr>
                <a:spcBef>
                  <a:spcPct val="0"/>
                </a:spcBef>
              </a:pPr>
              <a:t>45</a:t>
            </a:fld>
            <a:endParaRPr lang="en-US" altLang="en-US"/>
          </a:p>
        </p:txBody>
      </p:sp>
      <p:sp>
        <p:nvSpPr>
          <p:cNvPr id="20483" name="Rectangle 2">
            <a:extLst>
              <a:ext uri="{FF2B5EF4-FFF2-40B4-BE49-F238E27FC236}">
                <a16:creationId xmlns:a16="http://schemas.microsoft.com/office/drawing/2014/main" id="{DBF05C68-7F61-1A98-9993-A72D06CDD3D5}"/>
              </a:ext>
            </a:extLst>
          </p:cNvPr>
          <p:cNvSpPr>
            <a:spLocks noChangeArrowheads="1" noTextEdit="1"/>
          </p:cNvSpPr>
          <p:nvPr>
            <p:ph type="sldImg"/>
          </p:nvPr>
        </p:nvSpPr>
        <p:spPr>
          <a:ln/>
        </p:spPr>
      </p:sp>
      <p:sp>
        <p:nvSpPr>
          <p:cNvPr id="20484" name="Rectangle 3">
            <a:extLst>
              <a:ext uri="{FF2B5EF4-FFF2-40B4-BE49-F238E27FC236}">
                <a16:creationId xmlns:a16="http://schemas.microsoft.com/office/drawing/2014/main" id="{6F928953-2CA7-8DA7-FF4F-CC6F18774D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65CD5228-EF6D-3B9E-E035-91F70A9ABA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3207073-0A79-403C-86A0-066EF044C2C0}" type="slidenum">
              <a:rPr lang="en-US" altLang="en-US"/>
              <a:pPr>
                <a:spcBef>
                  <a:spcPct val="0"/>
                </a:spcBef>
              </a:pPr>
              <a:t>46</a:t>
            </a:fld>
            <a:endParaRPr lang="en-US" altLang="en-US"/>
          </a:p>
        </p:txBody>
      </p:sp>
      <p:sp>
        <p:nvSpPr>
          <p:cNvPr id="22531" name="Rectangle 2">
            <a:extLst>
              <a:ext uri="{FF2B5EF4-FFF2-40B4-BE49-F238E27FC236}">
                <a16:creationId xmlns:a16="http://schemas.microsoft.com/office/drawing/2014/main" id="{9C93B75F-37D3-1E82-2F50-EEEB4C281953}"/>
              </a:ext>
            </a:extLst>
          </p:cNvPr>
          <p:cNvSpPr>
            <a:spLocks noChangeArrowheads="1" noTextEdit="1"/>
          </p:cNvSpPr>
          <p:nvPr>
            <p:ph type="sldImg"/>
          </p:nvPr>
        </p:nvSpPr>
        <p:spPr>
          <a:ln/>
        </p:spPr>
      </p:sp>
      <p:sp>
        <p:nvSpPr>
          <p:cNvPr id="22532" name="Rectangle 3">
            <a:extLst>
              <a:ext uri="{FF2B5EF4-FFF2-40B4-BE49-F238E27FC236}">
                <a16:creationId xmlns:a16="http://schemas.microsoft.com/office/drawing/2014/main" id="{DE79A8F4-8097-26AA-82BF-367C12BE0B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FA334174-CDD2-7377-5479-C74112F387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0D81146-B118-480B-B55E-5EC097A0FBAE}" type="slidenum">
              <a:rPr lang="en-US" altLang="en-US"/>
              <a:pPr>
                <a:spcBef>
                  <a:spcPct val="0"/>
                </a:spcBef>
              </a:pPr>
              <a:t>47</a:t>
            </a:fld>
            <a:endParaRPr lang="en-US" altLang="en-US"/>
          </a:p>
        </p:txBody>
      </p:sp>
      <p:sp>
        <p:nvSpPr>
          <p:cNvPr id="24579" name="Rectangle 2">
            <a:extLst>
              <a:ext uri="{FF2B5EF4-FFF2-40B4-BE49-F238E27FC236}">
                <a16:creationId xmlns:a16="http://schemas.microsoft.com/office/drawing/2014/main" id="{94F31096-738E-8216-85E6-E91542BED91C}"/>
              </a:ext>
            </a:extLst>
          </p:cNvPr>
          <p:cNvSpPr>
            <a:spLocks noChangeArrowheads="1" noTextEdit="1"/>
          </p:cNvSpPr>
          <p:nvPr>
            <p:ph type="sldImg"/>
          </p:nvPr>
        </p:nvSpPr>
        <p:spPr>
          <a:ln/>
        </p:spPr>
      </p:sp>
      <p:sp>
        <p:nvSpPr>
          <p:cNvPr id="24580" name="Rectangle 3">
            <a:extLst>
              <a:ext uri="{FF2B5EF4-FFF2-40B4-BE49-F238E27FC236}">
                <a16:creationId xmlns:a16="http://schemas.microsoft.com/office/drawing/2014/main" id="{BD70CCA5-2415-9C42-85BE-AB78A534CE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D7DE3B58-9AE0-F93D-C15F-2F9217495A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EF5D821-3FDF-4D1D-9A5D-28E3A12BEDBC}" type="slidenum">
              <a:rPr lang="en-US" altLang="en-US"/>
              <a:pPr>
                <a:spcBef>
                  <a:spcPct val="0"/>
                </a:spcBef>
              </a:pPr>
              <a:t>48</a:t>
            </a:fld>
            <a:endParaRPr lang="en-US" altLang="en-US"/>
          </a:p>
        </p:txBody>
      </p:sp>
      <p:sp>
        <p:nvSpPr>
          <p:cNvPr id="26627" name="Rectangle 2">
            <a:extLst>
              <a:ext uri="{FF2B5EF4-FFF2-40B4-BE49-F238E27FC236}">
                <a16:creationId xmlns:a16="http://schemas.microsoft.com/office/drawing/2014/main" id="{F826D78A-8E8C-8A48-88C3-FCF28CC481C6}"/>
              </a:ext>
            </a:extLst>
          </p:cNvPr>
          <p:cNvSpPr>
            <a:spLocks noChangeArrowheads="1" noTextEdit="1"/>
          </p:cNvSpPr>
          <p:nvPr>
            <p:ph type="sldImg"/>
          </p:nvPr>
        </p:nvSpPr>
        <p:spPr>
          <a:ln/>
        </p:spPr>
      </p:sp>
      <p:sp>
        <p:nvSpPr>
          <p:cNvPr id="26628" name="Rectangle 3">
            <a:extLst>
              <a:ext uri="{FF2B5EF4-FFF2-40B4-BE49-F238E27FC236}">
                <a16:creationId xmlns:a16="http://schemas.microsoft.com/office/drawing/2014/main" id="{098249D1-C054-908F-AF41-B4FAC2325C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81EA37C0-7906-3B6F-FD39-C5F7941D74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B7D382-1B62-4868-B7BE-9D161618C1A9}" type="slidenum">
              <a:rPr lang="en-US" altLang="en-US"/>
              <a:pPr>
                <a:spcBef>
                  <a:spcPct val="0"/>
                </a:spcBef>
              </a:pPr>
              <a:t>49</a:t>
            </a:fld>
            <a:endParaRPr lang="en-US" altLang="en-US"/>
          </a:p>
        </p:txBody>
      </p:sp>
      <p:sp>
        <p:nvSpPr>
          <p:cNvPr id="28675" name="Rectangle 2">
            <a:extLst>
              <a:ext uri="{FF2B5EF4-FFF2-40B4-BE49-F238E27FC236}">
                <a16:creationId xmlns:a16="http://schemas.microsoft.com/office/drawing/2014/main" id="{145698B3-79B3-4B51-42EC-D5AB7F1E9BFA}"/>
              </a:ext>
            </a:extLst>
          </p:cNvPr>
          <p:cNvSpPr>
            <a:spLocks noChangeArrowheads="1" noTextEdit="1"/>
          </p:cNvSpPr>
          <p:nvPr>
            <p:ph type="sldImg"/>
          </p:nvPr>
        </p:nvSpPr>
        <p:spPr>
          <a:ln/>
        </p:spPr>
      </p:sp>
      <p:sp>
        <p:nvSpPr>
          <p:cNvPr id="28676" name="Rectangle 3">
            <a:extLst>
              <a:ext uri="{FF2B5EF4-FFF2-40B4-BE49-F238E27FC236}">
                <a16:creationId xmlns:a16="http://schemas.microsoft.com/office/drawing/2014/main" id="{467EB56F-0B3F-4EC5-4968-07E5E4238B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85C03FA-6787-3814-5EFA-D2B891A15B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2DEC9D8-CF3B-413E-8410-1C5CF106C33E}" type="slidenum">
              <a:rPr lang="en-US" altLang="en-US"/>
              <a:pPr>
                <a:spcBef>
                  <a:spcPct val="0"/>
                </a:spcBef>
              </a:pPr>
              <a:t>50</a:t>
            </a:fld>
            <a:endParaRPr lang="en-US" altLang="en-US"/>
          </a:p>
        </p:txBody>
      </p:sp>
      <p:sp>
        <p:nvSpPr>
          <p:cNvPr id="30723" name="Rectangle 2">
            <a:extLst>
              <a:ext uri="{FF2B5EF4-FFF2-40B4-BE49-F238E27FC236}">
                <a16:creationId xmlns:a16="http://schemas.microsoft.com/office/drawing/2014/main" id="{3D99E857-6EA9-B2E4-10A7-E1B7D27CD411}"/>
              </a:ext>
            </a:extLst>
          </p:cNvPr>
          <p:cNvSpPr>
            <a:spLocks noChangeArrowheads="1" noTextEdit="1"/>
          </p:cNvSpPr>
          <p:nvPr>
            <p:ph type="sldImg"/>
          </p:nvPr>
        </p:nvSpPr>
        <p:spPr>
          <a:ln/>
        </p:spPr>
      </p:sp>
      <p:sp>
        <p:nvSpPr>
          <p:cNvPr id="30724" name="Rectangle 3">
            <a:extLst>
              <a:ext uri="{FF2B5EF4-FFF2-40B4-BE49-F238E27FC236}">
                <a16:creationId xmlns:a16="http://schemas.microsoft.com/office/drawing/2014/main" id="{D609C318-41AD-E514-E3B5-0D947FAB84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7DD85F94-CD52-8BC0-5642-7B683E6DAF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4499D53-B39D-4293-BD30-3FB9B302FACF}" type="slidenum">
              <a:rPr lang="en-US" altLang="en-US"/>
              <a:pPr>
                <a:spcBef>
                  <a:spcPct val="0"/>
                </a:spcBef>
              </a:pPr>
              <a:t>51</a:t>
            </a:fld>
            <a:endParaRPr lang="en-US" altLang="en-US"/>
          </a:p>
        </p:txBody>
      </p:sp>
      <p:sp>
        <p:nvSpPr>
          <p:cNvPr id="32771" name="Rectangle 2">
            <a:extLst>
              <a:ext uri="{FF2B5EF4-FFF2-40B4-BE49-F238E27FC236}">
                <a16:creationId xmlns:a16="http://schemas.microsoft.com/office/drawing/2014/main" id="{C8C992A1-863F-541B-F29F-7909435223AB}"/>
              </a:ext>
            </a:extLst>
          </p:cNvPr>
          <p:cNvSpPr>
            <a:spLocks noChangeArrowheads="1" noTextEdit="1"/>
          </p:cNvSpPr>
          <p:nvPr>
            <p:ph type="sldImg"/>
          </p:nvPr>
        </p:nvSpPr>
        <p:spPr>
          <a:ln/>
        </p:spPr>
      </p:sp>
      <p:sp>
        <p:nvSpPr>
          <p:cNvPr id="32772" name="Rectangle 3">
            <a:extLst>
              <a:ext uri="{FF2B5EF4-FFF2-40B4-BE49-F238E27FC236}">
                <a16:creationId xmlns:a16="http://schemas.microsoft.com/office/drawing/2014/main" id="{870775EE-DC87-1F17-CD54-6DA4989F31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AEF694D3-97FE-6B80-901E-96138E9802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E51BD0-8741-41FE-B64F-5F0252BD2CD5}" type="slidenum">
              <a:rPr lang="en-US" altLang="en-US"/>
              <a:pPr>
                <a:spcBef>
                  <a:spcPct val="0"/>
                </a:spcBef>
              </a:pPr>
              <a:t>52</a:t>
            </a:fld>
            <a:endParaRPr lang="en-US" altLang="en-US"/>
          </a:p>
        </p:txBody>
      </p:sp>
      <p:sp>
        <p:nvSpPr>
          <p:cNvPr id="34819" name="Rectangle 2">
            <a:extLst>
              <a:ext uri="{FF2B5EF4-FFF2-40B4-BE49-F238E27FC236}">
                <a16:creationId xmlns:a16="http://schemas.microsoft.com/office/drawing/2014/main" id="{0B5B8422-925A-5C9F-F61C-4ED8F8595FE1}"/>
              </a:ext>
            </a:extLst>
          </p:cNvPr>
          <p:cNvSpPr>
            <a:spLocks noChangeArrowheads="1" noTextEdit="1"/>
          </p:cNvSpPr>
          <p:nvPr>
            <p:ph type="sldImg"/>
          </p:nvPr>
        </p:nvSpPr>
        <p:spPr>
          <a:ln/>
        </p:spPr>
      </p:sp>
      <p:sp>
        <p:nvSpPr>
          <p:cNvPr id="34820" name="Rectangle 3">
            <a:extLst>
              <a:ext uri="{FF2B5EF4-FFF2-40B4-BE49-F238E27FC236}">
                <a16:creationId xmlns:a16="http://schemas.microsoft.com/office/drawing/2014/main" id="{F4D4CD9D-BB4E-72B3-42FE-FF5B61D28C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1A3E2B5A-2A14-9891-49FE-09B5AFF712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A15BAAC-43B3-4450-A2F2-FFCFFDCA798C}" type="slidenum">
              <a:rPr lang="en-US" altLang="en-US"/>
              <a:pPr>
                <a:spcBef>
                  <a:spcPct val="0"/>
                </a:spcBef>
              </a:pPr>
              <a:t>53</a:t>
            </a:fld>
            <a:endParaRPr lang="en-US" altLang="en-US"/>
          </a:p>
        </p:txBody>
      </p:sp>
      <p:sp>
        <p:nvSpPr>
          <p:cNvPr id="36867" name="Rectangle 2">
            <a:extLst>
              <a:ext uri="{FF2B5EF4-FFF2-40B4-BE49-F238E27FC236}">
                <a16:creationId xmlns:a16="http://schemas.microsoft.com/office/drawing/2014/main" id="{80ACBC15-E803-1E7E-9FB4-53A1C7DDA0EA}"/>
              </a:ext>
            </a:extLst>
          </p:cNvPr>
          <p:cNvSpPr>
            <a:spLocks noChangeArrowheads="1" noTextEdit="1"/>
          </p:cNvSpPr>
          <p:nvPr>
            <p:ph type="sldImg"/>
          </p:nvPr>
        </p:nvSpPr>
        <p:spPr>
          <a:ln/>
        </p:spPr>
      </p:sp>
      <p:sp>
        <p:nvSpPr>
          <p:cNvPr id="36868" name="Rectangle 3">
            <a:extLst>
              <a:ext uri="{FF2B5EF4-FFF2-40B4-BE49-F238E27FC236}">
                <a16:creationId xmlns:a16="http://schemas.microsoft.com/office/drawing/2014/main" id="{595E10E4-423A-5D00-F655-EB7233D040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5B2A6222-C2E1-191F-532C-CC261D1693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BAB193-0B19-4133-93F3-20A9ADCC09B8}" type="slidenum">
              <a:rPr lang="en-US" altLang="en-US"/>
              <a:pPr>
                <a:spcBef>
                  <a:spcPct val="0"/>
                </a:spcBef>
              </a:pPr>
              <a:t>54</a:t>
            </a:fld>
            <a:endParaRPr lang="en-US" altLang="en-US"/>
          </a:p>
        </p:txBody>
      </p:sp>
      <p:sp>
        <p:nvSpPr>
          <p:cNvPr id="38915" name="Rectangle 2">
            <a:extLst>
              <a:ext uri="{FF2B5EF4-FFF2-40B4-BE49-F238E27FC236}">
                <a16:creationId xmlns:a16="http://schemas.microsoft.com/office/drawing/2014/main" id="{327FB631-54AC-05E3-8DF5-22E0A3A8C41D}"/>
              </a:ext>
            </a:extLst>
          </p:cNvPr>
          <p:cNvSpPr>
            <a:spLocks noChangeArrowheads="1" noTextEdit="1"/>
          </p:cNvSpPr>
          <p:nvPr>
            <p:ph type="sldImg"/>
          </p:nvPr>
        </p:nvSpPr>
        <p:spPr>
          <a:ln/>
        </p:spPr>
      </p:sp>
      <p:sp>
        <p:nvSpPr>
          <p:cNvPr id="38916" name="Rectangle 3">
            <a:extLst>
              <a:ext uri="{FF2B5EF4-FFF2-40B4-BE49-F238E27FC236}">
                <a16:creationId xmlns:a16="http://schemas.microsoft.com/office/drawing/2014/main" id="{95686A02-43E8-5387-5F18-759B5734C8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0B2C9B3-9572-4C4E-87C8-11F70C13E9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66ADC7E-948B-4453-8196-A39AFA53B5ED}" type="slidenum">
              <a:rPr lang="en-US" altLang="en-US"/>
              <a:pPr>
                <a:spcBef>
                  <a:spcPct val="0"/>
                </a:spcBef>
              </a:pPr>
              <a:t>55</a:t>
            </a:fld>
            <a:endParaRPr lang="en-US" altLang="en-US"/>
          </a:p>
        </p:txBody>
      </p:sp>
      <p:sp>
        <p:nvSpPr>
          <p:cNvPr id="40963" name="Rectangle 2">
            <a:extLst>
              <a:ext uri="{FF2B5EF4-FFF2-40B4-BE49-F238E27FC236}">
                <a16:creationId xmlns:a16="http://schemas.microsoft.com/office/drawing/2014/main" id="{10FBFE85-7C0E-B76A-1A6B-700C31020106}"/>
              </a:ext>
            </a:extLst>
          </p:cNvPr>
          <p:cNvSpPr>
            <a:spLocks noChangeArrowheads="1" noTextEdit="1"/>
          </p:cNvSpPr>
          <p:nvPr>
            <p:ph type="sldImg"/>
          </p:nvPr>
        </p:nvSpPr>
        <p:spPr>
          <a:ln/>
        </p:spPr>
      </p:sp>
      <p:sp>
        <p:nvSpPr>
          <p:cNvPr id="40964" name="Rectangle 3">
            <a:extLst>
              <a:ext uri="{FF2B5EF4-FFF2-40B4-BE49-F238E27FC236}">
                <a16:creationId xmlns:a16="http://schemas.microsoft.com/office/drawing/2014/main" id="{F0EBF79D-7FE4-9B5C-6BA7-1878FE5988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568FD835-51D5-8670-3208-17BCFC2110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450CA97-301F-45B6-B806-41EE5AF28507}" type="slidenum">
              <a:rPr lang="en-US" altLang="en-US"/>
              <a:pPr>
                <a:spcBef>
                  <a:spcPct val="0"/>
                </a:spcBef>
              </a:pPr>
              <a:t>56</a:t>
            </a:fld>
            <a:endParaRPr lang="en-US" altLang="en-US"/>
          </a:p>
        </p:txBody>
      </p:sp>
      <p:sp>
        <p:nvSpPr>
          <p:cNvPr id="43011" name="Rectangle 2">
            <a:extLst>
              <a:ext uri="{FF2B5EF4-FFF2-40B4-BE49-F238E27FC236}">
                <a16:creationId xmlns:a16="http://schemas.microsoft.com/office/drawing/2014/main" id="{72534BFE-B6AE-5FD8-D4BF-8FD74704D4E5}"/>
              </a:ext>
            </a:extLst>
          </p:cNvPr>
          <p:cNvSpPr>
            <a:spLocks noChangeArrowheads="1" noTextEdit="1"/>
          </p:cNvSpPr>
          <p:nvPr>
            <p:ph type="sldImg"/>
          </p:nvPr>
        </p:nvSpPr>
        <p:spPr>
          <a:ln/>
        </p:spPr>
      </p:sp>
      <p:sp>
        <p:nvSpPr>
          <p:cNvPr id="43012" name="Rectangle 3">
            <a:extLst>
              <a:ext uri="{FF2B5EF4-FFF2-40B4-BE49-F238E27FC236}">
                <a16:creationId xmlns:a16="http://schemas.microsoft.com/office/drawing/2014/main" id="{881FBE43-05F2-08B8-9434-2D8BE7B4D9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C8D206D1-F606-0BFC-AFB9-E6BFB3CA99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BF341C9-8FBA-4FE3-B2B6-037D3238D90C}" type="slidenum">
              <a:rPr lang="en-US" altLang="en-US"/>
              <a:pPr>
                <a:spcBef>
                  <a:spcPct val="0"/>
                </a:spcBef>
              </a:pPr>
              <a:t>58</a:t>
            </a:fld>
            <a:endParaRPr lang="en-US" altLang="en-US"/>
          </a:p>
        </p:txBody>
      </p:sp>
      <p:sp>
        <p:nvSpPr>
          <p:cNvPr id="46083" name="Rectangle 2">
            <a:extLst>
              <a:ext uri="{FF2B5EF4-FFF2-40B4-BE49-F238E27FC236}">
                <a16:creationId xmlns:a16="http://schemas.microsoft.com/office/drawing/2014/main" id="{AFDCCBE1-DC7A-39DE-6027-4B74E631AD90}"/>
              </a:ext>
            </a:extLst>
          </p:cNvPr>
          <p:cNvSpPr>
            <a:spLocks noChangeArrowheads="1" noTextEdit="1"/>
          </p:cNvSpPr>
          <p:nvPr>
            <p:ph type="sldImg"/>
          </p:nvPr>
        </p:nvSpPr>
        <p:spPr>
          <a:ln/>
        </p:spPr>
      </p:sp>
      <p:sp>
        <p:nvSpPr>
          <p:cNvPr id="46084" name="Rectangle 3">
            <a:extLst>
              <a:ext uri="{FF2B5EF4-FFF2-40B4-BE49-F238E27FC236}">
                <a16:creationId xmlns:a16="http://schemas.microsoft.com/office/drawing/2014/main" id="{5C6728B1-218D-9873-480C-A671D53A81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FD9E0BC1-170D-94CB-6536-E61584427D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4403B6-0563-4D4C-856F-E8FCA6B6C83D}" type="slidenum">
              <a:rPr lang="en-US" altLang="en-US"/>
              <a:pPr>
                <a:spcBef>
                  <a:spcPct val="0"/>
                </a:spcBef>
              </a:pPr>
              <a:t>59</a:t>
            </a:fld>
            <a:endParaRPr lang="en-US" altLang="en-US"/>
          </a:p>
        </p:txBody>
      </p:sp>
      <p:sp>
        <p:nvSpPr>
          <p:cNvPr id="48131" name="Rectangle 2">
            <a:extLst>
              <a:ext uri="{FF2B5EF4-FFF2-40B4-BE49-F238E27FC236}">
                <a16:creationId xmlns:a16="http://schemas.microsoft.com/office/drawing/2014/main" id="{7D91ADA2-D3D8-3793-8177-5008975445BC}"/>
              </a:ext>
            </a:extLst>
          </p:cNvPr>
          <p:cNvSpPr>
            <a:spLocks noChangeArrowheads="1" noTextEdit="1"/>
          </p:cNvSpPr>
          <p:nvPr>
            <p:ph type="sldImg"/>
          </p:nvPr>
        </p:nvSpPr>
        <p:spPr>
          <a:ln/>
        </p:spPr>
      </p:sp>
      <p:sp>
        <p:nvSpPr>
          <p:cNvPr id="48132" name="Rectangle 3">
            <a:extLst>
              <a:ext uri="{FF2B5EF4-FFF2-40B4-BE49-F238E27FC236}">
                <a16:creationId xmlns:a16="http://schemas.microsoft.com/office/drawing/2014/main" id="{D19CC2D0-626B-BF0E-079B-2C51BDDA4B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FD1DAEF1-652F-7D03-ABC9-F9A074777B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50CEE25-F3DE-4F74-B935-4BE27A1EF47A}" type="slidenum">
              <a:rPr lang="en-US" altLang="en-US"/>
              <a:pPr>
                <a:spcBef>
                  <a:spcPct val="0"/>
                </a:spcBef>
              </a:pPr>
              <a:t>60</a:t>
            </a:fld>
            <a:endParaRPr lang="en-US" altLang="en-US"/>
          </a:p>
        </p:txBody>
      </p:sp>
      <p:sp>
        <p:nvSpPr>
          <p:cNvPr id="50179" name="Rectangle 2">
            <a:extLst>
              <a:ext uri="{FF2B5EF4-FFF2-40B4-BE49-F238E27FC236}">
                <a16:creationId xmlns:a16="http://schemas.microsoft.com/office/drawing/2014/main" id="{AD196D0C-F665-B51A-37BB-1FF047106C4B}"/>
              </a:ext>
            </a:extLst>
          </p:cNvPr>
          <p:cNvSpPr>
            <a:spLocks noChangeArrowheads="1" noTextEdit="1"/>
          </p:cNvSpPr>
          <p:nvPr>
            <p:ph type="sldImg"/>
          </p:nvPr>
        </p:nvSpPr>
        <p:spPr>
          <a:ln/>
        </p:spPr>
      </p:sp>
      <p:sp>
        <p:nvSpPr>
          <p:cNvPr id="50180" name="Rectangle 3">
            <a:extLst>
              <a:ext uri="{FF2B5EF4-FFF2-40B4-BE49-F238E27FC236}">
                <a16:creationId xmlns:a16="http://schemas.microsoft.com/office/drawing/2014/main" id="{B38CF1B4-CF5F-732F-0481-9B7F9CBA82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312D1034-0806-2290-91E2-21BDEC9D57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12DA36-6C6C-4945-95BC-CFE8B0617314}" type="slidenum">
              <a:rPr lang="en-US" altLang="en-US"/>
              <a:pPr>
                <a:spcBef>
                  <a:spcPct val="0"/>
                </a:spcBef>
              </a:pPr>
              <a:t>61</a:t>
            </a:fld>
            <a:endParaRPr lang="en-US" altLang="en-US"/>
          </a:p>
        </p:txBody>
      </p:sp>
      <p:sp>
        <p:nvSpPr>
          <p:cNvPr id="52227" name="Rectangle 2">
            <a:extLst>
              <a:ext uri="{FF2B5EF4-FFF2-40B4-BE49-F238E27FC236}">
                <a16:creationId xmlns:a16="http://schemas.microsoft.com/office/drawing/2014/main" id="{E36B0BBB-D902-FD0D-D6A4-254217E37D9B}"/>
              </a:ext>
            </a:extLst>
          </p:cNvPr>
          <p:cNvSpPr>
            <a:spLocks noChangeArrowheads="1" noTextEdit="1"/>
          </p:cNvSpPr>
          <p:nvPr>
            <p:ph type="sldImg"/>
          </p:nvPr>
        </p:nvSpPr>
        <p:spPr>
          <a:ln/>
        </p:spPr>
      </p:sp>
      <p:sp>
        <p:nvSpPr>
          <p:cNvPr id="52228" name="Rectangle 3">
            <a:extLst>
              <a:ext uri="{FF2B5EF4-FFF2-40B4-BE49-F238E27FC236}">
                <a16:creationId xmlns:a16="http://schemas.microsoft.com/office/drawing/2014/main" id="{23A35237-43C3-2EAC-4DE9-6783198C40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82D77E38-6D7A-B43B-57D0-4B4D113F48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3A76DB0-52A9-47B5-9972-B74B454A8B24}" type="slidenum">
              <a:rPr lang="en-US" altLang="en-US"/>
              <a:pPr>
                <a:spcBef>
                  <a:spcPct val="0"/>
                </a:spcBef>
              </a:pPr>
              <a:t>62</a:t>
            </a:fld>
            <a:endParaRPr lang="en-US" altLang="en-US"/>
          </a:p>
        </p:txBody>
      </p:sp>
      <p:sp>
        <p:nvSpPr>
          <p:cNvPr id="54275" name="Rectangle 2">
            <a:extLst>
              <a:ext uri="{FF2B5EF4-FFF2-40B4-BE49-F238E27FC236}">
                <a16:creationId xmlns:a16="http://schemas.microsoft.com/office/drawing/2014/main" id="{FA0F8EFD-49F8-FF25-91E6-1CE980F49665}"/>
              </a:ext>
            </a:extLst>
          </p:cNvPr>
          <p:cNvSpPr>
            <a:spLocks noChangeArrowheads="1" noTextEdit="1"/>
          </p:cNvSpPr>
          <p:nvPr>
            <p:ph type="sldImg"/>
          </p:nvPr>
        </p:nvSpPr>
        <p:spPr>
          <a:ln/>
        </p:spPr>
      </p:sp>
      <p:sp>
        <p:nvSpPr>
          <p:cNvPr id="54276" name="Rectangle 3">
            <a:extLst>
              <a:ext uri="{FF2B5EF4-FFF2-40B4-BE49-F238E27FC236}">
                <a16:creationId xmlns:a16="http://schemas.microsoft.com/office/drawing/2014/main" id="{882B4777-386E-0DF0-CC22-DE05EECB2A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6D5BD824-CDE0-054D-BB6A-92A44CB679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3426F3D-9299-4C34-BBFF-5849E6C1C759}" type="slidenum">
              <a:rPr lang="en-US" altLang="en-US"/>
              <a:pPr>
                <a:spcBef>
                  <a:spcPct val="0"/>
                </a:spcBef>
              </a:pPr>
              <a:t>63</a:t>
            </a:fld>
            <a:endParaRPr lang="en-US" altLang="en-US"/>
          </a:p>
        </p:txBody>
      </p:sp>
      <p:sp>
        <p:nvSpPr>
          <p:cNvPr id="56323" name="Rectangle 2">
            <a:extLst>
              <a:ext uri="{FF2B5EF4-FFF2-40B4-BE49-F238E27FC236}">
                <a16:creationId xmlns:a16="http://schemas.microsoft.com/office/drawing/2014/main" id="{91AD2896-8DFC-9D81-E11D-0AD8B36CDF3C}"/>
              </a:ext>
            </a:extLst>
          </p:cNvPr>
          <p:cNvSpPr>
            <a:spLocks noChangeArrowheads="1" noTextEdit="1"/>
          </p:cNvSpPr>
          <p:nvPr>
            <p:ph type="sldImg"/>
          </p:nvPr>
        </p:nvSpPr>
        <p:spPr>
          <a:ln/>
        </p:spPr>
      </p:sp>
      <p:sp>
        <p:nvSpPr>
          <p:cNvPr id="56324" name="Rectangle 3">
            <a:extLst>
              <a:ext uri="{FF2B5EF4-FFF2-40B4-BE49-F238E27FC236}">
                <a16:creationId xmlns:a16="http://schemas.microsoft.com/office/drawing/2014/main" id="{89664D09-D411-05F8-5C0A-9D023C3D18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559C1A4E-3AFA-0D47-9B39-E9BDC9990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1D87484-0FA1-48B1-8B3D-38983CDB3F41}" type="slidenum">
              <a:rPr lang="en-US" altLang="en-US"/>
              <a:pPr>
                <a:spcBef>
                  <a:spcPct val="0"/>
                </a:spcBef>
              </a:pPr>
              <a:t>64</a:t>
            </a:fld>
            <a:endParaRPr lang="en-US" altLang="en-US"/>
          </a:p>
        </p:txBody>
      </p:sp>
      <p:sp>
        <p:nvSpPr>
          <p:cNvPr id="58371" name="Rectangle 2">
            <a:extLst>
              <a:ext uri="{FF2B5EF4-FFF2-40B4-BE49-F238E27FC236}">
                <a16:creationId xmlns:a16="http://schemas.microsoft.com/office/drawing/2014/main" id="{DB4B8817-6FDA-E6B8-BB66-32360385BDD7}"/>
              </a:ext>
            </a:extLst>
          </p:cNvPr>
          <p:cNvSpPr>
            <a:spLocks noChangeArrowheads="1" noTextEdit="1"/>
          </p:cNvSpPr>
          <p:nvPr>
            <p:ph type="sldImg"/>
          </p:nvPr>
        </p:nvSpPr>
        <p:spPr>
          <a:ln/>
        </p:spPr>
      </p:sp>
      <p:sp>
        <p:nvSpPr>
          <p:cNvPr id="58372" name="Rectangle 3">
            <a:extLst>
              <a:ext uri="{FF2B5EF4-FFF2-40B4-BE49-F238E27FC236}">
                <a16:creationId xmlns:a16="http://schemas.microsoft.com/office/drawing/2014/main" id="{059E008D-4CC4-0190-2DB7-9518A32789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F6C661AA-756C-0B30-7FBA-76AAF883E0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00C4772-884E-4A50-BEC4-FCA0EB0A973B}" type="slidenum">
              <a:rPr lang="en-US" altLang="en-US"/>
              <a:pPr>
                <a:spcBef>
                  <a:spcPct val="0"/>
                </a:spcBef>
              </a:pPr>
              <a:t>65</a:t>
            </a:fld>
            <a:endParaRPr lang="en-US" altLang="en-US"/>
          </a:p>
        </p:txBody>
      </p:sp>
      <p:sp>
        <p:nvSpPr>
          <p:cNvPr id="60419" name="Rectangle 2">
            <a:extLst>
              <a:ext uri="{FF2B5EF4-FFF2-40B4-BE49-F238E27FC236}">
                <a16:creationId xmlns:a16="http://schemas.microsoft.com/office/drawing/2014/main" id="{F7E0B6BE-4601-4EC3-C2CB-A722214D171A}"/>
              </a:ext>
            </a:extLst>
          </p:cNvPr>
          <p:cNvSpPr>
            <a:spLocks noChangeArrowheads="1" noTextEdit="1"/>
          </p:cNvSpPr>
          <p:nvPr>
            <p:ph type="sldImg"/>
          </p:nvPr>
        </p:nvSpPr>
        <p:spPr>
          <a:ln/>
        </p:spPr>
      </p:sp>
      <p:sp>
        <p:nvSpPr>
          <p:cNvPr id="60420" name="Rectangle 3">
            <a:extLst>
              <a:ext uri="{FF2B5EF4-FFF2-40B4-BE49-F238E27FC236}">
                <a16:creationId xmlns:a16="http://schemas.microsoft.com/office/drawing/2014/main" id="{4425D205-6335-6633-5237-CDAFCE710B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15DBDF36-5602-84BE-3A8C-61F5FC3D4B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371943E-4BF1-477B-AA0C-145F80765F3F}" type="slidenum">
              <a:rPr lang="en-US" altLang="en-US"/>
              <a:pPr>
                <a:spcBef>
                  <a:spcPct val="0"/>
                </a:spcBef>
              </a:pPr>
              <a:t>66</a:t>
            </a:fld>
            <a:endParaRPr lang="en-US" altLang="en-US"/>
          </a:p>
        </p:txBody>
      </p:sp>
      <p:sp>
        <p:nvSpPr>
          <p:cNvPr id="62467" name="Rectangle 2">
            <a:extLst>
              <a:ext uri="{FF2B5EF4-FFF2-40B4-BE49-F238E27FC236}">
                <a16:creationId xmlns:a16="http://schemas.microsoft.com/office/drawing/2014/main" id="{C8B5FB55-4840-5052-2BD4-EAF70811020F}"/>
              </a:ext>
            </a:extLst>
          </p:cNvPr>
          <p:cNvSpPr>
            <a:spLocks noChangeArrowheads="1" noTextEdit="1"/>
          </p:cNvSpPr>
          <p:nvPr>
            <p:ph type="sldImg"/>
          </p:nvPr>
        </p:nvSpPr>
        <p:spPr>
          <a:ln/>
        </p:spPr>
      </p:sp>
      <p:sp>
        <p:nvSpPr>
          <p:cNvPr id="62468" name="Rectangle 3">
            <a:extLst>
              <a:ext uri="{FF2B5EF4-FFF2-40B4-BE49-F238E27FC236}">
                <a16:creationId xmlns:a16="http://schemas.microsoft.com/office/drawing/2014/main" id="{3E84BC4F-D307-F629-AB7E-1CFF86749E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0D25D469-6980-3DF2-7DAC-90E5C10638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ECEFDE-80F1-4FED-BFFD-EF08C0259A7A}" type="slidenum">
              <a:rPr lang="en-US" altLang="en-US"/>
              <a:pPr>
                <a:spcBef>
                  <a:spcPct val="0"/>
                </a:spcBef>
              </a:pPr>
              <a:t>67</a:t>
            </a:fld>
            <a:endParaRPr lang="en-US" altLang="en-US"/>
          </a:p>
        </p:txBody>
      </p:sp>
      <p:sp>
        <p:nvSpPr>
          <p:cNvPr id="64515" name="Rectangle 2">
            <a:extLst>
              <a:ext uri="{FF2B5EF4-FFF2-40B4-BE49-F238E27FC236}">
                <a16:creationId xmlns:a16="http://schemas.microsoft.com/office/drawing/2014/main" id="{E0B0829E-0F64-28A6-1140-D071BF2997D4}"/>
              </a:ext>
            </a:extLst>
          </p:cNvPr>
          <p:cNvSpPr>
            <a:spLocks noChangeArrowheads="1" noTextEdit="1"/>
          </p:cNvSpPr>
          <p:nvPr>
            <p:ph type="sldImg"/>
          </p:nvPr>
        </p:nvSpPr>
        <p:spPr>
          <a:ln/>
        </p:spPr>
      </p:sp>
      <p:sp>
        <p:nvSpPr>
          <p:cNvPr id="64516" name="Rectangle 3">
            <a:extLst>
              <a:ext uri="{FF2B5EF4-FFF2-40B4-BE49-F238E27FC236}">
                <a16:creationId xmlns:a16="http://schemas.microsoft.com/office/drawing/2014/main" id="{8B306157-9E5B-6684-DFB5-9ABF861A15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5CC7882C-BA1C-8D64-2430-2B586C50F8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486021-FA89-4163-823D-09B53D359A20}" type="slidenum">
              <a:rPr lang="en-US" altLang="en-US"/>
              <a:pPr>
                <a:spcBef>
                  <a:spcPct val="0"/>
                </a:spcBef>
              </a:pPr>
              <a:t>68</a:t>
            </a:fld>
            <a:endParaRPr lang="en-US" altLang="en-US"/>
          </a:p>
        </p:txBody>
      </p:sp>
      <p:sp>
        <p:nvSpPr>
          <p:cNvPr id="66563" name="Rectangle 2">
            <a:extLst>
              <a:ext uri="{FF2B5EF4-FFF2-40B4-BE49-F238E27FC236}">
                <a16:creationId xmlns:a16="http://schemas.microsoft.com/office/drawing/2014/main" id="{B52438F9-1E83-BBEE-2107-8880395E5FE8}"/>
              </a:ext>
            </a:extLst>
          </p:cNvPr>
          <p:cNvSpPr>
            <a:spLocks noChangeArrowheads="1" noTextEdit="1"/>
          </p:cNvSpPr>
          <p:nvPr>
            <p:ph type="sldImg"/>
          </p:nvPr>
        </p:nvSpPr>
        <p:spPr>
          <a:ln/>
        </p:spPr>
      </p:sp>
      <p:sp>
        <p:nvSpPr>
          <p:cNvPr id="66564" name="Rectangle 3">
            <a:extLst>
              <a:ext uri="{FF2B5EF4-FFF2-40B4-BE49-F238E27FC236}">
                <a16:creationId xmlns:a16="http://schemas.microsoft.com/office/drawing/2014/main" id="{465155CE-F7EE-7C3E-CB57-8ECAC346BE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3E7FE17A-F75E-8B0E-1FCD-03FB73A6D9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9ADEA6-0621-4413-B43F-FAE3E08A01CC}" type="slidenum">
              <a:rPr lang="en-US" altLang="en-US"/>
              <a:pPr>
                <a:spcBef>
                  <a:spcPct val="0"/>
                </a:spcBef>
              </a:pPr>
              <a:t>69</a:t>
            </a:fld>
            <a:endParaRPr lang="en-US" altLang="en-US"/>
          </a:p>
        </p:txBody>
      </p:sp>
      <p:sp>
        <p:nvSpPr>
          <p:cNvPr id="68611" name="Rectangle 2">
            <a:extLst>
              <a:ext uri="{FF2B5EF4-FFF2-40B4-BE49-F238E27FC236}">
                <a16:creationId xmlns:a16="http://schemas.microsoft.com/office/drawing/2014/main" id="{5758A89E-8BEA-D116-00CE-02B7BA1F7EDA}"/>
              </a:ext>
            </a:extLst>
          </p:cNvPr>
          <p:cNvSpPr>
            <a:spLocks noChangeArrowheads="1" noTextEdit="1"/>
          </p:cNvSpPr>
          <p:nvPr>
            <p:ph type="sldImg"/>
          </p:nvPr>
        </p:nvSpPr>
        <p:spPr>
          <a:ln/>
        </p:spPr>
      </p:sp>
      <p:sp>
        <p:nvSpPr>
          <p:cNvPr id="68612" name="Rectangle 3">
            <a:extLst>
              <a:ext uri="{FF2B5EF4-FFF2-40B4-BE49-F238E27FC236}">
                <a16:creationId xmlns:a16="http://schemas.microsoft.com/office/drawing/2014/main" id="{AC5F39D7-AD20-01D7-8E24-9581AF09D2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B59C0860-FF03-F5C8-E76C-9842707C10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BFA71DC-8947-468A-8E49-9B03EF7058D3}" type="slidenum">
              <a:rPr lang="en-US" altLang="en-US"/>
              <a:pPr>
                <a:spcBef>
                  <a:spcPct val="0"/>
                </a:spcBef>
              </a:pPr>
              <a:t>70</a:t>
            </a:fld>
            <a:endParaRPr lang="en-US" altLang="en-US"/>
          </a:p>
        </p:txBody>
      </p:sp>
      <p:sp>
        <p:nvSpPr>
          <p:cNvPr id="70659" name="Rectangle 2">
            <a:extLst>
              <a:ext uri="{FF2B5EF4-FFF2-40B4-BE49-F238E27FC236}">
                <a16:creationId xmlns:a16="http://schemas.microsoft.com/office/drawing/2014/main" id="{F0AA2020-CFEC-DE2A-61F8-D0E239356A14}"/>
              </a:ext>
            </a:extLst>
          </p:cNvPr>
          <p:cNvSpPr>
            <a:spLocks noChangeArrowheads="1" noTextEdit="1"/>
          </p:cNvSpPr>
          <p:nvPr>
            <p:ph type="sldImg"/>
          </p:nvPr>
        </p:nvSpPr>
        <p:spPr>
          <a:ln/>
        </p:spPr>
      </p:sp>
      <p:sp>
        <p:nvSpPr>
          <p:cNvPr id="70660" name="Rectangle 3">
            <a:extLst>
              <a:ext uri="{FF2B5EF4-FFF2-40B4-BE49-F238E27FC236}">
                <a16:creationId xmlns:a16="http://schemas.microsoft.com/office/drawing/2014/main" id="{3F8B764B-58E9-8976-2323-9236449B2C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7BA7548-F8C1-4B8F-121D-0128FBC8BE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F0EE4FD-E18B-4420-B907-CAEDE1F796D4}" type="slidenum">
              <a:rPr lang="en-US" altLang="en-US"/>
              <a:pPr>
                <a:spcBef>
                  <a:spcPct val="0"/>
                </a:spcBef>
              </a:pPr>
              <a:t>71</a:t>
            </a:fld>
            <a:endParaRPr lang="en-US" altLang="en-US"/>
          </a:p>
        </p:txBody>
      </p:sp>
      <p:sp>
        <p:nvSpPr>
          <p:cNvPr id="72707" name="Rectangle 2">
            <a:extLst>
              <a:ext uri="{FF2B5EF4-FFF2-40B4-BE49-F238E27FC236}">
                <a16:creationId xmlns:a16="http://schemas.microsoft.com/office/drawing/2014/main" id="{4BBFE66F-B60B-8CF7-34AF-F0E787B8EC32}"/>
              </a:ext>
            </a:extLst>
          </p:cNvPr>
          <p:cNvSpPr>
            <a:spLocks noChangeArrowheads="1" noTextEdit="1"/>
          </p:cNvSpPr>
          <p:nvPr>
            <p:ph type="sldImg"/>
          </p:nvPr>
        </p:nvSpPr>
        <p:spPr>
          <a:ln/>
        </p:spPr>
      </p:sp>
      <p:sp>
        <p:nvSpPr>
          <p:cNvPr id="72708" name="Rectangle 3">
            <a:extLst>
              <a:ext uri="{FF2B5EF4-FFF2-40B4-BE49-F238E27FC236}">
                <a16:creationId xmlns:a16="http://schemas.microsoft.com/office/drawing/2014/main" id="{5DD94751-E85D-EE6E-7D4E-8D46F308A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Slide Number Placeholder 5"/>
          <p:cNvSpPr>
            <a:spLocks noGrp="1"/>
          </p:cNvSpPr>
          <p:nvPr>
            <p:ph type="sldNum" sz="quarter" idx="12"/>
          </p:nvPr>
        </p:nvSpPr>
        <p:spPr/>
        <p:txBody>
          <a:bodyPr/>
          <a:lstStyle>
            <a:lvl1pPr fontAlgn="auto">
              <a:spcBef>
                <a:spcPts val="0"/>
              </a:spcBef>
              <a:spcAft>
                <a:spcPts val="0"/>
              </a:spcAft>
              <a:defRPr/>
            </a:lvl1pPr>
          </a:lstStyle>
          <a:p>
            <a:pPr>
              <a:defRPr/>
            </a:pPr>
            <a:fld id="{13965810-CB1F-4F64-9FF8-2F4E513FB6DD}"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Slide Number Placeholder 5"/>
          <p:cNvSpPr>
            <a:spLocks noGrp="1"/>
          </p:cNvSpPr>
          <p:nvPr>
            <p:ph type="sldNum" sz="quarter" idx="12"/>
          </p:nvPr>
        </p:nvSpPr>
        <p:spPr/>
        <p:txBody>
          <a:bodyPr/>
          <a:lstStyle>
            <a:lvl1pPr fontAlgn="auto">
              <a:spcBef>
                <a:spcPts val="0"/>
              </a:spcBef>
              <a:spcAft>
                <a:spcPts val="0"/>
              </a:spcAft>
              <a:defRPr/>
            </a:lvl1pPr>
          </a:lstStyle>
          <a:p>
            <a:pPr>
              <a:defRPr/>
            </a:pPr>
            <a:fld id="{80241395-0FBD-4514-8ABA-64F144246C4C}"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6" name="Footer Placeholder 5"/>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7" name="Slide Number Placeholder 6"/>
          <p:cNvSpPr>
            <a:spLocks noGrp="1"/>
          </p:cNvSpPr>
          <p:nvPr>
            <p:ph type="sldNum" sz="quarter" idx="12"/>
          </p:nvPr>
        </p:nvSpPr>
        <p:spPr/>
        <p:txBody>
          <a:bodyPr/>
          <a:lstStyle>
            <a:lvl1pPr fontAlgn="auto">
              <a:spcBef>
                <a:spcPts val="0"/>
              </a:spcBef>
              <a:spcAft>
                <a:spcPts val="0"/>
              </a:spcAft>
              <a:defRPr/>
            </a:lvl1pPr>
          </a:lstStyle>
          <a:p>
            <a:pPr>
              <a:defRPr/>
            </a:pPr>
            <a:fld id="{E3BF39B5-28A7-40C5-8E25-5336078C1FFF}"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8" name="Footer Placeholder 7"/>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9" name="Slide Number Placeholder 8"/>
          <p:cNvSpPr>
            <a:spLocks noGrp="1"/>
          </p:cNvSpPr>
          <p:nvPr>
            <p:ph type="sldNum" sz="quarter" idx="12"/>
          </p:nvPr>
        </p:nvSpPr>
        <p:spPr/>
        <p:txBody>
          <a:bodyPr/>
          <a:lstStyle>
            <a:lvl1pPr fontAlgn="auto">
              <a:spcBef>
                <a:spcPts val="0"/>
              </a:spcBef>
              <a:spcAft>
                <a:spcPts val="0"/>
              </a:spcAft>
              <a:defRPr/>
            </a:lvl1pPr>
          </a:lstStyle>
          <a:p>
            <a:pPr>
              <a:defRPr/>
            </a:pPr>
            <a:fld id="{AD7BB8B9-F78D-4C0D-A73B-7D37757C51F9}"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4" name="Footer Placeholder 3"/>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5" name="Slide Number Placeholder 4"/>
          <p:cNvSpPr>
            <a:spLocks noGrp="1"/>
          </p:cNvSpPr>
          <p:nvPr>
            <p:ph type="sldNum" sz="quarter" idx="12"/>
          </p:nvPr>
        </p:nvSpPr>
        <p:spPr/>
        <p:txBody>
          <a:bodyPr/>
          <a:lstStyle>
            <a:lvl1pPr fontAlgn="auto">
              <a:spcBef>
                <a:spcPts val="0"/>
              </a:spcBef>
              <a:spcAft>
                <a:spcPts val="0"/>
              </a:spcAft>
              <a:defRPr/>
            </a:lvl1pPr>
          </a:lstStyle>
          <a:p>
            <a:pPr>
              <a:defRPr/>
            </a:pPr>
            <a:fld id="{D19735B5-77E4-4EBE-A063-544D5292AB52}"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3" name="Footer Placeholder 2"/>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4" name="Slide Number Placeholder 3"/>
          <p:cNvSpPr>
            <a:spLocks noGrp="1"/>
          </p:cNvSpPr>
          <p:nvPr>
            <p:ph type="sldNum" sz="quarter" idx="12"/>
          </p:nvPr>
        </p:nvSpPr>
        <p:spPr/>
        <p:txBody>
          <a:bodyPr/>
          <a:lstStyle>
            <a:lvl1pPr fontAlgn="auto">
              <a:spcBef>
                <a:spcPts val="0"/>
              </a:spcBef>
              <a:spcAft>
                <a:spcPts val="0"/>
              </a:spcAft>
              <a:defRPr/>
            </a:lvl1pPr>
          </a:lstStyle>
          <a:p>
            <a:pPr>
              <a:defRPr/>
            </a:pPr>
            <a:fld id="{97B7F753-B6B9-4025-88B3-9C5409FCECF1}"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6" name="Footer Placeholder 5"/>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7" name="Slide Number Placeholder 6"/>
          <p:cNvSpPr>
            <a:spLocks noGrp="1"/>
          </p:cNvSpPr>
          <p:nvPr>
            <p:ph type="sldNum" sz="quarter" idx="12"/>
          </p:nvPr>
        </p:nvSpPr>
        <p:spPr/>
        <p:txBody>
          <a:bodyPr/>
          <a:lstStyle>
            <a:lvl1pPr fontAlgn="auto">
              <a:spcBef>
                <a:spcPts val="0"/>
              </a:spcBef>
              <a:spcAft>
                <a:spcPts val="0"/>
              </a:spcAft>
              <a:defRPr/>
            </a:lvl1pPr>
          </a:lstStyle>
          <a:p>
            <a:pPr>
              <a:defRPr/>
            </a:pPr>
            <a:fld id="{E4BF3795-C35C-4063-A6DF-FCB620E156A0}"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6" name="Footer Placeholder 5"/>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7" name="Slide Number Placeholder 6"/>
          <p:cNvSpPr>
            <a:spLocks noGrp="1"/>
          </p:cNvSpPr>
          <p:nvPr>
            <p:ph type="sldNum" sz="quarter" idx="12"/>
          </p:nvPr>
        </p:nvSpPr>
        <p:spPr/>
        <p:txBody>
          <a:bodyPr/>
          <a:lstStyle>
            <a:lvl1pPr fontAlgn="auto">
              <a:spcBef>
                <a:spcPts val="0"/>
              </a:spcBef>
              <a:spcAft>
                <a:spcPts val="0"/>
              </a:spcAft>
              <a:defRPr/>
            </a:lvl1pPr>
          </a:lstStyle>
          <a:p>
            <a:pPr>
              <a:defRPr/>
            </a:pPr>
            <a:fld id="{1AC7EF12-118F-40C4-8AB5-D5FD659E5540}"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Slide Number Placeholder 5"/>
          <p:cNvSpPr>
            <a:spLocks noGrp="1"/>
          </p:cNvSpPr>
          <p:nvPr>
            <p:ph type="sldNum" sz="quarter" idx="12"/>
          </p:nvPr>
        </p:nvSpPr>
        <p:spPr/>
        <p:txBody>
          <a:bodyPr/>
          <a:lstStyle>
            <a:lvl1pPr fontAlgn="auto">
              <a:spcBef>
                <a:spcPts val="0"/>
              </a:spcBef>
              <a:spcAft>
                <a:spcPts val="0"/>
              </a:spcAft>
              <a:defRPr/>
            </a:lvl1pPr>
          </a:lstStyle>
          <a:p>
            <a:pPr>
              <a:defRPr/>
            </a:pPr>
            <a:fld id="{DB34715D-5BAD-4114-9794-77A83F3B2E6F}"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Slide Number Placeholder 5"/>
          <p:cNvSpPr>
            <a:spLocks noGrp="1"/>
          </p:cNvSpPr>
          <p:nvPr>
            <p:ph type="sldNum" sz="quarter" idx="12"/>
          </p:nvPr>
        </p:nvSpPr>
        <p:spPr/>
        <p:txBody>
          <a:bodyPr/>
          <a:lstStyle>
            <a:lvl1pPr fontAlgn="auto">
              <a:spcBef>
                <a:spcPts val="0"/>
              </a:spcBef>
              <a:spcAft>
                <a:spcPts val="0"/>
              </a:spcAft>
              <a:defRPr/>
            </a:lvl1pPr>
          </a:lstStyle>
          <a:p>
            <a:pPr>
              <a:defRPr/>
            </a:pPr>
            <a:fld id="{CC2A8279-658A-4E05-A6BA-B6E3817B5A90}"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3"/>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E936C659-4153-4C8C-B369-C979918B8120}" type="datetime1">
              <a:rPr lang="en-US"/>
              <a:pPr>
                <a:defRPr/>
              </a:pPr>
              <a:t>9/13/2025</a:t>
            </a:fld>
            <a:endParaRPr lang="en-US"/>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233BDC4-9263-4C60-AFAB-4DE972A386B1}" type="slidenum">
              <a:rPr lang="en-US"/>
              <a:pPr>
                <a:defRPr/>
              </a:pPr>
              <a:t>‹#›</a:t>
            </a:fld>
            <a:endParaRPr lang="en-US" dirty="0"/>
          </a:p>
        </p:txBody>
      </p:sp>
    </p:spTree>
  </p:cSld>
  <p:clrMapOvr>
    <a:masterClrMapping/>
  </p:clrMapOvr>
  <p:transition spd="med">
    <p:strips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C43C21EC-C4C8-4E9A-BA66-02F24004D7E5}" type="datetime1">
              <a:rPr lang="en-US"/>
              <a:pPr>
                <a:defRPr/>
              </a:pPr>
              <a:t>9/13/2025</a:t>
            </a:fld>
            <a:endParaRPr lang="en-US"/>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A2D3D8D9-6AFB-42AC-9AC6-B670F679F797}" type="slidenum">
              <a:rPr lang="en-US"/>
              <a:pPr>
                <a:defRPr/>
              </a:pPr>
              <a:t>‹#›</a:t>
            </a:fld>
            <a:endParaRPr lang="en-US" dirty="0"/>
          </a:p>
        </p:txBody>
      </p:sp>
    </p:spTree>
  </p:cSld>
  <p:clrMapOvr>
    <a:masterClrMapping/>
  </p:clrMapOvr>
  <p:transition spd="med">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8"/>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B30C628D-F875-4ADD-9A3D-FEC5BA263913}" type="datetime1">
              <a:rPr lang="en-US"/>
              <a:pPr>
                <a:defRPr/>
              </a:pPr>
              <a:t>9/13/2025</a:t>
            </a:fld>
            <a:endParaRPr lang="en-US"/>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5410CCB-5854-48CA-871D-D0E962D57559}" type="slidenum">
              <a:rPr lang="en-US"/>
              <a:pPr>
                <a:defRPr/>
              </a:pPr>
              <a:t>‹#›</a:t>
            </a:fld>
            <a:endParaRPr lang="en-US" dirty="0"/>
          </a:p>
        </p:txBody>
      </p:sp>
    </p:spTree>
  </p:cSld>
  <p:clrMapOvr>
    <a:masterClrMapping/>
  </p:clrMapOvr>
  <p:transition spd="med">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2429" y="1143000"/>
            <a:ext cx="4213225"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18054" y="1143000"/>
            <a:ext cx="4214813"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F2D56FDE-A339-4965-89C5-B6603189B54A}" type="datetime1">
              <a:rPr lang="en-US"/>
              <a:pPr>
                <a:defRPr/>
              </a:pPr>
              <a:t>9/13/2025</a:t>
            </a:fld>
            <a:endParaRPr lang="en-US"/>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EF768221-E4C7-4E5D-BCA3-2F9F2B64245C}" type="slidenum">
              <a:rPr lang="en-US"/>
              <a:pPr>
                <a:defRPr/>
              </a:pPr>
              <a:t>‹#›</a:t>
            </a:fld>
            <a:endParaRPr lang="en-US" dirty="0"/>
          </a:p>
        </p:txBody>
      </p:sp>
    </p:spTree>
  </p:cSld>
  <p:clrMapOvr>
    <a:masterClrMapping/>
  </p:clrMapOvr>
  <p:transition spd="med">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E89D5154-D015-4C26-A657-0E4B1976E70C}" type="datetime1">
              <a:rPr lang="en-US"/>
              <a:pPr>
                <a:defRPr/>
              </a:pPr>
              <a:t>9/13/2025</a:t>
            </a:fld>
            <a:endParaRPr lang="en-US"/>
          </a:p>
        </p:txBody>
      </p:sp>
      <p:sp>
        <p:nvSpPr>
          <p:cNvPr id="8"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351F2144-EDAA-4C23-8EB6-7871AFE3FF04}" type="slidenum">
              <a:rPr lang="en-US"/>
              <a:pPr>
                <a:defRPr/>
              </a:pPr>
              <a:t>‹#›</a:t>
            </a:fld>
            <a:endParaRPr lang="en-US" dirty="0"/>
          </a:p>
        </p:txBody>
      </p:sp>
    </p:spTree>
  </p:cSld>
  <p:clrMapOvr>
    <a:masterClrMapping/>
  </p:clrMapOvr>
  <p:transition spd="med">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AutoShape 6"/>
          <p:cNvSpPr>
            <a:spLocks noChangeArrowheads="1"/>
          </p:cNvSpPr>
          <p:nvPr/>
        </p:nvSpPr>
        <p:spPr bwMode="auto">
          <a:xfrm>
            <a:off x="8229600" y="76200"/>
            <a:ext cx="900113" cy="838200"/>
          </a:xfrm>
          <a:prstGeom prst="diamond">
            <a:avLst/>
          </a:prstGeom>
          <a:solidFill>
            <a:schemeClr val="accent2"/>
          </a:solidFill>
          <a:ln w="12700">
            <a:solidFill>
              <a:schemeClr val="tx1"/>
            </a:solidFill>
            <a:miter lim="800000"/>
            <a:headEnd/>
            <a:tailEnd/>
          </a:ln>
        </p:spPr>
        <p:txBody>
          <a:bodyPr wrap="none" anchor="ctr"/>
          <a:lstStyle/>
          <a:p>
            <a:pPr algn="ctr" fontAlgn="auto">
              <a:spcBef>
                <a:spcPts val="0"/>
              </a:spcBef>
              <a:spcAft>
                <a:spcPts val="0"/>
              </a:spcAft>
              <a:defRPr/>
            </a:pPr>
            <a:r>
              <a:rPr lang="en-US" sz="2400" b="1" dirty="0">
                <a:solidFill>
                  <a:srgbClr val="FFFFFF"/>
                </a:solidFill>
                <a:latin typeface="+mn-lt"/>
                <a:cs typeface="Arial" charset="0"/>
              </a:rPr>
              <a:t>IMU</a:t>
            </a:r>
          </a:p>
        </p:txBody>
      </p:sp>
      <p:sp>
        <p:nvSpPr>
          <p:cNvPr id="2" name="Title 1"/>
          <p:cNvSpPr>
            <a:spLocks noGrp="1"/>
          </p:cNvSpPr>
          <p:nvPr>
            <p:ph type="title"/>
          </p:nvPr>
        </p:nvSpPr>
        <p:spPr/>
        <p:txBody>
          <a:bodyPr/>
          <a:lstStyle/>
          <a:p>
            <a:r>
              <a:rPr lang="en-US"/>
              <a:t>Click to edit Master title style</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80C9D66D-6CBD-4019-B295-85887C09FD69}" type="datetime1">
              <a:rPr lang="en-US"/>
              <a:pPr>
                <a:defRPr/>
              </a:pPr>
              <a:t>9/13/2025</a:t>
            </a:fld>
            <a:endParaRPr lang="en-US"/>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44E1D43E-93A2-48A8-99BB-0357A1CA7391}" type="slidenum">
              <a:rPr lang="en-US"/>
              <a:pPr>
                <a:defRPr/>
              </a:pPr>
              <a:t>‹#›</a:t>
            </a:fld>
            <a:endParaRPr lang="en-US" dirty="0"/>
          </a:p>
        </p:txBody>
      </p:sp>
    </p:spTree>
  </p:cSld>
  <p:clrMapOvr>
    <a:masterClrMapping/>
  </p:clrMapOvr>
  <p:transition spd="med">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DF5A929D-99D1-46BB-B618-C2E008CBC434}" type="datetime1">
              <a:rPr lang="en-US"/>
              <a:pPr>
                <a:defRPr/>
              </a:pPr>
              <a:t>9/13/2025</a:t>
            </a:fld>
            <a:endParaRPr lang="en-US"/>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73338937-8C75-4C92-BED7-E86E82AA5E6B}" type="slidenum">
              <a:rPr lang="en-US"/>
              <a:pPr>
                <a:defRPr/>
              </a:pPr>
              <a:t>‹#›</a:t>
            </a:fld>
            <a:endParaRPr lang="en-US" dirty="0"/>
          </a:p>
        </p:txBody>
      </p:sp>
    </p:spTree>
  </p:cSld>
  <p:clrMapOvr>
    <a:masterClrMapping/>
  </p:clrMapOvr>
  <p:transition spd="med">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BE19BEBF-8BB7-46B7-AE14-ADADC4B2CD6D}" type="datetime1">
              <a:rPr lang="en-US"/>
              <a:pPr>
                <a:defRPr/>
              </a:pPr>
              <a:t>9/13/2025</a:t>
            </a:fld>
            <a:endParaRPr lang="en-US"/>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D6316FC-CE91-4411-B0B2-F9D47DB0EBBB}" type="slidenum">
              <a:rPr lang="en-US"/>
              <a:pPr>
                <a:defRPr/>
              </a:pPr>
              <a:t>‹#›</a:t>
            </a:fld>
            <a:endParaRPr lang="en-US" dirty="0"/>
          </a:p>
        </p:txBody>
      </p:sp>
    </p:spTree>
  </p:cSld>
  <p:clrMapOvr>
    <a:masterClrMapping/>
  </p:clrMapOvr>
  <p:transition spd="med">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77BFF99F-366F-4E25-94FE-A8AD1EAAC03C}" type="datetime1">
              <a:rPr lang="en-US"/>
              <a:pPr>
                <a:defRPr/>
              </a:pPr>
              <a:t>9/13/2025</a:t>
            </a:fld>
            <a:endParaRPr lang="en-US"/>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CE558D81-E7B4-404F-A629-4772F410678B}" type="slidenum">
              <a:rPr lang="en-US"/>
              <a:pPr>
                <a:defRPr/>
              </a:pPr>
              <a:t>‹#›</a:t>
            </a:fld>
            <a:endParaRPr lang="en-US" dirty="0"/>
          </a:p>
        </p:txBody>
      </p:sp>
    </p:spTree>
  </p:cSld>
  <p:clrMapOvr>
    <a:masterClrMapping/>
  </p:clrMapOvr>
  <p:transition spd="med">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324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07D27ED4-23FE-45C8-9863-CEDE1AEDB2BB}" type="datetime1">
              <a:rPr lang="en-US"/>
              <a:pPr>
                <a:defRPr/>
              </a:pPr>
              <a:t>9/13/2025</a:t>
            </a:fld>
            <a:endParaRPr lang="en-US"/>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7763BD4-96EB-45DA-814C-31643186FCD6}" type="slidenum">
              <a:rPr lang="en-US"/>
              <a:pPr>
                <a:defRPr/>
              </a:pPr>
              <a:t>‹#›</a:t>
            </a:fld>
            <a:endParaRPr lang="en-US" dirty="0"/>
          </a:p>
        </p:txBody>
      </p:sp>
    </p:spTree>
  </p:cSld>
  <p:clrMapOvr>
    <a:masterClrMapping/>
  </p:clrMapOvr>
  <p:transition spd="med">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0" y="0"/>
            <a:ext cx="9144000" cy="632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43DB3901-F5C5-4867-BE7D-CD7DD78C9837}" type="datetime1">
              <a:rPr lang="en-US"/>
              <a:pPr>
                <a:defRPr/>
              </a:pPr>
              <a:t>9/13/2025</a:t>
            </a:fld>
            <a:endParaRPr lang="en-US"/>
          </a:p>
        </p:txBody>
      </p:sp>
      <p:sp>
        <p:nvSpPr>
          <p:cNvPr id="4"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3F2418D3-B9AE-4004-B892-6A93A8B0FC0B}" type="slidenum">
              <a:rPr lang="en-US"/>
              <a:pPr>
                <a:defRPr/>
              </a:pPr>
              <a:t>‹#›</a:t>
            </a:fld>
            <a:endParaRPr lang="en-US" dirty="0"/>
          </a:p>
        </p:txBody>
      </p:sp>
    </p:spTree>
  </p:cSld>
  <p:clrMapOvr>
    <a:masterClrMapping/>
  </p:clrMapOvr>
  <p:transition spd="med">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74431" y="304801"/>
            <a:ext cx="8001000" cy="1216025"/>
          </a:xfrm>
        </p:spPr>
        <p:txBody>
          <a:bodyPr/>
          <a:lstStyle/>
          <a:p>
            <a:r>
              <a:rPr lang="en-US"/>
              <a:t>Click to edit Master title style</a:t>
            </a:r>
          </a:p>
        </p:txBody>
      </p:sp>
      <p:sp>
        <p:nvSpPr>
          <p:cNvPr id="3" name="Table Placeholder 2"/>
          <p:cNvSpPr>
            <a:spLocks noGrp="1"/>
          </p:cNvSpPr>
          <p:nvPr>
            <p:ph type="tbl" idx="1"/>
          </p:nvPr>
        </p:nvSpPr>
        <p:spPr>
          <a:xfrm>
            <a:off x="567104" y="1752600"/>
            <a:ext cx="8001000" cy="4267200"/>
          </a:xfrm>
        </p:spPr>
        <p:txBody>
          <a:bodyPr/>
          <a:lstStyle/>
          <a:p>
            <a:pPr lvl="0"/>
            <a:endParaRPr lang="en-US" noProof="0" dirty="0"/>
          </a:p>
        </p:txBody>
      </p:sp>
      <p:sp>
        <p:nvSpPr>
          <p:cNvPr id="4" name="Date Placeholder 3"/>
          <p:cNvSpPr>
            <a:spLocks noGrp="1"/>
          </p:cNvSpPr>
          <p:nvPr>
            <p:ph type="dt" sz="half" idx="10"/>
          </p:nvPr>
        </p:nvSpPr>
        <p:spPr>
          <a:xfrm>
            <a:off x="609600" y="6245225"/>
            <a:ext cx="1981200" cy="476250"/>
          </a:xfrm>
        </p:spPr>
        <p:txBody>
          <a:bodyPr/>
          <a:lstStyle>
            <a:lvl1pPr fontAlgn="auto">
              <a:spcBef>
                <a:spcPts val="0"/>
              </a:spcBef>
              <a:spcAft>
                <a:spcPts val="0"/>
              </a:spcAft>
              <a:defRPr/>
            </a:lvl1pPr>
          </a:lstStyle>
          <a:p>
            <a:pPr>
              <a:defRPr/>
            </a:pPr>
            <a:fld id="{AAC763B1-B2F1-4227-81C7-F65C4B7ADC29}" type="datetime1">
              <a:rPr lang="en-US"/>
              <a:pPr>
                <a:defRPr/>
              </a:pPr>
              <a:t>9/13/2025</a:t>
            </a:fld>
            <a:endParaRPr lang="en-US"/>
          </a:p>
        </p:txBody>
      </p:sp>
      <p:sp>
        <p:nvSpPr>
          <p:cNvPr id="5" name="Footer Placeholder 4"/>
          <p:cNvSpPr>
            <a:spLocks noGrp="1"/>
          </p:cNvSpPr>
          <p:nvPr>
            <p:ph type="ftr" sz="quarter" idx="11"/>
          </p:nvPr>
        </p:nvSpPr>
        <p:spPr>
          <a:xfrm>
            <a:off x="3124200" y="6245225"/>
            <a:ext cx="2895600" cy="476250"/>
          </a:xfrm>
        </p:spPr>
        <p:txBody>
          <a:bodyPr/>
          <a:lstStyle>
            <a:lvl1pPr fontAlgn="auto">
              <a:spcBef>
                <a:spcPts val="0"/>
              </a:spcBef>
              <a:spcAft>
                <a:spcPts val="0"/>
              </a:spcAft>
              <a:defRPr/>
            </a:lvl1pPr>
          </a:lstStyle>
          <a:p>
            <a:pPr>
              <a:defRPr/>
            </a:pPr>
            <a:endParaRPr lang="en-US"/>
          </a:p>
        </p:txBody>
      </p:sp>
      <p:sp>
        <p:nvSpPr>
          <p:cNvPr id="6" name="Slide Number Placeholder 5"/>
          <p:cNvSpPr>
            <a:spLocks noGrp="1"/>
          </p:cNvSpPr>
          <p:nvPr>
            <p:ph type="sldNum" sz="quarter" idx="12"/>
          </p:nvPr>
        </p:nvSpPr>
        <p:spPr>
          <a:xfrm>
            <a:off x="7162800" y="0"/>
            <a:ext cx="1981200" cy="476250"/>
          </a:xfrm>
        </p:spPr>
        <p:txBody>
          <a:bodyPr/>
          <a:lstStyle>
            <a:lvl1pPr>
              <a:defRPr/>
            </a:lvl1pPr>
          </a:lstStyle>
          <a:p>
            <a:pPr>
              <a:defRPr/>
            </a:pPr>
            <a:fld id="{73FB4805-A602-41E2-9058-49B549AC0F7F}" type="slidenum">
              <a:rPr lang="en-US"/>
              <a:pPr>
                <a:defRPr/>
              </a:pPr>
              <a:t>‹#›</a:t>
            </a:fld>
            <a:endParaRPr lang="en-US" dirty="0"/>
          </a:p>
        </p:txBody>
      </p:sp>
    </p:spTree>
  </p:cSld>
  <p:clrMapOvr>
    <a:overrideClrMapping bg1="dk2" tx1="lt1" bg2="dk1" tx2="lt2" accent1="accent1" accent2="accent2" accent3="accent3" accent4="accent4" accent5="accent5" accent6="accent6" hlink="hlink" folHlink="folHlink"/>
  </p:clrMapOvr>
  <p:transition spd="med">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p>
        </p:txBody>
      </p:sp>
      <p:sp>
        <p:nvSpPr>
          <p:cNvPr id="3" name="Chart Placeholder 2"/>
          <p:cNvSpPr>
            <a:spLocks noGrp="1"/>
          </p:cNvSpPr>
          <p:nvPr>
            <p:ph type="chart" idx="1"/>
          </p:nvPr>
        </p:nvSpPr>
        <p:spPr>
          <a:xfrm>
            <a:off x="352425" y="1143000"/>
            <a:ext cx="8580438" cy="5181600"/>
          </a:xfrm>
        </p:spPr>
        <p:txBody>
          <a:bodyPr/>
          <a:lstStyle/>
          <a:p>
            <a:pPr lvl="0"/>
            <a:endParaRPr 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D7F5572A-D9E0-4226-9E47-7606B0D149D0}" type="datetime1">
              <a:rPr lang="en-US"/>
              <a:pPr>
                <a:defRPr/>
              </a:pPr>
              <a:t>9/13/2025</a:t>
            </a:fld>
            <a:endParaRPr lang="en-US"/>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4EF33638-21AF-4571-8601-C3956647EA56}" type="slidenum">
              <a:rPr lang="en-US"/>
              <a:pPr>
                <a:defRPr/>
              </a:pPr>
              <a:t>‹#›</a:t>
            </a:fld>
            <a:endParaRPr lang="en-US" dirty="0"/>
          </a:p>
        </p:txBody>
      </p:sp>
    </p:spTree>
  </p:cSld>
  <p:clrMapOvr>
    <a:masterClrMapping/>
  </p:clrMapOvr>
  <p:transition spd="med">
    <p:strips dir="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685800"/>
          </a:xfrm>
        </p:spPr>
        <p:txBody>
          <a:bodyPr/>
          <a:lstStyle/>
          <a:p>
            <a:r>
              <a:rPr lang="en-US"/>
              <a:t>Click to edit Master title style</a:t>
            </a:r>
          </a:p>
        </p:txBody>
      </p:sp>
      <p:sp>
        <p:nvSpPr>
          <p:cNvPr id="3" name="Text Placeholder 2"/>
          <p:cNvSpPr>
            <a:spLocks noGrp="1"/>
          </p:cNvSpPr>
          <p:nvPr>
            <p:ph type="body" sz="half" idx="1"/>
          </p:nvPr>
        </p:nvSpPr>
        <p:spPr>
          <a:xfrm>
            <a:off x="685800" y="1219200"/>
            <a:ext cx="38100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38100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 2003 Prentice Hall Inc. All rights reserved.</a:t>
            </a:r>
          </a:p>
        </p:txBody>
      </p:sp>
      <p:sp>
        <p:nvSpPr>
          <p:cNvPr id="6" name="Rectangle 6"/>
          <p:cNvSpPr>
            <a:spLocks noGrp="1" noChangeArrowheads="1"/>
          </p:cNvSpPr>
          <p:nvPr>
            <p:ph type="sldNum" sz="quarter" idx="11"/>
          </p:nvPr>
        </p:nvSpPr>
        <p:spPr>
          <a:ln/>
        </p:spPr>
        <p:txBody>
          <a:bodyPr/>
          <a:lstStyle>
            <a:lvl1pPr>
              <a:defRPr/>
            </a:lvl1pPr>
          </a:lstStyle>
          <a:p>
            <a:pPr>
              <a:defRPr/>
            </a:pPr>
            <a:r>
              <a:rPr lang="en-US"/>
              <a:t>1</a:t>
            </a:r>
            <a:r>
              <a:rPr lang="en-US">
                <a:cs typeface="Arial" charset="0"/>
              </a:rPr>
              <a:t>–</a:t>
            </a:r>
            <a:fld id="{6D0BEC7F-E34B-4BCE-AC3C-1BB65BA7CF37}" type="slidenum">
              <a:rPr lang="en-US"/>
              <a:pPr>
                <a:defRPr/>
              </a:pPr>
              <a:t>‹#›</a:t>
            </a:fld>
            <a:endParaRPr lang="en-US"/>
          </a:p>
        </p:txBody>
      </p:sp>
    </p:spTree>
    <p:extLst>
      <p:ext uri="{BB962C8B-B14F-4D97-AF65-F5344CB8AC3E}">
        <p14:creationId xmlns:p14="http://schemas.microsoft.com/office/powerpoint/2010/main" val="235568241"/>
      </p:ext>
    </p:extLst>
  </p:cSld>
  <p:clrMapOvr>
    <a:masterClrMapping/>
  </p:clrMapOvr>
  <p:transition>
    <p:cut thruBlk="1"/>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381000"/>
            <a:ext cx="7772400" cy="685800"/>
          </a:xfrm>
        </p:spPr>
        <p:txBody>
          <a:bodyPr/>
          <a:lstStyle/>
          <a:p>
            <a:r>
              <a:rPr lang="en-US"/>
              <a:t>Click to edit Master title style</a:t>
            </a:r>
          </a:p>
        </p:txBody>
      </p:sp>
      <p:sp>
        <p:nvSpPr>
          <p:cNvPr id="3" name="Content Placeholder 2"/>
          <p:cNvSpPr>
            <a:spLocks noGrp="1"/>
          </p:cNvSpPr>
          <p:nvPr>
            <p:ph sz="quarter" idx="1"/>
          </p:nvPr>
        </p:nvSpPr>
        <p:spPr>
          <a:xfrm>
            <a:off x="685800" y="1219200"/>
            <a:ext cx="3810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19200"/>
            <a:ext cx="3810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3848100"/>
            <a:ext cx="3810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848100"/>
            <a:ext cx="3810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AB57235-A6F5-53EF-3E19-16702E60A038}"/>
              </a:ext>
            </a:extLst>
          </p:cNvPr>
          <p:cNvSpPr>
            <a:spLocks noGrp="1" noChangeArrowheads="1"/>
          </p:cNvSpPr>
          <p:nvPr>
            <p:ph type="ftr" sz="quarter" idx="10"/>
          </p:nvPr>
        </p:nvSpPr>
        <p:spPr>
          <a:ln/>
        </p:spPr>
        <p:txBody>
          <a:bodyPr/>
          <a:lstStyle>
            <a:lvl1pPr>
              <a:defRPr/>
            </a:lvl1pPr>
          </a:lstStyle>
          <a:p>
            <a:pPr>
              <a:defRPr/>
            </a:pPr>
            <a:r>
              <a:rPr lang="en-US"/>
              <a:t>© 2005 Prentice Hall Inc. All rights reserved.</a:t>
            </a:r>
          </a:p>
        </p:txBody>
      </p:sp>
      <p:sp>
        <p:nvSpPr>
          <p:cNvPr id="8" name="Rectangle 5">
            <a:extLst>
              <a:ext uri="{FF2B5EF4-FFF2-40B4-BE49-F238E27FC236}">
                <a16:creationId xmlns:a16="http://schemas.microsoft.com/office/drawing/2014/main" id="{A9798164-46BE-C412-58F8-1952EE4870C5}"/>
              </a:ext>
            </a:extLst>
          </p:cNvPr>
          <p:cNvSpPr>
            <a:spLocks noGrp="1" noChangeArrowheads="1"/>
          </p:cNvSpPr>
          <p:nvPr>
            <p:ph type="sldNum" sz="quarter" idx="11"/>
          </p:nvPr>
        </p:nvSpPr>
        <p:spPr>
          <a:ln/>
        </p:spPr>
        <p:txBody>
          <a:bodyPr/>
          <a:lstStyle>
            <a:lvl1pPr>
              <a:defRPr/>
            </a:lvl1pPr>
          </a:lstStyle>
          <a:p>
            <a:r>
              <a:rPr lang="en-US" altLang="en-US"/>
              <a:t>2–</a:t>
            </a:r>
            <a:fld id="{7E9C9457-2C78-4339-AC64-87BAA8808712}" type="slidenum">
              <a:rPr lang="en-US" altLang="en-US"/>
              <a:pPr/>
              <a:t>‹#›</a:t>
            </a:fld>
            <a:endParaRPr lang="en-US" altLang="en-US"/>
          </a:p>
        </p:txBody>
      </p:sp>
    </p:spTree>
    <p:extLst>
      <p:ext uri="{BB962C8B-B14F-4D97-AF65-F5344CB8AC3E}">
        <p14:creationId xmlns:p14="http://schemas.microsoft.com/office/powerpoint/2010/main" val="3546041426"/>
      </p:ext>
    </p:extLst>
  </p:cSld>
  <p:clrMapOvr>
    <a:masterClrMapping/>
  </p:clrMapOvr>
  <p:transition spd="med">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40A768E-E537-0A48-9F8B-A16CA45DDC96}"/>
              </a:ext>
            </a:extLst>
          </p:cNvPr>
          <p:cNvSpPr>
            <a:spLocks noGrp="1" noChangeArrowheads="1"/>
          </p:cNvSpPr>
          <p:nvPr>
            <p:ph type="ftr" sz="quarter" idx="10"/>
          </p:nvPr>
        </p:nvSpPr>
        <p:spPr>
          <a:ln/>
        </p:spPr>
        <p:txBody>
          <a:bodyPr/>
          <a:lstStyle>
            <a:lvl1pPr>
              <a:defRPr/>
            </a:lvl1pPr>
          </a:lstStyle>
          <a:p>
            <a:pPr>
              <a:defRPr/>
            </a:pPr>
            <a:r>
              <a:rPr lang="en-US"/>
              <a:t>© 2005 Prentice Hall Inc. All rights reserved.</a:t>
            </a:r>
          </a:p>
        </p:txBody>
      </p:sp>
      <p:sp>
        <p:nvSpPr>
          <p:cNvPr id="3" name="Rectangle 5">
            <a:extLst>
              <a:ext uri="{FF2B5EF4-FFF2-40B4-BE49-F238E27FC236}">
                <a16:creationId xmlns:a16="http://schemas.microsoft.com/office/drawing/2014/main" id="{1DC34CAB-9FAD-A7A1-EBF4-2F5F4354746A}"/>
              </a:ext>
            </a:extLst>
          </p:cNvPr>
          <p:cNvSpPr>
            <a:spLocks noGrp="1" noChangeArrowheads="1"/>
          </p:cNvSpPr>
          <p:nvPr>
            <p:ph type="sldNum" sz="quarter" idx="11"/>
          </p:nvPr>
        </p:nvSpPr>
        <p:spPr>
          <a:ln/>
        </p:spPr>
        <p:txBody>
          <a:bodyPr/>
          <a:lstStyle>
            <a:lvl1pPr>
              <a:defRPr/>
            </a:lvl1pPr>
          </a:lstStyle>
          <a:p>
            <a:r>
              <a:rPr lang="en-US" altLang="en-US"/>
              <a:t>2–</a:t>
            </a:r>
            <a:fld id="{42BC7A05-6992-4518-BCD7-C2F7BD6DC4FF}" type="slidenum">
              <a:rPr lang="en-US" altLang="en-US"/>
              <a:pPr/>
              <a:t>‹#›</a:t>
            </a:fld>
            <a:endParaRPr lang="en-US" altLang="en-US"/>
          </a:p>
        </p:txBody>
      </p:sp>
    </p:spTree>
    <p:extLst>
      <p:ext uri="{BB962C8B-B14F-4D97-AF65-F5344CB8AC3E}">
        <p14:creationId xmlns:p14="http://schemas.microsoft.com/office/powerpoint/2010/main" val="2876160725"/>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theme" Target="../theme/theme2.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7170" name="Group 2"/>
          <p:cNvGrpSpPr>
            <a:grpSpLocks/>
          </p:cNvGrpSpPr>
          <p:nvPr/>
        </p:nvGrpSpPr>
        <p:grpSpPr bwMode="auto">
          <a:xfrm>
            <a:off x="1588" y="0"/>
            <a:ext cx="9148762" cy="6851650"/>
            <a:chOff x="1" y="0"/>
            <a:chExt cx="5763" cy="4316"/>
          </a:xfrm>
        </p:grpSpPr>
        <p:sp>
          <p:nvSpPr>
            <p:cNvPr id="236547" name="Freeform 3"/>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48" name="Freeform 4"/>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49" name="Freeform 5"/>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grpSp>
          <p:nvGrpSpPr>
            <p:cNvPr id="7179" name="Group 6"/>
            <p:cNvGrpSpPr>
              <a:grpSpLocks/>
            </p:cNvGrpSpPr>
            <p:nvPr/>
          </p:nvGrpSpPr>
          <p:grpSpPr bwMode="auto">
            <a:xfrm>
              <a:off x="288" y="0"/>
              <a:ext cx="5098" cy="4316"/>
              <a:chOff x="288" y="0"/>
              <a:chExt cx="5098" cy="4316"/>
            </a:xfrm>
          </p:grpSpPr>
          <p:sp>
            <p:nvSpPr>
              <p:cNvPr id="236551" name="Freeform 7"/>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2" name="Freeform 8"/>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3" name="Freeform 9"/>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4" name="Freeform 10"/>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5" name="Freeform 11"/>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6" name="Freeform 12"/>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7" name="Freeform 13"/>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8" name="Freeform 14"/>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59" name="Freeform 15"/>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60" name="Freeform 16"/>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61" name="Freeform 17"/>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62" name="Freeform 18"/>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63" name="Freeform 19"/>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grpSp>
        <p:sp>
          <p:nvSpPr>
            <p:cNvPr id="236564" name="Freeform 20"/>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65" name="Freeform 21"/>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66" name="Freeform 22"/>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67" name="Freeform 23"/>
            <p:cNvSpPr>
              <a:spLocks/>
            </p:cNvSpPr>
            <p:nvPr/>
          </p:nvSpPr>
          <p:spPr bwMode="hidden">
            <a:xfrm>
              <a:off x="5041" y="0"/>
              <a:ext cx="719" cy="845"/>
            </a:xfrm>
            <a:custGeom>
              <a:avLst/>
              <a:gdLst/>
              <a:ahLst/>
              <a:cxnLst>
                <a:cxn ang="0">
                  <a:pos x="717" y="845"/>
                </a:cxn>
                <a:cxn ang="0">
                  <a:pos x="717" y="821"/>
                </a:cxn>
                <a:cxn ang="0">
                  <a:pos x="574" y="605"/>
                </a:cxn>
                <a:cxn ang="0">
                  <a:pos x="406" y="396"/>
                </a:cxn>
                <a:cxn ang="0">
                  <a:pos x="221" y="192"/>
                </a:cxn>
                <a:cxn ang="0">
                  <a:pos x="17" y="0"/>
                </a:cxn>
                <a:cxn ang="0">
                  <a:pos x="0" y="0"/>
                </a:cxn>
                <a:cxn ang="0">
                  <a:pos x="209" y="198"/>
                </a:cxn>
                <a:cxn ang="0">
                  <a:pos x="400" y="408"/>
                </a:cxn>
                <a:cxn ang="0">
                  <a:pos x="568" y="623"/>
                </a:cxn>
                <a:cxn ang="0">
                  <a:pos x="717" y="845"/>
                </a:cxn>
                <a:cxn ang="0">
                  <a:pos x="717" y="845"/>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lnTo>
                    <a:pt x="717" y="845"/>
                  </a:lnTo>
                  <a:close/>
                </a:path>
              </a:pathLst>
            </a:custGeom>
            <a:solidFill>
              <a:schemeClr val="bg1"/>
            </a:solidFill>
            <a:ln w="9525">
              <a:noFill/>
              <a:round/>
              <a:headEnd/>
              <a:tailEnd/>
            </a:ln>
          </p:spPr>
          <p:txBody>
            <a:bodyPr/>
            <a:lstStyle/>
            <a:p>
              <a:pPr>
                <a:defRPr/>
              </a:pPr>
              <a:endParaRPr lang="en-GB">
                <a:solidFill>
                  <a:srgbClr val="FFFFFF"/>
                </a:solidFill>
                <a:latin typeface="Arial" pitchFamily="34" charset="0"/>
              </a:endParaRPr>
            </a:p>
          </p:txBody>
        </p:sp>
        <p:sp>
          <p:nvSpPr>
            <p:cNvPr id="236568" name="Freeform 24"/>
            <p:cNvSpPr>
              <a:spLocks/>
            </p:cNvSpPr>
            <p:nvPr/>
          </p:nvSpPr>
          <p:spPr bwMode="hidden">
            <a:xfrm>
              <a:off x="5352" y="0"/>
              <a:ext cx="408" cy="414"/>
            </a:xfrm>
            <a:custGeom>
              <a:avLst/>
              <a:gdLst/>
              <a:ahLst/>
              <a:cxnLst>
                <a:cxn ang="0">
                  <a:pos x="407" y="414"/>
                </a:cxn>
                <a:cxn ang="0">
                  <a:pos x="407" y="396"/>
                </a:cxn>
                <a:cxn ang="0">
                  <a:pos x="222" y="192"/>
                </a:cxn>
                <a:cxn ang="0">
                  <a:pos x="12" y="0"/>
                </a:cxn>
                <a:cxn ang="0">
                  <a:pos x="0" y="0"/>
                </a:cxn>
                <a:cxn ang="0">
                  <a:pos x="108" y="102"/>
                </a:cxn>
                <a:cxn ang="0">
                  <a:pos x="216" y="204"/>
                </a:cxn>
                <a:cxn ang="0">
                  <a:pos x="407" y="414"/>
                </a:cxn>
                <a:cxn ang="0">
                  <a:pos x="407" y="414"/>
                </a:cxn>
              </a:cxnLst>
              <a:rect l="0" t="0" r="r" b="b"/>
              <a:pathLst>
                <a:path w="407" h="414">
                  <a:moveTo>
                    <a:pt x="407" y="414"/>
                  </a:moveTo>
                  <a:lnTo>
                    <a:pt x="407" y="396"/>
                  </a:lnTo>
                  <a:lnTo>
                    <a:pt x="222" y="192"/>
                  </a:lnTo>
                  <a:lnTo>
                    <a:pt x="12" y="0"/>
                  </a:lnTo>
                  <a:lnTo>
                    <a:pt x="0" y="0"/>
                  </a:lnTo>
                  <a:lnTo>
                    <a:pt x="108" y="102"/>
                  </a:lnTo>
                  <a:lnTo>
                    <a:pt x="216" y="204"/>
                  </a:lnTo>
                  <a:lnTo>
                    <a:pt x="407" y="414"/>
                  </a:lnTo>
                  <a:lnTo>
                    <a:pt x="407" y="414"/>
                  </a:lnTo>
                  <a:close/>
                </a:path>
              </a:pathLst>
            </a:custGeom>
            <a:solidFill>
              <a:schemeClr val="bg1"/>
            </a:solidFill>
            <a:ln w="9525">
              <a:noFill/>
              <a:round/>
              <a:headEnd/>
              <a:tailEnd/>
            </a:ln>
          </p:spPr>
          <p:txBody>
            <a:bodyPr/>
            <a:lstStyle/>
            <a:p>
              <a:pPr>
                <a:defRPr/>
              </a:pPr>
              <a:endParaRPr lang="en-GB">
                <a:solidFill>
                  <a:srgbClr val="FFFFFF"/>
                </a:solidFill>
                <a:latin typeface="Arial" pitchFamily="34" charset="0"/>
              </a:endParaRPr>
            </a:p>
          </p:txBody>
        </p:sp>
        <p:sp>
          <p:nvSpPr>
            <p:cNvPr id="236569" name="Freeform 25"/>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a:defRPr/>
              </a:pPr>
              <a:endParaRPr lang="en-GB">
                <a:solidFill>
                  <a:srgbClr val="FFFFFF"/>
                </a:solidFill>
                <a:latin typeface="Arial" pitchFamily="34" charset="0"/>
              </a:endParaRPr>
            </a:p>
          </p:txBody>
        </p:sp>
        <p:sp>
          <p:nvSpPr>
            <p:cNvPr id="236570" name="Freeform 26"/>
            <p:cNvSpPr>
              <a:spLocks/>
            </p:cNvSpPr>
            <p:nvPr/>
          </p:nvSpPr>
          <p:spPr bwMode="hidden">
            <a:xfrm>
              <a:off x="6" y="0"/>
              <a:ext cx="588" cy="599"/>
            </a:xfrm>
            <a:custGeom>
              <a:avLst/>
              <a:gdLst/>
              <a:ahLst/>
              <a:cxnLst>
                <a:cxn ang="0">
                  <a:pos x="586" y="0"/>
                </a:cxn>
                <a:cxn ang="0">
                  <a:pos x="568" y="0"/>
                </a:cxn>
                <a:cxn ang="0">
                  <a:pos x="407" y="132"/>
                </a:cxn>
                <a:cxn ang="0">
                  <a:pos x="257" y="270"/>
                </a:cxn>
                <a:cxn ang="0">
                  <a:pos x="120" y="420"/>
                </a:cxn>
                <a:cxn ang="0">
                  <a:pos x="0" y="575"/>
                </a:cxn>
                <a:cxn ang="0">
                  <a:pos x="0" y="599"/>
                </a:cxn>
                <a:cxn ang="0">
                  <a:pos x="120" y="432"/>
                </a:cxn>
                <a:cxn ang="0">
                  <a:pos x="257" y="282"/>
                </a:cxn>
                <a:cxn ang="0">
                  <a:pos x="413" y="138"/>
                </a:cxn>
                <a:cxn ang="0">
                  <a:pos x="586" y="0"/>
                </a:cxn>
                <a:cxn ang="0">
                  <a:pos x="586" y="0"/>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lnTo>
                    <a:pt x="586" y="0"/>
                  </a:lnTo>
                  <a:close/>
                </a:path>
              </a:pathLst>
            </a:custGeom>
            <a:solidFill>
              <a:schemeClr val="bg1"/>
            </a:solidFill>
            <a:ln w="9525">
              <a:noFill/>
              <a:round/>
              <a:headEnd/>
              <a:tailEnd/>
            </a:ln>
          </p:spPr>
          <p:txBody>
            <a:bodyPr/>
            <a:lstStyle/>
            <a:p>
              <a:pPr>
                <a:defRPr/>
              </a:pPr>
              <a:endParaRPr lang="en-GB">
                <a:solidFill>
                  <a:srgbClr val="FFFFFF"/>
                </a:solidFill>
                <a:latin typeface="Arial" pitchFamily="34" charset="0"/>
              </a:endParaRPr>
            </a:p>
          </p:txBody>
        </p:sp>
        <p:sp>
          <p:nvSpPr>
            <p:cNvPr id="236571" name="Freeform 27"/>
            <p:cNvSpPr>
              <a:spLocks/>
            </p:cNvSpPr>
            <p:nvPr/>
          </p:nvSpPr>
          <p:spPr bwMode="hidden">
            <a:xfrm>
              <a:off x="6" y="0"/>
              <a:ext cx="270" cy="252"/>
            </a:xfrm>
            <a:custGeom>
              <a:avLst/>
              <a:gdLst/>
              <a:ahLst/>
              <a:cxnLst>
                <a:cxn ang="0">
                  <a:pos x="269" y="0"/>
                </a:cxn>
                <a:cxn ang="0">
                  <a:pos x="251" y="0"/>
                </a:cxn>
                <a:cxn ang="0">
                  <a:pos x="120" y="114"/>
                </a:cxn>
                <a:cxn ang="0">
                  <a:pos x="60" y="174"/>
                </a:cxn>
                <a:cxn ang="0">
                  <a:pos x="0" y="234"/>
                </a:cxn>
                <a:cxn ang="0">
                  <a:pos x="0" y="252"/>
                </a:cxn>
                <a:cxn ang="0">
                  <a:pos x="126" y="120"/>
                </a:cxn>
                <a:cxn ang="0">
                  <a:pos x="269" y="0"/>
                </a:cxn>
                <a:cxn ang="0">
                  <a:pos x="269" y="0"/>
                </a:cxn>
              </a:cxnLst>
              <a:rect l="0" t="0" r="r" b="b"/>
              <a:pathLst>
                <a:path w="269" h="252">
                  <a:moveTo>
                    <a:pt x="269" y="0"/>
                  </a:moveTo>
                  <a:lnTo>
                    <a:pt x="251" y="0"/>
                  </a:lnTo>
                  <a:lnTo>
                    <a:pt x="120" y="114"/>
                  </a:lnTo>
                  <a:lnTo>
                    <a:pt x="60" y="174"/>
                  </a:lnTo>
                  <a:lnTo>
                    <a:pt x="0" y="234"/>
                  </a:lnTo>
                  <a:lnTo>
                    <a:pt x="0" y="252"/>
                  </a:lnTo>
                  <a:lnTo>
                    <a:pt x="126" y="120"/>
                  </a:lnTo>
                  <a:lnTo>
                    <a:pt x="269" y="0"/>
                  </a:lnTo>
                  <a:lnTo>
                    <a:pt x="269" y="0"/>
                  </a:lnTo>
                  <a:close/>
                </a:path>
              </a:pathLst>
            </a:custGeom>
            <a:solidFill>
              <a:schemeClr val="bg1"/>
            </a:solidFill>
            <a:ln w="9525">
              <a:noFill/>
              <a:round/>
              <a:headEnd/>
              <a:tailEnd/>
            </a:ln>
          </p:spPr>
          <p:txBody>
            <a:bodyPr/>
            <a:lstStyle/>
            <a:p>
              <a:pPr>
                <a:defRPr/>
              </a:pPr>
              <a:endParaRPr lang="en-GB">
                <a:solidFill>
                  <a:srgbClr val="FFFFFF"/>
                </a:solidFill>
                <a:latin typeface="Arial" pitchFamily="34" charset="0"/>
              </a:endParaRPr>
            </a:p>
          </p:txBody>
        </p:sp>
        <p:sp>
          <p:nvSpPr>
            <p:cNvPr id="236572" name="Line 28"/>
            <p:cNvSpPr>
              <a:spLocks noChangeShapeType="1"/>
            </p:cNvSpPr>
            <p:nvPr/>
          </p:nvSpPr>
          <p:spPr bwMode="hidden">
            <a:xfrm>
              <a:off x="1" y="2749"/>
              <a:ext cx="5758" cy="0"/>
            </a:xfrm>
            <a:prstGeom prst="line">
              <a:avLst/>
            </a:prstGeom>
            <a:noFill/>
            <a:ln w="15875">
              <a:solidFill>
                <a:schemeClr val="bg1"/>
              </a:solidFill>
              <a:round/>
              <a:headEnd/>
              <a:tailEnd/>
            </a:ln>
            <a:effectLst/>
          </p:spPr>
          <p:txBody>
            <a:bodyPr/>
            <a:lstStyle/>
            <a:p>
              <a:pPr>
                <a:defRPr/>
              </a:pPr>
              <a:endParaRPr lang="en-GB">
                <a:solidFill>
                  <a:srgbClr val="FFFFFF"/>
                </a:solidFill>
                <a:latin typeface="Arial" pitchFamily="34" charset="0"/>
              </a:endParaRPr>
            </a:p>
          </p:txBody>
        </p:sp>
        <p:sp>
          <p:nvSpPr>
            <p:cNvPr id="236573" name="Line 29"/>
            <p:cNvSpPr>
              <a:spLocks noChangeShapeType="1"/>
            </p:cNvSpPr>
            <p:nvPr/>
          </p:nvSpPr>
          <p:spPr bwMode="hidden">
            <a:xfrm>
              <a:off x="1" y="2356"/>
              <a:ext cx="5758" cy="0"/>
            </a:xfrm>
            <a:prstGeom prst="line">
              <a:avLst/>
            </a:prstGeom>
            <a:noFill/>
            <a:ln w="15875">
              <a:solidFill>
                <a:schemeClr val="bg1"/>
              </a:solidFill>
              <a:round/>
              <a:headEnd/>
              <a:tailEnd/>
            </a:ln>
            <a:effectLst/>
          </p:spPr>
          <p:txBody>
            <a:bodyPr/>
            <a:lstStyle/>
            <a:p>
              <a:pPr>
                <a:defRPr/>
              </a:pPr>
              <a:endParaRPr lang="en-GB">
                <a:solidFill>
                  <a:srgbClr val="FFFFFF"/>
                </a:solidFill>
                <a:latin typeface="Arial" pitchFamily="34" charset="0"/>
              </a:endParaRPr>
            </a:p>
          </p:txBody>
        </p:sp>
        <p:sp>
          <p:nvSpPr>
            <p:cNvPr id="236574" name="Line 30"/>
            <p:cNvSpPr>
              <a:spLocks noChangeShapeType="1"/>
            </p:cNvSpPr>
            <p:nvPr/>
          </p:nvSpPr>
          <p:spPr bwMode="hidden">
            <a:xfrm>
              <a:off x="1" y="3142"/>
              <a:ext cx="5758" cy="0"/>
            </a:xfrm>
            <a:prstGeom prst="line">
              <a:avLst/>
            </a:prstGeom>
            <a:noFill/>
            <a:ln w="15875">
              <a:solidFill>
                <a:schemeClr val="bg2"/>
              </a:solidFill>
              <a:round/>
              <a:headEnd/>
              <a:tailEnd/>
            </a:ln>
            <a:effectLst/>
          </p:spPr>
          <p:txBody>
            <a:bodyPr/>
            <a:lstStyle/>
            <a:p>
              <a:pPr>
                <a:defRPr/>
              </a:pPr>
              <a:endParaRPr lang="en-GB">
                <a:solidFill>
                  <a:srgbClr val="FFFFFF"/>
                </a:solidFill>
                <a:latin typeface="Arial" pitchFamily="34" charset="0"/>
              </a:endParaRPr>
            </a:p>
          </p:txBody>
        </p:sp>
        <p:grpSp>
          <p:nvGrpSpPr>
            <p:cNvPr id="7191" name="Group 31"/>
            <p:cNvGrpSpPr>
              <a:grpSpLocks/>
            </p:cNvGrpSpPr>
            <p:nvPr/>
          </p:nvGrpSpPr>
          <p:grpSpPr bwMode="auto">
            <a:xfrm>
              <a:off x="1" y="392"/>
              <a:ext cx="5758" cy="1571"/>
              <a:chOff x="1" y="392"/>
              <a:chExt cx="5758" cy="1571"/>
            </a:xfrm>
          </p:grpSpPr>
          <p:sp>
            <p:nvSpPr>
              <p:cNvPr id="236576" name="Line 32"/>
              <p:cNvSpPr>
                <a:spLocks noChangeShapeType="1"/>
              </p:cNvSpPr>
              <p:nvPr userDrawn="1"/>
            </p:nvSpPr>
            <p:spPr bwMode="hidden">
              <a:xfrm>
                <a:off x="1" y="784"/>
                <a:ext cx="5758" cy="0"/>
              </a:xfrm>
              <a:prstGeom prst="line">
                <a:avLst/>
              </a:prstGeom>
              <a:noFill/>
              <a:ln w="15875">
                <a:solidFill>
                  <a:schemeClr val="bg1"/>
                </a:solidFill>
                <a:round/>
                <a:headEnd/>
                <a:tailEnd/>
              </a:ln>
              <a:effectLst/>
            </p:spPr>
            <p:txBody>
              <a:bodyPr/>
              <a:lstStyle/>
              <a:p>
                <a:pPr>
                  <a:defRPr/>
                </a:pPr>
                <a:endParaRPr lang="en-GB">
                  <a:solidFill>
                    <a:srgbClr val="FFFFFF"/>
                  </a:solidFill>
                  <a:latin typeface="Arial" pitchFamily="34" charset="0"/>
                </a:endParaRPr>
              </a:p>
            </p:txBody>
          </p:sp>
          <p:sp>
            <p:nvSpPr>
              <p:cNvPr id="236577" name="Line 33"/>
              <p:cNvSpPr>
                <a:spLocks noChangeShapeType="1"/>
              </p:cNvSpPr>
              <p:nvPr userDrawn="1"/>
            </p:nvSpPr>
            <p:spPr bwMode="hidden">
              <a:xfrm>
                <a:off x="1" y="1963"/>
                <a:ext cx="5758" cy="0"/>
              </a:xfrm>
              <a:prstGeom prst="line">
                <a:avLst/>
              </a:prstGeom>
              <a:noFill/>
              <a:ln w="15875">
                <a:solidFill>
                  <a:schemeClr val="bg1"/>
                </a:solidFill>
                <a:round/>
                <a:headEnd/>
                <a:tailEnd/>
              </a:ln>
              <a:effectLst/>
            </p:spPr>
            <p:txBody>
              <a:bodyPr/>
              <a:lstStyle/>
              <a:p>
                <a:pPr>
                  <a:defRPr/>
                </a:pPr>
                <a:endParaRPr lang="en-GB">
                  <a:solidFill>
                    <a:srgbClr val="FFFFFF"/>
                  </a:solidFill>
                  <a:latin typeface="Arial" pitchFamily="34" charset="0"/>
                </a:endParaRPr>
              </a:p>
            </p:txBody>
          </p:sp>
          <p:sp>
            <p:nvSpPr>
              <p:cNvPr id="236578" name="Line 34"/>
              <p:cNvSpPr>
                <a:spLocks noChangeShapeType="1"/>
              </p:cNvSpPr>
              <p:nvPr userDrawn="1"/>
            </p:nvSpPr>
            <p:spPr bwMode="hidden">
              <a:xfrm>
                <a:off x="1" y="1570"/>
                <a:ext cx="5758" cy="0"/>
              </a:xfrm>
              <a:prstGeom prst="line">
                <a:avLst/>
              </a:prstGeom>
              <a:noFill/>
              <a:ln w="15875">
                <a:solidFill>
                  <a:schemeClr val="bg1"/>
                </a:solidFill>
                <a:round/>
                <a:headEnd/>
                <a:tailEnd/>
              </a:ln>
              <a:effectLst/>
            </p:spPr>
            <p:txBody>
              <a:bodyPr/>
              <a:lstStyle/>
              <a:p>
                <a:pPr>
                  <a:defRPr/>
                </a:pPr>
                <a:endParaRPr lang="en-GB">
                  <a:solidFill>
                    <a:srgbClr val="FFFFFF"/>
                  </a:solidFill>
                  <a:latin typeface="Arial" pitchFamily="34" charset="0"/>
                </a:endParaRPr>
              </a:p>
            </p:txBody>
          </p:sp>
          <p:sp>
            <p:nvSpPr>
              <p:cNvPr id="236579" name="Line 35"/>
              <p:cNvSpPr>
                <a:spLocks noChangeShapeType="1"/>
              </p:cNvSpPr>
              <p:nvPr userDrawn="1"/>
            </p:nvSpPr>
            <p:spPr bwMode="hidden">
              <a:xfrm>
                <a:off x="1" y="1177"/>
                <a:ext cx="5758" cy="0"/>
              </a:xfrm>
              <a:prstGeom prst="line">
                <a:avLst/>
              </a:prstGeom>
              <a:noFill/>
              <a:ln w="15875">
                <a:solidFill>
                  <a:schemeClr val="bg1"/>
                </a:solidFill>
                <a:round/>
                <a:headEnd/>
                <a:tailEnd/>
              </a:ln>
              <a:effectLst/>
            </p:spPr>
            <p:txBody>
              <a:bodyPr/>
              <a:lstStyle/>
              <a:p>
                <a:pPr>
                  <a:defRPr/>
                </a:pPr>
                <a:endParaRPr lang="en-GB">
                  <a:solidFill>
                    <a:srgbClr val="FFFFFF"/>
                  </a:solidFill>
                  <a:latin typeface="Arial" pitchFamily="34" charset="0"/>
                </a:endParaRPr>
              </a:p>
            </p:txBody>
          </p:sp>
          <p:sp>
            <p:nvSpPr>
              <p:cNvPr id="236580" name="Line 36"/>
              <p:cNvSpPr>
                <a:spLocks noChangeShapeType="1"/>
              </p:cNvSpPr>
              <p:nvPr userDrawn="1"/>
            </p:nvSpPr>
            <p:spPr bwMode="hidden">
              <a:xfrm>
                <a:off x="1" y="392"/>
                <a:ext cx="5758" cy="0"/>
              </a:xfrm>
              <a:prstGeom prst="line">
                <a:avLst/>
              </a:prstGeom>
              <a:noFill/>
              <a:ln w="15875">
                <a:solidFill>
                  <a:schemeClr val="bg1"/>
                </a:solidFill>
                <a:round/>
                <a:headEnd/>
                <a:tailEnd/>
              </a:ln>
              <a:effectLst/>
            </p:spPr>
            <p:txBody>
              <a:bodyPr/>
              <a:lstStyle/>
              <a:p>
                <a:pPr>
                  <a:defRPr/>
                </a:pPr>
                <a:endParaRPr lang="en-GB">
                  <a:solidFill>
                    <a:srgbClr val="FFFFFF"/>
                  </a:solidFill>
                  <a:latin typeface="Arial" pitchFamily="34" charset="0"/>
                </a:endParaRPr>
              </a:p>
            </p:txBody>
          </p:sp>
        </p:grpSp>
        <p:sp>
          <p:nvSpPr>
            <p:cNvPr id="236581" name="Line 37"/>
            <p:cNvSpPr>
              <a:spLocks noChangeShapeType="1"/>
            </p:cNvSpPr>
            <p:nvPr/>
          </p:nvSpPr>
          <p:spPr bwMode="hidden">
            <a:xfrm>
              <a:off x="1" y="3928"/>
              <a:ext cx="5758" cy="0"/>
            </a:xfrm>
            <a:prstGeom prst="line">
              <a:avLst/>
            </a:prstGeom>
            <a:noFill/>
            <a:ln w="15875">
              <a:solidFill>
                <a:schemeClr val="bg2"/>
              </a:solidFill>
              <a:round/>
              <a:headEnd/>
              <a:tailEnd/>
            </a:ln>
            <a:effectLst/>
          </p:spPr>
          <p:txBody>
            <a:bodyPr/>
            <a:lstStyle/>
            <a:p>
              <a:pPr>
                <a:defRPr/>
              </a:pPr>
              <a:endParaRPr lang="en-GB">
                <a:solidFill>
                  <a:srgbClr val="FFFFFF"/>
                </a:solidFill>
                <a:latin typeface="Arial" pitchFamily="34" charset="0"/>
              </a:endParaRPr>
            </a:p>
          </p:txBody>
        </p:sp>
        <p:sp>
          <p:nvSpPr>
            <p:cNvPr id="236582" name="Line 38"/>
            <p:cNvSpPr>
              <a:spLocks noChangeShapeType="1"/>
            </p:cNvSpPr>
            <p:nvPr/>
          </p:nvSpPr>
          <p:spPr bwMode="hidden">
            <a:xfrm>
              <a:off x="1" y="3535"/>
              <a:ext cx="5758" cy="0"/>
            </a:xfrm>
            <a:prstGeom prst="line">
              <a:avLst/>
            </a:prstGeom>
            <a:noFill/>
            <a:ln w="15875">
              <a:solidFill>
                <a:schemeClr val="bg2"/>
              </a:solidFill>
              <a:round/>
              <a:headEnd/>
              <a:tailEnd/>
            </a:ln>
            <a:effectLst/>
          </p:spPr>
          <p:txBody>
            <a:bodyPr/>
            <a:lstStyle/>
            <a:p>
              <a:pPr>
                <a:defRPr/>
              </a:pPr>
              <a:endParaRPr lang="en-GB">
                <a:solidFill>
                  <a:srgbClr val="FFFFFF"/>
                </a:solidFill>
                <a:latin typeface="Arial" pitchFamily="34" charset="0"/>
              </a:endParaRPr>
            </a:p>
          </p:txBody>
        </p:sp>
      </p:grpSp>
      <p:sp>
        <p:nvSpPr>
          <p:cNvPr id="236583" name="Rectangle 39"/>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236584" name="Rectangle 40"/>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rgbClr val="FFFFFF"/>
                </a:solidFill>
                <a:effectLst>
                  <a:outerShdw blurRad="38100" dist="38100" dir="2700000" algn="tl">
                    <a:srgbClr val="000000"/>
                  </a:outerShdw>
                </a:effectLst>
                <a:latin typeface="+mn-lt"/>
              </a:defRPr>
            </a:lvl1pPr>
          </a:lstStyle>
          <a:p>
            <a:pPr>
              <a:defRPr/>
            </a:pPr>
            <a:endParaRPr lang="en-US"/>
          </a:p>
        </p:txBody>
      </p:sp>
      <p:sp>
        <p:nvSpPr>
          <p:cNvPr id="236585" name="Rectangle 41"/>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solidFill>
                  <a:srgbClr val="FFFFFF"/>
                </a:solidFill>
                <a:effectLst>
                  <a:outerShdw blurRad="38100" dist="38100" dir="2700000" algn="tl">
                    <a:srgbClr val="000000"/>
                  </a:outerShdw>
                </a:effectLst>
                <a:latin typeface="+mn-lt"/>
              </a:defRPr>
            </a:lvl1pPr>
          </a:lstStyle>
          <a:p>
            <a:pPr>
              <a:defRPr/>
            </a:pPr>
            <a:endParaRPr lang="en-US"/>
          </a:p>
        </p:txBody>
      </p:sp>
      <p:sp>
        <p:nvSpPr>
          <p:cNvPr id="236586" name="Rectangle 42"/>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solidFill>
                  <a:srgbClr val="FFFFFF"/>
                </a:solidFill>
                <a:effectLst>
                  <a:outerShdw blurRad="38100" dist="38100" dir="2700000" algn="tl">
                    <a:srgbClr val="000000"/>
                  </a:outerShdw>
                </a:effectLst>
                <a:latin typeface="+mn-lt"/>
              </a:defRPr>
            </a:lvl1pPr>
          </a:lstStyle>
          <a:p>
            <a:pPr>
              <a:defRPr/>
            </a:pPr>
            <a:fld id="{44351D0C-EBEB-400F-9CCC-9183C54049B5}" type="slidenum">
              <a:rPr lang="en-US"/>
              <a:pPr>
                <a:defRPr/>
              </a:pPr>
              <a:t>‹#›</a:t>
            </a:fld>
            <a:endParaRPr lang="en-US"/>
          </a:p>
        </p:txBody>
      </p:sp>
      <p:sp>
        <p:nvSpPr>
          <p:cNvPr id="236587" name="Rectangle 4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4814" r:id="rId1"/>
    <p:sldLayoutId id="2147484815" r:id="rId2"/>
    <p:sldLayoutId id="2147484816" r:id="rId3"/>
    <p:sldLayoutId id="2147484817" r:id="rId4"/>
    <p:sldLayoutId id="2147484818" r:id="rId5"/>
    <p:sldLayoutId id="2147484819" r:id="rId6"/>
    <p:sldLayoutId id="2147484820" r:id="rId7"/>
    <p:sldLayoutId id="2147484821" r:id="rId8"/>
    <p:sldLayoutId id="2147484822" r:id="rId9"/>
    <p:sldLayoutId id="2147484823" r:id="rId10"/>
  </p:sldLayoutIdLst>
  <p:transition/>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itchFamily="34" charset="0"/>
          <a:cs typeface="Arial" pitchFamily="34" charset="0"/>
        </a:defRPr>
      </a:lvl9pPr>
    </p:titleStyle>
    <p:body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0" y="0"/>
            <a:ext cx="9144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352425" y="1143000"/>
            <a:ext cx="8580438"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17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solidFill>
                  <a:srgbClr val="FFFFFF"/>
                </a:solidFill>
                <a:latin typeface="Times New Roman" pitchFamily="18" charset="0"/>
                <a:cs typeface="+mn-cs"/>
              </a:defRPr>
            </a:lvl1pPr>
          </a:lstStyle>
          <a:p>
            <a:pPr>
              <a:defRPr/>
            </a:pPr>
            <a:fld id="{5B52BDBC-1CFF-4052-8413-4F7CB46473F5}" type="datetime1">
              <a:rPr lang="en-US"/>
              <a:pPr>
                <a:defRPr/>
              </a:pPr>
              <a:t>9/13/2025</a:t>
            </a:fld>
            <a:endParaRPr lang="en-US"/>
          </a:p>
        </p:txBody>
      </p:sp>
      <p:sp>
        <p:nvSpPr>
          <p:cNvPr id="717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solidFill>
                  <a:srgbClr val="FFFFFF"/>
                </a:solidFill>
                <a:latin typeface="Times New Roman" pitchFamily="18" charset="0"/>
                <a:cs typeface="+mn-cs"/>
              </a:defRPr>
            </a:lvl1pPr>
          </a:lstStyle>
          <a:p>
            <a:pPr>
              <a:defRPr/>
            </a:pPr>
            <a:endParaRPr lang="en-US"/>
          </a:p>
        </p:txBody>
      </p:sp>
      <p:sp>
        <p:nvSpPr>
          <p:cNvPr id="7174" name="Rectangle 6"/>
          <p:cNvSpPr>
            <a:spLocks noGrp="1" noChangeArrowheads="1"/>
          </p:cNvSpPr>
          <p:nvPr>
            <p:ph type="sldNum" sz="quarter" idx="4"/>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sz="1400" b="0">
                <a:solidFill>
                  <a:srgbClr val="FFFFFF"/>
                </a:solidFill>
                <a:latin typeface="Times New Roman" pitchFamily="18" charset="0"/>
                <a:cs typeface="+mn-cs"/>
              </a:defRPr>
            </a:lvl1pPr>
          </a:lstStyle>
          <a:p>
            <a:pPr>
              <a:defRPr/>
            </a:pPr>
            <a:fld id="{76DCD584-2C0B-487D-ABCF-F53D9F65CDC4}" type="slidenum">
              <a:rPr lang="en-US"/>
              <a:pPr>
                <a:defRPr/>
              </a:pPr>
              <a:t>‹#›</a:t>
            </a:fld>
            <a:endParaRPr lang="en-US" dirty="0"/>
          </a:p>
        </p:txBody>
      </p:sp>
      <p:cxnSp>
        <p:nvCxnSpPr>
          <p:cNvPr id="9223" name="Straight Connector 7"/>
          <p:cNvCxnSpPr>
            <a:cxnSpLocks noChangeShapeType="1"/>
          </p:cNvCxnSpPr>
          <p:nvPr/>
        </p:nvCxnSpPr>
        <p:spPr bwMode="auto">
          <a:xfrm>
            <a:off x="0" y="990600"/>
            <a:ext cx="9144000" cy="1588"/>
          </a:xfrm>
          <a:prstGeom prst="line">
            <a:avLst/>
          </a:prstGeom>
          <a:noFill/>
          <a:ln w="12700" algn="ctr">
            <a:solidFill>
              <a:schemeClr val="tx1"/>
            </a:solidFill>
            <a:round/>
            <a:headEnd type="oval" w="med" len="med"/>
            <a:tailEnd type="oval" w="med" len="med"/>
          </a:ln>
        </p:spPr>
      </p:cxnSp>
    </p:spTree>
  </p:cSld>
  <p:clrMap bg1="dk2" tx1="lt1" bg2="dk1" tx2="lt2" accent1="accent1" accent2="accent2" accent3="accent3" accent4="accent4" accent5="accent5" accent6="accent6" hlink="hlink" folHlink="folHlink"/>
  <p:sldLayoutIdLst>
    <p:sldLayoutId id="2147484836" r:id="rId1"/>
    <p:sldLayoutId id="2147484837" r:id="rId2"/>
    <p:sldLayoutId id="2147484838" r:id="rId3"/>
    <p:sldLayoutId id="2147484839" r:id="rId4"/>
    <p:sldLayoutId id="2147484840" r:id="rId5"/>
    <p:sldLayoutId id="2147484841" r:id="rId6"/>
    <p:sldLayoutId id="2147484842" r:id="rId7"/>
    <p:sldLayoutId id="2147484843" r:id="rId8"/>
    <p:sldLayoutId id="2147484844" r:id="rId9"/>
    <p:sldLayoutId id="2147484845" r:id="rId10"/>
    <p:sldLayoutId id="2147484846" r:id="rId11"/>
    <p:sldLayoutId id="2147484847" r:id="rId12"/>
    <p:sldLayoutId id="2147484848" r:id="rId13"/>
    <p:sldLayoutId id="2147484849" r:id="rId14"/>
    <p:sldLayoutId id="2147484850" r:id="rId15"/>
    <p:sldLayoutId id="2147484851" r:id="rId16"/>
  </p:sldLayoutIdLst>
  <p:transition/>
  <p:hf hdr="0" ftr="0" dt="0"/>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charset="0"/>
        </a:defRPr>
      </a:lvl2pPr>
      <a:lvl3pPr algn="ctr" rtl="0" eaLnBrk="0" fontAlgn="base" hangingPunct="0">
        <a:spcBef>
          <a:spcPct val="0"/>
        </a:spcBef>
        <a:spcAft>
          <a:spcPct val="0"/>
        </a:spcAft>
        <a:defRPr sz="3600" b="1">
          <a:solidFill>
            <a:schemeClr val="tx2"/>
          </a:solidFill>
          <a:latin typeface="Arial" charset="0"/>
        </a:defRPr>
      </a:lvl3pPr>
      <a:lvl4pPr algn="ctr" rtl="0" eaLnBrk="0" fontAlgn="base" hangingPunct="0">
        <a:spcBef>
          <a:spcPct val="0"/>
        </a:spcBef>
        <a:spcAft>
          <a:spcPct val="0"/>
        </a:spcAft>
        <a:defRPr sz="3600" b="1">
          <a:solidFill>
            <a:schemeClr val="tx2"/>
          </a:solidFill>
          <a:latin typeface="Arial" charset="0"/>
        </a:defRPr>
      </a:lvl4pPr>
      <a:lvl5pPr algn="ctr" rtl="0" eaLnBrk="0" fontAlgn="base" hangingPunct="0">
        <a:spcBef>
          <a:spcPct val="0"/>
        </a:spcBef>
        <a:spcAft>
          <a:spcPct val="0"/>
        </a:spcAft>
        <a:defRPr sz="3600" b="1">
          <a:solidFill>
            <a:schemeClr val="tx2"/>
          </a:solidFill>
          <a:latin typeface="Arial" charset="0"/>
        </a:defRPr>
      </a:lvl5pPr>
      <a:lvl6pPr marL="457200" algn="ctr" rtl="0" fontAlgn="base">
        <a:spcBef>
          <a:spcPct val="0"/>
        </a:spcBef>
        <a:spcAft>
          <a:spcPct val="0"/>
        </a:spcAft>
        <a:defRPr sz="3200" b="1">
          <a:solidFill>
            <a:schemeClr val="tx2"/>
          </a:solidFill>
          <a:latin typeface="Arial" charset="0"/>
        </a:defRPr>
      </a:lvl6pPr>
      <a:lvl7pPr marL="914400" algn="ctr" rtl="0" fontAlgn="base">
        <a:spcBef>
          <a:spcPct val="0"/>
        </a:spcBef>
        <a:spcAft>
          <a:spcPct val="0"/>
        </a:spcAft>
        <a:defRPr sz="3200" b="1">
          <a:solidFill>
            <a:schemeClr val="tx2"/>
          </a:solidFill>
          <a:latin typeface="Arial" charset="0"/>
        </a:defRPr>
      </a:lvl7pPr>
      <a:lvl8pPr marL="1371600" algn="ctr" rtl="0" fontAlgn="base">
        <a:spcBef>
          <a:spcPct val="0"/>
        </a:spcBef>
        <a:spcAft>
          <a:spcPct val="0"/>
        </a:spcAft>
        <a:defRPr sz="3200" b="1">
          <a:solidFill>
            <a:schemeClr val="tx2"/>
          </a:solidFill>
          <a:latin typeface="Arial" charset="0"/>
        </a:defRPr>
      </a:lvl8pPr>
      <a:lvl9pPr marL="1828800" algn="ctr" rtl="0" fontAlgn="base">
        <a:spcBef>
          <a:spcPct val="0"/>
        </a:spcBef>
        <a:spcAft>
          <a:spcPct val="0"/>
        </a:spcAft>
        <a:defRPr sz="32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400" b="1">
          <a:solidFill>
            <a:schemeClr val="tx1"/>
          </a:solidFill>
          <a:latin typeface="+mn-lt"/>
        </a:defRPr>
      </a:lvl4pPr>
      <a:lvl5pPr marL="2057400" indent="-228600" algn="l" rtl="0" eaLnBrk="0" fontAlgn="base" hangingPunct="0">
        <a:spcBef>
          <a:spcPct val="20000"/>
        </a:spcBef>
        <a:spcAft>
          <a:spcPct val="0"/>
        </a:spcAft>
        <a:buChar char="»"/>
        <a:defRPr sz="2400" b="1">
          <a:solidFill>
            <a:schemeClr val="tx1"/>
          </a:solidFill>
          <a:latin typeface="+mn-lt"/>
        </a:defRPr>
      </a:lvl5pPr>
      <a:lvl6pPr marL="2514600" indent="-228600" algn="l" rtl="0" fontAlgn="base">
        <a:spcBef>
          <a:spcPct val="20000"/>
        </a:spcBef>
        <a:spcAft>
          <a:spcPct val="0"/>
        </a:spcAft>
        <a:buChar char="»"/>
        <a:defRPr sz="2400" b="1">
          <a:solidFill>
            <a:schemeClr val="tx1"/>
          </a:solidFill>
          <a:latin typeface="+mn-lt"/>
        </a:defRPr>
      </a:lvl6pPr>
      <a:lvl7pPr marL="2971800" indent="-228600" algn="l" rtl="0" fontAlgn="base">
        <a:spcBef>
          <a:spcPct val="20000"/>
        </a:spcBef>
        <a:spcAft>
          <a:spcPct val="0"/>
        </a:spcAft>
        <a:buChar char="»"/>
        <a:defRPr sz="2400" b="1">
          <a:solidFill>
            <a:schemeClr val="tx1"/>
          </a:solidFill>
          <a:latin typeface="+mn-lt"/>
        </a:defRPr>
      </a:lvl7pPr>
      <a:lvl8pPr marL="3429000" indent="-228600" algn="l" rtl="0" fontAlgn="base">
        <a:spcBef>
          <a:spcPct val="20000"/>
        </a:spcBef>
        <a:spcAft>
          <a:spcPct val="0"/>
        </a:spcAft>
        <a:buChar char="»"/>
        <a:defRPr sz="2400" b="1">
          <a:solidFill>
            <a:schemeClr val="tx1"/>
          </a:solidFill>
          <a:latin typeface="+mn-lt"/>
        </a:defRPr>
      </a:lvl8pPr>
      <a:lvl9pPr marL="3886200" indent="-228600" algn="l" rtl="0" fontAlgn="base">
        <a:spcBef>
          <a:spcPct val="20000"/>
        </a:spcBef>
        <a:spcAft>
          <a:spcPct val="0"/>
        </a:spcAft>
        <a:buChar char="»"/>
        <a:defRPr sz="24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5.xml"/><Relationship Id="rId1" Type="http://schemas.openxmlformats.org/officeDocument/2006/relationships/slideLayout" Target="../slideLayouts/slideLayout25.xml"/><Relationship Id="rId4" Type="http://schemas.openxmlformats.org/officeDocument/2006/relationships/image" Target="../media/image11.w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l="28000" t="26001" r="28000" b="32666"/>
          <a:stretch>
            <a:fillRect/>
          </a:stretch>
        </p:blipFill>
        <p:spPr>
          <a:xfrm>
            <a:off x="228600" y="228600"/>
            <a:ext cx="8686800" cy="6400800"/>
          </a:xfrm>
          <a:noFill/>
        </p:spPr>
      </p:pic>
    </p:spTree>
    <p:extLst>
      <p:ext uri="{BB962C8B-B14F-4D97-AF65-F5344CB8AC3E}">
        <p14:creationId xmlns:p14="http://schemas.microsoft.com/office/powerpoint/2010/main" val="1075407297"/>
      </p:ext>
    </p:extLst>
  </p:cSld>
  <p:clrMapOvr>
    <a:masterClrMapping/>
  </p:clrMapOvr>
  <p:transition>
    <p:cut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304800" y="1899538"/>
            <a:ext cx="8458200" cy="3862596"/>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ctr" defTabSz="914400" rtl="0" eaLnBrk="1" fontAlgn="base" latinLnBrk="0" hangingPunct="1">
              <a:lnSpc>
                <a:spcPct val="200000"/>
              </a:lnSpc>
              <a:spcBef>
                <a:spcPct val="0"/>
              </a:spcBef>
              <a:spcAft>
                <a:spcPct val="0"/>
              </a:spcAft>
              <a:buClrTx/>
              <a:buSzTx/>
              <a:buFontTx/>
              <a:buNone/>
              <a:tabLst/>
            </a:pPr>
            <a:r>
              <a:rPr kumimoji="0" lang="en-GB" sz="2800" b="1" i="0" u="none" strike="noStrike" cap="none" normalizeH="0" baseline="0" dirty="0">
                <a:ln>
                  <a:noFill/>
                </a:ln>
                <a:solidFill>
                  <a:srgbClr val="0070C0"/>
                </a:solidFill>
                <a:effectLst/>
                <a:latin typeface="Arial" pitchFamily="34" charset="0"/>
                <a:ea typeface="Times New Roman" pitchFamily="18" charset="0"/>
                <a:cs typeface="Arial" pitchFamily="34" charset="0"/>
              </a:rPr>
              <a:t>Semester : Fall </a:t>
            </a:r>
          </a:p>
          <a:p>
            <a:pPr marL="0" marR="0" lvl="0" indent="0" algn="ctr" defTabSz="914400" rtl="0" eaLnBrk="0" fontAlgn="base" latinLnBrk="0" hangingPunct="0">
              <a:lnSpc>
                <a:spcPct val="150000"/>
              </a:lnSpc>
              <a:spcBef>
                <a:spcPct val="0"/>
              </a:spcBef>
              <a:spcAft>
                <a:spcPct val="0"/>
              </a:spcAft>
              <a:buClrTx/>
              <a:buSzTx/>
              <a:buFontTx/>
              <a:buNone/>
              <a:tabLst/>
            </a:pPr>
            <a:r>
              <a:rPr kumimoji="0" lang="en-GB" sz="2800" b="1" i="0" u="none" strike="noStrike" cap="none" normalizeH="0" baseline="0" dirty="0">
                <a:ln>
                  <a:noFill/>
                </a:ln>
                <a:solidFill>
                  <a:srgbClr val="0070C0"/>
                </a:solidFill>
                <a:effectLst/>
                <a:latin typeface="Arial" pitchFamily="34" charset="0"/>
                <a:cs typeface="Arial" pitchFamily="34" charset="0"/>
              </a:rPr>
              <a:t>Bahria University, Karachi Campus</a:t>
            </a:r>
            <a:endParaRPr kumimoji="0" lang="en-US" sz="2800" b="1" i="0" u="none" strike="noStrike" cap="none" normalizeH="0" baseline="0" dirty="0">
              <a:ln>
                <a:noFill/>
              </a:ln>
              <a:solidFill>
                <a:srgbClr val="0070C0"/>
              </a:solidFill>
              <a:effectLst/>
              <a:latin typeface="Arial" pitchFamily="34" charset="0"/>
              <a:cs typeface="Arial"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pPr>
            <a:r>
              <a:rPr lang="en-GB" sz="2800" b="1" dirty="0">
                <a:solidFill>
                  <a:srgbClr val="0070C0"/>
                </a:solidFill>
                <a:latin typeface="Arial" pitchFamily="34" charset="0"/>
                <a:cs typeface="Arial" pitchFamily="34" charset="0"/>
              </a:rPr>
              <a:t>Project HR and Stakeholder Management</a:t>
            </a:r>
          </a:p>
          <a:p>
            <a:pPr marL="0" marR="0" lvl="0" indent="0" algn="ctr" defTabSz="914400" rtl="0" eaLnBrk="0" fontAlgn="base" latinLnBrk="0" hangingPunct="0">
              <a:lnSpc>
                <a:spcPct val="150000"/>
              </a:lnSpc>
              <a:spcBef>
                <a:spcPct val="0"/>
              </a:spcBef>
              <a:spcAft>
                <a:spcPct val="0"/>
              </a:spcAft>
              <a:buClrTx/>
              <a:buSzTx/>
              <a:buFontTx/>
              <a:buNone/>
              <a:tabLst/>
            </a:pPr>
            <a:endParaRPr kumimoji="0" lang="en-GB" i="0" u="none" strike="noStrike" cap="none" normalizeH="0" baseline="0" dirty="0">
              <a:ln>
                <a:noFill/>
              </a:ln>
              <a:solidFill>
                <a:srgbClr val="0070C0"/>
              </a:solidFill>
              <a:effectLst/>
              <a:latin typeface="Arial" pitchFamily="34" charset="0"/>
              <a:cs typeface="Arial"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n-GB" sz="2400" i="0" u="none" strike="noStrike" cap="none" normalizeH="0" baseline="0" dirty="0">
                <a:ln>
                  <a:noFill/>
                </a:ln>
                <a:solidFill>
                  <a:srgbClr val="0070C0"/>
                </a:solidFill>
                <a:effectLst/>
                <a:latin typeface="Arial" pitchFamily="34" charset="0"/>
                <a:cs typeface="Arial" pitchFamily="34" charset="0"/>
              </a:rPr>
              <a:t>By</a:t>
            </a:r>
          </a:p>
          <a:p>
            <a:pPr marL="0" marR="0" lvl="0" indent="0" algn="ctr" defTabSz="914400" rtl="0" eaLnBrk="0" fontAlgn="base" latinLnBrk="0" hangingPunct="0">
              <a:spcBef>
                <a:spcPct val="0"/>
              </a:spcBef>
              <a:spcAft>
                <a:spcPct val="0"/>
              </a:spcAft>
              <a:buClrTx/>
              <a:buSzTx/>
              <a:buFontTx/>
              <a:buNone/>
              <a:tabLst/>
            </a:pPr>
            <a:endParaRPr lang="en-GB" sz="2400" dirty="0">
              <a:solidFill>
                <a:srgbClr val="0070C0"/>
              </a:solidFill>
              <a:latin typeface="Arial" pitchFamily="34" charset="0"/>
              <a:cs typeface="Arial" pitchFamily="34" charset="0"/>
            </a:endParaRPr>
          </a:p>
          <a:p>
            <a:pPr marL="0" marR="0" lvl="0" indent="0" algn="ctr" defTabSz="914400" rtl="0" eaLnBrk="0" fontAlgn="base" latinLnBrk="0" hangingPunct="0">
              <a:spcBef>
                <a:spcPct val="0"/>
              </a:spcBef>
              <a:spcAft>
                <a:spcPct val="0"/>
              </a:spcAft>
              <a:buClrTx/>
              <a:buSzTx/>
              <a:buFontTx/>
              <a:buNone/>
              <a:tabLst/>
            </a:pPr>
            <a:r>
              <a:rPr lang="en-GB" sz="2400" dirty="0">
                <a:solidFill>
                  <a:srgbClr val="0070C0"/>
                </a:solidFill>
                <a:latin typeface="Arial" pitchFamily="34" charset="0"/>
                <a:cs typeface="Arial" pitchFamily="34" charset="0"/>
              </a:rPr>
              <a:t>MS Department, BUKC</a:t>
            </a:r>
            <a:endParaRPr kumimoji="0" lang="en-GB" sz="2400" b="1" i="0" u="none" strike="noStrike" cap="none" normalizeH="0" baseline="0" dirty="0">
              <a:ln>
                <a:noFill/>
              </a:ln>
              <a:solidFill>
                <a:srgbClr val="0070C0"/>
              </a:solidFill>
              <a:effectLst/>
              <a:latin typeface="Arial" pitchFamily="34" charset="0"/>
              <a:cs typeface="Arial" pitchFamily="34" charset="0"/>
            </a:endParaRPr>
          </a:p>
        </p:txBody>
      </p:sp>
      <p:pic>
        <p:nvPicPr>
          <p:cNvPr id="102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429071"/>
            <a:ext cx="4229100" cy="1247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0828990"/>
      </p:ext>
    </p:extLst>
  </p:cSld>
  <p:clrMapOvr>
    <a:masterClrMapping/>
  </p:clrMapOvr>
  <p:transition spd="med">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33400"/>
            <a:ext cx="9144000" cy="567813"/>
          </a:xfrm>
        </p:spPr>
        <p:txBody>
          <a:bodyPr/>
          <a:lstStyle/>
          <a:p>
            <a:pPr>
              <a:lnSpc>
                <a:spcPct val="150000"/>
              </a:lnSpc>
            </a:pPr>
            <a:r>
              <a:rPr lang="en-US" sz="2800" dirty="0">
                <a:solidFill>
                  <a:srgbClr val="0070C0"/>
                </a:solidFill>
                <a:cs typeface="Times New Roman" pitchFamily="18" charset="0"/>
              </a:rPr>
              <a:t>Course Description</a:t>
            </a:r>
            <a:endParaRPr lang="en-US" sz="1600" dirty="0">
              <a:solidFill>
                <a:srgbClr val="0070C0"/>
              </a:solidFill>
              <a:cs typeface="Times New Roman" pitchFamily="18" charset="0"/>
            </a:endParaRPr>
          </a:p>
        </p:txBody>
      </p:sp>
      <p:sp>
        <p:nvSpPr>
          <p:cNvPr id="6" name="Rectangle 5"/>
          <p:cNvSpPr/>
          <p:nvPr/>
        </p:nvSpPr>
        <p:spPr>
          <a:xfrm>
            <a:off x="228600" y="1275576"/>
            <a:ext cx="8686800" cy="5201424"/>
          </a:xfrm>
          <a:prstGeom prst="rect">
            <a:avLst/>
          </a:prstGeom>
        </p:spPr>
        <p:txBody>
          <a:bodyPr wrap="square">
            <a:spAutoFit/>
          </a:bodyPr>
          <a:lstStyle/>
          <a:p>
            <a:pPr marL="236538" lvl="0" indent="-236538" algn="just">
              <a:lnSpc>
                <a:spcPct val="150000"/>
              </a:lnSpc>
              <a:buFont typeface="Arial" pitchFamily="34" charset="0"/>
              <a:buChar char="•"/>
            </a:pPr>
            <a:r>
              <a:rPr lang="en-US" sz="2400" dirty="0">
                <a:solidFill>
                  <a:srgbClr val="111111"/>
                </a:solidFill>
              </a:rPr>
              <a:t>This </a:t>
            </a:r>
            <a:r>
              <a:rPr lang="en-US" sz="2400" b="1" dirty="0">
                <a:solidFill>
                  <a:srgbClr val="111111"/>
                </a:solidFill>
              </a:rPr>
              <a:t>core course </a:t>
            </a:r>
            <a:r>
              <a:rPr lang="en-US" sz="2400" dirty="0">
                <a:solidFill>
                  <a:srgbClr val="111111"/>
                </a:solidFill>
              </a:rPr>
              <a:t>integrates concepts of employing human resource and communication for optimally attaining project completion and optimization. </a:t>
            </a:r>
          </a:p>
          <a:p>
            <a:pPr marL="236538" indent="-236538" algn="just">
              <a:lnSpc>
                <a:spcPct val="200000"/>
              </a:lnSpc>
              <a:buFont typeface="Arial" pitchFamily="34" charset="0"/>
              <a:buChar char="•"/>
            </a:pPr>
            <a:endParaRPr lang="en-US" sz="1100" dirty="0">
              <a:solidFill>
                <a:srgbClr val="111111"/>
              </a:solidFill>
            </a:endParaRPr>
          </a:p>
          <a:p>
            <a:pPr marL="236538" indent="-236538" algn="just">
              <a:lnSpc>
                <a:spcPct val="150000"/>
              </a:lnSpc>
              <a:buFont typeface="Arial" pitchFamily="34" charset="0"/>
              <a:buChar char="•"/>
            </a:pPr>
            <a:r>
              <a:rPr lang="en-US" sz="2400" dirty="0">
                <a:solidFill>
                  <a:srgbClr val="111111"/>
                </a:solidFill>
              </a:rPr>
              <a:t>It combines various theoretical frameworks, historically significant events and experiential activities to give students a rich understanding of contemporary applications of HRM policies and practices. </a:t>
            </a:r>
          </a:p>
          <a:p>
            <a:pPr marL="236538" lvl="0" indent="-236538" algn="just">
              <a:lnSpc>
                <a:spcPct val="200000"/>
              </a:lnSpc>
              <a:buFont typeface="Arial" pitchFamily="34" charset="0"/>
              <a:buChar char="•"/>
            </a:pPr>
            <a:endParaRPr lang="en-US" sz="2400" dirty="0">
              <a:solidFill>
                <a:srgbClr val="111111"/>
              </a:solidFill>
            </a:endParaRPr>
          </a:p>
        </p:txBody>
      </p:sp>
    </p:spTree>
    <p:extLst>
      <p:ext uri="{BB962C8B-B14F-4D97-AF65-F5344CB8AC3E}">
        <p14:creationId xmlns:p14="http://schemas.microsoft.com/office/powerpoint/2010/main" val="1137836838"/>
      </p:ext>
    </p:extLst>
  </p:cSld>
  <p:clrMapOvr>
    <a:masterClrMapping/>
  </p:clrMapOvr>
  <p:transition spd="med">
    <p:strips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415375"/>
            <a:ext cx="9144000" cy="567813"/>
          </a:xfrm>
        </p:spPr>
        <p:txBody>
          <a:bodyPr/>
          <a:lstStyle/>
          <a:p>
            <a:pPr>
              <a:lnSpc>
                <a:spcPct val="150000"/>
              </a:lnSpc>
            </a:pPr>
            <a:r>
              <a:rPr lang="en-US" sz="2800" dirty="0">
                <a:solidFill>
                  <a:srgbClr val="0070C0"/>
                </a:solidFill>
                <a:cs typeface="Times New Roman" pitchFamily="18" charset="0"/>
              </a:rPr>
              <a:t>Objectives of the Course</a:t>
            </a:r>
            <a:endParaRPr lang="en-US" sz="1600" dirty="0">
              <a:solidFill>
                <a:srgbClr val="0070C0"/>
              </a:solidFill>
              <a:cs typeface="Times New Roman" pitchFamily="18" charset="0"/>
            </a:endParaRPr>
          </a:p>
        </p:txBody>
      </p:sp>
      <p:sp>
        <p:nvSpPr>
          <p:cNvPr id="6" name="Rectangle 5"/>
          <p:cNvSpPr/>
          <p:nvPr/>
        </p:nvSpPr>
        <p:spPr>
          <a:xfrm>
            <a:off x="228600" y="1059388"/>
            <a:ext cx="8686800" cy="5493812"/>
          </a:xfrm>
          <a:prstGeom prst="rect">
            <a:avLst/>
          </a:prstGeom>
        </p:spPr>
        <p:txBody>
          <a:bodyPr wrap="square">
            <a:spAutoFit/>
          </a:bodyPr>
          <a:lstStyle/>
          <a:p>
            <a:pPr marL="236538" lvl="0" indent="-236538" algn="just">
              <a:lnSpc>
                <a:spcPct val="150000"/>
              </a:lnSpc>
              <a:buFont typeface="Arial" pitchFamily="34" charset="0"/>
              <a:buChar char="•"/>
            </a:pPr>
            <a:r>
              <a:rPr lang="en-US" sz="2400" dirty="0">
                <a:solidFill>
                  <a:srgbClr val="111111"/>
                </a:solidFill>
              </a:rPr>
              <a:t>To expose students to apply modern thinking on HR management for productive and multiplicative project conception and completion.</a:t>
            </a:r>
          </a:p>
          <a:p>
            <a:pPr marL="236538" lvl="0" indent="-236538" algn="just">
              <a:lnSpc>
                <a:spcPct val="150000"/>
              </a:lnSpc>
              <a:buFont typeface="Arial" pitchFamily="34" charset="0"/>
              <a:buChar char="•"/>
            </a:pPr>
            <a:endParaRPr lang="en-US" sz="900" dirty="0">
              <a:solidFill>
                <a:srgbClr val="111111"/>
              </a:solidFill>
            </a:endParaRPr>
          </a:p>
          <a:p>
            <a:pPr marL="236538" lvl="0" indent="-236538" algn="just">
              <a:lnSpc>
                <a:spcPct val="150000"/>
              </a:lnSpc>
              <a:buFont typeface="Arial" pitchFamily="34" charset="0"/>
              <a:buChar char="•"/>
            </a:pPr>
            <a:r>
              <a:rPr lang="en-US" sz="2400" dirty="0">
                <a:solidFill>
                  <a:srgbClr val="111111"/>
                </a:solidFill>
              </a:rPr>
              <a:t>To help them understand stages of HR management techniques based on rationality, emerging technology, knowledge and global realities with communication as an effective integration tool.</a:t>
            </a:r>
          </a:p>
          <a:p>
            <a:pPr marL="236538" lvl="0" indent="-236538" algn="just">
              <a:lnSpc>
                <a:spcPct val="150000"/>
              </a:lnSpc>
              <a:buFont typeface="Arial" pitchFamily="34" charset="0"/>
              <a:buChar char="•"/>
            </a:pPr>
            <a:endParaRPr lang="en-US" sz="900" dirty="0">
              <a:solidFill>
                <a:srgbClr val="111111"/>
              </a:solidFill>
            </a:endParaRPr>
          </a:p>
          <a:p>
            <a:pPr marL="236538" lvl="0" indent="-236538" algn="just">
              <a:lnSpc>
                <a:spcPct val="150000"/>
              </a:lnSpc>
              <a:buFont typeface="Arial" pitchFamily="34" charset="0"/>
              <a:buChar char="•"/>
            </a:pPr>
            <a:r>
              <a:rPr lang="en-US" sz="2400" dirty="0">
                <a:solidFill>
                  <a:srgbClr val="111111"/>
                </a:solidFill>
              </a:rPr>
              <a:t>To enlighten students for innovative thinking in availing opportunities in the real time business world.  </a:t>
            </a:r>
          </a:p>
        </p:txBody>
      </p:sp>
    </p:spTree>
    <p:extLst>
      <p:ext uri="{BB962C8B-B14F-4D97-AF65-F5344CB8AC3E}">
        <p14:creationId xmlns:p14="http://schemas.microsoft.com/office/powerpoint/2010/main" val="2605647893"/>
      </p:ext>
    </p:extLst>
  </p:cSld>
  <p:clrMapOvr>
    <a:masterClrMapping/>
  </p:clrMapOvr>
  <p:transition spd="med">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75187"/>
            <a:ext cx="9144000" cy="567813"/>
          </a:xfrm>
        </p:spPr>
        <p:txBody>
          <a:bodyPr/>
          <a:lstStyle/>
          <a:p>
            <a:pPr>
              <a:lnSpc>
                <a:spcPct val="150000"/>
              </a:lnSpc>
            </a:pPr>
            <a:r>
              <a:rPr lang="en-US" sz="2800" dirty="0">
                <a:solidFill>
                  <a:srgbClr val="0070C0"/>
                </a:solidFill>
                <a:cs typeface="Times New Roman" pitchFamily="18" charset="0"/>
              </a:rPr>
              <a:t>Learning Outcomes</a:t>
            </a:r>
            <a:endParaRPr lang="en-US" sz="1600" dirty="0">
              <a:solidFill>
                <a:srgbClr val="0070C0"/>
              </a:solidFill>
              <a:cs typeface="Times New Roman" pitchFamily="18" charset="0"/>
            </a:endParaRPr>
          </a:p>
        </p:txBody>
      </p:sp>
      <p:sp>
        <p:nvSpPr>
          <p:cNvPr id="6" name="Rectangle 5"/>
          <p:cNvSpPr/>
          <p:nvPr/>
        </p:nvSpPr>
        <p:spPr>
          <a:xfrm>
            <a:off x="381000" y="1363682"/>
            <a:ext cx="8382000" cy="4431983"/>
          </a:xfrm>
          <a:prstGeom prst="rect">
            <a:avLst/>
          </a:prstGeom>
        </p:spPr>
        <p:txBody>
          <a:bodyPr wrap="square">
            <a:spAutoFit/>
          </a:bodyPr>
          <a:lstStyle/>
          <a:p>
            <a:pPr marL="236538" lvl="0" indent="-236538" algn="just">
              <a:lnSpc>
                <a:spcPct val="150000"/>
              </a:lnSpc>
              <a:buFont typeface="Arial" pitchFamily="34" charset="0"/>
              <a:buChar char="•"/>
            </a:pPr>
            <a:r>
              <a:rPr lang="en-US" sz="2400" dirty="0">
                <a:solidFill>
                  <a:srgbClr val="111111"/>
                </a:solidFill>
              </a:rPr>
              <a:t>Develop logical HR plans based on its basic functions for effective implementation in project management. </a:t>
            </a:r>
          </a:p>
          <a:p>
            <a:pPr marL="236538" lvl="0" indent="-236538" algn="just">
              <a:lnSpc>
                <a:spcPct val="150000"/>
              </a:lnSpc>
              <a:buFont typeface="Arial" pitchFamily="34" charset="0"/>
              <a:buChar char="•"/>
            </a:pPr>
            <a:endParaRPr lang="en-US" sz="1000" dirty="0">
              <a:solidFill>
                <a:srgbClr val="111111"/>
              </a:solidFill>
            </a:endParaRPr>
          </a:p>
          <a:p>
            <a:pPr marL="236538" lvl="0" indent="-236538" algn="just">
              <a:lnSpc>
                <a:spcPct val="150000"/>
              </a:lnSpc>
              <a:buFont typeface="Arial" pitchFamily="34" charset="0"/>
              <a:buChar char="•"/>
            </a:pPr>
            <a:r>
              <a:rPr lang="en-US" sz="2400" dirty="0">
                <a:solidFill>
                  <a:srgbClr val="111111"/>
                </a:solidFill>
              </a:rPr>
              <a:t>Analyze complex HR issues for producing prudent and workable solutions as project managers.</a:t>
            </a:r>
          </a:p>
          <a:p>
            <a:pPr marL="236538" lvl="0" indent="-236538" algn="just">
              <a:lnSpc>
                <a:spcPct val="150000"/>
              </a:lnSpc>
              <a:buFont typeface="Arial" pitchFamily="34" charset="0"/>
              <a:buChar char="•"/>
            </a:pPr>
            <a:endParaRPr lang="en-US" sz="1000" dirty="0">
              <a:solidFill>
                <a:srgbClr val="111111"/>
              </a:solidFill>
            </a:endParaRPr>
          </a:p>
          <a:p>
            <a:pPr marL="236538" lvl="0" indent="-236538" algn="just">
              <a:lnSpc>
                <a:spcPct val="150000"/>
              </a:lnSpc>
              <a:buFont typeface="Arial" pitchFamily="34" charset="0"/>
              <a:buChar char="•"/>
            </a:pPr>
            <a:r>
              <a:rPr lang="en-US" sz="2400" dirty="0">
                <a:solidFill>
                  <a:srgbClr val="111111"/>
                </a:solidFill>
              </a:rPr>
              <a:t>Develop an approach / attitude of reasoning based on fundamentals of HR management philosophy, basically building on knowledge, skills and attitude. </a:t>
            </a:r>
          </a:p>
        </p:txBody>
      </p:sp>
    </p:spTree>
    <p:extLst>
      <p:ext uri="{BB962C8B-B14F-4D97-AF65-F5344CB8AC3E}">
        <p14:creationId xmlns:p14="http://schemas.microsoft.com/office/powerpoint/2010/main" val="2385866696"/>
      </p:ext>
    </p:extLst>
  </p:cSld>
  <p:clrMapOvr>
    <a:masterClrMapping/>
  </p:clrMapOvr>
  <p:transition spd="med">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498987"/>
            <a:ext cx="9144000" cy="567813"/>
          </a:xfrm>
        </p:spPr>
        <p:txBody>
          <a:bodyPr/>
          <a:lstStyle/>
          <a:p>
            <a:r>
              <a:rPr lang="en-GB" sz="2800" dirty="0">
                <a:solidFill>
                  <a:srgbClr val="0070C0"/>
                </a:solidFill>
              </a:rPr>
              <a:t>Learning and Teaching Methodology</a:t>
            </a:r>
            <a:endParaRPr lang="en-US" sz="2800" dirty="0">
              <a:solidFill>
                <a:srgbClr val="0070C0"/>
              </a:solidFill>
            </a:endParaRPr>
          </a:p>
        </p:txBody>
      </p:sp>
      <p:sp>
        <p:nvSpPr>
          <p:cNvPr id="6" name="Rectangle 5"/>
          <p:cNvSpPr/>
          <p:nvPr/>
        </p:nvSpPr>
        <p:spPr>
          <a:xfrm>
            <a:off x="381000" y="1276067"/>
            <a:ext cx="8305800" cy="4362733"/>
          </a:xfrm>
          <a:prstGeom prst="rect">
            <a:avLst/>
          </a:prstGeom>
        </p:spPr>
        <p:txBody>
          <a:bodyPr wrap="square">
            <a:spAutoFit/>
          </a:bodyPr>
          <a:lstStyle/>
          <a:p>
            <a:pPr marL="350838" lvl="0" indent="-350838" algn="just">
              <a:lnSpc>
                <a:spcPct val="150000"/>
              </a:lnSpc>
              <a:buFont typeface="Arial" pitchFamily="34" charset="0"/>
              <a:buChar char="•"/>
            </a:pPr>
            <a:r>
              <a:rPr lang="en-US" sz="2200" dirty="0">
                <a:solidFill>
                  <a:srgbClr val="111111"/>
                </a:solidFill>
              </a:rPr>
              <a:t>Mixed methodologies shall be put in practice for comprehensive learning. It includes </a:t>
            </a:r>
            <a:r>
              <a:rPr lang="en-US" sz="2200" u="sng" dirty="0">
                <a:solidFill>
                  <a:srgbClr val="111111"/>
                </a:solidFill>
              </a:rPr>
              <a:t>Pedagogy</a:t>
            </a:r>
            <a:r>
              <a:rPr lang="en-US" sz="2200" dirty="0">
                <a:solidFill>
                  <a:srgbClr val="111111"/>
                </a:solidFill>
              </a:rPr>
              <a:t> and </a:t>
            </a:r>
            <a:r>
              <a:rPr lang="en-US" sz="2200" u="sng" dirty="0">
                <a:solidFill>
                  <a:srgbClr val="111111"/>
                </a:solidFill>
              </a:rPr>
              <a:t>Andragogy</a:t>
            </a:r>
            <a:r>
              <a:rPr lang="en-US" sz="2200" dirty="0">
                <a:solidFill>
                  <a:srgbClr val="111111"/>
                </a:solidFill>
              </a:rPr>
              <a:t>. For this purpose students shall be involved in discussions, presentations and group activities. </a:t>
            </a:r>
          </a:p>
          <a:p>
            <a:pPr marL="350838" lvl="0" indent="-350838" algn="just">
              <a:lnSpc>
                <a:spcPct val="150000"/>
              </a:lnSpc>
              <a:buFont typeface="Arial" pitchFamily="34" charset="0"/>
              <a:buChar char="•"/>
            </a:pPr>
            <a:endParaRPr lang="en-US" sz="900" dirty="0">
              <a:solidFill>
                <a:srgbClr val="111111"/>
              </a:solidFill>
            </a:endParaRPr>
          </a:p>
          <a:p>
            <a:pPr marL="350838" lvl="0" indent="-350838" algn="just">
              <a:lnSpc>
                <a:spcPct val="150000"/>
              </a:lnSpc>
              <a:buFont typeface="Arial" pitchFamily="34" charset="0"/>
              <a:buChar char="•"/>
            </a:pPr>
            <a:r>
              <a:rPr lang="en-US" sz="2200" dirty="0">
                <a:solidFill>
                  <a:srgbClr val="111111"/>
                </a:solidFill>
              </a:rPr>
              <a:t>Student shall be distributed into groups for mutual discussions; learn how to share works, prepare team based solution to problems and develop arguments for convincing presentations. </a:t>
            </a:r>
          </a:p>
        </p:txBody>
      </p:sp>
    </p:spTree>
    <p:extLst>
      <p:ext uri="{BB962C8B-B14F-4D97-AF65-F5344CB8AC3E}">
        <p14:creationId xmlns:p14="http://schemas.microsoft.com/office/powerpoint/2010/main" val="2229894828"/>
      </p:ext>
    </p:extLst>
  </p:cSld>
  <p:clrMapOvr>
    <a:masterClrMapping/>
  </p:clrMapOvr>
  <p:transition spd="med">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422787"/>
            <a:ext cx="9144000" cy="567813"/>
          </a:xfrm>
        </p:spPr>
        <p:txBody>
          <a:bodyPr/>
          <a:lstStyle/>
          <a:p>
            <a:r>
              <a:rPr lang="en-GB" sz="2800" dirty="0">
                <a:solidFill>
                  <a:srgbClr val="0070C0"/>
                </a:solidFill>
              </a:rPr>
              <a:t>Student Assignments</a:t>
            </a:r>
            <a:endParaRPr lang="en-US" sz="2800" dirty="0">
              <a:solidFill>
                <a:srgbClr val="0070C0"/>
              </a:solidFill>
            </a:endParaRPr>
          </a:p>
        </p:txBody>
      </p:sp>
      <p:sp>
        <p:nvSpPr>
          <p:cNvPr id="6" name="Rectangle 5"/>
          <p:cNvSpPr/>
          <p:nvPr/>
        </p:nvSpPr>
        <p:spPr>
          <a:xfrm>
            <a:off x="228600" y="1137821"/>
            <a:ext cx="8534400" cy="4178836"/>
          </a:xfrm>
          <a:prstGeom prst="rect">
            <a:avLst/>
          </a:prstGeom>
        </p:spPr>
        <p:txBody>
          <a:bodyPr wrap="square">
            <a:spAutoFit/>
          </a:bodyPr>
          <a:lstStyle/>
          <a:p>
            <a:pPr marL="396875" lvl="0" indent="-396875" algn="just">
              <a:lnSpc>
                <a:spcPct val="150000"/>
              </a:lnSpc>
              <a:buFont typeface="Arial" pitchFamily="34" charset="0"/>
              <a:buChar char="•"/>
            </a:pPr>
            <a:r>
              <a:rPr lang="en-GB" sz="2400" dirty="0">
                <a:solidFill>
                  <a:srgbClr val="111111"/>
                </a:solidFill>
              </a:rPr>
              <a:t>It is students’ responsibility to read referred chapters of the book and hand-outs given by the instructor and take part in class activities.</a:t>
            </a:r>
          </a:p>
          <a:p>
            <a:pPr marL="396875" lvl="0" indent="-396875" algn="just">
              <a:lnSpc>
                <a:spcPct val="150000"/>
              </a:lnSpc>
              <a:buFont typeface="Arial" pitchFamily="34" charset="0"/>
              <a:buChar char="•"/>
            </a:pPr>
            <a:endParaRPr lang="en-GB" sz="1200" dirty="0">
              <a:solidFill>
                <a:srgbClr val="111111"/>
              </a:solidFill>
            </a:endParaRPr>
          </a:p>
          <a:p>
            <a:pPr marL="396875" lvl="0" indent="-396875" algn="just">
              <a:lnSpc>
                <a:spcPct val="150000"/>
              </a:lnSpc>
              <a:buFont typeface="Arial" pitchFamily="34" charset="0"/>
              <a:buChar char="•"/>
            </a:pPr>
            <a:r>
              <a:rPr lang="en-GB" sz="2400" dirty="0">
                <a:solidFill>
                  <a:srgbClr val="111111"/>
                </a:solidFill>
              </a:rPr>
              <a:t>Students’ conduct in the class for effective learning, class attendance and useful participation in interactive sessions shall count towards final grading / assessment as appreciated / quantified by the instructor. </a:t>
            </a:r>
            <a:endParaRPr lang="en-US" sz="2400" dirty="0">
              <a:solidFill>
                <a:srgbClr val="111111"/>
              </a:solidFill>
            </a:endParaRPr>
          </a:p>
        </p:txBody>
      </p:sp>
    </p:spTree>
    <p:extLst>
      <p:ext uri="{BB962C8B-B14F-4D97-AF65-F5344CB8AC3E}">
        <p14:creationId xmlns:p14="http://schemas.microsoft.com/office/powerpoint/2010/main" val="2705394621"/>
      </p:ext>
    </p:extLst>
  </p:cSld>
  <p:clrMapOvr>
    <a:masterClrMapping/>
  </p:clrMapOvr>
  <p:transition spd="med">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270387"/>
            <a:ext cx="9144000" cy="567813"/>
          </a:xfrm>
        </p:spPr>
        <p:txBody>
          <a:bodyPr/>
          <a:lstStyle/>
          <a:p>
            <a:r>
              <a:rPr lang="en-GB" sz="2800" dirty="0">
                <a:solidFill>
                  <a:srgbClr val="0070C0"/>
                </a:solidFill>
              </a:rPr>
              <a:t>Course – Preliminary Details</a:t>
            </a:r>
            <a:endParaRPr lang="en-US" sz="2800" dirty="0">
              <a:solidFill>
                <a:srgbClr val="0070C0"/>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2616982701"/>
              </p:ext>
            </p:extLst>
          </p:nvPr>
        </p:nvGraphicFramePr>
        <p:xfrm>
          <a:off x="304800" y="1066800"/>
          <a:ext cx="8534400" cy="5486402"/>
        </p:xfrm>
        <a:graphic>
          <a:graphicData uri="http://schemas.openxmlformats.org/drawingml/2006/table">
            <a:tbl>
              <a:tblPr firstRow="1" bandRow="1">
                <a:tableStyleId>{5C22544A-7EE6-4342-B048-85BDC9FD1C3A}</a:tableStyleId>
              </a:tblPr>
              <a:tblGrid>
                <a:gridCol w="2769937">
                  <a:extLst>
                    <a:ext uri="{9D8B030D-6E8A-4147-A177-3AD203B41FA5}">
                      <a16:colId xmlns:a16="http://schemas.microsoft.com/office/drawing/2014/main" val="20000"/>
                    </a:ext>
                  </a:extLst>
                </a:gridCol>
                <a:gridCol w="5764463">
                  <a:extLst>
                    <a:ext uri="{9D8B030D-6E8A-4147-A177-3AD203B41FA5}">
                      <a16:colId xmlns:a16="http://schemas.microsoft.com/office/drawing/2014/main" val="20001"/>
                    </a:ext>
                  </a:extLst>
                </a:gridCol>
              </a:tblGrid>
              <a:tr h="930817">
                <a:tc>
                  <a:txBody>
                    <a:bodyPr/>
                    <a:lstStyle/>
                    <a:p>
                      <a:pPr algn="l"/>
                      <a:r>
                        <a:rPr lang="en-US" sz="2400" b="1" dirty="0">
                          <a:solidFill>
                            <a:schemeClr val="bg1"/>
                          </a:solidFill>
                        </a:rPr>
                        <a:t>Course Title</a:t>
                      </a:r>
                      <a:endParaRPr lang="en-GB" sz="2400" b="1" dirty="0">
                        <a:solidFill>
                          <a:srgbClr val="111111"/>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l"/>
                      <a:r>
                        <a:rPr lang="en-GB" sz="2400" b="1" dirty="0">
                          <a:solidFill>
                            <a:srgbClr val="111111"/>
                          </a:solidFill>
                        </a:rPr>
                        <a:t>Project HR and Stakeholder Management</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0"/>
                  </a:ext>
                </a:extLst>
              </a:tr>
              <a:tr h="911117">
                <a:tc>
                  <a:txBody>
                    <a:bodyPr/>
                    <a:lstStyle/>
                    <a:p>
                      <a:pPr algn="l"/>
                      <a:r>
                        <a:rPr lang="en-GB" sz="2400" b="1" dirty="0">
                          <a:solidFill>
                            <a:srgbClr val="111111"/>
                          </a:solidFill>
                        </a:rPr>
                        <a:t>Credit Hour</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a:r>
                        <a:rPr lang="en-GB" sz="2400" b="1" dirty="0">
                          <a:solidFill>
                            <a:srgbClr val="111111"/>
                          </a:solidFill>
                        </a:rPr>
                        <a:t>3</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1"/>
                  </a:ext>
                </a:extLst>
              </a:tr>
              <a:tr h="911117">
                <a:tc>
                  <a:txBody>
                    <a:bodyPr/>
                    <a:lstStyle/>
                    <a:p>
                      <a:pPr algn="l"/>
                      <a:r>
                        <a:rPr lang="en-GB" sz="2400" b="1" dirty="0">
                          <a:solidFill>
                            <a:srgbClr val="111111"/>
                          </a:solidFill>
                        </a:rPr>
                        <a:t>Course Level</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GB" sz="2400" b="1" dirty="0">
                          <a:solidFill>
                            <a:srgbClr val="111111"/>
                          </a:solidFill>
                        </a:rPr>
                        <a:t>MS(PM)</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002"/>
                  </a:ext>
                </a:extLst>
              </a:tr>
              <a:tr h="911117">
                <a:tc>
                  <a:txBody>
                    <a:bodyPr/>
                    <a:lstStyle/>
                    <a:p>
                      <a:pPr algn="l"/>
                      <a:r>
                        <a:rPr lang="en-GB" sz="2400" b="1" dirty="0">
                          <a:solidFill>
                            <a:srgbClr val="111111"/>
                          </a:solidFill>
                        </a:rPr>
                        <a:t>Instructor</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algn="l"/>
                      <a:endParaRPr lang="en-GB" sz="2400" b="1" dirty="0">
                        <a:solidFill>
                          <a:srgbClr val="111111"/>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extLst>
                  <a:ext uri="{0D108BD9-81ED-4DB2-BD59-A6C34878D82A}">
                    <a16:rowId xmlns:a16="http://schemas.microsoft.com/office/drawing/2014/main" val="10003"/>
                  </a:ext>
                </a:extLst>
              </a:tr>
              <a:tr h="911117">
                <a:tc>
                  <a:txBody>
                    <a:bodyPr/>
                    <a:lstStyle/>
                    <a:p>
                      <a:pPr algn="l"/>
                      <a:r>
                        <a:rPr lang="en-GB" sz="2400" b="1" dirty="0">
                          <a:solidFill>
                            <a:srgbClr val="111111"/>
                          </a:solidFill>
                        </a:rPr>
                        <a:t>Email</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10000"/>
                        <a:lumOff val="90000"/>
                      </a:schemeClr>
                    </a:solidFill>
                  </a:tcPr>
                </a:tc>
                <a:tc>
                  <a:txBody>
                    <a:bodyPr/>
                    <a:lstStyle/>
                    <a:p>
                      <a:pPr algn="l"/>
                      <a:endParaRPr lang="en-GB" sz="2400" b="1" dirty="0">
                        <a:solidFill>
                          <a:srgbClr val="111111"/>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10000"/>
                        <a:lumOff val="90000"/>
                      </a:schemeClr>
                    </a:solidFill>
                  </a:tcPr>
                </a:tc>
                <a:extLst>
                  <a:ext uri="{0D108BD9-81ED-4DB2-BD59-A6C34878D82A}">
                    <a16:rowId xmlns:a16="http://schemas.microsoft.com/office/drawing/2014/main" val="10004"/>
                  </a:ext>
                </a:extLst>
              </a:tr>
              <a:tr h="911117">
                <a:tc>
                  <a:txBody>
                    <a:bodyPr/>
                    <a:lstStyle/>
                    <a:p>
                      <a:pPr algn="l"/>
                      <a:r>
                        <a:rPr lang="en-GB" sz="2400" b="1" dirty="0">
                          <a:solidFill>
                            <a:srgbClr val="111111"/>
                          </a:solidFill>
                        </a:rPr>
                        <a:t>Contact</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l"/>
                      <a:endParaRPr lang="en-GB" sz="2400" b="1" dirty="0">
                        <a:solidFill>
                          <a:srgbClr val="111111"/>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60828990"/>
      </p:ext>
    </p:extLst>
  </p:cSld>
  <p:clrMapOvr>
    <a:masterClrMapping/>
  </p:clrMapOvr>
  <p:transition spd="med">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75187"/>
            <a:ext cx="9144000" cy="567813"/>
          </a:xfrm>
        </p:spPr>
        <p:txBody>
          <a:bodyPr/>
          <a:lstStyle/>
          <a:p>
            <a:r>
              <a:rPr lang="en-GB" sz="2800" dirty="0">
                <a:solidFill>
                  <a:srgbClr val="0070C0"/>
                </a:solidFill>
              </a:rPr>
              <a:t>Reference Books</a:t>
            </a:r>
            <a:endParaRPr lang="en-US" sz="2800" dirty="0">
              <a:solidFill>
                <a:srgbClr val="0070C0"/>
              </a:solidFill>
            </a:endParaRPr>
          </a:p>
        </p:txBody>
      </p:sp>
      <p:sp>
        <p:nvSpPr>
          <p:cNvPr id="6" name="Rectangle 5"/>
          <p:cNvSpPr/>
          <p:nvPr/>
        </p:nvSpPr>
        <p:spPr>
          <a:xfrm>
            <a:off x="381000" y="1371600"/>
            <a:ext cx="8229600" cy="2885405"/>
          </a:xfrm>
          <a:prstGeom prst="rect">
            <a:avLst/>
          </a:prstGeom>
        </p:spPr>
        <p:txBody>
          <a:bodyPr wrap="square">
            <a:spAutoFit/>
          </a:bodyPr>
          <a:lstStyle/>
          <a:p>
            <a:pPr marL="342900" lvl="0" indent="-342900" algn="just">
              <a:lnSpc>
                <a:spcPct val="150000"/>
              </a:lnSpc>
              <a:buFont typeface="Arial" pitchFamily="34" charset="0"/>
              <a:buChar char="•"/>
            </a:pPr>
            <a:r>
              <a:rPr lang="en-US" sz="2200" dirty="0">
                <a:solidFill>
                  <a:srgbClr val="111111"/>
                </a:solidFill>
              </a:rPr>
              <a:t>Guide to the Project Management Body of Knowledge, PMI Standards Committee by William R Duncan, Project Management Institute, Four Campus, Boulevard, New Town Square, USA.</a:t>
            </a:r>
          </a:p>
          <a:p>
            <a:pPr marL="342900" lvl="0" indent="-342900" algn="just">
              <a:lnSpc>
                <a:spcPct val="150000"/>
              </a:lnSpc>
              <a:buFont typeface="Arial" pitchFamily="34" charset="0"/>
              <a:buChar char="•"/>
            </a:pPr>
            <a:endParaRPr lang="en-US" sz="1100" dirty="0">
              <a:solidFill>
                <a:srgbClr val="111111"/>
              </a:solidFill>
            </a:endParaRPr>
          </a:p>
          <a:p>
            <a:pPr marL="342900" lvl="0" indent="-342900" algn="just">
              <a:lnSpc>
                <a:spcPct val="150000"/>
              </a:lnSpc>
              <a:buFont typeface="Arial" pitchFamily="34" charset="0"/>
              <a:buChar char="•"/>
            </a:pPr>
            <a:r>
              <a:rPr lang="en-US" sz="2200" dirty="0">
                <a:solidFill>
                  <a:srgbClr val="111111"/>
                </a:solidFill>
              </a:rPr>
              <a:t>Human Resource Management by Gary </a:t>
            </a:r>
            <a:r>
              <a:rPr lang="en-US" sz="2200" dirty="0" err="1">
                <a:solidFill>
                  <a:srgbClr val="111111"/>
                </a:solidFill>
              </a:rPr>
              <a:t>Dessler</a:t>
            </a:r>
            <a:r>
              <a:rPr lang="en-US" sz="2200" dirty="0">
                <a:solidFill>
                  <a:srgbClr val="111111"/>
                </a:solidFill>
              </a:rPr>
              <a:t>, 14</a:t>
            </a:r>
            <a:r>
              <a:rPr lang="en-US" sz="2200" baseline="30000" dirty="0">
                <a:solidFill>
                  <a:srgbClr val="111111"/>
                </a:solidFill>
              </a:rPr>
              <a:t>th</a:t>
            </a:r>
            <a:r>
              <a:rPr lang="en-US" sz="2200" dirty="0">
                <a:solidFill>
                  <a:srgbClr val="111111"/>
                </a:solidFill>
              </a:rPr>
              <a:t> edition. </a:t>
            </a:r>
          </a:p>
        </p:txBody>
      </p:sp>
    </p:spTree>
    <p:extLst>
      <p:ext uri="{BB962C8B-B14F-4D97-AF65-F5344CB8AC3E}">
        <p14:creationId xmlns:p14="http://schemas.microsoft.com/office/powerpoint/2010/main" val="2835359794"/>
      </p:ext>
    </p:extLst>
  </p:cSld>
  <p:clrMapOvr>
    <a:masterClrMapping/>
  </p:clrMapOvr>
  <p:transition spd="med">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75187"/>
            <a:ext cx="9144000" cy="567813"/>
          </a:xfrm>
        </p:spPr>
        <p:txBody>
          <a:bodyPr/>
          <a:lstStyle/>
          <a:p>
            <a:r>
              <a:rPr lang="en-GB" sz="2800" dirty="0">
                <a:solidFill>
                  <a:srgbClr val="0070C0"/>
                </a:solidFill>
              </a:rPr>
              <a:t>Reference Journals</a:t>
            </a:r>
            <a:endParaRPr lang="en-US" sz="2800" dirty="0">
              <a:solidFill>
                <a:srgbClr val="0070C0"/>
              </a:solidFill>
            </a:endParaRPr>
          </a:p>
        </p:txBody>
      </p:sp>
      <p:sp>
        <p:nvSpPr>
          <p:cNvPr id="6" name="Rectangle 5"/>
          <p:cNvSpPr/>
          <p:nvPr/>
        </p:nvSpPr>
        <p:spPr>
          <a:xfrm>
            <a:off x="533400" y="1144012"/>
            <a:ext cx="7924800" cy="3046988"/>
          </a:xfrm>
          <a:prstGeom prst="rect">
            <a:avLst/>
          </a:prstGeom>
        </p:spPr>
        <p:txBody>
          <a:bodyPr wrap="square">
            <a:spAutoFit/>
          </a:bodyPr>
          <a:lstStyle/>
          <a:p>
            <a:pPr marL="342900" lvl="0" indent="-342900" algn="just">
              <a:lnSpc>
                <a:spcPct val="200000"/>
              </a:lnSpc>
              <a:buFont typeface="Arial" pitchFamily="34" charset="0"/>
              <a:buChar char="•"/>
            </a:pPr>
            <a:r>
              <a:rPr lang="en-US" sz="2400" dirty="0">
                <a:solidFill>
                  <a:srgbClr val="111111"/>
                </a:solidFill>
              </a:rPr>
              <a:t>Journal of Management / Management Studies.</a:t>
            </a:r>
          </a:p>
          <a:p>
            <a:pPr marL="342900" lvl="0" indent="-342900" algn="just">
              <a:lnSpc>
                <a:spcPct val="200000"/>
              </a:lnSpc>
              <a:buFont typeface="Arial" pitchFamily="34" charset="0"/>
              <a:buChar char="•"/>
            </a:pPr>
            <a:r>
              <a:rPr lang="en-US" sz="2400" dirty="0">
                <a:solidFill>
                  <a:srgbClr val="111111"/>
                </a:solidFill>
              </a:rPr>
              <a:t>Journal of Management Education.</a:t>
            </a:r>
          </a:p>
          <a:p>
            <a:pPr marL="342900" lvl="0" indent="-342900" algn="just">
              <a:lnSpc>
                <a:spcPct val="200000"/>
              </a:lnSpc>
              <a:buFont typeface="Arial" pitchFamily="34" charset="0"/>
              <a:buChar char="•"/>
            </a:pPr>
            <a:r>
              <a:rPr lang="en-US" sz="2400" dirty="0">
                <a:solidFill>
                  <a:srgbClr val="111111"/>
                </a:solidFill>
              </a:rPr>
              <a:t>Journal of Organizational Behaviour.</a:t>
            </a:r>
          </a:p>
          <a:p>
            <a:pPr marL="342900" lvl="0" indent="-342900" algn="just">
              <a:lnSpc>
                <a:spcPct val="200000"/>
              </a:lnSpc>
              <a:buFont typeface="Arial" pitchFamily="34" charset="0"/>
              <a:buChar char="•"/>
            </a:pPr>
            <a:r>
              <a:rPr lang="en-US" sz="2400" dirty="0">
                <a:solidFill>
                  <a:srgbClr val="111111"/>
                </a:solidFill>
              </a:rPr>
              <a:t>Harvard Business Review.</a:t>
            </a:r>
          </a:p>
        </p:txBody>
      </p:sp>
    </p:spTree>
    <p:extLst>
      <p:ext uri="{BB962C8B-B14F-4D97-AF65-F5344CB8AC3E}">
        <p14:creationId xmlns:p14="http://schemas.microsoft.com/office/powerpoint/2010/main" val="1864723550"/>
      </p:ext>
    </p:extLst>
  </p:cSld>
  <p:clrMapOvr>
    <a:masterClrMapping/>
  </p:clrMapOvr>
  <p:transition spd="med">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609600"/>
            <a:ext cx="9144000" cy="567813"/>
          </a:xfrm>
        </p:spPr>
        <p:txBody>
          <a:bodyPr/>
          <a:lstStyle/>
          <a:p>
            <a:r>
              <a:rPr lang="en-GB" sz="2800" dirty="0">
                <a:solidFill>
                  <a:srgbClr val="0070C0"/>
                </a:solidFill>
              </a:rPr>
              <a:t>Case Studies / Articles Review</a:t>
            </a:r>
            <a:endParaRPr lang="en-US" sz="2800" dirty="0">
              <a:solidFill>
                <a:srgbClr val="0070C0"/>
              </a:solidFill>
            </a:endParaRPr>
          </a:p>
        </p:txBody>
      </p:sp>
      <p:sp>
        <p:nvSpPr>
          <p:cNvPr id="6" name="Rectangle 5"/>
          <p:cNvSpPr/>
          <p:nvPr/>
        </p:nvSpPr>
        <p:spPr>
          <a:xfrm>
            <a:off x="304800" y="1406013"/>
            <a:ext cx="8458200" cy="4293483"/>
          </a:xfrm>
          <a:prstGeom prst="rect">
            <a:avLst/>
          </a:prstGeom>
        </p:spPr>
        <p:txBody>
          <a:bodyPr wrap="square">
            <a:spAutoFit/>
          </a:bodyPr>
          <a:lstStyle/>
          <a:p>
            <a:pPr marL="350838" lvl="0" indent="-350838" algn="just">
              <a:lnSpc>
                <a:spcPct val="150000"/>
              </a:lnSpc>
              <a:buFont typeface="Arial" pitchFamily="34" charset="0"/>
              <a:buChar char="•"/>
            </a:pPr>
            <a:r>
              <a:rPr lang="en-GB" sz="2400" dirty="0">
                <a:solidFill>
                  <a:srgbClr val="111111"/>
                </a:solidFill>
              </a:rPr>
              <a:t>Groups of students shall be asked to critique the article / case of study in the class. Softcopy of the presentation / subject under discussion shall be given to the instructor a week before the class discussion.</a:t>
            </a:r>
            <a:endParaRPr lang="en-US" sz="2400" dirty="0">
              <a:solidFill>
                <a:srgbClr val="111111"/>
              </a:solidFill>
            </a:endParaRPr>
          </a:p>
          <a:p>
            <a:pPr marL="350838" lvl="0" indent="-350838" algn="just">
              <a:lnSpc>
                <a:spcPct val="150000"/>
              </a:lnSpc>
              <a:buFont typeface="Arial" pitchFamily="34" charset="0"/>
              <a:buChar char="•"/>
            </a:pPr>
            <a:endParaRPr lang="en-GB" sz="1400" dirty="0">
              <a:solidFill>
                <a:srgbClr val="111111"/>
              </a:solidFill>
            </a:endParaRPr>
          </a:p>
          <a:p>
            <a:pPr marL="350838" lvl="0" indent="-350838" algn="just">
              <a:lnSpc>
                <a:spcPct val="150000"/>
              </a:lnSpc>
              <a:buFont typeface="Arial" pitchFamily="34" charset="0"/>
              <a:buChar char="•"/>
            </a:pPr>
            <a:r>
              <a:rPr lang="en-GB" sz="2400" dirty="0">
                <a:solidFill>
                  <a:srgbClr val="111111"/>
                </a:solidFill>
              </a:rPr>
              <a:t>Students should come prepared to give their views on the article / case. The discussion shall take place as per layout given.</a:t>
            </a:r>
            <a:endParaRPr lang="en-US" sz="2400" dirty="0">
              <a:solidFill>
                <a:srgbClr val="111111"/>
              </a:solidFill>
            </a:endParaRPr>
          </a:p>
        </p:txBody>
      </p:sp>
    </p:spTree>
    <p:extLst>
      <p:ext uri="{BB962C8B-B14F-4D97-AF65-F5344CB8AC3E}">
        <p14:creationId xmlns:p14="http://schemas.microsoft.com/office/powerpoint/2010/main" val="3569947578"/>
      </p:ext>
    </p:extLst>
  </p:cSld>
  <p:clrMapOvr>
    <a:masterClrMapping/>
  </p:clrMapOvr>
  <p:transition spd="med">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685800"/>
            <a:ext cx="9144000" cy="567813"/>
          </a:xfrm>
        </p:spPr>
        <p:txBody>
          <a:bodyPr/>
          <a:lstStyle/>
          <a:p>
            <a:r>
              <a:rPr lang="en-GB" sz="2800" dirty="0">
                <a:solidFill>
                  <a:srgbClr val="0070C0"/>
                </a:solidFill>
              </a:rPr>
              <a:t>Assessment / Grading</a:t>
            </a:r>
            <a:endParaRPr lang="en-US" sz="2800" dirty="0">
              <a:solidFill>
                <a:srgbClr val="0070C0"/>
              </a:solidFill>
            </a:endParaRPr>
          </a:p>
        </p:txBody>
      </p:sp>
      <p:sp>
        <p:nvSpPr>
          <p:cNvPr id="6" name="Rectangle 5"/>
          <p:cNvSpPr/>
          <p:nvPr/>
        </p:nvSpPr>
        <p:spPr>
          <a:xfrm>
            <a:off x="685800" y="1513344"/>
            <a:ext cx="7620000" cy="2308324"/>
          </a:xfrm>
          <a:prstGeom prst="rect">
            <a:avLst/>
          </a:prstGeom>
        </p:spPr>
        <p:txBody>
          <a:bodyPr wrap="square">
            <a:spAutoFit/>
          </a:bodyPr>
          <a:lstStyle/>
          <a:p>
            <a:pPr lvl="0" indent="350838" algn="just">
              <a:lnSpc>
                <a:spcPct val="200000"/>
              </a:lnSpc>
              <a:buFont typeface="Arial" pitchFamily="34" charset="0"/>
              <a:buChar char="•"/>
            </a:pPr>
            <a:r>
              <a:rPr lang="en-GB" sz="2400" dirty="0">
                <a:solidFill>
                  <a:srgbClr val="111111"/>
                </a:solidFill>
              </a:rPr>
              <a:t>Final Examinations		- 40%</a:t>
            </a:r>
            <a:endParaRPr lang="en-US" sz="2400" dirty="0">
              <a:solidFill>
                <a:srgbClr val="111111"/>
              </a:solidFill>
            </a:endParaRPr>
          </a:p>
          <a:p>
            <a:pPr lvl="0" indent="350838" algn="just">
              <a:lnSpc>
                <a:spcPct val="200000"/>
              </a:lnSpc>
              <a:buFont typeface="Arial" pitchFamily="34" charset="0"/>
              <a:buChar char="•"/>
            </a:pPr>
            <a:r>
              <a:rPr lang="en-GB" sz="2400" dirty="0">
                <a:solidFill>
                  <a:srgbClr val="111111"/>
                </a:solidFill>
              </a:rPr>
              <a:t>Mid Term Examinations		- 30%</a:t>
            </a:r>
            <a:endParaRPr lang="en-US" sz="2400" dirty="0">
              <a:solidFill>
                <a:srgbClr val="111111"/>
              </a:solidFill>
            </a:endParaRPr>
          </a:p>
          <a:p>
            <a:pPr lvl="0" indent="350838" algn="just">
              <a:lnSpc>
                <a:spcPct val="200000"/>
              </a:lnSpc>
              <a:buFont typeface="Arial" pitchFamily="34" charset="0"/>
              <a:buChar char="•"/>
            </a:pPr>
            <a:r>
              <a:rPr lang="en-GB" sz="2400" dirty="0">
                <a:solidFill>
                  <a:srgbClr val="111111"/>
                </a:solidFill>
              </a:rPr>
              <a:t>Assignments(20)/Quizzes(10)	- 30%</a:t>
            </a:r>
            <a:endParaRPr lang="en-US" sz="2400" dirty="0">
              <a:solidFill>
                <a:srgbClr val="111111"/>
              </a:solidFill>
            </a:endParaRPr>
          </a:p>
        </p:txBody>
      </p:sp>
    </p:spTree>
    <p:extLst>
      <p:ext uri="{BB962C8B-B14F-4D97-AF65-F5344CB8AC3E}">
        <p14:creationId xmlns:p14="http://schemas.microsoft.com/office/powerpoint/2010/main" val="1259571969"/>
      </p:ext>
    </p:extLst>
  </p:cSld>
  <p:clrMapOvr>
    <a:masterClrMapping/>
  </p:clrMapOvr>
  <p:transition spd="med">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txBox="1">
            <a:spLocks noChangeArrowheads="1"/>
          </p:cNvSpPr>
          <p:nvPr/>
        </p:nvSpPr>
        <p:spPr bwMode="auto">
          <a:xfrm>
            <a:off x="0" y="422275"/>
            <a:ext cx="9144000" cy="568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rgbClr val="666699"/>
              </a:buClr>
              <a:buChar char="•"/>
              <a:defRPr sz="2400">
                <a:solidFill>
                  <a:srgbClr val="006699"/>
                </a:solidFill>
                <a:latin typeface="Arial" panose="020B0604020202020204" pitchFamily="34" charset="0"/>
                <a:cs typeface="Tahoma" panose="020B0604030504040204" pitchFamily="34" charset="0"/>
              </a:defRPr>
            </a:lvl1pPr>
            <a:lvl2pPr marL="742950" indent="-285750">
              <a:spcBef>
                <a:spcPct val="20000"/>
              </a:spcBef>
              <a:buClr>
                <a:srgbClr val="336699"/>
              </a:buClr>
              <a:buSzPct val="90000"/>
              <a:buFont typeface="Wingdings" panose="05000000000000000000" pitchFamily="2" charset="2"/>
              <a:buChar char="Ø"/>
              <a:defRPr sz="2000">
                <a:solidFill>
                  <a:srgbClr val="996633"/>
                </a:solidFill>
                <a:latin typeface="Arial" panose="020B0604020202020204" pitchFamily="34" charset="0"/>
                <a:cs typeface="Tahoma" panose="020B0604030504040204" pitchFamily="34" charset="0"/>
              </a:defRPr>
            </a:lvl2pPr>
            <a:lvl3pPr marL="1143000" indent="-228600">
              <a:spcBef>
                <a:spcPct val="20000"/>
              </a:spcBef>
              <a:buClr>
                <a:srgbClr val="0099CC"/>
              </a:buClr>
              <a:buSzPct val="75000"/>
              <a:buFont typeface="Wingdings" panose="05000000000000000000" pitchFamily="2" charset="2"/>
              <a:buChar char="v"/>
              <a:defRPr sz="2000">
                <a:solidFill>
                  <a:srgbClr val="006699"/>
                </a:solidFill>
                <a:latin typeface="Arial" panose="020B0604020202020204" pitchFamily="34" charset="0"/>
                <a:cs typeface="Tahoma" panose="020B0604030504040204" pitchFamily="34" charset="0"/>
              </a:defRPr>
            </a:lvl3pPr>
            <a:lvl4pPr marL="1600200" indent="-228600">
              <a:spcBef>
                <a:spcPct val="20000"/>
              </a:spcBef>
              <a:buClr>
                <a:schemeClr val="bg2"/>
              </a:buClr>
              <a:buChar char="–"/>
              <a:defRPr sz="1600">
                <a:solidFill>
                  <a:schemeClr val="tx1"/>
                </a:solidFill>
                <a:latin typeface="Arial" panose="020B0604020202020204" pitchFamily="34" charset="0"/>
                <a:cs typeface="Tahoma" panose="020B0604030504040204" pitchFamily="34" charset="0"/>
              </a:defRPr>
            </a:lvl4pPr>
            <a:lvl5pPr marL="2057400" indent="-228600">
              <a:spcBef>
                <a:spcPct val="20000"/>
              </a:spcBef>
              <a:buClr>
                <a:schemeClr val="bg2"/>
              </a:buClr>
              <a:buChar char="•"/>
              <a:defRPr sz="1400">
                <a:solidFill>
                  <a:srgbClr val="993300"/>
                </a:solidFill>
                <a:latin typeface="Arial" panose="020B0604020202020204" pitchFamily="34" charset="0"/>
                <a:cs typeface="Tahoma" panose="020B0604030504040204" pitchFamily="34" charset="0"/>
              </a:defRPr>
            </a:lvl5pPr>
            <a:lvl6pPr marL="2514600" indent="-228600" eaLnBrk="0" fontAlgn="base" hangingPunct="0">
              <a:spcBef>
                <a:spcPct val="20000"/>
              </a:spcBef>
              <a:spcAft>
                <a:spcPct val="0"/>
              </a:spcAft>
              <a:buClr>
                <a:schemeClr val="bg2"/>
              </a:buClr>
              <a:buChar char="•"/>
              <a:defRPr sz="1400">
                <a:solidFill>
                  <a:srgbClr val="993300"/>
                </a:solidFill>
                <a:latin typeface="Arial" panose="020B0604020202020204" pitchFamily="34" charset="0"/>
                <a:cs typeface="Tahoma" panose="020B0604030504040204" pitchFamily="34" charset="0"/>
              </a:defRPr>
            </a:lvl6pPr>
            <a:lvl7pPr marL="2971800" indent="-228600" eaLnBrk="0" fontAlgn="base" hangingPunct="0">
              <a:spcBef>
                <a:spcPct val="20000"/>
              </a:spcBef>
              <a:spcAft>
                <a:spcPct val="0"/>
              </a:spcAft>
              <a:buClr>
                <a:schemeClr val="bg2"/>
              </a:buClr>
              <a:buChar char="•"/>
              <a:defRPr sz="1400">
                <a:solidFill>
                  <a:srgbClr val="993300"/>
                </a:solidFill>
                <a:latin typeface="Arial" panose="020B0604020202020204" pitchFamily="34" charset="0"/>
                <a:cs typeface="Tahoma" panose="020B0604030504040204" pitchFamily="34" charset="0"/>
              </a:defRPr>
            </a:lvl7pPr>
            <a:lvl8pPr marL="3429000" indent="-228600" eaLnBrk="0" fontAlgn="base" hangingPunct="0">
              <a:spcBef>
                <a:spcPct val="20000"/>
              </a:spcBef>
              <a:spcAft>
                <a:spcPct val="0"/>
              </a:spcAft>
              <a:buClr>
                <a:schemeClr val="bg2"/>
              </a:buClr>
              <a:buChar char="•"/>
              <a:defRPr sz="1400">
                <a:solidFill>
                  <a:srgbClr val="993300"/>
                </a:solidFill>
                <a:latin typeface="Arial" panose="020B0604020202020204" pitchFamily="34" charset="0"/>
                <a:cs typeface="Tahoma" panose="020B0604030504040204" pitchFamily="34" charset="0"/>
              </a:defRPr>
            </a:lvl8pPr>
            <a:lvl9pPr marL="3886200" indent="-228600" eaLnBrk="0" fontAlgn="base" hangingPunct="0">
              <a:spcBef>
                <a:spcPct val="20000"/>
              </a:spcBef>
              <a:spcAft>
                <a:spcPct val="0"/>
              </a:spcAft>
              <a:buClr>
                <a:schemeClr val="bg2"/>
              </a:buClr>
              <a:buChar char="•"/>
              <a:defRPr sz="1400">
                <a:solidFill>
                  <a:srgbClr val="993300"/>
                </a:solidFill>
                <a:latin typeface="Arial" panose="020B0604020202020204" pitchFamily="34" charset="0"/>
                <a:cs typeface="Tahoma" panose="020B0604030504040204" pitchFamily="34" charset="0"/>
              </a:defRPr>
            </a:lvl9pPr>
          </a:lstStyle>
          <a:p>
            <a:pPr algn="ctr">
              <a:spcBef>
                <a:spcPct val="0"/>
              </a:spcBef>
              <a:buClrTx/>
              <a:buFontTx/>
              <a:buNone/>
            </a:pPr>
            <a:r>
              <a:rPr lang="en-GB" altLang="en-US" sz="2800" b="1">
                <a:solidFill>
                  <a:srgbClr val="0070C0"/>
                </a:solidFill>
                <a:ea typeface="Arial Unicode MS" panose="020B0604020202020204" pitchFamily="34" charset="-128"/>
                <a:cs typeface="Arial" panose="020B0604020202020204" pitchFamily="34" charset="0"/>
              </a:rPr>
              <a:t>Main Topics of HRM &amp; Communication Mgt</a:t>
            </a:r>
            <a:endParaRPr lang="en-US" altLang="en-US" sz="2800" b="1">
              <a:solidFill>
                <a:srgbClr val="0070C0"/>
              </a:solidFill>
              <a:ea typeface="Arial Unicode MS" panose="020B0604020202020204" pitchFamily="34" charset="-128"/>
              <a:cs typeface="Arial" panose="020B0604020202020204" pitchFamily="34" charset="0"/>
            </a:endParaRPr>
          </a:p>
        </p:txBody>
      </p:sp>
      <p:sp>
        <p:nvSpPr>
          <p:cNvPr id="22531" name="TextBox 5"/>
          <p:cNvSpPr txBox="1">
            <a:spLocks noChangeArrowheads="1"/>
          </p:cNvSpPr>
          <p:nvPr/>
        </p:nvSpPr>
        <p:spPr bwMode="auto">
          <a:xfrm>
            <a:off x="381000" y="1204912"/>
            <a:ext cx="815340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666699"/>
              </a:buClr>
              <a:buChar char="•"/>
              <a:tabLst>
                <a:tab pos="688975" algn="l"/>
              </a:tabLst>
              <a:defRPr sz="2400">
                <a:solidFill>
                  <a:srgbClr val="006699"/>
                </a:solidFill>
                <a:latin typeface="Arial" panose="020B0604020202020204" pitchFamily="34" charset="0"/>
                <a:cs typeface="Tahoma" panose="020B0604030504040204" pitchFamily="34" charset="0"/>
              </a:defRPr>
            </a:lvl1pPr>
            <a:lvl2pPr marL="742950" indent="-285750">
              <a:spcBef>
                <a:spcPct val="20000"/>
              </a:spcBef>
              <a:buClr>
                <a:srgbClr val="336699"/>
              </a:buClr>
              <a:buSzPct val="90000"/>
              <a:buFont typeface="Wingdings" panose="05000000000000000000" pitchFamily="2" charset="2"/>
              <a:buChar char="Ø"/>
              <a:tabLst>
                <a:tab pos="688975" algn="l"/>
              </a:tabLst>
              <a:defRPr sz="2000">
                <a:solidFill>
                  <a:srgbClr val="996633"/>
                </a:solidFill>
                <a:latin typeface="Arial" panose="020B0604020202020204" pitchFamily="34" charset="0"/>
                <a:cs typeface="Tahoma" panose="020B0604030504040204" pitchFamily="34" charset="0"/>
              </a:defRPr>
            </a:lvl2pPr>
            <a:lvl3pPr indent="-457200">
              <a:spcBef>
                <a:spcPct val="20000"/>
              </a:spcBef>
              <a:buClr>
                <a:srgbClr val="0099CC"/>
              </a:buClr>
              <a:buSzPct val="75000"/>
              <a:buFont typeface="Wingdings" panose="05000000000000000000" pitchFamily="2" charset="2"/>
              <a:buChar char="v"/>
              <a:tabLst>
                <a:tab pos="688975" algn="l"/>
              </a:tabLst>
              <a:defRPr sz="2000">
                <a:solidFill>
                  <a:srgbClr val="006699"/>
                </a:solidFill>
                <a:latin typeface="Arial" panose="020B0604020202020204" pitchFamily="34" charset="0"/>
                <a:cs typeface="Tahoma" panose="020B0604030504040204" pitchFamily="34" charset="0"/>
              </a:defRPr>
            </a:lvl3pPr>
            <a:lvl4pPr marL="1600200" indent="-228600">
              <a:spcBef>
                <a:spcPct val="20000"/>
              </a:spcBef>
              <a:buClr>
                <a:schemeClr val="bg2"/>
              </a:buClr>
              <a:buChar char="–"/>
              <a:tabLst>
                <a:tab pos="688975" algn="l"/>
              </a:tabLst>
              <a:defRPr sz="1600">
                <a:solidFill>
                  <a:schemeClr val="tx1"/>
                </a:solidFill>
                <a:latin typeface="Arial" panose="020B0604020202020204" pitchFamily="34" charset="0"/>
                <a:cs typeface="Tahoma" panose="020B0604030504040204" pitchFamily="34" charset="0"/>
              </a:defRPr>
            </a:lvl4pPr>
            <a:lvl5pPr marL="2057400" indent="-228600">
              <a:spcBef>
                <a:spcPct val="20000"/>
              </a:spcBef>
              <a:buClr>
                <a:schemeClr val="bg2"/>
              </a:buClr>
              <a:buChar char="•"/>
              <a:tabLst>
                <a:tab pos="688975" algn="l"/>
              </a:tabLst>
              <a:defRPr sz="1400">
                <a:solidFill>
                  <a:srgbClr val="993300"/>
                </a:solidFill>
                <a:latin typeface="Arial" panose="020B0604020202020204" pitchFamily="34" charset="0"/>
                <a:cs typeface="Tahoma" panose="020B0604030504040204" pitchFamily="34" charset="0"/>
              </a:defRPr>
            </a:lvl5pPr>
            <a:lvl6pPr marL="2514600" indent="-228600" eaLnBrk="0" fontAlgn="base" hangingPunct="0">
              <a:spcBef>
                <a:spcPct val="20000"/>
              </a:spcBef>
              <a:spcAft>
                <a:spcPct val="0"/>
              </a:spcAft>
              <a:buClr>
                <a:schemeClr val="bg2"/>
              </a:buClr>
              <a:buChar char="•"/>
              <a:tabLst>
                <a:tab pos="688975" algn="l"/>
              </a:tabLst>
              <a:defRPr sz="1400">
                <a:solidFill>
                  <a:srgbClr val="993300"/>
                </a:solidFill>
                <a:latin typeface="Arial" panose="020B0604020202020204" pitchFamily="34" charset="0"/>
                <a:cs typeface="Tahoma" panose="020B0604030504040204" pitchFamily="34" charset="0"/>
              </a:defRPr>
            </a:lvl6pPr>
            <a:lvl7pPr marL="2971800" indent="-228600" eaLnBrk="0" fontAlgn="base" hangingPunct="0">
              <a:spcBef>
                <a:spcPct val="20000"/>
              </a:spcBef>
              <a:spcAft>
                <a:spcPct val="0"/>
              </a:spcAft>
              <a:buClr>
                <a:schemeClr val="bg2"/>
              </a:buClr>
              <a:buChar char="•"/>
              <a:tabLst>
                <a:tab pos="688975" algn="l"/>
              </a:tabLst>
              <a:defRPr sz="1400">
                <a:solidFill>
                  <a:srgbClr val="993300"/>
                </a:solidFill>
                <a:latin typeface="Arial" panose="020B0604020202020204" pitchFamily="34" charset="0"/>
                <a:cs typeface="Tahoma" panose="020B0604030504040204" pitchFamily="34" charset="0"/>
              </a:defRPr>
            </a:lvl7pPr>
            <a:lvl8pPr marL="3429000" indent="-228600" eaLnBrk="0" fontAlgn="base" hangingPunct="0">
              <a:spcBef>
                <a:spcPct val="20000"/>
              </a:spcBef>
              <a:spcAft>
                <a:spcPct val="0"/>
              </a:spcAft>
              <a:buClr>
                <a:schemeClr val="bg2"/>
              </a:buClr>
              <a:buChar char="•"/>
              <a:tabLst>
                <a:tab pos="688975" algn="l"/>
              </a:tabLst>
              <a:defRPr sz="1400">
                <a:solidFill>
                  <a:srgbClr val="993300"/>
                </a:solidFill>
                <a:latin typeface="Arial" panose="020B0604020202020204" pitchFamily="34" charset="0"/>
                <a:cs typeface="Tahoma" panose="020B0604030504040204" pitchFamily="34" charset="0"/>
              </a:defRPr>
            </a:lvl8pPr>
            <a:lvl9pPr marL="3886200" indent="-228600" eaLnBrk="0" fontAlgn="base" hangingPunct="0">
              <a:spcBef>
                <a:spcPct val="20000"/>
              </a:spcBef>
              <a:spcAft>
                <a:spcPct val="0"/>
              </a:spcAft>
              <a:buClr>
                <a:schemeClr val="bg2"/>
              </a:buClr>
              <a:buChar char="•"/>
              <a:tabLst>
                <a:tab pos="688975" algn="l"/>
              </a:tabLst>
              <a:defRPr sz="1400">
                <a:solidFill>
                  <a:srgbClr val="993300"/>
                </a:solidFill>
                <a:latin typeface="Arial" panose="020B0604020202020204" pitchFamily="34" charset="0"/>
                <a:cs typeface="Tahoma" panose="020B0604030504040204" pitchFamily="34" charset="0"/>
              </a:defRPr>
            </a:lvl9pPr>
          </a:lstStyle>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Job Analysis</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Recruitment and Selection</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Training &amp; Development</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Team Building / Teamwork</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Employee Motivation</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Performance Appraisal</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Compensation and Benefits</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Basic Communication Model</a:t>
            </a:r>
          </a:p>
          <a:p>
            <a:pPr lvl="2" algn="just" eaLnBrk="1" hangingPunct="1">
              <a:lnSpc>
                <a:spcPct val="150000"/>
              </a:lnSpc>
              <a:spcBef>
                <a:spcPct val="0"/>
              </a:spcBef>
              <a:buClrTx/>
              <a:buSzTx/>
              <a:buFont typeface="Arial" panose="020B0604020202020204" pitchFamily="34" charset="0"/>
              <a:buChar char="•"/>
            </a:pPr>
            <a:r>
              <a:rPr lang="en-GB" altLang="en-US" sz="2200" dirty="0">
                <a:solidFill>
                  <a:srgbClr val="000000"/>
                </a:solidFill>
              </a:rPr>
              <a:t>Communication Management System</a:t>
            </a:r>
          </a:p>
        </p:txBody>
      </p:sp>
    </p:spTree>
    <p:extLst>
      <p:ext uri="{BB962C8B-B14F-4D97-AF65-F5344CB8AC3E}">
        <p14:creationId xmlns:p14="http://schemas.microsoft.com/office/powerpoint/2010/main" val="36670111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533400" y="1852384"/>
            <a:ext cx="8153400" cy="2332177"/>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pPr marL="236538" marR="0" lvl="0" indent="-236538" defTabSz="914400" rtl="0" eaLnBrk="1" fontAlgn="base" latinLnBrk="0" hangingPunct="1">
              <a:lnSpc>
                <a:spcPct val="150000"/>
              </a:lnSpc>
              <a:spcBef>
                <a:spcPct val="0"/>
              </a:spcBef>
              <a:spcAft>
                <a:spcPct val="0"/>
              </a:spcAft>
              <a:buClrTx/>
              <a:buSzTx/>
              <a:buFont typeface="Wingdings" pitchFamily="2" charset="2"/>
              <a:buChar char="§"/>
              <a:tabLst/>
            </a:pPr>
            <a:r>
              <a:rPr kumimoji="0" lang="en-GB" sz="2400" i="0" u="none" strike="noStrike" cap="none" normalizeH="0" baseline="0" dirty="0">
                <a:ln>
                  <a:noFill/>
                </a:ln>
                <a:solidFill>
                  <a:srgbClr val="111111"/>
                </a:solidFill>
                <a:effectLst/>
                <a:latin typeface="Arial" pitchFamily="34" charset="0"/>
                <a:ea typeface="Times New Roman" pitchFamily="18" charset="0"/>
                <a:cs typeface="Arial" pitchFamily="34" charset="0"/>
              </a:rPr>
              <a:t>Why should we study this course?</a:t>
            </a:r>
          </a:p>
          <a:p>
            <a:pPr marL="236538" marR="0" lvl="0" indent="-236538" defTabSz="914400" rtl="0" eaLnBrk="1" fontAlgn="base" latinLnBrk="0" hangingPunct="1">
              <a:lnSpc>
                <a:spcPct val="150000"/>
              </a:lnSpc>
              <a:spcBef>
                <a:spcPct val="0"/>
              </a:spcBef>
              <a:spcAft>
                <a:spcPct val="0"/>
              </a:spcAft>
              <a:buClrTx/>
              <a:buSzTx/>
              <a:buFont typeface="Wingdings" pitchFamily="2" charset="2"/>
              <a:buChar char="§"/>
              <a:tabLst/>
            </a:pPr>
            <a:endParaRPr lang="en-GB" sz="1600" dirty="0">
              <a:solidFill>
                <a:srgbClr val="111111"/>
              </a:solidFill>
              <a:latin typeface="Arial" pitchFamily="34" charset="0"/>
              <a:ea typeface="Times New Roman" pitchFamily="18" charset="0"/>
              <a:cs typeface="Arial" pitchFamily="34" charset="0"/>
            </a:endParaRPr>
          </a:p>
          <a:p>
            <a:pPr marL="236538" marR="0" lvl="0" indent="-236538" defTabSz="914400" rtl="0" eaLnBrk="1" fontAlgn="base" latinLnBrk="0" hangingPunct="1">
              <a:lnSpc>
                <a:spcPct val="150000"/>
              </a:lnSpc>
              <a:spcBef>
                <a:spcPct val="0"/>
              </a:spcBef>
              <a:spcAft>
                <a:spcPct val="0"/>
              </a:spcAft>
              <a:buClrTx/>
              <a:buSzTx/>
              <a:buFont typeface="Wingdings" pitchFamily="2" charset="2"/>
              <a:buChar char="§"/>
              <a:tabLst/>
            </a:pPr>
            <a:r>
              <a:rPr lang="en-GB" sz="2400" dirty="0">
                <a:solidFill>
                  <a:srgbClr val="111111"/>
                </a:solidFill>
                <a:latin typeface="Arial" pitchFamily="34" charset="0"/>
                <a:ea typeface="Times New Roman" pitchFamily="18" charset="0"/>
                <a:cs typeface="Arial" pitchFamily="34" charset="0"/>
              </a:rPr>
              <a:t>What is Role of HR in various aspects of PM?</a:t>
            </a:r>
          </a:p>
          <a:p>
            <a:pPr marL="236538" marR="0" lvl="0" indent="-236538" defTabSz="914400" rtl="0" eaLnBrk="1" fontAlgn="base" latinLnBrk="0" hangingPunct="1">
              <a:lnSpc>
                <a:spcPct val="150000"/>
              </a:lnSpc>
              <a:spcBef>
                <a:spcPct val="0"/>
              </a:spcBef>
              <a:spcAft>
                <a:spcPct val="0"/>
              </a:spcAft>
              <a:buClrTx/>
              <a:buSzTx/>
              <a:buFont typeface="Wingdings" pitchFamily="2" charset="2"/>
              <a:buChar char="§"/>
              <a:tabLst/>
            </a:pPr>
            <a:endParaRPr lang="en-GB" sz="1600" dirty="0">
              <a:solidFill>
                <a:srgbClr val="111111"/>
              </a:solidFill>
              <a:latin typeface="Arial" pitchFamily="34" charset="0"/>
              <a:ea typeface="Times New Roman" pitchFamily="18" charset="0"/>
              <a:cs typeface="Arial" pitchFamily="34" charset="0"/>
            </a:endParaRPr>
          </a:p>
          <a:p>
            <a:pPr marL="236538" marR="0" lvl="0" indent="-236538" defTabSz="914400" rtl="0" eaLnBrk="1" fontAlgn="base" latinLnBrk="0" hangingPunct="1">
              <a:lnSpc>
                <a:spcPct val="150000"/>
              </a:lnSpc>
              <a:spcBef>
                <a:spcPct val="0"/>
              </a:spcBef>
              <a:spcAft>
                <a:spcPct val="0"/>
              </a:spcAft>
              <a:buClrTx/>
              <a:buSzTx/>
              <a:buFont typeface="Wingdings" pitchFamily="2" charset="2"/>
              <a:buChar char="§"/>
              <a:tabLst/>
            </a:pPr>
            <a:r>
              <a:rPr lang="en-GB" sz="2400" dirty="0">
                <a:solidFill>
                  <a:srgbClr val="111111"/>
                </a:solidFill>
                <a:latin typeface="Arial" pitchFamily="34" charset="0"/>
                <a:ea typeface="Times New Roman" pitchFamily="18" charset="0"/>
                <a:cs typeface="Arial" pitchFamily="34" charset="0"/>
              </a:rPr>
              <a:t>What is importance of effective Communication in PM?</a:t>
            </a:r>
          </a:p>
        </p:txBody>
      </p:sp>
      <p:sp>
        <p:nvSpPr>
          <p:cNvPr id="5" name="Rectangle 5"/>
          <p:cNvSpPr>
            <a:spLocks noGrp="1" noChangeArrowheads="1"/>
          </p:cNvSpPr>
          <p:nvPr>
            <p:ph type="title"/>
          </p:nvPr>
        </p:nvSpPr>
        <p:spPr>
          <a:xfrm>
            <a:off x="0" y="633528"/>
            <a:ext cx="9144000" cy="567813"/>
          </a:xfrm>
        </p:spPr>
        <p:txBody>
          <a:bodyPr/>
          <a:lstStyle/>
          <a:p>
            <a:r>
              <a:rPr lang="en-GB" sz="2800" dirty="0">
                <a:solidFill>
                  <a:srgbClr val="0070C0"/>
                </a:solidFill>
              </a:rPr>
              <a:t>Common Questions</a:t>
            </a:r>
            <a:endParaRPr lang="en-US" sz="2800" dirty="0">
              <a:solidFill>
                <a:srgbClr val="0070C0"/>
              </a:solidFill>
            </a:endParaRPr>
          </a:p>
        </p:txBody>
      </p:sp>
    </p:spTree>
    <p:extLst>
      <p:ext uri="{BB962C8B-B14F-4D97-AF65-F5344CB8AC3E}">
        <p14:creationId xmlns:p14="http://schemas.microsoft.com/office/powerpoint/2010/main" val="202193781"/>
      </p:ext>
    </p:extLst>
  </p:cSld>
  <p:clrMapOvr>
    <a:masterClrMapping/>
  </p:clrMapOvr>
  <p:transition spd="med">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685800"/>
            <a:ext cx="9144000" cy="567813"/>
          </a:xfrm>
        </p:spPr>
        <p:txBody>
          <a:bodyPr/>
          <a:lstStyle/>
          <a:p>
            <a:pPr>
              <a:lnSpc>
                <a:spcPct val="150000"/>
              </a:lnSpc>
            </a:pPr>
            <a:r>
              <a:rPr lang="en-US" sz="2800" dirty="0">
                <a:solidFill>
                  <a:schemeClr val="accent2"/>
                </a:solidFill>
                <a:cs typeface="Times New Roman" pitchFamily="18" charset="0"/>
              </a:rPr>
              <a:t>Importance of P HRM &amp; CM</a:t>
            </a:r>
            <a:endParaRPr lang="en-US" sz="1600" dirty="0">
              <a:solidFill>
                <a:schemeClr val="accent2"/>
              </a:solidFill>
              <a:cs typeface="Times New Roman" pitchFamily="18" charset="0"/>
            </a:endParaRPr>
          </a:p>
        </p:txBody>
      </p:sp>
      <p:sp>
        <p:nvSpPr>
          <p:cNvPr id="6" name="Rectangle 5"/>
          <p:cNvSpPr/>
          <p:nvPr/>
        </p:nvSpPr>
        <p:spPr>
          <a:xfrm>
            <a:off x="533400" y="1524000"/>
            <a:ext cx="8077200" cy="3046988"/>
          </a:xfrm>
          <a:prstGeom prst="rect">
            <a:avLst/>
          </a:prstGeom>
        </p:spPr>
        <p:txBody>
          <a:bodyPr wrap="square">
            <a:spAutoFit/>
          </a:bodyPr>
          <a:lstStyle/>
          <a:p>
            <a:pPr marL="350838" indent="-350838" algn="just">
              <a:lnSpc>
                <a:spcPct val="200000"/>
              </a:lnSpc>
              <a:buFont typeface="Arial" pitchFamily="34" charset="0"/>
              <a:buChar char="•"/>
            </a:pPr>
            <a:r>
              <a:rPr lang="en-US" sz="2400" dirty="0">
                <a:solidFill>
                  <a:srgbClr val="111111"/>
                </a:solidFill>
              </a:rPr>
              <a:t>What is a Project?</a:t>
            </a:r>
          </a:p>
          <a:p>
            <a:pPr marL="350838" lvl="0" indent="-350838" algn="just">
              <a:lnSpc>
                <a:spcPct val="200000"/>
              </a:lnSpc>
              <a:buFont typeface="Arial" pitchFamily="34" charset="0"/>
              <a:buChar char="•"/>
            </a:pPr>
            <a:r>
              <a:rPr lang="en-US" sz="2400" dirty="0">
                <a:solidFill>
                  <a:srgbClr val="111111"/>
                </a:solidFill>
              </a:rPr>
              <a:t>What is Management?</a:t>
            </a:r>
          </a:p>
          <a:p>
            <a:pPr marL="350838" indent="-350838" algn="just">
              <a:lnSpc>
                <a:spcPct val="200000"/>
              </a:lnSpc>
              <a:buFont typeface="Arial" pitchFamily="34" charset="0"/>
              <a:buChar char="•"/>
            </a:pPr>
            <a:r>
              <a:rPr lang="en-US" sz="2400" dirty="0">
                <a:solidFill>
                  <a:srgbClr val="111111"/>
                </a:solidFill>
              </a:rPr>
              <a:t>What is HR &amp; its Management?</a:t>
            </a:r>
          </a:p>
          <a:p>
            <a:pPr marL="350838" indent="-350838" algn="just">
              <a:lnSpc>
                <a:spcPct val="200000"/>
              </a:lnSpc>
              <a:buFont typeface="Arial" pitchFamily="34" charset="0"/>
              <a:buChar char="•"/>
            </a:pPr>
            <a:r>
              <a:rPr lang="en-US" sz="2400" dirty="0">
                <a:solidFill>
                  <a:srgbClr val="111111"/>
                </a:solidFill>
              </a:rPr>
              <a:t>What is Communication &amp; its Management?</a:t>
            </a:r>
          </a:p>
        </p:txBody>
      </p:sp>
    </p:spTree>
    <p:extLst>
      <p:ext uri="{BB962C8B-B14F-4D97-AF65-F5344CB8AC3E}">
        <p14:creationId xmlns:p14="http://schemas.microsoft.com/office/powerpoint/2010/main" val="3583472111"/>
      </p:ext>
    </p:extLst>
  </p:cSld>
  <p:clrMapOvr>
    <a:masterClrMapping/>
  </p:clrMapOvr>
  <p:transition spd="med">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685800"/>
            <a:ext cx="9144000" cy="567813"/>
          </a:xfrm>
        </p:spPr>
        <p:txBody>
          <a:bodyPr/>
          <a:lstStyle/>
          <a:p>
            <a:pPr>
              <a:lnSpc>
                <a:spcPct val="150000"/>
              </a:lnSpc>
            </a:pPr>
            <a:r>
              <a:rPr lang="en-US" sz="2800" dirty="0">
                <a:solidFill>
                  <a:schemeClr val="accent2"/>
                </a:solidFill>
                <a:cs typeface="Times New Roman" pitchFamily="18" charset="0"/>
              </a:rPr>
              <a:t>Importance of P (HR &amp; C) M</a:t>
            </a:r>
            <a:endParaRPr lang="en-US" sz="1600" dirty="0">
              <a:solidFill>
                <a:schemeClr val="accent2"/>
              </a:solidFill>
              <a:cs typeface="Times New Roman" pitchFamily="18" charset="0"/>
            </a:endParaRPr>
          </a:p>
        </p:txBody>
      </p:sp>
      <p:sp>
        <p:nvSpPr>
          <p:cNvPr id="6" name="Rectangle 5"/>
          <p:cNvSpPr/>
          <p:nvPr/>
        </p:nvSpPr>
        <p:spPr>
          <a:xfrm>
            <a:off x="533400" y="1295400"/>
            <a:ext cx="8077200" cy="4893647"/>
          </a:xfrm>
          <a:prstGeom prst="rect">
            <a:avLst/>
          </a:prstGeom>
        </p:spPr>
        <p:txBody>
          <a:bodyPr wrap="square">
            <a:spAutoFit/>
          </a:bodyPr>
          <a:lstStyle/>
          <a:p>
            <a:pPr algn="just">
              <a:lnSpc>
                <a:spcPct val="200000"/>
              </a:lnSpc>
            </a:pPr>
            <a:r>
              <a:rPr lang="en-US" sz="2400" b="1" dirty="0">
                <a:solidFill>
                  <a:srgbClr val="111111"/>
                </a:solidFill>
              </a:rPr>
              <a:t>What is a Project?</a:t>
            </a:r>
          </a:p>
          <a:p>
            <a:pPr marL="350838" lvl="0" indent="-350838" algn="just">
              <a:buFont typeface="Arial" pitchFamily="34" charset="0"/>
              <a:buChar char="•"/>
            </a:pPr>
            <a:r>
              <a:rPr lang="en-US" sz="2400" dirty="0">
                <a:solidFill>
                  <a:srgbClr val="111111"/>
                </a:solidFill>
              </a:rPr>
              <a:t>A temporary endeavor undertaken to create a unique product or service. </a:t>
            </a:r>
            <a:r>
              <a:rPr lang="en-US" sz="2400" b="1" dirty="0">
                <a:solidFill>
                  <a:srgbClr val="111111"/>
                </a:solidFill>
              </a:rPr>
              <a:t>Temporary</a:t>
            </a:r>
            <a:r>
              <a:rPr lang="en-US" sz="2400" dirty="0">
                <a:solidFill>
                  <a:srgbClr val="111111"/>
                </a:solidFill>
              </a:rPr>
              <a:t> means that every project has a definite beginning and a definite end. </a:t>
            </a:r>
            <a:r>
              <a:rPr lang="en-US" sz="2400" b="1" dirty="0">
                <a:solidFill>
                  <a:srgbClr val="111111"/>
                </a:solidFill>
              </a:rPr>
              <a:t>Unique</a:t>
            </a:r>
            <a:r>
              <a:rPr lang="en-US" sz="2400" dirty="0">
                <a:solidFill>
                  <a:srgbClr val="111111"/>
                </a:solidFill>
              </a:rPr>
              <a:t> means that product or service is different in some distinguishable way from all similar products or services.</a:t>
            </a:r>
          </a:p>
          <a:p>
            <a:pPr lvl="0" algn="just">
              <a:lnSpc>
                <a:spcPct val="200000"/>
              </a:lnSpc>
            </a:pPr>
            <a:r>
              <a:rPr lang="en-US" sz="2400" b="1" dirty="0">
                <a:solidFill>
                  <a:srgbClr val="111111"/>
                </a:solidFill>
              </a:rPr>
              <a:t>What is Management?</a:t>
            </a:r>
          </a:p>
          <a:p>
            <a:pPr marL="350838" indent="-350838" algn="just">
              <a:buFont typeface="Arial" pitchFamily="34" charset="0"/>
              <a:buChar char="•"/>
            </a:pPr>
            <a:r>
              <a:rPr lang="en-US" sz="2400" dirty="0">
                <a:solidFill>
                  <a:srgbClr val="111111"/>
                </a:solidFill>
              </a:rPr>
              <a:t>Making the most effective use of available resources, whether in the form  of machine, money or people aimed at achieving best possible results.</a:t>
            </a:r>
          </a:p>
        </p:txBody>
      </p:sp>
    </p:spTree>
    <p:extLst>
      <p:ext uri="{BB962C8B-B14F-4D97-AF65-F5344CB8AC3E}">
        <p14:creationId xmlns:p14="http://schemas.microsoft.com/office/powerpoint/2010/main" val="852479809"/>
      </p:ext>
    </p:extLst>
  </p:cSld>
  <p:clrMapOvr>
    <a:masterClrMapping/>
  </p:clrMapOvr>
  <p:transition spd="med">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Copyright </a:t>
            </a:r>
            <a:r>
              <a:rPr lang="en-US">
                <a:cs typeface="Arial" charset="0"/>
              </a:rPr>
              <a:t>© </a:t>
            </a:r>
            <a:r>
              <a:rPr lang="en-US"/>
              <a:t>2006 The McGraw-Hill Companies. All rights reserved. </a:t>
            </a:r>
            <a:endParaRPr lang="en-US" i="0"/>
          </a:p>
        </p:txBody>
      </p:sp>
      <p:sp>
        <p:nvSpPr>
          <p:cNvPr id="15363" name="Slide Number Placeholder 4"/>
          <p:cNvSpPr>
            <a:spLocks noGrp="1"/>
          </p:cNvSpPr>
          <p:nvPr>
            <p:ph type="sldNum" sz="quarter" idx="11"/>
          </p:nvPr>
        </p:nvSpPr>
        <p:spPr>
          <a:noFill/>
        </p:spPr>
        <p:txBody>
          <a:bodyPr/>
          <a:lstStyle/>
          <a:p>
            <a:r>
              <a:rPr lang="en-US"/>
              <a:t>McGraw-Hill/Irwin  1</a:t>
            </a:r>
            <a:r>
              <a:rPr lang="en-US">
                <a:cs typeface="Times New Roman" pitchFamily="18" charset="0"/>
              </a:rPr>
              <a:t>–</a:t>
            </a:r>
            <a:fld id="{5FA9D6AF-701D-4E01-903C-3D558BFCF5FC}" type="slidenum">
              <a:rPr lang="en-US"/>
              <a:pPr/>
              <a:t>17</a:t>
            </a:fld>
            <a:endParaRPr lang="en-US"/>
          </a:p>
        </p:txBody>
      </p:sp>
      <p:sp>
        <p:nvSpPr>
          <p:cNvPr id="79874" name="AutoShape 1026"/>
          <p:cNvSpPr>
            <a:spLocks noGrp="1" noChangeArrowheads="1"/>
          </p:cNvSpPr>
          <p:nvPr>
            <p:ph type="title"/>
          </p:nvPr>
        </p:nvSpPr>
        <p:spPr/>
        <p:txBody>
          <a:bodyPr/>
          <a:lstStyle/>
          <a:p>
            <a:pPr eaLnBrk="1" hangingPunct="1">
              <a:defRPr/>
            </a:pPr>
            <a:r>
              <a:rPr lang="en-US"/>
              <a:t>Programs versus Projects</a:t>
            </a:r>
          </a:p>
        </p:txBody>
      </p:sp>
      <p:sp>
        <p:nvSpPr>
          <p:cNvPr id="15365" name="Rectangle 1027"/>
          <p:cNvSpPr>
            <a:spLocks noGrp="1" noChangeArrowheads="1"/>
          </p:cNvSpPr>
          <p:nvPr>
            <p:ph type="body" idx="1"/>
          </p:nvPr>
        </p:nvSpPr>
        <p:spPr/>
        <p:txBody>
          <a:bodyPr>
            <a:normAutofit/>
          </a:bodyPr>
          <a:lstStyle/>
          <a:p>
            <a:pPr eaLnBrk="1" hangingPunct="1"/>
            <a:r>
              <a:rPr lang="en-US" dirty="0">
                <a:solidFill>
                  <a:srgbClr val="FF0000"/>
                </a:solidFill>
              </a:rPr>
              <a:t>Program Defined</a:t>
            </a:r>
          </a:p>
          <a:p>
            <a:pPr lvl="1" eaLnBrk="1" hangingPunct="1"/>
            <a:r>
              <a:rPr lang="en-US" dirty="0">
                <a:solidFill>
                  <a:srgbClr val="FF0000"/>
                </a:solidFill>
              </a:rPr>
              <a:t>A series of coordinated, related, multiple projects that continue over an extended time and are intended to achieve a goal.</a:t>
            </a:r>
          </a:p>
          <a:p>
            <a:pPr lvl="1" eaLnBrk="1" hangingPunct="1"/>
            <a:r>
              <a:rPr lang="en-US" dirty="0">
                <a:solidFill>
                  <a:srgbClr val="FF0000"/>
                </a:solidFill>
              </a:rPr>
              <a:t>A higher level group of projects targeted at a common goal.</a:t>
            </a:r>
          </a:p>
          <a:p>
            <a:pPr lvl="1" eaLnBrk="1" hangingPunct="1"/>
            <a:r>
              <a:rPr lang="en-US" dirty="0">
                <a:solidFill>
                  <a:srgbClr val="FF0000"/>
                </a:solidFill>
              </a:rPr>
              <a:t>Example:</a:t>
            </a:r>
          </a:p>
          <a:p>
            <a:pPr lvl="2" eaLnBrk="1" hangingPunct="1"/>
            <a:r>
              <a:rPr lang="en-US" dirty="0">
                <a:solidFill>
                  <a:srgbClr val="FF0000"/>
                </a:solidFill>
              </a:rPr>
              <a:t>Project: completion of a required course in project management.</a:t>
            </a:r>
          </a:p>
          <a:p>
            <a:pPr lvl="2" eaLnBrk="1" hangingPunct="1"/>
            <a:r>
              <a:rPr lang="en-US" dirty="0">
                <a:solidFill>
                  <a:srgbClr val="FF0000"/>
                </a:solidFill>
              </a:rPr>
              <a:t>Program: completion of all courses required for a business major.</a:t>
            </a:r>
          </a:p>
        </p:txBody>
      </p:sp>
    </p:spTree>
    <p:extLst>
      <p:ext uri="{BB962C8B-B14F-4D97-AF65-F5344CB8AC3E}">
        <p14:creationId xmlns:p14="http://schemas.microsoft.com/office/powerpoint/2010/main" val="1167261814"/>
      </p:ext>
    </p:extLst>
  </p:cSld>
  <p:clrMapOvr>
    <a:masterClrMapping/>
  </p:clrMapOvr>
  <p:transition spd="med">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2"/>
          <p:cNvSpPr>
            <a:spLocks noGrp="1"/>
          </p:cNvSpPr>
          <p:nvPr>
            <p:ph type="ftr" sz="quarter" idx="10"/>
          </p:nvPr>
        </p:nvSpPr>
        <p:spPr>
          <a:noFill/>
        </p:spPr>
        <p:txBody>
          <a:bodyPr/>
          <a:lstStyle/>
          <a:p>
            <a:r>
              <a:rPr lang="en-US"/>
              <a:t>Copyright </a:t>
            </a:r>
            <a:r>
              <a:rPr lang="en-US">
                <a:cs typeface="Arial" charset="0"/>
              </a:rPr>
              <a:t>© </a:t>
            </a:r>
            <a:r>
              <a:rPr lang="en-US"/>
              <a:t>2006 The McGraw-Hill Companies. All rights reserved. </a:t>
            </a:r>
            <a:endParaRPr lang="en-US" i="0"/>
          </a:p>
        </p:txBody>
      </p:sp>
      <p:sp>
        <p:nvSpPr>
          <p:cNvPr id="16387" name="Slide Number Placeholder 3"/>
          <p:cNvSpPr>
            <a:spLocks noGrp="1"/>
          </p:cNvSpPr>
          <p:nvPr>
            <p:ph type="sldNum" sz="quarter" idx="11"/>
          </p:nvPr>
        </p:nvSpPr>
        <p:spPr>
          <a:noFill/>
        </p:spPr>
        <p:txBody>
          <a:bodyPr/>
          <a:lstStyle/>
          <a:p>
            <a:r>
              <a:rPr lang="en-US"/>
              <a:t>McGraw-Hill/Irwin  1</a:t>
            </a:r>
            <a:r>
              <a:rPr lang="en-US">
                <a:cs typeface="Times New Roman" pitchFamily="18" charset="0"/>
              </a:rPr>
              <a:t>–</a:t>
            </a:r>
            <a:fld id="{0B83098D-D102-42C2-B620-5BA7C72997E3}" type="slidenum">
              <a:rPr lang="en-US"/>
              <a:pPr/>
              <a:t>18</a:t>
            </a:fld>
            <a:endParaRPr lang="en-US"/>
          </a:p>
        </p:txBody>
      </p:sp>
      <p:sp>
        <p:nvSpPr>
          <p:cNvPr id="82946" name="AutoShape 1026"/>
          <p:cNvSpPr>
            <a:spLocks noGrp="1" noChangeArrowheads="1"/>
          </p:cNvSpPr>
          <p:nvPr>
            <p:ph type="title"/>
          </p:nvPr>
        </p:nvSpPr>
        <p:spPr>
          <a:xfrm>
            <a:off x="495300" y="266700"/>
            <a:ext cx="8153400" cy="757238"/>
          </a:xfrm>
          <a:gradFill>
            <a:gsLst>
              <a:gs pos="0">
                <a:srgbClr val="990033">
                  <a:gamma/>
                  <a:shade val="46275"/>
                  <a:invGamma/>
                </a:srgbClr>
              </a:gs>
              <a:gs pos="50000">
                <a:srgbClr val="990033"/>
              </a:gs>
              <a:gs pos="100000">
                <a:srgbClr val="990033">
                  <a:gamma/>
                  <a:shade val="46275"/>
                  <a:invGamma/>
                </a:srgbClr>
              </a:gs>
            </a:gsLst>
          </a:gradFill>
        </p:spPr>
        <p:txBody>
          <a:bodyPr/>
          <a:lstStyle/>
          <a:p>
            <a:pPr eaLnBrk="1" hangingPunct="1">
              <a:defRPr/>
            </a:pPr>
            <a:r>
              <a:rPr lang="en-US" sz="2800"/>
              <a:t>Comparison of Routine Work with Projects</a:t>
            </a:r>
          </a:p>
        </p:txBody>
      </p:sp>
      <p:sp>
        <p:nvSpPr>
          <p:cNvPr id="16389" name="Text Box 1027"/>
          <p:cNvSpPr txBox="1">
            <a:spLocks noChangeArrowheads="1"/>
          </p:cNvSpPr>
          <p:nvPr/>
        </p:nvSpPr>
        <p:spPr bwMode="auto">
          <a:xfrm>
            <a:off x="7407275" y="6172200"/>
            <a:ext cx="1279525" cy="274638"/>
          </a:xfrm>
          <a:prstGeom prst="rect">
            <a:avLst/>
          </a:prstGeom>
          <a:noFill/>
          <a:ln w="9525">
            <a:noFill/>
            <a:miter lim="800000"/>
            <a:headEnd/>
            <a:tailEnd/>
          </a:ln>
        </p:spPr>
        <p:txBody>
          <a:bodyPr>
            <a:spAutoFit/>
          </a:bodyPr>
          <a:lstStyle/>
          <a:p>
            <a:pPr algn="r">
              <a:spcBef>
                <a:spcPct val="50000"/>
              </a:spcBef>
            </a:pPr>
            <a:r>
              <a:rPr lang="en-US" sz="1200" b="1">
                <a:solidFill>
                  <a:srgbClr val="006666"/>
                </a:solidFill>
              </a:rPr>
              <a:t>TABLE 1.</a:t>
            </a:r>
            <a:r>
              <a:rPr lang="en-US" sz="1200" b="1">
                <a:solidFill>
                  <a:srgbClr val="006666"/>
                </a:solidFill>
                <a:cs typeface="Arial" charset="0"/>
              </a:rPr>
              <a:t>1</a:t>
            </a:r>
          </a:p>
        </p:txBody>
      </p:sp>
      <p:sp>
        <p:nvSpPr>
          <p:cNvPr id="82949" name="Rectangle 1029"/>
          <p:cNvSpPr>
            <a:spLocks noChangeArrowheads="1"/>
          </p:cNvSpPr>
          <p:nvPr/>
        </p:nvSpPr>
        <p:spPr bwMode="auto">
          <a:xfrm>
            <a:off x="990600" y="1315539"/>
            <a:ext cx="3840163" cy="4491038"/>
          </a:xfrm>
          <a:prstGeom prst="rect">
            <a:avLst/>
          </a:prstGeom>
          <a:noFill/>
          <a:ln w="9525">
            <a:noFill/>
            <a:miter lim="800000"/>
            <a:headEnd/>
            <a:tailEnd/>
          </a:ln>
        </p:spPr>
        <p:txBody>
          <a:bodyPr>
            <a:spAutoFit/>
          </a:bodyPr>
          <a:lstStyle/>
          <a:p>
            <a:pPr>
              <a:spcBef>
                <a:spcPct val="50000"/>
              </a:spcBef>
            </a:pPr>
            <a:r>
              <a:rPr lang="en-US" sz="1800" b="1" dirty="0">
                <a:solidFill>
                  <a:srgbClr val="FF0000"/>
                </a:solidFill>
              </a:rPr>
              <a:t>Routine, Repetitive Work</a:t>
            </a:r>
            <a:r>
              <a:rPr lang="en-US" sz="1600" dirty="0">
                <a:solidFill>
                  <a:srgbClr val="FF0000"/>
                </a:solidFill>
              </a:rPr>
              <a:t>	 </a:t>
            </a:r>
          </a:p>
          <a:p>
            <a:pPr>
              <a:spcBef>
                <a:spcPct val="50000"/>
              </a:spcBef>
            </a:pPr>
            <a:r>
              <a:rPr lang="en-US" sz="1800" dirty="0">
                <a:solidFill>
                  <a:srgbClr val="FF0000"/>
                </a:solidFill>
              </a:rPr>
              <a:t>Taking class notes 	 </a:t>
            </a:r>
          </a:p>
          <a:p>
            <a:pPr>
              <a:spcBef>
                <a:spcPct val="50000"/>
              </a:spcBef>
            </a:pPr>
            <a:r>
              <a:rPr lang="en-US" sz="1800" dirty="0">
                <a:solidFill>
                  <a:srgbClr val="FF0000"/>
                </a:solidFill>
              </a:rPr>
              <a:t>Daily entering sales receipts into the accounting ledger  </a:t>
            </a:r>
          </a:p>
          <a:p>
            <a:pPr>
              <a:spcBef>
                <a:spcPct val="50000"/>
              </a:spcBef>
            </a:pPr>
            <a:r>
              <a:rPr lang="en-US" sz="1800" dirty="0">
                <a:solidFill>
                  <a:srgbClr val="FF0000"/>
                </a:solidFill>
              </a:rPr>
              <a:t>Responding to a supply-chain request 	 </a:t>
            </a:r>
          </a:p>
          <a:p>
            <a:pPr>
              <a:spcBef>
                <a:spcPct val="50000"/>
              </a:spcBef>
            </a:pPr>
            <a:r>
              <a:rPr lang="en-US" sz="1800" dirty="0">
                <a:solidFill>
                  <a:srgbClr val="FF0000"/>
                </a:solidFill>
              </a:rPr>
              <a:t>Practicing scales on the piano </a:t>
            </a:r>
          </a:p>
          <a:p>
            <a:pPr>
              <a:spcBef>
                <a:spcPct val="50000"/>
              </a:spcBef>
            </a:pPr>
            <a:r>
              <a:rPr lang="en-US" sz="1800" dirty="0">
                <a:solidFill>
                  <a:srgbClr val="FF0000"/>
                </a:solidFill>
              </a:rPr>
              <a:t>Routine manufacture of an Apple iPod</a:t>
            </a:r>
          </a:p>
          <a:p>
            <a:pPr>
              <a:spcBef>
                <a:spcPct val="50000"/>
              </a:spcBef>
            </a:pPr>
            <a:br>
              <a:rPr lang="en-US" sz="1800" dirty="0">
                <a:solidFill>
                  <a:srgbClr val="FF0000"/>
                </a:solidFill>
              </a:rPr>
            </a:br>
            <a:br>
              <a:rPr lang="en-US" sz="1800" dirty="0">
                <a:solidFill>
                  <a:srgbClr val="FF0000"/>
                </a:solidFill>
              </a:rPr>
            </a:br>
            <a:r>
              <a:rPr lang="en-US" sz="1800" dirty="0">
                <a:solidFill>
                  <a:srgbClr val="FF0000"/>
                </a:solidFill>
              </a:rPr>
              <a:t>Attaching tags on a manufactured product</a:t>
            </a:r>
            <a:r>
              <a:rPr lang="en-US" sz="1600" dirty="0">
                <a:solidFill>
                  <a:srgbClr val="FF0000"/>
                </a:solidFill>
              </a:rPr>
              <a:t> 	 </a:t>
            </a:r>
          </a:p>
        </p:txBody>
      </p:sp>
      <p:sp>
        <p:nvSpPr>
          <p:cNvPr id="82950" name="Rectangle 1030"/>
          <p:cNvSpPr>
            <a:spLocks noChangeArrowheads="1"/>
          </p:cNvSpPr>
          <p:nvPr/>
        </p:nvSpPr>
        <p:spPr bwMode="auto">
          <a:xfrm>
            <a:off x="4572000" y="1209675"/>
            <a:ext cx="3840163" cy="4521200"/>
          </a:xfrm>
          <a:prstGeom prst="rect">
            <a:avLst/>
          </a:prstGeom>
          <a:noFill/>
          <a:ln w="9525">
            <a:noFill/>
            <a:miter lim="800000"/>
            <a:headEnd/>
            <a:tailEnd/>
          </a:ln>
        </p:spPr>
        <p:txBody>
          <a:bodyPr>
            <a:spAutoFit/>
          </a:bodyPr>
          <a:lstStyle/>
          <a:p>
            <a:pPr>
              <a:spcBef>
                <a:spcPct val="50000"/>
              </a:spcBef>
            </a:pPr>
            <a:r>
              <a:rPr lang="en-US" sz="2000" b="1" dirty="0">
                <a:solidFill>
                  <a:srgbClr val="FF0000"/>
                </a:solidFill>
              </a:rPr>
              <a:t>Projects</a:t>
            </a:r>
          </a:p>
          <a:p>
            <a:pPr>
              <a:spcBef>
                <a:spcPct val="50000"/>
              </a:spcBef>
            </a:pPr>
            <a:r>
              <a:rPr lang="en-US" sz="1800" dirty="0">
                <a:solidFill>
                  <a:srgbClr val="FF0000"/>
                </a:solidFill>
              </a:rPr>
              <a:t>Writing a term paper 	 </a:t>
            </a:r>
          </a:p>
          <a:p>
            <a:pPr>
              <a:spcBef>
                <a:spcPct val="50000"/>
              </a:spcBef>
            </a:pPr>
            <a:r>
              <a:rPr lang="en-US" sz="1800" dirty="0">
                <a:solidFill>
                  <a:srgbClr val="FF0000"/>
                </a:solidFill>
              </a:rPr>
              <a:t>Setting up a sales kiosk for a professional accounting meeting</a:t>
            </a:r>
          </a:p>
          <a:p>
            <a:pPr>
              <a:spcBef>
                <a:spcPct val="50000"/>
              </a:spcBef>
            </a:pPr>
            <a:r>
              <a:rPr lang="en-US" sz="1800" dirty="0">
                <a:solidFill>
                  <a:srgbClr val="FF0000"/>
                </a:solidFill>
              </a:rPr>
              <a:t>Developing a supply-chain information system 	 </a:t>
            </a:r>
          </a:p>
          <a:p>
            <a:pPr>
              <a:spcBef>
                <a:spcPct val="50000"/>
              </a:spcBef>
            </a:pPr>
            <a:r>
              <a:rPr lang="en-US" sz="1800" dirty="0">
                <a:solidFill>
                  <a:srgbClr val="FF0000"/>
                </a:solidFill>
              </a:rPr>
              <a:t>Writing a new piano piece</a:t>
            </a:r>
          </a:p>
          <a:p>
            <a:pPr>
              <a:spcBef>
                <a:spcPct val="50000"/>
              </a:spcBef>
            </a:pPr>
            <a:r>
              <a:rPr lang="en-US" sz="1800" dirty="0">
                <a:solidFill>
                  <a:srgbClr val="FF0000"/>
                </a:solidFill>
              </a:rPr>
              <a:t>Designing an iPod that is approximately 2 X 4 inches, interfaces with PC, and stores 10,000 songs </a:t>
            </a:r>
          </a:p>
          <a:p>
            <a:pPr>
              <a:spcBef>
                <a:spcPct val="50000"/>
              </a:spcBef>
            </a:pPr>
            <a:r>
              <a:rPr lang="en-US" sz="1800" dirty="0">
                <a:solidFill>
                  <a:srgbClr val="FF0000"/>
                </a:solidFill>
              </a:rPr>
              <a:t>Wire-tag projects for GE and </a:t>
            </a:r>
            <a:br>
              <a:rPr lang="en-US" sz="1800" dirty="0">
                <a:solidFill>
                  <a:srgbClr val="FF0000"/>
                </a:solidFill>
              </a:rPr>
            </a:br>
            <a:r>
              <a:rPr lang="en-US" sz="1800" dirty="0">
                <a:solidFill>
                  <a:srgbClr val="FF0000"/>
                </a:solidFill>
              </a:rPr>
              <a:t>Wal-Mart</a:t>
            </a:r>
            <a:r>
              <a:rPr lang="en-US" sz="1600" dirty="0">
                <a:solidFill>
                  <a:srgbClr val="FF0000"/>
                </a:solidFill>
              </a:rPr>
              <a:t> 	 </a:t>
            </a:r>
          </a:p>
        </p:txBody>
      </p:sp>
    </p:spTree>
    <p:extLst>
      <p:ext uri="{BB962C8B-B14F-4D97-AF65-F5344CB8AC3E}">
        <p14:creationId xmlns:p14="http://schemas.microsoft.com/office/powerpoint/2010/main" val="1989894903"/>
      </p:ext>
    </p:extLst>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transition="in" filter="wipe(up)">
                                      <p:cBhvr>
                                        <p:cTn id="7" dur="500"/>
                                        <p:tgtEl>
                                          <p:spTgt spid="8294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2950"/>
                                        </p:tgtEl>
                                        <p:attrNameLst>
                                          <p:attrName>style.visibility</p:attrName>
                                        </p:attrNameLst>
                                      </p:cBhvr>
                                      <p:to>
                                        <p:strVal val="visible"/>
                                      </p:to>
                                    </p:set>
                                    <p:animEffect transition="in" filter="wipe(up)">
                                      <p:cBhvr>
                                        <p:cTn id="10" dur="500"/>
                                        <p:tgtEl>
                                          <p:spTgt spid="82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p:bldP spid="829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6427"/>
            <a:ext cx="9144000" cy="567813"/>
          </a:xfrm>
        </p:spPr>
        <p:txBody>
          <a:bodyPr/>
          <a:lstStyle/>
          <a:p>
            <a:pPr>
              <a:lnSpc>
                <a:spcPct val="150000"/>
              </a:lnSpc>
            </a:pPr>
            <a:r>
              <a:rPr lang="en-US" sz="2800" dirty="0">
                <a:solidFill>
                  <a:schemeClr val="accent2"/>
                </a:solidFill>
                <a:cs typeface="Times New Roman" pitchFamily="18" charset="0"/>
              </a:rPr>
              <a:t>Importance of P HRM &amp; CM</a:t>
            </a:r>
            <a:endParaRPr lang="en-US" sz="1600" dirty="0">
              <a:solidFill>
                <a:schemeClr val="accent2"/>
              </a:solidFill>
              <a:cs typeface="Times New Roman" pitchFamily="18" charset="0"/>
            </a:endParaRPr>
          </a:p>
        </p:txBody>
      </p:sp>
      <p:sp>
        <p:nvSpPr>
          <p:cNvPr id="6" name="Rectangle 5"/>
          <p:cNvSpPr/>
          <p:nvPr/>
        </p:nvSpPr>
        <p:spPr>
          <a:xfrm>
            <a:off x="533400" y="273807"/>
            <a:ext cx="8077200" cy="5632311"/>
          </a:xfrm>
          <a:prstGeom prst="rect">
            <a:avLst/>
          </a:prstGeom>
        </p:spPr>
        <p:txBody>
          <a:bodyPr wrap="square">
            <a:spAutoFit/>
          </a:bodyPr>
          <a:lstStyle/>
          <a:p>
            <a:pPr algn="just">
              <a:lnSpc>
                <a:spcPct val="200000"/>
              </a:lnSpc>
            </a:pPr>
            <a:r>
              <a:rPr lang="en-US" sz="2400" b="1" dirty="0">
                <a:solidFill>
                  <a:srgbClr val="FF0000"/>
                </a:solidFill>
              </a:rPr>
              <a:t>What is HR?</a:t>
            </a:r>
          </a:p>
          <a:p>
            <a:pPr marL="342900" indent="-342900" algn="just">
              <a:buFont typeface="Arial" pitchFamily="34" charset="0"/>
              <a:buChar char="•"/>
            </a:pPr>
            <a:r>
              <a:rPr lang="en-US" sz="2400" dirty="0">
                <a:solidFill>
                  <a:srgbClr val="FF0000"/>
                </a:solidFill>
              </a:rPr>
              <a:t>All types of employees, whether permanent or temporary, who are contributing towards achievement of organizational goals.</a:t>
            </a:r>
          </a:p>
          <a:p>
            <a:pPr marL="342900" indent="-342900" algn="just">
              <a:buFont typeface="Arial" pitchFamily="34" charset="0"/>
              <a:buChar char="•"/>
            </a:pPr>
            <a:r>
              <a:rPr lang="en-US" sz="2400" dirty="0">
                <a:solidFill>
                  <a:srgbClr val="FF0000"/>
                </a:solidFill>
              </a:rPr>
              <a:t>(HR) is the way to </a:t>
            </a:r>
            <a:r>
              <a:rPr lang="en-US" sz="2400" dirty="0" err="1">
                <a:solidFill>
                  <a:srgbClr val="FF0000"/>
                </a:solidFill>
              </a:rPr>
              <a:t>desing</a:t>
            </a:r>
            <a:r>
              <a:rPr lang="en-US" sz="2400" dirty="0">
                <a:solidFill>
                  <a:srgbClr val="FF0000"/>
                </a:solidFill>
              </a:rPr>
              <a:t> strategic planning for effective decision making that can help to integrate </a:t>
            </a:r>
            <a:r>
              <a:rPr lang="en-US" sz="2400" dirty="0" err="1">
                <a:solidFill>
                  <a:srgbClr val="FF0000"/>
                </a:solidFill>
              </a:rPr>
              <a:t>andfmanaging</a:t>
            </a:r>
            <a:r>
              <a:rPr lang="en-US" sz="2400" dirty="0">
                <a:solidFill>
                  <a:srgbClr val="FF0000"/>
                </a:solidFill>
              </a:rPr>
              <a:t> an organization's most valuable asse such as employees (temp or permanent blue and white collar both) to achieve a competitive advantage. Moreover,  HR comprise of an organization’s capital to manage employees with organizations business objectives to augment organizational performance, foster and promote a positive work culture for employee gratification , and ensure compliance with labor laws</a:t>
            </a:r>
          </a:p>
        </p:txBody>
      </p:sp>
    </p:spTree>
    <p:extLst>
      <p:ext uri="{BB962C8B-B14F-4D97-AF65-F5344CB8AC3E}">
        <p14:creationId xmlns:p14="http://schemas.microsoft.com/office/powerpoint/2010/main" val="2834196304"/>
      </p:ext>
    </p:extLst>
  </p:cSld>
  <p:clrMapOvr>
    <a:masterClrMapping/>
  </p:clrMapOvr>
  <p:transition spd="med">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74980-5193-6A21-5987-768F1FA587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66945E-5A05-9D91-2D6B-A47EA90C2332}"/>
              </a:ext>
            </a:extLst>
          </p:cNvPr>
          <p:cNvSpPr>
            <a:spLocks noGrp="1"/>
          </p:cNvSpPr>
          <p:nvPr>
            <p:ph idx="1"/>
          </p:nvPr>
        </p:nvSpPr>
        <p:spPr/>
        <p:txBody>
          <a:bodyPr/>
          <a:lstStyle/>
          <a:p>
            <a:pPr algn="just">
              <a:lnSpc>
                <a:spcPct val="200000"/>
              </a:lnSpc>
            </a:pPr>
            <a:endParaRPr lang="en-US" sz="1100" dirty="0">
              <a:solidFill>
                <a:srgbClr val="FF0000"/>
              </a:solidFill>
            </a:endParaRPr>
          </a:p>
          <a:p>
            <a:pPr algn="just"/>
            <a:r>
              <a:rPr lang="en-US" dirty="0">
                <a:solidFill>
                  <a:srgbClr val="FF0000"/>
                </a:solidFill>
              </a:rPr>
              <a:t>What is HR Management?</a:t>
            </a:r>
          </a:p>
          <a:p>
            <a:pPr marL="350838" indent="-350838" algn="just">
              <a:buFont typeface="Arial" pitchFamily="34" charset="0"/>
              <a:buChar char="•"/>
            </a:pPr>
            <a:endParaRPr lang="en-US" sz="1000" dirty="0">
              <a:solidFill>
                <a:srgbClr val="FF0000"/>
              </a:solidFill>
            </a:endParaRPr>
          </a:p>
          <a:p>
            <a:pPr marL="350838" indent="-350838" algn="just">
              <a:buFont typeface="Arial" pitchFamily="34" charset="0"/>
              <a:buChar char="•"/>
            </a:pPr>
            <a:r>
              <a:rPr lang="en-US" dirty="0">
                <a:solidFill>
                  <a:srgbClr val="FF0000"/>
                </a:solidFill>
              </a:rPr>
              <a:t>The process of acquiring, training, appraising and compensating employees and of attending to their </a:t>
            </a:r>
            <a:r>
              <a:rPr lang="en-US" dirty="0" err="1">
                <a:solidFill>
                  <a:srgbClr val="FF0000"/>
                </a:solidFill>
              </a:rPr>
              <a:t>labour</a:t>
            </a:r>
            <a:r>
              <a:rPr lang="en-US" dirty="0">
                <a:solidFill>
                  <a:srgbClr val="FF0000"/>
                </a:solidFill>
              </a:rPr>
              <a:t> relations, health &amp; safety and fairness concerns.</a:t>
            </a:r>
          </a:p>
          <a:p>
            <a:pPr marL="350838" indent="-350838" algn="just">
              <a:buFont typeface="Arial" pitchFamily="34" charset="0"/>
              <a:buChar char="•"/>
            </a:pPr>
            <a:endParaRPr lang="en-US" sz="1600" dirty="0">
              <a:solidFill>
                <a:srgbClr val="FF0000"/>
              </a:solidFill>
            </a:endParaRPr>
          </a:p>
          <a:p>
            <a:pPr marL="350838" indent="-350838" algn="just">
              <a:buFont typeface="Arial" pitchFamily="34" charset="0"/>
              <a:buChar char="•"/>
            </a:pPr>
            <a:r>
              <a:rPr lang="en-US" dirty="0">
                <a:solidFill>
                  <a:srgbClr val="FF0000"/>
                </a:solidFill>
              </a:rPr>
              <a:t>Ensuring best utilization of employees (team members) by keeping them professionally competent and highly motivated, with an aim to get optimum results.</a:t>
            </a:r>
          </a:p>
          <a:p>
            <a:endParaRPr lang="en-US" dirty="0"/>
          </a:p>
        </p:txBody>
      </p:sp>
      <p:sp>
        <p:nvSpPr>
          <p:cNvPr id="4" name="Slide Number Placeholder 3">
            <a:extLst>
              <a:ext uri="{FF2B5EF4-FFF2-40B4-BE49-F238E27FC236}">
                <a16:creationId xmlns:a16="http://schemas.microsoft.com/office/drawing/2014/main" id="{C6E81F38-F875-7208-A8FA-21886833F82F}"/>
              </a:ext>
            </a:extLst>
          </p:cNvPr>
          <p:cNvSpPr>
            <a:spLocks noGrp="1"/>
          </p:cNvSpPr>
          <p:nvPr>
            <p:ph type="sldNum" sz="quarter" idx="12"/>
          </p:nvPr>
        </p:nvSpPr>
        <p:spPr/>
        <p:txBody>
          <a:bodyPr/>
          <a:lstStyle/>
          <a:p>
            <a:pPr>
              <a:defRPr/>
            </a:pPr>
            <a:fld id="{A2D3D8D9-6AFB-42AC-9AC6-B670F679F797}" type="slidenum">
              <a:rPr lang="en-US" smtClean="0"/>
              <a:pPr>
                <a:defRPr/>
              </a:pPr>
              <a:t>20</a:t>
            </a:fld>
            <a:endParaRPr lang="en-US" dirty="0"/>
          </a:p>
        </p:txBody>
      </p:sp>
    </p:spTree>
    <p:extLst>
      <p:ext uri="{BB962C8B-B14F-4D97-AF65-F5344CB8AC3E}">
        <p14:creationId xmlns:p14="http://schemas.microsoft.com/office/powerpoint/2010/main" val="3275321320"/>
      </p:ext>
    </p:extLst>
  </p:cSld>
  <p:clrMapOvr>
    <a:masterClrMapping/>
  </p:clrMapOvr>
  <p:transition spd="med">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63463"/>
            <a:ext cx="9144000" cy="567813"/>
          </a:xfrm>
        </p:spPr>
        <p:txBody>
          <a:bodyPr/>
          <a:lstStyle/>
          <a:p>
            <a:pPr>
              <a:lnSpc>
                <a:spcPct val="150000"/>
              </a:lnSpc>
            </a:pPr>
            <a:r>
              <a:rPr lang="en-US" sz="2800" dirty="0">
                <a:solidFill>
                  <a:schemeClr val="accent2"/>
                </a:solidFill>
                <a:cs typeface="Times New Roman" pitchFamily="18" charset="0"/>
              </a:rPr>
              <a:t>Importance  </a:t>
            </a:r>
            <a:endParaRPr lang="en-US" sz="1600" dirty="0">
              <a:solidFill>
                <a:schemeClr val="accent2"/>
              </a:solidFill>
              <a:cs typeface="Times New Roman" pitchFamily="18" charset="0"/>
            </a:endParaRPr>
          </a:p>
        </p:txBody>
      </p:sp>
      <p:sp>
        <p:nvSpPr>
          <p:cNvPr id="6" name="Rectangle 5"/>
          <p:cNvSpPr/>
          <p:nvPr/>
        </p:nvSpPr>
        <p:spPr>
          <a:xfrm>
            <a:off x="533400" y="1325463"/>
            <a:ext cx="8077200" cy="5601533"/>
          </a:xfrm>
          <a:prstGeom prst="rect">
            <a:avLst/>
          </a:prstGeom>
        </p:spPr>
        <p:txBody>
          <a:bodyPr wrap="square">
            <a:spAutoFit/>
          </a:bodyPr>
          <a:lstStyle/>
          <a:p>
            <a:pPr algn="just">
              <a:spcBef>
                <a:spcPct val="50000"/>
              </a:spcBef>
            </a:pPr>
            <a:r>
              <a:rPr lang="en-US" sz="2400" dirty="0">
                <a:solidFill>
                  <a:schemeClr val="bg1"/>
                </a:solidFill>
              </a:rPr>
              <a:t>The bottom line of managing HR is best </a:t>
            </a:r>
            <a:r>
              <a:rPr lang="en-US" sz="2400" i="1" dirty="0">
                <a:solidFill>
                  <a:schemeClr val="bg1"/>
                </a:solidFill>
              </a:rPr>
              <a:t>Getting results. </a:t>
            </a:r>
            <a:r>
              <a:rPr lang="en-US" sz="2400" dirty="0">
                <a:solidFill>
                  <a:schemeClr val="bg1"/>
                </a:solidFill>
              </a:rPr>
              <a:t>HR creates value by engaging in activities that produce the employee behaviors that the company needs to achieve its strategic goals. </a:t>
            </a:r>
            <a:r>
              <a:rPr lang="en-US" sz="2400" dirty="0">
                <a:solidFill>
                  <a:srgbClr val="FF0000"/>
                </a:solidFill>
              </a:rPr>
              <a:t>Such as promote concept of Kaizen , 5S and other improvement programs</a:t>
            </a:r>
            <a:r>
              <a:rPr lang="en-US" sz="2400" dirty="0">
                <a:solidFill>
                  <a:schemeClr val="bg1"/>
                </a:solidFill>
              </a:rPr>
              <a:t> </a:t>
            </a:r>
            <a:endParaRPr lang="en-US" sz="2400" b="1" dirty="0">
              <a:solidFill>
                <a:schemeClr val="bg1"/>
              </a:solidFill>
            </a:endParaRPr>
          </a:p>
          <a:p>
            <a:pPr algn="just"/>
            <a:r>
              <a:rPr lang="en-US" sz="2400" b="1" dirty="0">
                <a:solidFill>
                  <a:schemeClr val="bg1"/>
                </a:solidFill>
              </a:rPr>
              <a:t>Why is HRM important for All Managers?</a:t>
            </a:r>
          </a:p>
          <a:p>
            <a:pPr algn="just"/>
            <a:endParaRPr lang="en-US" sz="1000" dirty="0">
              <a:solidFill>
                <a:schemeClr val="bg1"/>
              </a:solidFill>
            </a:endParaRPr>
          </a:p>
          <a:p>
            <a:pPr algn="just"/>
            <a:r>
              <a:rPr lang="en-US" sz="2400" dirty="0">
                <a:solidFill>
                  <a:schemeClr val="bg1"/>
                </a:solidFill>
              </a:rPr>
              <a:t>Simply because all managers want to avoid following mistakes:</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Hire/place wrong person for the job</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Experience high turnover (low retention) Overhead cost , when employee leaves may b critical in case of critical or confidential data </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Subordinate/ employee not doing the job (deficient)</a:t>
            </a:r>
          </a:p>
        </p:txBody>
      </p:sp>
    </p:spTree>
    <p:extLst>
      <p:ext uri="{BB962C8B-B14F-4D97-AF65-F5344CB8AC3E}">
        <p14:creationId xmlns:p14="http://schemas.microsoft.com/office/powerpoint/2010/main" val="852479809"/>
      </p:ext>
    </p:extLst>
  </p:cSld>
  <p:clrMapOvr>
    <a:masterClrMapping/>
  </p:clrMapOvr>
  <p:transition spd="med">
    <p:strips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33400"/>
            <a:ext cx="9144000" cy="567813"/>
          </a:xfrm>
        </p:spPr>
        <p:txBody>
          <a:bodyPr/>
          <a:lstStyle/>
          <a:p>
            <a:pPr>
              <a:lnSpc>
                <a:spcPct val="150000"/>
              </a:lnSpc>
            </a:pPr>
            <a:r>
              <a:rPr lang="en-US" sz="2800" dirty="0">
                <a:solidFill>
                  <a:schemeClr val="accent2"/>
                </a:solidFill>
                <a:cs typeface="Times New Roman" pitchFamily="18" charset="0"/>
              </a:rPr>
              <a:t>Importance of P HRM &amp; CM</a:t>
            </a:r>
            <a:endParaRPr lang="en-US" sz="1600" dirty="0">
              <a:solidFill>
                <a:schemeClr val="accent2"/>
              </a:solidFill>
              <a:cs typeface="Times New Roman" pitchFamily="18" charset="0"/>
            </a:endParaRPr>
          </a:p>
        </p:txBody>
      </p:sp>
      <p:sp>
        <p:nvSpPr>
          <p:cNvPr id="6" name="Rectangle 5"/>
          <p:cNvSpPr/>
          <p:nvPr/>
        </p:nvSpPr>
        <p:spPr>
          <a:xfrm>
            <a:off x="533400" y="1295400"/>
            <a:ext cx="8229600" cy="5447645"/>
          </a:xfrm>
          <a:prstGeom prst="rect">
            <a:avLst/>
          </a:prstGeom>
        </p:spPr>
        <p:txBody>
          <a:bodyPr wrap="square">
            <a:spAutoFit/>
          </a:bodyPr>
          <a:lstStyle/>
          <a:p>
            <a:pPr marL="350838" indent="-350838" algn="just">
              <a:buFont typeface="Arial" pitchFamily="34" charset="0"/>
              <a:buChar char="•"/>
            </a:pPr>
            <a:r>
              <a:rPr lang="en-US" sz="2400" dirty="0">
                <a:solidFill>
                  <a:schemeClr val="bg1"/>
                </a:solidFill>
              </a:rPr>
              <a:t>Waste time with useless interviews (during hiring &amp; after)</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Have your company taken to court due to </a:t>
            </a:r>
            <a:r>
              <a:rPr lang="en-US" sz="2400" dirty="0">
                <a:solidFill>
                  <a:srgbClr val="FF0000"/>
                </a:solidFill>
              </a:rPr>
              <a:t>violation of </a:t>
            </a:r>
            <a:r>
              <a:rPr lang="en-US" sz="2400" dirty="0" err="1">
                <a:solidFill>
                  <a:srgbClr val="FF0000"/>
                </a:solidFill>
              </a:rPr>
              <a:t>labour</a:t>
            </a:r>
            <a:r>
              <a:rPr lang="en-US" sz="2400" dirty="0">
                <a:solidFill>
                  <a:srgbClr val="FF0000"/>
                </a:solidFill>
              </a:rPr>
              <a:t> laws</a:t>
            </a:r>
            <a:r>
              <a:rPr lang="en-US" sz="2400" dirty="0">
                <a:solidFill>
                  <a:schemeClr val="bg1"/>
                </a:solidFill>
              </a:rPr>
              <a:t> (feeling of discrimination / violation of equal employment opportunity, should not be biased one) </a:t>
            </a:r>
          </a:p>
          <a:p>
            <a:pPr algn="just"/>
            <a:endParaRPr lang="en-US" sz="1200" dirty="0">
              <a:solidFill>
                <a:schemeClr val="bg1"/>
              </a:solidFill>
            </a:endParaRPr>
          </a:p>
          <a:p>
            <a:pPr marL="350838" indent="-350838" algn="just">
              <a:buFont typeface="Arial" pitchFamily="34" charset="0"/>
              <a:buChar char="•"/>
            </a:pPr>
            <a:r>
              <a:rPr lang="en-US" sz="2400" dirty="0">
                <a:solidFill>
                  <a:schemeClr val="bg1"/>
                </a:solidFill>
              </a:rPr>
              <a:t>Have your company cited under </a:t>
            </a:r>
            <a:r>
              <a:rPr lang="en-US" sz="2400" dirty="0">
                <a:solidFill>
                  <a:srgbClr val="FF0000"/>
                </a:solidFill>
              </a:rPr>
              <a:t>occupational safety laws for unsafe practices. </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Have your employee think their </a:t>
            </a:r>
            <a:r>
              <a:rPr lang="en-US" sz="2400" dirty="0">
                <a:solidFill>
                  <a:srgbClr val="FF0000"/>
                </a:solidFill>
              </a:rPr>
              <a:t>salaries are unfair</a:t>
            </a:r>
            <a:r>
              <a:rPr lang="en-US" sz="2400" dirty="0">
                <a:solidFill>
                  <a:schemeClr val="bg1"/>
                </a:solidFill>
              </a:rPr>
              <a:t> relative to others in the organization</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Allow a </a:t>
            </a:r>
            <a:r>
              <a:rPr lang="en-US" sz="2400" dirty="0">
                <a:solidFill>
                  <a:srgbClr val="FF0000"/>
                </a:solidFill>
              </a:rPr>
              <a:t>lack of training</a:t>
            </a:r>
            <a:r>
              <a:rPr lang="en-US" sz="2400" dirty="0">
                <a:solidFill>
                  <a:schemeClr val="bg1"/>
                </a:solidFill>
              </a:rPr>
              <a:t> to undermine your department’s effectiveness</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Commit any unfair practices. </a:t>
            </a:r>
          </a:p>
          <a:p>
            <a:pPr marL="350838" indent="-350838" algn="just">
              <a:buFont typeface="Arial" pitchFamily="34" charset="0"/>
              <a:buChar char="•"/>
            </a:pPr>
            <a:endParaRPr lang="en-US" sz="2400" dirty="0">
              <a:solidFill>
                <a:schemeClr val="bg1"/>
              </a:solidFill>
            </a:endParaRPr>
          </a:p>
        </p:txBody>
      </p:sp>
    </p:spTree>
    <p:extLst>
      <p:ext uri="{BB962C8B-B14F-4D97-AF65-F5344CB8AC3E}">
        <p14:creationId xmlns:p14="http://schemas.microsoft.com/office/powerpoint/2010/main" val="2284944086"/>
      </p:ext>
    </p:extLst>
  </p:cSld>
  <p:clrMapOvr>
    <a:masterClrMapping/>
  </p:clrMapOvr>
  <p:transition spd="med">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609600"/>
            <a:ext cx="9144000" cy="567813"/>
          </a:xfrm>
        </p:spPr>
        <p:txBody>
          <a:bodyPr/>
          <a:lstStyle/>
          <a:p>
            <a:pPr>
              <a:lnSpc>
                <a:spcPct val="150000"/>
              </a:lnSpc>
            </a:pPr>
            <a:r>
              <a:rPr lang="en-US" sz="2800" dirty="0">
                <a:solidFill>
                  <a:schemeClr val="accent2"/>
                </a:solidFill>
                <a:cs typeface="Times New Roman" pitchFamily="18" charset="0"/>
              </a:rPr>
              <a:t>Importance of P HRM &amp; CM</a:t>
            </a:r>
            <a:endParaRPr lang="en-US" sz="1600" dirty="0">
              <a:solidFill>
                <a:schemeClr val="accent2"/>
              </a:solidFill>
              <a:cs typeface="Times New Roman" pitchFamily="18" charset="0"/>
            </a:endParaRPr>
          </a:p>
        </p:txBody>
      </p:sp>
      <p:sp>
        <p:nvSpPr>
          <p:cNvPr id="6" name="Rectangle 5"/>
          <p:cNvSpPr/>
          <p:nvPr/>
        </p:nvSpPr>
        <p:spPr>
          <a:xfrm>
            <a:off x="533400" y="1371600"/>
            <a:ext cx="8077200" cy="3200876"/>
          </a:xfrm>
          <a:prstGeom prst="rect">
            <a:avLst/>
          </a:prstGeom>
        </p:spPr>
        <p:txBody>
          <a:bodyPr wrap="square">
            <a:spAutoFit/>
          </a:bodyPr>
          <a:lstStyle/>
          <a:p>
            <a:pPr algn="just"/>
            <a:r>
              <a:rPr lang="en-US" sz="2400" b="1" dirty="0">
                <a:solidFill>
                  <a:schemeClr val="bg1"/>
                </a:solidFill>
              </a:rPr>
              <a:t>What is Communication?</a:t>
            </a:r>
          </a:p>
          <a:p>
            <a:pPr marL="350838" indent="-350838" algn="just">
              <a:buFont typeface="Arial" pitchFamily="34" charset="0"/>
              <a:buChar char="•"/>
            </a:pPr>
            <a:endParaRPr lang="en-US" sz="1000" dirty="0">
              <a:solidFill>
                <a:schemeClr val="bg1"/>
              </a:solidFill>
            </a:endParaRPr>
          </a:p>
          <a:p>
            <a:pPr marL="350838" indent="-350838" algn="just">
              <a:buFont typeface="Arial" pitchFamily="34" charset="0"/>
              <a:buChar char="•"/>
            </a:pPr>
            <a:r>
              <a:rPr lang="en-US" sz="2400" dirty="0">
                <a:solidFill>
                  <a:schemeClr val="bg1"/>
                </a:solidFill>
              </a:rPr>
              <a:t>Transference of ideas from one head to the other. Exchange of information with an aim to help an organization in achieving its goals.</a:t>
            </a:r>
          </a:p>
          <a:p>
            <a:pPr marL="350838" indent="-350838" algn="just">
              <a:buFont typeface="Arial" pitchFamily="34" charset="0"/>
              <a:buChar char="•"/>
            </a:pPr>
            <a:endParaRPr lang="en-US" sz="2400" dirty="0">
              <a:solidFill>
                <a:schemeClr val="bg1"/>
              </a:solidFill>
            </a:endParaRPr>
          </a:p>
          <a:p>
            <a:pPr marL="350838" indent="-350838" algn="just">
              <a:buFont typeface="Arial" pitchFamily="34" charset="0"/>
              <a:buChar char="•"/>
            </a:pPr>
            <a:r>
              <a:rPr lang="en-US" sz="2400" dirty="0">
                <a:solidFill>
                  <a:schemeClr val="bg1"/>
                </a:solidFill>
              </a:rPr>
              <a:t>Also includes free flow of information vertically, horizontally and diagonally, without any distortion or delay.</a:t>
            </a:r>
          </a:p>
        </p:txBody>
      </p:sp>
    </p:spTree>
    <p:extLst>
      <p:ext uri="{BB962C8B-B14F-4D97-AF65-F5344CB8AC3E}">
        <p14:creationId xmlns:p14="http://schemas.microsoft.com/office/powerpoint/2010/main" val="885909287"/>
      </p:ext>
    </p:extLst>
  </p:cSld>
  <p:clrMapOvr>
    <a:masterClrMapping/>
  </p:clrMapOvr>
  <p:transition spd="med">
    <p:strips dir="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33400"/>
            <a:ext cx="9144000" cy="567813"/>
          </a:xfrm>
        </p:spPr>
        <p:txBody>
          <a:bodyPr/>
          <a:lstStyle/>
          <a:p>
            <a:pPr>
              <a:lnSpc>
                <a:spcPct val="150000"/>
              </a:lnSpc>
            </a:pPr>
            <a:r>
              <a:rPr lang="en-US" sz="2800" dirty="0">
                <a:solidFill>
                  <a:schemeClr val="accent2"/>
                </a:solidFill>
                <a:cs typeface="Times New Roman" pitchFamily="18" charset="0"/>
              </a:rPr>
              <a:t>The New HR Manager</a:t>
            </a:r>
            <a:endParaRPr lang="en-US" sz="1600" dirty="0">
              <a:solidFill>
                <a:schemeClr val="accent2"/>
              </a:solidFill>
              <a:cs typeface="Times New Roman" pitchFamily="18" charset="0"/>
            </a:endParaRPr>
          </a:p>
        </p:txBody>
      </p:sp>
      <p:sp>
        <p:nvSpPr>
          <p:cNvPr id="6" name="Rectangle 5"/>
          <p:cNvSpPr/>
          <p:nvPr/>
        </p:nvSpPr>
        <p:spPr>
          <a:xfrm>
            <a:off x="533400" y="1295400"/>
            <a:ext cx="8077200" cy="5324535"/>
          </a:xfrm>
          <a:prstGeom prst="rect">
            <a:avLst/>
          </a:prstGeom>
        </p:spPr>
        <p:txBody>
          <a:bodyPr wrap="square">
            <a:spAutoFit/>
          </a:bodyPr>
          <a:lstStyle/>
          <a:p>
            <a:pPr algn="just"/>
            <a:r>
              <a:rPr lang="en-US" sz="2400" dirty="0">
                <a:solidFill>
                  <a:schemeClr val="bg1"/>
                </a:solidFill>
              </a:rPr>
              <a:t>In his/her new role as strategic partner, HR manager has to deal with a number of challenges:</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focus more on strategic, big-picture issues and act as Strategic HR Manager (SHRM) </a:t>
            </a:r>
            <a:r>
              <a:rPr lang="en-US" sz="2200" dirty="0">
                <a:solidFill>
                  <a:srgbClr val="C00000"/>
                </a:solidFill>
              </a:rPr>
              <a:t>(formulating &amp; executing HR policies &amp; practices that produce employee competencies &amp; behaviors that company needs to achieve its strategic goals)</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focus on improving performance</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measure HR performance &amp; results</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use evidence based HRM </a:t>
            </a:r>
            <a:r>
              <a:rPr lang="en-US" sz="2200" dirty="0">
                <a:solidFill>
                  <a:srgbClr val="C00000"/>
                </a:solidFill>
              </a:rPr>
              <a:t>(all HR related decisions based on evidence)</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add value </a:t>
            </a:r>
            <a:r>
              <a:rPr lang="en-US" sz="2200" dirty="0">
                <a:solidFill>
                  <a:srgbClr val="C00000"/>
                </a:solidFill>
              </a:rPr>
              <a:t>(keep raising the bar)</a:t>
            </a:r>
          </a:p>
        </p:txBody>
      </p:sp>
    </p:spTree>
    <p:extLst>
      <p:ext uri="{BB962C8B-B14F-4D97-AF65-F5344CB8AC3E}">
        <p14:creationId xmlns:p14="http://schemas.microsoft.com/office/powerpoint/2010/main" val="4280808411"/>
      </p:ext>
    </p:extLst>
  </p:cSld>
  <p:clrMapOvr>
    <a:masterClrMapping/>
  </p:clrMapOvr>
  <p:transition spd="med">
    <p:strips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title"/>
          </p:nvPr>
        </p:nvSpPr>
        <p:spPr>
          <a:xfrm>
            <a:off x="0" y="533400"/>
            <a:ext cx="9144000" cy="567813"/>
          </a:xfrm>
        </p:spPr>
        <p:txBody>
          <a:bodyPr/>
          <a:lstStyle/>
          <a:p>
            <a:pPr>
              <a:lnSpc>
                <a:spcPct val="150000"/>
              </a:lnSpc>
            </a:pPr>
            <a:r>
              <a:rPr lang="en-US" sz="2800" dirty="0">
                <a:solidFill>
                  <a:schemeClr val="accent2"/>
                </a:solidFill>
                <a:cs typeface="Times New Roman" pitchFamily="18" charset="0"/>
              </a:rPr>
              <a:t>The New HR Manager</a:t>
            </a:r>
            <a:endParaRPr lang="en-US" sz="1600" dirty="0">
              <a:solidFill>
                <a:schemeClr val="accent2"/>
              </a:solidFill>
              <a:cs typeface="Times New Roman" pitchFamily="18" charset="0"/>
            </a:endParaRPr>
          </a:p>
        </p:txBody>
      </p:sp>
      <p:sp>
        <p:nvSpPr>
          <p:cNvPr id="6" name="Rectangle 5"/>
          <p:cNvSpPr/>
          <p:nvPr/>
        </p:nvSpPr>
        <p:spPr>
          <a:xfrm>
            <a:off x="533400" y="1295400"/>
            <a:ext cx="8077200" cy="5632311"/>
          </a:xfrm>
          <a:prstGeom prst="rect">
            <a:avLst/>
          </a:prstGeom>
        </p:spPr>
        <p:txBody>
          <a:bodyPr wrap="square">
            <a:spAutoFit/>
          </a:bodyPr>
          <a:lstStyle/>
          <a:p>
            <a:pPr marL="350838" indent="-350838" algn="just">
              <a:buFont typeface="Arial" pitchFamily="34" charset="0"/>
              <a:buChar char="•"/>
            </a:pPr>
            <a:r>
              <a:rPr lang="en-US" sz="2400" dirty="0">
                <a:solidFill>
                  <a:schemeClr val="bg1"/>
                </a:solidFill>
              </a:rPr>
              <a:t>They use new ways to provide HR Services </a:t>
            </a:r>
            <a:r>
              <a:rPr lang="en-US" sz="2200" dirty="0">
                <a:solidFill>
                  <a:srgbClr val="C00000"/>
                </a:solidFill>
              </a:rPr>
              <a:t>(use of technology to support HR activities)</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adopt talent management approach </a:t>
            </a:r>
            <a:r>
              <a:rPr lang="en-US" sz="2200" dirty="0">
                <a:solidFill>
                  <a:srgbClr val="C00000"/>
                </a:solidFill>
              </a:rPr>
              <a:t>(goal oriented &amp; integrated process of planning, recruiting, developing, managing &amp; compensating employees) </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manage employee engagement</a:t>
            </a:r>
            <a:r>
              <a:rPr lang="en-US" sz="2200" dirty="0">
                <a:solidFill>
                  <a:srgbClr val="C00000"/>
                </a:solidFill>
              </a:rPr>
              <a:t> (engaged employees are mentally &amp; emotionally invested in their work and in contributing to an employer’s success)</a:t>
            </a:r>
            <a:r>
              <a:rPr lang="en-US" sz="2400" dirty="0">
                <a:solidFill>
                  <a:schemeClr val="bg1"/>
                </a:solidFill>
              </a:rPr>
              <a:t> </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manage ethics </a:t>
            </a:r>
            <a:r>
              <a:rPr lang="en-US" sz="2200" dirty="0">
                <a:solidFill>
                  <a:srgbClr val="C00000"/>
                </a:solidFill>
              </a:rPr>
              <a:t>(standards of acceptable conduct)</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understand their HR Philosophy </a:t>
            </a:r>
            <a:r>
              <a:rPr lang="en-US" sz="2200" dirty="0">
                <a:solidFill>
                  <a:srgbClr val="C00000"/>
                </a:solidFill>
              </a:rPr>
              <a:t>(to give opportunity for full exercise of talent)</a:t>
            </a:r>
          </a:p>
          <a:p>
            <a:pPr marL="350838" indent="-350838" algn="just">
              <a:buFont typeface="Arial" pitchFamily="34" charset="0"/>
              <a:buChar char="•"/>
            </a:pPr>
            <a:endParaRPr lang="en-US" sz="1200" dirty="0">
              <a:solidFill>
                <a:schemeClr val="bg1"/>
              </a:solidFill>
            </a:endParaRPr>
          </a:p>
          <a:p>
            <a:pPr marL="350838" indent="-350838" algn="just">
              <a:buFont typeface="Arial" pitchFamily="34" charset="0"/>
              <a:buChar char="•"/>
            </a:pPr>
            <a:r>
              <a:rPr lang="en-US" sz="2400" dirty="0">
                <a:solidFill>
                  <a:schemeClr val="bg1"/>
                </a:solidFill>
              </a:rPr>
              <a:t>They have new competencies eventually helps in their </a:t>
            </a:r>
            <a:r>
              <a:rPr lang="en-US" sz="2200" dirty="0">
                <a:solidFill>
                  <a:srgbClr val="C00000"/>
                </a:solidFill>
              </a:rPr>
              <a:t>growth)</a:t>
            </a:r>
            <a:endParaRPr lang="en-US" sz="2400" dirty="0">
              <a:solidFill>
                <a:schemeClr val="bg1"/>
              </a:solidFill>
            </a:endParaRPr>
          </a:p>
        </p:txBody>
      </p:sp>
    </p:spTree>
    <p:extLst>
      <p:ext uri="{BB962C8B-B14F-4D97-AF65-F5344CB8AC3E}">
        <p14:creationId xmlns:p14="http://schemas.microsoft.com/office/powerpoint/2010/main" val="4173086857"/>
      </p:ext>
    </p:extLst>
  </p:cSld>
  <p:clrMapOvr>
    <a:masterClrMapping/>
  </p:clrMapOvr>
  <p:transition spd="med">
    <p:strips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4866-F22B-D5DD-53CF-BA83BC7654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D3DF28-D91F-32E3-96B2-F88D3466D94D}"/>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CF00CD35-58AD-DDEE-03C5-226E993D0345}"/>
              </a:ext>
            </a:extLst>
          </p:cNvPr>
          <p:cNvSpPr>
            <a:spLocks noGrp="1"/>
          </p:cNvSpPr>
          <p:nvPr>
            <p:ph type="sldNum" sz="quarter" idx="12"/>
          </p:nvPr>
        </p:nvSpPr>
        <p:spPr/>
        <p:txBody>
          <a:bodyPr/>
          <a:lstStyle/>
          <a:p>
            <a:pPr>
              <a:defRPr/>
            </a:pPr>
            <a:fld id="{A2D3D8D9-6AFB-42AC-9AC6-B670F679F797}" type="slidenum">
              <a:rPr lang="en-US" smtClean="0"/>
              <a:pPr>
                <a:defRPr/>
              </a:pPr>
              <a:t>26</a:t>
            </a:fld>
            <a:endParaRPr lang="en-US" dirty="0"/>
          </a:p>
        </p:txBody>
      </p:sp>
      <p:sp>
        <p:nvSpPr>
          <p:cNvPr id="67588" name="AutoShape 4"/>
          <p:cNvSpPr txBox="1">
            <a:spLocks noChangeArrowheads="1"/>
          </p:cNvSpPr>
          <p:nvPr/>
        </p:nvSpPr>
        <p:spPr bwMode="auto">
          <a:xfrm>
            <a:off x="-24607" y="0"/>
            <a:ext cx="9193213" cy="1066800"/>
          </a:xfrm>
          <a:prstGeom prst="rect">
            <a:avLst/>
          </a:prstGeom>
          <a:gradFill>
            <a:gsLst>
              <a:gs pos="0">
                <a:srgbClr val="990033">
                  <a:gamma/>
                  <a:shade val="46275"/>
                  <a:invGamma/>
                </a:srgbClr>
              </a:gs>
              <a:gs pos="50000">
                <a:srgbClr val="990033"/>
              </a:gs>
              <a:gs pos="100000">
                <a:srgbClr val="990033">
                  <a:gamma/>
                  <a:shade val="46275"/>
                  <a:invGamma/>
                </a:srgbClr>
              </a:gs>
            </a:gsLst>
          </a:grad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charset="0"/>
              </a:defRPr>
            </a:lvl2pPr>
            <a:lvl3pPr algn="ctr" rtl="0" eaLnBrk="0" fontAlgn="base" hangingPunct="0">
              <a:spcBef>
                <a:spcPct val="0"/>
              </a:spcBef>
              <a:spcAft>
                <a:spcPct val="0"/>
              </a:spcAft>
              <a:defRPr sz="3600" b="1">
                <a:solidFill>
                  <a:schemeClr val="tx2"/>
                </a:solidFill>
                <a:latin typeface="Arial" charset="0"/>
              </a:defRPr>
            </a:lvl3pPr>
            <a:lvl4pPr algn="ctr" rtl="0" eaLnBrk="0" fontAlgn="base" hangingPunct="0">
              <a:spcBef>
                <a:spcPct val="0"/>
              </a:spcBef>
              <a:spcAft>
                <a:spcPct val="0"/>
              </a:spcAft>
              <a:defRPr sz="3600" b="1">
                <a:solidFill>
                  <a:schemeClr val="tx2"/>
                </a:solidFill>
                <a:latin typeface="Arial" charset="0"/>
              </a:defRPr>
            </a:lvl4pPr>
            <a:lvl5pPr algn="ctr" rtl="0" eaLnBrk="0" fontAlgn="base" hangingPunct="0">
              <a:spcBef>
                <a:spcPct val="0"/>
              </a:spcBef>
              <a:spcAft>
                <a:spcPct val="0"/>
              </a:spcAft>
              <a:defRPr sz="3600" b="1">
                <a:solidFill>
                  <a:schemeClr val="tx2"/>
                </a:solidFill>
                <a:latin typeface="Arial" charset="0"/>
              </a:defRPr>
            </a:lvl5pPr>
            <a:lvl6pPr marL="457200" algn="ctr" rtl="0" fontAlgn="base">
              <a:spcBef>
                <a:spcPct val="0"/>
              </a:spcBef>
              <a:spcAft>
                <a:spcPct val="0"/>
              </a:spcAft>
              <a:defRPr sz="3200" b="1">
                <a:solidFill>
                  <a:schemeClr val="tx2"/>
                </a:solidFill>
                <a:latin typeface="Arial" charset="0"/>
              </a:defRPr>
            </a:lvl6pPr>
            <a:lvl7pPr marL="914400" algn="ctr" rtl="0" fontAlgn="base">
              <a:spcBef>
                <a:spcPct val="0"/>
              </a:spcBef>
              <a:spcAft>
                <a:spcPct val="0"/>
              </a:spcAft>
              <a:defRPr sz="3200" b="1">
                <a:solidFill>
                  <a:schemeClr val="tx2"/>
                </a:solidFill>
                <a:latin typeface="Arial" charset="0"/>
              </a:defRPr>
            </a:lvl7pPr>
            <a:lvl8pPr marL="1371600" algn="ctr" rtl="0" fontAlgn="base">
              <a:spcBef>
                <a:spcPct val="0"/>
              </a:spcBef>
              <a:spcAft>
                <a:spcPct val="0"/>
              </a:spcAft>
              <a:defRPr sz="3200" b="1">
                <a:solidFill>
                  <a:schemeClr val="tx2"/>
                </a:solidFill>
                <a:latin typeface="Arial" charset="0"/>
              </a:defRPr>
            </a:lvl8pPr>
            <a:lvl9pPr marL="1828800" algn="ctr" rtl="0" fontAlgn="base">
              <a:spcBef>
                <a:spcPct val="0"/>
              </a:spcBef>
              <a:spcAft>
                <a:spcPct val="0"/>
              </a:spcAft>
              <a:defRPr sz="3200" b="1">
                <a:solidFill>
                  <a:schemeClr val="tx2"/>
                </a:solidFill>
                <a:latin typeface="Arial" charset="0"/>
              </a:defRPr>
            </a:lvl9pPr>
          </a:lstStyle>
          <a:p>
            <a:pPr eaLnBrk="1" hangingPunct="1">
              <a:defRPr/>
            </a:pPr>
            <a:r>
              <a:rPr lang="en-US" sz="2800" kern="0"/>
              <a:t>Project Life Cycle</a:t>
            </a:r>
            <a:endParaRPr lang="en-US" sz="2800" kern="0" dirty="0"/>
          </a:p>
        </p:txBody>
      </p:sp>
      <p:pic>
        <p:nvPicPr>
          <p:cNvPr id="17414" name="Picture 7"/>
          <p:cNvPicPr>
            <a:picLocks noChangeAspect="1" noChangeArrowheads="1"/>
          </p:cNvPicPr>
          <p:nvPr/>
        </p:nvPicPr>
        <p:blipFill>
          <a:blip r:embed="rId2"/>
          <a:srcRect/>
          <a:stretch>
            <a:fillRect/>
          </a:stretch>
        </p:blipFill>
        <p:spPr bwMode="auto">
          <a:xfrm>
            <a:off x="914400" y="1412081"/>
            <a:ext cx="7032625" cy="4643437"/>
          </a:xfrm>
          <a:prstGeom prst="rect">
            <a:avLst/>
          </a:prstGeom>
          <a:noFill/>
          <a:ln w="9525">
            <a:noFill/>
            <a:miter lim="800000"/>
            <a:headEnd/>
            <a:tailEnd/>
          </a:ln>
        </p:spPr>
      </p:pic>
    </p:spTree>
    <p:extLst>
      <p:ext uri="{BB962C8B-B14F-4D97-AF65-F5344CB8AC3E}">
        <p14:creationId xmlns:p14="http://schemas.microsoft.com/office/powerpoint/2010/main" val="799739827"/>
      </p:ext>
    </p:extLst>
  </p:cSld>
  <p:clrMapOvr>
    <a:masterClrMapping/>
  </p:clrMapOvr>
  <p:transition spd="med">
    <p:strips dir="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256084-4169-8066-576E-315532BA52BE}"/>
              </a:ext>
            </a:extLst>
          </p:cNvPr>
          <p:cNvSpPr>
            <a:spLocks noGrp="1"/>
          </p:cNvSpPr>
          <p:nvPr>
            <p:ph type="sldNum" sz="quarter" idx="12"/>
          </p:nvPr>
        </p:nvSpPr>
        <p:spPr/>
        <p:txBody>
          <a:bodyPr/>
          <a:lstStyle/>
          <a:p>
            <a:pPr>
              <a:defRPr/>
            </a:pPr>
            <a:fld id="{A2D3D8D9-6AFB-42AC-9AC6-B670F679F797}" type="slidenum">
              <a:rPr lang="en-US" smtClean="0"/>
              <a:pPr>
                <a:defRPr/>
              </a:pPr>
              <a:t>27</a:t>
            </a:fld>
            <a:endParaRPr lang="en-US" dirty="0"/>
          </a:p>
        </p:txBody>
      </p:sp>
      <p:sp>
        <p:nvSpPr>
          <p:cNvPr id="5" name="Rectangle 5">
            <a:extLst>
              <a:ext uri="{FF2B5EF4-FFF2-40B4-BE49-F238E27FC236}">
                <a16:creationId xmlns:a16="http://schemas.microsoft.com/office/drawing/2014/main" id="{56BFB03B-4A1A-1C10-E6AC-E8D5B73F9989}"/>
              </a:ext>
            </a:extLst>
          </p:cNvPr>
          <p:cNvSpPr txBox="1">
            <a:spLocks noChangeArrowheads="1"/>
          </p:cNvSpPr>
          <p:nvPr/>
        </p:nvSpPr>
        <p:spPr bwMode="auto">
          <a:xfrm>
            <a:off x="304800" y="1390650"/>
            <a:ext cx="9067800" cy="4076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charset="0"/>
              </a:defRPr>
            </a:lvl2pPr>
            <a:lvl3pPr algn="ctr" rtl="0" eaLnBrk="0" fontAlgn="base" hangingPunct="0">
              <a:spcBef>
                <a:spcPct val="0"/>
              </a:spcBef>
              <a:spcAft>
                <a:spcPct val="0"/>
              </a:spcAft>
              <a:defRPr sz="3600" b="1">
                <a:solidFill>
                  <a:schemeClr val="tx2"/>
                </a:solidFill>
                <a:latin typeface="Arial" charset="0"/>
              </a:defRPr>
            </a:lvl3pPr>
            <a:lvl4pPr algn="ctr" rtl="0" eaLnBrk="0" fontAlgn="base" hangingPunct="0">
              <a:spcBef>
                <a:spcPct val="0"/>
              </a:spcBef>
              <a:spcAft>
                <a:spcPct val="0"/>
              </a:spcAft>
              <a:defRPr sz="3600" b="1">
                <a:solidFill>
                  <a:schemeClr val="tx2"/>
                </a:solidFill>
                <a:latin typeface="Arial" charset="0"/>
              </a:defRPr>
            </a:lvl4pPr>
            <a:lvl5pPr algn="ctr" rtl="0" eaLnBrk="0" fontAlgn="base" hangingPunct="0">
              <a:spcBef>
                <a:spcPct val="0"/>
              </a:spcBef>
              <a:spcAft>
                <a:spcPct val="0"/>
              </a:spcAft>
              <a:defRPr sz="3600" b="1">
                <a:solidFill>
                  <a:schemeClr val="tx2"/>
                </a:solidFill>
                <a:latin typeface="Arial" charset="0"/>
              </a:defRPr>
            </a:lvl5pPr>
            <a:lvl6pPr marL="457200" algn="ctr" rtl="0" fontAlgn="base">
              <a:spcBef>
                <a:spcPct val="0"/>
              </a:spcBef>
              <a:spcAft>
                <a:spcPct val="0"/>
              </a:spcAft>
              <a:defRPr sz="3200" b="1">
                <a:solidFill>
                  <a:schemeClr val="tx2"/>
                </a:solidFill>
                <a:latin typeface="Arial" charset="0"/>
              </a:defRPr>
            </a:lvl6pPr>
            <a:lvl7pPr marL="914400" algn="ctr" rtl="0" fontAlgn="base">
              <a:spcBef>
                <a:spcPct val="0"/>
              </a:spcBef>
              <a:spcAft>
                <a:spcPct val="0"/>
              </a:spcAft>
              <a:defRPr sz="3200" b="1">
                <a:solidFill>
                  <a:schemeClr val="tx2"/>
                </a:solidFill>
                <a:latin typeface="Arial" charset="0"/>
              </a:defRPr>
            </a:lvl7pPr>
            <a:lvl8pPr marL="1371600" algn="ctr" rtl="0" fontAlgn="base">
              <a:spcBef>
                <a:spcPct val="0"/>
              </a:spcBef>
              <a:spcAft>
                <a:spcPct val="0"/>
              </a:spcAft>
              <a:defRPr sz="3200" b="1">
                <a:solidFill>
                  <a:schemeClr val="tx2"/>
                </a:solidFill>
                <a:latin typeface="Arial" charset="0"/>
              </a:defRPr>
            </a:lvl8pPr>
            <a:lvl9pPr marL="1828800" algn="ctr" rtl="0" fontAlgn="base">
              <a:spcBef>
                <a:spcPct val="0"/>
              </a:spcBef>
              <a:spcAft>
                <a:spcPct val="0"/>
              </a:spcAft>
              <a:defRPr sz="3200" b="1">
                <a:solidFill>
                  <a:schemeClr val="tx2"/>
                </a:solidFill>
                <a:latin typeface="Arial" charset="0"/>
              </a:defRPr>
            </a:lvl9pPr>
          </a:lstStyle>
          <a:p>
            <a:pPr algn="l">
              <a:spcBef>
                <a:spcPct val="50000"/>
              </a:spcBef>
              <a:tabLst>
                <a:tab pos="457200" algn="l"/>
                <a:tab pos="2057400" algn="l"/>
              </a:tabLst>
            </a:pPr>
            <a:br>
              <a:rPr lang="en-US" sz="1800" kern="0" dirty="0"/>
            </a:br>
            <a:r>
              <a:rPr lang="en-US" sz="1800" kern="0" dirty="0"/>
              <a:t> </a:t>
            </a:r>
            <a:r>
              <a:rPr lang="en-US" sz="2400" kern="0" dirty="0">
                <a:solidFill>
                  <a:srgbClr val="CC3300"/>
                </a:solidFill>
              </a:rPr>
              <a:t>S</a:t>
            </a:r>
            <a:r>
              <a:rPr lang="en-US" sz="1800" kern="0" dirty="0">
                <a:solidFill>
                  <a:srgbClr val="CC3300"/>
                </a:solidFill>
              </a:rPr>
              <a:t>	</a:t>
            </a:r>
            <a:r>
              <a:rPr lang="en-US" sz="1800" kern="0" dirty="0"/>
              <a:t>Specific 	Be specific in targeting an objective</a:t>
            </a:r>
            <a:br>
              <a:rPr lang="en-US" sz="1800" kern="0" dirty="0"/>
            </a:br>
            <a:br>
              <a:rPr lang="en-US" sz="1800" kern="0" dirty="0"/>
            </a:br>
            <a:r>
              <a:rPr lang="en-US" sz="2400" kern="0" dirty="0">
                <a:solidFill>
                  <a:srgbClr val="CC3300"/>
                </a:solidFill>
              </a:rPr>
              <a:t>M</a:t>
            </a:r>
            <a:r>
              <a:rPr lang="en-US" sz="1800" kern="0" dirty="0"/>
              <a:t> 	Measurable 	Establish a measurable indicator(s) of progress</a:t>
            </a:r>
            <a:br>
              <a:rPr lang="en-US" sz="1800" kern="0" dirty="0"/>
            </a:br>
            <a:br>
              <a:rPr lang="en-US" sz="1800" kern="0" dirty="0"/>
            </a:br>
            <a:r>
              <a:rPr lang="en-US" sz="2400" kern="0" dirty="0">
                <a:solidFill>
                  <a:srgbClr val="CC3300"/>
                </a:solidFill>
              </a:rPr>
              <a:t>A</a:t>
            </a:r>
            <a:r>
              <a:rPr lang="en-US" sz="1800" kern="0" dirty="0"/>
              <a:t> 	Assignable 	Make the objective assignable to one person for  completion</a:t>
            </a:r>
            <a:br>
              <a:rPr lang="en-US" sz="1800" kern="0" dirty="0"/>
            </a:br>
            <a:br>
              <a:rPr lang="en-US" sz="1800" kern="0" dirty="0"/>
            </a:br>
            <a:r>
              <a:rPr lang="en-US" sz="2400" kern="0" dirty="0">
                <a:solidFill>
                  <a:srgbClr val="CC3300"/>
                </a:solidFill>
              </a:rPr>
              <a:t>R</a:t>
            </a:r>
            <a:r>
              <a:rPr lang="en-US" sz="1800" kern="0" dirty="0">
                <a:solidFill>
                  <a:srgbClr val="CC3300"/>
                </a:solidFill>
              </a:rPr>
              <a:t> </a:t>
            </a:r>
            <a:r>
              <a:rPr lang="en-US" sz="1800" kern="0" dirty="0"/>
              <a:t>	Realistic 	State what can realistically be done with available			resources</a:t>
            </a:r>
            <a:br>
              <a:rPr lang="en-US" sz="1800" kern="0" dirty="0"/>
            </a:br>
            <a:r>
              <a:rPr lang="en-US" sz="2400" kern="0" dirty="0">
                <a:solidFill>
                  <a:srgbClr val="CC3300"/>
                </a:solidFill>
              </a:rPr>
              <a:t>T</a:t>
            </a:r>
            <a:r>
              <a:rPr lang="en-US" sz="1800" kern="0" dirty="0"/>
              <a:t> 	Time related</a:t>
            </a:r>
            <a:br>
              <a:rPr lang="en-US" sz="1800" kern="0" dirty="0">
                <a:latin typeface="Univers" pitchFamily="34" charset="0"/>
              </a:rPr>
            </a:br>
            <a:endParaRPr lang="en-GB" sz="1800" kern="0" dirty="0">
              <a:solidFill>
                <a:schemeClr val="accent6"/>
              </a:solidFill>
              <a:latin typeface="+mn-lt"/>
            </a:endParaRPr>
          </a:p>
        </p:txBody>
      </p:sp>
      <p:sp>
        <p:nvSpPr>
          <p:cNvPr id="6" name="TextBox 5">
            <a:extLst>
              <a:ext uri="{FF2B5EF4-FFF2-40B4-BE49-F238E27FC236}">
                <a16:creationId xmlns:a16="http://schemas.microsoft.com/office/drawing/2014/main" id="{8D4497D7-4F69-F2C1-67ED-EF2E4AE69FCC}"/>
              </a:ext>
            </a:extLst>
          </p:cNvPr>
          <p:cNvSpPr txBox="1"/>
          <p:nvPr/>
        </p:nvSpPr>
        <p:spPr>
          <a:xfrm>
            <a:off x="990600" y="542597"/>
            <a:ext cx="6934200" cy="646331"/>
          </a:xfrm>
          <a:prstGeom prst="rect">
            <a:avLst/>
          </a:prstGeom>
          <a:noFill/>
        </p:spPr>
        <p:txBody>
          <a:bodyPr wrap="square" rtlCol="0">
            <a:spAutoFit/>
          </a:bodyPr>
          <a:lstStyle/>
          <a:p>
            <a:pPr algn="ctr"/>
            <a:r>
              <a:rPr lang="en-US" sz="3600" b="1" kern="0" dirty="0">
                <a:solidFill>
                  <a:srgbClr val="006600"/>
                </a:solidFill>
                <a:latin typeface="Arial"/>
                <a:ea typeface="+mj-ea"/>
                <a:cs typeface="+mj-cs"/>
              </a:rPr>
              <a:t> Characteristics of Objectives</a:t>
            </a:r>
            <a:endParaRPr lang="en-US" dirty="0"/>
          </a:p>
        </p:txBody>
      </p:sp>
    </p:spTree>
    <p:extLst>
      <p:ext uri="{BB962C8B-B14F-4D97-AF65-F5344CB8AC3E}">
        <p14:creationId xmlns:p14="http://schemas.microsoft.com/office/powerpoint/2010/main" val="186577374"/>
      </p:ext>
    </p:extLst>
  </p:cSld>
  <p:clrMapOvr>
    <a:masterClrMapping/>
  </p:clrMapOvr>
  <p:transition spd="med">
    <p:strips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D2E7D-1EF5-EC63-DD0A-573750AA6F44}"/>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16F33A87-A258-BF7B-AA3E-7C18F7E56CB0}"/>
              </a:ext>
            </a:extLst>
          </p:cNvPr>
          <p:cNvSpPr>
            <a:spLocks noGrp="1"/>
          </p:cNvSpPr>
          <p:nvPr>
            <p:ph type="sldNum" sz="quarter" idx="12"/>
          </p:nvPr>
        </p:nvSpPr>
        <p:spPr/>
        <p:txBody>
          <a:bodyPr/>
          <a:lstStyle/>
          <a:p>
            <a:pPr>
              <a:defRPr/>
            </a:pPr>
            <a:fld id="{A2D3D8D9-6AFB-42AC-9AC6-B670F679F797}" type="slidenum">
              <a:rPr lang="en-US" smtClean="0"/>
              <a:pPr>
                <a:defRPr/>
              </a:pPr>
              <a:t>28</a:t>
            </a:fld>
            <a:endParaRPr lang="en-US" dirty="0"/>
          </a:p>
        </p:txBody>
      </p:sp>
      <p:pic>
        <p:nvPicPr>
          <p:cNvPr id="5" name="Picture 5" descr="gra25154_ex0203">
            <a:extLst>
              <a:ext uri="{FF2B5EF4-FFF2-40B4-BE49-F238E27FC236}">
                <a16:creationId xmlns:a16="http://schemas.microsoft.com/office/drawing/2014/main" id="{192D3489-A139-4C9A-EBE4-908AE1EC0411}"/>
              </a:ext>
            </a:extLst>
          </p:cNvPr>
          <p:cNvPicPr>
            <a:picLocks noGrp="1" noChangeAspect="1" noChangeArrowheads="1"/>
          </p:cNvPicPr>
          <p:nvPr>
            <p:ph idx="1"/>
          </p:nvPr>
        </p:nvPicPr>
        <p:blipFill>
          <a:blip r:embed="rId2"/>
          <a:srcRect t="14265"/>
          <a:stretch>
            <a:fillRect/>
          </a:stretch>
        </p:blipFill>
        <p:spPr bwMode="auto">
          <a:xfrm>
            <a:off x="0" y="0"/>
            <a:ext cx="9144000" cy="6858000"/>
          </a:xfrm>
          <a:prstGeom prst="rect">
            <a:avLst/>
          </a:prstGeom>
          <a:noFill/>
          <a:ln w="9525">
            <a:noFill/>
            <a:miter lim="800000"/>
            <a:headEnd/>
            <a:tailEnd/>
          </a:ln>
        </p:spPr>
      </p:pic>
    </p:spTree>
    <p:extLst>
      <p:ext uri="{BB962C8B-B14F-4D97-AF65-F5344CB8AC3E}">
        <p14:creationId xmlns:p14="http://schemas.microsoft.com/office/powerpoint/2010/main" val="2733816323"/>
      </p:ext>
    </p:extLst>
  </p:cSld>
  <p:clrMapOvr>
    <a:masterClrMapping/>
  </p:clrMapOvr>
  <p:transition spd="med">
    <p:strips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Nonfinancial Criteria</a:t>
            </a:r>
          </a:p>
        </p:txBody>
      </p:sp>
      <p:sp>
        <p:nvSpPr>
          <p:cNvPr id="17411" name="Rectangle 3"/>
          <p:cNvSpPr>
            <a:spLocks noGrp="1" noChangeArrowheads="1"/>
          </p:cNvSpPr>
          <p:nvPr>
            <p:ph type="body" idx="1"/>
          </p:nvPr>
        </p:nvSpPr>
        <p:spPr>
          <a:xfrm>
            <a:off x="457200" y="1143000"/>
            <a:ext cx="8229600" cy="5121275"/>
          </a:xfrm>
        </p:spPr>
        <p:txBody>
          <a:bodyPr/>
          <a:lstStyle/>
          <a:p>
            <a:pPr eaLnBrk="1" hangingPunct="1"/>
            <a:r>
              <a:rPr lang="en-US" sz="3000" dirty="0"/>
              <a:t>To capture larger market share</a:t>
            </a:r>
          </a:p>
          <a:p>
            <a:pPr eaLnBrk="1" hangingPunct="1"/>
            <a:r>
              <a:rPr lang="en-US" sz="3000" dirty="0"/>
              <a:t>To make it difficult for competitors to enter the market</a:t>
            </a:r>
          </a:p>
          <a:p>
            <a:pPr eaLnBrk="1" hangingPunct="1"/>
            <a:r>
              <a:rPr lang="en-US" sz="3000" dirty="0"/>
              <a:t>To develop an enabler product</a:t>
            </a:r>
          </a:p>
          <a:p>
            <a:pPr eaLnBrk="1" hangingPunct="1"/>
            <a:r>
              <a:rPr lang="en-US" sz="3000" dirty="0"/>
              <a:t>To develop core technology that will be used in next-generation products</a:t>
            </a:r>
          </a:p>
          <a:p>
            <a:pPr eaLnBrk="1" hangingPunct="1"/>
            <a:r>
              <a:rPr lang="en-US" sz="3000" dirty="0"/>
              <a:t>To reduce dependency on unreliable suppliers</a:t>
            </a:r>
          </a:p>
          <a:p>
            <a:pPr eaLnBrk="1" hangingPunct="1"/>
            <a:r>
              <a:rPr lang="en-US" sz="3000" dirty="0"/>
              <a:t>To prevent government intervention and regulation</a:t>
            </a:r>
          </a:p>
        </p:txBody>
      </p:sp>
      <p:sp>
        <p:nvSpPr>
          <p:cNvPr id="2" name="Rectangle 3">
            <a:extLst>
              <a:ext uri="{FF2B5EF4-FFF2-40B4-BE49-F238E27FC236}">
                <a16:creationId xmlns:a16="http://schemas.microsoft.com/office/drawing/2014/main" id="{890BFDD9-8F73-059C-00E3-220BB6EB8D74}"/>
              </a:ext>
            </a:extLst>
          </p:cNvPr>
          <p:cNvSpPr txBox="1">
            <a:spLocks noChangeArrowheads="1"/>
          </p:cNvSpPr>
          <p:nvPr/>
        </p:nvSpPr>
        <p:spPr bwMode="auto">
          <a:xfrm>
            <a:off x="609600" y="1295400"/>
            <a:ext cx="8229600" cy="5121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400" b="1">
                <a:solidFill>
                  <a:schemeClr val="tx1"/>
                </a:solidFill>
                <a:latin typeface="+mn-lt"/>
              </a:defRPr>
            </a:lvl4pPr>
            <a:lvl5pPr marL="2057400" indent="-228600" algn="l" rtl="0" eaLnBrk="0" fontAlgn="base" hangingPunct="0">
              <a:spcBef>
                <a:spcPct val="20000"/>
              </a:spcBef>
              <a:spcAft>
                <a:spcPct val="0"/>
              </a:spcAft>
              <a:buChar char="»"/>
              <a:defRPr sz="2400" b="1">
                <a:solidFill>
                  <a:schemeClr val="tx1"/>
                </a:solidFill>
                <a:latin typeface="+mn-lt"/>
              </a:defRPr>
            </a:lvl5pPr>
            <a:lvl6pPr marL="2514600" indent="-228600" algn="l" rtl="0" fontAlgn="base">
              <a:spcBef>
                <a:spcPct val="20000"/>
              </a:spcBef>
              <a:spcAft>
                <a:spcPct val="0"/>
              </a:spcAft>
              <a:buChar char="»"/>
              <a:defRPr sz="2400" b="1">
                <a:solidFill>
                  <a:schemeClr val="tx1"/>
                </a:solidFill>
                <a:latin typeface="+mn-lt"/>
              </a:defRPr>
            </a:lvl6pPr>
            <a:lvl7pPr marL="2971800" indent="-228600" algn="l" rtl="0" fontAlgn="base">
              <a:spcBef>
                <a:spcPct val="20000"/>
              </a:spcBef>
              <a:spcAft>
                <a:spcPct val="0"/>
              </a:spcAft>
              <a:buChar char="»"/>
              <a:defRPr sz="2400" b="1">
                <a:solidFill>
                  <a:schemeClr val="tx1"/>
                </a:solidFill>
                <a:latin typeface="+mn-lt"/>
              </a:defRPr>
            </a:lvl7pPr>
            <a:lvl8pPr marL="3429000" indent="-228600" algn="l" rtl="0" fontAlgn="base">
              <a:spcBef>
                <a:spcPct val="20000"/>
              </a:spcBef>
              <a:spcAft>
                <a:spcPct val="0"/>
              </a:spcAft>
              <a:buChar char="»"/>
              <a:defRPr sz="2400" b="1">
                <a:solidFill>
                  <a:schemeClr val="tx1"/>
                </a:solidFill>
                <a:latin typeface="+mn-lt"/>
              </a:defRPr>
            </a:lvl8pPr>
            <a:lvl9pPr marL="3886200" indent="-228600" algn="l" rtl="0" fontAlgn="base">
              <a:spcBef>
                <a:spcPct val="20000"/>
              </a:spcBef>
              <a:spcAft>
                <a:spcPct val="0"/>
              </a:spcAft>
              <a:buChar char="»"/>
              <a:defRPr sz="2400" b="1">
                <a:solidFill>
                  <a:schemeClr val="tx1"/>
                </a:solidFill>
                <a:latin typeface="+mn-lt"/>
              </a:defRPr>
            </a:lvl9pPr>
          </a:lstStyle>
          <a:p>
            <a:pPr eaLnBrk="1" hangingPunct="1"/>
            <a:r>
              <a:rPr lang="en-US" sz="3000" kern="0">
                <a:solidFill>
                  <a:srgbClr val="FF0000"/>
                </a:solidFill>
              </a:rPr>
              <a:t>To capture larger market share</a:t>
            </a:r>
          </a:p>
          <a:p>
            <a:pPr eaLnBrk="1" hangingPunct="1"/>
            <a:r>
              <a:rPr lang="en-US" sz="3000" kern="0">
                <a:solidFill>
                  <a:srgbClr val="FF0000"/>
                </a:solidFill>
              </a:rPr>
              <a:t>To make it difficult for competitors to enter the market</a:t>
            </a:r>
          </a:p>
          <a:p>
            <a:pPr eaLnBrk="1" hangingPunct="1"/>
            <a:r>
              <a:rPr lang="en-US" sz="3000" kern="0">
                <a:solidFill>
                  <a:srgbClr val="FF0000"/>
                </a:solidFill>
              </a:rPr>
              <a:t>To develop an enabler product</a:t>
            </a:r>
          </a:p>
          <a:p>
            <a:pPr eaLnBrk="1" hangingPunct="1"/>
            <a:r>
              <a:rPr lang="en-US" sz="3000" kern="0">
                <a:solidFill>
                  <a:srgbClr val="FF0000"/>
                </a:solidFill>
              </a:rPr>
              <a:t>To develop core technology that will be used in next-generation products</a:t>
            </a:r>
          </a:p>
          <a:p>
            <a:pPr eaLnBrk="1" hangingPunct="1"/>
            <a:r>
              <a:rPr lang="en-US" sz="3000" kern="0">
                <a:solidFill>
                  <a:srgbClr val="FF0000"/>
                </a:solidFill>
              </a:rPr>
              <a:t>To reduce dependency on unreliable suppliers</a:t>
            </a:r>
          </a:p>
          <a:p>
            <a:pPr eaLnBrk="1" hangingPunct="1"/>
            <a:r>
              <a:rPr lang="en-US" sz="3000" kern="0">
                <a:solidFill>
                  <a:srgbClr val="FF0000"/>
                </a:solidFill>
              </a:rPr>
              <a:t>To prevent government intervention and regulation</a:t>
            </a:r>
            <a:endParaRPr lang="en-US" sz="3000" kern="0" dirty="0">
              <a:solidFill>
                <a:srgbClr val="FF0000"/>
              </a:solidFill>
            </a:endParaRPr>
          </a:p>
        </p:txBody>
      </p:sp>
    </p:spTree>
  </p:cSld>
  <p:clrMapOvr>
    <a:masterClrMapping/>
  </p:clrMapOvr>
  <p:transition spd="med">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CB277-D21D-19BD-089C-31361DA81F74}"/>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4FCE334A-1B20-2D0D-AD12-2F3D0A2CC266}"/>
              </a:ext>
            </a:extLst>
          </p:cNvPr>
          <p:cNvSpPr>
            <a:spLocks noGrp="1"/>
          </p:cNvSpPr>
          <p:nvPr>
            <p:ph type="sldNum" sz="quarter" idx="12"/>
          </p:nvPr>
        </p:nvSpPr>
        <p:spPr/>
        <p:txBody>
          <a:bodyPr/>
          <a:lstStyle/>
          <a:p>
            <a:pPr>
              <a:defRPr/>
            </a:pPr>
            <a:fld id="{A2D3D8D9-6AFB-42AC-9AC6-B670F679F797}" type="slidenum">
              <a:rPr lang="en-US" smtClean="0"/>
              <a:pPr>
                <a:defRPr/>
              </a:pPr>
              <a:t>30</a:t>
            </a:fld>
            <a:endParaRPr lang="en-US" dirty="0"/>
          </a:p>
        </p:txBody>
      </p:sp>
      <p:sp>
        <p:nvSpPr>
          <p:cNvPr id="5" name="Rectangle 2">
            <a:extLst>
              <a:ext uri="{FF2B5EF4-FFF2-40B4-BE49-F238E27FC236}">
                <a16:creationId xmlns:a16="http://schemas.microsoft.com/office/drawing/2014/main" id="{0BEC6E45-A113-9776-8F5C-0DA2610FE9B6}"/>
              </a:ext>
            </a:extLst>
          </p:cNvPr>
          <p:cNvSpPr txBox="1">
            <a:spLocks noChangeArrowheads="1"/>
          </p:cNvSpPr>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charset="0"/>
              </a:defRPr>
            </a:lvl2pPr>
            <a:lvl3pPr algn="ctr" rtl="0" eaLnBrk="0" fontAlgn="base" hangingPunct="0">
              <a:spcBef>
                <a:spcPct val="0"/>
              </a:spcBef>
              <a:spcAft>
                <a:spcPct val="0"/>
              </a:spcAft>
              <a:defRPr sz="3600" b="1">
                <a:solidFill>
                  <a:schemeClr val="tx2"/>
                </a:solidFill>
                <a:latin typeface="Arial" charset="0"/>
              </a:defRPr>
            </a:lvl3pPr>
            <a:lvl4pPr algn="ctr" rtl="0" eaLnBrk="0" fontAlgn="base" hangingPunct="0">
              <a:spcBef>
                <a:spcPct val="0"/>
              </a:spcBef>
              <a:spcAft>
                <a:spcPct val="0"/>
              </a:spcAft>
              <a:defRPr sz="3600" b="1">
                <a:solidFill>
                  <a:schemeClr val="tx2"/>
                </a:solidFill>
                <a:latin typeface="Arial" charset="0"/>
              </a:defRPr>
            </a:lvl4pPr>
            <a:lvl5pPr algn="ctr" rtl="0" eaLnBrk="0" fontAlgn="base" hangingPunct="0">
              <a:spcBef>
                <a:spcPct val="0"/>
              </a:spcBef>
              <a:spcAft>
                <a:spcPct val="0"/>
              </a:spcAft>
              <a:defRPr sz="3600" b="1">
                <a:solidFill>
                  <a:schemeClr val="tx2"/>
                </a:solidFill>
                <a:latin typeface="Arial" charset="0"/>
              </a:defRPr>
            </a:lvl5pPr>
            <a:lvl6pPr marL="457200" algn="ctr" rtl="0" fontAlgn="base">
              <a:spcBef>
                <a:spcPct val="0"/>
              </a:spcBef>
              <a:spcAft>
                <a:spcPct val="0"/>
              </a:spcAft>
              <a:defRPr sz="3200" b="1">
                <a:solidFill>
                  <a:schemeClr val="tx2"/>
                </a:solidFill>
                <a:latin typeface="Arial" charset="0"/>
              </a:defRPr>
            </a:lvl6pPr>
            <a:lvl7pPr marL="914400" algn="ctr" rtl="0" fontAlgn="base">
              <a:spcBef>
                <a:spcPct val="0"/>
              </a:spcBef>
              <a:spcAft>
                <a:spcPct val="0"/>
              </a:spcAft>
              <a:defRPr sz="3200" b="1">
                <a:solidFill>
                  <a:schemeClr val="tx2"/>
                </a:solidFill>
                <a:latin typeface="Arial" charset="0"/>
              </a:defRPr>
            </a:lvl7pPr>
            <a:lvl8pPr marL="1371600" algn="ctr" rtl="0" fontAlgn="base">
              <a:spcBef>
                <a:spcPct val="0"/>
              </a:spcBef>
              <a:spcAft>
                <a:spcPct val="0"/>
              </a:spcAft>
              <a:defRPr sz="3200" b="1">
                <a:solidFill>
                  <a:schemeClr val="tx2"/>
                </a:solidFill>
                <a:latin typeface="Arial" charset="0"/>
              </a:defRPr>
            </a:lvl8pPr>
            <a:lvl9pPr marL="1828800" algn="ctr" rtl="0" fontAlgn="base">
              <a:spcBef>
                <a:spcPct val="0"/>
              </a:spcBef>
              <a:spcAft>
                <a:spcPct val="0"/>
              </a:spcAft>
              <a:defRPr sz="3200" b="1">
                <a:solidFill>
                  <a:schemeClr val="tx2"/>
                </a:solidFill>
                <a:latin typeface="Arial" charset="0"/>
              </a:defRPr>
            </a:lvl9pPr>
          </a:lstStyle>
          <a:p>
            <a:pPr eaLnBrk="1" hangingPunct="1"/>
            <a:r>
              <a:rPr lang="en-US" kern="0">
                <a:solidFill>
                  <a:srgbClr val="FF0000"/>
                </a:solidFill>
              </a:rPr>
              <a:t>Key Checklist for Selection Model</a:t>
            </a:r>
            <a:endParaRPr lang="en-US" kern="0" dirty="0">
              <a:solidFill>
                <a:srgbClr val="FF0000"/>
              </a:solidFill>
            </a:endParaRPr>
          </a:p>
        </p:txBody>
      </p:sp>
      <p:sp>
        <p:nvSpPr>
          <p:cNvPr id="6" name="Rectangle 128">
            <a:extLst>
              <a:ext uri="{FF2B5EF4-FFF2-40B4-BE49-F238E27FC236}">
                <a16:creationId xmlns:a16="http://schemas.microsoft.com/office/drawing/2014/main" id="{B6865489-6FCF-4AEE-88C2-075D05FADB30}"/>
              </a:ext>
            </a:extLst>
          </p:cNvPr>
          <p:cNvSpPr txBox="1">
            <a:spLocks noChangeArrowheads="1"/>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400" b="1">
                <a:solidFill>
                  <a:schemeClr val="tx1"/>
                </a:solidFill>
                <a:latin typeface="+mn-lt"/>
              </a:defRPr>
            </a:lvl4pPr>
            <a:lvl5pPr marL="2057400" indent="-228600" algn="l" rtl="0" eaLnBrk="0" fontAlgn="base" hangingPunct="0">
              <a:spcBef>
                <a:spcPct val="20000"/>
              </a:spcBef>
              <a:spcAft>
                <a:spcPct val="0"/>
              </a:spcAft>
              <a:buChar char="»"/>
              <a:defRPr sz="2400" b="1">
                <a:solidFill>
                  <a:schemeClr val="tx1"/>
                </a:solidFill>
                <a:latin typeface="+mn-lt"/>
              </a:defRPr>
            </a:lvl5pPr>
            <a:lvl6pPr marL="2514600" indent="-228600" algn="l" rtl="0" fontAlgn="base">
              <a:spcBef>
                <a:spcPct val="20000"/>
              </a:spcBef>
              <a:spcAft>
                <a:spcPct val="0"/>
              </a:spcAft>
              <a:buChar char="»"/>
              <a:defRPr sz="2400" b="1">
                <a:solidFill>
                  <a:schemeClr val="tx1"/>
                </a:solidFill>
                <a:latin typeface="+mn-lt"/>
              </a:defRPr>
            </a:lvl6pPr>
            <a:lvl7pPr marL="2971800" indent="-228600" algn="l" rtl="0" fontAlgn="base">
              <a:spcBef>
                <a:spcPct val="20000"/>
              </a:spcBef>
              <a:spcAft>
                <a:spcPct val="0"/>
              </a:spcAft>
              <a:buChar char="»"/>
              <a:defRPr sz="2400" b="1">
                <a:solidFill>
                  <a:schemeClr val="tx1"/>
                </a:solidFill>
                <a:latin typeface="+mn-lt"/>
              </a:defRPr>
            </a:lvl7pPr>
            <a:lvl8pPr marL="3429000" indent="-228600" algn="l" rtl="0" fontAlgn="base">
              <a:spcBef>
                <a:spcPct val="20000"/>
              </a:spcBef>
              <a:spcAft>
                <a:spcPct val="0"/>
              </a:spcAft>
              <a:buChar char="»"/>
              <a:defRPr sz="2400" b="1">
                <a:solidFill>
                  <a:schemeClr val="tx1"/>
                </a:solidFill>
                <a:latin typeface="+mn-lt"/>
              </a:defRPr>
            </a:lvl8pPr>
            <a:lvl9pPr marL="3886200" indent="-228600" algn="l" rtl="0" fontAlgn="base">
              <a:spcBef>
                <a:spcPct val="20000"/>
              </a:spcBef>
              <a:spcAft>
                <a:spcPct val="0"/>
              </a:spcAft>
              <a:buChar char="»"/>
              <a:defRPr sz="2400" b="1">
                <a:solidFill>
                  <a:schemeClr val="tx1"/>
                </a:solidFill>
                <a:latin typeface="+mn-lt"/>
              </a:defRPr>
            </a:lvl9pPr>
          </a:lstStyle>
          <a:p>
            <a:pPr eaLnBrk="1" hangingPunct="1">
              <a:lnSpc>
                <a:spcPct val="90000"/>
              </a:lnSpc>
            </a:pPr>
            <a:r>
              <a:rPr lang="en-US" sz="2000" kern="0">
                <a:solidFill>
                  <a:srgbClr val="FF0000"/>
                </a:solidFill>
              </a:rPr>
              <a:t>Strategy alignment:     What specific organization does this project align with?</a:t>
            </a:r>
          </a:p>
          <a:p>
            <a:pPr eaLnBrk="1" hangingPunct="1">
              <a:lnSpc>
                <a:spcPct val="90000"/>
              </a:lnSpc>
            </a:pPr>
            <a:r>
              <a:rPr lang="en-US" sz="2000" kern="0">
                <a:solidFill>
                  <a:srgbClr val="FF0000"/>
                </a:solidFill>
              </a:rPr>
              <a:t>Driver:     What business problem does the project solve?</a:t>
            </a:r>
          </a:p>
          <a:p>
            <a:pPr eaLnBrk="1" hangingPunct="1">
              <a:lnSpc>
                <a:spcPct val="90000"/>
              </a:lnSpc>
            </a:pPr>
            <a:r>
              <a:rPr lang="en-US" sz="2000" kern="0">
                <a:solidFill>
                  <a:srgbClr val="FF0000"/>
                </a:solidFill>
              </a:rPr>
              <a:t>Success metrics:     How will we measure success?</a:t>
            </a:r>
          </a:p>
          <a:p>
            <a:pPr eaLnBrk="1" hangingPunct="1">
              <a:lnSpc>
                <a:spcPct val="90000"/>
              </a:lnSpc>
            </a:pPr>
            <a:r>
              <a:rPr lang="en-US" sz="2000" kern="0">
                <a:solidFill>
                  <a:srgbClr val="FF0000"/>
                </a:solidFill>
              </a:rPr>
              <a:t>Sponsorship:     Who is the project sponsor?</a:t>
            </a:r>
          </a:p>
          <a:p>
            <a:pPr eaLnBrk="1" hangingPunct="1">
              <a:lnSpc>
                <a:spcPct val="90000"/>
              </a:lnSpc>
            </a:pPr>
            <a:r>
              <a:rPr lang="en-US" sz="2000" kern="0">
                <a:solidFill>
                  <a:srgbClr val="FF0000"/>
                </a:solidFill>
              </a:rPr>
              <a:t>Risk:  What is the impact of not doing this project and  What is the project risk to our organization?  </a:t>
            </a:r>
          </a:p>
          <a:p>
            <a:pPr eaLnBrk="1" hangingPunct="1">
              <a:lnSpc>
                <a:spcPct val="90000"/>
              </a:lnSpc>
            </a:pPr>
            <a:r>
              <a:rPr lang="en-US" sz="2000" kern="0">
                <a:solidFill>
                  <a:srgbClr val="FF0000"/>
                </a:solidFill>
              </a:rPr>
              <a:t>Benefits:     What is the value of the project to this organization?</a:t>
            </a:r>
          </a:p>
          <a:p>
            <a:pPr eaLnBrk="1" hangingPunct="1">
              <a:lnSpc>
                <a:spcPct val="90000"/>
              </a:lnSpc>
            </a:pPr>
            <a:r>
              <a:rPr lang="en-US" sz="2000" kern="0">
                <a:solidFill>
                  <a:srgbClr val="FF0000"/>
                </a:solidFill>
              </a:rPr>
              <a:t>Organization culture:    Is our organization culture right for this type of project?   </a:t>
            </a:r>
          </a:p>
          <a:p>
            <a:pPr eaLnBrk="1" hangingPunct="1">
              <a:lnSpc>
                <a:spcPct val="90000"/>
              </a:lnSpc>
            </a:pPr>
            <a:r>
              <a:rPr lang="en-US" sz="2000" kern="0">
                <a:solidFill>
                  <a:srgbClr val="FF0000"/>
                </a:solidFill>
              </a:rPr>
              <a:t>Approach:     Will we build or buy?</a:t>
            </a:r>
          </a:p>
          <a:p>
            <a:pPr eaLnBrk="1" hangingPunct="1">
              <a:lnSpc>
                <a:spcPct val="90000"/>
              </a:lnSpc>
            </a:pPr>
            <a:r>
              <a:rPr lang="en-US" sz="2000" kern="0">
                <a:solidFill>
                  <a:srgbClr val="FF0000"/>
                </a:solidFill>
              </a:rPr>
              <a:t>Training/resources:  Will staff training be required?</a:t>
            </a:r>
          </a:p>
          <a:p>
            <a:pPr eaLnBrk="1" hangingPunct="1">
              <a:lnSpc>
                <a:spcPct val="90000"/>
              </a:lnSpc>
            </a:pPr>
            <a:r>
              <a:rPr lang="en-US" sz="2000" kern="0">
                <a:solidFill>
                  <a:srgbClr val="FF0000"/>
                </a:solidFill>
              </a:rPr>
              <a:t>Finance:     What is estimated cost of the project?</a:t>
            </a:r>
          </a:p>
          <a:p>
            <a:pPr eaLnBrk="1" hangingPunct="1">
              <a:lnSpc>
                <a:spcPct val="90000"/>
              </a:lnSpc>
            </a:pPr>
            <a:r>
              <a:rPr lang="en-US" sz="2000" kern="0">
                <a:solidFill>
                  <a:srgbClr val="FF0000"/>
                </a:solidFill>
              </a:rPr>
              <a:t>Portfolio:  How does the project interact with current projects?</a:t>
            </a:r>
            <a:endParaRPr lang="en-US" sz="2000" kern="0" dirty="0">
              <a:solidFill>
                <a:srgbClr val="FF0000"/>
              </a:solidFill>
            </a:endParaRPr>
          </a:p>
        </p:txBody>
      </p:sp>
    </p:spTree>
    <p:extLst>
      <p:ext uri="{BB962C8B-B14F-4D97-AF65-F5344CB8AC3E}">
        <p14:creationId xmlns:p14="http://schemas.microsoft.com/office/powerpoint/2010/main" val="2249925810"/>
      </p:ext>
    </p:extLst>
  </p:cSld>
  <p:clrMapOvr>
    <a:masterClrMapping/>
  </p:clrMapOvr>
  <p:transition spd="med">
    <p:strips dir="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AutoShape 2">
            <a:extLst>
              <a:ext uri="{FF2B5EF4-FFF2-40B4-BE49-F238E27FC236}">
                <a16:creationId xmlns:a16="http://schemas.microsoft.com/office/drawing/2014/main" id="{DE1EF505-7038-6314-DD15-2852AC940006}"/>
              </a:ext>
            </a:extLst>
          </p:cNvPr>
          <p:cNvSpPr>
            <a:spLocks noGrp="1" noChangeArrowheads="1"/>
          </p:cNvSpPr>
          <p:nvPr>
            <p:ph type="title"/>
          </p:nvPr>
        </p:nvSpPr>
        <p:spPr/>
        <p:txBody>
          <a:bodyPr/>
          <a:lstStyle/>
          <a:p>
            <a:pPr eaLnBrk="1" hangingPunct="1">
              <a:defRPr/>
            </a:pPr>
            <a:r>
              <a:rPr lang="en-US"/>
              <a:t>Types of Costs</a:t>
            </a:r>
          </a:p>
        </p:txBody>
      </p:sp>
      <p:sp>
        <p:nvSpPr>
          <p:cNvPr id="25603" name="Rectangle 3">
            <a:extLst>
              <a:ext uri="{FF2B5EF4-FFF2-40B4-BE49-F238E27FC236}">
                <a16:creationId xmlns:a16="http://schemas.microsoft.com/office/drawing/2014/main" id="{D8A80424-CE02-41A2-BF8F-A97A8B5C8437}"/>
              </a:ext>
            </a:extLst>
          </p:cNvPr>
          <p:cNvSpPr>
            <a:spLocks noGrp="1" noChangeArrowheads="1"/>
          </p:cNvSpPr>
          <p:nvPr>
            <p:ph type="body" idx="1"/>
          </p:nvPr>
        </p:nvSpPr>
        <p:spPr/>
        <p:txBody>
          <a:bodyPr/>
          <a:lstStyle/>
          <a:p>
            <a:pPr eaLnBrk="1" hangingPunct="1"/>
            <a:r>
              <a:rPr lang="en-US" altLang="en-US" b="1" dirty="0">
                <a:solidFill>
                  <a:srgbClr val="FF0000"/>
                </a:solidFill>
              </a:rPr>
              <a:t>Direct Costs</a:t>
            </a:r>
          </a:p>
          <a:p>
            <a:pPr lvl="1" eaLnBrk="1" hangingPunct="1"/>
            <a:r>
              <a:rPr lang="en-US" altLang="en-US" dirty="0">
                <a:solidFill>
                  <a:srgbClr val="FF0000"/>
                </a:solidFill>
              </a:rPr>
              <a:t>Costs that are clearly chargeable to a specific work package.</a:t>
            </a:r>
          </a:p>
          <a:p>
            <a:pPr lvl="2" eaLnBrk="1" hangingPunct="1"/>
            <a:r>
              <a:rPr lang="en-US" altLang="en-US" dirty="0">
                <a:solidFill>
                  <a:srgbClr val="FF0000"/>
                </a:solidFill>
              </a:rPr>
              <a:t>Labor, materials, equipment, and other</a:t>
            </a:r>
          </a:p>
          <a:p>
            <a:pPr eaLnBrk="1" hangingPunct="1"/>
            <a:r>
              <a:rPr lang="en-US" altLang="en-US" b="1" dirty="0">
                <a:solidFill>
                  <a:srgbClr val="FF0000"/>
                </a:solidFill>
              </a:rPr>
              <a:t>Direct</a:t>
            </a:r>
            <a:r>
              <a:rPr lang="en-US" altLang="en-US" dirty="0">
                <a:solidFill>
                  <a:srgbClr val="FF0000"/>
                </a:solidFill>
              </a:rPr>
              <a:t> (Project) </a:t>
            </a:r>
            <a:r>
              <a:rPr lang="en-US" altLang="en-US" b="1" dirty="0">
                <a:solidFill>
                  <a:srgbClr val="FF0000"/>
                </a:solidFill>
              </a:rPr>
              <a:t>Overhead Costs</a:t>
            </a:r>
          </a:p>
          <a:p>
            <a:pPr lvl="1" eaLnBrk="1" hangingPunct="1"/>
            <a:r>
              <a:rPr lang="en-US" altLang="en-US" dirty="0">
                <a:solidFill>
                  <a:srgbClr val="FF0000"/>
                </a:solidFill>
              </a:rPr>
              <a:t>Costs incurred that are directly tied to an identifiable project deliverable or work package.</a:t>
            </a:r>
          </a:p>
          <a:p>
            <a:pPr lvl="2" eaLnBrk="1" hangingPunct="1"/>
            <a:r>
              <a:rPr lang="en-US" altLang="en-US" dirty="0">
                <a:solidFill>
                  <a:srgbClr val="FF0000"/>
                </a:solidFill>
              </a:rPr>
              <a:t>Salary, rents, supplies, specialized machinery</a:t>
            </a:r>
          </a:p>
          <a:p>
            <a:pPr eaLnBrk="1" hangingPunct="1"/>
            <a:r>
              <a:rPr lang="en-US" altLang="en-US" b="1" dirty="0">
                <a:solidFill>
                  <a:srgbClr val="FF0000"/>
                </a:solidFill>
              </a:rPr>
              <a:t>General and Administrative Overhead Costs</a:t>
            </a:r>
          </a:p>
          <a:p>
            <a:pPr lvl="1" eaLnBrk="1" hangingPunct="1"/>
            <a:r>
              <a:rPr lang="en-US" altLang="en-US" dirty="0">
                <a:solidFill>
                  <a:srgbClr val="FF0000"/>
                </a:solidFill>
              </a:rPr>
              <a:t>Organization costs indirectly linked to a specific package that are apportioned to the project</a:t>
            </a:r>
          </a:p>
        </p:txBody>
      </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AutoShape 1026">
            <a:extLst>
              <a:ext uri="{FF2B5EF4-FFF2-40B4-BE49-F238E27FC236}">
                <a16:creationId xmlns:a16="http://schemas.microsoft.com/office/drawing/2014/main" id="{1646424B-916E-5C5C-2BE4-CBEA953AF3FC}"/>
              </a:ext>
            </a:extLst>
          </p:cNvPr>
          <p:cNvSpPr>
            <a:spLocks noGrp="1" noChangeArrowheads="1"/>
          </p:cNvSpPr>
          <p:nvPr>
            <p:ph type="title"/>
          </p:nvPr>
        </p:nvSpPr>
        <p:spPr/>
        <p:txBody>
          <a:bodyPr/>
          <a:lstStyle/>
          <a:p>
            <a:pPr eaLnBrk="1" hangingPunct="1">
              <a:defRPr/>
            </a:pPr>
            <a:r>
              <a:rPr lang="en-US"/>
              <a:t>Refining Estimates</a:t>
            </a:r>
          </a:p>
        </p:txBody>
      </p:sp>
      <p:sp>
        <p:nvSpPr>
          <p:cNvPr id="27651" name="Rectangle 1027">
            <a:extLst>
              <a:ext uri="{FF2B5EF4-FFF2-40B4-BE49-F238E27FC236}">
                <a16:creationId xmlns:a16="http://schemas.microsoft.com/office/drawing/2014/main" id="{DAD12AA4-61D9-816C-076B-9C9771CFA519}"/>
              </a:ext>
            </a:extLst>
          </p:cNvPr>
          <p:cNvSpPr>
            <a:spLocks noGrp="1" noChangeArrowheads="1"/>
          </p:cNvSpPr>
          <p:nvPr>
            <p:ph type="body" idx="1"/>
          </p:nvPr>
        </p:nvSpPr>
        <p:spPr/>
        <p:txBody>
          <a:bodyPr/>
          <a:lstStyle/>
          <a:p>
            <a:pPr eaLnBrk="1" hangingPunct="1"/>
            <a:r>
              <a:rPr lang="en-US" altLang="en-US" dirty="0">
                <a:solidFill>
                  <a:srgbClr val="FF0000"/>
                </a:solidFill>
              </a:rPr>
              <a:t>Reasons for Adjusting Estimates</a:t>
            </a:r>
          </a:p>
          <a:p>
            <a:pPr lvl="1" eaLnBrk="1" hangingPunct="1"/>
            <a:r>
              <a:rPr lang="en-US" altLang="en-US" dirty="0">
                <a:solidFill>
                  <a:srgbClr val="FF0000"/>
                </a:solidFill>
              </a:rPr>
              <a:t>Interaction costs are hidden in estimates.</a:t>
            </a:r>
          </a:p>
          <a:p>
            <a:pPr lvl="1" eaLnBrk="1" hangingPunct="1"/>
            <a:r>
              <a:rPr lang="en-US" altLang="en-US" dirty="0">
                <a:solidFill>
                  <a:srgbClr val="FF0000"/>
                </a:solidFill>
              </a:rPr>
              <a:t>Normal conditions do not apply.</a:t>
            </a:r>
          </a:p>
          <a:p>
            <a:pPr lvl="1" eaLnBrk="1" hangingPunct="1"/>
            <a:r>
              <a:rPr lang="en-US" altLang="en-US" dirty="0">
                <a:solidFill>
                  <a:srgbClr val="FF0000"/>
                </a:solidFill>
              </a:rPr>
              <a:t>Things go wrong on projects.</a:t>
            </a:r>
          </a:p>
          <a:p>
            <a:pPr lvl="1" eaLnBrk="1" hangingPunct="1"/>
            <a:r>
              <a:rPr lang="en-US" altLang="en-US" dirty="0">
                <a:solidFill>
                  <a:srgbClr val="FF0000"/>
                </a:solidFill>
              </a:rPr>
              <a:t>Changes in project scope and plans.</a:t>
            </a:r>
          </a:p>
          <a:p>
            <a:pPr eaLnBrk="1" hangingPunct="1"/>
            <a:r>
              <a:rPr lang="en-US" altLang="en-US" dirty="0">
                <a:solidFill>
                  <a:srgbClr val="FF0000"/>
                </a:solidFill>
              </a:rPr>
              <a:t>Adjusting Estimates</a:t>
            </a:r>
          </a:p>
          <a:p>
            <a:pPr lvl="1" eaLnBrk="1" hangingPunct="1"/>
            <a:r>
              <a:rPr lang="en-US" altLang="en-US" dirty="0">
                <a:solidFill>
                  <a:srgbClr val="FF0000"/>
                </a:solidFill>
              </a:rPr>
              <a:t>Time and cost estimates of specific activities are adjusted as the risks, resources, and situation particulars become more clearly defined.</a:t>
            </a:r>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AutoShape 4">
            <a:extLst>
              <a:ext uri="{FF2B5EF4-FFF2-40B4-BE49-F238E27FC236}">
                <a16:creationId xmlns:a16="http://schemas.microsoft.com/office/drawing/2014/main" id="{FE48E1AF-0BA5-5551-E1FB-A24E4B916FB6}"/>
              </a:ext>
            </a:extLst>
          </p:cNvPr>
          <p:cNvSpPr>
            <a:spLocks noGrp="1" noChangeArrowheads="1"/>
          </p:cNvSpPr>
          <p:nvPr>
            <p:ph type="title"/>
          </p:nvPr>
        </p:nvSpPr>
        <p:spPr/>
        <p:txBody>
          <a:bodyPr/>
          <a:lstStyle/>
          <a:p>
            <a:pPr eaLnBrk="1" hangingPunct="1">
              <a:defRPr/>
            </a:pPr>
            <a:r>
              <a:rPr lang="en-US"/>
              <a:t>Refining Estimates (cont’d)</a:t>
            </a:r>
          </a:p>
        </p:txBody>
      </p:sp>
      <p:sp>
        <p:nvSpPr>
          <p:cNvPr id="28675" name="Rectangle 5">
            <a:extLst>
              <a:ext uri="{FF2B5EF4-FFF2-40B4-BE49-F238E27FC236}">
                <a16:creationId xmlns:a16="http://schemas.microsoft.com/office/drawing/2014/main" id="{6CF45BD2-A96E-97E5-5FDA-B4A7F12EC372}"/>
              </a:ext>
            </a:extLst>
          </p:cNvPr>
          <p:cNvSpPr>
            <a:spLocks noGrp="1" noChangeArrowheads="1"/>
          </p:cNvSpPr>
          <p:nvPr>
            <p:ph type="body" idx="1"/>
          </p:nvPr>
        </p:nvSpPr>
        <p:spPr/>
        <p:txBody>
          <a:bodyPr/>
          <a:lstStyle/>
          <a:p>
            <a:pPr eaLnBrk="1" hangingPunct="1"/>
            <a:r>
              <a:rPr lang="en-US" altLang="en-US">
                <a:solidFill>
                  <a:srgbClr val="FF0000"/>
                </a:solidFill>
              </a:rPr>
              <a:t>Contingency Funds and Time Buffers</a:t>
            </a:r>
          </a:p>
          <a:p>
            <a:pPr lvl="1" eaLnBrk="1" hangingPunct="1"/>
            <a:r>
              <a:rPr lang="en-US" altLang="en-US">
                <a:solidFill>
                  <a:srgbClr val="FF0000"/>
                </a:solidFill>
              </a:rPr>
              <a:t>Are created independently to offset uncertainty.</a:t>
            </a:r>
          </a:p>
          <a:p>
            <a:pPr lvl="1" eaLnBrk="1" hangingPunct="1"/>
            <a:r>
              <a:rPr lang="en-US" altLang="en-US">
                <a:solidFill>
                  <a:srgbClr val="FF0000"/>
                </a:solidFill>
              </a:rPr>
              <a:t>Reduce the likelihood of cost and completion time overruns for a project.</a:t>
            </a:r>
          </a:p>
          <a:p>
            <a:pPr lvl="1" eaLnBrk="1" hangingPunct="1"/>
            <a:r>
              <a:rPr lang="en-US" altLang="en-US">
                <a:solidFill>
                  <a:srgbClr val="FF0000"/>
                </a:solidFill>
              </a:rPr>
              <a:t>Can be added to the overall project or to specific activities or work packages.</a:t>
            </a:r>
          </a:p>
          <a:p>
            <a:pPr lvl="1" eaLnBrk="1" hangingPunct="1"/>
            <a:r>
              <a:rPr lang="en-US" altLang="en-US">
                <a:solidFill>
                  <a:srgbClr val="FF0000"/>
                </a:solidFill>
              </a:rPr>
              <a:t>Can be determined from previous similar projects.</a:t>
            </a:r>
          </a:p>
          <a:p>
            <a:pPr eaLnBrk="1" hangingPunct="1"/>
            <a:r>
              <a:rPr lang="en-US" altLang="en-US">
                <a:solidFill>
                  <a:srgbClr val="FF0000"/>
                </a:solidFill>
              </a:rPr>
              <a:t>Changing Baseline Schedule and Budget</a:t>
            </a:r>
          </a:p>
          <a:p>
            <a:pPr lvl="1" eaLnBrk="1" hangingPunct="1"/>
            <a:r>
              <a:rPr lang="en-US" altLang="en-US">
                <a:solidFill>
                  <a:srgbClr val="FF0000"/>
                </a:solidFill>
              </a:rPr>
              <a:t>Unforeseen events may dictate a reformulation of the budget and schedule.</a:t>
            </a:r>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23" name="Picture 1031">
            <a:extLst>
              <a:ext uri="{FF2B5EF4-FFF2-40B4-BE49-F238E27FC236}">
                <a16:creationId xmlns:a16="http://schemas.microsoft.com/office/drawing/2014/main" id="{234F2B9D-9A99-FF8B-64A6-B68A40321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625" y="1325903"/>
            <a:ext cx="6507163" cy="490061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620" name="AutoShape 1028">
            <a:extLst>
              <a:ext uri="{FF2B5EF4-FFF2-40B4-BE49-F238E27FC236}">
                <a16:creationId xmlns:a16="http://schemas.microsoft.com/office/drawing/2014/main" id="{7A8975A5-4BB8-A128-C276-1F609125BFB3}"/>
              </a:ext>
            </a:extLst>
          </p:cNvPr>
          <p:cNvSpPr>
            <a:spLocks noGrp="1" noChangeArrowheads="1"/>
          </p:cNvSpPr>
          <p:nvPr>
            <p:ph type="title"/>
          </p:nvPr>
        </p:nvSpPr>
        <p:spPr/>
        <p:txBody>
          <a:bodyPr/>
          <a:lstStyle/>
          <a:p>
            <a:pPr eaLnBrk="1" hangingPunct="1">
              <a:defRPr/>
            </a:pPr>
            <a:r>
              <a:rPr lang="en-US" dirty="0"/>
              <a:t>Creating a Database for Estimating</a:t>
            </a:r>
          </a:p>
        </p:txBody>
      </p:sp>
      <p:sp>
        <p:nvSpPr>
          <p:cNvPr id="29700" name="Text Box 1030">
            <a:extLst>
              <a:ext uri="{FF2B5EF4-FFF2-40B4-BE49-F238E27FC236}">
                <a16:creationId xmlns:a16="http://schemas.microsoft.com/office/drawing/2014/main" id="{A7D9B659-A126-9F61-640E-59336828700F}"/>
              </a:ext>
            </a:extLst>
          </p:cNvPr>
          <p:cNvSpPr txBox="1">
            <a:spLocks noChangeArrowheads="1"/>
          </p:cNvSpPr>
          <p:nvPr/>
        </p:nvSpPr>
        <p:spPr bwMode="auto">
          <a:xfrm>
            <a:off x="5942013" y="4618038"/>
            <a:ext cx="2652712" cy="118745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rgbClr val="336699"/>
                </a:solidFill>
                <a:latin typeface="Arial" panose="020B0604020202020204" pitchFamily="34" charset="0"/>
              </a:defRPr>
            </a:lvl1pPr>
            <a:lvl2pPr marL="742950" indent="-285750">
              <a:spcBef>
                <a:spcPct val="20000"/>
              </a:spcBef>
              <a:buChar char="–"/>
              <a:defRPr sz="2400">
                <a:solidFill>
                  <a:srgbClr val="990033"/>
                </a:solidFill>
                <a:latin typeface="Arial" panose="020B0604020202020204" pitchFamily="34" charset="0"/>
              </a:defRPr>
            </a:lvl2pPr>
            <a:lvl3pPr marL="1143000" indent="-228600">
              <a:spcBef>
                <a:spcPct val="20000"/>
              </a:spcBef>
              <a:buChar char="•"/>
              <a:defRPr sz="2000">
                <a:solidFill>
                  <a:srgbClr val="006666"/>
                </a:solidFill>
                <a:latin typeface="Tahoma" panose="020B060403050404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400" b="1">
                <a:solidFill>
                  <a:schemeClr val="tx1"/>
                </a:solidFill>
              </a:rPr>
              <a:t>Estimating Database Templates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111623"/>
                                        </p:tgtEl>
                                        <p:attrNameLst>
                                          <p:attrName>style.visibility</p:attrName>
                                        </p:attrNameLst>
                                      </p:cBhvr>
                                      <p:to>
                                        <p:strVal val="visible"/>
                                      </p:to>
                                    </p:set>
                                    <p:animEffect transition="in" filter="box(in)">
                                      <p:cBhvr>
                                        <p:cTn id="7" dur="500"/>
                                        <p:tgtEl>
                                          <p:spTgt spid="111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7D44F-8E53-38A5-17FE-64F678829982}"/>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69EC89E-1947-25BC-F6A1-1879C22C756E}"/>
              </a:ext>
            </a:extLst>
          </p:cNvPr>
          <p:cNvSpPr>
            <a:spLocks noGrp="1"/>
          </p:cNvSpPr>
          <p:nvPr>
            <p:ph type="sldNum" sz="quarter" idx="12"/>
          </p:nvPr>
        </p:nvSpPr>
        <p:spPr/>
        <p:txBody>
          <a:bodyPr/>
          <a:lstStyle/>
          <a:p>
            <a:pPr>
              <a:defRPr/>
            </a:pPr>
            <a:fld id="{A2D3D8D9-6AFB-42AC-9AC6-B670F679F797}" type="slidenum">
              <a:rPr lang="en-US" smtClean="0"/>
              <a:pPr>
                <a:defRPr/>
              </a:pPr>
              <a:t>35</a:t>
            </a:fld>
            <a:endParaRPr lang="en-US" dirty="0"/>
          </a:p>
        </p:txBody>
      </p:sp>
      <p:pic>
        <p:nvPicPr>
          <p:cNvPr id="1026" name="Picture 2">
            <a:extLst>
              <a:ext uri="{FF2B5EF4-FFF2-40B4-BE49-F238E27FC236}">
                <a16:creationId xmlns:a16="http://schemas.microsoft.com/office/drawing/2014/main" id="{92BE3FAB-15F5-1406-4326-E00E8A63D2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564878"/>
            <a:ext cx="8839200" cy="5064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341746"/>
      </p:ext>
    </p:extLst>
  </p:cSld>
  <p:clrMapOvr>
    <a:masterClrMapping/>
  </p:clrMapOvr>
  <p:transition spd="med">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noChangeArrowheads="1"/>
          </p:cNvSpPr>
          <p:nvPr>
            <p:ph type="sldNum" sz="quarter" idx="11"/>
          </p:nvPr>
        </p:nvSpPr>
        <p:spPr>
          <a:xfrm>
            <a:off x="7239000" y="64008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cs typeface="Tahoma" pitchFamily="34" charset="0"/>
              </a:defRPr>
            </a:lvl1pPr>
            <a:lvl2pPr marL="742950" indent="-285750" eaLnBrk="0" hangingPunct="0">
              <a:defRPr sz="1000">
                <a:solidFill>
                  <a:schemeClr val="tx1"/>
                </a:solidFill>
                <a:latin typeface="Arial" charset="0"/>
                <a:cs typeface="Tahoma" pitchFamily="34" charset="0"/>
              </a:defRPr>
            </a:lvl2pPr>
            <a:lvl3pPr marL="1143000" indent="-228600" eaLnBrk="0" hangingPunct="0">
              <a:defRPr sz="1000">
                <a:solidFill>
                  <a:schemeClr val="tx1"/>
                </a:solidFill>
                <a:latin typeface="Arial" charset="0"/>
                <a:cs typeface="Tahoma" pitchFamily="34" charset="0"/>
              </a:defRPr>
            </a:lvl3pPr>
            <a:lvl4pPr marL="1600200" indent="-228600" eaLnBrk="0" hangingPunct="0">
              <a:defRPr sz="1000">
                <a:solidFill>
                  <a:schemeClr val="tx1"/>
                </a:solidFill>
                <a:latin typeface="Arial" charset="0"/>
                <a:cs typeface="Tahoma" pitchFamily="34" charset="0"/>
              </a:defRPr>
            </a:lvl4pPr>
            <a:lvl5pPr marL="2057400" indent="-228600" eaLnBrk="0" hangingPunct="0">
              <a:defRPr sz="1000">
                <a:solidFill>
                  <a:schemeClr val="tx1"/>
                </a:solidFill>
                <a:latin typeface="Arial" charset="0"/>
                <a:cs typeface="Tahoma" pitchFamily="34" charset="0"/>
              </a:defRPr>
            </a:lvl5pPr>
            <a:lvl6pPr marL="2514600" indent="-228600" eaLnBrk="0" fontAlgn="base" hangingPunct="0">
              <a:spcBef>
                <a:spcPct val="0"/>
              </a:spcBef>
              <a:spcAft>
                <a:spcPct val="0"/>
              </a:spcAft>
              <a:defRPr sz="1000">
                <a:solidFill>
                  <a:schemeClr val="tx1"/>
                </a:solidFill>
                <a:latin typeface="Arial" charset="0"/>
                <a:cs typeface="Tahoma" pitchFamily="34" charset="0"/>
              </a:defRPr>
            </a:lvl6pPr>
            <a:lvl7pPr marL="2971800" indent="-228600" eaLnBrk="0" fontAlgn="base" hangingPunct="0">
              <a:spcBef>
                <a:spcPct val="0"/>
              </a:spcBef>
              <a:spcAft>
                <a:spcPct val="0"/>
              </a:spcAft>
              <a:defRPr sz="1000">
                <a:solidFill>
                  <a:schemeClr val="tx1"/>
                </a:solidFill>
                <a:latin typeface="Arial" charset="0"/>
                <a:cs typeface="Tahoma" pitchFamily="34" charset="0"/>
              </a:defRPr>
            </a:lvl7pPr>
            <a:lvl8pPr marL="3429000" indent="-228600" eaLnBrk="0" fontAlgn="base" hangingPunct="0">
              <a:spcBef>
                <a:spcPct val="0"/>
              </a:spcBef>
              <a:spcAft>
                <a:spcPct val="0"/>
              </a:spcAft>
              <a:defRPr sz="1000">
                <a:solidFill>
                  <a:schemeClr val="tx1"/>
                </a:solidFill>
                <a:latin typeface="Arial" charset="0"/>
                <a:cs typeface="Tahoma" pitchFamily="34" charset="0"/>
              </a:defRPr>
            </a:lvl8pPr>
            <a:lvl9pPr marL="3886200" indent="-228600" eaLnBrk="0" fontAlgn="base" hangingPunct="0">
              <a:spcBef>
                <a:spcPct val="0"/>
              </a:spcBef>
              <a:spcAft>
                <a:spcPct val="0"/>
              </a:spcAft>
              <a:defRPr sz="1000">
                <a:solidFill>
                  <a:schemeClr val="tx1"/>
                </a:solidFill>
                <a:latin typeface="Arial" charset="0"/>
                <a:cs typeface="Tahoma" pitchFamily="34" charset="0"/>
              </a:defRPr>
            </a:lvl9pPr>
          </a:lstStyle>
          <a:p>
            <a:pPr eaLnBrk="1" hangingPunct="1"/>
            <a:fld id="{19205444-BD22-4E80-A6C9-10CD946C5814}" type="slidenum">
              <a:rPr lang="en-US" sz="900" smtClean="0">
                <a:cs typeface="Times New Roman" pitchFamily="18" charset="0"/>
              </a:rPr>
              <a:pPr eaLnBrk="1" hangingPunct="1"/>
              <a:t>36</a:t>
            </a:fld>
            <a:endParaRPr lang="en-US" sz="900">
              <a:cs typeface="Times New Roman" pitchFamily="18" charset="0"/>
            </a:endParaRPr>
          </a:p>
        </p:txBody>
      </p:sp>
      <p:sp>
        <p:nvSpPr>
          <p:cNvPr id="19459" name="Rectangle 3"/>
          <p:cNvSpPr>
            <a:spLocks noChangeArrowheads="1"/>
          </p:cNvSpPr>
          <p:nvPr/>
        </p:nvSpPr>
        <p:spPr bwMode="auto">
          <a:xfrm>
            <a:off x="228600" y="3119438"/>
            <a:ext cx="8686800"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lgn="ctr">
              <a:lnSpc>
                <a:spcPct val="150000"/>
              </a:lnSpc>
            </a:pPr>
            <a:r>
              <a:rPr lang="en-US" sz="3600" b="1">
                <a:solidFill>
                  <a:srgbClr val="0070C0"/>
                </a:solidFill>
                <a:ea typeface="Times New Roman" pitchFamily="18" charset="0"/>
                <a:cs typeface="Arial" charset="0"/>
              </a:rPr>
              <a:t>Thanks</a:t>
            </a:r>
          </a:p>
        </p:txBody>
      </p:sp>
      <p:pic>
        <p:nvPicPr>
          <p:cNvPr id="2" name="Picture 5">
            <a:extLst>
              <a:ext uri="{FF2B5EF4-FFF2-40B4-BE49-F238E27FC236}">
                <a16:creationId xmlns:a16="http://schemas.microsoft.com/office/drawing/2014/main" id="{372FE977-AA33-ED7B-7D7B-EB408DF79D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25" y="1600220"/>
            <a:ext cx="7589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53950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331AC-E919-5C0F-F9C1-794EB73240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1BAFFA-7A7A-C392-8932-43CC33ACBE9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64B3627-811E-553B-BC0A-BBFB9060A9F2}"/>
              </a:ext>
            </a:extLst>
          </p:cNvPr>
          <p:cNvSpPr>
            <a:spLocks noGrp="1"/>
          </p:cNvSpPr>
          <p:nvPr>
            <p:ph type="sldNum" sz="quarter" idx="12"/>
          </p:nvPr>
        </p:nvSpPr>
        <p:spPr/>
        <p:txBody>
          <a:bodyPr/>
          <a:lstStyle/>
          <a:p>
            <a:pPr>
              <a:defRPr/>
            </a:pPr>
            <a:fld id="{A2D3D8D9-6AFB-42AC-9AC6-B670F679F797}" type="slidenum">
              <a:rPr lang="en-US" smtClean="0"/>
              <a:pPr>
                <a:defRPr/>
              </a:pPr>
              <a:t>37</a:t>
            </a:fld>
            <a:endParaRPr lang="en-US" dirty="0"/>
          </a:p>
        </p:txBody>
      </p:sp>
    </p:spTree>
    <p:extLst>
      <p:ext uri="{BB962C8B-B14F-4D97-AF65-F5344CB8AC3E}">
        <p14:creationId xmlns:p14="http://schemas.microsoft.com/office/powerpoint/2010/main" val="3984052324"/>
      </p:ext>
    </p:extLst>
  </p:cSld>
  <p:clrMapOvr>
    <a:masterClrMapping/>
  </p:clrMapOvr>
  <p:transition spd="med">
    <p:strips dir="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E0E803B-35CD-8E59-41E9-8E2346A98A18}"/>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l="28000" t="26001" r="28000" b="32666"/>
          <a:stretch>
            <a:fillRect/>
          </a:stretch>
        </p:blipFill>
        <p:spPr>
          <a:xfrm>
            <a:off x="228600" y="228600"/>
            <a:ext cx="8686800" cy="6400800"/>
          </a:xfrm>
          <a:noFill/>
        </p:spPr>
      </p:pic>
    </p:spTree>
  </p:cSld>
  <p:clrMapOvr>
    <a:masterClrMapping/>
  </p:clrMapOvr>
  <p:transition>
    <p:cut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a:extLst>
              <a:ext uri="{FF2B5EF4-FFF2-40B4-BE49-F238E27FC236}">
                <a16:creationId xmlns:a16="http://schemas.microsoft.com/office/drawing/2014/main" id="{75480E27-56EE-906F-270D-2B59315FA7BE}"/>
              </a:ext>
            </a:extLst>
          </p:cNvPr>
          <p:cNvSpPr>
            <a:spLocks noGrp="1" noChangeArrowheads="1"/>
          </p:cNvSpPr>
          <p:nvPr>
            <p:ph type="title"/>
          </p:nvPr>
        </p:nvSpPr>
        <p:spPr>
          <a:xfrm>
            <a:off x="838200" y="1828800"/>
            <a:ext cx="7467600" cy="3200400"/>
          </a:xfrm>
        </p:spPr>
        <p:txBody>
          <a:bodyPr/>
          <a:lstStyle/>
          <a:p>
            <a:pPr algn="ctr" eaLnBrk="1" hangingPunct="1">
              <a:lnSpc>
                <a:spcPct val="120000"/>
              </a:lnSpc>
            </a:pPr>
            <a:r>
              <a:rPr lang="en-US" altLang="en-US" sz="4400" b="1"/>
              <a:t> DIVERSITY AND CULTURE</a:t>
            </a:r>
          </a:p>
        </p:txBody>
      </p:sp>
    </p:spTree>
  </p:cSld>
  <p:clrMapOvr>
    <a:masterClrMapping/>
  </p:clrMapOvr>
  <p:transition spd="med">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
            <a:extLst>
              <a:ext uri="{FF2B5EF4-FFF2-40B4-BE49-F238E27FC236}">
                <a16:creationId xmlns:a16="http://schemas.microsoft.com/office/drawing/2014/main" id="{0961F690-B490-4ECC-1FAF-E07B6ACA356B}"/>
              </a:ext>
            </a:extLst>
          </p:cNvPr>
          <p:cNvSpPr>
            <a:spLocks noGrp="1" noChangeArrowheads="1"/>
          </p:cNvSpPr>
          <p:nvPr>
            <p:ph type="title"/>
          </p:nvPr>
        </p:nvSpPr>
        <p:spPr>
          <a:xfrm>
            <a:off x="1371600" y="609600"/>
            <a:ext cx="6477000" cy="762000"/>
          </a:xfrm>
        </p:spPr>
        <p:txBody>
          <a:bodyPr/>
          <a:lstStyle/>
          <a:p>
            <a:pPr algn="ctr" eaLnBrk="1" hangingPunct="1"/>
            <a:r>
              <a:rPr lang="en-US" altLang="en-US" sz="3600" b="1"/>
              <a:t>What is Diversity?</a:t>
            </a:r>
          </a:p>
        </p:txBody>
      </p:sp>
      <p:sp>
        <p:nvSpPr>
          <p:cNvPr id="9219" name="Text Box 12">
            <a:extLst>
              <a:ext uri="{FF2B5EF4-FFF2-40B4-BE49-F238E27FC236}">
                <a16:creationId xmlns:a16="http://schemas.microsoft.com/office/drawing/2014/main" id="{4606B883-3DFC-4B52-5677-AC89E4584C02}"/>
              </a:ext>
            </a:extLst>
          </p:cNvPr>
          <p:cNvSpPr txBox="1">
            <a:spLocks noChangeArrowheads="1"/>
          </p:cNvSpPr>
          <p:nvPr/>
        </p:nvSpPr>
        <p:spPr bwMode="auto">
          <a:xfrm>
            <a:off x="609600" y="1636713"/>
            <a:ext cx="7924800" cy="449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lnSpc>
                <a:spcPct val="150000"/>
              </a:lnSpc>
              <a:spcBef>
                <a:spcPct val="50000"/>
              </a:spcBef>
              <a:buClrTx/>
              <a:buFontTx/>
              <a:buNone/>
            </a:pPr>
            <a:r>
              <a:rPr lang="en-US" altLang="en-US" sz="2600">
                <a:cs typeface="Arial" panose="020B0604020202020204" pitchFamily="34" charset="0"/>
              </a:rPr>
              <a:t>Diversity refers to the variety or multiplicity of demographic features that characterize a company’s workforce, particularly in terms of race, sex, culture, national origin, handicap, age and religion.</a:t>
            </a:r>
          </a:p>
          <a:p>
            <a:pPr algn="just" eaLnBrk="1" hangingPunct="1">
              <a:lnSpc>
                <a:spcPct val="150000"/>
              </a:lnSpc>
              <a:spcBef>
                <a:spcPct val="50000"/>
              </a:spcBef>
              <a:buClrTx/>
              <a:buFontTx/>
              <a:buNone/>
            </a:pPr>
            <a:r>
              <a:rPr lang="en-US" altLang="en-US" sz="2600">
                <a:cs typeface="Arial" panose="020B0604020202020204" pitchFamily="34" charset="0"/>
              </a:rPr>
              <a:t>Diversity leads to better performance and innovation provided it is well managed.</a:t>
            </a:r>
          </a:p>
        </p:txBody>
      </p:sp>
    </p:spTree>
  </p:cSld>
  <p:clrMapOvr>
    <a:masterClrMapping/>
  </p:clrMapOvr>
  <p:transition spd="med">
    <p:strips dir="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
            <a:extLst>
              <a:ext uri="{FF2B5EF4-FFF2-40B4-BE49-F238E27FC236}">
                <a16:creationId xmlns:a16="http://schemas.microsoft.com/office/drawing/2014/main" id="{CAACD0F2-F71E-E2C4-2E71-AB9833BBDDC8}"/>
              </a:ext>
            </a:extLst>
          </p:cNvPr>
          <p:cNvSpPr>
            <a:spLocks noGrp="1" noChangeArrowheads="1"/>
          </p:cNvSpPr>
          <p:nvPr>
            <p:ph type="title"/>
          </p:nvPr>
        </p:nvSpPr>
        <p:spPr>
          <a:xfrm>
            <a:off x="1371600" y="609600"/>
            <a:ext cx="6477000" cy="762000"/>
          </a:xfrm>
        </p:spPr>
        <p:txBody>
          <a:bodyPr/>
          <a:lstStyle/>
          <a:p>
            <a:pPr algn="ctr" eaLnBrk="1" hangingPunct="1"/>
            <a:r>
              <a:rPr lang="en-US" altLang="en-US" sz="3600" b="1"/>
              <a:t>Levels of Diversity</a:t>
            </a:r>
          </a:p>
        </p:txBody>
      </p:sp>
      <p:sp>
        <p:nvSpPr>
          <p:cNvPr id="5123" name="Text Box 12">
            <a:extLst>
              <a:ext uri="{FF2B5EF4-FFF2-40B4-BE49-F238E27FC236}">
                <a16:creationId xmlns:a16="http://schemas.microsoft.com/office/drawing/2014/main" id="{9A5D8AD6-CA12-C543-7DAC-E375D0EE4643}"/>
              </a:ext>
            </a:extLst>
          </p:cNvPr>
          <p:cNvSpPr txBox="1">
            <a:spLocks noChangeArrowheads="1"/>
          </p:cNvSpPr>
          <p:nvPr/>
        </p:nvSpPr>
        <p:spPr bwMode="auto">
          <a:xfrm>
            <a:off x="609600" y="1636713"/>
            <a:ext cx="7924800"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marL="342900" indent="-342900" algn="just" eaLnBrk="1" hangingPunct="1">
              <a:spcBef>
                <a:spcPct val="50000"/>
              </a:spcBef>
              <a:buFont typeface="Arial" pitchFamily="34" charset="0"/>
              <a:buChar char="•"/>
              <a:defRPr/>
            </a:pPr>
            <a:r>
              <a:rPr lang="en-US" sz="2400" u="sng" dirty="0">
                <a:solidFill>
                  <a:srgbClr val="FF0000"/>
                </a:solidFill>
                <a:cs typeface="Arial" charset="0"/>
              </a:rPr>
              <a:t>Surface-levels Diversity.</a:t>
            </a:r>
            <a:r>
              <a:rPr lang="en-US" sz="2400" dirty="0">
                <a:solidFill>
                  <a:srgbClr val="FF0000"/>
                </a:solidFill>
                <a:cs typeface="Arial" charset="0"/>
              </a:rPr>
              <a:t> Differences in easily perceived characteristics, such as gender, race, ethnicity, age, disability etc. that do not necessarily reflect the ways people think or feel but may activate certain stereotypes.</a:t>
            </a:r>
          </a:p>
          <a:p>
            <a:pPr algn="just" eaLnBrk="1" hangingPunct="1">
              <a:spcBef>
                <a:spcPct val="50000"/>
              </a:spcBef>
              <a:buFont typeface="Arial" charset="0"/>
              <a:buChar char="•"/>
              <a:defRPr/>
            </a:pPr>
            <a:endParaRPr lang="en-US" sz="800" u="sng" dirty="0">
              <a:solidFill>
                <a:srgbClr val="FF0000"/>
              </a:solidFill>
              <a:cs typeface="Arial" charset="0"/>
            </a:endParaRPr>
          </a:p>
          <a:p>
            <a:pPr marL="342900" indent="-342900" algn="just" eaLnBrk="1" hangingPunct="1">
              <a:spcBef>
                <a:spcPct val="50000"/>
              </a:spcBef>
              <a:buFont typeface="Arial" charset="0"/>
              <a:buChar char="•"/>
              <a:defRPr/>
            </a:pPr>
            <a:r>
              <a:rPr lang="en-US" sz="2400" u="sng" dirty="0">
                <a:solidFill>
                  <a:srgbClr val="FF0000"/>
                </a:solidFill>
                <a:cs typeface="Arial" charset="0"/>
              </a:rPr>
              <a:t>Deep-levels Diversity.</a:t>
            </a:r>
            <a:r>
              <a:rPr lang="en-US" sz="2400" dirty="0">
                <a:solidFill>
                  <a:srgbClr val="FF0000"/>
                </a:solidFill>
                <a:cs typeface="Arial" charset="0"/>
              </a:rPr>
              <a:t> Differences in values, personality and work preferences that become progressively more important for determining similarity as people get to know one another better.</a:t>
            </a:r>
            <a:endParaRPr lang="en-US" sz="2400" u="sng" dirty="0">
              <a:solidFill>
                <a:srgbClr val="FF0000"/>
              </a:solidFill>
              <a:cs typeface="Arial" charset="0"/>
            </a:endParaRPr>
          </a:p>
        </p:txBody>
      </p:sp>
    </p:spTree>
  </p:cSld>
  <p:clrMapOvr>
    <a:masterClrMapping/>
  </p:clrMapOvr>
  <p:transition spd="med">
    <p:strips dir="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
            <a:extLst>
              <a:ext uri="{FF2B5EF4-FFF2-40B4-BE49-F238E27FC236}">
                <a16:creationId xmlns:a16="http://schemas.microsoft.com/office/drawing/2014/main" id="{2B1390CD-DC6B-C755-5526-42CE35FAF318}"/>
              </a:ext>
            </a:extLst>
          </p:cNvPr>
          <p:cNvSpPr>
            <a:spLocks noGrp="1" noChangeArrowheads="1"/>
          </p:cNvSpPr>
          <p:nvPr>
            <p:ph type="title"/>
          </p:nvPr>
        </p:nvSpPr>
        <p:spPr>
          <a:xfrm>
            <a:off x="1371600" y="457200"/>
            <a:ext cx="6477000" cy="762000"/>
          </a:xfrm>
        </p:spPr>
        <p:txBody>
          <a:bodyPr/>
          <a:lstStyle/>
          <a:p>
            <a:pPr algn="ctr" eaLnBrk="1" hangingPunct="1"/>
            <a:r>
              <a:rPr lang="en-US" altLang="en-US" sz="3600" b="1"/>
              <a:t>Levels of Diversity</a:t>
            </a:r>
          </a:p>
        </p:txBody>
      </p:sp>
      <p:sp>
        <p:nvSpPr>
          <p:cNvPr id="13315" name="Text Box 12">
            <a:extLst>
              <a:ext uri="{FF2B5EF4-FFF2-40B4-BE49-F238E27FC236}">
                <a16:creationId xmlns:a16="http://schemas.microsoft.com/office/drawing/2014/main" id="{4A2FF3A8-CB3A-118E-67B5-95BE6997D4FE}"/>
              </a:ext>
            </a:extLst>
          </p:cNvPr>
          <p:cNvSpPr txBox="1">
            <a:spLocks noChangeArrowheads="1"/>
          </p:cNvSpPr>
          <p:nvPr/>
        </p:nvSpPr>
        <p:spPr bwMode="auto">
          <a:xfrm>
            <a:off x="533400" y="1447800"/>
            <a:ext cx="80772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lnSpc>
                <a:spcPct val="150000"/>
              </a:lnSpc>
              <a:spcBef>
                <a:spcPct val="50000"/>
              </a:spcBef>
              <a:buClrTx/>
              <a:buFont typeface="Arial" panose="020B0604020202020204" pitchFamily="34" charset="0"/>
              <a:buChar char="•"/>
            </a:pPr>
            <a:r>
              <a:rPr lang="en-US" altLang="en-US" u="sng" dirty="0">
                <a:solidFill>
                  <a:srgbClr val="FF0000"/>
                </a:solidFill>
                <a:cs typeface="Arial" panose="020B0604020202020204" pitchFamily="34" charset="0"/>
              </a:rPr>
              <a:t>Discrimination.</a:t>
            </a:r>
            <a:r>
              <a:rPr lang="en-US" altLang="en-US" dirty="0">
                <a:solidFill>
                  <a:srgbClr val="FF0000"/>
                </a:solidFill>
                <a:cs typeface="Arial" panose="020B0604020202020204" pitchFamily="34" charset="0"/>
              </a:rPr>
              <a:t> Taking specific actions towards or against the employees/people on the basis of their differences. Usually it has negative connotation.</a:t>
            </a:r>
          </a:p>
          <a:p>
            <a:pPr algn="just" eaLnBrk="1" hangingPunct="1">
              <a:lnSpc>
                <a:spcPct val="150000"/>
              </a:lnSpc>
              <a:spcBef>
                <a:spcPct val="50000"/>
              </a:spcBef>
              <a:buClrTx/>
              <a:buFont typeface="Arial" panose="020B0604020202020204" pitchFamily="34" charset="0"/>
              <a:buChar char="•"/>
            </a:pPr>
            <a:r>
              <a:rPr lang="en-US" altLang="en-US" dirty="0">
                <a:solidFill>
                  <a:srgbClr val="FF0000"/>
                </a:solidFill>
                <a:cs typeface="Arial" panose="020B0604020202020204" pitchFamily="34" charset="0"/>
              </a:rPr>
              <a:t>Unfair discrimination means making judgments about individuals based on stereotypes regarding their demographic groups. It also means creation of undue differences between genders, ages, family backgrounds etc., which leads to de-motivation and may lead to law-suits</a:t>
            </a:r>
          </a:p>
        </p:txBody>
      </p:sp>
    </p:spTree>
  </p:cSld>
  <p:clrMapOvr>
    <a:masterClrMapping/>
  </p:clrMapOvr>
  <p:transition spd="med">
    <p:strips dir="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
            <a:extLst>
              <a:ext uri="{FF2B5EF4-FFF2-40B4-BE49-F238E27FC236}">
                <a16:creationId xmlns:a16="http://schemas.microsoft.com/office/drawing/2014/main" id="{ACC156D3-657D-FF92-6A30-EB32457E76AB}"/>
              </a:ext>
            </a:extLst>
          </p:cNvPr>
          <p:cNvSpPr>
            <a:spLocks noGrp="1" noChangeArrowheads="1"/>
          </p:cNvSpPr>
          <p:nvPr>
            <p:ph type="title"/>
          </p:nvPr>
        </p:nvSpPr>
        <p:spPr>
          <a:xfrm>
            <a:off x="1066800" y="304800"/>
            <a:ext cx="7086600" cy="762000"/>
          </a:xfrm>
        </p:spPr>
        <p:txBody>
          <a:bodyPr/>
          <a:lstStyle/>
          <a:p>
            <a:pPr algn="ctr" eaLnBrk="1" hangingPunct="1"/>
            <a:r>
              <a:rPr lang="en-US" altLang="en-US" sz="3600" b="1"/>
              <a:t>Biographical Characteristics</a:t>
            </a:r>
          </a:p>
        </p:txBody>
      </p:sp>
      <p:sp>
        <p:nvSpPr>
          <p:cNvPr id="15363" name="Text Box 12">
            <a:extLst>
              <a:ext uri="{FF2B5EF4-FFF2-40B4-BE49-F238E27FC236}">
                <a16:creationId xmlns:a16="http://schemas.microsoft.com/office/drawing/2014/main" id="{1605354F-6C77-3AFE-E314-97D2DF925991}"/>
              </a:ext>
            </a:extLst>
          </p:cNvPr>
          <p:cNvSpPr txBox="1">
            <a:spLocks noChangeArrowheads="1"/>
          </p:cNvSpPr>
          <p:nvPr/>
        </p:nvSpPr>
        <p:spPr bwMode="auto">
          <a:xfrm>
            <a:off x="533400" y="1219200"/>
            <a:ext cx="80772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sz="2800" u="sng" dirty="0">
                <a:solidFill>
                  <a:srgbClr val="FF0000"/>
                </a:solidFill>
              </a:rPr>
              <a:t>Biographical Characteristics:</a:t>
            </a:r>
          </a:p>
          <a:p>
            <a:pPr algn="just" eaLnBrk="1" hangingPunct="1">
              <a:spcBef>
                <a:spcPct val="50000"/>
              </a:spcBef>
              <a:buClrTx/>
              <a:buFontTx/>
              <a:buNone/>
            </a:pPr>
            <a:r>
              <a:rPr lang="en-US" altLang="en-US" dirty="0">
                <a:solidFill>
                  <a:srgbClr val="FF0000"/>
                </a:solidFill>
              </a:rPr>
              <a:t>Personal characteristics</a:t>
            </a:r>
            <a:r>
              <a:rPr lang="en-US" altLang="en-US" dirty="0">
                <a:solidFill>
                  <a:srgbClr val="FF0000"/>
                </a:solidFill>
                <a:cs typeface="Arial" panose="020B0604020202020204" pitchFamily="34" charset="0"/>
              </a:rPr>
              <a:t>—such as age, gender, and marital status—that are objective and easily obtained from personnel’s records.</a:t>
            </a:r>
          </a:p>
          <a:p>
            <a:pPr algn="just" eaLnBrk="1" hangingPunct="1">
              <a:spcBef>
                <a:spcPct val="50000"/>
              </a:spcBef>
              <a:buClrTx/>
              <a:buFontTx/>
              <a:buNone/>
            </a:pPr>
            <a:r>
              <a:rPr lang="en-US" altLang="en-US" u="sng" dirty="0">
                <a:solidFill>
                  <a:srgbClr val="FF0000"/>
                </a:solidFill>
                <a:cs typeface="Arial" panose="020B0604020202020204" pitchFamily="34" charset="0"/>
              </a:rPr>
              <a:t>Age.</a:t>
            </a:r>
            <a:r>
              <a:rPr lang="en-US" altLang="en-US" dirty="0">
                <a:solidFill>
                  <a:srgbClr val="FF0000"/>
                </a:solidFill>
                <a:cs typeface="Arial" panose="020B0604020202020204" pitchFamily="34" charset="0"/>
              </a:rPr>
              <a:t> Age has both merits &amp; demerits. Employers have different perception about old and young employees. It is usually said that age has no direct relationship with productivity.  Older workers have more wisdom, judgment, experience, strong work ethics and more commitment towards work. Moreover, they are less likely to resign, have fewer absences, less turnover and report higher job satisfaction than the young ones. </a:t>
            </a:r>
            <a:endParaRPr lang="en-US" altLang="en-US" u="sng" dirty="0">
              <a:solidFill>
                <a:srgbClr val="FF0000"/>
              </a:solidFill>
              <a:cs typeface="Arial" panose="020B0604020202020204" pitchFamily="34" charset="0"/>
            </a:endParaRPr>
          </a:p>
        </p:txBody>
      </p:sp>
    </p:spTree>
  </p:cSld>
  <p:clrMapOvr>
    <a:masterClrMapping/>
  </p:clrMapOvr>
  <p:transition spd="med">
    <p:strips dir="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
            <a:extLst>
              <a:ext uri="{FF2B5EF4-FFF2-40B4-BE49-F238E27FC236}">
                <a16:creationId xmlns:a16="http://schemas.microsoft.com/office/drawing/2014/main" id="{CA96C7B2-B9CF-AB57-A366-0AD2A1140037}"/>
              </a:ext>
            </a:extLst>
          </p:cNvPr>
          <p:cNvSpPr>
            <a:spLocks noGrp="1" noChangeArrowheads="1"/>
          </p:cNvSpPr>
          <p:nvPr>
            <p:ph type="title"/>
          </p:nvPr>
        </p:nvSpPr>
        <p:spPr>
          <a:xfrm>
            <a:off x="1066800" y="304800"/>
            <a:ext cx="7086600" cy="762000"/>
          </a:xfrm>
        </p:spPr>
        <p:txBody>
          <a:bodyPr/>
          <a:lstStyle/>
          <a:p>
            <a:pPr algn="ctr" eaLnBrk="1" hangingPunct="1"/>
            <a:r>
              <a:rPr lang="en-US" altLang="en-US" sz="3600" b="1"/>
              <a:t>Biographical Characteristics</a:t>
            </a:r>
          </a:p>
        </p:txBody>
      </p:sp>
      <p:sp>
        <p:nvSpPr>
          <p:cNvPr id="17411" name="Text Box 12">
            <a:extLst>
              <a:ext uri="{FF2B5EF4-FFF2-40B4-BE49-F238E27FC236}">
                <a16:creationId xmlns:a16="http://schemas.microsoft.com/office/drawing/2014/main" id="{85DC9E02-455B-A0DC-432C-D1FE6A269A71}"/>
              </a:ext>
            </a:extLst>
          </p:cNvPr>
          <p:cNvSpPr txBox="1">
            <a:spLocks noChangeArrowheads="1"/>
          </p:cNvSpPr>
          <p:nvPr/>
        </p:nvSpPr>
        <p:spPr bwMode="auto">
          <a:xfrm>
            <a:off x="685800" y="1219200"/>
            <a:ext cx="79248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sz="2800" u="sng">
                <a:solidFill>
                  <a:srgbClr val="FF9933"/>
                </a:solidFill>
              </a:rPr>
              <a:t>Biographical Characteristics:</a:t>
            </a:r>
          </a:p>
          <a:p>
            <a:pPr algn="just" eaLnBrk="1" hangingPunct="1">
              <a:spcBef>
                <a:spcPct val="50000"/>
              </a:spcBef>
              <a:buClrTx/>
              <a:buFontTx/>
              <a:buNone/>
            </a:pPr>
            <a:r>
              <a:rPr lang="en-US" altLang="en-US" u="sng">
                <a:solidFill>
                  <a:srgbClr val="FF9933"/>
                </a:solidFill>
                <a:cs typeface="Arial" panose="020B0604020202020204" pitchFamily="34" charset="0"/>
              </a:rPr>
              <a:t>Gender/Sex.</a:t>
            </a:r>
            <a:r>
              <a:rPr lang="en-US" altLang="en-US">
                <a:cs typeface="Arial" panose="020B0604020202020204" pitchFamily="34" charset="0"/>
              </a:rPr>
              <a:t> There are few important differences between men and women that do affect their job performance; however, these differences should not be used as discriminatory tool.</a:t>
            </a:r>
          </a:p>
          <a:p>
            <a:pPr algn="just" eaLnBrk="1" hangingPunct="1">
              <a:spcBef>
                <a:spcPct val="50000"/>
              </a:spcBef>
              <a:buClrTx/>
              <a:buFontTx/>
              <a:buNone/>
            </a:pPr>
            <a:r>
              <a:rPr lang="en-US" altLang="en-US">
                <a:cs typeface="Arial" panose="020B0604020202020204" pitchFamily="34" charset="0"/>
              </a:rPr>
              <a:t>Working mothers prefer part-time work and flexible schedules and telecommuting in order to accommodate family responsibilities; some sort of work-life balance.</a:t>
            </a:r>
          </a:p>
          <a:p>
            <a:pPr algn="just" eaLnBrk="1" hangingPunct="1">
              <a:spcBef>
                <a:spcPct val="50000"/>
              </a:spcBef>
              <a:buClrTx/>
              <a:buFontTx/>
              <a:buNone/>
            </a:pPr>
            <a:r>
              <a:rPr lang="en-US" altLang="en-US">
                <a:cs typeface="Arial" panose="020B0604020202020204" pitchFamily="34" charset="0"/>
              </a:rPr>
              <a:t>Research shows that women have higher absenteeism rate as compared to men, due to family commitments but this is more so for married women. </a:t>
            </a:r>
          </a:p>
        </p:txBody>
      </p:sp>
    </p:spTree>
  </p:cSld>
  <p:clrMapOvr>
    <a:masterClrMapping/>
  </p:clrMapOvr>
  <p:transition spd="med">
    <p:strips dir="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a:extLst>
              <a:ext uri="{FF2B5EF4-FFF2-40B4-BE49-F238E27FC236}">
                <a16:creationId xmlns:a16="http://schemas.microsoft.com/office/drawing/2014/main" id="{C5BA7AB3-E787-C115-9C90-C9F5A00FECB0}"/>
              </a:ext>
            </a:extLst>
          </p:cNvPr>
          <p:cNvSpPr>
            <a:spLocks noGrp="1" noChangeArrowheads="1"/>
          </p:cNvSpPr>
          <p:nvPr>
            <p:ph type="title"/>
          </p:nvPr>
        </p:nvSpPr>
        <p:spPr>
          <a:xfrm>
            <a:off x="990600" y="381000"/>
            <a:ext cx="7086600" cy="685800"/>
          </a:xfrm>
        </p:spPr>
        <p:txBody>
          <a:bodyPr/>
          <a:lstStyle/>
          <a:p>
            <a:pPr algn="ctr" eaLnBrk="1" hangingPunct="1"/>
            <a:r>
              <a:rPr lang="en-US" altLang="en-US" sz="3600" b="1"/>
              <a:t>Biographical Characteristics</a:t>
            </a:r>
          </a:p>
        </p:txBody>
      </p:sp>
      <p:sp>
        <p:nvSpPr>
          <p:cNvPr id="19459" name="Text Box 1027">
            <a:extLst>
              <a:ext uri="{FF2B5EF4-FFF2-40B4-BE49-F238E27FC236}">
                <a16:creationId xmlns:a16="http://schemas.microsoft.com/office/drawing/2014/main" id="{2A1650C0-E584-E539-8604-BDB3A1DFED50}"/>
              </a:ext>
            </a:extLst>
          </p:cNvPr>
          <p:cNvSpPr txBox="1">
            <a:spLocks noChangeArrowheads="1"/>
          </p:cNvSpPr>
          <p:nvPr/>
        </p:nvSpPr>
        <p:spPr bwMode="auto">
          <a:xfrm>
            <a:off x="609600" y="1327150"/>
            <a:ext cx="7924800"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lvl="1" algn="just" eaLnBrk="1" hangingPunct="1">
              <a:spcBef>
                <a:spcPct val="50000"/>
              </a:spcBef>
              <a:buClrTx/>
              <a:buFont typeface="Wingdings" panose="05000000000000000000" pitchFamily="2" charset="2"/>
              <a:buChar char="Ø"/>
            </a:pPr>
            <a:r>
              <a:rPr lang="en-US" altLang="en-US" sz="2800" dirty="0">
                <a:solidFill>
                  <a:srgbClr val="FF9933"/>
                </a:solidFill>
                <a:latin typeface="Arial" panose="020B0604020202020204" pitchFamily="34" charset="0"/>
                <a:cs typeface="Arial" panose="020B0604020202020204" pitchFamily="34" charset="0"/>
              </a:rPr>
              <a:t> </a:t>
            </a:r>
            <a:r>
              <a:rPr lang="en-US" altLang="en-US" sz="2400" u="sng" dirty="0">
                <a:solidFill>
                  <a:srgbClr val="FF9933"/>
                </a:solidFill>
                <a:latin typeface="Arial" panose="020B0604020202020204" pitchFamily="34" charset="0"/>
                <a:cs typeface="Arial" panose="020B0604020202020204" pitchFamily="34" charset="0"/>
              </a:rPr>
              <a:t>Marital Status.</a:t>
            </a:r>
            <a:r>
              <a:rPr lang="en-US" altLang="en-US" sz="2800" dirty="0">
                <a:solidFill>
                  <a:schemeClr val="tx1"/>
                </a:solidFill>
                <a:latin typeface="Arial" panose="020B0604020202020204" pitchFamily="34" charset="0"/>
                <a:cs typeface="Arial" panose="020B0604020202020204" pitchFamily="34" charset="0"/>
              </a:rPr>
              <a:t> </a:t>
            </a:r>
            <a:r>
              <a:rPr lang="en-US" altLang="en-US" sz="2400" dirty="0">
                <a:solidFill>
                  <a:schemeClr val="tx1"/>
                </a:solidFill>
                <a:latin typeface="Arial" panose="020B0604020202020204" pitchFamily="34" charset="0"/>
                <a:cs typeface="Arial" panose="020B0604020202020204" pitchFamily="34" charset="0"/>
              </a:rPr>
              <a:t>Although married female employees have specific problems that affect their job; there are indications that they have fewer absences, undergo less turnover and show more job satisfaction.</a:t>
            </a:r>
          </a:p>
          <a:p>
            <a:pPr lvl="1" algn="just" eaLnBrk="1" hangingPunct="1">
              <a:spcBef>
                <a:spcPct val="50000"/>
              </a:spcBef>
              <a:buClrTx/>
              <a:buFont typeface="Wingdings" panose="05000000000000000000" pitchFamily="2" charset="2"/>
              <a:buChar char="Ø"/>
            </a:pPr>
            <a:r>
              <a:rPr lang="en-US" altLang="en-US" sz="2400" dirty="0">
                <a:solidFill>
                  <a:srgbClr val="FF9933"/>
                </a:solidFill>
                <a:latin typeface="Arial" panose="020B0604020202020204" pitchFamily="34" charset="0"/>
                <a:cs typeface="Arial" panose="020B0604020202020204" pitchFamily="34" charset="0"/>
              </a:rPr>
              <a:t> </a:t>
            </a:r>
            <a:r>
              <a:rPr lang="en-US" altLang="en-US" sz="2400" u="sng" dirty="0">
                <a:solidFill>
                  <a:srgbClr val="FF9933"/>
                </a:solidFill>
                <a:latin typeface="Arial" panose="020B0604020202020204" pitchFamily="34" charset="0"/>
                <a:cs typeface="Arial" panose="020B0604020202020204" pitchFamily="34" charset="0"/>
              </a:rPr>
              <a:t>Tenure/ Seniority.</a:t>
            </a:r>
            <a:r>
              <a:rPr lang="en-US" altLang="en-US" sz="2400" dirty="0">
                <a:solidFill>
                  <a:srgbClr val="FF9933"/>
                </a:solidFill>
                <a:latin typeface="Arial" panose="020B0604020202020204" pitchFamily="34" charset="0"/>
                <a:cs typeface="Arial" panose="020B0604020202020204" pitchFamily="34" charset="0"/>
              </a:rPr>
              <a:t> </a:t>
            </a:r>
            <a:r>
              <a:rPr lang="en-US" altLang="en-US" sz="2400" dirty="0">
                <a:solidFill>
                  <a:schemeClr val="tx1"/>
                </a:solidFill>
                <a:latin typeface="Arial" panose="020B0604020202020204" pitchFamily="34" charset="0"/>
                <a:cs typeface="Arial" panose="020B0604020202020204" pitchFamily="34" charset="0"/>
              </a:rPr>
              <a:t> There is positive relationship between productivity and seniority. Similarly, old employees have less turnover ‘past history is the best predictor of future performance’.</a:t>
            </a:r>
          </a:p>
          <a:p>
            <a:pPr lvl="1" algn="just" eaLnBrk="1" hangingPunct="1">
              <a:spcBef>
                <a:spcPct val="50000"/>
              </a:spcBef>
              <a:buClrTx/>
              <a:buFont typeface="Wingdings" panose="05000000000000000000" pitchFamily="2" charset="2"/>
              <a:buChar char="Ø"/>
            </a:pPr>
            <a:r>
              <a:rPr lang="en-US" altLang="en-US" sz="2400" dirty="0">
                <a:solidFill>
                  <a:schemeClr val="tx1"/>
                </a:solidFill>
                <a:latin typeface="Arial" panose="020B0604020202020204" pitchFamily="34" charset="0"/>
                <a:cs typeface="Arial" panose="020B0604020202020204" pitchFamily="34" charset="0"/>
              </a:rPr>
              <a:t> </a:t>
            </a:r>
            <a:r>
              <a:rPr lang="en-US" altLang="en-US" sz="2400" u="sng" dirty="0">
                <a:solidFill>
                  <a:srgbClr val="FF9933"/>
                </a:solidFill>
                <a:latin typeface="Arial" panose="020B0604020202020204" pitchFamily="34" charset="0"/>
                <a:cs typeface="Arial" panose="020B0604020202020204" pitchFamily="34" charset="0"/>
              </a:rPr>
              <a:t>Disability.</a:t>
            </a:r>
            <a:r>
              <a:rPr lang="en-US" altLang="en-US" sz="2400" dirty="0">
                <a:solidFill>
                  <a:srgbClr val="FF9933"/>
                </a:solidFill>
                <a:latin typeface="Arial" panose="020B0604020202020204" pitchFamily="34" charset="0"/>
                <a:cs typeface="Arial" panose="020B0604020202020204" pitchFamily="34" charset="0"/>
              </a:rPr>
              <a:t> </a:t>
            </a:r>
            <a:r>
              <a:rPr lang="en-US" altLang="en-US" sz="2400" dirty="0">
                <a:solidFill>
                  <a:schemeClr val="tx1"/>
                </a:solidFill>
                <a:latin typeface="Arial" panose="020B0604020202020204" pitchFamily="34" charset="0"/>
                <a:cs typeface="Arial" panose="020B0604020202020204" pitchFamily="34" charset="0"/>
              </a:rPr>
              <a:t>Disable people may also be accommodated if they are suitable for the job.</a:t>
            </a:r>
            <a:endParaRPr lang="en-US" altLang="en-US" sz="2400" u="sng" dirty="0">
              <a:solidFill>
                <a:srgbClr val="FF9933"/>
              </a:solidFill>
              <a:latin typeface="Arial" panose="020B0604020202020204" pitchFamily="34" charset="0"/>
              <a:cs typeface="Arial" panose="020B0604020202020204" pitchFamily="34" charset="0"/>
            </a:endParaRPr>
          </a:p>
        </p:txBody>
      </p:sp>
    </p:spTree>
  </p:cSld>
  <p:clrMapOvr>
    <a:masterClrMapping/>
  </p:clrMapOvr>
  <p:transition spd="med">
    <p:strips dir="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CF9D993-932A-104B-E1B0-496CD97D28CF}"/>
              </a:ext>
            </a:extLst>
          </p:cNvPr>
          <p:cNvSpPr>
            <a:spLocks noGrp="1" noChangeArrowheads="1"/>
          </p:cNvSpPr>
          <p:nvPr>
            <p:ph type="title"/>
          </p:nvPr>
        </p:nvSpPr>
        <p:spPr>
          <a:xfrm>
            <a:off x="685800" y="381000"/>
            <a:ext cx="7772400" cy="762000"/>
          </a:xfrm>
        </p:spPr>
        <p:txBody>
          <a:bodyPr/>
          <a:lstStyle/>
          <a:p>
            <a:pPr algn="ctr" eaLnBrk="1" hangingPunct="1"/>
            <a:r>
              <a:rPr lang="en-US" altLang="en-US" sz="3200" b="1">
                <a:solidFill>
                  <a:srgbClr val="FF0000"/>
                </a:solidFill>
              </a:rPr>
              <a:t>Ability, Intellect, and Intelligence</a:t>
            </a:r>
          </a:p>
        </p:txBody>
      </p:sp>
      <p:pic>
        <p:nvPicPr>
          <p:cNvPr id="21507" name="Picture 6" descr="bd06781_">
            <a:extLst>
              <a:ext uri="{FF2B5EF4-FFF2-40B4-BE49-F238E27FC236}">
                <a16:creationId xmlns:a16="http://schemas.microsoft.com/office/drawing/2014/main" id="{6B7F8496-7F96-3E3B-B2E1-36A59C2B2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1981200"/>
            <a:ext cx="2166937" cy="22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83" name="Line 7">
            <a:extLst>
              <a:ext uri="{FF2B5EF4-FFF2-40B4-BE49-F238E27FC236}">
                <a16:creationId xmlns:a16="http://schemas.microsoft.com/office/drawing/2014/main" id="{4CEFE9B8-54D3-FA37-8017-95FB74524806}"/>
              </a:ext>
            </a:extLst>
          </p:cNvPr>
          <p:cNvSpPr>
            <a:spLocks noChangeShapeType="1"/>
          </p:cNvSpPr>
          <p:nvPr/>
        </p:nvSpPr>
        <p:spPr bwMode="auto">
          <a:xfrm>
            <a:off x="1524000" y="2667000"/>
            <a:ext cx="3657600" cy="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solidFill>
                <a:srgbClr val="FF0000"/>
              </a:solidFill>
            </a:endParaRPr>
          </a:p>
        </p:txBody>
      </p:sp>
      <p:sp>
        <p:nvSpPr>
          <p:cNvPr id="178184" name="Line 8">
            <a:extLst>
              <a:ext uri="{FF2B5EF4-FFF2-40B4-BE49-F238E27FC236}">
                <a16:creationId xmlns:a16="http://schemas.microsoft.com/office/drawing/2014/main" id="{D3FC2101-6868-342D-2081-20A24CB120E7}"/>
              </a:ext>
            </a:extLst>
          </p:cNvPr>
          <p:cNvSpPr>
            <a:spLocks noChangeShapeType="1"/>
          </p:cNvSpPr>
          <p:nvPr/>
        </p:nvSpPr>
        <p:spPr bwMode="auto">
          <a:xfrm>
            <a:off x="1447800" y="4572000"/>
            <a:ext cx="4800600" cy="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solidFill>
                <a:srgbClr val="FF0000"/>
              </a:solidFill>
            </a:endParaRPr>
          </a:p>
        </p:txBody>
      </p:sp>
      <p:sp>
        <p:nvSpPr>
          <p:cNvPr id="178185" name="Text Box 9">
            <a:extLst>
              <a:ext uri="{FF2B5EF4-FFF2-40B4-BE49-F238E27FC236}">
                <a16:creationId xmlns:a16="http://schemas.microsoft.com/office/drawing/2014/main" id="{52C2C5EA-9681-39AB-E6AC-2A0EA81984D5}"/>
              </a:ext>
            </a:extLst>
          </p:cNvPr>
          <p:cNvSpPr txBox="1">
            <a:spLocks noChangeArrowheads="1"/>
          </p:cNvSpPr>
          <p:nvPr/>
        </p:nvSpPr>
        <p:spPr bwMode="auto">
          <a:xfrm>
            <a:off x="838200" y="1295400"/>
            <a:ext cx="518160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800" u="sng" dirty="0">
                <a:solidFill>
                  <a:srgbClr val="FF0000"/>
                </a:solidFill>
              </a:rPr>
              <a:t>Ability:</a:t>
            </a:r>
            <a:br>
              <a:rPr lang="en-US" altLang="en-US" sz="2800" dirty="0">
                <a:solidFill>
                  <a:srgbClr val="FF0000"/>
                </a:solidFill>
              </a:rPr>
            </a:br>
            <a:r>
              <a:rPr lang="en-US" altLang="en-US" dirty="0">
                <a:solidFill>
                  <a:srgbClr val="FF0000"/>
                </a:solidFill>
              </a:rPr>
              <a:t>An individual’s capacity to perform the various tasks in a job.</a:t>
            </a:r>
          </a:p>
        </p:txBody>
      </p:sp>
      <p:sp>
        <p:nvSpPr>
          <p:cNvPr id="178186" name="Text Box 10">
            <a:extLst>
              <a:ext uri="{FF2B5EF4-FFF2-40B4-BE49-F238E27FC236}">
                <a16:creationId xmlns:a16="http://schemas.microsoft.com/office/drawing/2014/main" id="{54C26C14-9C54-2679-CAF2-C867A0540DB6}"/>
              </a:ext>
            </a:extLst>
          </p:cNvPr>
          <p:cNvSpPr txBox="1">
            <a:spLocks noChangeArrowheads="1"/>
          </p:cNvSpPr>
          <p:nvPr/>
        </p:nvSpPr>
        <p:spPr bwMode="auto">
          <a:xfrm>
            <a:off x="1371600" y="3657600"/>
            <a:ext cx="457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u="sng">
                <a:solidFill>
                  <a:srgbClr val="FF0000"/>
                </a:solidFill>
              </a:rPr>
              <a:t>Intellectual Ability:</a:t>
            </a:r>
            <a:br>
              <a:rPr lang="en-US" altLang="en-US" sz="2000" u="sng">
                <a:solidFill>
                  <a:srgbClr val="FF0000"/>
                </a:solidFill>
              </a:rPr>
            </a:br>
            <a:r>
              <a:rPr lang="en-US" altLang="en-US" sz="2000">
                <a:solidFill>
                  <a:srgbClr val="FF0000"/>
                </a:solidFill>
              </a:rPr>
              <a:t>The capacity to do mental activities.</a:t>
            </a:r>
          </a:p>
        </p:txBody>
      </p:sp>
      <p:sp>
        <p:nvSpPr>
          <p:cNvPr id="178187" name="Text Box 11">
            <a:extLst>
              <a:ext uri="{FF2B5EF4-FFF2-40B4-BE49-F238E27FC236}">
                <a16:creationId xmlns:a16="http://schemas.microsoft.com/office/drawing/2014/main" id="{1515F91D-5E5B-BBF1-48D8-C4B50A20FEAE}"/>
              </a:ext>
            </a:extLst>
          </p:cNvPr>
          <p:cNvSpPr txBox="1">
            <a:spLocks noChangeArrowheads="1"/>
          </p:cNvSpPr>
          <p:nvPr/>
        </p:nvSpPr>
        <p:spPr bwMode="auto">
          <a:xfrm>
            <a:off x="838200" y="4724400"/>
            <a:ext cx="7010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sz="2800" u="sng" dirty="0">
                <a:solidFill>
                  <a:srgbClr val="FF0000"/>
                </a:solidFill>
              </a:rPr>
              <a:t>General Mental Ability (GMA):</a:t>
            </a:r>
            <a:r>
              <a:rPr lang="en-US" altLang="en-US" sz="2800" dirty="0">
                <a:solidFill>
                  <a:srgbClr val="FF0000"/>
                </a:solidFill>
              </a:rPr>
              <a:t>  </a:t>
            </a:r>
            <a:r>
              <a:rPr lang="en-US" altLang="en-US" dirty="0">
                <a:solidFill>
                  <a:srgbClr val="FF0000"/>
                </a:solidFill>
              </a:rPr>
              <a:t>An overall factor of intelligence, as suggested by the positive correlations among specific intellectual ability.</a:t>
            </a:r>
          </a:p>
        </p:txBody>
      </p:sp>
      <p:sp>
        <p:nvSpPr>
          <p:cNvPr id="178188" name="Text Box 12">
            <a:extLst>
              <a:ext uri="{FF2B5EF4-FFF2-40B4-BE49-F238E27FC236}">
                <a16:creationId xmlns:a16="http://schemas.microsoft.com/office/drawing/2014/main" id="{57E6898D-F490-0D43-A4A6-739827D10837}"/>
              </a:ext>
            </a:extLst>
          </p:cNvPr>
          <p:cNvSpPr txBox="1">
            <a:spLocks noChangeArrowheads="1"/>
          </p:cNvSpPr>
          <p:nvPr/>
        </p:nvSpPr>
        <p:spPr bwMode="auto">
          <a:xfrm>
            <a:off x="1371600" y="2667000"/>
            <a:ext cx="4724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u="sng">
                <a:solidFill>
                  <a:srgbClr val="FF0000"/>
                </a:solidFill>
              </a:rPr>
              <a:t>Physical Ability:</a:t>
            </a:r>
            <a:br>
              <a:rPr lang="en-US" altLang="en-US" sz="2000" u="sng">
                <a:solidFill>
                  <a:srgbClr val="FF0000"/>
                </a:solidFill>
              </a:rPr>
            </a:br>
            <a:r>
              <a:rPr lang="en-US" altLang="en-US" sz="2000">
                <a:solidFill>
                  <a:srgbClr val="FF0000"/>
                </a:solidFill>
              </a:rPr>
              <a:t>The capacity to do physical activities.</a:t>
            </a:r>
          </a:p>
        </p:txBody>
      </p:sp>
      <p:sp>
        <p:nvSpPr>
          <p:cNvPr id="178189" name="Line 13">
            <a:extLst>
              <a:ext uri="{FF2B5EF4-FFF2-40B4-BE49-F238E27FC236}">
                <a16:creationId xmlns:a16="http://schemas.microsoft.com/office/drawing/2014/main" id="{85F49E57-D236-F15B-085F-9C3F22903178}"/>
              </a:ext>
            </a:extLst>
          </p:cNvPr>
          <p:cNvSpPr>
            <a:spLocks noChangeShapeType="1"/>
          </p:cNvSpPr>
          <p:nvPr/>
        </p:nvSpPr>
        <p:spPr bwMode="auto">
          <a:xfrm>
            <a:off x="1447800" y="3581400"/>
            <a:ext cx="3657600" cy="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solidFill>
                <a:srgbClr val="FF0000"/>
              </a:solidFill>
            </a:endParaRPr>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85"/>
                                        </p:tgtEl>
                                        <p:attrNameLst>
                                          <p:attrName>style.visibility</p:attrName>
                                        </p:attrNameLst>
                                      </p:cBhvr>
                                      <p:to>
                                        <p:strVal val="visible"/>
                                      </p:to>
                                    </p:set>
                                    <p:animEffect transition="in" filter="wipe(left)">
                                      <p:cBhvr>
                                        <p:cTn id="7" dur="1000"/>
                                        <p:tgtEl>
                                          <p:spTgt spid="178185"/>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178183"/>
                                        </p:tgtEl>
                                        <p:attrNameLst>
                                          <p:attrName>style.visibility</p:attrName>
                                        </p:attrNameLst>
                                      </p:cBhvr>
                                      <p:to>
                                        <p:strVal val="visible"/>
                                      </p:to>
                                    </p:set>
                                    <p:animEffect transition="in" filter="wipe(left)">
                                      <p:cBhvr>
                                        <p:cTn id="11" dur="500"/>
                                        <p:tgtEl>
                                          <p:spTgt spid="17818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8186"/>
                                        </p:tgtEl>
                                        <p:attrNameLst>
                                          <p:attrName>style.visibility</p:attrName>
                                        </p:attrNameLst>
                                      </p:cBhvr>
                                      <p:to>
                                        <p:strVal val="visible"/>
                                      </p:to>
                                    </p:set>
                                    <p:animEffect transition="in" filter="wipe(left)">
                                      <p:cBhvr>
                                        <p:cTn id="16" dur="1000"/>
                                        <p:tgtEl>
                                          <p:spTgt spid="178186"/>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178184"/>
                                        </p:tgtEl>
                                        <p:attrNameLst>
                                          <p:attrName>style.visibility</p:attrName>
                                        </p:attrNameLst>
                                      </p:cBhvr>
                                      <p:to>
                                        <p:strVal val="visible"/>
                                      </p:to>
                                    </p:set>
                                    <p:animEffect transition="in" filter="wipe(left)">
                                      <p:cBhvr>
                                        <p:cTn id="20" dur="500"/>
                                        <p:tgtEl>
                                          <p:spTgt spid="17818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8187"/>
                                        </p:tgtEl>
                                        <p:attrNameLst>
                                          <p:attrName>style.visibility</p:attrName>
                                        </p:attrNameLst>
                                      </p:cBhvr>
                                      <p:to>
                                        <p:strVal val="visible"/>
                                      </p:to>
                                    </p:set>
                                    <p:animEffect transition="in" filter="wipe(left)">
                                      <p:cBhvr>
                                        <p:cTn id="25" dur="1000"/>
                                        <p:tgtEl>
                                          <p:spTgt spid="17818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8188"/>
                                        </p:tgtEl>
                                        <p:attrNameLst>
                                          <p:attrName>style.visibility</p:attrName>
                                        </p:attrNameLst>
                                      </p:cBhvr>
                                      <p:to>
                                        <p:strVal val="visible"/>
                                      </p:to>
                                    </p:set>
                                    <p:animEffect transition="in" filter="wipe(left)">
                                      <p:cBhvr>
                                        <p:cTn id="30" dur="1000"/>
                                        <p:tgtEl>
                                          <p:spTgt spid="178188"/>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178189"/>
                                        </p:tgtEl>
                                        <p:attrNameLst>
                                          <p:attrName>style.visibility</p:attrName>
                                        </p:attrNameLst>
                                      </p:cBhvr>
                                      <p:to>
                                        <p:strVal val="visible"/>
                                      </p:to>
                                    </p:set>
                                    <p:animEffect transition="in" filter="wipe(left)">
                                      <p:cBhvr>
                                        <p:cTn id="34" dur="500"/>
                                        <p:tgtEl>
                                          <p:spTgt spid="178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5" grpId="0"/>
      <p:bldP spid="178186" grpId="0"/>
      <p:bldP spid="178187" grpId="0"/>
      <p:bldP spid="17818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9CC0010F-50DC-B188-ECC4-04D4F7376DDD}"/>
              </a:ext>
            </a:extLst>
          </p:cNvPr>
          <p:cNvSpPr>
            <a:spLocks noGrp="1" noChangeArrowheads="1"/>
          </p:cNvSpPr>
          <p:nvPr>
            <p:ph type="title"/>
          </p:nvPr>
        </p:nvSpPr>
        <p:spPr>
          <a:xfrm>
            <a:off x="685800" y="304800"/>
            <a:ext cx="7772400" cy="533400"/>
          </a:xfrm>
        </p:spPr>
        <p:txBody>
          <a:bodyPr/>
          <a:lstStyle/>
          <a:p>
            <a:pPr algn="ctr" eaLnBrk="1" hangingPunct="1"/>
            <a:r>
              <a:rPr lang="en-US" altLang="en-US" b="1"/>
              <a:t>Dimensions of Intellectual Ability</a:t>
            </a:r>
          </a:p>
        </p:txBody>
      </p:sp>
      <p:graphicFrame>
        <p:nvGraphicFramePr>
          <p:cNvPr id="179269" name="Group 69">
            <a:extLst>
              <a:ext uri="{FF2B5EF4-FFF2-40B4-BE49-F238E27FC236}">
                <a16:creationId xmlns:a16="http://schemas.microsoft.com/office/drawing/2014/main" id="{6FB4BBA9-4C6A-BD8D-FFAD-8A18D267D126}"/>
              </a:ext>
            </a:extLst>
          </p:cNvPr>
          <p:cNvGraphicFramePr>
            <a:graphicFrameLocks noGrp="1"/>
          </p:cNvGraphicFramePr>
          <p:nvPr>
            <p:ph idx="1"/>
            <p:extLst>
              <p:ext uri="{D42A27DB-BD31-4B8C-83A1-F6EECF244321}">
                <p14:modId xmlns:p14="http://schemas.microsoft.com/office/powerpoint/2010/main" val="3695680832"/>
              </p:ext>
            </p:extLst>
          </p:nvPr>
        </p:nvGraphicFramePr>
        <p:xfrm>
          <a:off x="228600" y="1066800"/>
          <a:ext cx="8610600" cy="5497516"/>
        </p:xfrm>
        <a:graphic>
          <a:graphicData uri="http://schemas.openxmlformats.org/drawingml/2006/table">
            <a:tbl>
              <a:tblPr/>
              <a:tblGrid>
                <a:gridCol w="1722438">
                  <a:extLst>
                    <a:ext uri="{9D8B030D-6E8A-4147-A177-3AD203B41FA5}">
                      <a16:colId xmlns:a16="http://schemas.microsoft.com/office/drawing/2014/main" val="20000"/>
                    </a:ext>
                  </a:extLst>
                </a:gridCol>
                <a:gridCol w="3243262">
                  <a:extLst>
                    <a:ext uri="{9D8B030D-6E8A-4147-A177-3AD203B41FA5}">
                      <a16:colId xmlns:a16="http://schemas.microsoft.com/office/drawing/2014/main" val="20001"/>
                    </a:ext>
                  </a:extLst>
                </a:gridCol>
                <a:gridCol w="3644900">
                  <a:extLst>
                    <a:ext uri="{9D8B030D-6E8A-4147-A177-3AD203B41FA5}">
                      <a16:colId xmlns:a16="http://schemas.microsoft.com/office/drawing/2014/main" val="20002"/>
                    </a:ext>
                  </a:extLst>
                </a:gridCol>
              </a:tblGrid>
              <a:tr h="466716">
                <a:tc>
                  <a:txBody>
                    <a:bodyPr/>
                    <a:lstStyle/>
                    <a:p>
                      <a:pPr marL="0" marR="0" lvl="0" indent="0" algn="ctr"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2000" b="1" i="0" u="none" strike="noStrike" cap="none" normalizeH="0" baseline="0">
                          <a:ln>
                            <a:noFill/>
                          </a:ln>
                          <a:solidFill>
                            <a:srgbClr val="FF0000"/>
                          </a:solidFill>
                          <a:effectLst/>
                          <a:latin typeface="Arial" charset="0"/>
                        </a:rPr>
                        <a:t>DIMENSION</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2000" b="1" i="0" u="none" strike="noStrike" cap="none" normalizeH="0" baseline="0">
                          <a:ln>
                            <a:noFill/>
                          </a:ln>
                          <a:solidFill>
                            <a:srgbClr val="FF0000"/>
                          </a:solidFill>
                          <a:effectLst/>
                          <a:latin typeface="Arial" charset="0"/>
                        </a:rPr>
                        <a:t>DESCRIPTION</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2000" b="1" i="0" u="none" strike="noStrike" cap="none" normalizeH="0" baseline="0">
                          <a:ln>
                            <a:noFill/>
                          </a:ln>
                          <a:solidFill>
                            <a:srgbClr val="FF0000"/>
                          </a:solidFill>
                          <a:effectLst/>
                          <a:latin typeface="Arial" charset="0"/>
                        </a:rPr>
                        <a:t>JOB EXAMPLE</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7886">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Number aptitude</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Ability to do speedy and accurate arithmetic</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0"/>
                        </a:spcBef>
                        <a:spcAft>
                          <a:spcPct val="0"/>
                        </a:spcAft>
                        <a:buClrTx/>
                        <a:buSzTx/>
                        <a:buFontTx/>
                        <a:buNone/>
                        <a:tabLst/>
                      </a:pPr>
                      <a:r>
                        <a:rPr kumimoji="0" lang="en-US" sz="1400" b="1" i="0" u="none" strike="noStrike" cap="none" normalizeH="0" baseline="0">
                          <a:ln>
                            <a:noFill/>
                          </a:ln>
                          <a:solidFill>
                            <a:srgbClr val="FF0000"/>
                          </a:solidFill>
                          <a:effectLst/>
                          <a:latin typeface="Arial" charset="0"/>
                        </a:rPr>
                        <a:t>Accountant:</a:t>
                      </a:r>
                      <a:r>
                        <a:rPr kumimoji="0" lang="en-US" sz="1400" b="0" i="0" u="none" strike="noStrike" cap="none" normalizeH="0" baseline="0">
                          <a:ln>
                            <a:noFill/>
                          </a:ln>
                          <a:solidFill>
                            <a:srgbClr val="FF0000"/>
                          </a:solidFill>
                          <a:effectLst/>
                          <a:latin typeface="Arial" charset="0"/>
                        </a:rPr>
                        <a:t>  Computing the sales tax on a set of items</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5526">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Verbal comprehension</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0"/>
                        </a:spcBef>
                        <a:spcAft>
                          <a:spcPct val="0"/>
                        </a:spcAft>
                        <a:buClrTx/>
                        <a:buSzTx/>
                        <a:buFontTx/>
                        <a:buNone/>
                        <a:tabLst/>
                      </a:pPr>
                      <a:r>
                        <a:rPr kumimoji="0" lang="en-US" sz="1400" b="0" i="0" u="none" strike="noStrike" cap="none" normalizeH="0" baseline="0">
                          <a:ln>
                            <a:noFill/>
                          </a:ln>
                          <a:solidFill>
                            <a:srgbClr val="FF0000"/>
                          </a:solidFill>
                          <a:effectLst/>
                          <a:latin typeface="Arial" charset="0"/>
                        </a:rPr>
                        <a:t>Ability to understand what is read or heard and the relationship of words to each other</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1" i="0" u="none" strike="noStrike" cap="none" normalizeH="0" baseline="0">
                          <a:ln>
                            <a:noFill/>
                          </a:ln>
                          <a:solidFill>
                            <a:srgbClr val="FF0000"/>
                          </a:solidFill>
                          <a:effectLst/>
                          <a:latin typeface="Arial" charset="0"/>
                        </a:rPr>
                        <a:t>Plant manager:</a:t>
                      </a:r>
                      <a:r>
                        <a:rPr kumimoji="0" lang="en-US" sz="1400" b="0" i="0" u="none" strike="noStrike" cap="none" normalizeH="0" baseline="0">
                          <a:ln>
                            <a:noFill/>
                          </a:ln>
                          <a:solidFill>
                            <a:srgbClr val="FF0000"/>
                          </a:solidFill>
                          <a:effectLst/>
                          <a:latin typeface="Arial" charset="0"/>
                        </a:rPr>
                        <a:t> Following corporate</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policies</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7886">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Perceptual speed</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Ability to identify visual similarities and differences quickly and accurately</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1" i="0" u="none" strike="noStrike" cap="none" normalizeH="0" baseline="0">
                          <a:ln>
                            <a:noFill/>
                          </a:ln>
                          <a:solidFill>
                            <a:srgbClr val="FF0000"/>
                          </a:solidFill>
                          <a:effectLst/>
                          <a:latin typeface="Arial" charset="0"/>
                        </a:rPr>
                        <a:t>Fire investigator: </a:t>
                      </a:r>
                      <a:r>
                        <a:rPr kumimoji="0" lang="en-US" sz="1400" b="0" i="0" u="none" strike="noStrike" cap="none" normalizeH="0" baseline="0">
                          <a:ln>
                            <a:noFill/>
                          </a:ln>
                          <a:solidFill>
                            <a:srgbClr val="FF0000"/>
                          </a:solidFill>
                          <a:effectLst/>
                          <a:latin typeface="Arial" charset="0"/>
                        </a:rPr>
                        <a:t>Identifying clues to</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support a charge of arson</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687">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Inductive reasoning</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dirty="0">
                          <a:ln>
                            <a:noFill/>
                          </a:ln>
                          <a:solidFill>
                            <a:srgbClr val="FF0000"/>
                          </a:solidFill>
                          <a:effectLst/>
                          <a:latin typeface="Arial" charset="0"/>
                        </a:rPr>
                        <a:t>Ability to identify a logical sequence in </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dirty="0">
                          <a:ln>
                            <a:noFill/>
                          </a:ln>
                          <a:solidFill>
                            <a:srgbClr val="FF0000"/>
                          </a:solidFill>
                          <a:effectLst/>
                          <a:latin typeface="Arial" charset="0"/>
                        </a:rPr>
                        <a:t>a problem and then solve the problem</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1" i="0" u="none" strike="noStrike" cap="none" normalizeH="0" baseline="0">
                          <a:ln>
                            <a:noFill/>
                          </a:ln>
                          <a:solidFill>
                            <a:srgbClr val="FF0000"/>
                          </a:solidFill>
                          <a:effectLst/>
                          <a:latin typeface="Arial" charset="0"/>
                        </a:rPr>
                        <a:t>Market researcher:</a:t>
                      </a:r>
                      <a:r>
                        <a:rPr kumimoji="0" lang="en-US" sz="1400" b="0" i="0" u="none" strike="noStrike" cap="none" normalizeH="0" baseline="0">
                          <a:ln>
                            <a:noFill/>
                          </a:ln>
                          <a:solidFill>
                            <a:srgbClr val="FF0000"/>
                          </a:solidFill>
                          <a:effectLst/>
                          <a:latin typeface="Arial" charset="0"/>
                        </a:rPr>
                        <a:t>  Forecasting demand</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for a product in the next time period </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2459">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Deductive </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reasoning</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Ability to use logic and assess the implications of an argument</a:t>
                      </a:r>
                      <a:endParaRPr kumimoji="0" lang="en-US" sz="1800" b="0" i="0" u="none" strike="noStrike" cap="none" normalizeH="0" baseline="0">
                        <a:ln>
                          <a:noFill/>
                        </a:ln>
                        <a:solidFill>
                          <a:srgbClr val="FF0000"/>
                        </a:solidFill>
                        <a:effectLst/>
                        <a:latin typeface="Arial" charset="0"/>
                      </a:endParaRP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1" i="0" u="none" strike="noStrike" cap="none" normalizeH="0" baseline="0">
                          <a:ln>
                            <a:noFill/>
                          </a:ln>
                          <a:solidFill>
                            <a:srgbClr val="FF0000"/>
                          </a:solidFill>
                          <a:effectLst/>
                          <a:latin typeface="Arial" charset="0"/>
                        </a:rPr>
                        <a:t>Supervisor:</a:t>
                      </a:r>
                      <a:r>
                        <a:rPr kumimoji="0" lang="en-US" sz="1400" b="0" i="0" u="none" strike="noStrike" cap="none" normalizeH="0" baseline="0">
                          <a:ln>
                            <a:noFill/>
                          </a:ln>
                          <a:solidFill>
                            <a:srgbClr val="FF0000"/>
                          </a:solidFill>
                          <a:effectLst/>
                          <a:latin typeface="Arial" charset="0"/>
                        </a:rPr>
                        <a:t> Choosing between two </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different suggestions offered by employees</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80870">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Spatial visualization</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Ability to imagine how an object would</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look if its position in space were</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changed</a:t>
                      </a:r>
                      <a:endParaRPr kumimoji="0" lang="en-US" sz="1000" b="0" i="0" u="none" strike="noStrike" cap="none" normalizeH="0" baseline="0">
                        <a:ln>
                          <a:noFill/>
                        </a:ln>
                        <a:solidFill>
                          <a:srgbClr val="FF0000"/>
                        </a:solidFill>
                        <a:effectLst/>
                        <a:latin typeface="Arial" charset="0"/>
                      </a:endParaRP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1" i="0" u="none" strike="noStrike" cap="none" normalizeH="0" baseline="0">
                          <a:ln>
                            <a:noFill/>
                          </a:ln>
                          <a:solidFill>
                            <a:srgbClr val="FF0000"/>
                          </a:solidFill>
                          <a:effectLst/>
                          <a:latin typeface="Arial" charset="0"/>
                        </a:rPr>
                        <a:t>Interior decorator:</a:t>
                      </a:r>
                      <a:r>
                        <a:rPr kumimoji="0" lang="en-US" sz="1400" b="0" i="0" u="none" strike="noStrike" cap="none" normalizeH="0" baseline="0">
                          <a:ln>
                            <a:noFill/>
                          </a:ln>
                          <a:solidFill>
                            <a:srgbClr val="FF0000"/>
                          </a:solidFill>
                          <a:effectLst/>
                          <a:latin typeface="Arial" charset="0"/>
                        </a:rPr>
                        <a:t> Redecorating an</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office</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endParaRPr kumimoji="0" lang="en-US" sz="1400" b="1" i="0" u="none" strike="noStrike" cap="none" normalizeH="0" baseline="0">
                        <a:ln>
                          <a:noFill/>
                        </a:ln>
                        <a:solidFill>
                          <a:srgbClr val="FF0000"/>
                        </a:solidFill>
                        <a:effectLst/>
                        <a:latin typeface="Arial" charset="0"/>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98486">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Memory</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a:ln>
                            <a:noFill/>
                          </a:ln>
                          <a:solidFill>
                            <a:srgbClr val="FF0000"/>
                          </a:solidFill>
                          <a:effectLst/>
                          <a:latin typeface="Arial" charset="0"/>
                        </a:rPr>
                        <a:t>Ability to retain and recall past experiences</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1" i="0" u="none" strike="noStrike" cap="none" normalizeH="0" baseline="0" dirty="0">
                          <a:ln>
                            <a:noFill/>
                          </a:ln>
                          <a:solidFill>
                            <a:srgbClr val="FF0000"/>
                          </a:solidFill>
                          <a:effectLst/>
                          <a:latin typeface="Arial" charset="0"/>
                        </a:rPr>
                        <a:t>Salesperson:</a:t>
                      </a:r>
                      <a:r>
                        <a:rPr kumimoji="0" lang="en-US" sz="1400" b="0" i="0" u="none" strike="noStrike" cap="none" normalizeH="0" baseline="0" dirty="0">
                          <a:ln>
                            <a:noFill/>
                          </a:ln>
                          <a:solidFill>
                            <a:srgbClr val="FF0000"/>
                          </a:solidFill>
                          <a:effectLst/>
                          <a:latin typeface="Arial" charset="0"/>
                        </a:rPr>
                        <a:t> Remembering the names</a:t>
                      </a:r>
                    </a:p>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r>
                        <a:rPr kumimoji="0" lang="en-US" sz="1400" b="0" i="0" u="none" strike="noStrike" cap="none" normalizeH="0" baseline="0" dirty="0">
                          <a:ln>
                            <a:noFill/>
                          </a:ln>
                          <a:solidFill>
                            <a:srgbClr val="FF0000"/>
                          </a:solidFill>
                          <a:effectLst/>
                          <a:latin typeface="Arial" charset="0"/>
                        </a:rPr>
                        <a:t>of customers </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p:cut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BB35E7D-140F-8B19-4A67-059F1876358B}"/>
              </a:ext>
            </a:extLst>
          </p:cNvPr>
          <p:cNvSpPr>
            <a:spLocks noGrp="1" noChangeArrowheads="1"/>
          </p:cNvSpPr>
          <p:nvPr>
            <p:ph type="title"/>
          </p:nvPr>
        </p:nvSpPr>
        <p:spPr>
          <a:xfrm>
            <a:off x="1447800" y="381000"/>
            <a:ext cx="6248400" cy="685800"/>
          </a:xfrm>
        </p:spPr>
        <p:txBody>
          <a:bodyPr/>
          <a:lstStyle/>
          <a:p>
            <a:pPr algn="ctr" eaLnBrk="1" hangingPunct="1"/>
            <a:r>
              <a:rPr lang="en-US" altLang="en-US" sz="3200" b="1"/>
              <a:t>Physical Abilities</a:t>
            </a:r>
          </a:p>
        </p:txBody>
      </p:sp>
      <p:pic>
        <p:nvPicPr>
          <p:cNvPr id="180228" name="Picture 4" descr="j0259909">
            <a:extLst>
              <a:ext uri="{FF2B5EF4-FFF2-40B4-BE49-F238E27FC236}">
                <a16:creationId xmlns:a16="http://schemas.microsoft.com/office/drawing/2014/main" id="{4BC148B9-42ED-DDF9-5F54-149979C754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981200"/>
            <a:ext cx="2286000"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5">
            <a:extLst>
              <a:ext uri="{FF2B5EF4-FFF2-40B4-BE49-F238E27FC236}">
                <a16:creationId xmlns:a16="http://schemas.microsoft.com/office/drawing/2014/main" id="{D16AFB8F-7D22-18A6-41FB-C32917EE2D75}"/>
              </a:ext>
            </a:extLst>
          </p:cNvPr>
          <p:cNvSpPr txBox="1">
            <a:spLocks noChangeArrowheads="1"/>
          </p:cNvSpPr>
          <p:nvPr/>
        </p:nvSpPr>
        <p:spPr bwMode="auto">
          <a:xfrm>
            <a:off x="990600" y="1371600"/>
            <a:ext cx="51816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sz="2800" u="sng" dirty="0">
                <a:solidFill>
                  <a:srgbClr val="FF0000"/>
                </a:solidFill>
              </a:rPr>
              <a:t>Physical Abilities:</a:t>
            </a:r>
          </a:p>
          <a:p>
            <a:pPr algn="just" eaLnBrk="1" hangingPunct="1">
              <a:spcBef>
                <a:spcPct val="50000"/>
              </a:spcBef>
              <a:buClrTx/>
              <a:buFontTx/>
              <a:buNone/>
            </a:pPr>
            <a:r>
              <a:rPr lang="en-US" altLang="en-US" b="0" dirty="0">
                <a:solidFill>
                  <a:srgbClr val="FF0000"/>
                </a:solidFill>
              </a:rPr>
              <a:t>The capacity to do tasks demanding stamina, dexterity, strength, and similar characteristics.</a:t>
            </a:r>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4" fill="hold" nodeType="afterEffect">
                                  <p:stCondLst>
                                    <p:cond delay="0"/>
                                  </p:stCondLst>
                                  <p:childTnLst>
                                    <p:set>
                                      <p:cBhvr>
                                        <p:cTn id="6" dur="1" fill="hold">
                                          <p:stCondLst>
                                            <p:cond delay="0"/>
                                          </p:stCondLst>
                                        </p:cTn>
                                        <p:tgtEl>
                                          <p:spTgt spid="180228"/>
                                        </p:tgtEl>
                                        <p:attrNameLst>
                                          <p:attrName>style.visibility</p:attrName>
                                        </p:attrNameLst>
                                      </p:cBhvr>
                                      <p:to>
                                        <p:strVal val="visible"/>
                                      </p:to>
                                    </p:set>
                                    <p:anim calcmode="lin" valueType="num">
                                      <p:cBhvr>
                                        <p:cTn id="7" dur="500" fill="hold"/>
                                        <p:tgtEl>
                                          <p:spTgt spid="180228"/>
                                        </p:tgtEl>
                                        <p:attrNameLst>
                                          <p:attrName>ppt_x</p:attrName>
                                        </p:attrNameLst>
                                      </p:cBhvr>
                                      <p:tavLst>
                                        <p:tav tm="0">
                                          <p:val>
                                            <p:strVal val="#ppt_x"/>
                                          </p:val>
                                        </p:tav>
                                        <p:tav tm="100000">
                                          <p:val>
                                            <p:strVal val="#ppt_x"/>
                                          </p:val>
                                        </p:tav>
                                      </p:tavLst>
                                    </p:anim>
                                    <p:anim calcmode="lin" valueType="num">
                                      <p:cBhvr>
                                        <p:cTn id="8" dur="500" fill="hold"/>
                                        <p:tgtEl>
                                          <p:spTgt spid="180228"/>
                                        </p:tgtEl>
                                        <p:attrNameLst>
                                          <p:attrName>ppt_y</p:attrName>
                                        </p:attrNameLst>
                                      </p:cBhvr>
                                      <p:tavLst>
                                        <p:tav tm="0">
                                          <p:val>
                                            <p:strVal val="#ppt_y+#ppt_h/2"/>
                                          </p:val>
                                        </p:tav>
                                        <p:tav tm="100000">
                                          <p:val>
                                            <p:strVal val="#ppt_y"/>
                                          </p:val>
                                        </p:tav>
                                      </p:tavLst>
                                    </p:anim>
                                    <p:anim calcmode="lin" valueType="num">
                                      <p:cBhvr>
                                        <p:cTn id="9" dur="500" fill="hold"/>
                                        <p:tgtEl>
                                          <p:spTgt spid="180228"/>
                                        </p:tgtEl>
                                        <p:attrNameLst>
                                          <p:attrName>ppt_w</p:attrName>
                                        </p:attrNameLst>
                                      </p:cBhvr>
                                      <p:tavLst>
                                        <p:tav tm="0">
                                          <p:val>
                                            <p:strVal val="#ppt_w"/>
                                          </p:val>
                                        </p:tav>
                                        <p:tav tm="100000">
                                          <p:val>
                                            <p:strVal val="#ppt_w"/>
                                          </p:val>
                                        </p:tav>
                                      </p:tavLst>
                                    </p:anim>
                                    <p:anim calcmode="lin" valueType="num">
                                      <p:cBhvr>
                                        <p:cTn id="10" dur="500" fill="hold"/>
                                        <p:tgtEl>
                                          <p:spTgt spid="18022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65CB1762-5A7C-0945-E33D-3B5C7D5EE41E}"/>
              </a:ext>
            </a:extLst>
          </p:cNvPr>
          <p:cNvSpPr>
            <a:spLocks noGrp="1" noChangeArrowheads="1"/>
          </p:cNvSpPr>
          <p:nvPr>
            <p:ph type="title" sz="quarter"/>
          </p:nvPr>
        </p:nvSpPr>
        <p:spPr>
          <a:xfrm>
            <a:off x="685800" y="152400"/>
            <a:ext cx="7772400" cy="685800"/>
          </a:xfrm>
        </p:spPr>
        <p:txBody>
          <a:bodyPr/>
          <a:lstStyle/>
          <a:p>
            <a:pPr algn="ctr" eaLnBrk="1" hangingPunct="1"/>
            <a:r>
              <a:rPr lang="en-US" altLang="en-US" sz="3200" b="1"/>
              <a:t>Nine Basic Physical Abilities</a:t>
            </a:r>
          </a:p>
        </p:txBody>
      </p:sp>
      <p:pic>
        <p:nvPicPr>
          <p:cNvPr id="181331" name="Picture 83" descr="pe02365_">
            <a:extLst>
              <a:ext uri="{FF2B5EF4-FFF2-40B4-BE49-F238E27FC236}">
                <a16:creationId xmlns:a16="http://schemas.microsoft.com/office/drawing/2014/main" id="{F25AB4C1-362D-B5B3-188E-60E877A26D20}"/>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8089900" y="2740025"/>
            <a:ext cx="825500" cy="917575"/>
          </a:xfrm>
        </p:spPr>
      </p:pic>
      <p:pic>
        <p:nvPicPr>
          <p:cNvPr id="181332" name="Picture 84" descr="pe02419_">
            <a:extLst>
              <a:ext uri="{FF2B5EF4-FFF2-40B4-BE49-F238E27FC236}">
                <a16:creationId xmlns:a16="http://schemas.microsoft.com/office/drawing/2014/main" id="{18381A69-F94F-3CD2-268F-CAF55BE6CDF3}"/>
              </a:ext>
            </a:extLst>
          </p:cNvPr>
          <p:cNvPicPr>
            <a:picLocks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7848600" y="5499100"/>
            <a:ext cx="838200" cy="749300"/>
          </a:xfrm>
          <a:noFill/>
        </p:spPr>
      </p:pic>
      <p:graphicFrame>
        <p:nvGraphicFramePr>
          <p:cNvPr id="181536" name="Group 288">
            <a:extLst>
              <a:ext uri="{FF2B5EF4-FFF2-40B4-BE49-F238E27FC236}">
                <a16:creationId xmlns:a16="http://schemas.microsoft.com/office/drawing/2014/main" id="{726033B2-0F1B-9645-9A30-7721C2CF036E}"/>
              </a:ext>
            </a:extLst>
          </p:cNvPr>
          <p:cNvGraphicFramePr>
            <a:graphicFrameLocks noGrp="1"/>
          </p:cNvGraphicFramePr>
          <p:nvPr>
            <p:ph sz="quarter" idx="4"/>
            <p:extLst>
              <p:ext uri="{D42A27DB-BD31-4B8C-83A1-F6EECF244321}">
                <p14:modId xmlns:p14="http://schemas.microsoft.com/office/powerpoint/2010/main" val="2146071629"/>
              </p:ext>
            </p:extLst>
          </p:nvPr>
        </p:nvGraphicFramePr>
        <p:xfrm>
          <a:off x="304800" y="990600"/>
          <a:ext cx="8534400" cy="5621338"/>
        </p:xfrm>
        <a:graphic>
          <a:graphicData uri="http://schemas.openxmlformats.org/drawingml/2006/table">
            <a:tbl>
              <a:tblPr/>
              <a:tblGrid>
                <a:gridCol w="1295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724400">
                  <a:extLst>
                    <a:ext uri="{9D8B030D-6E8A-4147-A177-3AD203B41FA5}">
                      <a16:colId xmlns:a16="http://schemas.microsoft.com/office/drawing/2014/main" val="20002"/>
                    </a:ext>
                  </a:extLst>
                </a:gridCol>
              </a:tblGrid>
              <a:tr h="423911">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700" b="1" i="0" u="none" strike="noStrike" cap="none" normalizeH="0" baseline="0">
                          <a:ln>
                            <a:noFill/>
                          </a:ln>
                          <a:solidFill>
                            <a:srgbClr val="FF0000"/>
                          </a:solidFill>
                          <a:effectLst/>
                          <a:latin typeface="Arial" charset="0"/>
                        </a:rPr>
                        <a:t>Dimension</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700" b="1" i="0" u="none" strike="noStrike" cap="none" normalizeH="0" baseline="0">
                          <a:ln>
                            <a:noFill/>
                          </a:ln>
                          <a:solidFill>
                            <a:srgbClr val="FF0000"/>
                          </a:solidFill>
                          <a:effectLst/>
                          <a:latin typeface="Arial" charset="0"/>
                        </a:rPr>
                        <a:t>Dimension Types</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700" b="1" i="0" u="none" strike="noStrike" cap="none" normalizeH="0" baseline="0">
                          <a:ln>
                            <a:noFill/>
                          </a:ln>
                          <a:solidFill>
                            <a:srgbClr val="FF0000"/>
                          </a:solidFill>
                          <a:effectLst/>
                          <a:latin typeface="Arial" charset="0"/>
                        </a:rPr>
                        <a:t>Description</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22838">
                <a:tc>
                  <a:txBody>
                    <a:bodyPr/>
                    <a:lstStyle/>
                    <a:p>
                      <a:pPr marL="0" marR="0" lvl="0" indent="0" algn="l"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Strength </a:t>
                      </a:r>
                    </a:p>
                    <a:p>
                      <a:pPr marL="0" marR="0" lvl="0" indent="0" algn="l"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Factors</a:t>
                      </a:r>
                      <a:endParaRPr kumimoji="0" lang="en-US" sz="2000" b="1" i="0" u="none" strike="noStrike" cap="none" normalizeH="0" baseline="0">
                        <a:ln>
                          <a:noFill/>
                        </a:ln>
                        <a:solidFill>
                          <a:srgbClr val="FF0000"/>
                        </a:solidFill>
                        <a:effectLst/>
                        <a:latin typeface="Arial"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r>
                        <a:rPr kumimoji="0" lang="en-US" sz="1600" b="1" i="0" u="none" strike="noStrike" cap="none" normalizeH="0" baseline="0" dirty="0">
                          <a:ln>
                            <a:noFill/>
                          </a:ln>
                          <a:solidFill>
                            <a:srgbClr val="FF0000"/>
                          </a:solidFill>
                          <a:effectLst/>
                          <a:latin typeface="Arial" charset="0"/>
                        </a:rPr>
                        <a:t>Dynamic strength</a:t>
                      </a:r>
                    </a:p>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endParaRPr kumimoji="0" lang="en-US" sz="1200" b="1" i="0" u="none" strike="noStrike" cap="none" normalizeH="0" baseline="0" dirty="0">
                        <a:ln>
                          <a:noFill/>
                        </a:ln>
                        <a:solidFill>
                          <a:srgbClr val="FF0000"/>
                        </a:solidFill>
                        <a:effectLst/>
                        <a:latin typeface="Arial" charset="0"/>
                      </a:endParaRPr>
                    </a:p>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endParaRPr kumimoji="0" lang="en-US" sz="900" b="1" i="0" u="none" strike="noStrike" cap="none" normalizeH="0" baseline="0" dirty="0">
                        <a:ln>
                          <a:noFill/>
                        </a:ln>
                        <a:solidFill>
                          <a:srgbClr val="FF0000"/>
                        </a:solidFill>
                        <a:effectLst/>
                        <a:latin typeface="Arial" charset="0"/>
                      </a:endParaRPr>
                    </a:p>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r>
                        <a:rPr kumimoji="0" lang="en-US" sz="1600" b="1" i="0" u="none" strike="noStrike" cap="none" normalizeH="0" baseline="0" dirty="0">
                          <a:ln>
                            <a:noFill/>
                          </a:ln>
                          <a:solidFill>
                            <a:srgbClr val="FF0000"/>
                          </a:solidFill>
                          <a:effectLst/>
                          <a:latin typeface="Arial" charset="0"/>
                        </a:rPr>
                        <a:t>Trunk strength</a:t>
                      </a:r>
                    </a:p>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endParaRPr kumimoji="0" lang="en-US" sz="2400" b="1" i="0" u="none" strike="noStrike" cap="none" normalizeH="0" baseline="0" dirty="0">
                        <a:ln>
                          <a:noFill/>
                        </a:ln>
                        <a:solidFill>
                          <a:srgbClr val="FF0000"/>
                        </a:solidFill>
                        <a:effectLst/>
                        <a:latin typeface="Arial" charset="0"/>
                      </a:endParaRPr>
                    </a:p>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r>
                        <a:rPr kumimoji="0" lang="en-US" sz="1600" b="1" i="0" u="none" strike="noStrike" cap="none" normalizeH="0" baseline="0" dirty="0">
                          <a:ln>
                            <a:noFill/>
                          </a:ln>
                          <a:solidFill>
                            <a:srgbClr val="FF0000"/>
                          </a:solidFill>
                          <a:effectLst/>
                          <a:latin typeface="Arial" charset="0"/>
                        </a:rPr>
                        <a:t>Static strength</a:t>
                      </a:r>
                    </a:p>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endParaRPr kumimoji="0" lang="en-US" sz="900" b="1" i="0" u="none" strike="noStrike" cap="none" normalizeH="0" baseline="0" dirty="0">
                        <a:ln>
                          <a:noFill/>
                        </a:ln>
                        <a:solidFill>
                          <a:srgbClr val="FF0000"/>
                        </a:solidFill>
                        <a:effectLst/>
                        <a:latin typeface="Arial" charset="0"/>
                      </a:endParaRPr>
                    </a:p>
                    <a:p>
                      <a:pPr marL="381000" marR="0" lvl="0" indent="-381000" algn="l" defTabSz="914400" rtl="0" eaLnBrk="1" fontAlgn="base" latinLnBrk="0" hangingPunct="1">
                        <a:lnSpc>
                          <a:spcPct val="90000"/>
                        </a:lnSpc>
                        <a:spcBef>
                          <a:spcPct val="20000"/>
                        </a:spcBef>
                        <a:spcAft>
                          <a:spcPct val="0"/>
                        </a:spcAft>
                        <a:buClr>
                          <a:schemeClr val="tx1"/>
                        </a:buClr>
                        <a:buSzTx/>
                        <a:buFontTx/>
                        <a:buAutoNum type="arabicPeriod"/>
                        <a:tabLst/>
                      </a:pPr>
                      <a:r>
                        <a:rPr kumimoji="0" lang="en-US" sz="1600" b="1" i="0" u="none" strike="noStrike" cap="none" normalizeH="0" baseline="0" dirty="0">
                          <a:ln>
                            <a:noFill/>
                          </a:ln>
                          <a:solidFill>
                            <a:srgbClr val="FF0000"/>
                          </a:solidFill>
                          <a:effectLst/>
                          <a:latin typeface="Arial" charset="0"/>
                        </a:rPr>
                        <a:t>Explosive strength</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a:ln>
                            <a:noFill/>
                          </a:ln>
                          <a:solidFill>
                            <a:srgbClr val="FF0000"/>
                          </a:solidFill>
                          <a:effectLst/>
                          <a:latin typeface="Arial" charset="0"/>
                        </a:rPr>
                        <a:t>Ability to exert muscular force repeatedly or continuously over time</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0" lang="en-US" sz="500" b="0" i="0" u="none" strike="noStrike" cap="none" normalizeH="0" baseline="0">
                        <a:ln>
                          <a:noFill/>
                        </a:ln>
                        <a:solidFill>
                          <a:srgbClr val="FF0000"/>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a:ln>
                            <a:noFill/>
                          </a:ln>
                          <a:solidFill>
                            <a:srgbClr val="FF0000"/>
                          </a:solidFill>
                          <a:effectLst/>
                          <a:latin typeface="Arial" charset="0"/>
                        </a:rPr>
                        <a:t>Ability to exert muscular strength using the trunk (particularly abdomen) muscles</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0" lang="en-US" sz="700" b="0" i="0" u="none" strike="noStrike" cap="none" normalizeH="0" baseline="0">
                        <a:ln>
                          <a:noFill/>
                        </a:ln>
                        <a:solidFill>
                          <a:srgbClr val="FF0000"/>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a:ln>
                            <a:noFill/>
                          </a:ln>
                          <a:solidFill>
                            <a:srgbClr val="FF0000"/>
                          </a:solidFill>
                          <a:effectLst/>
                          <a:latin typeface="Arial" charset="0"/>
                        </a:rPr>
                        <a:t>Ability to exert force against external objects</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0" lang="en-US" sz="600" b="0" i="0" u="none" strike="noStrike" cap="none" normalizeH="0" baseline="0">
                        <a:ln>
                          <a:noFill/>
                        </a:ln>
                        <a:solidFill>
                          <a:srgbClr val="FF0000"/>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a:ln>
                            <a:noFill/>
                          </a:ln>
                          <a:solidFill>
                            <a:srgbClr val="FF0000"/>
                          </a:solidFill>
                          <a:effectLst/>
                          <a:latin typeface="Arial" charset="0"/>
                        </a:rPr>
                        <a:t>Ability to expend a maximum of energy</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a:ln>
                            <a:noFill/>
                          </a:ln>
                          <a:solidFill>
                            <a:srgbClr val="FF0000"/>
                          </a:solidFill>
                          <a:effectLst/>
                          <a:latin typeface="Arial" charset="0"/>
                        </a:rPr>
                        <a:t>in one or a series of explosive acts</a:t>
                      </a:r>
                      <a:endParaRPr kumimoji="0" lang="en-US" sz="1800" b="0" i="0" u="none" strike="noStrike" cap="none" normalizeH="0" baseline="0">
                        <a:ln>
                          <a:noFill/>
                        </a:ln>
                        <a:solidFill>
                          <a:srgbClr val="FF0000"/>
                        </a:solidFill>
                        <a:effectLst/>
                        <a:latin typeface="Arial"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90712">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Flexibility </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Factors</a:t>
                      </a:r>
                      <a:endParaRPr kumimoji="0" lang="en-US" sz="2000" b="1" i="0" u="none" strike="noStrike" cap="none" normalizeH="0" baseline="0">
                        <a:ln>
                          <a:noFill/>
                        </a:ln>
                        <a:solidFill>
                          <a:srgbClr val="FF0000"/>
                        </a:solidFill>
                        <a:effectLst/>
                        <a:latin typeface="Arial"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1" fontAlgn="base" latinLnBrk="0" hangingPunct="1">
                        <a:lnSpc>
                          <a:spcPct val="100000"/>
                        </a:lnSpc>
                        <a:spcBef>
                          <a:spcPct val="20000"/>
                        </a:spcBef>
                        <a:spcAft>
                          <a:spcPct val="0"/>
                        </a:spcAft>
                        <a:buClr>
                          <a:schemeClr val="tx1"/>
                        </a:buClr>
                        <a:buSzTx/>
                        <a:buFont typeface="Wingdings" pitchFamily="2" charset="2"/>
                        <a:buAutoNum type="arabicPeriod" startAt="5"/>
                        <a:tabLst/>
                      </a:pPr>
                      <a:r>
                        <a:rPr kumimoji="0" lang="en-US" sz="1600" b="1" i="0" u="none" strike="noStrike" cap="none" normalizeH="0" baseline="0">
                          <a:ln>
                            <a:noFill/>
                          </a:ln>
                          <a:solidFill>
                            <a:srgbClr val="FF0000"/>
                          </a:solidFill>
                          <a:effectLst/>
                          <a:latin typeface="Arial" charset="0"/>
                        </a:rPr>
                        <a:t>Extent flexibility</a:t>
                      </a:r>
                    </a:p>
                    <a:p>
                      <a:pPr marL="381000" marR="0" lvl="0" indent="-381000" algn="l" defTabSz="914400" rtl="0" eaLnBrk="1" fontAlgn="base" latinLnBrk="0" hangingPunct="1">
                        <a:lnSpc>
                          <a:spcPct val="100000"/>
                        </a:lnSpc>
                        <a:spcBef>
                          <a:spcPct val="20000"/>
                        </a:spcBef>
                        <a:spcAft>
                          <a:spcPct val="0"/>
                        </a:spcAft>
                        <a:buClr>
                          <a:schemeClr val="tx1"/>
                        </a:buClr>
                        <a:buSzTx/>
                        <a:buFont typeface="Wingdings" pitchFamily="2" charset="2"/>
                        <a:buAutoNum type="arabicPeriod" startAt="5"/>
                        <a:tabLst/>
                      </a:pPr>
                      <a:endParaRPr kumimoji="0" lang="en-US" sz="1600" b="1" i="0" u="none" strike="noStrike" cap="none" normalizeH="0" baseline="0">
                        <a:ln>
                          <a:noFill/>
                        </a:ln>
                        <a:solidFill>
                          <a:srgbClr val="FF0000"/>
                        </a:solidFill>
                        <a:effectLst/>
                        <a:latin typeface="Arial" charset="0"/>
                      </a:endParaRPr>
                    </a:p>
                    <a:p>
                      <a:pPr marL="381000" marR="0" lvl="0" indent="-381000" algn="l" defTabSz="914400" rtl="0" eaLnBrk="1" fontAlgn="base" latinLnBrk="0" hangingPunct="1">
                        <a:lnSpc>
                          <a:spcPct val="100000"/>
                        </a:lnSpc>
                        <a:spcBef>
                          <a:spcPct val="20000"/>
                        </a:spcBef>
                        <a:spcAft>
                          <a:spcPct val="0"/>
                        </a:spcAft>
                        <a:buClr>
                          <a:schemeClr val="tx1"/>
                        </a:buClr>
                        <a:buSzTx/>
                        <a:buFontTx/>
                        <a:buAutoNum type="arabicPeriod" startAt="6"/>
                        <a:tabLst/>
                      </a:pPr>
                      <a:r>
                        <a:rPr kumimoji="0" lang="en-US" sz="1600" b="1" i="0" u="none" strike="noStrike" cap="none" normalizeH="0" baseline="0">
                          <a:ln>
                            <a:noFill/>
                          </a:ln>
                          <a:solidFill>
                            <a:srgbClr val="FF0000"/>
                          </a:solidFill>
                          <a:effectLst/>
                          <a:latin typeface="Arial" charset="0"/>
                        </a:rPr>
                        <a:t>Dynamic flexibility</a:t>
                      </a:r>
                      <a:endParaRPr kumimoji="0" lang="en-US" sz="1800" b="1" i="0" u="none" strike="noStrike" cap="none" normalizeH="0" baseline="0">
                        <a:ln>
                          <a:noFill/>
                        </a:ln>
                        <a:solidFill>
                          <a:srgbClr val="FF0000"/>
                        </a:solidFill>
                        <a:effectLst/>
                        <a:latin typeface="Arial"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a:ln>
                            <a:noFill/>
                          </a:ln>
                          <a:solidFill>
                            <a:srgbClr val="FF0000"/>
                          </a:solidFill>
                          <a:effectLst/>
                          <a:latin typeface="Arial" charset="0"/>
                        </a:rPr>
                        <a:t>Ability to move the trunk and back muscles as far as possible</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0" lang="en-US" sz="600" b="0" i="0" u="none" strike="noStrike" cap="none" normalizeH="0" baseline="0">
                        <a:ln>
                          <a:noFill/>
                        </a:ln>
                        <a:solidFill>
                          <a:srgbClr val="FF0000"/>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a:ln>
                            <a:noFill/>
                          </a:ln>
                          <a:solidFill>
                            <a:srgbClr val="FF0000"/>
                          </a:solidFill>
                          <a:effectLst/>
                          <a:latin typeface="Arial" charset="0"/>
                        </a:rPr>
                        <a:t>Ability to make rapid, repeated flexing movements</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83877">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Other </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1" i="0" u="none" strike="noStrike" cap="none" normalizeH="0" baseline="0">
                          <a:ln>
                            <a:noFill/>
                          </a:ln>
                          <a:solidFill>
                            <a:srgbClr val="FF0000"/>
                          </a:solidFill>
                          <a:effectLst/>
                          <a:latin typeface="Arial" charset="0"/>
                        </a:rPr>
                        <a:t>Factors</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0" lang="en-US" sz="2000" b="1" i="0" u="none" strike="noStrike" cap="none" normalizeH="0" baseline="0">
                        <a:ln>
                          <a:noFill/>
                        </a:ln>
                        <a:solidFill>
                          <a:srgbClr val="FF0000"/>
                        </a:solidFill>
                        <a:effectLst/>
                        <a:latin typeface="Arial"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1" fontAlgn="base" latinLnBrk="0" hangingPunct="1">
                        <a:lnSpc>
                          <a:spcPct val="100000"/>
                        </a:lnSpc>
                        <a:spcBef>
                          <a:spcPct val="20000"/>
                        </a:spcBef>
                        <a:spcAft>
                          <a:spcPct val="0"/>
                        </a:spcAft>
                        <a:buClr>
                          <a:schemeClr val="tx1"/>
                        </a:buClr>
                        <a:buSzTx/>
                        <a:buFont typeface="Wingdings" pitchFamily="2" charset="2"/>
                        <a:buAutoNum type="arabicPeriod" startAt="7"/>
                        <a:tabLst/>
                      </a:pPr>
                      <a:r>
                        <a:rPr kumimoji="0" lang="en-US" sz="1600" b="1" i="0" u="none" strike="noStrike" cap="none" normalizeH="0" baseline="0">
                          <a:ln>
                            <a:noFill/>
                          </a:ln>
                          <a:solidFill>
                            <a:srgbClr val="FF0000"/>
                          </a:solidFill>
                          <a:effectLst/>
                          <a:latin typeface="Arial" charset="0"/>
                        </a:rPr>
                        <a:t>Body coordination</a:t>
                      </a:r>
                    </a:p>
                    <a:p>
                      <a:pPr marL="381000" marR="0" lvl="0" indent="-381000" algn="l" defTabSz="914400" rtl="0" eaLnBrk="1" fontAlgn="base" latinLnBrk="0" hangingPunct="1">
                        <a:lnSpc>
                          <a:spcPct val="100000"/>
                        </a:lnSpc>
                        <a:spcBef>
                          <a:spcPct val="20000"/>
                        </a:spcBef>
                        <a:spcAft>
                          <a:spcPct val="0"/>
                        </a:spcAft>
                        <a:buClr>
                          <a:schemeClr val="tx1"/>
                        </a:buClr>
                        <a:buSzTx/>
                        <a:buFont typeface="Wingdings" pitchFamily="2" charset="2"/>
                        <a:buAutoNum type="arabicPeriod" startAt="7"/>
                        <a:tabLst/>
                      </a:pPr>
                      <a:endParaRPr kumimoji="0" lang="en-US" sz="1200" b="1" i="0" u="none" strike="noStrike" cap="none" normalizeH="0" baseline="0">
                        <a:ln>
                          <a:noFill/>
                        </a:ln>
                        <a:solidFill>
                          <a:srgbClr val="FF0000"/>
                        </a:solidFill>
                        <a:effectLst/>
                        <a:latin typeface="Arial" charset="0"/>
                      </a:endParaRPr>
                    </a:p>
                    <a:p>
                      <a:pPr marL="381000" marR="0" lvl="0" indent="-381000" algn="l" defTabSz="914400" rtl="0" eaLnBrk="1" fontAlgn="base" latinLnBrk="0" hangingPunct="1">
                        <a:lnSpc>
                          <a:spcPct val="100000"/>
                        </a:lnSpc>
                        <a:spcBef>
                          <a:spcPct val="20000"/>
                        </a:spcBef>
                        <a:spcAft>
                          <a:spcPct val="0"/>
                        </a:spcAft>
                        <a:buClr>
                          <a:schemeClr val="tx1"/>
                        </a:buClr>
                        <a:buSzTx/>
                        <a:buFontTx/>
                        <a:buAutoNum type="arabicPeriod" startAt="7"/>
                        <a:tabLst/>
                      </a:pPr>
                      <a:r>
                        <a:rPr kumimoji="0" lang="en-US" sz="1600" b="1" i="0" u="none" strike="noStrike" cap="none" normalizeH="0" baseline="0">
                          <a:ln>
                            <a:noFill/>
                          </a:ln>
                          <a:solidFill>
                            <a:srgbClr val="FF0000"/>
                          </a:solidFill>
                          <a:effectLst/>
                          <a:latin typeface="Arial" charset="0"/>
                        </a:rPr>
                        <a:t>Balance</a:t>
                      </a:r>
                    </a:p>
                    <a:p>
                      <a:pPr marL="381000" marR="0" lvl="0" indent="-381000" algn="l" defTabSz="914400" rtl="0" eaLnBrk="1" fontAlgn="base" latinLnBrk="0" hangingPunct="1">
                        <a:lnSpc>
                          <a:spcPct val="100000"/>
                        </a:lnSpc>
                        <a:spcBef>
                          <a:spcPct val="20000"/>
                        </a:spcBef>
                        <a:spcAft>
                          <a:spcPct val="0"/>
                        </a:spcAft>
                        <a:buClr>
                          <a:schemeClr val="tx1"/>
                        </a:buClr>
                        <a:buSzTx/>
                        <a:buFontTx/>
                        <a:buAutoNum type="arabicPeriod" startAt="7"/>
                        <a:tabLst/>
                      </a:pPr>
                      <a:endParaRPr kumimoji="0" lang="en-US" sz="1200" b="1" i="0" u="none" strike="noStrike" cap="none" normalizeH="0" baseline="0">
                        <a:ln>
                          <a:noFill/>
                        </a:ln>
                        <a:solidFill>
                          <a:srgbClr val="FF0000"/>
                        </a:solidFill>
                        <a:effectLst/>
                        <a:latin typeface="Arial" charset="0"/>
                      </a:endParaRPr>
                    </a:p>
                    <a:p>
                      <a:pPr marL="381000" marR="0" lvl="0" indent="-381000" algn="l" defTabSz="914400" rtl="0" eaLnBrk="1" fontAlgn="base" latinLnBrk="0" hangingPunct="1">
                        <a:lnSpc>
                          <a:spcPct val="100000"/>
                        </a:lnSpc>
                        <a:spcBef>
                          <a:spcPct val="20000"/>
                        </a:spcBef>
                        <a:spcAft>
                          <a:spcPct val="0"/>
                        </a:spcAft>
                        <a:buClr>
                          <a:schemeClr val="tx1"/>
                        </a:buClr>
                        <a:buSzTx/>
                        <a:buFontTx/>
                        <a:buAutoNum type="arabicPeriod" startAt="7"/>
                        <a:tabLst/>
                      </a:pPr>
                      <a:endParaRPr kumimoji="0" lang="en-US" sz="1000" b="1" i="0" u="none" strike="noStrike" cap="none" normalizeH="0" baseline="0">
                        <a:ln>
                          <a:noFill/>
                        </a:ln>
                        <a:solidFill>
                          <a:srgbClr val="FF0000"/>
                        </a:solidFill>
                        <a:effectLst/>
                        <a:latin typeface="Arial" charset="0"/>
                      </a:endParaRPr>
                    </a:p>
                    <a:p>
                      <a:pPr marL="381000" marR="0" lvl="0" indent="-381000" algn="l" defTabSz="914400" rtl="0" eaLnBrk="1" fontAlgn="base" latinLnBrk="0" hangingPunct="1">
                        <a:lnSpc>
                          <a:spcPct val="100000"/>
                        </a:lnSpc>
                        <a:spcBef>
                          <a:spcPct val="20000"/>
                        </a:spcBef>
                        <a:spcAft>
                          <a:spcPct val="0"/>
                        </a:spcAft>
                        <a:buClr>
                          <a:schemeClr val="tx1"/>
                        </a:buClr>
                        <a:buSzTx/>
                        <a:buFontTx/>
                        <a:buAutoNum type="arabicPeriod" startAt="7"/>
                        <a:tabLst/>
                      </a:pPr>
                      <a:r>
                        <a:rPr kumimoji="0" lang="en-US" sz="1600" b="1" i="0" u="none" strike="noStrike" cap="none" normalizeH="0" baseline="0">
                          <a:ln>
                            <a:noFill/>
                          </a:ln>
                          <a:solidFill>
                            <a:srgbClr val="FF0000"/>
                          </a:solidFill>
                          <a:effectLst/>
                          <a:latin typeface="Arial" charset="0"/>
                        </a:rPr>
                        <a:t>Stamina</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dirty="0">
                          <a:ln>
                            <a:noFill/>
                          </a:ln>
                          <a:solidFill>
                            <a:srgbClr val="FF0000"/>
                          </a:solidFill>
                          <a:effectLst/>
                          <a:latin typeface="Arial" charset="0"/>
                        </a:rPr>
                        <a:t>Ability to coordinate the simultaneous actions of different parts of the body</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0" lang="en-US" sz="500" b="0" i="0" u="none" strike="noStrike" cap="none" normalizeH="0" baseline="0" dirty="0">
                        <a:ln>
                          <a:noFill/>
                        </a:ln>
                        <a:solidFill>
                          <a:srgbClr val="FF0000"/>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dirty="0">
                          <a:ln>
                            <a:noFill/>
                          </a:ln>
                          <a:solidFill>
                            <a:srgbClr val="FF0000"/>
                          </a:solidFill>
                          <a:effectLst/>
                          <a:latin typeface="Arial" charset="0"/>
                        </a:rPr>
                        <a:t>Ability to maintain equilibrium despite</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dirty="0">
                          <a:ln>
                            <a:noFill/>
                          </a:ln>
                          <a:solidFill>
                            <a:srgbClr val="FF0000"/>
                          </a:solidFill>
                          <a:effectLst/>
                          <a:latin typeface="Arial" charset="0"/>
                        </a:rPr>
                        <a:t>forces pulling off balance</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0" lang="en-US" sz="500" b="0" i="0" u="none" strike="noStrike" cap="none" normalizeH="0" baseline="0" dirty="0">
                        <a:ln>
                          <a:noFill/>
                        </a:ln>
                        <a:solidFill>
                          <a:srgbClr val="FF0000"/>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0" i="0" u="none" strike="noStrike" cap="none" normalizeH="0" baseline="0" dirty="0">
                          <a:ln>
                            <a:noFill/>
                          </a:ln>
                          <a:solidFill>
                            <a:srgbClr val="FF0000"/>
                          </a:solidFill>
                          <a:effectLst/>
                          <a:latin typeface="Arial" charset="0"/>
                        </a:rPr>
                        <a:t>Ability to continue maximum effort requiring prolonged effort over time </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6" fill="hold" nodeType="afterEffect">
                                  <p:stCondLst>
                                    <p:cond delay="0"/>
                                  </p:stCondLst>
                                  <p:childTnLst>
                                    <p:set>
                                      <p:cBhvr>
                                        <p:cTn id="6" dur="1" fill="hold">
                                          <p:stCondLst>
                                            <p:cond delay="0"/>
                                          </p:stCondLst>
                                        </p:cTn>
                                        <p:tgtEl>
                                          <p:spTgt spid="181331"/>
                                        </p:tgtEl>
                                        <p:attrNameLst>
                                          <p:attrName>style.visibility</p:attrName>
                                        </p:attrNameLst>
                                      </p:cBhvr>
                                      <p:to>
                                        <p:strVal val="visible"/>
                                      </p:to>
                                    </p:set>
                                    <p:animEffect transition="in" filter="barn(inHorizontal)">
                                      <p:cBhvr>
                                        <p:cTn id="7" dur="500"/>
                                        <p:tgtEl>
                                          <p:spTgt spid="18133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81332"/>
                                        </p:tgtEl>
                                        <p:attrNameLst>
                                          <p:attrName>style.visibility</p:attrName>
                                        </p:attrNameLst>
                                      </p:cBhvr>
                                      <p:to>
                                        <p:strVal val="visible"/>
                                      </p:to>
                                    </p:set>
                                    <p:animEffect transition="in" filter="wipe(left)">
                                      <p:cBhvr>
                                        <p:cTn id="11" dur="500"/>
                                        <p:tgtEl>
                                          <p:spTgt spid="181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E6F5B73A-B376-2E91-7FCE-3BDE0E4E4F41}"/>
              </a:ext>
            </a:extLst>
          </p:cNvPr>
          <p:cNvSpPr>
            <a:spLocks noGrp="1" noChangeArrowheads="1"/>
          </p:cNvSpPr>
          <p:nvPr>
            <p:ph type="title"/>
          </p:nvPr>
        </p:nvSpPr>
        <p:spPr>
          <a:xfrm>
            <a:off x="838200" y="609600"/>
            <a:ext cx="7315200" cy="685800"/>
          </a:xfrm>
        </p:spPr>
        <p:txBody>
          <a:bodyPr/>
          <a:lstStyle/>
          <a:p>
            <a:pPr algn="ctr" eaLnBrk="1" hangingPunct="1">
              <a:defRPr/>
            </a:pPr>
            <a:r>
              <a:rPr lang="en-US" sz="3200" b="1" dirty="0">
                <a:effectLst>
                  <a:outerShdw blurRad="38100" dist="38100" dir="2700000" algn="tl">
                    <a:srgbClr val="C0C0C0"/>
                  </a:outerShdw>
                </a:effectLst>
              </a:rPr>
              <a:t>Diversity Management</a:t>
            </a:r>
          </a:p>
        </p:txBody>
      </p:sp>
      <p:sp>
        <p:nvSpPr>
          <p:cNvPr id="29699" name="Text Box 5">
            <a:extLst>
              <a:ext uri="{FF2B5EF4-FFF2-40B4-BE49-F238E27FC236}">
                <a16:creationId xmlns:a16="http://schemas.microsoft.com/office/drawing/2014/main" id="{1709E307-5D63-506F-F1C9-F0D77EA787B9}"/>
              </a:ext>
            </a:extLst>
          </p:cNvPr>
          <p:cNvSpPr txBox="1">
            <a:spLocks noChangeArrowheads="1"/>
          </p:cNvSpPr>
          <p:nvPr/>
        </p:nvSpPr>
        <p:spPr bwMode="auto">
          <a:xfrm>
            <a:off x="838200" y="1501775"/>
            <a:ext cx="7620000"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sz="2600" u="sng" dirty="0">
                <a:solidFill>
                  <a:srgbClr val="FF0000"/>
                </a:solidFill>
              </a:rPr>
              <a:t>Diversity </a:t>
            </a:r>
            <a:r>
              <a:rPr lang="en-US" altLang="en-US" sz="2600" u="sng" dirty="0" err="1">
                <a:solidFill>
                  <a:srgbClr val="FF0000"/>
                </a:solidFill>
              </a:rPr>
              <a:t>Managememnt</a:t>
            </a:r>
            <a:r>
              <a:rPr lang="en-US" altLang="en-US" sz="2600" u="sng" dirty="0">
                <a:solidFill>
                  <a:srgbClr val="FF0000"/>
                </a:solidFill>
              </a:rPr>
              <a:t>:</a:t>
            </a:r>
          </a:p>
          <a:p>
            <a:pPr algn="just" eaLnBrk="1" hangingPunct="1">
              <a:spcBef>
                <a:spcPct val="50000"/>
              </a:spcBef>
              <a:buClrTx/>
              <a:buFontTx/>
              <a:buNone/>
            </a:pPr>
            <a:endParaRPr lang="en-US" altLang="en-US" sz="500" u="sng" dirty="0">
              <a:solidFill>
                <a:srgbClr val="FF0000"/>
              </a:solidFill>
            </a:endParaRPr>
          </a:p>
          <a:p>
            <a:pPr algn="just" eaLnBrk="1" hangingPunct="1">
              <a:spcBef>
                <a:spcPct val="50000"/>
              </a:spcBef>
              <a:buClrTx/>
              <a:buFontTx/>
              <a:buNone/>
            </a:pPr>
            <a:r>
              <a:rPr lang="en-US" altLang="en-US" dirty="0">
                <a:solidFill>
                  <a:srgbClr val="FF0000"/>
                </a:solidFill>
              </a:rPr>
              <a:t>The process and programs by which managers make everyone more aware of and sensitive to the needs and differences of others. Diversity is likely to be more useful if every realizes its importance and is ready to accept it.</a:t>
            </a:r>
          </a:p>
          <a:p>
            <a:pPr algn="just" eaLnBrk="1" hangingPunct="1">
              <a:spcBef>
                <a:spcPct val="50000"/>
              </a:spcBef>
              <a:buClrTx/>
              <a:buFontTx/>
              <a:buNone/>
            </a:pPr>
            <a:endParaRPr lang="en-US" altLang="en-US" sz="1200" dirty="0">
              <a:solidFill>
                <a:srgbClr val="FF0000"/>
              </a:solidFill>
            </a:endParaRPr>
          </a:p>
          <a:p>
            <a:pPr algn="just" eaLnBrk="1" hangingPunct="1">
              <a:spcBef>
                <a:spcPct val="50000"/>
              </a:spcBef>
              <a:buClrTx/>
              <a:buFontTx/>
              <a:buNone/>
            </a:pPr>
            <a:r>
              <a:rPr lang="en-US" altLang="en-US" sz="2600" u="sng" dirty="0">
                <a:solidFill>
                  <a:srgbClr val="FF0000"/>
                </a:solidFill>
              </a:rPr>
              <a:t>Affirmative Action:</a:t>
            </a:r>
          </a:p>
          <a:p>
            <a:pPr algn="just" eaLnBrk="1" hangingPunct="1">
              <a:spcBef>
                <a:spcPct val="50000"/>
              </a:spcBef>
              <a:buClrTx/>
              <a:buFontTx/>
              <a:buNone/>
            </a:pPr>
            <a:r>
              <a:rPr lang="en-US" altLang="en-US" dirty="0">
                <a:solidFill>
                  <a:srgbClr val="FF0000"/>
                </a:solidFill>
              </a:rPr>
              <a:t>Steps taken for the purpose of eliminating the present effects of past discrimination.</a:t>
            </a:r>
            <a:endParaRPr lang="en-US" altLang="en-US" u="sng" dirty="0">
              <a:solidFill>
                <a:srgbClr val="FF0000"/>
              </a:solidFill>
            </a:endParaRPr>
          </a:p>
        </p:txBody>
      </p:sp>
    </p:spTree>
  </p:cSld>
  <p:clrMapOvr>
    <a:masterClrMapping/>
  </p:clrMapOvr>
  <p:transition spd="med">
    <p:strips dir="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5DF1F875-3438-36B6-473D-96F340EC8789}"/>
              </a:ext>
            </a:extLst>
          </p:cNvPr>
          <p:cNvSpPr>
            <a:spLocks noGrp="1" noChangeArrowheads="1"/>
          </p:cNvSpPr>
          <p:nvPr>
            <p:ph type="title"/>
          </p:nvPr>
        </p:nvSpPr>
        <p:spPr>
          <a:xfrm>
            <a:off x="838200" y="457200"/>
            <a:ext cx="7315200" cy="685800"/>
          </a:xfrm>
        </p:spPr>
        <p:txBody>
          <a:bodyPr/>
          <a:lstStyle/>
          <a:p>
            <a:pPr algn="ctr" eaLnBrk="1" hangingPunct="1">
              <a:defRPr/>
            </a:pPr>
            <a:r>
              <a:rPr lang="en-US" sz="3200" b="1" dirty="0">
                <a:effectLst>
                  <a:outerShdw blurRad="38100" dist="38100" dir="2700000" algn="tl">
                    <a:srgbClr val="C0C0C0"/>
                  </a:outerShdw>
                </a:effectLst>
              </a:rPr>
              <a:t>Diversity Management</a:t>
            </a:r>
          </a:p>
        </p:txBody>
      </p:sp>
      <p:sp>
        <p:nvSpPr>
          <p:cNvPr id="14340" name="Text Box 5">
            <a:extLst>
              <a:ext uri="{FF2B5EF4-FFF2-40B4-BE49-F238E27FC236}">
                <a16:creationId xmlns:a16="http://schemas.microsoft.com/office/drawing/2014/main" id="{0CD2DA82-77DD-0591-11A9-C82E5CFB6657}"/>
              </a:ext>
            </a:extLst>
          </p:cNvPr>
          <p:cNvSpPr txBox="1">
            <a:spLocks noChangeArrowheads="1"/>
          </p:cNvSpPr>
          <p:nvPr/>
        </p:nvSpPr>
        <p:spPr bwMode="auto">
          <a:xfrm>
            <a:off x="838200" y="1316038"/>
            <a:ext cx="7620000" cy="500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algn="just" eaLnBrk="1" hangingPunct="1">
              <a:spcBef>
                <a:spcPct val="50000"/>
              </a:spcBef>
              <a:defRPr/>
            </a:pPr>
            <a:r>
              <a:rPr lang="en-US" sz="2400" dirty="0">
                <a:solidFill>
                  <a:srgbClr val="FF0000"/>
                </a:solidFill>
              </a:rPr>
              <a:t>Diversity management is undertaken to avoid workplace discriminatory practices :</a:t>
            </a:r>
          </a:p>
          <a:p>
            <a:pPr algn="just" eaLnBrk="1" hangingPunct="1">
              <a:spcBef>
                <a:spcPct val="50000"/>
              </a:spcBef>
              <a:defRPr/>
            </a:pPr>
            <a:r>
              <a:rPr lang="en-US" sz="2400" u="sng" dirty="0">
                <a:solidFill>
                  <a:srgbClr val="FF0000"/>
                </a:solidFill>
              </a:rPr>
              <a:t>Recruitment:</a:t>
            </a:r>
            <a:endParaRPr lang="en-US" sz="2400" dirty="0">
              <a:solidFill>
                <a:srgbClr val="FF0000"/>
              </a:solidFill>
            </a:endParaRPr>
          </a:p>
          <a:p>
            <a:pPr marL="342900" indent="-342900" algn="just" eaLnBrk="1" hangingPunct="1">
              <a:spcBef>
                <a:spcPct val="50000"/>
              </a:spcBef>
              <a:buFont typeface="Arial" pitchFamily="34" charset="0"/>
              <a:buChar char="•"/>
              <a:defRPr/>
            </a:pPr>
            <a:endParaRPr lang="en-US" sz="500" dirty="0">
              <a:solidFill>
                <a:srgbClr val="FF0000"/>
              </a:solidFill>
            </a:endParaRPr>
          </a:p>
          <a:p>
            <a:pPr marL="342900" indent="-342900" algn="just" eaLnBrk="1" hangingPunct="1">
              <a:spcBef>
                <a:spcPct val="50000"/>
              </a:spcBef>
              <a:buFont typeface="Arial" pitchFamily="34" charset="0"/>
              <a:buChar char="•"/>
              <a:defRPr/>
            </a:pPr>
            <a:r>
              <a:rPr lang="en-US" sz="2400" dirty="0">
                <a:solidFill>
                  <a:srgbClr val="FF0000"/>
                </a:solidFill>
              </a:rPr>
              <a:t>World of Mouth regarding job opportunities should be avoided as it may create a perception about favoring some particular group.</a:t>
            </a:r>
          </a:p>
          <a:p>
            <a:pPr marL="342900" indent="-342900" algn="just" eaLnBrk="1" hangingPunct="1">
              <a:spcBef>
                <a:spcPct val="50000"/>
              </a:spcBef>
              <a:buFont typeface="Arial" pitchFamily="34" charset="0"/>
              <a:buChar char="•"/>
              <a:defRPr/>
            </a:pPr>
            <a:r>
              <a:rPr lang="en-US" sz="2400" dirty="0">
                <a:solidFill>
                  <a:srgbClr val="FF0000"/>
                </a:solidFill>
              </a:rPr>
              <a:t>Misleading information to bar some members of any group to apply for some job.</a:t>
            </a:r>
          </a:p>
          <a:p>
            <a:pPr marL="342900" indent="-342900" algn="just" eaLnBrk="1" hangingPunct="1">
              <a:spcBef>
                <a:spcPct val="50000"/>
              </a:spcBef>
              <a:buFont typeface="Arial" pitchFamily="34" charset="0"/>
              <a:buChar char="•"/>
              <a:defRPr/>
            </a:pPr>
            <a:r>
              <a:rPr lang="en-US" sz="2400" dirty="0">
                <a:solidFill>
                  <a:srgbClr val="FF0000"/>
                </a:solidFill>
              </a:rPr>
              <a:t>Help Wanted Ads only for males or only for females are considered unethical, unless gender is bona fide requirement for a job.</a:t>
            </a:r>
          </a:p>
        </p:txBody>
      </p:sp>
    </p:spTree>
  </p:cSld>
  <p:clrMapOvr>
    <a:masterClrMapping/>
  </p:clrMapOvr>
  <p:transition spd="med">
    <p:strips dir="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200A00FA-7328-C487-966D-4914BE26D2F5}"/>
              </a:ext>
            </a:extLst>
          </p:cNvPr>
          <p:cNvSpPr>
            <a:spLocks noGrp="1" noChangeArrowheads="1"/>
          </p:cNvSpPr>
          <p:nvPr>
            <p:ph type="title"/>
          </p:nvPr>
        </p:nvSpPr>
        <p:spPr>
          <a:xfrm>
            <a:off x="838200" y="457200"/>
            <a:ext cx="7315200" cy="685800"/>
          </a:xfrm>
        </p:spPr>
        <p:txBody>
          <a:bodyPr/>
          <a:lstStyle/>
          <a:p>
            <a:pPr algn="ctr" eaLnBrk="1" hangingPunct="1">
              <a:defRPr/>
            </a:pPr>
            <a:r>
              <a:rPr lang="en-US" sz="3200" b="1" dirty="0">
                <a:effectLst>
                  <a:outerShdw blurRad="38100" dist="38100" dir="2700000" algn="tl">
                    <a:srgbClr val="C0C0C0"/>
                  </a:outerShdw>
                </a:effectLst>
              </a:rPr>
              <a:t>Diversity Management</a:t>
            </a:r>
          </a:p>
        </p:txBody>
      </p:sp>
      <p:sp>
        <p:nvSpPr>
          <p:cNvPr id="14340" name="Text Box 5">
            <a:extLst>
              <a:ext uri="{FF2B5EF4-FFF2-40B4-BE49-F238E27FC236}">
                <a16:creationId xmlns:a16="http://schemas.microsoft.com/office/drawing/2014/main" id="{BC7AA649-45C4-0CB0-8447-A625B7D887B8}"/>
              </a:ext>
            </a:extLst>
          </p:cNvPr>
          <p:cNvSpPr txBox="1">
            <a:spLocks noChangeArrowheads="1"/>
          </p:cNvSpPr>
          <p:nvPr/>
        </p:nvSpPr>
        <p:spPr bwMode="auto">
          <a:xfrm>
            <a:off x="609600" y="1295400"/>
            <a:ext cx="8001000"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algn="just" eaLnBrk="1" hangingPunct="1">
              <a:spcBef>
                <a:spcPct val="50000"/>
              </a:spcBef>
              <a:defRPr/>
            </a:pPr>
            <a:r>
              <a:rPr lang="en-US" sz="2400" u="sng" dirty="0">
                <a:solidFill>
                  <a:srgbClr val="FF0000"/>
                </a:solidFill>
              </a:rPr>
              <a:t>Selection Standards:</a:t>
            </a:r>
            <a:endParaRPr lang="en-US" sz="2400" dirty="0">
              <a:solidFill>
                <a:srgbClr val="FF0000"/>
              </a:solidFill>
            </a:endParaRPr>
          </a:p>
          <a:p>
            <a:pPr marL="342900" indent="-342900" algn="just" eaLnBrk="1" hangingPunct="1">
              <a:spcBef>
                <a:spcPct val="50000"/>
              </a:spcBef>
              <a:buFont typeface="Arial" pitchFamily="34" charset="0"/>
              <a:buChar char="•"/>
              <a:defRPr/>
            </a:pPr>
            <a:r>
              <a:rPr lang="en-US" sz="2400" dirty="0">
                <a:solidFill>
                  <a:srgbClr val="FF0000"/>
                </a:solidFill>
              </a:rPr>
              <a:t>Tests which are irrelevant to the job should be avoided.</a:t>
            </a:r>
          </a:p>
          <a:p>
            <a:pPr marL="342900" indent="-342900" algn="just" eaLnBrk="1" hangingPunct="1">
              <a:spcBef>
                <a:spcPct val="50000"/>
              </a:spcBef>
              <a:buFont typeface="Arial" pitchFamily="34" charset="0"/>
              <a:buChar char="•"/>
              <a:defRPr/>
            </a:pPr>
            <a:r>
              <a:rPr lang="en-US" sz="2400" dirty="0">
                <a:solidFill>
                  <a:srgbClr val="FF0000"/>
                </a:solidFill>
              </a:rPr>
              <a:t>Reference to relatives or Known candidates will deprive the organization from hiring brilliant people.</a:t>
            </a:r>
          </a:p>
          <a:p>
            <a:pPr marL="342900" indent="-342900" algn="just" eaLnBrk="1" hangingPunct="1">
              <a:spcBef>
                <a:spcPct val="50000"/>
              </a:spcBef>
              <a:buFont typeface="Arial" pitchFamily="34" charset="0"/>
              <a:buChar char="•"/>
              <a:defRPr/>
            </a:pPr>
            <a:r>
              <a:rPr lang="en-US" sz="2400" dirty="0">
                <a:solidFill>
                  <a:srgbClr val="FF0000"/>
                </a:solidFill>
              </a:rPr>
              <a:t>Height, weight or physical characteristics are unethical unless any justification is given.</a:t>
            </a:r>
          </a:p>
          <a:p>
            <a:pPr marL="342900" indent="-342900" algn="just" eaLnBrk="1" hangingPunct="1">
              <a:spcBef>
                <a:spcPct val="50000"/>
              </a:spcBef>
              <a:buFont typeface="Arial" pitchFamily="34" charset="0"/>
              <a:buChar char="•"/>
              <a:defRPr/>
            </a:pPr>
            <a:r>
              <a:rPr lang="en-US" sz="2400" dirty="0">
                <a:solidFill>
                  <a:srgbClr val="FF0000"/>
                </a:solidFill>
              </a:rPr>
              <a:t>Arrest records are considered unethical; such cases may be decided on case-to-case basis.</a:t>
            </a:r>
          </a:p>
          <a:p>
            <a:pPr marL="342900" indent="-342900" algn="just" eaLnBrk="1" hangingPunct="1">
              <a:spcBef>
                <a:spcPct val="50000"/>
              </a:spcBef>
              <a:buFont typeface="Arial" pitchFamily="34" charset="0"/>
              <a:buChar char="•"/>
              <a:defRPr/>
            </a:pPr>
            <a:r>
              <a:rPr lang="en-US" sz="2400" dirty="0">
                <a:solidFill>
                  <a:srgbClr val="FF0000"/>
                </a:solidFill>
              </a:rPr>
              <a:t>Application forms should not contain questions about disabilities, marital status, age, citizenship.</a:t>
            </a:r>
          </a:p>
        </p:txBody>
      </p:sp>
    </p:spTree>
  </p:cSld>
  <p:clrMapOvr>
    <a:masterClrMapping/>
  </p:clrMapOvr>
  <p:transition spd="med">
    <p:strips dir="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9D7826C7-3913-335B-0603-01B6E6024CF7}"/>
              </a:ext>
            </a:extLst>
          </p:cNvPr>
          <p:cNvSpPr>
            <a:spLocks noGrp="1" noChangeArrowheads="1"/>
          </p:cNvSpPr>
          <p:nvPr>
            <p:ph type="title"/>
          </p:nvPr>
        </p:nvSpPr>
        <p:spPr>
          <a:xfrm>
            <a:off x="838200" y="381000"/>
            <a:ext cx="7458075" cy="685800"/>
          </a:xfrm>
        </p:spPr>
        <p:txBody>
          <a:bodyPr/>
          <a:lstStyle/>
          <a:p>
            <a:pPr algn="ctr" eaLnBrk="1" hangingPunct="1">
              <a:defRPr/>
            </a:pPr>
            <a:r>
              <a:rPr lang="en-US" sz="3200" b="1" dirty="0">
                <a:effectLst>
                  <a:outerShdw blurRad="38100" dist="38100" dir="2700000" algn="tl">
                    <a:srgbClr val="C0C0C0"/>
                  </a:outerShdw>
                </a:effectLst>
              </a:rPr>
              <a:t>Diversity Management Practices</a:t>
            </a:r>
          </a:p>
        </p:txBody>
      </p:sp>
      <p:sp>
        <p:nvSpPr>
          <p:cNvPr id="14340" name="Text Box 5">
            <a:extLst>
              <a:ext uri="{FF2B5EF4-FFF2-40B4-BE49-F238E27FC236}">
                <a16:creationId xmlns:a16="http://schemas.microsoft.com/office/drawing/2014/main" id="{AC0A552C-F3B0-C804-708D-F52D688CAC11}"/>
              </a:ext>
            </a:extLst>
          </p:cNvPr>
          <p:cNvSpPr txBox="1">
            <a:spLocks noChangeArrowheads="1"/>
          </p:cNvSpPr>
          <p:nvPr/>
        </p:nvSpPr>
        <p:spPr bwMode="auto">
          <a:xfrm>
            <a:off x="685800" y="1219200"/>
            <a:ext cx="7924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algn="just" eaLnBrk="1" hangingPunct="1">
              <a:spcBef>
                <a:spcPct val="50000"/>
              </a:spcBef>
              <a:defRPr/>
            </a:pPr>
            <a:r>
              <a:rPr lang="en-US" sz="2400" dirty="0">
                <a:solidFill>
                  <a:srgbClr val="FF0000"/>
                </a:solidFill>
              </a:rPr>
              <a:t>Diversity management aims at maximizing diversity’s potential benefits while minimizing its potential barriers. Special attention should be paid to national culture of employees for better management of workplace diversity. </a:t>
            </a:r>
          </a:p>
          <a:p>
            <a:pPr algn="just" eaLnBrk="1" hangingPunct="1">
              <a:spcBef>
                <a:spcPct val="50000"/>
              </a:spcBef>
              <a:defRPr/>
            </a:pPr>
            <a:r>
              <a:rPr lang="en-US" sz="2400" dirty="0">
                <a:solidFill>
                  <a:srgbClr val="FF0000"/>
                </a:solidFill>
              </a:rPr>
              <a:t>Diversity management usually involves five steps:</a:t>
            </a:r>
          </a:p>
          <a:p>
            <a:pPr marL="342900" indent="-342900" algn="just" eaLnBrk="1" hangingPunct="1">
              <a:spcBef>
                <a:spcPct val="50000"/>
              </a:spcBef>
              <a:buFont typeface="Arial" pitchFamily="34" charset="0"/>
              <a:buChar char="•"/>
              <a:defRPr/>
            </a:pPr>
            <a:r>
              <a:rPr lang="en-US" sz="2400" dirty="0">
                <a:solidFill>
                  <a:srgbClr val="FF0000"/>
                </a:solidFill>
              </a:rPr>
              <a:t>Provide strong leadership (top leadership acting as role model to encourage diversity)</a:t>
            </a:r>
          </a:p>
          <a:p>
            <a:pPr marL="342900" indent="-342900" algn="just" eaLnBrk="1" hangingPunct="1">
              <a:spcBef>
                <a:spcPct val="50000"/>
              </a:spcBef>
              <a:buFont typeface="Arial" pitchFamily="34" charset="0"/>
              <a:buChar char="•"/>
              <a:defRPr/>
            </a:pPr>
            <a:r>
              <a:rPr lang="en-US" sz="2400" dirty="0">
                <a:solidFill>
                  <a:srgbClr val="FF0000"/>
                </a:solidFill>
              </a:rPr>
              <a:t>Assess the Situation (assess nature of diversity and what are issues to be addressed)</a:t>
            </a:r>
          </a:p>
          <a:p>
            <a:pPr marL="342900" indent="-342900" algn="just" eaLnBrk="1" hangingPunct="1">
              <a:spcBef>
                <a:spcPct val="50000"/>
              </a:spcBef>
              <a:buFont typeface="Arial" pitchFamily="34" charset="0"/>
              <a:buChar char="•"/>
              <a:defRPr/>
            </a:pPr>
            <a:r>
              <a:rPr lang="en-US" sz="2400" dirty="0">
                <a:solidFill>
                  <a:srgbClr val="FF0000"/>
                </a:solidFill>
              </a:rPr>
              <a:t>Provide diversity training and education (highlight merits of diversity and  giving importance/ respect to diverse people) </a:t>
            </a:r>
          </a:p>
        </p:txBody>
      </p:sp>
    </p:spTree>
  </p:cSld>
  <p:clrMapOvr>
    <a:masterClrMapping/>
  </p:clrMapOvr>
  <p:transition spd="med">
    <p:strips dir="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F9634F24-9BCB-4B83-4C60-859E3D7250A4}"/>
              </a:ext>
            </a:extLst>
          </p:cNvPr>
          <p:cNvSpPr>
            <a:spLocks noGrp="1" noChangeArrowheads="1"/>
          </p:cNvSpPr>
          <p:nvPr>
            <p:ph type="title"/>
          </p:nvPr>
        </p:nvSpPr>
        <p:spPr>
          <a:xfrm>
            <a:off x="838200" y="381000"/>
            <a:ext cx="7458075" cy="685800"/>
          </a:xfrm>
        </p:spPr>
        <p:txBody>
          <a:bodyPr/>
          <a:lstStyle/>
          <a:p>
            <a:pPr algn="ctr" eaLnBrk="1" hangingPunct="1">
              <a:defRPr/>
            </a:pPr>
            <a:r>
              <a:rPr lang="en-US" sz="3200" b="1" dirty="0">
                <a:effectLst>
                  <a:outerShdw blurRad="38100" dist="38100" dir="2700000" algn="tl">
                    <a:srgbClr val="C0C0C0"/>
                  </a:outerShdw>
                </a:effectLst>
              </a:rPr>
              <a:t>Diversity Management Practices</a:t>
            </a:r>
          </a:p>
        </p:txBody>
      </p:sp>
      <p:sp>
        <p:nvSpPr>
          <p:cNvPr id="2" name="TextBox 1">
            <a:extLst>
              <a:ext uri="{FF2B5EF4-FFF2-40B4-BE49-F238E27FC236}">
                <a16:creationId xmlns:a16="http://schemas.microsoft.com/office/drawing/2014/main" id="{3B80A689-E088-9452-1CAD-7DC775B2928B}"/>
              </a:ext>
            </a:extLst>
          </p:cNvPr>
          <p:cNvSpPr txBox="1"/>
          <p:nvPr/>
        </p:nvSpPr>
        <p:spPr>
          <a:xfrm>
            <a:off x="838200" y="1447800"/>
            <a:ext cx="7772400" cy="254000"/>
          </a:xfrm>
          <a:prstGeom prst="rect">
            <a:avLst/>
          </a:prstGeom>
          <a:noFill/>
        </p:spPr>
        <p:txBody>
          <a:bodyPr>
            <a:spAutoFit/>
          </a:bodyPr>
          <a:lstStyle/>
          <a:p>
            <a:pPr marL="171450" indent="-171450" eaLnBrk="1" hangingPunct="1">
              <a:buFont typeface="Arial" pitchFamily="34" charset="0"/>
              <a:buChar char="•"/>
              <a:defRPr/>
            </a:pPr>
            <a:endParaRPr lang="en-US" sz="1050" dirty="0">
              <a:latin typeface="Arial" charset="0"/>
            </a:endParaRPr>
          </a:p>
        </p:txBody>
      </p:sp>
      <p:sp>
        <p:nvSpPr>
          <p:cNvPr id="37892" name="Text Box 5">
            <a:extLst>
              <a:ext uri="{FF2B5EF4-FFF2-40B4-BE49-F238E27FC236}">
                <a16:creationId xmlns:a16="http://schemas.microsoft.com/office/drawing/2014/main" id="{ABE0E0C5-82E2-B314-08CA-5CD6104F17B4}"/>
              </a:ext>
            </a:extLst>
          </p:cNvPr>
          <p:cNvSpPr txBox="1">
            <a:spLocks noChangeArrowheads="1"/>
          </p:cNvSpPr>
          <p:nvPr/>
        </p:nvSpPr>
        <p:spPr bwMode="auto">
          <a:xfrm>
            <a:off x="685800" y="1219200"/>
            <a:ext cx="79248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 typeface="Arial" panose="020B0604020202020204" pitchFamily="34" charset="0"/>
              <a:buChar char="•"/>
            </a:pPr>
            <a:r>
              <a:rPr lang="en-US" altLang="en-US"/>
              <a:t>Change culture and management system </a:t>
            </a:r>
            <a:r>
              <a:rPr lang="en-US" altLang="en-US">
                <a:solidFill>
                  <a:srgbClr val="C00000"/>
                </a:solidFill>
              </a:rPr>
              <a:t>(workplace culture should demonstrate through words and actions and managers should follow established workplace values)</a:t>
            </a:r>
          </a:p>
          <a:p>
            <a:pPr algn="just" eaLnBrk="1" hangingPunct="1">
              <a:spcBef>
                <a:spcPct val="50000"/>
              </a:spcBef>
              <a:buClrTx/>
              <a:buFont typeface="Arial" panose="020B0604020202020204" pitchFamily="34" charset="0"/>
              <a:buChar char="•"/>
            </a:pPr>
            <a:endParaRPr lang="en-US" altLang="en-US" sz="600">
              <a:solidFill>
                <a:srgbClr val="C00000"/>
              </a:solidFill>
            </a:endParaRPr>
          </a:p>
          <a:p>
            <a:pPr algn="just" eaLnBrk="1" hangingPunct="1">
              <a:spcBef>
                <a:spcPct val="50000"/>
              </a:spcBef>
              <a:buClrTx/>
              <a:buFont typeface="Arial" panose="020B0604020202020204" pitchFamily="34" charset="0"/>
              <a:buChar char="•"/>
            </a:pPr>
            <a:r>
              <a:rPr lang="en-US" altLang="en-US"/>
              <a:t>Evaluate diversity management programs </a:t>
            </a:r>
            <a:r>
              <a:rPr lang="en-US" altLang="en-US">
                <a:solidFill>
                  <a:srgbClr val="C00000"/>
                </a:solidFill>
              </a:rPr>
              <a:t>(may conduct a survey to get views of employees about usefulness of the diversity rpogram.</a:t>
            </a:r>
          </a:p>
        </p:txBody>
      </p:sp>
    </p:spTree>
  </p:cSld>
  <p:clrMapOvr>
    <a:masterClrMapping/>
  </p:clrMapOvr>
  <p:transition spd="med">
    <p:strips dir="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185BD102-0C39-8CAB-336A-76BE615F4EF6}"/>
              </a:ext>
            </a:extLst>
          </p:cNvPr>
          <p:cNvSpPr>
            <a:spLocks noGrp="1" noChangeArrowheads="1"/>
          </p:cNvSpPr>
          <p:nvPr>
            <p:ph type="title"/>
          </p:nvPr>
        </p:nvSpPr>
        <p:spPr>
          <a:xfrm>
            <a:off x="838200" y="457200"/>
            <a:ext cx="7315200" cy="685800"/>
          </a:xfrm>
        </p:spPr>
        <p:txBody>
          <a:bodyPr/>
          <a:lstStyle/>
          <a:p>
            <a:pPr algn="ctr" eaLnBrk="1" hangingPunct="1">
              <a:defRPr/>
            </a:pPr>
            <a:r>
              <a:rPr lang="en-US" sz="3200" b="1" dirty="0">
                <a:effectLst>
                  <a:outerShdw blurRad="38100" dist="38100" dir="2700000" algn="tl">
                    <a:srgbClr val="C0C0C0"/>
                  </a:outerShdw>
                </a:effectLst>
              </a:rPr>
              <a:t>Diversity Management Practices</a:t>
            </a:r>
          </a:p>
        </p:txBody>
      </p:sp>
      <p:sp>
        <p:nvSpPr>
          <p:cNvPr id="14340" name="Text Box 5">
            <a:extLst>
              <a:ext uri="{FF2B5EF4-FFF2-40B4-BE49-F238E27FC236}">
                <a16:creationId xmlns:a16="http://schemas.microsoft.com/office/drawing/2014/main" id="{2DC1BAC9-4A31-DE82-FBD4-0036221B6C70}"/>
              </a:ext>
            </a:extLst>
          </p:cNvPr>
          <p:cNvSpPr txBox="1">
            <a:spLocks noChangeArrowheads="1"/>
          </p:cNvSpPr>
          <p:nvPr/>
        </p:nvSpPr>
        <p:spPr bwMode="auto">
          <a:xfrm>
            <a:off x="838200" y="1295400"/>
            <a:ext cx="7620000"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algn="just" eaLnBrk="1" hangingPunct="1">
              <a:spcBef>
                <a:spcPct val="50000"/>
              </a:spcBef>
              <a:defRPr/>
            </a:pPr>
            <a:endParaRPr lang="en-US" sz="500" u="sng" dirty="0">
              <a:solidFill>
                <a:srgbClr val="FF0000"/>
              </a:solidFill>
            </a:endParaRPr>
          </a:p>
          <a:p>
            <a:pPr marL="342900" indent="-342900" algn="just" eaLnBrk="1" hangingPunct="1">
              <a:spcBef>
                <a:spcPct val="50000"/>
              </a:spcBef>
              <a:buFont typeface="Arial" pitchFamily="34" charset="0"/>
              <a:buChar char="•"/>
              <a:defRPr/>
            </a:pPr>
            <a:r>
              <a:rPr lang="en-US" sz="2400" dirty="0">
                <a:solidFill>
                  <a:srgbClr val="FF0000"/>
                </a:solidFill>
              </a:rPr>
              <a:t>Educate managers on EEO.</a:t>
            </a:r>
          </a:p>
          <a:p>
            <a:pPr marL="342900" indent="-342900" algn="just" eaLnBrk="1" hangingPunct="1">
              <a:spcBef>
                <a:spcPct val="50000"/>
              </a:spcBef>
              <a:buFont typeface="Arial" pitchFamily="34" charset="0"/>
              <a:buChar char="•"/>
              <a:defRPr/>
            </a:pPr>
            <a:r>
              <a:rPr lang="en-US" sz="2400" dirty="0">
                <a:solidFill>
                  <a:srgbClr val="FF0000"/>
                </a:solidFill>
              </a:rPr>
              <a:t>Emphasize on benefits of diversity in both formal and informal sessions/meetings.</a:t>
            </a:r>
          </a:p>
          <a:p>
            <a:pPr marL="342900" indent="-342900" algn="just" eaLnBrk="1" hangingPunct="1">
              <a:spcBef>
                <a:spcPct val="50000"/>
              </a:spcBef>
              <a:buFont typeface="Arial" pitchFamily="34" charset="0"/>
              <a:buChar char="•"/>
              <a:defRPr/>
            </a:pPr>
            <a:r>
              <a:rPr lang="en-US" sz="2400" dirty="0">
                <a:solidFill>
                  <a:srgbClr val="FF0000"/>
                </a:solidFill>
              </a:rPr>
              <a:t>Foster personal development practices and acknowledge value of diverse talent.</a:t>
            </a:r>
          </a:p>
          <a:p>
            <a:pPr marL="342900" indent="-342900" algn="just" eaLnBrk="1" hangingPunct="1">
              <a:spcBef>
                <a:spcPct val="50000"/>
              </a:spcBef>
              <a:buFont typeface="Arial" pitchFamily="34" charset="0"/>
              <a:buChar char="•"/>
              <a:defRPr/>
            </a:pPr>
            <a:r>
              <a:rPr lang="en-US" sz="2400" dirty="0">
                <a:solidFill>
                  <a:srgbClr val="FF0000"/>
                </a:solidFill>
              </a:rPr>
              <a:t>Continuous diversity training to be included in the annual training program.</a:t>
            </a:r>
          </a:p>
          <a:p>
            <a:pPr marL="342900" indent="-342900" algn="just" eaLnBrk="1" hangingPunct="1">
              <a:spcBef>
                <a:spcPct val="50000"/>
              </a:spcBef>
              <a:buFont typeface="Arial" pitchFamily="34" charset="0"/>
              <a:buChar char="•"/>
              <a:defRPr/>
            </a:pPr>
            <a:r>
              <a:rPr lang="en-US" sz="2400" dirty="0">
                <a:solidFill>
                  <a:srgbClr val="FF0000"/>
                </a:solidFill>
              </a:rPr>
              <a:t>Look for any barriers for equal opportunity for advancement. </a:t>
            </a:r>
          </a:p>
        </p:txBody>
      </p:sp>
    </p:spTree>
  </p:cSld>
  <p:clrMapOvr>
    <a:masterClrMapping/>
  </p:clrMapOvr>
  <p:transition spd="med">
    <p:strips dir="rd"/>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descr="Chap01Bkgd02">
            <a:extLst>
              <a:ext uri="{FF2B5EF4-FFF2-40B4-BE49-F238E27FC236}">
                <a16:creationId xmlns:a16="http://schemas.microsoft.com/office/drawing/2014/main" id="{DCF033D9-17D3-831D-7F63-B9CE462C5D11}"/>
              </a:ext>
            </a:extLst>
          </p:cNvPr>
          <p:cNvSpPr>
            <a:spLocks noGrp="1" noChangeArrowheads="1"/>
          </p:cNvSpPr>
          <p:nvPr>
            <p:ph type="title"/>
          </p:nvPr>
        </p:nvSpPr>
        <p:spPr>
          <a:xfrm>
            <a:off x="838200" y="1600200"/>
            <a:ext cx="7315200" cy="3581400"/>
          </a:xfrm>
          <a:solidFill>
            <a:schemeClr val="bg1"/>
          </a:solidFill>
        </p:spPr>
        <p:txBody>
          <a:bodyPr lIns="274320"/>
          <a:lstStyle/>
          <a:p>
            <a:pPr algn="ctr" eaLnBrk="1" hangingPunct="1">
              <a:lnSpc>
                <a:spcPct val="110000"/>
              </a:lnSpc>
            </a:pPr>
            <a:r>
              <a:rPr lang="en-US" altLang="en-US" sz="4800" b="1">
                <a:solidFill>
                  <a:srgbClr val="A50021"/>
                </a:solidFill>
              </a:rPr>
              <a:t>ORGANIZATIONAL CULTURE AND ENVIRONMENT</a:t>
            </a:r>
            <a:endParaRPr lang="en-US" altLang="en-US" sz="3200" b="1">
              <a:solidFill>
                <a:srgbClr val="A50021"/>
              </a:solidFill>
            </a:endParaRPr>
          </a:p>
        </p:txBody>
      </p:sp>
    </p:spTree>
  </p:cSld>
  <p:clrMapOvr>
    <a:masterClrMapping/>
  </p:clrMapOvr>
  <p:transition>
    <p:cut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6">
            <a:extLst>
              <a:ext uri="{FF2B5EF4-FFF2-40B4-BE49-F238E27FC236}">
                <a16:creationId xmlns:a16="http://schemas.microsoft.com/office/drawing/2014/main" id="{60FE8D5F-FAB3-7ECB-D03A-CA7CA180DD8B}"/>
              </a:ext>
            </a:extLst>
          </p:cNvPr>
          <p:cNvSpPr txBox="1">
            <a:spLocks noChangeArrowheads="1"/>
          </p:cNvSpPr>
          <p:nvPr/>
        </p:nvSpPr>
        <p:spPr bwMode="auto">
          <a:xfrm>
            <a:off x="1295400" y="479425"/>
            <a:ext cx="655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Organizational Culture</a:t>
            </a:r>
          </a:p>
        </p:txBody>
      </p:sp>
      <p:sp>
        <p:nvSpPr>
          <p:cNvPr id="44035" name="Text Box 6">
            <a:extLst>
              <a:ext uri="{FF2B5EF4-FFF2-40B4-BE49-F238E27FC236}">
                <a16:creationId xmlns:a16="http://schemas.microsoft.com/office/drawing/2014/main" id="{66891BD5-970E-4AE6-C91B-DCD97D756B84}"/>
              </a:ext>
            </a:extLst>
          </p:cNvPr>
          <p:cNvSpPr txBox="1">
            <a:spLocks noChangeArrowheads="1"/>
          </p:cNvSpPr>
          <p:nvPr/>
        </p:nvSpPr>
        <p:spPr bwMode="auto">
          <a:xfrm>
            <a:off x="533400" y="1295400"/>
            <a:ext cx="82296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lnSpc>
                <a:spcPct val="150000"/>
              </a:lnSpc>
              <a:spcBef>
                <a:spcPct val="50000"/>
              </a:spcBef>
              <a:buClrTx/>
              <a:buFont typeface="Arial" panose="020B0604020202020204" pitchFamily="34" charset="0"/>
              <a:buChar char="•"/>
            </a:pPr>
            <a:r>
              <a:rPr lang="en-US" altLang="en-US" sz="2800" dirty="0">
                <a:solidFill>
                  <a:srgbClr val="FF0000"/>
                </a:solidFill>
              </a:rPr>
              <a:t>Organizational Culture:  It is described as the shared values, principles, traditions, the way of doing things that influence the way organizational members act.</a:t>
            </a:r>
          </a:p>
          <a:p>
            <a:pPr algn="just" eaLnBrk="1" hangingPunct="1">
              <a:lnSpc>
                <a:spcPct val="150000"/>
              </a:lnSpc>
              <a:spcBef>
                <a:spcPct val="50000"/>
              </a:spcBef>
              <a:buClrTx/>
              <a:buFont typeface="Arial" panose="020B0604020202020204" pitchFamily="34" charset="0"/>
              <a:buChar char="•"/>
            </a:pPr>
            <a:r>
              <a:rPr lang="en-US" altLang="en-US" sz="2800" dirty="0">
                <a:solidFill>
                  <a:srgbClr val="FF0000"/>
                </a:solidFill>
              </a:rPr>
              <a:t>Values: </a:t>
            </a:r>
            <a:r>
              <a:rPr lang="en-US" altLang="en-US" sz="2800" b="0" dirty="0">
                <a:solidFill>
                  <a:srgbClr val="FF0000"/>
                </a:solidFill>
              </a:rPr>
              <a:t> </a:t>
            </a:r>
            <a:r>
              <a:rPr lang="en-US" altLang="en-US" sz="2800" dirty="0">
                <a:solidFill>
                  <a:srgbClr val="FF0000"/>
                </a:solidFill>
              </a:rPr>
              <a:t>These are the preferred modes of actions that employees adopt over the converse  actions,</a:t>
            </a:r>
          </a:p>
        </p:txBody>
      </p:sp>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6">
            <a:extLst>
              <a:ext uri="{FF2B5EF4-FFF2-40B4-BE49-F238E27FC236}">
                <a16:creationId xmlns:a16="http://schemas.microsoft.com/office/drawing/2014/main" id="{2D9649F0-909C-05BA-295B-7B9608F82C74}"/>
              </a:ext>
            </a:extLst>
          </p:cNvPr>
          <p:cNvSpPr txBox="1">
            <a:spLocks noChangeArrowheads="1"/>
          </p:cNvSpPr>
          <p:nvPr/>
        </p:nvSpPr>
        <p:spPr bwMode="auto">
          <a:xfrm>
            <a:off x="533400" y="1524000"/>
            <a:ext cx="8229600"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 typeface="Arial" panose="020B0604020202020204" pitchFamily="34" charset="0"/>
              <a:buChar char="•"/>
            </a:pPr>
            <a:r>
              <a:rPr lang="en-US" altLang="en-US" dirty="0">
                <a:solidFill>
                  <a:srgbClr val="FF0000"/>
                </a:solidFill>
              </a:rPr>
              <a:t> Omnipotent View:  The view that managers are directly responsible for an organization’s success or failure. </a:t>
            </a:r>
            <a:endParaRPr lang="en-US" altLang="en-US" sz="1000" dirty="0">
              <a:solidFill>
                <a:srgbClr val="FF0000"/>
              </a:solidFill>
            </a:endParaRPr>
          </a:p>
          <a:p>
            <a:pPr algn="just" eaLnBrk="1" hangingPunct="1">
              <a:spcBef>
                <a:spcPct val="50000"/>
              </a:spcBef>
              <a:buClrTx/>
              <a:buFont typeface="Arial" panose="020B0604020202020204" pitchFamily="34" charset="0"/>
              <a:buChar char="•"/>
            </a:pPr>
            <a:endParaRPr lang="en-US" altLang="en-US" sz="500" dirty="0">
              <a:solidFill>
                <a:srgbClr val="FF0000"/>
              </a:solidFill>
            </a:endParaRPr>
          </a:p>
          <a:p>
            <a:pPr algn="just" eaLnBrk="1" hangingPunct="1">
              <a:spcBef>
                <a:spcPct val="50000"/>
              </a:spcBef>
              <a:buClrTx/>
              <a:buFont typeface="Arial" panose="020B0604020202020204" pitchFamily="34" charset="0"/>
              <a:buChar char="•"/>
            </a:pPr>
            <a:r>
              <a:rPr lang="en-US" altLang="en-US" dirty="0">
                <a:solidFill>
                  <a:srgbClr val="FF0000"/>
                </a:solidFill>
              </a:rPr>
              <a:t> Symbolic View: The view that much of an organization’s success or failure is due to external forces outside manager’s control. </a:t>
            </a:r>
          </a:p>
          <a:p>
            <a:pPr algn="just" eaLnBrk="1" hangingPunct="1">
              <a:spcBef>
                <a:spcPct val="50000"/>
              </a:spcBef>
              <a:buClrTx/>
              <a:buFont typeface="Arial" panose="020B0604020202020204" pitchFamily="34" charset="0"/>
              <a:buChar char="•"/>
            </a:pPr>
            <a:endParaRPr lang="en-US" altLang="en-US" sz="500" dirty="0">
              <a:solidFill>
                <a:srgbClr val="FF0000"/>
              </a:solidFill>
            </a:endParaRPr>
          </a:p>
          <a:p>
            <a:pPr algn="just" eaLnBrk="1" hangingPunct="1">
              <a:spcBef>
                <a:spcPct val="50000"/>
              </a:spcBef>
              <a:buClrTx/>
              <a:buFont typeface="Arial" panose="020B0604020202020204" pitchFamily="34" charset="0"/>
              <a:buChar char="•"/>
            </a:pPr>
            <a:r>
              <a:rPr lang="en-US" altLang="en-US" dirty="0">
                <a:solidFill>
                  <a:srgbClr val="FF0000"/>
                </a:solidFill>
              </a:rPr>
              <a:t> What Reality Suggests: In reality managers are neither all powerful nor helpless; they have to work under various constraints.</a:t>
            </a:r>
          </a:p>
        </p:txBody>
      </p:sp>
      <p:sp>
        <p:nvSpPr>
          <p:cNvPr id="45059" name="Text Box 16">
            <a:extLst>
              <a:ext uri="{FF2B5EF4-FFF2-40B4-BE49-F238E27FC236}">
                <a16:creationId xmlns:a16="http://schemas.microsoft.com/office/drawing/2014/main" id="{9E8EFDA1-A2B0-4FB2-8D50-A9D546DD54A6}"/>
              </a:ext>
            </a:extLst>
          </p:cNvPr>
          <p:cNvSpPr txBox="1">
            <a:spLocks noChangeArrowheads="1"/>
          </p:cNvSpPr>
          <p:nvPr/>
        </p:nvSpPr>
        <p:spPr bwMode="auto">
          <a:xfrm>
            <a:off x="1295400" y="381000"/>
            <a:ext cx="65532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Omnipotent Vs Symbolic View of Management </a:t>
            </a:r>
          </a:p>
        </p:txBody>
      </p:sp>
      <p:sp>
        <p:nvSpPr>
          <p:cNvPr id="45060" name="TextBox 4">
            <a:extLst>
              <a:ext uri="{FF2B5EF4-FFF2-40B4-BE49-F238E27FC236}">
                <a16:creationId xmlns:a16="http://schemas.microsoft.com/office/drawing/2014/main" id="{42DD2011-4C46-37F1-4334-F4EAA5FB5885}"/>
              </a:ext>
            </a:extLst>
          </p:cNvPr>
          <p:cNvSpPr txBox="1">
            <a:spLocks noChangeArrowheads="1"/>
          </p:cNvSpPr>
          <p:nvPr/>
        </p:nvSpPr>
        <p:spPr bwMode="auto">
          <a:xfrm>
            <a:off x="3505200" y="5722938"/>
            <a:ext cx="2438400"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en-US">
                <a:solidFill>
                  <a:srgbClr val="C00000"/>
                </a:solidFill>
              </a:rPr>
              <a:t>Managerial Discretion</a:t>
            </a:r>
          </a:p>
        </p:txBody>
      </p:sp>
      <p:sp>
        <p:nvSpPr>
          <p:cNvPr id="45061" name="TextBox 5">
            <a:extLst>
              <a:ext uri="{FF2B5EF4-FFF2-40B4-BE49-F238E27FC236}">
                <a16:creationId xmlns:a16="http://schemas.microsoft.com/office/drawing/2014/main" id="{E285D1D4-480E-3FFF-B434-1112BFF36E97}"/>
              </a:ext>
            </a:extLst>
          </p:cNvPr>
          <p:cNvSpPr txBox="1">
            <a:spLocks noChangeArrowheads="1"/>
          </p:cNvSpPr>
          <p:nvPr/>
        </p:nvSpPr>
        <p:spPr bwMode="auto">
          <a:xfrm>
            <a:off x="6248400" y="5862638"/>
            <a:ext cx="2438400" cy="461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en-US"/>
              <a:t>Org Culture</a:t>
            </a:r>
          </a:p>
        </p:txBody>
      </p:sp>
      <p:sp>
        <p:nvSpPr>
          <p:cNvPr id="45062" name="TextBox 6">
            <a:extLst>
              <a:ext uri="{FF2B5EF4-FFF2-40B4-BE49-F238E27FC236}">
                <a16:creationId xmlns:a16="http://schemas.microsoft.com/office/drawing/2014/main" id="{DF8A26F9-49FC-9A5E-3A01-BB1BBA2EC84F}"/>
              </a:ext>
            </a:extLst>
          </p:cNvPr>
          <p:cNvSpPr txBox="1">
            <a:spLocks noChangeArrowheads="1"/>
          </p:cNvSpPr>
          <p:nvPr/>
        </p:nvSpPr>
        <p:spPr bwMode="auto">
          <a:xfrm>
            <a:off x="381000" y="5862638"/>
            <a:ext cx="2819400" cy="461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en-US" dirty="0">
                <a:solidFill>
                  <a:srgbClr val="FF0000"/>
                </a:solidFill>
              </a:rPr>
              <a:t>Org Environment</a:t>
            </a:r>
          </a:p>
        </p:txBody>
      </p:sp>
      <p:cxnSp>
        <p:nvCxnSpPr>
          <p:cNvPr id="45063" name="Straight Arrow Connector 8">
            <a:extLst>
              <a:ext uri="{FF2B5EF4-FFF2-40B4-BE49-F238E27FC236}">
                <a16:creationId xmlns:a16="http://schemas.microsoft.com/office/drawing/2014/main" id="{75A0824C-5B8F-10B0-EF8E-EAA831C5CFE6}"/>
              </a:ext>
            </a:extLst>
          </p:cNvPr>
          <p:cNvCxnSpPr>
            <a:cxnSpLocks noChangeShapeType="1"/>
            <a:stCxn id="45062" idx="3"/>
            <a:endCxn id="45060" idx="1"/>
          </p:cNvCxnSpPr>
          <p:nvPr/>
        </p:nvCxnSpPr>
        <p:spPr bwMode="auto">
          <a:xfrm>
            <a:off x="3200400" y="6094413"/>
            <a:ext cx="304800" cy="444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064" name="Straight Arrow Connector 10">
            <a:extLst>
              <a:ext uri="{FF2B5EF4-FFF2-40B4-BE49-F238E27FC236}">
                <a16:creationId xmlns:a16="http://schemas.microsoft.com/office/drawing/2014/main" id="{EF5B7E47-3505-C3EA-7298-7074941EE2A9}"/>
              </a:ext>
            </a:extLst>
          </p:cNvPr>
          <p:cNvCxnSpPr>
            <a:cxnSpLocks noChangeShapeType="1"/>
            <a:stCxn id="45061" idx="1"/>
            <a:endCxn id="45060" idx="3"/>
          </p:cNvCxnSpPr>
          <p:nvPr/>
        </p:nvCxnSpPr>
        <p:spPr bwMode="auto">
          <a:xfrm rot="10800000" flipV="1">
            <a:off x="5943600" y="6094413"/>
            <a:ext cx="304800" cy="444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strips dir="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6">
            <a:extLst>
              <a:ext uri="{FF2B5EF4-FFF2-40B4-BE49-F238E27FC236}">
                <a16:creationId xmlns:a16="http://schemas.microsoft.com/office/drawing/2014/main" id="{068E507C-0947-B808-ED80-87ED4F0FEA94}"/>
              </a:ext>
            </a:extLst>
          </p:cNvPr>
          <p:cNvSpPr txBox="1">
            <a:spLocks noChangeArrowheads="1"/>
          </p:cNvSpPr>
          <p:nvPr/>
        </p:nvSpPr>
        <p:spPr bwMode="auto">
          <a:xfrm>
            <a:off x="609600" y="1066800"/>
            <a:ext cx="8001000" cy="401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 typeface="Arial" panose="020B0604020202020204" pitchFamily="34" charset="0"/>
              <a:buChar char="•"/>
            </a:pPr>
            <a:r>
              <a:rPr lang="en-US" altLang="en-US" dirty="0">
                <a:solidFill>
                  <a:srgbClr val="FF0000"/>
                </a:solidFill>
              </a:rPr>
              <a:t> Organizational culture refers to shared values, principles, traditions, and ways of doing things that influence the way organizational members act. An organization may have a strong or weak culture:</a:t>
            </a:r>
          </a:p>
          <a:p>
            <a:pPr algn="just" eaLnBrk="1" hangingPunct="1">
              <a:spcBef>
                <a:spcPct val="50000"/>
              </a:spcBef>
              <a:buClrTx/>
              <a:buFont typeface="Arial" panose="020B0604020202020204" pitchFamily="34" charset="0"/>
              <a:buChar char="•"/>
            </a:pPr>
            <a:endParaRPr lang="en-US" altLang="en-US" sz="500" dirty="0">
              <a:solidFill>
                <a:srgbClr val="FF0000"/>
              </a:solidFill>
            </a:endParaRPr>
          </a:p>
          <a:p>
            <a:pPr lvl="1" algn="just" eaLnBrk="1" hangingPunct="1">
              <a:spcBef>
                <a:spcPct val="50000"/>
              </a:spcBef>
              <a:buClrTx/>
              <a:buFont typeface="Wingdings" panose="05000000000000000000" pitchFamily="2" charset="2"/>
              <a:buChar char="Ø"/>
            </a:pPr>
            <a:r>
              <a:rPr lang="en-US" altLang="en-US" sz="2400" dirty="0">
                <a:solidFill>
                  <a:srgbClr val="FF0000"/>
                </a:solidFill>
                <a:latin typeface="Arial" panose="020B0604020202020204" pitchFamily="34" charset="0"/>
              </a:rPr>
              <a:t> Strong culture: Organizational culture in which the key values are intensely held and widely shared.</a:t>
            </a:r>
          </a:p>
          <a:p>
            <a:pPr lvl="1" algn="just" eaLnBrk="1" hangingPunct="1">
              <a:spcBef>
                <a:spcPct val="50000"/>
              </a:spcBef>
              <a:buClrTx/>
              <a:buFont typeface="Wingdings" panose="05000000000000000000" pitchFamily="2" charset="2"/>
              <a:buChar char="Ø"/>
            </a:pPr>
            <a:endParaRPr lang="en-US" altLang="en-US" sz="500" dirty="0">
              <a:solidFill>
                <a:srgbClr val="FF0000"/>
              </a:solidFill>
              <a:latin typeface="Arial" panose="020B0604020202020204" pitchFamily="34" charset="0"/>
            </a:endParaRPr>
          </a:p>
          <a:p>
            <a:pPr lvl="1" algn="just" eaLnBrk="1" hangingPunct="1">
              <a:spcBef>
                <a:spcPct val="50000"/>
              </a:spcBef>
              <a:buClrTx/>
              <a:buFont typeface="Wingdings" panose="05000000000000000000" pitchFamily="2" charset="2"/>
              <a:buChar char="Ø"/>
            </a:pPr>
            <a:r>
              <a:rPr lang="en-US" altLang="en-US" sz="2400" dirty="0">
                <a:solidFill>
                  <a:srgbClr val="FF0000"/>
                </a:solidFill>
                <a:latin typeface="Arial" panose="020B0604020202020204" pitchFamily="34" charset="0"/>
              </a:rPr>
              <a:t> Weak culture: Organizational culture in which key values are limited to a group of employee, usually among the members of top management.</a:t>
            </a:r>
          </a:p>
        </p:txBody>
      </p:sp>
      <p:sp>
        <p:nvSpPr>
          <p:cNvPr id="47107" name="Text Box 16">
            <a:extLst>
              <a:ext uri="{FF2B5EF4-FFF2-40B4-BE49-F238E27FC236}">
                <a16:creationId xmlns:a16="http://schemas.microsoft.com/office/drawing/2014/main" id="{1C6E7070-EE00-165F-65A2-DFA1E537A71C}"/>
              </a:ext>
            </a:extLst>
          </p:cNvPr>
          <p:cNvSpPr txBox="1">
            <a:spLocks noChangeArrowheads="1"/>
          </p:cNvSpPr>
          <p:nvPr/>
        </p:nvSpPr>
        <p:spPr bwMode="auto">
          <a:xfrm>
            <a:off x="1295400" y="457200"/>
            <a:ext cx="655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Organizational Culture</a:t>
            </a:r>
          </a:p>
        </p:txBody>
      </p:sp>
    </p:spTree>
  </p:cSld>
  <p:clrMapOvr>
    <a:masterClrMapping/>
  </p:clrMapOvr>
  <p:transition spd="med">
    <p:strips dir="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6">
            <a:extLst>
              <a:ext uri="{FF2B5EF4-FFF2-40B4-BE49-F238E27FC236}">
                <a16:creationId xmlns:a16="http://schemas.microsoft.com/office/drawing/2014/main" id="{F1E4F404-14D1-F21D-3084-8112A0F2BEE8}"/>
              </a:ext>
            </a:extLst>
          </p:cNvPr>
          <p:cNvSpPr txBox="1">
            <a:spLocks noChangeArrowheads="1"/>
          </p:cNvSpPr>
          <p:nvPr/>
        </p:nvSpPr>
        <p:spPr bwMode="auto">
          <a:xfrm>
            <a:off x="381000" y="304800"/>
            <a:ext cx="8305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Dimensions of Strong and Weak Culture</a:t>
            </a:r>
          </a:p>
        </p:txBody>
      </p:sp>
      <p:graphicFrame>
        <p:nvGraphicFramePr>
          <p:cNvPr id="3" name="Table 2">
            <a:extLst>
              <a:ext uri="{FF2B5EF4-FFF2-40B4-BE49-F238E27FC236}">
                <a16:creationId xmlns:a16="http://schemas.microsoft.com/office/drawing/2014/main" id="{33BFF4B5-A7E4-A986-A807-0EC9FEB63F1E}"/>
              </a:ext>
            </a:extLst>
          </p:cNvPr>
          <p:cNvGraphicFramePr>
            <a:graphicFrameLocks noGrp="1"/>
          </p:cNvGraphicFramePr>
          <p:nvPr/>
        </p:nvGraphicFramePr>
        <p:xfrm>
          <a:off x="228600" y="1036638"/>
          <a:ext cx="8686800" cy="5592762"/>
        </p:xfrm>
        <a:graphic>
          <a:graphicData uri="http://schemas.openxmlformats.org/drawingml/2006/table">
            <a:tbl>
              <a:tblPr firstRow="1" bandRow="1">
                <a:tableStyleId>{5C22544A-7EE6-4342-B048-85BDC9FD1C3A}</a:tableStyleId>
              </a:tblPr>
              <a:tblGrid>
                <a:gridCol w="4343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533247">
                <a:tc>
                  <a:txBody>
                    <a:bodyPr/>
                    <a:lstStyle/>
                    <a:p>
                      <a:pPr algn="ctr"/>
                      <a:r>
                        <a:rPr lang="en-US" sz="2400" dirty="0"/>
                        <a:t>Strong Culture</a:t>
                      </a:r>
                    </a:p>
                  </a:txBody>
                  <a:tcPr marT="45707" marB="45707"/>
                </a:tc>
                <a:tc>
                  <a:txBody>
                    <a:bodyPr/>
                    <a:lstStyle/>
                    <a:p>
                      <a:pPr algn="ctr"/>
                      <a:r>
                        <a:rPr lang="en-US" sz="2400" dirty="0"/>
                        <a:t>Weak Culture</a:t>
                      </a:r>
                    </a:p>
                  </a:txBody>
                  <a:tcPr marT="45707" marB="45707"/>
                </a:tc>
                <a:extLst>
                  <a:ext uri="{0D108BD9-81ED-4DB2-BD59-A6C34878D82A}">
                    <a16:rowId xmlns:a16="http://schemas.microsoft.com/office/drawing/2014/main" val="10000"/>
                  </a:ext>
                </a:extLst>
              </a:tr>
              <a:tr h="5059515">
                <a:tc>
                  <a:txBody>
                    <a:bodyPr/>
                    <a:lstStyle/>
                    <a:p>
                      <a:pPr>
                        <a:buFont typeface="Arial" pitchFamily="34" charset="0"/>
                        <a:buChar char="•"/>
                      </a:pPr>
                      <a:r>
                        <a:rPr lang="en-US" sz="2200" dirty="0"/>
                        <a:t> Values widely shared</a:t>
                      </a:r>
                    </a:p>
                    <a:p>
                      <a:pPr>
                        <a:buFont typeface="Arial" pitchFamily="34" charset="0"/>
                        <a:buChar char="•"/>
                      </a:pPr>
                      <a:endParaRPr lang="en-US" sz="1000" dirty="0"/>
                    </a:p>
                    <a:p>
                      <a:pPr>
                        <a:buFont typeface="Arial" pitchFamily="34" charset="0"/>
                        <a:buChar char="•"/>
                      </a:pPr>
                      <a:r>
                        <a:rPr lang="en-US" sz="2200" dirty="0"/>
                        <a:t> Culture conveys consistent messages</a:t>
                      </a:r>
                      <a:r>
                        <a:rPr lang="en-US" sz="2200" baseline="0" dirty="0"/>
                        <a:t> about what is important.</a:t>
                      </a:r>
                    </a:p>
                    <a:p>
                      <a:pPr>
                        <a:buFont typeface="Arial" pitchFamily="34" charset="0"/>
                        <a:buChar char="•"/>
                      </a:pPr>
                      <a:endParaRPr lang="en-US" sz="1000" baseline="0" dirty="0"/>
                    </a:p>
                    <a:p>
                      <a:pPr>
                        <a:buFont typeface="Arial" pitchFamily="34" charset="0"/>
                        <a:buChar char="•"/>
                      </a:pPr>
                      <a:r>
                        <a:rPr lang="en-US" sz="2200" baseline="0" dirty="0"/>
                        <a:t> Most employees can tell stories about company history/heroes.</a:t>
                      </a:r>
                    </a:p>
                    <a:p>
                      <a:pPr>
                        <a:buFont typeface="Arial" pitchFamily="34" charset="0"/>
                        <a:buChar char="•"/>
                      </a:pPr>
                      <a:endParaRPr lang="en-US" sz="1000" baseline="0" dirty="0"/>
                    </a:p>
                    <a:p>
                      <a:pPr>
                        <a:buFont typeface="Arial" pitchFamily="34" charset="0"/>
                        <a:buChar char="•"/>
                      </a:pPr>
                      <a:r>
                        <a:rPr lang="en-US" sz="2200" baseline="0" dirty="0"/>
                        <a:t> Employees strongly identify with culture</a:t>
                      </a:r>
                    </a:p>
                    <a:p>
                      <a:pPr>
                        <a:buFont typeface="Arial" pitchFamily="34" charset="0"/>
                        <a:buChar char="•"/>
                      </a:pPr>
                      <a:endParaRPr lang="en-US" sz="1000" baseline="0" dirty="0"/>
                    </a:p>
                    <a:p>
                      <a:pPr>
                        <a:buFont typeface="Arial" pitchFamily="34" charset="0"/>
                        <a:buChar char="•"/>
                      </a:pPr>
                      <a:r>
                        <a:rPr lang="en-US" sz="2200" baseline="0" dirty="0"/>
                        <a:t> Strong connection exists between shared values and behaviors .</a:t>
                      </a:r>
                      <a:endParaRPr lang="en-US" sz="2200" dirty="0"/>
                    </a:p>
                  </a:txBody>
                  <a:tcPr marT="45707" marB="45707">
                    <a:solidFill>
                      <a:schemeClr val="bg2">
                        <a:lumMod val="20000"/>
                        <a:lumOff val="80000"/>
                      </a:schemeClr>
                    </a:solidFill>
                  </a:tcPr>
                </a:tc>
                <a:tc>
                  <a:txBody>
                    <a:bodyPr/>
                    <a:lstStyle/>
                    <a:p>
                      <a:pPr>
                        <a:buFont typeface="Arial" pitchFamily="34" charset="0"/>
                        <a:buChar char="•"/>
                      </a:pPr>
                      <a:r>
                        <a:rPr lang="en-US" sz="2200" dirty="0"/>
                        <a:t> Values limited</a:t>
                      </a:r>
                      <a:r>
                        <a:rPr lang="en-US" sz="2200" baseline="0" dirty="0"/>
                        <a:t> to few people – usually top management</a:t>
                      </a:r>
                    </a:p>
                    <a:p>
                      <a:pPr>
                        <a:buFont typeface="Arial" pitchFamily="34" charset="0"/>
                        <a:buChar char="•"/>
                      </a:pPr>
                      <a:endParaRPr lang="en-US" sz="1000" baseline="0" dirty="0"/>
                    </a:p>
                    <a:p>
                      <a:pPr>
                        <a:buFont typeface="Arial" pitchFamily="34" charset="0"/>
                        <a:buChar char="•"/>
                      </a:pPr>
                      <a:r>
                        <a:rPr lang="en-US" sz="2200" baseline="0" dirty="0"/>
                        <a:t> Culture sends contradictory messages about what is important.</a:t>
                      </a:r>
                    </a:p>
                    <a:p>
                      <a:pPr>
                        <a:buFont typeface="Arial" pitchFamily="34" charset="0"/>
                        <a:buChar char="•"/>
                      </a:pPr>
                      <a:endParaRPr lang="en-US" sz="1000" baseline="0" dirty="0"/>
                    </a:p>
                    <a:p>
                      <a:pPr>
                        <a:buFont typeface="Arial" pitchFamily="34" charset="0"/>
                        <a:buChar char="•"/>
                      </a:pPr>
                      <a:r>
                        <a:rPr lang="en-US" sz="2200" baseline="0" dirty="0"/>
                        <a:t> Employees have little knowledge of company history or heroes.</a:t>
                      </a:r>
                    </a:p>
                    <a:p>
                      <a:pPr>
                        <a:buFont typeface="Arial" pitchFamily="34" charset="0"/>
                        <a:buChar char="•"/>
                      </a:pPr>
                      <a:endParaRPr lang="en-US" sz="1000" baseline="0" dirty="0"/>
                    </a:p>
                    <a:p>
                      <a:pPr>
                        <a:buFont typeface="Arial" pitchFamily="34" charset="0"/>
                        <a:buChar char="•"/>
                      </a:pPr>
                      <a:r>
                        <a:rPr lang="en-US" sz="2200" baseline="0" dirty="0"/>
                        <a:t> Employees have little identification with culture.</a:t>
                      </a:r>
                    </a:p>
                    <a:p>
                      <a:pPr>
                        <a:buFont typeface="Arial" pitchFamily="34" charset="0"/>
                        <a:buChar char="•"/>
                      </a:pPr>
                      <a:endParaRPr lang="en-US" sz="1000" baseline="0" dirty="0"/>
                    </a:p>
                    <a:p>
                      <a:pPr>
                        <a:buFont typeface="Arial" pitchFamily="34" charset="0"/>
                        <a:buChar char="•"/>
                      </a:pPr>
                      <a:r>
                        <a:rPr lang="en-US" sz="2200" baseline="0" dirty="0"/>
                        <a:t> There is little connection between shared values and behaviors.</a:t>
                      </a:r>
                      <a:endParaRPr lang="en-US" sz="2200" dirty="0"/>
                    </a:p>
                  </a:txBody>
                  <a:tcPr marT="45707" marB="45707">
                    <a:solidFill>
                      <a:schemeClr val="bg2">
                        <a:lumMod val="20000"/>
                        <a:lumOff val="80000"/>
                      </a:schemeClr>
                    </a:solidFill>
                  </a:tcPr>
                </a:tc>
                <a:extLst>
                  <a:ext uri="{0D108BD9-81ED-4DB2-BD59-A6C34878D82A}">
                    <a16:rowId xmlns:a16="http://schemas.microsoft.com/office/drawing/2014/main" val="10001"/>
                  </a:ext>
                </a:extLst>
              </a:tr>
            </a:tbl>
          </a:graphicData>
        </a:graphic>
      </p:graphicFrame>
    </p:spTree>
  </p:cSld>
  <p:clrMapOvr>
    <a:masterClrMapping/>
  </p:clrMapOvr>
  <p:transition spd="med">
    <p:strips dir="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6">
            <a:extLst>
              <a:ext uri="{FF2B5EF4-FFF2-40B4-BE49-F238E27FC236}">
                <a16:creationId xmlns:a16="http://schemas.microsoft.com/office/drawing/2014/main" id="{10DB5DAA-2CB4-9721-3B71-66C91962D654}"/>
              </a:ext>
            </a:extLst>
          </p:cNvPr>
          <p:cNvSpPr txBox="1">
            <a:spLocks noChangeArrowheads="1"/>
          </p:cNvSpPr>
          <p:nvPr/>
        </p:nvSpPr>
        <p:spPr bwMode="auto">
          <a:xfrm>
            <a:off x="3429000" y="1066800"/>
            <a:ext cx="2057400" cy="830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a:t>Attention to details</a:t>
            </a:r>
          </a:p>
        </p:txBody>
      </p:sp>
      <p:sp>
        <p:nvSpPr>
          <p:cNvPr id="51203" name="Text Box 6">
            <a:extLst>
              <a:ext uri="{FF2B5EF4-FFF2-40B4-BE49-F238E27FC236}">
                <a16:creationId xmlns:a16="http://schemas.microsoft.com/office/drawing/2014/main" id="{6A1B8B50-389E-D6B3-1E3D-E22B97B70CA8}"/>
              </a:ext>
            </a:extLst>
          </p:cNvPr>
          <p:cNvSpPr txBox="1">
            <a:spLocks noChangeArrowheads="1"/>
          </p:cNvSpPr>
          <p:nvPr/>
        </p:nvSpPr>
        <p:spPr bwMode="auto">
          <a:xfrm>
            <a:off x="6172200" y="2293938"/>
            <a:ext cx="2133600"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a:t>Outcome orientation</a:t>
            </a:r>
          </a:p>
        </p:txBody>
      </p:sp>
      <p:sp>
        <p:nvSpPr>
          <p:cNvPr id="51204" name="Text Box 6">
            <a:extLst>
              <a:ext uri="{FF2B5EF4-FFF2-40B4-BE49-F238E27FC236}">
                <a16:creationId xmlns:a16="http://schemas.microsoft.com/office/drawing/2014/main" id="{8B0FDBF7-F5E7-5E88-3646-4E7D2724D18A}"/>
              </a:ext>
            </a:extLst>
          </p:cNvPr>
          <p:cNvSpPr txBox="1">
            <a:spLocks noChangeArrowheads="1"/>
          </p:cNvSpPr>
          <p:nvPr/>
        </p:nvSpPr>
        <p:spPr bwMode="auto">
          <a:xfrm>
            <a:off x="6248400" y="3886200"/>
            <a:ext cx="2057400" cy="830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a:t>People orientation</a:t>
            </a:r>
          </a:p>
        </p:txBody>
      </p:sp>
      <p:sp>
        <p:nvSpPr>
          <p:cNvPr id="51205" name="Text Box 6">
            <a:extLst>
              <a:ext uri="{FF2B5EF4-FFF2-40B4-BE49-F238E27FC236}">
                <a16:creationId xmlns:a16="http://schemas.microsoft.com/office/drawing/2014/main" id="{A4E8129C-2E24-90AF-6544-A4BE02936E8E}"/>
              </a:ext>
            </a:extLst>
          </p:cNvPr>
          <p:cNvSpPr txBox="1">
            <a:spLocks noChangeArrowheads="1"/>
          </p:cNvSpPr>
          <p:nvPr/>
        </p:nvSpPr>
        <p:spPr bwMode="auto">
          <a:xfrm>
            <a:off x="3581400" y="5418138"/>
            <a:ext cx="2057400"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a:t>Team orientation</a:t>
            </a:r>
          </a:p>
        </p:txBody>
      </p:sp>
      <p:sp>
        <p:nvSpPr>
          <p:cNvPr id="51206" name="Text Box 6">
            <a:extLst>
              <a:ext uri="{FF2B5EF4-FFF2-40B4-BE49-F238E27FC236}">
                <a16:creationId xmlns:a16="http://schemas.microsoft.com/office/drawing/2014/main" id="{9C20A993-0A83-978D-F9D3-029EF085E04E}"/>
              </a:ext>
            </a:extLst>
          </p:cNvPr>
          <p:cNvSpPr txBox="1">
            <a:spLocks noChangeArrowheads="1"/>
          </p:cNvSpPr>
          <p:nvPr/>
        </p:nvSpPr>
        <p:spPr bwMode="auto">
          <a:xfrm>
            <a:off x="838200" y="4579938"/>
            <a:ext cx="2057400"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a:t>Aggressive-ness</a:t>
            </a:r>
          </a:p>
        </p:txBody>
      </p:sp>
      <p:sp>
        <p:nvSpPr>
          <p:cNvPr id="51207" name="Text Box 6">
            <a:extLst>
              <a:ext uri="{FF2B5EF4-FFF2-40B4-BE49-F238E27FC236}">
                <a16:creationId xmlns:a16="http://schemas.microsoft.com/office/drawing/2014/main" id="{8200186B-247C-E743-754D-39FE8757119A}"/>
              </a:ext>
            </a:extLst>
          </p:cNvPr>
          <p:cNvSpPr txBox="1">
            <a:spLocks noChangeArrowheads="1"/>
          </p:cNvSpPr>
          <p:nvPr/>
        </p:nvSpPr>
        <p:spPr bwMode="auto">
          <a:xfrm>
            <a:off x="838200" y="3500438"/>
            <a:ext cx="1600200" cy="461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a:t>Stability</a:t>
            </a:r>
          </a:p>
        </p:txBody>
      </p:sp>
      <p:sp>
        <p:nvSpPr>
          <p:cNvPr id="51208" name="Text Box 6">
            <a:extLst>
              <a:ext uri="{FF2B5EF4-FFF2-40B4-BE49-F238E27FC236}">
                <a16:creationId xmlns:a16="http://schemas.microsoft.com/office/drawing/2014/main" id="{4D8B63AF-8131-0B78-B1D7-F42EE267BDBD}"/>
              </a:ext>
            </a:extLst>
          </p:cNvPr>
          <p:cNvSpPr txBox="1">
            <a:spLocks noChangeArrowheads="1"/>
          </p:cNvSpPr>
          <p:nvPr/>
        </p:nvSpPr>
        <p:spPr bwMode="auto">
          <a:xfrm>
            <a:off x="609600" y="2057400"/>
            <a:ext cx="2057400" cy="830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a:t>Innovation &amp; Risk Taking</a:t>
            </a:r>
          </a:p>
        </p:txBody>
      </p:sp>
      <p:sp>
        <p:nvSpPr>
          <p:cNvPr id="51209" name="Oval 29">
            <a:extLst>
              <a:ext uri="{FF2B5EF4-FFF2-40B4-BE49-F238E27FC236}">
                <a16:creationId xmlns:a16="http://schemas.microsoft.com/office/drawing/2014/main" id="{B21ED619-C963-356E-06AD-88BF1B02206B}"/>
              </a:ext>
            </a:extLst>
          </p:cNvPr>
          <p:cNvSpPr>
            <a:spLocks noChangeArrowheads="1"/>
          </p:cNvSpPr>
          <p:nvPr/>
        </p:nvSpPr>
        <p:spPr bwMode="auto">
          <a:xfrm>
            <a:off x="3276600" y="2971800"/>
            <a:ext cx="2362200" cy="1371600"/>
          </a:xfrm>
          <a:prstGeom prst="ellipse">
            <a:avLst/>
          </a:prstGeom>
          <a:solidFill>
            <a:srgbClr val="FFFF00"/>
          </a:solidFill>
          <a:ln w="9525" algn="ctr">
            <a:solidFill>
              <a:schemeClr val="tx1"/>
            </a:solidFill>
            <a:round/>
            <a:headEnd/>
            <a:tailEnd/>
          </a:ln>
        </p:spPr>
        <p:txBody>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en-US" altLang="en-US" sz="1000"/>
          </a:p>
        </p:txBody>
      </p:sp>
      <p:sp>
        <p:nvSpPr>
          <p:cNvPr id="51210" name="TextBox 30">
            <a:extLst>
              <a:ext uri="{FF2B5EF4-FFF2-40B4-BE49-F238E27FC236}">
                <a16:creationId xmlns:a16="http://schemas.microsoft.com/office/drawing/2014/main" id="{BB870674-4C06-ECF6-C1A0-41B407415EBB}"/>
              </a:ext>
            </a:extLst>
          </p:cNvPr>
          <p:cNvSpPr txBox="1">
            <a:spLocks noChangeArrowheads="1"/>
          </p:cNvSpPr>
          <p:nvPr/>
        </p:nvSpPr>
        <p:spPr bwMode="auto">
          <a:xfrm>
            <a:off x="3429000" y="3276600"/>
            <a:ext cx="21336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en-US" sz="2200">
                <a:solidFill>
                  <a:srgbClr val="FF0000"/>
                </a:solidFill>
              </a:rPr>
              <a:t>Organizational Culture</a:t>
            </a:r>
          </a:p>
        </p:txBody>
      </p:sp>
      <p:cxnSp>
        <p:nvCxnSpPr>
          <p:cNvPr id="51211" name="Straight Connector 32">
            <a:extLst>
              <a:ext uri="{FF2B5EF4-FFF2-40B4-BE49-F238E27FC236}">
                <a16:creationId xmlns:a16="http://schemas.microsoft.com/office/drawing/2014/main" id="{026CD225-844D-1A64-04DC-7EB038D6510F}"/>
              </a:ext>
            </a:extLst>
          </p:cNvPr>
          <p:cNvCxnSpPr>
            <a:cxnSpLocks noChangeShapeType="1"/>
            <a:stCxn id="51208" idx="3"/>
            <a:endCxn id="51209" idx="1"/>
          </p:cNvCxnSpPr>
          <p:nvPr/>
        </p:nvCxnSpPr>
        <p:spPr bwMode="auto">
          <a:xfrm>
            <a:off x="2667000" y="2473325"/>
            <a:ext cx="955675" cy="7000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12" name="Straight Connector 37">
            <a:extLst>
              <a:ext uri="{FF2B5EF4-FFF2-40B4-BE49-F238E27FC236}">
                <a16:creationId xmlns:a16="http://schemas.microsoft.com/office/drawing/2014/main" id="{B1484E8C-7E7C-EC31-59CF-520BD95DE336}"/>
              </a:ext>
            </a:extLst>
          </p:cNvPr>
          <p:cNvCxnSpPr>
            <a:cxnSpLocks noChangeShapeType="1"/>
            <a:stCxn id="51202" idx="2"/>
            <a:endCxn id="51209" idx="0"/>
          </p:cNvCxnSpPr>
          <p:nvPr/>
        </p:nvCxnSpPr>
        <p:spPr bwMode="auto">
          <a:xfrm rot="5400000">
            <a:off x="3921919" y="2434431"/>
            <a:ext cx="107315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13" name="Straight Connector 39">
            <a:extLst>
              <a:ext uri="{FF2B5EF4-FFF2-40B4-BE49-F238E27FC236}">
                <a16:creationId xmlns:a16="http://schemas.microsoft.com/office/drawing/2014/main" id="{54B2C92D-8600-B64D-EC98-27ED068EF1DD}"/>
              </a:ext>
            </a:extLst>
          </p:cNvPr>
          <p:cNvCxnSpPr>
            <a:cxnSpLocks noChangeShapeType="1"/>
            <a:stCxn id="51203" idx="1"/>
          </p:cNvCxnSpPr>
          <p:nvPr/>
        </p:nvCxnSpPr>
        <p:spPr bwMode="auto">
          <a:xfrm rot="10800000" flipV="1">
            <a:off x="5334000" y="2708275"/>
            <a:ext cx="838200" cy="4921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14" name="Straight Connector 41">
            <a:extLst>
              <a:ext uri="{FF2B5EF4-FFF2-40B4-BE49-F238E27FC236}">
                <a16:creationId xmlns:a16="http://schemas.microsoft.com/office/drawing/2014/main" id="{BED02872-E03E-F745-D204-35C93924B380}"/>
              </a:ext>
            </a:extLst>
          </p:cNvPr>
          <p:cNvCxnSpPr>
            <a:cxnSpLocks noChangeShapeType="1"/>
            <a:stCxn id="51207" idx="3"/>
          </p:cNvCxnSpPr>
          <p:nvPr/>
        </p:nvCxnSpPr>
        <p:spPr bwMode="auto">
          <a:xfrm>
            <a:off x="2438400" y="3732213"/>
            <a:ext cx="8382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15" name="Straight Connector 43">
            <a:extLst>
              <a:ext uri="{FF2B5EF4-FFF2-40B4-BE49-F238E27FC236}">
                <a16:creationId xmlns:a16="http://schemas.microsoft.com/office/drawing/2014/main" id="{DAC51584-2E81-B6BD-E737-2A4690A3B1CC}"/>
              </a:ext>
            </a:extLst>
          </p:cNvPr>
          <p:cNvCxnSpPr>
            <a:cxnSpLocks noChangeShapeType="1"/>
            <a:stCxn id="51206" idx="3"/>
            <a:endCxn id="51209" idx="3"/>
          </p:cNvCxnSpPr>
          <p:nvPr/>
        </p:nvCxnSpPr>
        <p:spPr bwMode="auto">
          <a:xfrm flipV="1">
            <a:off x="2895600" y="4141788"/>
            <a:ext cx="727075" cy="8524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16" name="Straight Connector 45">
            <a:extLst>
              <a:ext uri="{FF2B5EF4-FFF2-40B4-BE49-F238E27FC236}">
                <a16:creationId xmlns:a16="http://schemas.microsoft.com/office/drawing/2014/main" id="{0101E247-208A-2B24-4B15-3B6CFE3CDD18}"/>
              </a:ext>
            </a:extLst>
          </p:cNvPr>
          <p:cNvCxnSpPr>
            <a:cxnSpLocks noChangeShapeType="1"/>
            <a:stCxn id="51209" idx="4"/>
          </p:cNvCxnSpPr>
          <p:nvPr/>
        </p:nvCxnSpPr>
        <p:spPr bwMode="auto">
          <a:xfrm rot="16200000" flipH="1">
            <a:off x="3943350" y="4857750"/>
            <a:ext cx="1066800" cy="381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17" name="Straight Connector 47">
            <a:extLst>
              <a:ext uri="{FF2B5EF4-FFF2-40B4-BE49-F238E27FC236}">
                <a16:creationId xmlns:a16="http://schemas.microsoft.com/office/drawing/2014/main" id="{82836E4B-B0E5-0E87-0586-EE0990661053}"/>
              </a:ext>
            </a:extLst>
          </p:cNvPr>
          <p:cNvCxnSpPr>
            <a:cxnSpLocks noChangeShapeType="1"/>
            <a:stCxn id="51209" idx="5"/>
            <a:endCxn id="51204" idx="1"/>
          </p:cNvCxnSpPr>
          <p:nvPr/>
        </p:nvCxnSpPr>
        <p:spPr bwMode="auto">
          <a:xfrm rot="16200000" flipH="1">
            <a:off x="5690394" y="3744119"/>
            <a:ext cx="160337" cy="9556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218" name="Text Box 16">
            <a:extLst>
              <a:ext uri="{FF2B5EF4-FFF2-40B4-BE49-F238E27FC236}">
                <a16:creationId xmlns:a16="http://schemas.microsoft.com/office/drawing/2014/main" id="{9AD60F21-C4A6-0A11-539D-A9D64368A7F1}"/>
              </a:ext>
            </a:extLst>
          </p:cNvPr>
          <p:cNvSpPr txBox="1">
            <a:spLocks noChangeArrowheads="1"/>
          </p:cNvSpPr>
          <p:nvPr/>
        </p:nvSpPr>
        <p:spPr bwMode="auto">
          <a:xfrm>
            <a:off x="381000" y="228600"/>
            <a:ext cx="8305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Dimensions of Organizational Culture</a:t>
            </a:r>
          </a:p>
        </p:txBody>
      </p:sp>
    </p:spTree>
  </p:cSld>
  <p:clrMapOvr>
    <a:masterClrMapping/>
  </p:clrMapOvr>
  <p:transition spd="med">
    <p:strips dir="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6">
            <a:extLst>
              <a:ext uri="{FF2B5EF4-FFF2-40B4-BE49-F238E27FC236}">
                <a16:creationId xmlns:a16="http://schemas.microsoft.com/office/drawing/2014/main" id="{2D5938DA-A48E-362D-BA1B-CF62C6C0E7BE}"/>
              </a:ext>
            </a:extLst>
          </p:cNvPr>
          <p:cNvSpPr txBox="1">
            <a:spLocks noChangeArrowheads="1"/>
          </p:cNvSpPr>
          <p:nvPr/>
        </p:nvSpPr>
        <p:spPr bwMode="auto">
          <a:xfrm>
            <a:off x="609600" y="1143000"/>
            <a:ext cx="80010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 typeface="Arial" panose="020B0604020202020204" pitchFamily="34" charset="0"/>
              <a:buChar char="•"/>
            </a:pPr>
            <a:r>
              <a:rPr lang="en-US" altLang="en-US" dirty="0">
                <a:solidFill>
                  <a:srgbClr val="FF0000"/>
                </a:solidFill>
              </a:rPr>
              <a:t> Attention to detail:  Degree to which employees are expected to exhibit precision, analysis and attention to detail.</a:t>
            </a:r>
            <a:endParaRPr lang="en-US" altLang="en-US" sz="1000" dirty="0">
              <a:solidFill>
                <a:srgbClr val="FF0000"/>
              </a:solidFill>
            </a:endParaRPr>
          </a:p>
          <a:p>
            <a:pPr algn="just" eaLnBrk="1" hangingPunct="1">
              <a:spcBef>
                <a:spcPct val="50000"/>
              </a:spcBef>
              <a:buClrTx/>
              <a:buFont typeface="Arial" panose="020B0604020202020204" pitchFamily="34" charset="0"/>
              <a:buChar char="•"/>
            </a:pPr>
            <a:r>
              <a:rPr lang="en-US" altLang="en-US" dirty="0">
                <a:solidFill>
                  <a:srgbClr val="FF0000"/>
                </a:solidFill>
              </a:rPr>
              <a:t> Outcome Orientation: Degree to which managers focus on results or outcomes rather than on how these outcomes are achieved.</a:t>
            </a:r>
          </a:p>
          <a:p>
            <a:pPr algn="just" eaLnBrk="1" hangingPunct="1">
              <a:spcBef>
                <a:spcPct val="50000"/>
              </a:spcBef>
              <a:buClrTx/>
              <a:buFont typeface="Arial" panose="020B0604020202020204" pitchFamily="34" charset="0"/>
              <a:buChar char="•"/>
            </a:pPr>
            <a:r>
              <a:rPr lang="en-US" altLang="en-US" dirty="0">
                <a:solidFill>
                  <a:srgbClr val="FF0000"/>
                </a:solidFill>
              </a:rPr>
              <a:t> People Orientation: Degree to which management decisions take into account the effects on people in the organization.</a:t>
            </a:r>
          </a:p>
          <a:p>
            <a:pPr algn="just" eaLnBrk="1" hangingPunct="1">
              <a:spcBef>
                <a:spcPct val="50000"/>
              </a:spcBef>
              <a:buClrTx/>
              <a:buFont typeface="Arial" panose="020B0604020202020204" pitchFamily="34" charset="0"/>
              <a:buChar char="•"/>
            </a:pPr>
            <a:r>
              <a:rPr lang="en-US" altLang="en-US" dirty="0">
                <a:solidFill>
                  <a:srgbClr val="FF0000"/>
                </a:solidFill>
              </a:rPr>
              <a:t> Team Orientation: Degree to which work is organized around teams rather than individuals.</a:t>
            </a:r>
          </a:p>
          <a:p>
            <a:pPr algn="just" eaLnBrk="1" hangingPunct="1">
              <a:spcBef>
                <a:spcPct val="50000"/>
              </a:spcBef>
              <a:buClrTx/>
              <a:buFont typeface="Arial" panose="020B0604020202020204" pitchFamily="34" charset="0"/>
              <a:buChar char="•"/>
            </a:pPr>
            <a:endParaRPr lang="en-US" altLang="en-US" dirty="0">
              <a:solidFill>
                <a:srgbClr val="FF0000"/>
              </a:solidFill>
            </a:endParaRPr>
          </a:p>
        </p:txBody>
      </p:sp>
      <p:sp>
        <p:nvSpPr>
          <p:cNvPr id="53251" name="Text Box 16">
            <a:extLst>
              <a:ext uri="{FF2B5EF4-FFF2-40B4-BE49-F238E27FC236}">
                <a16:creationId xmlns:a16="http://schemas.microsoft.com/office/drawing/2014/main" id="{50C23563-D5FE-16EA-845D-77A09BD31D19}"/>
              </a:ext>
            </a:extLst>
          </p:cNvPr>
          <p:cNvSpPr txBox="1">
            <a:spLocks noChangeArrowheads="1"/>
          </p:cNvSpPr>
          <p:nvPr/>
        </p:nvSpPr>
        <p:spPr bwMode="auto">
          <a:xfrm>
            <a:off x="609600" y="381000"/>
            <a:ext cx="7848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Dimensions of Organizational Culture</a:t>
            </a:r>
          </a:p>
        </p:txBody>
      </p:sp>
    </p:spTree>
  </p:cSld>
  <p:clrMapOvr>
    <a:masterClrMapping/>
  </p:clrMapOvr>
  <p:transition spd="med">
    <p:strips dir="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6">
            <a:extLst>
              <a:ext uri="{FF2B5EF4-FFF2-40B4-BE49-F238E27FC236}">
                <a16:creationId xmlns:a16="http://schemas.microsoft.com/office/drawing/2014/main" id="{DD88E83F-DC8F-DB12-8F6C-78E4923BC2D6}"/>
              </a:ext>
            </a:extLst>
          </p:cNvPr>
          <p:cNvSpPr txBox="1">
            <a:spLocks noChangeArrowheads="1"/>
          </p:cNvSpPr>
          <p:nvPr/>
        </p:nvSpPr>
        <p:spPr bwMode="auto">
          <a:xfrm>
            <a:off x="609600" y="1219200"/>
            <a:ext cx="80010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 typeface="Arial" panose="020B0604020202020204" pitchFamily="34" charset="0"/>
              <a:buChar char="•"/>
            </a:pPr>
            <a:r>
              <a:rPr lang="en-US" altLang="en-US">
                <a:solidFill>
                  <a:srgbClr val="FF0000"/>
                </a:solidFill>
              </a:rPr>
              <a:t> Aggressiveness: Degree to which employees are aggressive and competitive rather than cooperative. </a:t>
            </a:r>
            <a:endParaRPr lang="en-US" altLang="en-US" sz="1000">
              <a:solidFill>
                <a:srgbClr val="FF0000"/>
              </a:solidFill>
            </a:endParaRPr>
          </a:p>
          <a:p>
            <a:pPr algn="just" eaLnBrk="1" hangingPunct="1">
              <a:spcBef>
                <a:spcPct val="50000"/>
              </a:spcBef>
              <a:buClrTx/>
              <a:buFont typeface="Arial" panose="020B0604020202020204" pitchFamily="34" charset="0"/>
              <a:buChar char="•"/>
            </a:pPr>
            <a:r>
              <a:rPr lang="en-US" altLang="en-US">
                <a:solidFill>
                  <a:srgbClr val="FF0000"/>
                </a:solidFill>
              </a:rPr>
              <a:t> Stability: Degree to which organizational decisions and actions emphasize maintaining the status quo.</a:t>
            </a:r>
          </a:p>
          <a:p>
            <a:pPr algn="just" eaLnBrk="1" hangingPunct="1">
              <a:spcBef>
                <a:spcPct val="50000"/>
              </a:spcBef>
              <a:buClrTx/>
              <a:buFont typeface="Arial" panose="020B0604020202020204" pitchFamily="34" charset="0"/>
              <a:buChar char="•"/>
            </a:pPr>
            <a:r>
              <a:rPr lang="en-US" altLang="en-US">
                <a:solidFill>
                  <a:srgbClr val="FF0000"/>
                </a:solidFill>
              </a:rPr>
              <a:t> Innovation and Risk Taking: Degree to which employees are encouraged to be innovative and to take risks.  </a:t>
            </a:r>
          </a:p>
          <a:p>
            <a:pPr algn="just" eaLnBrk="1" hangingPunct="1">
              <a:spcBef>
                <a:spcPct val="50000"/>
              </a:spcBef>
              <a:buClrTx/>
              <a:buFontTx/>
              <a:buNone/>
            </a:pPr>
            <a:endParaRPr lang="en-US" altLang="en-US">
              <a:solidFill>
                <a:srgbClr val="FF0000"/>
              </a:solidFill>
            </a:endParaRPr>
          </a:p>
        </p:txBody>
      </p:sp>
      <p:sp>
        <p:nvSpPr>
          <p:cNvPr id="55299" name="Text Box 16">
            <a:extLst>
              <a:ext uri="{FF2B5EF4-FFF2-40B4-BE49-F238E27FC236}">
                <a16:creationId xmlns:a16="http://schemas.microsoft.com/office/drawing/2014/main" id="{603BBD90-45FC-961C-EF04-0A89E4D80356}"/>
              </a:ext>
            </a:extLst>
          </p:cNvPr>
          <p:cNvSpPr txBox="1">
            <a:spLocks noChangeArrowheads="1"/>
          </p:cNvSpPr>
          <p:nvPr/>
        </p:nvSpPr>
        <p:spPr bwMode="auto">
          <a:xfrm>
            <a:off x="609600" y="381000"/>
            <a:ext cx="7848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Dimensions of Organizational Culture</a:t>
            </a:r>
          </a:p>
        </p:txBody>
      </p:sp>
    </p:spTree>
  </p:cSld>
  <p:clrMapOvr>
    <a:masterClrMapping/>
  </p:clrMapOvr>
  <p:transition spd="med">
    <p:strips dir="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6">
            <a:extLst>
              <a:ext uri="{FF2B5EF4-FFF2-40B4-BE49-F238E27FC236}">
                <a16:creationId xmlns:a16="http://schemas.microsoft.com/office/drawing/2014/main" id="{CD2921C5-3175-779C-C923-6E781383185F}"/>
              </a:ext>
            </a:extLst>
          </p:cNvPr>
          <p:cNvSpPr txBox="1">
            <a:spLocks noChangeArrowheads="1"/>
          </p:cNvSpPr>
          <p:nvPr/>
        </p:nvSpPr>
        <p:spPr bwMode="auto">
          <a:xfrm>
            <a:off x="457200" y="1125538"/>
            <a:ext cx="8229600" cy="497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 typeface="Arial" panose="020B0604020202020204" pitchFamily="34" charset="0"/>
              <a:buChar char="•"/>
            </a:pPr>
            <a:r>
              <a:rPr lang="en-US" altLang="en-US" dirty="0">
                <a:solidFill>
                  <a:srgbClr val="FF0000"/>
                </a:solidFill>
              </a:rPr>
              <a:t> Ethical culture: A culture composed of values, traditions, and practices which are perceived to be ethical is called an ethical culture. Following are the suggestions of creating an ethical culture:</a:t>
            </a:r>
          </a:p>
          <a:p>
            <a:pPr algn="just" eaLnBrk="1" hangingPunct="1">
              <a:spcBef>
                <a:spcPct val="50000"/>
              </a:spcBef>
              <a:buClrTx/>
              <a:buFont typeface="Arial" panose="020B0604020202020204" pitchFamily="34" charset="0"/>
              <a:buChar char="•"/>
            </a:pPr>
            <a:endParaRPr lang="en-US" altLang="en-US" sz="800" dirty="0">
              <a:solidFill>
                <a:srgbClr val="FF0000"/>
              </a:solidFill>
            </a:endParaRPr>
          </a:p>
          <a:p>
            <a:pPr lvl="1" algn="just" eaLnBrk="1" hangingPunct="1">
              <a:spcBef>
                <a:spcPct val="50000"/>
              </a:spcBef>
              <a:buClrTx/>
              <a:buFont typeface="Wingdings" panose="05000000000000000000" pitchFamily="2" charset="2"/>
              <a:buChar char="Ø"/>
            </a:pPr>
            <a:r>
              <a:rPr lang="en-US" altLang="en-US" dirty="0">
                <a:solidFill>
                  <a:srgbClr val="FF0000"/>
                </a:solidFill>
                <a:latin typeface="Arial" panose="020B0604020202020204" pitchFamily="34" charset="0"/>
              </a:rPr>
              <a:t> Be a visible role model</a:t>
            </a:r>
          </a:p>
          <a:p>
            <a:pPr lvl="1" algn="just" eaLnBrk="1" hangingPunct="1">
              <a:spcBef>
                <a:spcPct val="50000"/>
              </a:spcBef>
              <a:buClrTx/>
              <a:buFont typeface="Wingdings" panose="05000000000000000000" pitchFamily="2" charset="2"/>
              <a:buChar char="Ø"/>
            </a:pPr>
            <a:r>
              <a:rPr lang="en-US" altLang="en-US" dirty="0">
                <a:solidFill>
                  <a:srgbClr val="FF0000"/>
                </a:solidFill>
                <a:latin typeface="Arial" panose="020B0604020202020204" pitchFamily="34" charset="0"/>
              </a:rPr>
              <a:t> Communicate ethical expectations</a:t>
            </a:r>
          </a:p>
          <a:p>
            <a:pPr lvl="1" algn="just" eaLnBrk="1" hangingPunct="1">
              <a:spcBef>
                <a:spcPct val="50000"/>
              </a:spcBef>
              <a:buClrTx/>
              <a:buFont typeface="Wingdings" panose="05000000000000000000" pitchFamily="2" charset="2"/>
              <a:buChar char="Ø"/>
            </a:pPr>
            <a:r>
              <a:rPr lang="en-US" altLang="en-US" dirty="0">
                <a:solidFill>
                  <a:srgbClr val="FF0000"/>
                </a:solidFill>
                <a:latin typeface="Arial" panose="020B0604020202020204" pitchFamily="34" charset="0"/>
              </a:rPr>
              <a:t> Provide ethics training</a:t>
            </a:r>
          </a:p>
          <a:p>
            <a:pPr lvl="1" algn="just" eaLnBrk="1" hangingPunct="1">
              <a:spcBef>
                <a:spcPct val="50000"/>
              </a:spcBef>
              <a:buClrTx/>
              <a:buFont typeface="Wingdings" panose="05000000000000000000" pitchFamily="2" charset="2"/>
              <a:buChar char="Ø"/>
            </a:pPr>
            <a:r>
              <a:rPr lang="en-US" altLang="en-US" dirty="0">
                <a:solidFill>
                  <a:srgbClr val="FF0000"/>
                </a:solidFill>
                <a:latin typeface="Arial" panose="020B0604020202020204" pitchFamily="34" charset="0"/>
              </a:rPr>
              <a:t> Visibly reward ethical acts and punish unethical ones.</a:t>
            </a:r>
          </a:p>
          <a:p>
            <a:pPr lvl="1" algn="just" eaLnBrk="1" hangingPunct="1">
              <a:spcBef>
                <a:spcPct val="50000"/>
              </a:spcBef>
              <a:buClrTx/>
              <a:buFont typeface="Wingdings" panose="05000000000000000000" pitchFamily="2" charset="2"/>
              <a:buChar char="Ø"/>
            </a:pPr>
            <a:r>
              <a:rPr lang="en-US" altLang="en-US" dirty="0">
                <a:solidFill>
                  <a:srgbClr val="FF0000"/>
                </a:solidFill>
                <a:latin typeface="Arial" panose="020B0604020202020204" pitchFamily="34" charset="0"/>
              </a:rPr>
              <a:t> Provide protective mechanisms so that  employees can discuss ethical dilemmas and report unethical behavior without fear.</a:t>
            </a:r>
            <a:endParaRPr lang="en-US" altLang="en-US" sz="2400" dirty="0">
              <a:solidFill>
                <a:srgbClr val="FF0000"/>
              </a:solidFill>
              <a:latin typeface="Arial" panose="020B0604020202020204" pitchFamily="34" charset="0"/>
            </a:endParaRPr>
          </a:p>
        </p:txBody>
      </p:sp>
      <p:sp>
        <p:nvSpPr>
          <p:cNvPr id="57347" name="Text Box 16">
            <a:extLst>
              <a:ext uri="{FF2B5EF4-FFF2-40B4-BE49-F238E27FC236}">
                <a16:creationId xmlns:a16="http://schemas.microsoft.com/office/drawing/2014/main" id="{104B6B01-3DEA-0B92-F775-11DAAD4AF36F}"/>
              </a:ext>
            </a:extLst>
          </p:cNvPr>
          <p:cNvSpPr txBox="1">
            <a:spLocks noChangeArrowheads="1"/>
          </p:cNvSpPr>
          <p:nvPr/>
        </p:nvSpPr>
        <p:spPr bwMode="auto">
          <a:xfrm>
            <a:off x="609600" y="406400"/>
            <a:ext cx="792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Ethical Culture</a:t>
            </a:r>
          </a:p>
        </p:txBody>
      </p:sp>
    </p:spTree>
  </p:cSld>
  <p:clrMapOvr>
    <a:masterClrMapping/>
  </p:clrMapOvr>
  <p:transition spd="med">
    <p:strips dir="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6">
            <a:extLst>
              <a:ext uri="{FF2B5EF4-FFF2-40B4-BE49-F238E27FC236}">
                <a16:creationId xmlns:a16="http://schemas.microsoft.com/office/drawing/2014/main" id="{9FF9598E-581A-D2A0-E8B5-E022B6549F89}"/>
              </a:ext>
            </a:extLst>
          </p:cNvPr>
          <p:cNvSpPr txBox="1">
            <a:spLocks noChangeArrowheads="1"/>
          </p:cNvSpPr>
          <p:nvPr/>
        </p:nvSpPr>
        <p:spPr bwMode="auto">
          <a:xfrm>
            <a:off x="533400" y="914400"/>
            <a:ext cx="8077200" cy="593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dirty="0">
                <a:solidFill>
                  <a:srgbClr val="FF0000"/>
                </a:solidFill>
              </a:rPr>
              <a:t>An innovative culture is the one  and  is the desire of every organization; it has following characteristics:</a:t>
            </a:r>
          </a:p>
          <a:p>
            <a:pPr algn="just" eaLnBrk="1" hangingPunct="1">
              <a:spcBef>
                <a:spcPct val="50000"/>
              </a:spcBef>
              <a:buClrTx/>
              <a:buFontTx/>
              <a:buNone/>
            </a:pPr>
            <a:endParaRPr lang="en-US" altLang="en-US" sz="500" dirty="0">
              <a:solidFill>
                <a:srgbClr val="FF0000"/>
              </a:solidFill>
            </a:endParaRPr>
          </a:p>
          <a:p>
            <a:pPr algn="just" eaLnBrk="1" hangingPunct="1">
              <a:spcBef>
                <a:spcPct val="50000"/>
              </a:spcBef>
              <a:buClrTx/>
              <a:buFont typeface="Arial" panose="020B0604020202020204" pitchFamily="34" charset="0"/>
              <a:buChar char="•"/>
            </a:pPr>
            <a:r>
              <a:rPr lang="en-US" altLang="en-US" dirty="0">
                <a:solidFill>
                  <a:srgbClr val="FF0000"/>
                </a:solidFill>
              </a:rPr>
              <a:t> Challenge &amp; involvement: Employees should be involved in, motivated by and committed to long term goals and success of the organization.</a:t>
            </a:r>
          </a:p>
          <a:p>
            <a:pPr algn="just" eaLnBrk="1" hangingPunct="1">
              <a:spcBef>
                <a:spcPct val="50000"/>
              </a:spcBef>
              <a:buClrTx/>
              <a:buFont typeface="Arial" panose="020B0604020202020204" pitchFamily="34" charset="0"/>
              <a:buChar char="•"/>
            </a:pPr>
            <a:endParaRPr lang="en-US" altLang="en-US" sz="600" dirty="0">
              <a:solidFill>
                <a:srgbClr val="FF0000"/>
              </a:solidFill>
            </a:endParaRPr>
          </a:p>
          <a:p>
            <a:pPr algn="just" eaLnBrk="1" hangingPunct="1">
              <a:spcBef>
                <a:spcPct val="50000"/>
              </a:spcBef>
              <a:buClrTx/>
              <a:buFont typeface="Arial" panose="020B0604020202020204" pitchFamily="34" charset="0"/>
              <a:buChar char="•"/>
            </a:pPr>
            <a:r>
              <a:rPr lang="en-US" altLang="en-US" dirty="0">
                <a:solidFill>
                  <a:srgbClr val="FF0000"/>
                </a:solidFill>
              </a:rPr>
              <a:t> Freedom: Employees should be allowed to independently define their work, exercise discretion and take initiative in day to day activities. </a:t>
            </a:r>
          </a:p>
          <a:p>
            <a:pPr algn="just" eaLnBrk="1" hangingPunct="1">
              <a:spcBef>
                <a:spcPct val="50000"/>
              </a:spcBef>
              <a:buClrTx/>
              <a:buFont typeface="Arial" panose="020B0604020202020204" pitchFamily="34" charset="0"/>
              <a:buChar char="•"/>
            </a:pPr>
            <a:endParaRPr lang="en-US" altLang="en-US" sz="600" dirty="0">
              <a:solidFill>
                <a:srgbClr val="FF0000"/>
              </a:solidFill>
            </a:endParaRPr>
          </a:p>
          <a:p>
            <a:pPr algn="just" eaLnBrk="1" hangingPunct="1">
              <a:spcBef>
                <a:spcPct val="50000"/>
              </a:spcBef>
              <a:buClrTx/>
              <a:buFont typeface="Arial" panose="020B0604020202020204" pitchFamily="34" charset="0"/>
              <a:buChar char="•"/>
            </a:pPr>
            <a:r>
              <a:rPr lang="en-US" altLang="en-US" dirty="0">
                <a:solidFill>
                  <a:srgbClr val="FF0000"/>
                </a:solidFill>
              </a:rPr>
              <a:t> Trust &amp; openness:  Employees should be supported and respectful to each other.</a:t>
            </a:r>
          </a:p>
          <a:p>
            <a:pPr algn="just" eaLnBrk="1" hangingPunct="1">
              <a:spcBef>
                <a:spcPct val="50000"/>
              </a:spcBef>
              <a:buClrTx/>
              <a:buFont typeface="Arial" panose="020B0604020202020204" pitchFamily="34" charset="0"/>
              <a:buChar char="•"/>
            </a:pPr>
            <a:endParaRPr lang="en-US" altLang="en-US" sz="600" dirty="0">
              <a:solidFill>
                <a:srgbClr val="FF0000"/>
              </a:solidFill>
            </a:endParaRPr>
          </a:p>
          <a:p>
            <a:pPr algn="just" eaLnBrk="1" hangingPunct="1">
              <a:spcBef>
                <a:spcPct val="50000"/>
              </a:spcBef>
              <a:buClrTx/>
              <a:buFont typeface="Arial" panose="020B0604020202020204" pitchFamily="34" charset="0"/>
              <a:buChar char="•"/>
            </a:pPr>
            <a:r>
              <a:rPr lang="en-US" altLang="en-US" dirty="0">
                <a:solidFill>
                  <a:srgbClr val="FF0000"/>
                </a:solidFill>
              </a:rPr>
              <a:t> Idea time:   Employees should have time to elaborate on new ideas before taking action.</a:t>
            </a:r>
          </a:p>
        </p:txBody>
      </p:sp>
      <p:sp>
        <p:nvSpPr>
          <p:cNvPr id="59395" name="Text Box 16">
            <a:extLst>
              <a:ext uri="{FF2B5EF4-FFF2-40B4-BE49-F238E27FC236}">
                <a16:creationId xmlns:a16="http://schemas.microsoft.com/office/drawing/2014/main" id="{EF3B551B-8CC5-222B-122E-964FCA3AEEBF}"/>
              </a:ext>
            </a:extLst>
          </p:cNvPr>
          <p:cNvSpPr txBox="1">
            <a:spLocks noChangeArrowheads="1"/>
          </p:cNvSpPr>
          <p:nvPr/>
        </p:nvSpPr>
        <p:spPr bwMode="auto">
          <a:xfrm>
            <a:off x="609600" y="228600"/>
            <a:ext cx="792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Innovative Culture</a:t>
            </a:r>
          </a:p>
        </p:txBody>
      </p:sp>
    </p:spTree>
  </p:cSld>
  <p:clrMapOvr>
    <a:masterClrMapping/>
  </p:clrMapOvr>
  <p:transition spd="med">
    <p:strips dir="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6">
            <a:extLst>
              <a:ext uri="{FF2B5EF4-FFF2-40B4-BE49-F238E27FC236}">
                <a16:creationId xmlns:a16="http://schemas.microsoft.com/office/drawing/2014/main" id="{13DE9765-EA3D-2C25-0F38-8B6D009792D5}"/>
              </a:ext>
            </a:extLst>
          </p:cNvPr>
          <p:cNvSpPr txBox="1">
            <a:spLocks noChangeArrowheads="1"/>
          </p:cNvSpPr>
          <p:nvPr/>
        </p:nvSpPr>
        <p:spPr bwMode="auto">
          <a:xfrm>
            <a:off x="533400" y="1047750"/>
            <a:ext cx="807720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 typeface="Arial" panose="020B0604020202020204" pitchFamily="34" charset="0"/>
              <a:buChar char="•"/>
            </a:pPr>
            <a:r>
              <a:rPr lang="en-US" altLang="en-US">
                <a:solidFill>
                  <a:srgbClr val="C00000"/>
                </a:solidFill>
              </a:rPr>
              <a:t> Playfulness/humor: </a:t>
            </a:r>
            <a:r>
              <a:rPr lang="en-US" altLang="en-US"/>
              <a:t>The workplace should be spontaneous, natural and full of fun.</a:t>
            </a:r>
          </a:p>
          <a:p>
            <a:pPr algn="just" eaLnBrk="1" hangingPunct="1">
              <a:spcBef>
                <a:spcPct val="50000"/>
              </a:spcBef>
              <a:buClrTx/>
              <a:buFont typeface="Arial" panose="020B0604020202020204" pitchFamily="34" charset="0"/>
              <a:buChar char="•"/>
            </a:pPr>
            <a:endParaRPr lang="en-US" altLang="en-US" sz="600">
              <a:solidFill>
                <a:srgbClr val="C00000"/>
              </a:solidFill>
            </a:endParaRPr>
          </a:p>
          <a:p>
            <a:pPr algn="just" eaLnBrk="1" hangingPunct="1">
              <a:spcBef>
                <a:spcPct val="50000"/>
              </a:spcBef>
              <a:buClrTx/>
              <a:buFont typeface="Arial" panose="020B0604020202020204" pitchFamily="34" charset="0"/>
              <a:buChar char="•"/>
            </a:pPr>
            <a:r>
              <a:rPr lang="en-US" altLang="en-US">
                <a:solidFill>
                  <a:srgbClr val="C00000"/>
                </a:solidFill>
              </a:rPr>
              <a:t> Conflict resolution: </a:t>
            </a:r>
            <a:r>
              <a:rPr lang="en-US" altLang="en-US"/>
              <a:t>Employees should be empowered to make decisions and resolve issues, in the best interest of organization. </a:t>
            </a:r>
            <a:endParaRPr lang="en-US" altLang="en-US">
              <a:solidFill>
                <a:srgbClr val="C00000"/>
              </a:solidFill>
            </a:endParaRPr>
          </a:p>
          <a:p>
            <a:pPr algn="just" eaLnBrk="1" hangingPunct="1">
              <a:spcBef>
                <a:spcPct val="50000"/>
              </a:spcBef>
              <a:buClrTx/>
              <a:buFont typeface="Arial" panose="020B0604020202020204" pitchFamily="34" charset="0"/>
              <a:buChar char="•"/>
            </a:pPr>
            <a:endParaRPr lang="en-US" altLang="en-US" sz="600">
              <a:solidFill>
                <a:srgbClr val="C00000"/>
              </a:solidFill>
            </a:endParaRPr>
          </a:p>
          <a:p>
            <a:pPr algn="just" eaLnBrk="1" hangingPunct="1">
              <a:spcBef>
                <a:spcPct val="50000"/>
              </a:spcBef>
              <a:buClrTx/>
              <a:buFont typeface="Arial" panose="020B0604020202020204" pitchFamily="34" charset="0"/>
              <a:buChar char="•"/>
            </a:pPr>
            <a:r>
              <a:rPr lang="en-US" altLang="en-US">
                <a:solidFill>
                  <a:srgbClr val="C00000"/>
                </a:solidFill>
              </a:rPr>
              <a:t> Debates: </a:t>
            </a:r>
            <a:r>
              <a:rPr lang="en-US" altLang="en-US"/>
              <a:t>Employees should be allowed to express their opinions and put forth ideas for consideration and review.</a:t>
            </a:r>
            <a:endParaRPr lang="en-US" altLang="en-US">
              <a:solidFill>
                <a:srgbClr val="C00000"/>
              </a:solidFill>
            </a:endParaRPr>
          </a:p>
          <a:p>
            <a:pPr algn="just" eaLnBrk="1" hangingPunct="1">
              <a:spcBef>
                <a:spcPct val="50000"/>
              </a:spcBef>
              <a:buClrTx/>
              <a:buFont typeface="Arial" panose="020B0604020202020204" pitchFamily="34" charset="0"/>
              <a:buChar char="•"/>
            </a:pPr>
            <a:endParaRPr lang="en-US" altLang="en-US" sz="600">
              <a:solidFill>
                <a:srgbClr val="C00000"/>
              </a:solidFill>
            </a:endParaRPr>
          </a:p>
          <a:p>
            <a:pPr algn="just" eaLnBrk="1" hangingPunct="1">
              <a:spcBef>
                <a:spcPct val="50000"/>
              </a:spcBef>
              <a:buClrTx/>
              <a:buFont typeface="Arial" panose="020B0604020202020204" pitchFamily="34" charset="0"/>
              <a:buChar char="•"/>
            </a:pPr>
            <a:r>
              <a:rPr lang="en-US" altLang="en-US">
                <a:solidFill>
                  <a:srgbClr val="C00000"/>
                </a:solidFill>
              </a:rPr>
              <a:t> Risk taking:</a:t>
            </a:r>
            <a:r>
              <a:rPr lang="en-US" altLang="en-US"/>
              <a:t> Managers should tolerate uncertainty and ambiguity and employees should be rewarded for  risk taking.</a:t>
            </a:r>
          </a:p>
        </p:txBody>
      </p:sp>
      <p:sp>
        <p:nvSpPr>
          <p:cNvPr id="61443" name="Text Box 16">
            <a:extLst>
              <a:ext uri="{FF2B5EF4-FFF2-40B4-BE49-F238E27FC236}">
                <a16:creationId xmlns:a16="http://schemas.microsoft.com/office/drawing/2014/main" id="{F37D4498-6CFE-FFF2-68CA-82A40CFA966C}"/>
              </a:ext>
            </a:extLst>
          </p:cNvPr>
          <p:cNvSpPr txBox="1">
            <a:spLocks noChangeArrowheads="1"/>
          </p:cNvSpPr>
          <p:nvPr/>
        </p:nvSpPr>
        <p:spPr bwMode="auto">
          <a:xfrm>
            <a:off x="609600" y="361950"/>
            <a:ext cx="792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Innovative Culture</a:t>
            </a:r>
          </a:p>
        </p:txBody>
      </p:sp>
    </p:spTree>
  </p:cSld>
  <p:clrMapOvr>
    <a:masterClrMapping/>
  </p:clrMapOvr>
  <p:transition spd="med">
    <p:strips dir="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6">
            <a:extLst>
              <a:ext uri="{FF2B5EF4-FFF2-40B4-BE49-F238E27FC236}">
                <a16:creationId xmlns:a16="http://schemas.microsoft.com/office/drawing/2014/main" id="{C9A3E085-C0F5-ECA4-4CDE-A62C7DF576C3}"/>
              </a:ext>
            </a:extLst>
          </p:cNvPr>
          <p:cNvSpPr txBox="1">
            <a:spLocks noChangeArrowheads="1"/>
          </p:cNvSpPr>
          <p:nvPr/>
        </p:nvSpPr>
        <p:spPr bwMode="auto">
          <a:xfrm>
            <a:off x="533400" y="914400"/>
            <a:ext cx="80772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sz="2200"/>
              <a:t>A customer responsive culture has following characteristics:</a:t>
            </a:r>
          </a:p>
        </p:txBody>
      </p:sp>
      <p:sp>
        <p:nvSpPr>
          <p:cNvPr id="63491" name="Text Box 16">
            <a:extLst>
              <a:ext uri="{FF2B5EF4-FFF2-40B4-BE49-F238E27FC236}">
                <a16:creationId xmlns:a16="http://schemas.microsoft.com/office/drawing/2014/main" id="{3C855486-3B30-F3AB-339C-FACFF178D448}"/>
              </a:ext>
            </a:extLst>
          </p:cNvPr>
          <p:cNvSpPr txBox="1">
            <a:spLocks noChangeArrowheads="1"/>
          </p:cNvSpPr>
          <p:nvPr/>
        </p:nvSpPr>
        <p:spPr bwMode="auto">
          <a:xfrm>
            <a:off x="457200" y="361950"/>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Creating A Customer-Responsive Culture</a:t>
            </a:r>
          </a:p>
        </p:txBody>
      </p:sp>
      <p:graphicFrame>
        <p:nvGraphicFramePr>
          <p:cNvPr id="5" name="Table 4">
            <a:extLst>
              <a:ext uri="{FF2B5EF4-FFF2-40B4-BE49-F238E27FC236}">
                <a16:creationId xmlns:a16="http://schemas.microsoft.com/office/drawing/2014/main" id="{79057A6B-4C45-CD4B-37C8-A47796B9F643}"/>
              </a:ext>
            </a:extLst>
          </p:cNvPr>
          <p:cNvGraphicFramePr>
            <a:graphicFrameLocks noGrp="1"/>
          </p:cNvGraphicFramePr>
          <p:nvPr/>
        </p:nvGraphicFramePr>
        <p:xfrm>
          <a:off x="152400" y="1627188"/>
          <a:ext cx="8915400" cy="5154612"/>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426744">
                <a:tc>
                  <a:txBody>
                    <a:bodyPr/>
                    <a:lstStyle/>
                    <a:p>
                      <a:pPr algn="ctr"/>
                      <a:r>
                        <a:rPr lang="en-US" sz="2200" b="1" dirty="0"/>
                        <a:t>Characteristics</a:t>
                      </a:r>
                    </a:p>
                  </a:txBody>
                  <a:tcPr marT="45723" marB="45723"/>
                </a:tc>
                <a:tc>
                  <a:txBody>
                    <a:bodyPr/>
                    <a:lstStyle/>
                    <a:p>
                      <a:pPr algn="ctr"/>
                      <a:r>
                        <a:rPr lang="en-US" sz="2200" b="1" dirty="0"/>
                        <a:t>Suggestions for Managers</a:t>
                      </a:r>
                    </a:p>
                  </a:txBody>
                  <a:tcPr marT="45723" marB="45723"/>
                </a:tc>
                <a:extLst>
                  <a:ext uri="{0D108BD9-81ED-4DB2-BD59-A6C34878D82A}">
                    <a16:rowId xmlns:a16="http://schemas.microsoft.com/office/drawing/2014/main" val="10000"/>
                  </a:ext>
                </a:extLst>
              </a:tr>
              <a:tr h="1005897">
                <a:tc>
                  <a:txBody>
                    <a:bodyPr/>
                    <a:lstStyle/>
                    <a:p>
                      <a:r>
                        <a:rPr lang="en-US" sz="2000" b="1" dirty="0">
                          <a:solidFill>
                            <a:srgbClr val="C00000"/>
                          </a:solidFill>
                        </a:rPr>
                        <a:t>Type of employees</a:t>
                      </a:r>
                    </a:p>
                    <a:p>
                      <a:endParaRPr lang="en-US" sz="2000" b="1" dirty="0">
                        <a:solidFill>
                          <a:srgbClr val="C00000"/>
                        </a:solidFill>
                      </a:endParaRPr>
                    </a:p>
                  </a:txBody>
                  <a:tcPr marT="45723" marB="45723">
                    <a:solidFill>
                      <a:schemeClr val="bg2">
                        <a:lumMod val="20000"/>
                        <a:lumOff val="80000"/>
                      </a:schemeClr>
                    </a:solidFill>
                  </a:tcPr>
                </a:tc>
                <a:tc>
                  <a:txBody>
                    <a:bodyPr/>
                    <a:lstStyle/>
                    <a:p>
                      <a:pPr algn="just"/>
                      <a:r>
                        <a:rPr lang="en-US" sz="2000" b="0" dirty="0"/>
                        <a:t>Hire people with personalities &amp; attitudes consistent</a:t>
                      </a:r>
                      <a:r>
                        <a:rPr lang="en-US" sz="2000" b="0" baseline="0" dirty="0"/>
                        <a:t> with customer service – friendly, attentive, enthusiastic, patient, good listener.</a:t>
                      </a:r>
                      <a:endParaRPr lang="en-US" sz="2000" b="0" dirty="0"/>
                    </a:p>
                  </a:txBody>
                  <a:tcPr marT="45723" marB="45723">
                    <a:solidFill>
                      <a:schemeClr val="bg2">
                        <a:lumMod val="20000"/>
                        <a:lumOff val="80000"/>
                      </a:schemeClr>
                    </a:solidFill>
                  </a:tcPr>
                </a:tc>
                <a:extLst>
                  <a:ext uri="{0D108BD9-81ED-4DB2-BD59-A6C34878D82A}">
                    <a16:rowId xmlns:a16="http://schemas.microsoft.com/office/drawing/2014/main" val="10001"/>
                  </a:ext>
                </a:extLst>
              </a:tr>
              <a:tr h="10058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C00000"/>
                          </a:solidFill>
                        </a:rPr>
                        <a:t>Type of job environment</a:t>
                      </a:r>
                      <a:endParaRPr lang="en-US" sz="2000" b="1" dirty="0"/>
                    </a:p>
                    <a:p>
                      <a:endParaRPr lang="en-US" sz="2000" b="1" dirty="0"/>
                    </a:p>
                  </a:txBody>
                  <a:tcPr marT="45723" marB="45723">
                    <a:solidFill>
                      <a:schemeClr val="bg2">
                        <a:lumMod val="20000"/>
                        <a:lumOff val="80000"/>
                      </a:schemeClr>
                    </a:solidFill>
                  </a:tcPr>
                </a:tc>
                <a:tc>
                  <a:txBody>
                    <a:bodyPr/>
                    <a:lstStyle/>
                    <a:p>
                      <a:pPr algn="just"/>
                      <a:r>
                        <a:rPr lang="en-US" sz="2000" b="0" dirty="0"/>
                        <a:t>Design job so that employees have as much control as possible to satisfy customers, without rigid</a:t>
                      </a:r>
                      <a:r>
                        <a:rPr lang="en-US" sz="2000" b="0" baseline="0" dirty="0"/>
                        <a:t> rules and procedures.</a:t>
                      </a:r>
                      <a:endParaRPr lang="en-US" sz="2000" b="0" dirty="0"/>
                    </a:p>
                  </a:txBody>
                  <a:tcPr marT="45723" marB="45723">
                    <a:solidFill>
                      <a:schemeClr val="bg2">
                        <a:lumMod val="20000"/>
                        <a:lumOff val="80000"/>
                      </a:schemeClr>
                    </a:solidFill>
                  </a:tcPr>
                </a:tc>
                <a:extLst>
                  <a:ext uri="{0D108BD9-81ED-4DB2-BD59-A6C34878D82A}">
                    <a16:rowId xmlns:a16="http://schemas.microsoft.com/office/drawing/2014/main" val="10002"/>
                  </a:ext>
                </a:extLst>
              </a:tr>
              <a:tr h="701080">
                <a:tc>
                  <a:txBody>
                    <a:bodyPr/>
                    <a:lstStyle/>
                    <a:p>
                      <a:r>
                        <a:rPr lang="en-US" sz="2000" b="1" dirty="0">
                          <a:solidFill>
                            <a:srgbClr val="C00000"/>
                          </a:solidFill>
                        </a:rPr>
                        <a:t>Empowerment</a:t>
                      </a:r>
                      <a:endParaRPr lang="en-US" sz="2000" b="1" dirty="0"/>
                    </a:p>
                  </a:txBody>
                  <a:tcPr marT="45723" marB="45723">
                    <a:solidFill>
                      <a:schemeClr val="bg2">
                        <a:lumMod val="20000"/>
                        <a:lumOff val="80000"/>
                      </a:schemeClr>
                    </a:solidFill>
                  </a:tcPr>
                </a:tc>
                <a:tc>
                  <a:txBody>
                    <a:bodyPr/>
                    <a:lstStyle/>
                    <a:p>
                      <a:r>
                        <a:rPr lang="en-US" sz="2000" b="0" dirty="0"/>
                        <a:t>Give employees discretion</a:t>
                      </a:r>
                      <a:r>
                        <a:rPr lang="en-US" sz="2000" b="0" baseline="0" dirty="0"/>
                        <a:t> to make day to day decisions on job related activities.</a:t>
                      </a:r>
                      <a:endParaRPr lang="en-US" sz="2000" b="0" dirty="0"/>
                    </a:p>
                  </a:txBody>
                  <a:tcPr marT="45723" marB="45723">
                    <a:solidFill>
                      <a:schemeClr val="bg2">
                        <a:lumMod val="20000"/>
                        <a:lumOff val="80000"/>
                      </a:schemeClr>
                    </a:solidFill>
                  </a:tcPr>
                </a:tc>
                <a:extLst>
                  <a:ext uri="{0D108BD9-81ED-4DB2-BD59-A6C34878D82A}">
                    <a16:rowId xmlns:a16="http://schemas.microsoft.com/office/drawing/2014/main" val="10003"/>
                  </a:ext>
                </a:extLst>
              </a:tr>
              <a:tr h="1005897">
                <a:tc>
                  <a:txBody>
                    <a:bodyPr/>
                    <a:lstStyle/>
                    <a:p>
                      <a:r>
                        <a:rPr lang="en-US" sz="2000" b="1" dirty="0">
                          <a:solidFill>
                            <a:srgbClr val="C00000"/>
                          </a:solidFill>
                        </a:rPr>
                        <a:t>Role clarity</a:t>
                      </a:r>
                    </a:p>
                  </a:txBody>
                  <a:tcPr marT="45723" marB="45723">
                    <a:solidFill>
                      <a:schemeClr val="bg2">
                        <a:lumMod val="20000"/>
                        <a:lumOff val="80000"/>
                      </a:schemeClr>
                    </a:solidFill>
                  </a:tcPr>
                </a:tc>
                <a:tc>
                  <a:txBody>
                    <a:bodyPr/>
                    <a:lstStyle/>
                    <a:p>
                      <a:r>
                        <a:rPr lang="en-US" sz="2000" b="0" dirty="0"/>
                        <a:t>Reduce uncertainty about what employees</a:t>
                      </a:r>
                      <a:r>
                        <a:rPr lang="en-US" sz="2000" b="0" baseline="0" dirty="0"/>
                        <a:t> can and cannot do by continual training on product knowledge, listening, &amp; other behavioral skills.</a:t>
                      </a:r>
                      <a:endParaRPr lang="en-US" sz="2000" b="0" dirty="0"/>
                    </a:p>
                  </a:txBody>
                  <a:tcPr marT="45723" marB="45723">
                    <a:solidFill>
                      <a:schemeClr val="bg2">
                        <a:lumMod val="20000"/>
                        <a:lumOff val="80000"/>
                      </a:schemeClr>
                    </a:solidFill>
                  </a:tcPr>
                </a:tc>
                <a:extLst>
                  <a:ext uri="{0D108BD9-81ED-4DB2-BD59-A6C34878D82A}">
                    <a16:rowId xmlns:a16="http://schemas.microsoft.com/office/drawing/2014/main" val="10004"/>
                  </a:ext>
                </a:extLst>
              </a:tr>
              <a:tr h="1009097">
                <a:tc>
                  <a:txBody>
                    <a:bodyPr/>
                    <a:lstStyle/>
                    <a:p>
                      <a:r>
                        <a:rPr lang="en-US" sz="2000" b="1" dirty="0">
                          <a:solidFill>
                            <a:srgbClr val="C00000"/>
                          </a:solidFill>
                        </a:rPr>
                        <a:t>Consistent desire</a:t>
                      </a:r>
                      <a:r>
                        <a:rPr lang="en-US" sz="2000" b="1" baseline="0" dirty="0">
                          <a:solidFill>
                            <a:srgbClr val="C00000"/>
                          </a:solidFill>
                        </a:rPr>
                        <a:t> to</a:t>
                      </a:r>
                      <a:r>
                        <a:rPr lang="en-US" sz="2000" b="1" dirty="0">
                          <a:solidFill>
                            <a:srgbClr val="C00000"/>
                          </a:solidFill>
                        </a:rPr>
                        <a:t> satisfy &amp; delight customers.</a:t>
                      </a:r>
                    </a:p>
                  </a:txBody>
                  <a:tcPr marT="45723" marB="45723">
                    <a:solidFill>
                      <a:schemeClr val="bg2">
                        <a:lumMod val="20000"/>
                        <a:lumOff val="80000"/>
                      </a:schemeClr>
                    </a:solidFill>
                  </a:tcPr>
                </a:tc>
                <a:tc>
                  <a:txBody>
                    <a:bodyPr/>
                    <a:lstStyle/>
                    <a:p>
                      <a:r>
                        <a:rPr lang="en-US" sz="2000" b="0" dirty="0"/>
                        <a:t>Clarify organization’s commitment to doing whatever it takes, even</a:t>
                      </a:r>
                      <a:r>
                        <a:rPr lang="en-US" sz="2000" b="0" baseline="0" dirty="0"/>
                        <a:t> if it is outside one’s normal job requirements.</a:t>
                      </a:r>
                      <a:endParaRPr lang="en-US" sz="2000" b="0" dirty="0"/>
                    </a:p>
                  </a:txBody>
                  <a:tcPr marT="45723" marB="45723">
                    <a:solidFill>
                      <a:schemeClr val="bg2">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spd="med">
    <p:strips dir="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6">
            <a:extLst>
              <a:ext uri="{FF2B5EF4-FFF2-40B4-BE49-F238E27FC236}">
                <a16:creationId xmlns:a16="http://schemas.microsoft.com/office/drawing/2014/main" id="{BBD7FBB2-5617-B094-CECD-0F0EDE1E7CAA}"/>
              </a:ext>
            </a:extLst>
          </p:cNvPr>
          <p:cNvSpPr txBox="1">
            <a:spLocks noChangeArrowheads="1"/>
          </p:cNvSpPr>
          <p:nvPr/>
        </p:nvSpPr>
        <p:spPr bwMode="auto">
          <a:xfrm>
            <a:off x="381000" y="933450"/>
            <a:ext cx="8382000" cy="565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just" eaLnBrk="1" hangingPunct="1">
              <a:spcBef>
                <a:spcPct val="50000"/>
              </a:spcBef>
              <a:buClrTx/>
              <a:buFontTx/>
              <a:buNone/>
            </a:pPr>
            <a:r>
              <a:rPr lang="en-US" altLang="en-US" dirty="0">
                <a:solidFill>
                  <a:srgbClr val="FF0000"/>
                </a:solidFill>
              </a:rPr>
              <a:t>Workplace Spirituality: </a:t>
            </a:r>
            <a:r>
              <a:rPr lang="en-US" altLang="en-US" b="0" dirty="0">
                <a:solidFill>
                  <a:srgbClr val="FF0000"/>
                </a:solidFill>
              </a:rPr>
              <a:t>A feature of a culture where organizational values promote a sense of purpose through meaningful work that takes place in the context of community. Such an organization recognizes that people have a mind and a spirit who seek to find meaning &amp; purpose in their work and desire to connect with other human beings and be part of the community. A spiritual organization has following five characteristics:</a:t>
            </a:r>
          </a:p>
          <a:p>
            <a:pPr algn="just" eaLnBrk="1" hangingPunct="1">
              <a:spcBef>
                <a:spcPct val="50000"/>
              </a:spcBef>
              <a:buClrTx/>
              <a:buFont typeface="Arial" panose="020B0604020202020204" pitchFamily="34" charset="0"/>
              <a:buChar char="•"/>
            </a:pPr>
            <a:endParaRPr lang="en-US" altLang="en-US" sz="300" b="0" dirty="0">
              <a:solidFill>
                <a:srgbClr val="FF0000"/>
              </a:solidFill>
            </a:endParaRPr>
          </a:p>
          <a:p>
            <a:pPr lvl="1" algn="just" eaLnBrk="1" hangingPunct="1">
              <a:spcBef>
                <a:spcPct val="50000"/>
              </a:spcBef>
              <a:buClrTx/>
              <a:buFont typeface="Wingdings" panose="05000000000000000000" pitchFamily="2" charset="2"/>
              <a:buChar char="Ø"/>
            </a:pPr>
            <a:r>
              <a:rPr lang="en-US" altLang="en-US" b="0" dirty="0">
                <a:solidFill>
                  <a:srgbClr val="FF0000"/>
                </a:solidFill>
                <a:latin typeface="Arial" panose="020B0604020202020204" pitchFamily="34" charset="0"/>
              </a:rPr>
              <a:t> Strong sense of purpose</a:t>
            </a:r>
          </a:p>
          <a:p>
            <a:pPr lvl="1" algn="just" eaLnBrk="1" hangingPunct="1">
              <a:spcBef>
                <a:spcPct val="50000"/>
              </a:spcBef>
              <a:buClrTx/>
              <a:buFont typeface="Wingdings" panose="05000000000000000000" pitchFamily="2" charset="2"/>
              <a:buChar char="Ø"/>
            </a:pPr>
            <a:r>
              <a:rPr lang="en-US" altLang="en-US" b="0" dirty="0">
                <a:solidFill>
                  <a:srgbClr val="FF0000"/>
                </a:solidFill>
                <a:latin typeface="Arial" panose="020B0604020202020204" pitchFamily="34" charset="0"/>
              </a:rPr>
              <a:t> Focus on individual development</a:t>
            </a:r>
          </a:p>
          <a:p>
            <a:pPr lvl="1" algn="just" eaLnBrk="1" hangingPunct="1">
              <a:spcBef>
                <a:spcPct val="50000"/>
              </a:spcBef>
              <a:buClrTx/>
              <a:buFont typeface="Wingdings" panose="05000000000000000000" pitchFamily="2" charset="2"/>
              <a:buChar char="Ø"/>
            </a:pPr>
            <a:r>
              <a:rPr lang="en-US" altLang="en-US" b="0" dirty="0">
                <a:solidFill>
                  <a:srgbClr val="FF0000"/>
                </a:solidFill>
                <a:latin typeface="Arial" panose="020B0604020202020204" pitchFamily="34" charset="0"/>
              </a:rPr>
              <a:t> Trust and openness</a:t>
            </a:r>
          </a:p>
          <a:p>
            <a:pPr lvl="1" algn="just" eaLnBrk="1" hangingPunct="1">
              <a:spcBef>
                <a:spcPct val="50000"/>
              </a:spcBef>
              <a:buClrTx/>
              <a:buFont typeface="Wingdings" panose="05000000000000000000" pitchFamily="2" charset="2"/>
              <a:buChar char="Ø"/>
            </a:pPr>
            <a:r>
              <a:rPr lang="en-US" altLang="en-US" b="0" dirty="0">
                <a:solidFill>
                  <a:srgbClr val="FF0000"/>
                </a:solidFill>
                <a:latin typeface="Arial" panose="020B0604020202020204" pitchFamily="34" charset="0"/>
              </a:rPr>
              <a:t> Employee empowerment</a:t>
            </a:r>
          </a:p>
          <a:p>
            <a:pPr lvl="1" algn="just" eaLnBrk="1" hangingPunct="1">
              <a:spcBef>
                <a:spcPct val="50000"/>
              </a:spcBef>
              <a:buClrTx/>
              <a:buFont typeface="Wingdings" panose="05000000000000000000" pitchFamily="2" charset="2"/>
              <a:buChar char="Ø"/>
            </a:pPr>
            <a:r>
              <a:rPr lang="en-US" altLang="en-US" b="0" dirty="0">
                <a:solidFill>
                  <a:srgbClr val="FF0000"/>
                </a:solidFill>
                <a:latin typeface="Arial" panose="020B0604020202020204" pitchFamily="34" charset="0"/>
              </a:rPr>
              <a:t> Toleration of employee expression</a:t>
            </a:r>
          </a:p>
        </p:txBody>
      </p:sp>
      <p:sp>
        <p:nvSpPr>
          <p:cNvPr id="65539" name="Text Box 16">
            <a:extLst>
              <a:ext uri="{FF2B5EF4-FFF2-40B4-BE49-F238E27FC236}">
                <a16:creationId xmlns:a16="http://schemas.microsoft.com/office/drawing/2014/main" id="{4D2F034C-748D-1C84-658B-ECEB9139FE1C}"/>
              </a:ext>
            </a:extLst>
          </p:cNvPr>
          <p:cNvSpPr txBox="1">
            <a:spLocks noChangeArrowheads="1"/>
          </p:cNvSpPr>
          <p:nvPr/>
        </p:nvSpPr>
        <p:spPr bwMode="auto">
          <a:xfrm>
            <a:off x="457200" y="304800"/>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Spirituality and Organizational Culture</a:t>
            </a:r>
          </a:p>
        </p:txBody>
      </p:sp>
    </p:spTree>
  </p:cSld>
  <p:clrMapOvr>
    <a:masterClrMapping/>
  </p:clrMapOvr>
  <p:transition spd="med">
    <p:strips dir="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6">
            <a:extLst>
              <a:ext uri="{FF2B5EF4-FFF2-40B4-BE49-F238E27FC236}">
                <a16:creationId xmlns:a16="http://schemas.microsoft.com/office/drawing/2014/main" id="{5F09F318-85CC-57D4-E214-2B312FD91DC7}"/>
              </a:ext>
            </a:extLst>
          </p:cNvPr>
          <p:cNvSpPr txBox="1">
            <a:spLocks noChangeArrowheads="1"/>
          </p:cNvSpPr>
          <p:nvPr/>
        </p:nvSpPr>
        <p:spPr bwMode="auto">
          <a:xfrm>
            <a:off x="381000" y="933450"/>
            <a:ext cx="8382000" cy="5447645"/>
          </a:xfrm>
          <a:prstGeom prst="rect">
            <a:avLst/>
          </a:prstGeom>
          <a:noFill/>
          <a:ln w="9525">
            <a:noFill/>
            <a:miter lim="800000"/>
            <a:headEnd/>
            <a:tailEnd/>
          </a:ln>
        </p:spPr>
        <p:txBody>
          <a:bodyPr>
            <a:spAutoFit/>
          </a:bodyPr>
          <a:lstStyle/>
          <a:p>
            <a:pPr algn="just" eaLnBrk="1" hangingPunct="1">
              <a:spcBef>
                <a:spcPct val="50000"/>
              </a:spcBef>
              <a:defRPr/>
            </a:pPr>
            <a:r>
              <a:rPr lang="en-US" sz="2400" dirty="0">
                <a:solidFill>
                  <a:srgbClr val="FF0000"/>
                </a:solidFill>
                <a:latin typeface="Arial" charset="0"/>
              </a:rPr>
              <a:t>External environment: It refers to the factors and forces outside an organization that affect the organization’s performance. It has two components – specific environment and general environment:</a:t>
            </a:r>
          </a:p>
          <a:p>
            <a:pPr marL="342900" lvl="1" algn="just" eaLnBrk="1" hangingPunct="1">
              <a:spcBef>
                <a:spcPct val="50000"/>
              </a:spcBef>
              <a:buFont typeface="Arial" charset="0"/>
              <a:buChar char="•"/>
              <a:defRPr/>
            </a:pPr>
            <a:r>
              <a:rPr lang="en-US" sz="2400" dirty="0">
                <a:solidFill>
                  <a:srgbClr val="FF0000"/>
                </a:solidFill>
                <a:latin typeface="Arial" charset="0"/>
              </a:rPr>
              <a:t> Specific environment: External forces that have a direct impact on manager’s decisions and actions and are directly relevant to the achievement of an organization’s goal. Main forces that make up specific culture are:</a:t>
            </a:r>
          </a:p>
          <a:p>
            <a:pPr lvl="1" algn="just" eaLnBrk="1" hangingPunct="1">
              <a:spcBef>
                <a:spcPct val="50000"/>
              </a:spcBef>
              <a:buFont typeface="Courier New" pitchFamily="49" charset="0"/>
              <a:buChar char="o"/>
              <a:defRPr/>
            </a:pPr>
            <a:r>
              <a:rPr lang="en-US" sz="2400" dirty="0">
                <a:solidFill>
                  <a:srgbClr val="FF0000"/>
                </a:solidFill>
                <a:latin typeface="Arial" charset="0"/>
              </a:rPr>
              <a:t>  Customers</a:t>
            </a:r>
          </a:p>
          <a:p>
            <a:pPr lvl="1" algn="just" eaLnBrk="1" hangingPunct="1">
              <a:spcBef>
                <a:spcPct val="50000"/>
              </a:spcBef>
              <a:buFont typeface="Courier New" pitchFamily="49" charset="0"/>
              <a:buChar char="o"/>
              <a:defRPr/>
            </a:pPr>
            <a:r>
              <a:rPr lang="en-US" sz="2400" dirty="0">
                <a:solidFill>
                  <a:srgbClr val="FF0000"/>
                </a:solidFill>
                <a:latin typeface="Arial" charset="0"/>
              </a:rPr>
              <a:t>  Suppliers</a:t>
            </a:r>
          </a:p>
          <a:p>
            <a:pPr lvl="1" algn="just" eaLnBrk="1" hangingPunct="1">
              <a:spcBef>
                <a:spcPct val="50000"/>
              </a:spcBef>
              <a:buFont typeface="Courier New" pitchFamily="49" charset="0"/>
              <a:buChar char="o"/>
              <a:defRPr/>
            </a:pPr>
            <a:r>
              <a:rPr lang="en-US" sz="2400" dirty="0">
                <a:solidFill>
                  <a:srgbClr val="FF0000"/>
                </a:solidFill>
                <a:latin typeface="Arial" charset="0"/>
              </a:rPr>
              <a:t>  Competitors</a:t>
            </a:r>
          </a:p>
          <a:p>
            <a:pPr lvl="1" algn="just" eaLnBrk="1" hangingPunct="1">
              <a:spcBef>
                <a:spcPct val="50000"/>
              </a:spcBef>
              <a:buFont typeface="Courier New" pitchFamily="49" charset="0"/>
              <a:buChar char="o"/>
              <a:defRPr/>
            </a:pPr>
            <a:r>
              <a:rPr lang="en-US" sz="2400" dirty="0">
                <a:solidFill>
                  <a:srgbClr val="FF0000"/>
                </a:solidFill>
                <a:latin typeface="Arial" charset="0"/>
              </a:rPr>
              <a:t>  Pressure groups</a:t>
            </a:r>
          </a:p>
        </p:txBody>
      </p:sp>
      <p:sp>
        <p:nvSpPr>
          <p:cNvPr id="67587" name="Text Box 16">
            <a:extLst>
              <a:ext uri="{FF2B5EF4-FFF2-40B4-BE49-F238E27FC236}">
                <a16:creationId xmlns:a16="http://schemas.microsoft.com/office/drawing/2014/main" id="{5534CA8E-7575-4EB0-3F86-4450ECFA5ECF}"/>
              </a:ext>
            </a:extLst>
          </p:cNvPr>
          <p:cNvSpPr txBox="1">
            <a:spLocks noChangeArrowheads="1"/>
          </p:cNvSpPr>
          <p:nvPr/>
        </p:nvSpPr>
        <p:spPr bwMode="auto">
          <a:xfrm>
            <a:off x="457200" y="304800"/>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Influence of External Environment</a:t>
            </a:r>
          </a:p>
        </p:txBody>
      </p:sp>
    </p:spTree>
  </p:cSld>
  <p:clrMapOvr>
    <a:masterClrMapping/>
  </p:clrMapOvr>
  <p:transition spd="med">
    <p:strips dir="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6">
            <a:extLst>
              <a:ext uri="{FF2B5EF4-FFF2-40B4-BE49-F238E27FC236}">
                <a16:creationId xmlns:a16="http://schemas.microsoft.com/office/drawing/2014/main" id="{B2AD745F-224D-1C67-FB96-2E9F750613F4}"/>
              </a:ext>
            </a:extLst>
          </p:cNvPr>
          <p:cNvSpPr txBox="1">
            <a:spLocks noChangeArrowheads="1"/>
          </p:cNvSpPr>
          <p:nvPr/>
        </p:nvSpPr>
        <p:spPr bwMode="auto">
          <a:xfrm>
            <a:off x="381000" y="1216025"/>
            <a:ext cx="8382000" cy="5216525"/>
          </a:xfrm>
          <a:prstGeom prst="rect">
            <a:avLst/>
          </a:prstGeom>
          <a:noFill/>
          <a:ln w="9525">
            <a:noFill/>
            <a:miter lim="800000"/>
            <a:headEnd/>
            <a:tailEnd/>
          </a:ln>
        </p:spPr>
        <p:txBody>
          <a:bodyPr>
            <a:spAutoFit/>
          </a:bodyPr>
          <a:lstStyle/>
          <a:p>
            <a:pPr marL="342900" algn="just" eaLnBrk="1" hangingPunct="1">
              <a:spcBef>
                <a:spcPct val="50000"/>
              </a:spcBef>
              <a:buFont typeface="Arial" charset="0"/>
              <a:buChar char="•"/>
              <a:defRPr/>
            </a:pPr>
            <a:r>
              <a:rPr lang="en-US" sz="2400" dirty="0">
                <a:solidFill>
                  <a:srgbClr val="FF0000"/>
                </a:solidFill>
                <a:latin typeface="Arial" charset="0"/>
              </a:rPr>
              <a:t> General environment: General environment includes the broad external conditions that may affect an organization. During various managerial functions, these factors should be kept in mind, which are:</a:t>
            </a:r>
          </a:p>
          <a:p>
            <a:pPr algn="just" eaLnBrk="1" hangingPunct="1">
              <a:spcBef>
                <a:spcPct val="50000"/>
              </a:spcBef>
              <a:buFont typeface="Arial" charset="0"/>
              <a:buChar char="•"/>
              <a:defRPr/>
            </a:pPr>
            <a:endParaRPr lang="en-US" sz="1050" dirty="0">
              <a:solidFill>
                <a:srgbClr val="FF0000"/>
              </a:solidFill>
              <a:latin typeface="Arial" charset="0"/>
            </a:endParaRPr>
          </a:p>
          <a:p>
            <a:pPr marL="685800" lvl="2" algn="just" eaLnBrk="1" hangingPunct="1">
              <a:spcBef>
                <a:spcPct val="50000"/>
              </a:spcBef>
              <a:buFont typeface="Wingdings" pitchFamily="2" charset="2"/>
              <a:buChar char="Ø"/>
              <a:defRPr/>
            </a:pPr>
            <a:r>
              <a:rPr lang="en-US" sz="2400" dirty="0">
                <a:solidFill>
                  <a:srgbClr val="FF0000"/>
                </a:solidFill>
                <a:latin typeface="Arial" charset="0"/>
              </a:rPr>
              <a:t>  Economic conditions</a:t>
            </a:r>
          </a:p>
          <a:p>
            <a:pPr marL="685800" lvl="2" algn="just" eaLnBrk="1" hangingPunct="1">
              <a:spcBef>
                <a:spcPct val="50000"/>
              </a:spcBef>
              <a:buFont typeface="Wingdings" pitchFamily="2" charset="2"/>
              <a:buChar char="Ø"/>
              <a:defRPr/>
            </a:pPr>
            <a:r>
              <a:rPr lang="en-US" sz="2400" dirty="0">
                <a:solidFill>
                  <a:srgbClr val="FF0000"/>
                </a:solidFill>
                <a:latin typeface="Arial" charset="0"/>
              </a:rPr>
              <a:t>  Political/Legal, conditions</a:t>
            </a:r>
          </a:p>
          <a:p>
            <a:pPr marL="685800" lvl="2" algn="just" eaLnBrk="1" hangingPunct="1">
              <a:spcBef>
                <a:spcPct val="50000"/>
              </a:spcBef>
              <a:buFont typeface="Wingdings" pitchFamily="2" charset="2"/>
              <a:buChar char="Ø"/>
              <a:defRPr/>
            </a:pPr>
            <a:r>
              <a:rPr lang="en-US" sz="2400" dirty="0">
                <a:solidFill>
                  <a:srgbClr val="FF0000"/>
                </a:solidFill>
                <a:latin typeface="Arial" charset="0"/>
              </a:rPr>
              <a:t>  Socio-cultural conditions</a:t>
            </a:r>
          </a:p>
          <a:p>
            <a:pPr marL="685800" lvl="2" algn="just" eaLnBrk="1" hangingPunct="1">
              <a:spcBef>
                <a:spcPct val="50000"/>
              </a:spcBef>
              <a:buFont typeface="Wingdings" pitchFamily="2" charset="2"/>
              <a:buChar char="Ø"/>
              <a:defRPr/>
            </a:pPr>
            <a:r>
              <a:rPr lang="en-US" sz="2400" dirty="0">
                <a:solidFill>
                  <a:srgbClr val="FF0000"/>
                </a:solidFill>
                <a:latin typeface="Arial" charset="0"/>
              </a:rPr>
              <a:t>  Demographic conditions</a:t>
            </a:r>
          </a:p>
          <a:p>
            <a:pPr marL="685800" lvl="2" algn="just" eaLnBrk="1" hangingPunct="1">
              <a:spcBef>
                <a:spcPct val="50000"/>
              </a:spcBef>
              <a:buFont typeface="Wingdings" pitchFamily="2" charset="2"/>
              <a:buChar char="Ø"/>
              <a:defRPr/>
            </a:pPr>
            <a:r>
              <a:rPr lang="en-US" sz="2400" dirty="0">
                <a:solidFill>
                  <a:srgbClr val="FF0000"/>
                </a:solidFill>
                <a:latin typeface="Arial" charset="0"/>
              </a:rPr>
              <a:t>  Technological conditions</a:t>
            </a:r>
          </a:p>
          <a:p>
            <a:pPr marL="685800" lvl="2" algn="just" eaLnBrk="1" hangingPunct="1">
              <a:spcBef>
                <a:spcPct val="50000"/>
              </a:spcBef>
              <a:buFont typeface="Wingdings" pitchFamily="2" charset="2"/>
              <a:buChar char="Ø"/>
              <a:defRPr/>
            </a:pPr>
            <a:r>
              <a:rPr lang="en-US" sz="2400" dirty="0">
                <a:solidFill>
                  <a:srgbClr val="FF0000"/>
                </a:solidFill>
                <a:latin typeface="Arial" charset="0"/>
              </a:rPr>
              <a:t>  Global conditions</a:t>
            </a:r>
            <a:endParaRPr lang="en-US" sz="2400" b="0" dirty="0">
              <a:solidFill>
                <a:srgbClr val="FF0000"/>
              </a:solidFill>
              <a:latin typeface="Arial" charset="0"/>
            </a:endParaRPr>
          </a:p>
        </p:txBody>
      </p:sp>
      <p:sp>
        <p:nvSpPr>
          <p:cNvPr id="69635" name="Text Box 16">
            <a:extLst>
              <a:ext uri="{FF2B5EF4-FFF2-40B4-BE49-F238E27FC236}">
                <a16:creationId xmlns:a16="http://schemas.microsoft.com/office/drawing/2014/main" id="{C2D23D8D-FEEF-628E-D68E-CA98C45FA47B}"/>
              </a:ext>
            </a:extLst>
          </p:cNvPr>
          <p:cNvSpPr txBox="1">
            <a:spLocks noChangeArrowheads="1"/>
          </p:cNvSpPr>
          <p:nvPr/>
        </p:nvSpPr>
        <p:spPr bwMode="auto">
          <a:xfrm>
            <a:off x="457200" y="457200"/>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Ø"/>
              <a:defRPr sz="2400" b="1">
                <a:solidFill>
                  <a:schemeClr val="tx1"/>
                </a:solidFill>
                <a:latin typeface="Arial" panose="020B0604020202020204" pitchFamily="34" charset="0"/>
              </a:defRPr>
            </a:lvl1pPr>
            <a:lvl2pPr marL="742950" indent="-285750">
              <a:spcBef>
                <a:spcPct val="20000"/>
              </a:spcBef>
              <a:buClr>
                <a:srgbClr val="336699"/>
              </a:buClr>
              <a:buChar char="–"/>
              <a:defRPr sz="2200">
                <a:solidFill>
                  <a:srgbClr val="993300"/>
                </a:solidFill>
                <a:latin typeface="Tahoma" panose="020B0604030504040204" pitchFamily="34" charset="0"/>
              </a:defRPr>
            </a:lvl2pPr>
            <a:lvl3pPr marL="1143000" indent="-228600">
              <a:spcBef>
                <a:spcPct val="20000"/>
              </a:spcBef>
              <a:buClr>
                <a:srgbClr val="336699"/>
              </a:buClr>
              <a:buChar char="•"/>
              <a:defRPr sz="2000">
                <a:solidFill>
                  <a:schemeClr val="tx1"/>
                </a:solidFill>
                <a:latin typeface="Arial" panose="020B0604020202020204" pitchFamily="34" charset="0"/>
              </a:defRPr>
            </a:lvl3pPr>
            <a:lvl4pPr marL="1600200" indent="-228600">
              <a:spcBef>
                <a:spcPct val="20000"/>
              </a:spcBef>
              <a:buClr>
                <a:srgbClr val="336699"/>
              </a:buClr>
              <a:buChar char="–"/>
              <a:defRPr sz="2000">
                <a:solidFill>
                  <a:schemeClr val="tx1"/>
                </a:solidFill>
                <a:latin typeface="Times New Roman" panose="02020603050405020304" pitchFamily="18" charset="0"/>
              </a:defRPr>
            </a:lvl4pPr>
            <a:lvl5pPr marL="2057400" indent="-228600">
              <a:spcBef>
                <a:spcPct val="20000"/>
              </a:spcBef>
              <a:buClr>
                <a:srgbClr val="336699"/>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3200">
                <a:solidFill>
                  <a:srgbClr val="6600FF"/>
                </a:solidFill>
              </a:rPr>
              <a:t>Influence of External Environment</a:t>
            </a:r>
          </a:p>
        </p:txBody>
      </p:sp>
    </p:spTree>
  </p:cSld>
  <p:clrMapOvr>
    <a:masterClrMapping/>
  </p:clrMapOvr>
  <p:transition spd="med">
    <p:strips dir="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CB30E0DE-AE7C-B667-FDB3-042A5BC89C5E}"/>
              </a:ext>
            </a:extLst>
          </p:cNvPr>
          <p:cNvSpPr>
            <a:spLocks noGrp="1" noChangeArrowheads="1"/>
          </p:cNvSpPr>
          <p:nvPr>
            <p:ph type="title"/>
          </p:nvPr>
        </p:nvSpPr>
        <p:spPr>
          <a:xfrm>
            <a:off x="2057400" y="2819400"/>
            <a:ext cx="4953000" cy="1295400"/>
          </a:xfrm>
        </p:spPr>
        <p:txBody>
          <a:bodyPr/>
          <a:lstStyle/>
          <a:p>
            <a:pPr algn="ctr" eaLnBrk="1" hangingPunct="1">
              <a:defRPr/>
            </a:pPr>
            <a:r>
              <a:rPr lang="en-US" sz="4000" b="1" dirty="0">
                <a:effectLst>
                  <a:outerShdw blurRad="38100" dist="38100" dir="2700000" algn="tl">
                    <a:srgbClr val="C0C0C0"/>
                  </a:outerShdw>
                </a:effectLst>
              </a:rPr>
              <a:t>Thank You</a:t>
            </a:r>
          </a:p>
        </p:txBody>
      </p:sp>
    </p:spTree>
  </p:cSld>
  <p:clrMapOvr>
    <a:masterClrMapping/>
  </p:clrMapOvr>
  <p:transition spd="med">
    <p:strips dir="rd"/>
  </p:transition>
</p:sld>
</file>

<file path=ppt/theme/theme1.xml><?xml version="1.0" encoding="utf-8"?>
<a:theme xmlns:a="http://schemas.openxmlformats.org/drawingml/2006/main" name="Globe">
  <a:themeElements>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8">
      <a:dk1>
        <a:srgbClr val="808080"/>
      </a:dk1>
      <a:lt1>
        <a:srgbClr val="FFFFFF"/>
      </a:lt1>
      <a:dk2>
        <a:srgbClr val="003300"/>
      </a:dk2>
      <a:lt2>
        <a:srgbClr val="006600"/>
      </a:lt2>
      <a:accent1>
        <a:srgbClr val="00CC99"/>
      </a:accent1>
      <a:accent2>
        <a:srgbClr val="3333CC"/>
      </a:accent2>
      <a:accent3>
        <a:srgbClr val="AAADAA"/>
      </a:accent3>
      <a:accent4>
        <a:srgbClr val="DADADA"/>
      </a:accent4>
      <a:accent5>
        <a:srgbClr val="AAE2CA"/>
      </a:accent5>
      <a:accent6>
        <a:srgbClr val="2D2DB9"/>
      </a:accent6>
      <a:hlink>
        <a:srgbClr val="FFFFFF"/>
      </a:hlink>
      <a:folHlink>
        <a:srgbClr val="FFFFFF"/>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oval" w="med" len="med"/>
          <a:tailEnd type="oval"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oval" w="med" len="med"/>
          <a:tailEnd type="oval"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Default Design 8">
        <a:dk1>
          <a:srgbClr val="808080"/>
        </a:dk1>
        <a:lt1>
          <a:srgbClr val="FFFFFF"/>
        </a:lt1>
        <a:dk2>
          <a:srgbClr val="003300"/>
        </a:dk2>
        <a:lt2>
          <a:srgbClr val="006600"/>
        </a:lt2>
        <a:accent1>
          <a:srgbClr val="00CC99"/>
        </a:accent1>
        <a:accent2>
          <a:srgbClr val="3333CC"/>
        </a:accent2>
        <a:accent3>
          <a:srgbClr val="AAADAA"/>
        </a:accent3>
        <a:accent4>
          <a:srgbClr val="DADADA"/>
        </a:accent4>
        <a:accent5>
          <a:srgbClr val="AAE2CA"/>
        </a:accent5>
        <a:accent6>
          <a:srgbClr val="2D2DB9"/>
        </a:accent6>
        <a:hlink>
          <a:srgbClr val="FFFFFF"/>
        </a:hlink>
        <a:folHlink>
          <a:srgbClr val="FFFF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808080"/>
    </a:dk1>
    <a:lt1>
      <a:srgbClr val="FFFFFF"/>
    </a:lt1>
    <a:dk2>
      <a:srgbClr val="003300"/>
    </a:dk2>
    <a:lt2>
      <a:srgbClr val="006600"/>
    </a:lt2>
    <a:accent1>
      <a:srgbClr val="00CC99"/>
    </a:accent1>
    <a:accent2>
      <a:srgbClr val="3333CC"/>
    </a:accent2>
    <a:accent3>
      <a:srgbClr val="AAADAA"/>
    </a:accent3>
    <a:accent4>
      <a:srgbClr val="DADADA"/>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5475</TotalTime>
  <Words>5056</Words>
  <Application>Microsoft Office PowerPoint</Application>
  <PresentationFormat>On-screen Show (4:3)</PresentationFormat>
  <Paragraphs>588</Paragraphs>
  <Slides>71</Slides>
  <Notes>56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71</vt:i4>
      </vt:variant>
    </vt:vector>
  </HeadingPairs>
  <TitlesOfParts>
    <vt:vector size="81" baseType="lpstr">
      <vt:lpstr>Arial</vt:lpstr>
      <vt:lpstr>Arial Unicode MS</vt:lpstr>
      <vt:lpstr>Calibri</vt:lpstr>
      <vt:lpstr>Courier New</vt:lpstr>
      <vt:lpstr>Times New Roman</vt:lpstr>
      <vt:lpstr>Univers</vt:lpstr>
      <vt:lpstr>Verdana</vt:lpstr>
      <vt:lpstr>Wingdings</vt:lpstr>
      <vt:lpstr>Globe</vt:lpstr>
      <vt:lpstr>1_Default Design</vt:lpstr>
      <vt:lpstr>PowerPoint Presentation</vt:lpstr>
      <vt:lpstr>PowerPoint Presentation</vt:lpstr>
      <vt:lpstr>Course Description</vt:lpstr>
      <vt:lpstr>Objectives of the Course</vt:lpstr>
      <vt:lpstr>Learning Outcomes</vt:lpstr>
      <vt:lpstr>Learning and Teaching Methodology</vt:lpstr>
      <vt:lpstr>Student Assignments</vt:lpstr>
      <vt:lpstr>Course – Preliminary Details</vt:lpstr>
      <vt:lpstr>Reference Books</vt:lpstr>
      <vt:lpstr>Reference Journals</vt:lpstr>
      <vt:lpstr>Case Studies / Articles Review</vt:lpstr>
      <vt:lpstr>Assessment / Grading</vt:lpstr>
      <vt:lpstr>PowerPoint Presentation</vt:lpstr>
      <vt:lpstr>Common Questions</vt:lpstr>
      <vt:lpstr>Importance of P HRM &amp; CM</vt:lpstr>
      <vt:lpstr>Importance of P (HR &amp; C) M</vt:lpstr>
      <vt:lpstr>Programs versus Projects</vt:lpstr>
      <vt:lpstr>Comparison of Routine Work with Projects</vt:lpstr>
      <vt:lpstr>Importance of P HRM &amp; CM</vt:lpstr>
      <vt:lpstr>PowerPoint Presentation</vt:lpstr>
      <vt:lpstr>Importance  </vt:lpstr>
      <vt:lpstr>Importance of P HRM &amp; CM</vt:lpstr>
      <vt:lpstr>Importance of P HRM &amp; CM</vt:lpstr>
      <vt:lpstr>The New HR Manager</vt:lpstr>
      <vt:lpstr>The New HR Manager</vt:lpstr>
      <vt:lpstr>PowerPoint Presentation</vt:lpstr>
      <vt:lpstr>PowerPoint Presentation</vt:lpstr>
      <vt:lpstr>PowerPoint Presentation</vt:lpstr>
      <vt:lpstr>Nonfinancial Criteria</vt:lpstr>
      <vt:lpstr>PowerPoint Presentation</vt:lpstr>
      <vt:lpstr>Types of Costs</vt:lpstr>
      <vt:lpstr>Refining Estimates</vt:lpstr>
      <vt:lpstr>Refining Estimates (cont’d)</vt:lpstr>
      <vt:lpstr>Creating a Database for Estimating</vt:lpstr>
      <vt:lpstr>PowerPoint Presentation</vt:lpstr>
      <vt:lpstr>PowerPoint Presentation</vt:lpstr>
      <vt:lpstr>PowerPoint Presentation</vt:lpstr>
      <vt:lpstr>PowerPoint Presentation</vt:lpstr>
      <vt:lpstr> DIVERSITY AND CULTURE</vt:lpstr>
      <vt:lpstr>What is Diversity?</vt:lpstr>
      <vt:lpstr>Levels of Diversity</vt:lpstr>
      <vt:lpstr>Levels of Diversity</vt:lpstr>
      <vt:lpstr>Biographical Characteristics</vt:lpstr>
      <vt:lpstr>Biographical Characteristics</vt:lpstr>
      <vt:lpstr>Biographical Characteristics</vt:lpstr>
      <vt:lpstr>Ability, Intellect, and Intelligence</vt:lpstr>
      <vt:lpstr>Dimensions of Intellectual Ability</vt:lpstr>
      <vt:lpstr>Physical Abilities</vt:lpstr>
      <vt:lpstr>Nine Basic Physical Abilities</vt:lpstr>
      <vt:lpstr>Diversity Management</vt:lpstr>
      <vt:lpstr>Diversity Management</vt:lpstr>
      <vt:lpstr>Diversity Management</vt:lpstr>
      <vt:lpstr>Diversity Management Practices</vt:lpstr>
      <vt:lpstr>Diversity Management Practices</vt:lpstr>
      <vt:lpstr>Diversity Management Practices</vt:lpstr>
      <vt:lpstr>ORGANIZATIONAL CULTURE AND ENVIRONMENT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vahmed</dc:creator>
  <cp:lastModifiedBy>rameez fayyaz</cp:lastModifiedBy>
  <cp:revision>372</cp:revision>
  <dcterms:created xsi:type="dcterms:W3CDTF">2006-08-16T00:00:00Z</dcterms:created>
  <dcterms:modified xsi:type="dcterms:W3CDTF">2025-09-13T22:02:19Z</dcterms:modified>
</cp:coreProperties>
</file>