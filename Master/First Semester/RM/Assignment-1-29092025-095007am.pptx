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FFC024-C321-4EC8-9AC7-81D2097CC76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8648D23-2B59-4076-B6F3-021D18CD07C0}">
      <dgm:prSet/>
      <dgm:spPr/>
      <dgm:t>
        <a:bodyPr/>
        <a:lstStyle/>
        <a:p>
          <a:r>
            <a:rPr lang="en-GB" b="1"/>
            <a:t>Understand NPD practices in new ventures:</a:t>
          </a:r>
          <a:r>
            <a:rPr lang="en-GB"/>
            <a:t> Investigate the ground-level adoption of commonly prescribed NPD management processes (cross-functional teams, market planning, structured processes) in successful physical product-based early-stage firms.</a:t>
          </a:r>
          <a:endParaRPr lang="en-US"/>
        </a:p>
      </dgm:t>
    </dgm:pt>
    <dgm:pt modelId="{261D1909-AA6B-4747-B94F-DC0009A6D2B4}" type="parTrans" cxnId="{E1639041-7110-492E-B533-0F928061B2AB}">
      <dgm:prSet/>
      <dgm:spPr/>
      <dgm:t>
        <a:bodyPr/>
        <a:lstStyle/>
        <a:p>
          <a:endParaRPr lang="en-US"/>
        </a:p>
      </dgm:t>
    </dgm:pt>
    <dgm:pt modelId="{A3FF95C9-A9C0-46C3-AAF4-24A972A27271}" type="sibTrans" cxnId="{E1639041-7110-492E-B533-0F928061B2AB}">
      <dgm:prSet/>
      <dgm:spPr/>
      <dgm:t>
        <a:bodyPr/>
        <a:lstStyle/>
        <a:p>
          <a:endParaRPr lang="en-US"/>
        </a:p>
      </dgm:t>
    </dgm:pt>
    <dgm:pt modelId="{C86062F6-C465-4F0B-8371-3D8456EA099E}">
      <dgm:prSet/>
      <dgm:spPr/>
      <dgm:t>
        <a:bodyPr/>
        <a:lstStyle/>
        <a:p>
          <a:r>
            <a:rPr lang="en-GB" b="1"/>
            <a:t>Identify differences from large firm paradigms:</a:t>
          </a:r>
          <a:r>
            <a:rPr lang="en-GB"/>
            <a:t> Compare the innovation processes of these small firms to those of large, established firms, highlighting key differences driven by resource scarcity in new ventures.</a:t>
          </a:r>
          <a:endParaRPr lang="en-US"/>
        </a:p>
      </dgm:t>
    </dgm:pt>
    <dgm:pt modelId="{7757E958-32CB-40CE-BD3C-2EBB3B6ED057}" type="parTrans" cxnId="{686A8700-EAC5-460E-ABD5-AB6BF4FCA1FC}">
      <dgm:prSet/>
      <dgm:spPr/>
      <dgm:t>
        <a:bodyPr/>
        <a:lstStyle/>
        <a:p>
          <a:endParaRPr lang="en-US"/>
        </a:p>
      </dgm:t>
    </dgm:pt>
    <dgm:pt modelId="{9FF8300C-75CB-429E-84E3-496636E75D49}" type="sibTrans" cxnId="{686A8700-EAC5-460E-ABD5-AB6BF4FCA1FC}">
      <dgm:prSet/>
      <dgm:spPr/>
      <dgm:t>
        <a:bodyPr/>
        <a:lstStyle/>
        <a:p>
          <a:endParaRPr lang="en-US"/>
        </a:p>
      </dgm:t>
    </dgm:pt>
    <dgm:pt modelId="{ADBA57AA-C8AE-4333-9A9F-47D6302B80A0}" type="pres">
      <dgm:prSet presAssocID="{30FFC024-C321-4EC8-9AC7-81D2097CC767}" presName="linear" presStyleCnt="0">
        <dgm:presLayoutVars>
          <dgm:animLvl val="lvl"/>
          <dgm:resizeHandles val="exact"/>
        </dgm:presLayoutVars>
      </dgm:prSet>
      <dgm:spPr/>
    </dgm:pt>
    <dgm:pt modelId="{40590719-7E2B-4079-A213-D118A452E013}" type="pres">
      <dgm:prSet presAssocID="{B8648D23-2B59-4076-B6F3-021D18CD07C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3CFD7EA-EBBE-4A54-AEE9-B358B172FFC8}" type="pres">
      <dgm:prSet presAssocID="{A3FF95C9-A9C0-46C3-AAF4-24A972A27271}" presName="spacer" presStyleCnt="0"/>
      <dgm:spPr/>
    </dgm:pt>
    <dgm:pt modelId="{149E2CE4-ED31-4727-BACA-941FD85449C6}" type="pres">
      <dgm:prSet presAssocID="{C86062F6-C465-4F0B-8371-3D8456EA099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86A8700-EAC5-460E-ABD5-AB6BF4FCA1FC}" srcId="{30FFC024-C321-4EC8-9AC7-81D2097CC767}" destId="{C86062F6-C465-4F0B-8371-3D8456EA099E}" srcOrd="1" destOrd="0" parTransId="{7757E958-32CB-40CE-BD3C-2EBB3B6ED057}" sibTransId="{9FF8300C-75CB-429E-84E3-496636E75D49}"/>
    <dgm:cxn modelId="{E1639041-7110-492E-B533-0F928061B2AB}" srcId="{30FFC024-C321-4EC8-9AC7-81D2097CC767}" destId="{B8648D23-2B59-4076-B6F3-021D18CD07C0}" srcOrd="0" destOrd="0" parTransId="{261D1909-AA6B-4747-B94F-DC0009A6D2B4}" sibTransId="{A3FF95C9-A9C0-46C3-AAF4-24A972A27271}"/>
    <dgm:cxn modelId="{E0E30848-EEDB-4CF5-9E30-45CB6ADDD4E8}" type="presOf" srcId="{C86062F6-C465-4F0B-8371-3D8456EA099E}" destId="{149E2CE4-ED31-4727-BACA-941FD85449C6}" srcOrd="0" destOrd="0" presId="urn:microsoft.com/office/officeart/2005/8/layout/vList2"/>
    <dgm:cxn modelId="{A01E5A54-EA28-4522-A5D4-76943150AA9F}" type="presOf" srcId="{30FFC024-C321-4EC8-9AC7-81D2097CC767}" destId="{ADBA57AA-C8AE-4333-9A9F-47D6302B80A0}" srcOrd="0" destOrd="0" presId="urn:microsoft.com/office/officeart/2005/8/layout/vList2"/>
    <dgm:cxn modelId="{9BA2FCEC-8B74-49F3-B854-77BECF5EF795}" type="presOf" srcId="{B8648D23-2B59-4076-B6F3-021D18CD07C0}" destId="{40590719-7E2B-4079-A213-D118A452E013}" srcOrd="0" destOrd="0" presId="urn:microsoft.com/office/officeart/2005/8/layout/vList2"/>
    <dgm:cxn modelId="{55EDCFD7-F886-4DFB-AAE0-3B92FD9864C4}" type="presParOf" srcId="{ADBA57AA-C8AE-4333-9A9F-47D6302B80A0}" destId="{40590719-7E2B-4079-A213-D118A452E013}" srcOrd="0" destOrd="0" presId="urn:microsoft.com/office/officeart/2005/8/layout/vList2"/>
    <dgm:cxn modelId="{A9177EE7-3EFB-4DC9-90F7-E6910B68F5EF}" type="presParOf" srcId="{ADBA57AA-C8AE-4333-9A9F-47D6302B80A0}" destId="{B3CFD7EA-EBBE-4A54-AEE9-B358B172FFC8}" srcOrd="1" destOrd="0" presId="urn:microsoft.com/office/officeart/2005/8/layout/vList2"/>
    <dgm:cxn modelId="{3740198E-2317-4E49-A817-D3222E9E5326}" type="presParOf" srcId="{ADBA57AA-C8AE-4333-9A9F-47D6302B80A0}" destId="{149E2CE4-ED31-4727-BACA-941FD85449C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D9E439-013D-48C1-AA30-96FEB17686E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FAB6B1F-939B-4D1F-97CD-2ADF71FC0E7F}">
      <dgm:prSet/>
      <dgm:spPr/>
      <dgm:t>
        <a:bodyPr/>
        <a:lstStyle/>
        <a:p>
          <a:r>
            <a:rPr lang="en-GB" b="1" dirty="0"/>
            <a:t>Evaluate the appropriateness of established NPD practices:</a:t>
          </a:r>
          <a:r>
            <a:rPr lang="en-GB" dirty="0"/>
            <a:t> Determine if heavily researched practices (e.g., predevelopment market planning, formal processes like Stage-Gates) are suitable or actually implemented in small, nascent firms.</a:t>
          </a:r>
          <a:endParaRPr lang="en-US" dirty="0"/>
        </a:p>
      </dgm:t>
    </dgm:pt>
    <dgm:pt modelId="{55BD6962-67DC-4B31-A68A-07F0E5D74F2D}" type="parTrans" cxnId="{7C11DA88-E023-46D9-97D6-7856D43C6559}">
      <dgm:prSet/>
      <dgm:spPr/>
      <dgm:t>
        <a:bodyPr/>
        <a:lstStyle/>
        <a:p>
          <a:endParaRPr lang="en-US"/>
        </a:p>
      </dgm:t>
    </dgm:pt>
    <dgm:pt modelId="{B636E0D6-44EC-4E42-BC5C-90289093C3CC}" type="sibTrans" cxnId="{7C11DA88-E023-46D9-97D6-7856D43C6559}">
      <dgm:prSet/>
      <dgm:spPr/>
      <dgm:t>
        <a:bodyPr/>
        <a:lstStyle/>
        <a:p>
          <a:endParaRPr lang="en-US"/>
        </a:p>
      </dgm:t>
    </dgm:pt>
    <dgm:pt modelId="{923943F8-6DDE-4272-9C61-7D6B3106B114}">
      <dgm:prSet/>
      <dgm:spPr/>
      <dgm:t>
        <a:bodyPr/>
        <a:lstStyle/>
        <a:p>
          <a:r>
            <a:rPr lang="en-GB" b="1" dirty="0"/>
            <a:t>Correlate NPD factors to outcomes:</a:t>
          </a:r>
          <a:r>
            <a:rPr lang="en-GB" dirty="0"/>
            <a:t> Examine if insights can be drawn that connect specific NPD factors in new ventures to successful outcomes.</a:t>
          </a:r>
          <a:endParaRPr lang="en-US" dirty="0"/>
        </a:p>
      </dgm:t>
    </dgm:pt>
    <dgm:pt modelId="{B2BA20AB-6F06-4DEA-93C7-CFBDA54224EF}" type="parTrans" cxnId="{AABC5B35-F54F-41C1-856A-2B18FC4FFC28}">
      <dgm:prSet/>
      <dgm:spPr/>
      <dgm:t>
        <a:bodyPr/>
        <a:lstStyle/>
        <a:p>
          <a:endParaRPr lang="en-US"/>
        </a:p>
      </dgm:t>
    </dgm:pt>
    <dgm:pt modelId="{AD185454-E573-45C3-960F-1AAF0C076C93}" type="sibTrans" cxnId="{AABC5B35-F54F-41C1-856A-2B18FC4FFC28}">
      <dgm:prSet/>
      <dgm:spPr/>
      <dgm:t>
        <a:bodyPr/>
        <a:lstStyle/>
        <a:p>
          <a:endParaRPr lang="en-US"/>
        </a:p>
      </dgm:t>
    </dgm:pt>
    <dgm:pt modelId="{F4AEEB46-27ED-46EF-9A53-85AEE3C5B578}" type="pres">
      <dgm:prSet presAssocID="{B9D9E439-013D-48C1-AA30-96FEB17686E2}" presName="linear" presStyleCnt="0">
        <dgm:presLayoutVars>
          <dgm:animLvl val="lvl"/>
          <dgm:resizeHandles val="exact"/>
        </dgm:presLayoutVars>
      </dgm:prSet>
      <dgm:spPr/>
    </dgm:pt>
    <dgm:pt modelId="{BF430C5E-3B52-41D3-B1A0-949B09B68E43}" type="pres">
      <dgm:prSet presAssocID="{3FAB6B1F-939B-4D1F-97CD-2ADF71FC0E7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318D5FE-C243-4CCE-B587-29E9E01DE334}" type="pres">
      <dgm:prSet presAssocID="{B636E0D6-44EC-4E42-BC5C-90289093C3CC}" presName="spacer" presStyleCnt="0"/>
      <dgm:spPr/>
    </dgm:pt>
    <dgm:pt modelId="{FB7B3D1D-BE0C-431A-84CA-7FA4BF04DBE0}" type="pres">
      <dgm:prSet presAssocID="{923943F8-6DDE-4272-9C61-7D6B3106B11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F9F701D-98B9-4FAE-8EBC-00C1DE7C9BD6}" type="presOf" srcId="{B9D9E439-013D-48C1-AA30-96FEB17686E2}" destId="{F4AEEB46-27ED-46EF-9A53-85AEE3C5B578}" srcOrd="0" destOrd="0" presId="urn:microsoft.com/office/officeart/2005/8/layout/vList2"/>
    <dgm:cxn modelId="{AABC5B35-F54F-41C1-856A-2B18FC4FFC28}" srcId="{B9D9E439-013D-48C1-AA30-96FEB17686E2}" destId="{923943F8-6DDE-4272-9C61-7D6B3106B114}" srcOrd="1" destOrd="0" parTransId="{B2BA20AB-6F06-4DEA-93C7-CFBDA54224EF}" sibTransId="{AD185454-E573-45C3-960F-1AAF0C076C93}"/>
    <dgm:cxn modelId="{A2B5815D-A83F-4F03-97BA-AACA4E604B99}" type="presOf" srcId="{3FAB6B1F-939B-4D1F-97CD-2ADF71FC0E7F}" destId="{BF430C5E-3B52-41D3-B1A0-949B09B68E43}" srcOrd="0" destOrd="0" presId="urn:microsoft.com/office/officeart/2005/8/layout/vList2"/>
    <dgm:cxn modelId="{A28E1B72-B229-450C-A20C-0AB1BBDE584C}" type="presOf" srcId="{923943F8-6DDE-4272-9C61-7D6B3106B114}" destId="{FB7B3D1D-BE0C-431A-84CA-7FA4BF04DBE0}" srcOrd="0" destOrd="0" presId="urn:microsoft.com/office/officeart/2005/8/layout/vList2"/>
    <dgm:cxn modelId="{7C11DA88-E023-46D9-97D6-7856D43C6559}" srcId="{B9D9E439-013D-48C1-AA30-96FEB17686E2}" destId="{3FAB6B1F-939B-4D1F-97CD-2ADF71FC0E7F}" srcOrd="0" destOrd="0" parTransId="{55BD6962-67DC-4B31-A68A-07F0E5D74F2D}" sibTransId="{B636E0D6-44EC-4E42-BC5C-90289093C3CC}"/>
    <dgm:cxn modelId="{A24D1BF1-6E73-4DFD-9B02-F6B6636DCEAC}" type="presParOf" srcId="{F4AEEB46-27ED-46EF-9A53-85AEE3C5B578}" destId="{BF430C5E-3B52-41D3-B1A0-949B09B68E43}" srcOrd="0" destOrd="0" presId="urn:microsoft.com/office/officeart/2005/8/layout/vList2"/>
    <dgm:cxn modelId="{E5CA247B-49EA-4A84-B2A6-E7DB7D16177C}" type="presParOf" srcId="{F4AEEB46-27ED-46EF-9A53-85AEE3C5B578}" destId="{9318D5FE-C243-4CCE-B587-29E9E01DE334}" srcOrd="1" destOrd="0" presId="urn:microsoft.com/office/officeart/2005/8/layout/vList2"/>
    <dgm:cxn modelId="{590C863C-73F1-487C-9FD1-94087636A4F5}" type="presParOf" srcId="{F4AEEB46-27ED-46EF-9A53-85AEE3C5B578}" destId="{FB7B3D1D-BE0C-431A-84CA-7FA4BF04DBE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590719-7E2B-4079-A213-D118A452E013}">
      <dsp:nvSpPr>
        <dsp:cNvPr id="0" name=""/>
        <dsp:cNvSpPr/>
      </dsp:nvSpPr>
      <dsp:spPr>
        <a:xfrm>
          <a:off x="0" y="18319"/>
          <a:ext cx="6666833" cy="2676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Understand NPD practices in new ventures:</a:t>
          </a:r>
          <a:r>
            <a:rPr lang="en-GB" sz="2200" kern="1200"/>
            <a:t> Investigate the ground-level adoption of commonly prescribed NPD management processes (cross-functional teams, market planning, structured processes) in successful physical product-based early-stage firms.</a:t>
          </a:r>
          <a:endParaRPr lang="en-US" sz="2200" kern="1200"/>
        </a:p>
      </dsp:txBody>
      <dsp:txXfrm>
        <a:off x="130678" y="148997"/>
        <a:ext cx="6405477" cy="2415604"/>
      </dsp:txXfrm>
    </dsp:sp>
    <dsp:sp modelId="{149E2CE4-ED31-4727-BACA-941FD85449C6}">
      <dsp:nvSpPr>
        <dsp:cNvPr id="0" name=""/>
        <dsp:cNvSpPr/>
      </dsp:nvSpPr>
      <dsp:spPr>
        <a:xfrm>
          <a:off x="0" y="2758640"/>
          <a:ext cx="6666833" cy="26769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Identify differences from large firm paradigms:</a:t>
          </a:r>
          <a:r>
            <a:rPr lang="en-GB" sz="2200" kern="1200"/>
            <a:t> Compare the innovation processes of these small firms to those of large, established firms, highlighting key differences driven by resource scarcity in new ventures.</a:t>
          </a:r>
          <a:endParaRPr lang="en-US" sz="2200" kern="1200"/>
        </a:p>
      </dsp:txBody>
      <dsp:txXfrm>
        <a:off x="130678" y="2889318"/>
        <a:ext cx="6405477" cy="24156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30C5E-3B52-41D3-B1A0-949B09B68E43}">
      <dsp:nvSpPr>
        <dsp:cNvPr id="0" name=""/>
        <dsp:cNvSpPr/>
      </dsp:nvSpPr>
      <dsp:spPr>
        <a:xfrm>
          <a:off x="0" y="271940"/>
          <a:ext cx="6666833" cy="24218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Evaluate the appropriateness of established NPD practices:</a:t>
          </a:r>
          <a:r>
            <a:rPr lang="en-GB" sz="2300" kern="1200" dirty="0"/>
            <a:t> Determine if heavily researched practices (e.g., predevelopment market planning, formal processes like Stage-Gates) are suitable or actually implemented in small, nascent firms.</a:t>
          </a:r>
          <a:endParaRPr lang="en-US" sz="2300" kern="1200" dirty="0"/>
        </a:p>
      </dsp:txBody>
      <dsp:txXfrm>
        <a:off x="118227" y="390167"/>
        <a:ext cx="6430379" cy="2185445"/>
      </dsp:txXfrm>
    </dsp:sp>
    <dsp:sp modelId="{FB7B3D1D-BE0C-431A-84CA-7FA4BF04DBE0}">
      <dsp:nvSpPr>
        <dsp:cNvPr id="0" name=""/>
        <dsp:cNvSpPr/>
      </dsp:nvSpPr>
      <dsp:spPr>
        <a:xfrm>
          <a:off x="0" y="2760080"/>
          <a:ext cx="6666833" cy="242189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Correlate NPD factors to outcomes:</a:t>
          </a:r>
          <a:r>
            <a:rPr lang="en-GB" sz="2300" kern="1200" dirty="0"/>
            <a:t> Examine if insights can be drawn that connect specific NPD factors in new ventures to successful outcomes.</a:t>
          </a:r>
          <a:endParaRPr lang="en-US" sz="2300" kern="1200" dirty="0"/>
        </a:p>
      </dsp:txBody>
      <dsp:txXfrm>
        <a:off x="118227" y="2878307"/>
        <a:ext cx="6430379" cy="2185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4FC8-B358-6874-B92D-96A59E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332D5-54E5-8CBC-6EED-B16E1242D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5C4D6-020A-4269-C1A4-5D9363FB6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1B8DD-89E4-6F6C-EC62-E6AB1757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65CAE-6978-BFD2-E049-1C9942521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38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EFB6-7943-7D17-5614-5D72356FD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964B2-65FE-FFDB-95A9-9D0D16EF4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62C2E-D256-D277-CDAB-82448B7A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866C-E8B6-96A0-6901-10DFA5E3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FBCEB-58AB-3FD9-AC87-0A00668C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39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2C8C1-0905-467E-1D32-CEA696DF1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038BA-B34A-2F9C-EE97-8554D80F7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6E12B-FC6B-9369-D886-D7C31556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B1844-F188-5DC3-7F49-B11DDC06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ED403-14E3-63BF-1795-6D677B95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26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7D705-6091-17D5-7FAB-045378FCE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2F98-7E7E-8EAC-1F85-4107BEF88E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4B1E0-E402-4596-232F-789B5CFFF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795E5-842E-D44E-401B-A8EEB5901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8C45D-68CF-1EDF-284C-41BBFED6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1BFDD-4900-3CE7-4622-DFB22214B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364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FFA2-C31D-170F-A615-DE8F81127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CA13B-5E54-5367-61CA-6AA23C63F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CEC42-9CC9-B95D-AE54-E8C04872C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38EFB-0DC7-25C0-8CDE-74BEEDE445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E2174-4350-2788-DE66-7BFA769C3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CA1CE1-4EE8-2A87-06AB-28E4B579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ADF391-0EBB-7F5B-3594-623E18E54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8A7779-2BDA-C09F-965C-9A0509B4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375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CFD7-4789-F929-F875-100C35D3D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601DF-8C90-EB0E-B948-B4D02F0B1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7908B-71EC-52C7-CCEA-D0AA29773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304D7-957C-DCE4-3016-CA879105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56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909E9E-6460-3DBA-2BDB-B45CD5CA1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7B56DB-0BFF-BEB0-6C73-87AAA9603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3DD24-FB9A-79B6-17C3-0E0F2D72D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791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7E993-2A80-7ABF-EA78-E4876E37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4F80A-FB2E-1229-2198-4944D7B90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9AC7C-0726-6552-0A8F-9F37F0496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E08E3-BBC4-504F-F10A-C720D194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60AA0-339D-A24D-4E17-F21D650CC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D2F02-DB00-1731-074A-91BC6ABCD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50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D9FF9-BA89-5CFF-8750-B04507C2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7A9394-48F6-D430-71C7-4F2FE4FC7E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7527E-F222-DB2E-745B-3231E7886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75443-1E85-52A8-BEF7-B3A2E9FA5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D7D15-0F27-1905-C561-7AFB7EC80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94A05-D07E-3A3E-6B14-7362F540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239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B4B10-D864-2DBE-4377-AF9E6615A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46B156-D034-7B39-0834-9C62F0746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C1071-1C4E-2BE9-7FBD-E6ADD2E2B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DE7D5-DF64-332D-CA0E-8C404476F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DFBC1-AD9A-0204-1FF8-611159A67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56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424729-3013-009F-C4C8-023469246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13575-32DE-4201-708D-3CE2FFD1C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7849E-85FF-8A06-630C-727A73F10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06259-3AB8-B8F5-1201-C1D0CA625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18D74-CDC4-25EF-6365-DD069227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74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1A852E-D826-CC74-207A-279210F85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C7ADC-2CB5-E9EA-FC39-52CFBAEB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021FD-349C-2762-CF67-C8835B977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10CF9-0BB6-4742-827F-395395B79F3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4525F-80E5-4DC8-DED5-24A476AE6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B27C7-5233-B4AD-FB80-5997DDCF39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77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5A61C0-160D-0ABC-3EE4-25130308F507}"/>
              </a:ext>
            </a:extLst>
          </p:cNvPr>
          <p:cNvSpPr txBox="1"/>
          <p:nvPr/>
        </p:nvSpPr>
        <p:spPr>
          <a:xfrm>
            <a:off x="972312" y="1417320"/>
            <a:ext cx="107045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Name: Muhammad Shoaib Akhter Qadri 		Enrollment No: 02-398252-012</a:t>
            </a:r>
          </a:p>
          <a:p>
            <a:endParaRPr lang="en-US" sz="2000" b="1" dirty="0"/>
          </a:p>
          <a:p>
            <a:r>
              <a:rPr lang="en-US" sz="2000" b="1" dirty="0"/>
              <a:t>Name: Hafiz Muhammad Hamza	 	             Enrollment No:  02-398252-040</a:t>
            </a:r>
          </a:p>
          <a:p>
            <a:endParaRPr lang="en-US" sz="2000" b="1" dirty="0"/>
          </a:p>
          <a:p>
            <a:r>
              <a:rPr lang="en-US" sz="2000" b="1" dirty="0"/>
              <a:t>Name: Adil Imtiaz				             Enrollment No: 02-398252-009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52797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3CC8FF-095D-BCD5-8D72-6DB5F8C28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  <a:latin typeface="Abadi" panose="020B0604020104020204" pitchFamily="34" charset="0"/>
              </a:rPr>
              <a:t>Group I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17189-E568-F513-23FE-3A18AF526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New Product Development Practices and Early-Stage Firms: Two In-Depth Case Studies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693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5BDDC-FB92-979C-F9D1-F38C4D7FE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 b="1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Aim</a:t>
            </a:r>
            <a:r>
              <a:rPr lang="en-GB" sz="4000" b="1"/>
              <a:t>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0EBD0-0824-E65D-1B25-873993BB8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86000"/>
            <a:ext cx="4882896" cy="4070350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GB" sz="2400" dirty="0"/>
              <a:t>The primary aim of this research is  to investigate how new product development (NPD) practices are adopted and executed in small, early-stage firms, particularly those developing physical products, and to compare these approaches with established large firm norms. The paper also aims to draw lessons from these start-ups that could be applied to large, established firms seeking to increase NPD efficiency and effectiveness.</a:t>
            </a:r>
            <a:endParaRPr lang="en-US" sz="2400" dirty="0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D59EE7D6-884F-D683-79F7-951CFBB745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8" r="35581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28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B26EF-B299-53BC-1941-2C79EB0AE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latin typeface="Abadi" panose="020B0604020104020204" pitchFamily="34" charset="0"/>
              </a:rPr>
              <a:t>Objectives:</a:t>
            </a:r>
            <a:endParaRPr lang="en-US" sz="4000">
              <a:solidFill>
                <a:srgbClr val="FFFFFF"/>
              </a:solidFill>
              <a:latin typeface="Abadi" panose="020B0604020104020204" pitchFamily="34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364D2278-330D-0F0A-9FB2-AE20FFA8C7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068013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160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8C584-9137-3167-45FA-4B6A95549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latin typeface="Abadi" panose="020B0604020104020204" pitchFamily="34" charset="0"/>
              </a:rPr>
              <a:t>Objectives: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A3C474-F200-FDCD-67D3-4E0ACE589C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57348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7503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62414-CA9F-FF61-A6B5-1879A2576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latin typeface="Abadi" panose="020B0604020104020204" pitchFamily="34" charset="0"/>
              </a:rPr>
              <a:t>Objectives: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35090-BB3D-4727-33CE-D0EC55EE6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3600" b="1" dirty="0"/>
              <a:t>Derive lessons for large firms:</a:t>
            </a:r>
            <a:r>
              <a:rPr lang="en-GB" sz="3600" dirty="0"/>
              <a:t> </a:t>
            </a:r>
          </a:p>
          <a:p>
            <a:pPr marL="0" indent="0">
              <a:buNone/>
            </a:pPr>
            <a:r>
              <a:rPr lang="en-GB" sz="3600" dirty="0"/>
              <a:t>Explore potential lessons from start-ups regarding NPD efficiency and effectiveness that large, established firms could adopt.</a:t>
            </a:r>
          </a:p>
        </p:txBody>
      </p:sp>
    </p:spTree>
    <p:extLst>
      <p:ext uri="{BB962C8B-B14F-4D97-AF65-F5344CB8AC3E}">
        <p14:creationId xmlns:p14="http://schemas.microsoft.com/office/powerpoint/2010/main" val="1083685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9FE9CA-874D-3AFC-C8BC-3B5CD452E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badi" panose="020B0604020104020204" pitchFamily="34" charset="0"/>
              </a:rPr>
              <a:t>Research Methodology:</a:t>
            </a:r>
            <a:endParaRPr lang="en-US" sz="40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BBDE9-65CB-19AB-242E-8CE6B392F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1700" b="1"/>
              <a:t>Approach:</a:t>
            </a:r>
            <a:r>
              <a:rPr lang="en-GB" sz="1700"/>
              <a:t> In-depth case study methodology.</a:t>
            </a:r>
          </a:p>
          <a:p>
            <a:r>
              <a:rPr lang="en-GB" sz="1700" b="1"/>
              <a:t>Sample:</a:t>
            </a:r>
            <a:r>
              <a:rPr lang="en-GB" sz="1700"/>
              <a:t> Two successful small, early-stage firms (Firm A and Firm B) developing multipart, physical consumer products.</a:t>
            </a:r>
          </a:p>
          <a:p>
            <a:pPr lvl="1"/>
            <a:r>
              <a:rPr lang="en-GB" sz="1700" b="1"/>
              <a:t>Selection Criteria:</a:t>
            </a:r>
            <a:r>
              <a:rPr lang="en-GB" sz="1700"/>
              <a:t> Firms were chosen based on industry and product type (physical, assembled products requiring design, manufacturing, and supply chain management), intellectual property (patent pending status), funding source ($100,000 to several million), size (fewer than 20 employees), and age (less than 10 years old). Data collection focused on their first product only.</a:t>
            </a:r>
          </a:p>
          <a:p>
            <a:pPr lvl="1"/>
            <a:r>
              <a:rPr lang="en-GB" sz="1700" b="1"/>
              <a:t>Firm A Profile:</a:t>
            </a:r>
            <a:r>
              <a:rPr lang="en-GB" sz="1700"/>
              <a:t> Designer/marketer of proprietary office machines, founded in 2003, with 2 founders, a 4-person development team for the first product, and $2.5M annual revenue after year three.</a:t>
            </a:r>
          </a:p>
          <a:p>
            <a:pPr lvl="1"/>
            <a:r>
              <a:rPr lang="en-GB" sz="1700" b="1"/>
              <a:t>Firm B Profile:</a:t>
            </a:r>
            <a:r>
              <a:rPr lang="en-GB" sz="1700"/>
              <a:t> Designer/marketer of consumer hand tools, founded in 2001, with 2 co-founders, a 7-person development team for the first product, and $1M annual revenue after year three.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320288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9540B-5C23-10FF-041F-CFA34A77F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6477"/>
            <a:ext cx="11356848" cy="4572928"/>
          </a:xfrm>
        </p:spPr>
        <p:txBody>
          <a:bodyPr>
            <a:normAutofit/>
          </a:bodyPr>
          <a:lstStyle/>
          <a:p>
            <a:r>
              <a:rPr lang="en-GB" sz="2000" b="1" dirty="0"/>
              <a:t>Data Collection:</a:t>
            </a:r>
            <a:endParaRPr lang="en-GB" sz="2000" dirty="0"/>
          </a:p>
          <a:p>
            <a:pPr lvl="1"/>
            <a:r>
              <a:rPr lang="en-GB" sz="2000" b="1" dirty="0"/>
              <a:t>Period:</a:t>
            </a:r>
            <a:r>
              <a:rPr lang="en-GB" sz="2000" dirty="0"/>
              <a:t> Multiyear (Firm A: 2003-2007; Firm B: 2001-2004).</a:t>
            </a:r>
          </a:p>
          <a:p>
            <a:pPr lvl="1"/>
            <a:r>
              <a:rPr lang="en-GB" sz="2000" b="1" dirty="0"/>
              <a:t>Sources:</a:t>
            </a:r>
            <a:r>
              <a:rPr lang="en-GB" sz="2000" dirty="0"/>
              <a:t> Multiple data sources to minimize bias (multiple interviews, review of internal documents, emails).</a:t>
            </a:r>
          </a:p>
          <a:p>
            <a:pPr lvl="1"/>
            <a:r>
              <a:rPr lang="en-GB" sz="2000" b="1" dirty="0"/>
              <a:t>Methods:</a:t>
            </a:r>
            <a:endParaRPr lang="en-GB" sz="2000" dirty="0"/>
          </a:p>
          <a:p>
            <a:pPr lvl="2"/>
            <a:r>
              <a:rPr lang="en-GB" b="1" dirty="0"/>
              <a:t>Observation:</a:t>
            </a:r>
            <a:r>
              <a:rPr lang="en-GB" dirty="0"/>
              <a:t> The principal investigator (PI) had access to development and managerial meetings, taking notes and audio recordings.</a:t>
            </a:r>
          </a:p>
          <a:p>
            <a:pPr lvl="2"/>
            <a:r>
              <a:rPr lang="en-GB" b="1" dirty="0"/>
              <a:t>In-depth Interviews:</a:t>
            </a:r>
            <a:r>
              <a:rPr lang="en-GB" dirty="0"/>
              <a:t> Over 10 interviews conducted at each firm (30 minutes to over an hour) with company principles, general employees, suppliers, and vendors. A research guide with specific questions (Appendix A) was used.</a:t>
            </a:r>
          </a:p>
          <a:p>
            <a:pPr lvl="2"/>
            <a:r>
              <a:rPr lang="en-GB" b="1" dirty="0"/>
              <a:t>Document Review:</a:t>
            </a:r>
            <a:r>
              <a:rPr lang="en-GB" dirty="0"/>
              <a:t> Detailed financial data and company emails.</a:t>
            </a:r>
          </a:p>
          <a:p>
            <a:pPr lvl="2"/>
            <a:r>
              <a:rPr lang="en-GB" b="1" dirty="0"/>
              <a:t>Debriefing:</a:t>
            </a:r>
            <a:r>
              <a:rPr lang="en-GB" dirty="0"/>
              <a:t> Regular debriefing of the PI by a senior academic advisor.</a:t>
            </a:r>
          </a:p>
          <a:p>
            <a:r>
              <a:rPr lang="en-GB" sz="2000" b="1" dirty="0"/>
              <a:t>Focus:</a:t>
            </a:r>
            <a:r>
              <a:rPr lang="en-GB" sz="2000" dirty="0"/>
              <a:t> Investigating the adoption of cross-functional teams, formal NPD processes, and up-front market planning, guided by Cooper's (2001) critical success factors.</a:t>
            </a:r>
          </a:p>
          <a:p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8E5BD7C-AD14-1816-81B3-4B4D57336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badi" panose="020B0604020104020204" pitchFamily="34" charset="0"/>
              </a:rPr>
              <a:t>Research Methodology:</a:t>
            </a:r>
            <a:endParaRPr lang="en-US" sz="40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679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4C1192-8A4E-79ED-B121-6E3A6CA6C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  <a:latin typeface="Abadi" panose="020B0604020104020204" pitchFamily="34" charset="0"/>
              </a:rPr>
              <a:t>Key Outcomes for Discussion:</a:t>
            </a:r>
            <a:endParaRPr lang="en-US" sz="40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A61E0-26B4-11F9-B213-E9379A583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301024"/>
          </a:xfrm>
        </p:spPr>
        <p:txBody>
          <a:bodyPr>
            <a:normAutofit lnSpcReduction="10000"/>
          </a:bodyPr>
          <a:lstStyle/>
          <a:p>
            <a:r>
              <a:rPr lang="en-GB" sz="2400" b="1" dirty="0"/>
              <a:t>Cross-Functional Organization (Proposition 1 supported):</a:t>
            </a:r>
            <a:endParaRPr lang="en-GB" sz="2400" dirty="0"/>
          </a:p>
          <a:p>
            <a:pPr lvl="1"/>
            <a:r>
              <a:rPr lang="en-GB" dirty="0"/>
              <a:t>Both firms did </a:t>
            </a:r>
            <a:r>
              <a:rPr lang="en-GB" b="1" dirty="0"/>
              <a:t>not</a:t>
            </a:r>
            <a:r>
              <a:rPr lang="en-GB" dirty="0"/>
              <a:t> use traditional full-time cross-functional teams as defined in literature.</a:t>
            </a:r>
          </a:p>
          <a:p>
            <a:pPr lvl="1"/>
            <a:r>
              <a:rPr lang="en-GB" dirty="0"/>
              <a:t>They relied on small core teams (founders and technical engineers) augmented by part-time external contractors/virtual resources for various functions (design, manufacturing, industrial design, prototype, components).</a:t>
            </a:r>
          </a:p>
          <a:p>
            <a:pPr lvl="1"/>
            <a:r>
              <a:rPr lang="en-GB" dirty="0"/>
              <a:t>Founders and core team members played multiple roles, often outside their expertise, driven by necessity and resource scarcity.</a:t>
            </a:r>
          </a:p>
          <a:p>
            <a:pPr lvl="1"/>
            <a:r>
              <a:rPr lang="en-GB" dirty="0"/>
              <a:t>Decisions were made quickly by the core team, with little external vetting.</a:t>
            </a:r>
          </a:p>
          <a:p>
            <a:pPr lvl="1"/>
            <a:r>
              <a:rPr lang="en-GB" dirty="0"/>
              <a:t>A significant percentage of team members worked for equity, impacting cash flow and motivation.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87655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38E81-27C4-4CEA-6636-A1E1FABB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AFA7A-B6F6-6ED5-C2C5-6A0AF77F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  <a:latin typeface="Abadi" panose="020B0604020104020204" pitchFamily="34" charset="0"/>
              </a:rPr>
              <a:t>Key Outcomes for Discussion:</a:t>
            </a:r>
            <a:endParaRPr lang="en-US" sz="40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7D0BC-8E79-8190-B477-C7F290C89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401171"/>
          </a:xfrm>
        </p:spPr>
        <p:txBody>
          <a:bodyPr>
            <a:normAutofit/>
          </a:bodyPr>
          <a:lstStyle/>
          <a:p>
            <a:r>
              <a:rPr lang="en-GB" sz="2400" b="1" dirty="0"/>
              <a:t>Formality of NPD Process (Proposition 2 supported):</a:t>
            </a:r>
            <a:endParaRPr lang="en-GB" sz="2400" dirty="0"/>
          </a:p>
          <a:p>
            <a:pPr lvl="1"/>
            <a:r>
              <a:rPr lang="en-GB" dirty="0"/>
              <a:t>Both firms did </a:t>
            </a:r>
            <a:r>
              <a:rPr lang="en-GB" b="1" dirty="0"/>
              <a:t>not</a:t>
            </a:r>
            <a:r>
              <a:rPr lang="en-GB" dirty="0"/>
              <a:t> use formal, written, or prescribed NPD processes.</a:t>
            </a:r>
          </a:p>
          <a:p>
            <a:pPr lvl="1"/>
            <a:r>
              <a:rPr lang="en-GB" dirty="0"/>
              <a:t>Development was driven by project milestones and the experience of the team, product specifications, and the pressure to commercialize.</a:t>
            </a:r>
          </a:p>
          <a:p>
            <a:pPr lvl="1"/>
            <a:r>
              <a:rPr lang="en-GB" dirty="0"/>
              <a:t>No formal gated processes were used, though informal go/no-go decisions occurred at key points.</a:t>
            </a:r>
          </a:p>
          <a:p>
            <a:pPr lvl="1"/>
            <a:r>
              <a:rPr lang="en-GB" dirty="0"/>
              <a:t>Project management tools (e.g., Gantt charts) were largely </a:t>
            </a:r>
            <a:r>
              <a:rPr lang="en-GB" dirty="0" err="1"/>
              <a:t>nonexistent</a:t>
            </a:r>
            <a:r>
              <a:rPr lang="en-GB" dirty="0"/>
              <a:t> or limited to informal e-mail task lists and Excel spreadsheets for tracking COGS, tooling, and launch issues.</a:t>
            </a:r>
          </a:p>
          <a:p>
            <a:pPr lvl="1"/>
            <a:r>
              <a:rPr lang="en-GB" dirty="0"/>
              <a:t>Less focus on process management, more on goal management (getting the product to market).</a:t>
            </a:r>
          </a:p>
        </p:txBody>
      </p:sp>
    </p:spTree>
    <p:extLst>
      <p:ext uri="{BB962C8B-B14F-4D97-AF65-F5344CB8AC3E}">
        <p14:creationId xmlns:p14="http://schemas.microsoft.com/office/powerpoint/2010/main" val="1804767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0950DD-02FC-31C8-2BDC-99A2AAF71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C0755C-1F4C-D484-DAB3-DA4A07089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  <a:latin typeface="Abadi" panose="020B0604020104020204" pitchFamily="34" charset="0"/>
              </a:rPr>
              <a:t>Key Outcomes for Discussion:</a:t>
            </a:r>
            <a:endParaRPr lang="en-US" sz="40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D743D-AB3C-C7E3-DF21-544C2C800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496967"/>
          </a:xfrm>
        </p:spPr>
        <p:txBody>
          <a:bodyPr>
            <a:normAutofit fontScale="92500" lnSpcReduction="10000"/>
          </a:bodyPr>
          <a:lstStyle/>
          <a:p>
            <a:r>
              <a:rPr lang="en-GB" sz="2400" b="1" dirty="0"/>
              <a:t>Up-Front Market Planning (Proposition 3 supported):</a:t>
            </a:r>
            <a:endParaRPr lang="en-GB" sz="2400" dirty="0"/>
          </a:p>
          <a:p>
            <a:pPr lvl="1"/>
            <a:r>
              <a:rPr lang="en-GB" dirty="0"/>
              <a:t>Both firms did </a:t>
            </a:r>
            <a:r>
              <a:rPr lang="en-GB" b="1" dirty="0"/>
              <a:t>not</a:t>
            </a:r>
            <a:r>
              <a:rPr lang="en-GB" dirty="0"/>
              <a:t> perform traditional, formal market research and planning.</a:t>
            </a:r>
          </a:p>
          <a:p>
            <a:pPr lvl="1"/>
            <a:r>
              <a:rPr lang="en-GB" dirty="0"/>
              <a:t>Informal benchmarking and market investigations were used, primarily driven by the core team's own experiences, instincts, and opinions (acting as "lead users").</a:t>
            </a:r>
          </a:p>
          <a:p>
            <a:pPr lvl="1"/>
            <a:r>
              <a:rPr lang="en-GB" dirty="0"/>
              <a:t>Potential consumers, retailers, and sales input were not actively utilized during development.</a:t>
            </a:r>
          </a:p>
          <a:p>
            <a:pPr lvl="1"/>
            <a:r>
              <a:rPr lang="en-GB" dirty="0"/>
              <a:t>Formal market segmentation, identifying user needs, focus groups, or house of quality were eschewed.</a:t>
            </a:r>
          </a:p>
          <a:p>
            <a:pPr lvl="1"/>
            <a:r>
              <a:rPr lang="en-GB" dirty="0"/>
              <a:t>Formal launch and commercialization plans were largely absent, or informal sections within business plans for investors.</a:t>
            </a:r>
          </a:p>
          <a:p>
            <a:pPr lvl="1"/>
            <a:r>
              <a:rPr lang="en-GB" dirty="0"/>
              <a:t>The truncated approach was due to a lack of resources and the need for speed-to-market.</a:t>
            </a:r>
          </a:p>
        </p:txBody>
      </p:sp>
    </p:spTree>
    <p:extLst>
      <p:ext uri="{BB962C8B-B14F-4D97-AF65-F5344CB8AC3E}">
        <p14:creationId xmlns:p14="http://schemas.microsoft.com/office/powerpoint/2010/main" val="729546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A86A7-A61A-F58F-6B59-5B416520F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6DC20-1815-2B0D-5038-708358327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  <a:latin typeface="Abadi" panose="020B0604020104020204" pitchFamily="34" charset="0"/>
              </a:rPr>
              <a:t>Key Outcomes for Discussion:</a:t>
            </a:r>
            <a:endParaRPr lang="en-US" sz="40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2E185-534C-0C40-60F8-440C015DA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433828"/>
          </a:xfrm>
        </p:spPr>
        <p:txBody>
          <a:bodyPr>
            <a:normAutofit/>
          </a:bodyPr>
          <a:lstStyle/>
          <a:p>
            <a:r>
              <a:rPr lang="en-GB" sz="2400" b="1" dirty="0"/>
              <a:t>Overall Outcomes (Epilogue):</a:t>
            </a:r>
            <a:endParaRPr lang="en-GB" sz="2400" dirty="0"/>
          </a:p>
          <a:p>
            <a:pPr lvl="1"/>
            <a:r>
              <a:rPr lang="en-GB" dirty="0"/>
              <a:t>Both firms successfully launched their first products within a short time-to-market (9-10 months) and with relatively low development and tooling costs (Firm A: $10k dev, $85k tooling; Firm B: $50k dev, $37.5k tooling).</a:t>
            </a:r>
          </a:p>
          <a:p>
            <a:pPr lvl="1"/>
            <a:r>
              <a:rPr lang="en-GB" dirty="0"/>
              <a:t>They achieved project breakeven in less than a year and significant cumulative sales (&gt;100,000 units in three years).</a:t>
            </a:r>
          </a:p>
          <a:p>
            <a:pPr lvl="1"/>
            <a:r>
              <a:rPr lang="en-GB" dirty="0"/>
              <a:t>Both products received national press and continued to be on sale and grow profitably as of 2010.</a:t>
            </a:r>
          </a:p>
          <a:p>
            <a:pPr lvl="1"/>
            <a:r>
              <a:rPr lang="en-GB" dirty="0"/>
              <a:t>This success was achieved despite, and perhaps because of, their informal, resource-constrained approach.</a:t>
            </a:r>
          </a:p>
        </p:txBody>
      </p:sp>
    </p:spTree>
    <p:extLst>
      <p:ext uri="{BB962C8B-B14F-4D97-AF65-F5344CB8AC3E}">
        <p14:creationId xmlns:p14="http://schemas.microsoft.com/office/powerpoint/2010/main" val="1677989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356B5-18DB-61E1-B8FF-6DD63185D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036C53-860C-F810-64D1-F5DD5BDA3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  <a:latin typeface="Abadi" panose="020B0604020104020204" pitchFamily="34" charset="0"/>
              </a:rPr>
              <a:t>Key Outcomes for Discussion:</a:t>
            </a:r>
            <a:endParaRPr lang="en-US" sz="40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24A1C-41EB-8BAA-6468-82D1C4A54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486081"/>
          </a:xfrm>
        </p:spPr>
        <p:txBody>
          <a:bodyPr>
            <a:normAutofit fontScale="92500"/>
          </a:bodyPr>
          <a:lstStyle/>
          <a:p>
            <a:r>
              <a:rPr lang="en-GB" sz="2400" b="1" dirty="0"/>
              <a:t>Implications:</a:t>
            </a:r>
            <a:endParaRPr lang="en-GB" sz="2400" dirty="0"/>
          </a:p>
          <a:p>
            <a:pPr lvl="1"/>
            <a:r>
              <a:rPr lang="en-GB" dirty="0"/>
              <a:t>Start-ups inherently differ from large firms in NPD adoption due to resource constraints.</a:t>
            </a:r>
          </a:p>
          <a:p>
            <a:pPr lvl="1"/>
            <a:r>
              <a:rPr lang="en-GB" dirty="0"/>
              <a:t>The study highlights that "traditional NPD" approaches may be inadequate for new ventures, even those in existing market spaces.</a:t>
            </a:r>
          </a:p>
          <a:p>
            <a:pPr lvl="1"/>
            <a:r>
              <a:rPr lang="en-GB" dirty="0"/>
              <a:t>Lessons for large firms include:</a:t>
            </a:r>
          </a:p>
          <a:p>
            <a:pPr lvl="2"/>
            <a:r>
              <a:rPr lang="en-GB" sz="2400" b="1" dirty="0"/>
              <a:t>Empowerment:</a:t>
            </a:r>
            <a:r>
              <a:rPr lang="en-GB" sz="2400" dirty="0"/>
              <a:t> Granting development teams near-total decision-making power can increase efficiency and team energy.</a:t>
            </a:r>
          </a:p>
          <a:p>
            <a:pPr lvl="2"/>
            <a:r>
              <a:rPr lang="en-GB" sz="2400" b="1" dirty="0"/>
              <a:t>Flexibility:</a:t>
            </a:r>
            <a:r>
              <a:rPr lang="en-GB" sz="2400" dirty="0"/>
              <a:t> Small, empowered teams taking on expanded roles and operating with minimal defined processes can be highly effective.</a:t>
            </a:r>
          </a:p>
          <a:p>
            <a:pPr lvl="2"/>
            <a:r>
              <a:rPr lang="en-GB" sz="2400" b="1" dirty="0"/>
              <a:t>Focus:</a:t>
            </a:r>
            <a:r>
              <a:rPr lang="en-GB" sz="2400" dirty="0"/>
              <a:t> Prioritizing project goals and speed-to-market over rigid process adherence can lead to success in resource-constrained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427389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4D882-240E-57AC-0FE4-D4104A3C3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3090668"/>
            <a:ext cx="10375036" cy="308629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99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0714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1187</Words>
  <Application>Microsoft Office PowerPoint</Application>
  <PresentationFormat>Widescreen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等线</vt:lpstr>
      <vt:lpstr>等线 Light</vt:lpstr>
      <vt:lpstr>Abadi</vt:lpstr>
      <vt:lpstr>Arial</vt:lpstr>
      <vt:lpstr>Office Theme</vt:lpstr>
      <vt:lpstr>PowerPoint Presentation</vt:lpstr>
      <vt:lpstr>Group I </vt:lpstr>
      <vt:lpstr>Aim:</vt:lpstr>
      <vt:lpstr>Objectives:</vt:lpstr>
      <vt:lpstr>Objectives:</vt:lpstr>
      <vt:lpstr>Objectives:</vt:lpstr>
      <vt:lpstr>Research Methodology:</vt:lpstr>
      <vt:lpstr>Research Methodology:</vt:lpstr>
      <vt:lpstr>Key Outcomes for Discussion:</vt:lpstr>
      <vt:lpstr>Key Outcomes for Discussion:</vt:lpstr>
      <vt:lpstr>Key Outcomes for Discussion:</vt:lpstr>
      <vt:lpstr>Key Outcomes for Discussion:</vt:lpstr>
      <vt:lpstr>Key Outcomes for Discussion: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Faheem Akhtar BUKC</dc:creator>
  <cp:lastModifiedBy>02-131212-009</cp:lastModifiedBy>
  <cp:revision>4</cp:revision>
  <dcterms:created xsi:type="dcterms:W3CDTF">2025-09-29T04:40:25Z</dcterms:created>
  <dcterms:modified xsi:type="dcterms:W3CDTF">2025-10-05T14:24:33Z</dcterms:modified>
</cp:coreProperties>
</file>