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020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26730"/>
          </a:xfrm>
        </p:spPr>
        <p:txBody>
          <a:bodyPr>
            <a:normAutofit fontScale="90000"/>
          </a:bodyPr>
          <a:lstStyle/>
          <a:p>
            <a:r>
              <a:rPr b="1" dirty="0"/>
              <a:t>Understanding of Sustainability Knowledge among Project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7672"/>
            <a:ext cx="8229600" cy="4178491"/>
          </a:xfrm>
        </p:spPr>
        <p:txBody>
          <a:bodyPr/>
          <a:lstStyle/>
          <a:p>
            <a:r>
              <a:rPr lang="en-GB" dirty="0"/>
              <a:t>Understanding the Adoption of AI Tools in Construction Project Management</a:t>
            </a:r>
          </a:p>
          <a:p>
            <a:r>
              <a:rPr lang="en-GB" dirty="0"/>
              <a:t>A Study Using Snowball Sampling</a:t>
            </a:r>
          </a:p>
          <a:p>
            <a:r>
              <a:rPr lang="en-GB" dirty="0"/>
              <a:t>Source: Adapted from a methodology presented in the International Journal of Advanced Research in Engineering and Technology (IJARET)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• The construction industry is rapidly evolving with the introduction of Artificial Intelligence (AI) tools.</a:t>
            </a:r>
          </a:p>
          <a:p>
            <a:pPr marL="0" indent="0">
              <a:buNone/>
            </a:pPr>
            <a:r>
              <a:rPr lang="en-GB" dirty="0"/>
              <a:t>• Project managers are key to adopting these technologies, but their proficiency levels vary widely.</a:t>
            </a:r>
          </a:p>
          <a:p>
            <a:pPr marL="0" indent="0">
              <a:buNone/>
            </a:pPr>
            <a:r>
              <a:rPr lang="en-GB" dirty="0"/>
              <a:t>• There is no comprehensive registry of project managers actively using AI in their workflows.</a:t>
            </a:r>
          </a:p>
          <a:p>
            <a:pPr marL="0" indent="0">
              <a:buNone/>
            </a:pPr>
            <a:r>
              <a:rPr lang="en-GB" dirty="0"/>
              <a:t>• Snowball sampling was identified as the optimal method to locate and survey this specialized, "hard-to-reach" group.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Research Aim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Aim:</a:t>
            </a:r>
          </a:p>
          <a:p>
            <a:pPr marL="0" indent="0">
              <a:buNone/>
            </a:pPr>
            <a:r>
              <a:rPr lang="en-GB" dirty="0"/>
              <a:t>To evaluate the current adoption rate and proficiency levels of AI tools among construction project managers.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Objectives:</a:t>
            </a:r>
          </a:p>
          <a:p>
            <a:pPr marL="0" indent="0">
              <a:buNone/>
            </a:pPr>
            <a:r>
              <a:rPr lang="en-GB" dirty="0"/>
              <a:t>• To identify the most commonly used AI tools in construction management.</a:t>
            </a:r>
          </a:p>
          <a:p>
            <a:pPr marL="0" indent="0">
              <a:buNone/>
            </a:pPr>
            <a:r>
              <a:rPr lang="en-GB" dirty="0"/>
              <a:t>• To assess the perceived benefits and barriers to AI adoption.</a:t>
            </a:r>
          </a:p>
          <a:p>
            <a:pPr marL="0" indent="0">
              <a:buNone/>
            </a:pPr>
            <a:r>
              <a:rPr lang="en-GB" dirty="0"/>
              <a:t>• To explore the correlation between training and effective AI tool integration.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Methodology – Snowball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Sampling Technique:</a:t>
            </a:r>
          </a:p>
          <a:p>
            <a:pPr marL="0" indent="0">
              <a:buNone/>
            </a:pPr>
            <a:r>
              <a:rPr lang="en-GB" dirty="0"/>
              <a:t>Non-probability Snowball Sampling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Justification:</a:t>
            </a:r>
          </a:p>
          <a:p>
            <a:pPr marL="0" indent="0">
              <a:buNone/>
            </a:pPr>
            <a:r>
              <a:rPr lang="en-GB" dirty="0"/>
              <a:t>The target population—project managers using AI tools—is not neatly listed in any accessible database.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Process:</a:t>
            </a:r>
          </a:p>
          <a:p>
            <a:pPr marL="0" indent="0">
              <a:buNone/>
            </a:pPr>
            <a:r>
              <a:rPr lang="en-GB" dirty="0"/>
              <a:t>• An initial seed group of 15 known tech-adopting project managers was surveyed.</a:t>
            </a:r>
          </a:p>
          <a:p>
            <a:pPr marL="0" indent="0">
              <a:buNone/>
            </a:pPr>
            <a:r>
              <a:rPr lang="en-GB" dirty="0"/>
              <a:t>• Each was asked to refer 2-3 other colleagues who also use AI tools in their projects.</a:t>
            </a:r>
          </a:p>
          <a:p>
            <a:pPr marL="0" indent="0">
              <a:buNone/>
            </a:pPr>
            <a:r>
              <a:rPr lang="en-GB" dirty="0"/>
              <a:t>• This chain-referral process continued until data saturation was reached.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Sample Size:</a:t>
            </a:r>
          </a:p>
          <a:p>
            <a:pPr marL="0" indent="0">
              <a:buNone/>
            </a:pPr>
            <a:r>
              <a:rPr lang="en-GB" dirty="0"/>
              <a:t>• 180 professionals were approached through this network.</a:t>
            </a:r>
          </a:p>
          <a:p>
            <a:pPr marL="0" indent="0">
              <a:buNone/>
            </a:pPr>
            <a:r>
              <a:rPr lang="en-GB" dirty="0"/>
              <a:t>• 142 complete and valid responses were collected for analysis.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Collection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/>
              <a:t>Data Collection Instrument:</a:t>
            </a:r>
          </a:p>
          <a:p>
            <a:pPr marL="0" indent="0">
              <a:buNone/>
            </a:pPr>
            <a:r>
              <a:rPr lang="en-GB" dirty="0"/>
              <a:t>A structured online questionnaire with Likert-scale and multiple-choice questions.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Key Analytical Focus Areas:</a:t>
            </a:r>
          </a:p>
          <a:p>
            <a:pPr marL="0" indent="0">
              <a:buNone/>
            </a:pPr>
            <a:r>
              <a:rPr lang="en-GB" dirty="0"/>
              <a:t>1.  </a:t>
            </a:r>
            <a:r>
              <a:rPr lang="en-GB" b="1" dirty="0"/>
              <a:t>Demographics: </a:t>
            </a:r>
            <a:r>
              <a:rPr lang="en-GB" dirty="0"/>
              <a:t>Role, company size, project type.</a:t>
            </a:r>
          </a:p>
          <a:p>
            <a:pPr marL="0" indent="0">
              <a:buNone/>
            </a:pPr>
            <a:r>
              <a:rPr lang="en-GB" dirty="0"/>
              <a:t>2.  </a:t>
            </a:r>
            <a:r>
              <a:rPr lang="en-GB" b="1" dirty="0"/>
              <a:t>Tool Proficiency: </a:t>
            </a:r>
            <a:r>
              <a:rPr lang="en-GB" dirty="0"/>
              <a:t>Frequency of use and comfort level with specific AI tools (e.g., predictive analytics, generative design, autonomous equipment).</a:t>
            </a:r>
          </a:p>
          <a:p>
            <a:pPr marL="0" indent="0">
              <a:buNone/>
            </a:pPr>
            <a:r>
              <a:rPr lang="en-GB" dirty="0"/>
              <a:t>3.  </a:t>
            </a:r>
            <a:r>
              <a:rPr lang="en-GB" b="1" dirty="0"/>
              <a:t>Impact Assessment:</a:t>
            </a:r>
            <a:r>
              <a:rPr lang="en-GB" dirty="0"/>
              <a:t> Perceived impact of AI on budget, timeline, and risk management.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Analysis Method:</a:t>
            </a:r>
          </a:p>
          <a:p>
            <a:pPr marL="0" indent="0">
              <a:buNone/>
            </a:pPr>
            <a:r>
              <a:rPr lang="en-GB" dirty="0"/>
              <a:t>Quantitative analysis using descriptive and inferential statistics (correlation analysis).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Results and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• </a:t>
            </a:r>
            <a:r>
              <a:rPr lang="en-GB" b="1" dirty="0"/>
              <a:t>Moderate Adoption:</a:t>
            </a:r>
            <a:r>
              <a:rPr lang="en-GB" dirty="0"/>
              <a:t> Over 60% of respondents are in the early stages of AI adoption, using 1-2 tools sporadically.</a:t>
            </a:r>
          </a:p>
          <a:p>
            <a:pPr marL="0" indent="0">
              <a:buNone/>
            </a:pPr>
            <a:r>
              <a:rPr lang="en-GB" dirty="0"/>
              <a:t>• </a:t>
            </a:r>
            <a:r>
              <a:rPr lang="en-GB" b="1" dirty="0"/>
              <a:t>High Perceived Value:</a:t>
            </a:r>
            <a:r>
              <a:rPr lang="en-GB" dirty="0"/>
              <a:t> 89% believe AI has a high potential to improve project outcomes, primarily in risk prediction.</a:t>
            </a:r>
          </a:p>
          <a:p>
            <a:pPr marL="0" indent="0">
              <a:buNone/>
            </a:pPr>
            <a:r>
              <a:rPr lang="en-GB" dirty="0"/>
              <a:t>• </a:t>
            </a:r>
            <a:r>
              <a:rPr lang="en-GB" b="1" dirty="0"/>
              <a:t>Major Barrier:</a:t>
            </a:r>
            <a:r>
              <a:rPr lang="en-GB" dirty="0"/>
              <a:t> The primary obstacle is not cost, but a lack of structured training and clear implementation protocols.</a:t>
            </a:r>
          </a:p>
          <a:p>
            <a:pPr marL="0" indent="0">
              <a:buNone/>
            </a:pPr>
            <a:r>
              <a:rPr lang="en-GB" dirty="0"/>
              <a:t>• </a:t>
            </a:r>
            <a:r>
              <a:rPr lang="en-GB" b="1" dirty="0"/>
              <a:t>Training Correlation:</a:t>
            </a:r>
            <a:r>
              <a:rPr lang="en-GB" dirty="0"/>
              <a:t> Respondents who received formal AI training were 3x more likely to report successful tool integration.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Conclusion:</a:t>
            </a:r>
          </a:p>
          <a:p>
            <a:pPr marL="0" indent="0">
              <a:buNone/>
            </a:pPr>
            <a:r>
              <a:rPr lang="en-GB" dirty="0"/>
              <a:t>• Snowball sampling was highly effective for mapping this niche professional community.</a:t>
            </a:r>
          </a:p>
          <a:p>
            <a:pPr marL="0" indent="0">
              <a:buNone/>
            </a:pPr>
            <a:r>
              <a:rPr lang="en-GB" dirty="0"/>
              <a:t>• There is a significant "AI awareness gap" between recognizing the potential of AI and its proficient application.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Recommendations:</a:t>
            </a:r>
          </a:p>
          <a:p>
            <a:pPr marL="0" indent="0">
              <a:buNone/>
            </a:pPr>
            <a:r>
              <a:rPr lang="en-GB" dirty="0"/>
              <a:t>1.  For Firms: Develop internal upskilling programs and AI implementation champions.</a:t>
            </a:r>
          </a:p>
          <a:p>
            <a:pPr marL="0" indent="0">
              <a:buNone/>
            </a:pPr>
            <a:r>
              <a:rPr lang="en-GB" dirty="0"/>
              <a:t>2.  For Academia: Integrate AI tool modules into construction management curricula.</a:t>
            </a:r>
          </a:p>
          <a:p>
            <a:pPr marL="0" indent="0">
              <a:buNone/>
            </a:pPr>
            <a:r>
              <a:rPr lang="en-GB" dirty="0"/>
              <a:t>3.  For Industry Bodies: Create standardized guidelines and certification for AI use in construction.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Future Work:</a:t>
            </a:r>
          </a:p>
          <a:p>
            <a:pPr marL="0" indent="0">
              <a:buNone/>
            </a:pPr>
            <a:r>
              <a:rPr lang="en-GB" dirty="0"/>
              <a:t>To design and pilot a framework for AI competency development in project management.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International Journal of Advanced Research in Engineering and Technology (IJARET), Vol. 11, Issue 11.</a:t>
            </a:r>
          </a:p>
          <a:p>
            <a:r>
              <a:t>Available at: https://iaeme.com/MasterAdmin/Journal_uploads/IJARET/VOLUME_11_ISSUE_11/IJARET_11_11_098.pdf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616</Words>
  <Application>Microsoft Office PowerPoint</Application>
  <PresentationFormat>On-screen Show (4:3)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Understanding of Sustainability Knowledge among Project Managers</vt:lpstr>
      <vt:lpstr>Introduction</vt:lpstr>
      <vt:lpstr>Research Aim and Objectives</vt:lpstr>
      <vt:lpstr>Methodology – Snowball Sampling</vt:lpstr>
      <vt:lpstr>Data Collection and Analysis</vt:lpstr>
      <vt:lpstr>Results and Findings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02-131212-009</cp:lastModifiedBy>
  <cp:revision>2</cp:revision>
  <dcterms:created xsi:type="dcterms:W3CDTF">2013-01-27T09:14:16Z</dcterms:created>
  <dcterms:modified xsi:type="dcterms:W3CDTF">2025-10-30T00:45:41Z</dcterms:modified>
  <cp:category/>
</cp:coreProperties>
</file>