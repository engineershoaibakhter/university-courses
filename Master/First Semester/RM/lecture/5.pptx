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99" r:id="rId2"/>
    <p:sldId id="352" r:id="rId3"/>
    <p:sldId id="326" r:id="rId4"/>
    <p:sldId id="353" r:id="rId5"/>
    <p:sldId id="342" r:id="rId6"/>
    <p:sldId id="354" r:id="rId7"/>
    <p:sldId id="355" r:id="rId8"/>
    <p:sldId id="356" r:id="rId9"/>
    <p:sldId id="357" r:id="rId10"/>
    <p:sldId id="358" r:id="rId11"/>
    <p:sldId id="359" r:id="rId12"/>
    <p:sldId id="360" r:id="rId13"/>
    <p:sldId id="361" r:id="rId14"/>
    <p:sldId id="362" r:id="rId15"/>
    <p:sldId id="363" r:id="rId16"/>
    <p:sldId id="364" r:id="rId17"/>
    <p:sldId id="365" r:id="rId18"/>
    <p:sldId id="366" r:id="rId19"/>
    <p:sldId id="367" r:id="rId20"/>
    <p:sldId id="368" r:id="rId21"/>
    <p:sldId id="369" r:id="rId22"/>
    <p:sldId id="370" r:id="rId23"/>
    <p:sldId id="371" r:id="rId24"/>
    <p:sldId id="373" r:id="rId25"/>
    <p:sldId id="372" r:id="rId26"/>
    <p:sldId id="300" r:id="rId2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03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558"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702EC1DE-35C0-4CA5-BA52-E1B050F26AC5}" type="datetimeFigureOut">
              <a:rPr lang="en-US" smtClean="0"/>
              <a:t>10/10/2025</a:t>
            </a:fld>
            <a:endParaRPr lang="en-US" dirty="0"/>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9DB9EE01-63FC-4CA8-A19A-073FDAA81928}" type="slidenum">
              <a:rPr lang="en-US" smtClean="0"/>
              <a:t>‹#›</a:t>
            </a:fld>
            <a:endParaRPr lang="en-US" dirty="0"/>
          </a:p>
        </p:txBody>
      </p:sp>
    </p:spTree>
    <p:extLst>
      <p:ext uri="{BB962C8B-B14F-4D97-AF65-F5344CB8AC3E}">
        <p14:creationId xmlns:p14="http://schemas.microsoft.com/office/powerpoint/2010/main" val="1209435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B9EE01-63FC-4CA8-A19A-073FDAA81928}" type="slidenum">
              <a:rPr lang="en-US" smtClean="0"/>
              <a:t>3</a:t>
            </a:fld>
            <a:endParaRPr lang="en-US"/>
          </a:p>
        </p:txBody>
      </p:sp>
    </p:spTree>
    <p:extLst>
      <p:ext uri="{BB962C8B-B14F-4D97-AF65-F5344CB8AC3E}">
        <p14:creationId xmlns:p14="http://schemas.microsoft.com/office/powerpoint/2010/main" val="4168214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F8B40-A5FA-8F99-8EFA-627B0D11F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8C905-226E-17F9-9F86-47B9F3E108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A38CD1-377C-3674-B044-0D4EADC5B0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4F6F57-5738-FBDB-F527-82DBED2EE18A}"/>
              </a:ext>
            </a:extLst>
          </p:cNvPr>
          <p:cNvSpPr>
            <a:spLocks noGrp="1"/>
          </p:cNvSpPr>
          <p:nvPr>
            <p:ph type="sldNum" sz="quarter" idx="10"/>
          </p:nvPr>
        </p:nvSpPr>
        <p:spPr/>
        <p:txBody>
          <a:bodyPr/>
          <a:lstStyle/>
          <a:p>
            <a:fld id="{9DB9EE01-63FC-4CA8-A19A-073FDAA81928}" type="slidenum">
              <a:rPr lang="en-US" smtClean="0"/>
              <a:t>4</a:t>
            </a:fld>
            <a:endParaRPr lang="en-US"/>
          </a:p>
        </p:txBody>
      </p:sp>
    </p:spTree>
    <p:extLst>
      <p:ext uri="{BB962C8B-B14F-4D97-AF65-F5344CB8AC3E}">
        <p14:creationId xmlns:p14="http://schemas.microsoft.com/office/powerpoint/2010/main" val="3173767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B9EE01-63FC-4CA8-A19A-073FDAA81928}" type="slidenum">
              <a:rPr lang="en-US" smtClean="0"/>
              <a:t>5</a:t>
            </a:fld>
            <a:endParaRPr lang="en-US"/>
          </a:p>
        </p:txBody>
      </p:sp>
    </p:spTree>
    <p:extLst>
      <p:ext uri="{BB962C8B-B14F-4D97-AF65-F5344CB8AC3E}">
        <p14:creationId xmlns:p14="http://schemas.microsoft.com/office/powerpoint/2010/main" val="2346503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A4391-1CC1-23D6-8232-E46C3A4782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84BA56-E590-E353-E121-A39B74217D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80B1F4-E938-D7DE-A761-2623757EF0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1C7BDD-F9C2-0451-E06C-893BEC369EAE}"/>
              </a:ext>
            </a:extLst>
          </p:cNvPr>
          <p:cNvSpPr>
            <a:spLocks noGrp="1"/>
          </p:cNvSpPr>
          <p:nvPr>
            <p:ph type="sldNum" sz="quarter" idx="10"/>
          </p:nvPr>
        </p:nvSpPr>
        <p:spPr/>
        <p:txBody>
          <a:bodyPr/>
          <a:lstStyle/>
          <a:p>
            <a:fld id="{9DB9EE01-63FC-4CA8-A19A-073FDAA81928}" type="slidenum">
              <a:rPr lang="en-US" smtClean="0"/>
              <a:t>6</a:t>
            </a:fld>
            <a:endParaRPr lang="en-US"/>
          </a:p>
        </p:txBody>
      </p:sp>
    </p:spTree>
    <p:extLst>
      <p:ext uri="{BB962C8B-B14F-4D97-AF65-F5344CB8AC3E}">
        <p14:creationId xmlns:p14="http://schemas.microsoft.com/office/powerpoint/2010/main" val="3226736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5F05D-CD77-F7B1-128F-52FAA3799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47D04-A031-591F-C900-4343C0F9A1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0DB826-51B5-88A4-B94A-1BC0A365EF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A76A02-C341-8CF9-3670-B753B553155E}"/>
              </a:ext>
            </a:extLst>
          </p:cNvPr>
          <p:cNvSpPr>
            <a:spLocks noGrp="1"/>
          </p:cNvSpPr>
          <p:nvPr>
            <p:ph type="sldNum" sz="quarter" idx="10"/>
          </p:nvPr>
        </p:nvSpPr>
        <p:spPr/>
        <p:txBody>
          <a:bodyPr/>
          <a:lstStyle/>
          <a:p>
            <a:fld id="{9DB9EE01-63FC-4CA8-A19A-073FDAA81928}" type="slidenum">
              <a:rPr lang="en-US" smtClean="0"/>
              <a:t>7</a:t>
            </a:fld>
            <a:endParaRPr lang="en-US"/>
          </a:p>
        </p:txBody>
      </p:sp>
    </p:spTree>
    <p:extLst>
      <p:ext uri="{BB962C8B-B14F-4D97-AF65-F5344CB8AC3E}">
        <p14:creationId xmlns:p14="http://schemas.microsoft.com/office/powerpoint/2010/main" val="2430841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4C893-377E-2242-3AD7-EA869D9F2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F01AAD-3756-1E0E-E450-364914EAE0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ECDC2F-5117-578B-9A4E-02FD99880B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782C12-9262-C898-AC3D-632149AF089A}"/>
              </a:ext>
            </a:extLst>
          </p:cNvPr>
          <p:cNvSpPr>
            <a:spLocks noGrp="1"/>
          </p:cNvSpPr>
          <p:nvPr>
            <p:ph type="sldNum" sz="quarter" idx="10"/>
          </p:nvPr>
        </p:nvSpPr>
        <p:spPr/>
        <p:txBody>
          <a:bodyPr/>
          <a:lstStyle/>
          <a:p>
            <a:fld id="{9DB9EE01-63FC-4CA8-A19A-073FDAA81928}" type="slidenum">
              <a:rPr lang="en-US" smtClean="0"/>
              <a:t>8</a:t>
            </a:fld>
            <a:endParaRPr lang="en-US"/>
          </a:p>
        </p:txBody>
      </p:sp>
    </p:spTree>
    <p:extLst>
      <p:ext uri="{BB962C8B-B14F-4D97-AF65-F5344CB8AC3E}">
        <p14:creationId xmlns:p14="http://schemas.microsoft.com/office/powerpoint/2010/main" val="1191067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7A80E-93B2-AEC4-9C56-D51A0108E8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4D225-C27B-C9FF-2B36-21C50017B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8ED658-1BC5-424A-0DCA-319735E590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1703A1-5E8E-5AC8-FDA4-9AD1D76E1D12}"/>
              </a:ext>
            </a:extLst>
          </p:cNvPr>
          <p:cNvSpPr>
            <a:spLocks noGrp="1"/>
          </p:cNvSpPr>
          <p:nvPr>
            <p:ph type="sldNum" sz="quarter" idx="10"/>
          </p:nvPr>
        </p:nvSpPr>
        <p:spPr/>
        <p:txBody>
          <a:bodyPr/>
          <a:lstStyle/>
          <a:p>
            <a:fld id="{9DB9EE01-63FC-4CA8-A19A-073FDAA81928}" type="slidenum">
              <a:rPr lang="en-US" smtClean="0"/>
              <a:t>9</a:t>
            </a:fld>
            <a:endParaRPr lang="en-US"/>
          </a:p>
        </p:txBody>
      </p:sp>
    </p:spTree>
    <p:extLst>
      <p:ext uri="{BB962C8B-B14F-4D97-AF65-F5344CB8AC3E}">
        <p14:creationId xmlns:p14="http://schemas.microsoft.com/office/powerpoint/2010/main" val="1209138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7817F-051E-AF86-30B5-05D088EB2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F5D688-E311-E7EF-91DF-8B7EAAE32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6CFB35-9DD2-56C5-C0E4-ED63968C31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900904-BBDA-0FC6-98AF-9BC223D321DC}"/>
              </a:ext>
            </a:extLst>
          </p:cNvPr>
          <p:cNvSpPr>
            <a:spLocks noGrp="1"/>
          </p:cNvSpPr>
          <p:nvPr>
            <p:ph type="sldNum" sz="quarter" idx="10"/>
          </p:nvPr>
        </p:nvSpPr>
        <p:spPr/>
        <p:txBody>
          <a:bodyPr/>
          <a:lstStyle/>
          <a:p>
            <a:fld id="{9DB9EE01-63FC-4CA8-A19A-073FDAA81928}" type="slidenum">
              <a:rPr lang="en-US" smtClean="0"/>
              <a:t>10</a:t>
            </a:fld>
            <a:endParaRPr lang="en-US"/>
          </a:p>
        </p:txBody>
      </p:sp>
    </p:spTree>
    <p:extLst>
      <p:ext uri="{BB962C8B-B14F-4D97-AF65-F5344CB8AC3E}">
        <p14:creationId xmlns:p14="http://schemas.microsoft.com/office/powerpoint/2010/main" val="1880495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5FC77-25FD-E77C-89E3-627C8C4FCD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8B0C8F-540B-8F26-5114-CBC529ECDD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CDDB5-4B96-A216-1E7B-A85BCF057C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C1CF2F-EB09-C818-00C0-6C68FC00F3C2}"/>
              </a:ext>
            </a:extLst>
          </p:cNvPr>
          <p:cNvSpPr>
            <a:spLocks noGrp="1"/>
          </p:cNvSpPr>
          <p:nvPr>
            <p:ph type="sldNum" sz="quarter" idx="10"/>
          </p:nvPr>
        </p:nvSpPr>
        <p:spPr/>
        <p:txBody>
          <a:bodyPr/>
          <a:lstStyle/>
          <a:p>
            <a:fld id="{9DB9EE01-63FC-4CA8-A19A-073FDAA81928}" type="slidenum">
              <a:rPr lang="en-US" smtClean="0"/>
              <a:t>11</a:t>
            </a:fld>
            <a:endParaRPr lang="en-US"/>
          </a:p>
        </p:txBody>
      </p:sp>
    </p:spTree>
    <p:extLst>
      <p:ext uri="{BB962C8B-B14F-4D97-AF65-F5344CB8AC3E}">
        <p14:creationId xmlns:p14="http://schemas.microsoft.com/office/powerpoint/2010/main" val="2101202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82FE6-DB33-8FDB-A2DA-14E485E32F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82015-1FB9-4B07-33C7-26E662DF8B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C037E-26DE-7F55-DC87-9DE26FFE52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96018B-1071-FC09-C4E4-F29C79C23B06}"/>
              </a:ext>
            </a:extLst>
          </p:cNvPr>
          <p:cNvSpPr>
            <a:spLocks noGrp="1"/>
          </p:cNvSpPr>
          <p:nvPr>
            <p:ph type="sldNum" sz="quarter" idx="10"/>
          </p:nvPr>
        </p:nvSpPr>
        <p:spPr/>
        <p:txBody>
          <a:bodyPr/>
          <a:lstStyle/>
          <a:p>
            <a:fld id="{9DB9EE01-63FC-4CA8-A19A-073FDAA81928}" type="slidenum">
              <a:rPr lang="en-US" smtClean="0"/>
              <a:t>12</a:t>
            </a:fld>
            <a:endParaRPr lang="en-US"/>
          </a:p>
        </p:txBody>
      </p:sp>
    </p:spTree>
    <p:extLst>
      <p:ext uri="{BB962C8B-B14F-4D97-AF65-F5344CB8AC3E}">
        <p14:creationId xmlns:p14="http://schemas.microsoft.com/office/powerpoint/2010/main" val="2395522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A9AE7-3DCC-884D-F8BE-D33B9183A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65BAB1-A466-5AD8-AF68-5B5407E9DB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B725BF-2AD1-C464-076D-F67EBD89B0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3A8332-5D7C-09B7-4179-A4FF9147FDEB}"/>
              </a:ext>
            </a:extLst>
          </p:cNvPr>
          <p:cNvSpPr>
            <a:spLocks noGrp="1"/>
          </p:cNvSpPr>
          <p:nvPr>
            <p:ph type="sldNum" sz="quarter" idx="10"/>
          </p:nvPr>
        </p:nvSpPr>
        <p:spPr/>
        <p:txBody>
          <a:bodyPr/>
          <a:lstStyle/>
          <a:p>
            <a:fld id="{9DB9EE01-63FC-4CA8-A19A-073FDAA81928}" type="slidenum">
              <a:rPr lang="en-US" smtClean="0"/>
              <a:t>13</a:t>
            </a:fld>
            <a:endParaRPr lang="en-US"/>
          </a:p>
        </p:txBody>
      </p:sp>
    </p:spTree>
    <p:extLst>
      <p:ext uri="{BB962C8B-B14F-4D97-AF65-F5344CB8AC3E}">
        <p14:creationId xmlns:p14="http://schemas.microsoft.com/office/powerpoint/2010/main" val="9326376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224CB-5810-96F7-192F-688C353787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08B4C6-652E-2C30-8EBF-491109DD01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EBE0AA-690B-0637-7407-B850BA1831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6489EB-FB42-DB43-AD66-0E7EE76C59EC}"/>
              </a:ext>
            </a:extLst>
          </p:cNvPr>
          <p:cNvSpPr>
            <a:spLocks noGrp="1"/>
          </p:cNvSpPr>
          <p:nvPr>
            <p:ph type="sldNum" sz="quarter" idx="10"/>
          </p:nvPr>
        </p:nvSpPr>
        <p:spPr/>
        <p:txBody>
          <a:bodyPr/>
          <a:lstStyle/>
          <a:p>
            <a:fld id="{9DB9EE01-63FC-4CA8-A19A-073FDAA81928}" type="slidenum">
              <a:rPr lang="en-US" smtClean="0"/>
              <a:t>14</a:t>
            </a:fld>
            <a:endParaRPr lang="en-US"/>
          </a:p>
        </p:txBody>
      </p:sp>
    </p:spTree>
    <p:extLst>
      <p:ext uri="{BB962C8B-B14F-4D97-AF65-F5344CB8AC3E}">
        <p14:creationId xmlns:p14="http://schemas.microsoft.com/office/powerpoint/2010/main" val="3374337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65609-8682-0A9F-B3D4-E82C86583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49BE68-76DB-A717-C05E-8D782FFC98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7F09E-3C5F-2DCB-1E86-F4E7468DEE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B9A7FE-5AD5-90EA-C792-DBB49DF407C9}"/>
              </a:ext>
            </a:extLst>
          </p:cNvPr>
          <p:cNvSpPr>
            <a:spLocks noGrp="1"/>
          </p:cNvSpPr>
          <p:nvPr>
            <p:ph type="sldNum" sz="quarter" idx="10"/>
          </p:nvPr>
        </p:nvSpPr>
        <p:spPr/>
        <p:txBody>
          <a:bodyPr/>
          <a:lstStyle/>
          <a:p>
            <a:fld id="{9DB9EE01-63FC-4CA8-A19A-073FDAA81928}" type="slidenum">
              <a:rPr lang="en-US" smtClean="0"/>
              <a:t>15</a:t>
            </a:fld>
            <a:endParaRPr lang="en-US"/>
          </a:p>
        </p:txBody>
      </p:sp>
    </p:spTree>
    <p:extLst>
      <p:ext uri="{BB962C8B-B14F-4D97-AF65-F5344CB8AC3E}">
        <p14:creationId xmlns:p14="http://schemas.microsoft.com/office/powerpoint/2010/main" val="1872149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07A27-C6BF-E427-0923-CDF361F48C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AD626B-8266-E809-6E69-186AB1A121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4864BA-13F3-1AF6-9BFB-A530B99DBE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2FF8E8-8714-A8D8-3522-0BDFA3CFC822}"/>
              </a:ext>
            </a:extLst>
          </p:cNvPr>
          <p:cNvSpPr>
            <a:spLocks noGrp="1"/>
          </p:cNvSpPr>
          <p:nvPr>
            <p:ph type="sldNum" sz="quarter" idx="10"/>
          </p:nvPr>
        </p:nvSpPr>
        <p:spPr/>
        <p:txBody>
          <a:bodyPr/>
          <a:lstStyle/>
          <a:p>
            <a:fld id="{9DB9EE01-63FC-4CA8-A19A-073FDAA81928}" type="slidenum">
              <a:rPr lang="en-US" smtClean="0"/>
              <a:t>16</a:t>
            </a:fld>
            <a:endParaRPr lang="en-US"/>
          </a:p>
        </p:txBody>
      </p:sp>
    </p:spTree>
    <p:extLst>
      <p:ext uri="{BB962C8B-B14F-4D97-AF65-F5344CB8AC3E}">
        <p14:creationId xmlns:p14="http://schemas.microsoft.com/office/powerpoint/2010/main" val="8569278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5BAAB-5B81-BC66-226F-F761459D7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8E4E0A-F44B-5464-B60E-BE3EB5E52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008B0-2456-C616-6CF6-3F6BD15E5C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BDED3A-D1F9-7D44-2DF8-20276B9FDD2D}"/>
              </a:ext>
            </a:extLst>
          </p:cNvPr>
          <p:cNvSpPr>
            <a:spLocks noGrp="1"/>
          </p:cNvSpPr>
          <p:nvPr>
            <p:ph type="sldNum" sz="quarter" idx="10"/>
          </p:nvPr>
        </p:nvSpPr>
        <p:spPr/>
        <p:txBody>
          <a:bodyPr/>
          <a:lstStyle/>
          <a:p>
            <a:fld id="{9DB9EE01-63FC-4CA8-A19A-073FDAA81928}" type="slidenum">
              <a:rPr lang="en-US" smtClean="0"/>
              <a:t>17</a:t>
            </a:fld>
            <a:endParaRPr lang="en-US"/>
          </a:p>
        </p:txBody>
      </p:sp>
    </p:spTree>
    <p:extLst>
      <p:ext uri="{BB962C8B-B14F-4D97-AF65-F5344CB8AC3E}">
        <p14:creationId xmlns:p14="http://schemas.microsoft.com/office/powerpoint/2010/main" val="2653055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F2471-5E8D-1767-ECE0-056BF79A4E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BA3FBB-209A-E7E7-0F21-E47BFB474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0E7B12-0512-FA4C-F55F-FC1E4D004C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BE7971-5839-204D-84D4-C24A4B4557B8}"/>
              </a:ext>
            </a:extLst>
          </p:cNvPr>
          <p:cNvSpPr>
            <a:spLocks noGrp="1"/>
          </p:cNvSpPr>
          <p:nvPr>
            <p:ph type="sldNum" sz="quarter" idx="10"/>
          </p:nvPr>
        </p:nvSpPr>
        <p:spPr/>
        <p:txBody>
          <a:bodyPr/>
          <a:lstStyle/>
          <a:p>
            <a:fld id="{9DB9EE01-63FC-4CA8-A19A-073FDAA81928}" type="slidenum">
              <a:rPr lang="en-US" smtClean="0"/>
              <a:t>18</a:t>
            </a:fld>
            <a:endParaRPr lang="en-US"/>
          </a:p>
        </p:txBody>
      </p:sp>
    </p:spTree>
    <p:extLst>
      <p:ext uri="{BB962C8B-B14F-4D97-AF65-F5344CB8AC3E}">
        <p14:creationId xmlns:p14="http://schemas.microsoft.com/office/powerpoint/2010/main" val="3275979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6CB76-1CD8-EF45-B15B-68DA05948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B3C099-D092-B337-7A53-9E74D27E7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2DE48D-FA4A-8B19-3941-962DA14D61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3F9BCC-6A36-8B49-91D1-261A6E801D74}"/>
              </a:ext>
            </a:extLst>
          </p:cNvPr>
          <p:cNvSpPr>
            <a:spLocks noGrp="1"/>
          </p:cNvSpPr>
          <p:nvPr>
            <p:ph type="sldNum" sz="quarter" idx="10"/>
          </p:nvPr>
        </p:nvSpPr>
        <p:spPr/>
        <p:txBody>
          <a:bodyPr/>
          <a:lstStyle/>
          <a:p>
            <a:fld id="{9DB9EE01-63FC-4CA8-A19A-073FDAA81928}" type="slidenum">
              <a:rPr lang="en-US" smtClean="0"/>
              <a:t>19</a:t>
            </a:fld>
            <a:endParaRPr lang="en-US"/>
          </a:p>
        </p:txBody>
      </p:sp>
    </p:spTree>
    <p:extLst>
      <p:ext uri="{BB962C8B-B14F-4D97-AF65-F5344CB8AC3E}">
        <p14:creationId xmlns:p14="http://schemas.microsoft.com/office/powerpoint/2010/main" val="14723667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68EA0-0579-8A44-48BA-AF81DC5C6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0829AE-7E3D-C406-70AC-A594D8B80E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A294BB-3982-AC00-11B4-5090F359A0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4A90C4-8146-DB70-CDD1-3EEB207188BE}"/>
              </a:ext>
            </a:extLst>
          </p:cNvPr>
          <p:cNvSpPr>
            <a:spLocks noGrp="1"/>
          </p:cNvSpPr>
          <p:nvPr>
            <p:ph type="sldNum" sz="quarter" idx="10"/>
          </p:nvPr>
        </p:nvSpPr>
        <p:spPr/>
        <p:txBody>
          <a:bodyPr/>
          <a:lstStyle/>
          <a:p>
            <a:fld id="{9DB9EE01-63FC-4CA8-A19A-073FDAA81928}" type="slidenum">
              <a:rPr lang="en-US" smtClean="0"/>
              <a:t>20</a:t>
            </a:fld>
            <a:endParaRPr lang="en-US"/>
          </a:p>
        </p:txBody>
      </p:sp>
    </p:spTree>
    <p:extLst>
      <p:ext uri="{BB962C8B-B14F-4D97-AF65-F5344CB8AC3E}">
        <p14:creationId xmlns:p14="http://schemas.microsoft.com/office/powerpoint/2010/main" val="41661444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10AE6-DCF2-4984-69A3-90FA3F4AE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8C02AF-5892-CFB2-0956-10DBD1F0C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3D2A54-5230-F012-A1D9-7447DC4BEF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644416-0512-9AED-68D1-1EB8CEF24AC1}"/>
              </a:ext>
            </a:extLst>
          </p:cNvPr>
          <p:cNvSpPr>
            <a:spLocks noGrp="1"/>
          </p:cNvSpPr>
          <p:nvPr>
            <p:ph type="sldNum" sz="quarter" idx="10"/>
          </p:nvPr>
        </p:nvSpPr>
        <p:spPr/>
        <p:txBody>
          <a:bodyPr/>
          <a:lstStyle/>
          <a:p>
            <a:fld id="{9DB9EE01-63FC-4CA8-A19A-073FDAA81928}" type="slidenum">
              <a:rPr lang="en-US" smtClean="0"/>
              <a:t>21</a:t>
            </a:fld>
            <a:endParaRPr lang="en-US"/>
          </a:p>
        </p:txBody>
      </p:sp>
    </p:spTree>
    <p:extLst>
      <p:ext uri="{BB962C8B-B14F-4D97-AF65-F5344CB8AC3E}">
        <p14:creationId xmlns:p14="http://schemas.microsoft.com/office/powerpoint/2010/main" val="33589764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8A882-F6AB-6EDB-1E19-92C3CFBAA7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39496-727C-D529-9F46-AC6D0DFBCF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9D939C-F441-6915-D3A7-5DACD79BF0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1F3EAF-2CE0-C593-5E73-38297A0BECD3}"/>
              </a:ext>
            </a:extLst>
          </p:cNvPr>
          <p:cNvSpPr>
            <a:spLocks noGrp="1"/>
          </p:cNvSpPr>
          <p:nvPr>
            <p:ph type="sldNum" sz="quarter" idx="10"/>
          </p:nvPr>
        </p:nvSpPr>
        <p:spPr/>
        <p:txBody>
          <a:bodyPr/>
          <a:lstStyle/>
          <a:p>
            <a:fld id="{9DB9EE01-63FC-4CA8-A19A-073FDAA81928}" type="slidenum">
              <a:rPr lang="en-US" smtClean="0"/>
              <a:t>22</a:t>
            </a:fld>
            <a:endParaRPr lang="en-US"/>
          </a:p>
        </p:txBody>
      </p:sp>
    </p:spTree>
    <p:extLst>
      <p:ext uri="{BB962C8B-B14F-4D97-AF65-F5344CB8AC3E}">
        <p14:creationId xmlns:p14="http://schemas.microsoft.com/office/powerpoint/2010/main" val="17031026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23E48-F5A4-8E65-95A9-9C3CF9F36C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6FA39D-858E-D6FF-FC63-D24F46B0DE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E10F07-EC62-F7E4-88B2-B824047409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842B66-5543-28A9-118B-BC36A6097DC1}"/>
              </a:ext>
            </a:extLst>
          </p:cNvPr>
          <p:cNvSpPr>
            <a:spLocks noGrp="1"/>
          </p:cNvSpPr>
          <p:nvPr>
            <p:ph type="sldNum" sz="quarter" idx="10"/>
          </p:nvPr>
        </p:nvSpPr>
        <p:spPr/>
        <p:txBody>
          <a:bodyPr/>
          <a:lstStyle/>
          <a:p>
            <a:fld id="{9DB9EE01-63FC-4CA8-A19A-073FDAA81928}" type="slidenum">
              <a:rPr lang="en-US" smtClean="0"/>
              <a:t>23</a:t>
            </a:fld>
            <a:endParaRPr lang="en-US"/>
          </a:p>
        </p:txBody>
      </p:sp>
    </p:spTree>
    <p:extLst>
      <p:ext uri="{BB962C8B-B14F-4D97-AF65-F5344CB8AC3E}">
        <p14:creationId xmlns:p14="http://schemas.microsoft.com/office/powerpoint/2010/main" val="23341728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5CA50-3840-D7FE-DA6C-D9D4FA755F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D606EB-281A-DDA1-13A9-4E9CC02D27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810F1B-F981-7BD1-F5FF-E111F11102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B0883F-62AB-B930-F540-F822F9C1E2AD}"/>
              </a:ext>
            </a:extLst>
          </p:cNvPr>
          <p:cNvSpPr>
            <a:spLocks noGrp="1"/>
          </p:cNvSpPr>
          <p:nvPr>
            <p:ph type="sldNum" sz="quarter" idx="10"/>
          </p:nvPr>
        </p:nvSpPr>
        <p:spPr/>
        <p:txBody>
          <a:bodyPr/>
          <a:lstStyle/>
          <a:p>
            <a:fld id="{9DB9EE01-63FC-4CA8-A19A-073FDAA81928}" type="slidenum">
              <a:rPr lang="en-US" smtClean="0"/>
              <a:t>24</a:t>
            </a:fld>
            <a:endParaRPr lang="en-US"/>
          </a:p>
        </p:txBody>
      </p:sp>
    </p:spTree>
    <p:extLst>
      <p:ext uri="{BB962C8B-B14F-4D97-AF65-F5344CB8AC3E}">
        <p14:creationId xmlns:p14="http://schemas.microsoft.com/office/powerpoint/2010/main" val="11751244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91D56-9CA5-2894-25C0-349853B88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A1F804-6615-1B2F-2308-870C9D56D8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3D0ED-3F7F-3AC0-EBE4-63CA69BEEA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E0CE78-228C-00D6-BB03-FBBCC9411773}"/>
              </a:ext>
            </a:extLst>
          </p:cNvPr>
          <p:cNvSpPr>
            <a:spLocks noGrp="1"/>
          </p:cNvSpPr>
          <p:nvPr>
            <p:ph type="sldNum" sz="quarter" idx="10"/>
          </p:nvPr>
        </p:nvSpPr>
        <p:spPr/>
        <p:txBody>
          <a:bodyPr/>
          <a:lstStyle/>
          <a:p>
            <a:fld id="{9DB9EE01-63FC-4CA8-A19A-073FDAA81928}" type="slidenum">
              <a:rPr lang="en-US" smtClean="0"/>
              <a:t>25</a:t>
            </a:fld>
            <a:endParaRPr lang="en-US"/>
          </a:p>
        </p:txBody>
      </p:sp>
    </p:spTree>
    <p:extLst>
      <p:ext uri="{BB962C8B-B14F-4D97-AF65-F5344CB8AC3E}">
        <p14:creationId xmlns:p14="http://schemas.microsoft.com/office/powerpoint/2010/main" val="2325011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5FC5B91-1E4F-478A-8BAD-D924F2068EA4}" type="datetimeFigureOut">
              <a:rPr lang="en-US" smtClean="0"/>
              <a:t>10/10/2025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3202444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FC5B91-1E4F-478A-8BAD-D924F2068EA4}" type="datetimeFigureOut">
              <a:rPr lang="en-US" smtClean="0"/>
              <a:t>10/10/2025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23079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FC5B91-1E4F-478A-8BAD-D924F2068EA4}" type="datetimeFigureOut">
              <a:rPr lang="en-US" smtClean="0"/>
              <a:t>10/10/2025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2003721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5FC5B91-1E4F-478A-8BAD-D924F2068EA4}" type="datetimeFigureOut">
              <a:rPr lang="en-US" smtClean="0"/>
              <a:t>10/10/2025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1739088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5FC5B91-1E4F-478A-8BAD-D924F2068EA4}" type="datetimeFigureOut">
              <a:rPr lang="en-US" smtClean="0"/>
              <a:t>10/10/2025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136871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FC5B91-1E4F-478A-8BAD-D924F2068EA4}" type="datetimeFigureOut">
              <a:rPr lang="en-US" smtClean="0"/>
              <a:t>10/10/2025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4129881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FC5B91-1E4F-478A-8BAD-D924F2068EA4}" type="datetimeFigureOut">
              <a:rPr lang="en-US" smtClean="0"/>
              <a:t>10/10/2025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2000420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FC5B91-1E4F-478A-8BAD-D924F2068EA4}" type="datetimeFigureOut">
              <a:rPr lang="en-US" smtClean="0"/>
              <a:t>10/10/2025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923431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FC5B91-1E4F-478A-8BAD-D924F2068EA4}" type="datetimeFigureOut">
              <a:rPr lang="en-US" smtClean="0"/>
              <a:t>10/10/2025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216643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FC5B91-1E4F-478A-8BAD-D924F2068EA4}" type="datetimeFigureOut">
              <a:rPr lang="en-US" smtClean="0"/>
              <a:t>10/10/2025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1505975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FC5B91-1E4F-478A-8BAD-D924F2068EA4}" type="datetimeFigureOut">
              <a:rPr lang="en-US" smtClean="0"/>
              <a:t>10/10/2025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2882894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FC5B91-1E4F-478A-8BAD-D924F2068EA4}" type="datetimeFigureOut">
              <a:rPr lang="en-US" smtClean="0"/>
              <a:t>10/10/2025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A39FEF-9CF8-4298-BA6A-4188A34D0887}" type="slidenum">
              <a:rPr lang="en-US" smtClean="0"/>
              <a:t>‹#›</a:t>
            </a:fld>
            <a:endParaRPr lang="en-US" dirty="0"/>
          </a:p>
        </p:txBody>
      </p:sp>
    </p:spTree>
    <p:extLst>
      <p:ext uri="{BB962C8B-B14F-4D97-AF65-F5344CB8AC3E}">
        <p14:creationId xmlns:p14="http://schemas.microsoft.com/office/powerpoint/2010/main" val="34588687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535327E-266C-5390-A2F7-6AD3A7FA6E07}"/>
              </a:ext>
            </a:extLst>
          </p:cNvPr>
          <p:cNvPicPr>
            <a:picLocks noChangeAspect="1"/>
          </p:cNvPicPr>
          <p:nvPr/>
        </p:nvPicPr>
        <p:blipFill>
          <a:blip r:embed="rId2">
            <a:grayscl/>
          </a:blip>
          <a:stretch>
            <a:fillRect/>
          </a:stretch>
        </p:blipFill>
        <p:spPr>
          <a:xfrm>
            <a:off x="-50007" y="0"/>
            <a:ext cx="12192000" cy="6858000"/>
          </a:xfrm>
          <a:prstGeom prst="rect">
            <a:avLst/>
          </a:prstGeom>
        </p:spPr>
      </p:pic>
      <p:sp>
        <p:nvSpPr>
          <p:cNvPr id="2" name="Title 1"/>
          <p:cNvSpPr>
            <a:spLocks noGrp="1"/>
          </p:cNvSpPr>
          <p:nvPr>
            <p:ph type="ctrTitle"/>
          </p:nvPr>
        </p:nvSpPr>
        <p:spPr>
          <a:xfrm>
            <a:off x="3007795" y="2152399"/>
            <a:ext cx="6076396" cy="837397"/>
          </a:xfrm>
          <a:solidFill>
            <a:schemeClr val="accent1"/>
          </a:solidFill>
        </p:spPr>
        <p:txBody>
          <a:bodyPr>
            <a:normAutofit/>
          </a:bodyPr>
          <a:lstStyle/>
          <a:p>
            <a:pPr algn="l"/>
            <a:r>
              <a:rPr lang="en-US" sz="4800" b="1" u="sng" dirty="0">
                <a:solidFill>
                  <a:srgbClr val="FFFF00"/>
                </a:solidFill>
                <a:latin typeface="+mn-lt"/>
                <a:cs typeface="Arial" panose="020B0604020202020204" pitchFamily="34" charset="0"/>
              </a:rPr>
              <a:t>Research Methodology </a:t>
            </a:r>
          </a:p>
        </p:txBody>
      </p:sp>
      <p:sp>
        <p:nvSpPr>
          <p:cNvPr id="4" name="Rectangle 3">
            <a:extLst>
              <a:ext uri="{FF2B5EF4-FFF2-40B4-BE49-F238E27FC236}">
                <a16:creationId xmlns:a16="http://schemas.microsoft.com/office/drawing/2014/main" id="{5CD7D9C7-B8BA-AD4F-11DF-4B92B2064B9F}"/>
              </a:ext>
            </a:extLst>
          </p:cNvPr>
          <p:cNvSpPr/>
          <p:nvPr/>
        </p:nvSpPr>
        <p:spPr>
          <a:xfrm>
            <a:off x="8111052" y="5142194"/>
            <a:ext cx="4030941" cy="1200329"/>
          </a:xfrm>
          <a:prstGeom prst="rect">
            <a:avLst/>
          </a:prstGeom>
          <a:solidFill>
            <a:schemeClr val="accent1">
              <a:lumMod val="20000"/>
              <a:lumOff val="80000"/>
            </a:schemeClr>
          </a:solidFill>
        </p:spPr>
        <p:txBody>
          <a:bodyPr wrap="square">
            <a:spAutoFit/>
          </a:bodyPr>
          <a:lstStyle/>
          <a:p>
            <a:r>
              <a:rPr lang="en-US" sz="2400" b="1" u="sng" dirty="0"/>
              <a:t>DR. FAHEEM AKHTAR</a:t>
            </a:r>
          </a:p>
          <a:p>
            <a:r>
              <a:rPr lang="en-US" sz="2400" b="1" i="1" dirty="0"/>
              <a:t>Ph.D.  (Zhejiang University)</a:t>
            </a:r>
            <a:br>
              <a:rPr lang="en-US" sz="2400" b="1" i="1" dirty="0"/>
            </a:br>
            <a:r>
              <a:rPr lang="en-US" sz="2400" b="1" i="1" dirty="0"/>
              <a:t>Assistant Professor </a:t>
            </a:r>
            <a:endParaRPr lang="en-US" sz="2400" i="1" dirty="0"/>
          </a:p>
        </p:txBody>
      </p:sp>
    </p:spTree>
    <p:extLst>
      <p:ext uri="{BB962C8B-B14F-4D97-AF65-F5344CB8AC3E}">
        <p14:creationId xmlns:p14="http://schemas.microsoft.com/office/powerpoint/2010/main" val="3628342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94486B-7B0F-5800-2EDD-A2CB324918AB}"/>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77E6ABC7-2688-37DE-BFAB-046B48D7D0DB}"/>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1158240" y="582627"/>
            <a:ext cx="7973876" cy="5548207"/>
          </a:xfrm>
          <a:prstGeom prst="rect">
            <a:avLst/>
          </a:prstGeom>
        </p:spPr>
      </p:pic>
    </p:spTree>
    <p:extLst>
      <p:ext uri="{BB962C8B-B14F-4D97-AF65-F5344CB8AC3E}">
        <p14:creationId xmlns:p14="http://schemas.microsoft.com/office/powerpoint/2010/main" val="3155034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85104" y="1119098"/>
            <a:ext cx="11344937" cy="1938992"/>
          </a:xfrm>
          <a:prstGeom prst="rect">
            <a:avLst/>
          </a:prstGeom>
          <a:solidFill>
            <a:schemeClr val="bg1"/>
          </a:solidFill>
        </p:spPr>
        <p:txBody>
          <a:bodyPr wrap="square">
            <a:spAutoFit/>
          </a:bodyPr>
          <a:lstStyle/>
          <a:p>
            <a:pPr algn="just"/>
            <a:r>
              <a:rPr lang="en-US" sz="3000" dirty="0">
                <a:latin typeface="Times New Roman" panose="02020603050405020304" pitchFamily="18" charset="0"/>
                <a:cs typeface="Times New Roman" panose="02020603050405020304" pitchFamily="18" charset="0"/>
              </a:rPr>
              <a:t>A sample is a smaller set of data that a researcher chooses or selects from a larger population using a pre-defined selection bias method. These elements are known as sample points, sampling units, or observations.</a:t>
            </a:r>
          </a:p>
        </p:txBody>
      </p:sp>
      <p:sp>
        <p:nvSpPr>
          <p:cNvPr id="5" name="Title 1">
            <a:extLst>
              <a:ext uri="{FF2B5EF4-FFF2-40B4-BE49-F238E27FC236}">
                <a16:creationId xmlns:a16="http://schemas.microsoft.com/office/drawing/2014/main" id="{EBD03816-6ABD-4A5F-AA48-3752AB1FCCE5}"/>
              </a:ext>
            </a:extLst>
          </p:cNvPr>
          <p:cNvSpPr>
            <a:spLocks noGrp="1"/>
          </p:cNvSpPr>
          <p:nvPr>
            <p:ph type="title"/>
          </p:nvPr>
        </p:nvSpPr>
        <p:spPr>
          <a:xfrm>
            <a:off x="2730284" y="585375"/>
            <a:ext cx="5289064" cy="535531"/>
          </a:xfrm>
        </p:spPr>
        <p:txBody>
          <a:bodyPr wrap="square">
            <a:spAutoFit/>
          </a:bodyPr>
          <a:lstStyle/>
          <a:p>
            <a:pPr algn="ctr"/>
            <a:r>
              <a:rPr lang="en-US" sz="3200" b="1" i="1" u="sng" dirty="0">
                <a:solidFill>
                  <a:srgbClr val="FFFF00"/>
                </a:solidFill>
                <a:latin typeface="+mn-lt"/>
                <a:ea typeface="+mn-ea"/>
                <a:cs typeface="+mn-cs"/>
              </a:rPr>
              <a:t>WHAT IS SAMPLING </a:t>
            </a:r>
          </a:p>
        </p:txBody>
      </p:sp>
      <p:sp>
        <p:nvSpPr>
          <p:cNvPr id="6" name="TextBox 5">
            <a:extLst>
              <a:ext uri="{FF2B5EF4-FFF2-40B4-BE49-F238E27FC236}">
                <a16:creationId xmlns:a16="http://schemas.microsoft.com/office/drawing/2014/main" id="{5C5E11E9-8E05-5C9C-7F99-DAEA52A10179}"/>
              </a:ext>
            </a:extLst>
          </p:cNvPr>
          <p:cNvSpPr txBox="1"/>
          <p:nvPr/>
        </p:nvSpPr>
        <p:spPr>
          <a:xfrm>
            <a:off x="585104" y="4233386"/>
            <a:ext cx="11194936" cy="1938992"/>
          </a:xfrm>
          <a:prstGeom prst="rect">
            <a:avLst/>
          </a:prstGeom>
          <a:solidFill>
            <a:schemeClr val="bg1"/>
          </a:solidFill>
        </p:spPr>
        <p:txBody>
          <a:bodyPr wrap="square">
            <a:spAutoFit/>
          </a:bodyPr>
          <a:lstStyle>
            <a:defPPr>
              <a:defRPr lang="en-US"/>
            </a:defPPr>
            <a:lvl1pPr algn="just">
              <a:defRPr sz="3000">
                <a:latin typeface="Times New Roman" panose="02020603050405020304" pitchFamily="18" charset="0"/>
                <a:cs typeface="Times New Roman" panose="02020603050405020304" pitchFamily="18" charset="0"/>
              </a:defRPr>
            </a:lvl1pPr>
          </a:lstStyle>
          <a:p>
            <a:r>
              <a:rPr lang="en-US" altLang="zh-CN" dirty="0"/>
              <a:t>Creating a sample is an efficient method of conducting research. Researching the whole population is often impossible, costly, and time-consuming. Hence, examining the sample provides insights the researcher can apply to the entire population.</a:t>
            </a:r>
            <a:endParaRPr lang="zh-CN" altLang="en-US" dirty="0"/>
          </a:p>
        </p:txBody>
      </p:sp>
      <p:sp>
        <p:nvSpPr>
          <p:cNvPr id="7" name="Title 1">
            <a:extLst>
              <a:ext uri="{FF2B5EF4-FFF2-40B4-BE49-F238E27FC236}">
                <a16:creationId xmlns:a16="http://schemas.microsoft.com/office/drawing/2014/main" id="{2E748772-F818-9234-6490-DE8579CE6A80}"/>
              </a:ext>
            </a:extLst>
          </p:cNvPr>
          <p:cNvSpPr txBox="1">
            <a:spLocks/>
          </p:cNvSpPr>
          <p:nvPr/>
        </p:nvSpPr>
        <p:spPr>
          <a:xfrm>
            <a:off x="2889829" y="3644834"/>
            <a:ext cx="5289064" cy="5355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i="1" u="sng" dirty="0">
                <a:solidFill>
                  <a:srgbClr val="FFFF00"/>
                </a:solidFill>
                <a:latin typeface="+mn-lt"/>
                <a:ea typeface="+mn-ea"/>
                <a:cs typeface="+mn-cs"/>
              </a:rPr>
              <a:t>WHY SAMPLING REQUIRED </a:t>
            </a:r>
          </a:p>
        </p:txBody>
      </p:sp>
    </p:spTree>
    <p:extLst>
      <p:ext uri="{BB962C8B-B14F-4D97-AF65-F5344CB8AC3E}">
        <p14:creationId xmlns:p14="http://schemas.microsoft.com/office/powerpoint/2010/main" val="314699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735D1-7FCE-9303-D979-F5AA9EE9591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25D76A9-8445-8BB6-E943-92C027951A3E}"/>
              </a:ext>
            </a:extLst>
          </p:cNvPr>
          <p:cNvSpPr/>
          <p:nvPr/>
        </p:nvSpPr>
        <p:spPr>
          <a:xfrm>
            <a:off x="585104" y="1119098"/>
            <a:ext cx="11344937" cy="5293757"/>
          </a:xfrm>
          <a:prstGeom prst="rect">
            <a:avLst/>
          </a:prstGeom>
          <a:solidFill>
            <a:schemeClr val="bg1"/>
          </a:solidFill>
        </p:spPr>
        <p:txBody>
          <a:bodyPr wrap="square">
            <a:spAutoFit/>
          </a:bodyPr>
          <a:lstStyle/>
          <a:p>
            <a:pPr algn="just"/>
            <a:r>
              <a:rPr lang="en-US" sz="2600" dirty="0">
                <a:solidFill>
                  <a:srgbClr val="FF0000"/>
                </a:solidFill>
                <a:latin typeface="Times New Roman" panose="02020603050405020304" pitchFamily="18" charset="0"/>
                <a:cs typeface="Times New Roman" panose="02020603050405020304" pitchFamily="18" charset="0"/>
              </a:rPr>
              <a:t>For example, </a:t>
            </a:r>
            <a:r>
              <a:rPr lang="en-US" sz="2600" dirty="0">
                <a:latin typeface="Times New Roman" panose="02020603050405020304" pitchFamily="18" charset="0"/>
                <a:cs typeface="Times New Roman" panose="02020603050405020304" pitchFamily="18" charset="0"/>
              </a:rPr>
              <a:t>if a cell phone manufacturer wants to conduct a feature research study among students in US Universities. An in-depth research study must be conducted if the researcher is looking for features that the students use, features they would like to see, and the price they are willing to pay.</a:t>
            </a:r>
          </a:p>
          <a:p>
            <a:pPr algn="just"/>
            <a:r>
              <a:rPr lang="en-US" sz="2600" dirty="0">
                <a:latin typeface="Times New Roman" panose="02020603050405020304" pitchFamily="18" charset="0"/>
                <a:cs typeface="Times New Roman" panose="02020603050405020304" pitchFamily="18" charset="0"/>
              </a:rPr>
              <a:t>This step is imperative to understand the features that need development, the features that require an upgrade, the device’s pricing, and the go-to-market strategy.</a:t>
            </a:r>
          </a:p>
          <a:p>
            <a:pPr algn="just"/>
            <a:r>
              <a:rPr lang="en-US" sz="2600" dirty="0">
                <a:latin typeface="Times New Roman" panose="02020603050405020304" pitchFamily="18" charset="0"/>
                <a:cs typeface="Times New Roman" panose="02020603050405020304" pitchFamily="18" charset="0"/>
              </a:rPr>
              <a:t>In 2016/17 alone, there were 24.7 million students enrolled in universities across the US. It is impossible to research all these students; the time spent would make the new device redundant, and the money spent on development would render the study useless.</a:t>
            </a:r>
          </a:p>
          <a:p>
            <a:pPr algn="just"/>
            <a:r>
              <a:rPr lang="en-US" sz="2600" dirty="0">
                <a:latin typeface="Times New Roman" panose="02020603050405020304" pitchFamily="18" charset="0"/>
                <a:cs typeface="Times New Roman" panose="02020603050405020304" pitchFamily="18" charset="0"/>
              </a:rPr>
              <a:t>Creating a sample of universities by geographical location and further creating a sample of these students from these universities provides a large enough number of students for research.</a:t>
            </a:r>
          </a:p>
        </p:txBody>
      </p:sp>
      <p:sp>
        <p:nvSpPr>
          <p:cNvPr id="8" name="Title 1">
            <a:extLst>
              <a:ext uri="{FF2B5EF4-FFF2-40B4-BE49-F238E27FC236}">
                <a16:creationId xmlns:a16="http://schemas.microsoft.com/office/drawing/2014/main" id="{204F4DED-CF40-9613-5AF4-FBF014316287}"/>
              </a:ext>
            </a:extLst>
          </p:cNvPr>
          <p:cNvSpPr txBox="1">
            <a:spLocks/>
          </p:cNvSpPr>
          <p:nvPr/>
        </p:nvSpPr>
        <p:spPr>
          <a:xfrm>
            <a:off x="2996985" y="408715"/>
            <a:ext cx="5289064" cy="5355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i="1" u="sng" dirty="0">
                <a:solidFill>
                  <a:srgbClr val="FFFF00"/>
                </a:solidFill>
                <a:latin typeface="+mn-lt"/>
                <a:ea typeface="+mn-ea"/>
                <a:cs typeface="+mn-cs"/>
              </a:rPr>
              <a:t>WHY SAMPLING REQUIRED </a:t>
            </a:r>
          </a:p>
        </p:txBody>
      </p:sp>
    </p:spTree>
    <p:extLst>
      <p:ext uri="{BB962C8B-B14F-4D97-AF65-F5344CB8AC3E}">
        <p14:creationId xmlns:p14="http://schemas.microsoft.com/office/powerpoint/2010/main" val="2066532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p:cNvSpPr txBox="1">
            <a:spLocks noGrp="1"/>
          </p:cNvSpPr>
          <p:nvPr>
            <p:ph type="title"/>
          </p:nvPr>
        </p:nvSpPr>
        <p:spPr>
          <a:xfrm>
            <a:off x="3071645" y="346383"/>
            <a:ext cx="540169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TYPES OF SAMPLING</a:t>
            </a:r>
          </a:p>
        </p:txBody>
      </p:sp>
      <p:sp>
        <p:nvSpPr>
          <p:cNvPr id="2" name="object 2">
            <a:extLst>
              <a:ext uri="{FF2B5EF4-FFF2-40B4-BE49-F238E27FC236}">
                <a16:creationId xmlns:a16="http://schemas.microsoft.com/office/drawing/2014/main" id="{D92C4182-87BD-589E-4AFC-4782633B3AD7}"/>
              </a:ext>
            </a:extLst>
          </p:cNvPr>
          <p:cNvSpPr txBox="1">
            <a:spLocks/>
          </p:cNvSpPr>
          <p:nvPr/>
        </p:nvSpPr>
        <p:spPr>
          <a:xfrm>
            <a:off x="442913" y="984120"/>
            <a:ext cx="4137251" cy="5078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000" b="1" u="sng" spc="-5" dirty="0">
                <a:solidFill>
                  <a:srgbClr val="FFFF00"/>
                </a:solidFill>
                <a:latin typeface="Times New Roman" panose="02020603050405020304" pitchFamily="18" charset="0"/>
                <a:cs typeface="Times New Roman" panose="02020603050405020304" pitchFamily="18" charset="0"/>
              </a:rPr>
              <a:t>1. Probability </a:t>
            </a:r>
            <a:r>
              <a:rPr lang="en-US" altLang="zh-CN" sz="3000" b="1" u="sng" dirty="0">
                <a:solidFill>
                  <a:srgbClr val="FFFF00"/>
                </a:solidFill>
                <a:latin typeface="Times New Roman" panose="02020603050405020304" pitchFamily="18" charset="0"/>
                <a:cs typeface="Times New Roman" panose="02020603050405020304" pitchFamily="18" charset="0"/>
              </a:rPr>
              <a:t>Sampling</a:t>
            </a:r>
            <a:endParaRPr lang="en-US" sz="3000" b="1" u="sng" dirty="0">
              <a:solidFill>
                <a:srgbClr val="FFFF00"/>
              </a:solidFill>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CC2B318B-D926-56A2-0791-FBB158FC16E9}"/>
              </a:ext>
            </a:extLst>
          </p:cNvPr>
          <p:cNvSpPr txBox="1"/>
          <p:nvPr/>
        </p:nvSpPr>
        <p:spPr>
          <a:xfrm>
            <a:off x="626864" y="1594157"/>
            <a:ext cx="4916686" cy="5170646"/>
          </a:xfrm>
          <a:prstGeom prst="rect">
            <a:avLst/>
          </a:prstGeom>
          <a:solidFill>
            <a:schemeClr val="bg1"/>
          </a:solidFill>
        </p:spPr>
        <p:txBody>
          <a:bodyPr wrap="square">
            <a:spAutoFit/>
          </a:bodyPr>
          <a:lstStyle/>
          <a:p>
            <a:pPr algn="just"/>
            <a:r>
              <a:rPr lang="en-US" altLang="zh-CN" sz="3000" dirty="0">
                <a:latin typeface="Times New Roman" panose="02020603050405020304" pitchFamily="18" charset="0"/>
                <a:cs typeface="Times New Roman" panose="02020603050405020304" pitchFamily="18" charset="0"/>
              </a:rPr>
              <a:t>Probability sampling is a method of deriving a sample where the objects are selected from a population-based on probability theory. This method includes everyone in the population, and everyone has an equal chance of being selected. Hence, there is no bias whatsoever in this type of sample.</a:t>
            </a:r>
            <a:endParaRPr lang="zh-CN" altLang="en-US" sz="3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9F5122DE-0475-7F53-78D1-0C8E8190D074}"/>
              </a:ext>
            </a:extLst>
          </p:cNvPr>
          <p:cNvPicPr>
            <a:picLocks noChangeAspect="1"/>
          </p:cNvPicPr>
          <p:nvPr/>
        </p:nvPicPr>
        <p:blipFill>
          <a:blip r:embed="rId3"/>
          <a:stretch>
            <a:fillRect/>
          </a:stretch>
        </p:blipFill>
        <p:spPr>
          <a:xfrm>
            <a:off x="5722145" y="1594157"/>
            <a:ext cx="6322218" cy="5048287"/>
          </a:xfrm>
          <a:prstGeom prst="rect">
            <a:avLst/>
          </a:prstGeom>
        </p:spPr>
      </p:pic>
    </p:spTree>
    <p:extLst>
      <p:ext uri="{BB962C8B-B14F-4D97-AF65-F5344CB8AC3E}">
        <p14:creationId xmlns:p14="http://schemas.microsoft.com/office/powerpoint/2010/main" val="1969099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BBE7D-10AF-D8BC-1200-3AE010B00A75}"/>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95808542-6EB3-5DD5-7087-48B98EC1EB93}"/>
              </a:ext>
            </a:extLst>
          </p:cNvPr>
          <p:cNvSpPr txBox="1">
            <a:spLocks noGrp="1"/>
          </p:cNvSpPr>
          <p:nvPr>
            <p:ph type="title"/>
          </p:nvPr>
        </p:nvSpPr>
        <p:spPr>
          <a:xfrm>
            <a:off x="3071645" y="346383"/>
            <a:ext cx="540169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TYPES OF SAMPLING</a:t>
            </a:r>
          </a:p>
        </p:txBody>
      </p:sp>
      <p:sp>
        <p:nvSpPr>
          <p:cNvPr id="2" name="object 2">
            <a:extLst>
              <a:ext uri="{FF2B5EF4-FFF2-40B4-BE49-F238E27FC236}">
                <a16:creationId xmlns:a16="http://schemas.microsoft.com/office/drawing/2014/main" id="{D4D3DD02-E3B9-2A23-434C-223442791BF2}"/>
              </a:ext>
            </a:extLst>
          </p:cNvPr>
          <p:cNvSpPr txBox="1">
            <a:spLocks/>
          </p:cNvSpPr>
          <p:nvPr/>
        </p:nvSpPr>
        <p:spPr>
          <a:xfrm>
            <a:off x="626864" y="1511627"/>
            <a:ext cx="4916686" cy="480131"/>
          </a:xfrm>
          <a:prstGeom prst="rect">
            <a:avLst/>
          </a:prstGeom>
          <a:solidFill>
            <a:schemeClr val="bg1"/>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800" spc="-5" dirty="0">
                <a:solidFill>
                  <a:srgbClr val="00B050"/>
                </a:solidFill>
                <a:latin typeface="Times New Roman" panose="02020603050405020304" pitchFamily="18" charset="0"/>
                <a:cs typeface="Times New Roman" panose="02020603050405020304" pitchFamily="18" charset="0"/>
              </a:rPr>
              <a:t>1.1 </a:t>
            </a:r>
            <a:r>
              <a:rPr lang="en-US" altLang="zh-CN" sz="2800" b="1" spc="-5" dirty="0">
                <a:solidFill>
                  <a:srgbClr val="00B050"/>
                </a:solidFill>
                <a:latin typeface="Times New Roman" panose="02020603050405020304" pitchFamily="18" charset="0"/>
                <a:cs typeface="Times New Roman" panose="02020603050405020304" pitchFamily="18" charset="0"/>
              </a:rPr>
              <a:t> </a:t>
            </a:r>
            <a:r>
              <a:rPr lang="en-US" altLang="zh-CN" sz="2800" spc="-5" dirty="0">
                <a:solidFill>
                  <a:srgbClr val="00B050"/>
                </a:solidFill>
                <a:latin typeface="Times New Roman" panose="02020603050405020304" pitchFamily="18" charset="0"/>
                <a:cs typeface="Times New Roman" panose="02020603050405020304" pitchFamily="18" charset="0"/>
              </a:rPr>
              <a:t>Simple random sampling</a:t>
            </a:r>
            <a:endParaRPr lang="en-US" sz="2800" dirty="0">
              <a:solidFill>
                <a:srgbClr val="00B050"/>
              </a:solidFill>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9A49AD97-3BA1-5FFE-BCA5-A2EBB46D03BA}"/>
              </a:ext>
            </a:extLst>
          </p:cNvPr>
          <p:cNvSpPr txBox="1"/>
          <p:nvPr/>
        </p:nvSpPr>
        <p:spPr>
          <a:xfrm>
            <a:off x="626864" y="2029926"/>
            <a:ext cx="4916686" cy="4708981"/>
          </a:xfrm>
          <a:prstGeom prst="rect">
            <a:avLst/>
          </a:prstGeom>
          <a:solidFill>
            <a:schemeClr val="bg1"/>
          </a:solidFill>
        </p:spPr>
        <p:txBody>
          <a:bodyPr wrap="square">
            <a:spAutoFit/>
          </a:bodyPr>
          <a:lstStyle/>
          <a:p>
            <a:pPr algn="just"/>
            <a:r>
              <a:rPr lang="en-US" altLang="zh-CN" sz="3000" dirty="0">
                <a:latin typeface="Times New Roman" panose="02020603050405020304" pitchFamily="18" charset="0"/>
                <a:cs typeface="Times New Roman" panose="02020603050405020304" pitchFamily="18" charset="0"/>
              </a:rPr>
              <a:t>The most straightforward way of selecting a sample is simple random sampling. In this method, each member has an equal chance of participating in the study. The objects in this sample population are chosen randomly, and each member has the same probability of being selected. </a:t>
            </a:r>
            <a:endParaRPr lang="zh-CN" altLang="en-US" sz="3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2A51C34-8CCC-BC5B-46C2-82CC502C95B4}"/>
              </a:ext>
            </a:extLst>
          </p:cNvPr>
          <p:cNvSpPr txBox="1"/>
          <p:nvPr/>
        </p:nvSpPr>
        <p:spPr>
          <a:xfrm>
            <a:off x="6457697" y="1566683"/>
            <a:ext cx="5107439" cy="4708981"/>
          </a:xfrm>
          <a:prstGeom prst="rect">
            <a:avLst/>
          </a:prstGeom>
          <a:solidFill>
            <a:schemeClr val="bg1"/>
          </a:solidFill>
        </p:spPr>
        <p:txBody>
          <a:bodyPr wrap="square">
            <a:spAutoFit/>
          </a:bodyPr>
          <a:lstStyle/>
          <a:p>
            <a:pPr algn="just"/>
            <a:r>
              <a:rPr kumimoji="0" lang="en-US" altLang="zh-CN" sz="3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For example</a:t>
            </a:r>
            <a:r>
              <a:rPr kumimoji="0" lang="en-US" altLang="zh-CN" sz="30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3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if a university dean would like to collect feedback from students about their perception of the teachers and level of education, all 1000 students in the University could be a part of this sample. Any 100 students can be selected randomly to be a part of this sample.</a:t>
            </a:r>
            <a:endParaRPr lang="zh-CN" altLang="en-US" dirty="0"/>
          </a:p>
        </p:txBody>
      </p:sp>
      <p:sp>
        <p:nvSpPr>
          <p:cNvPr id="7" name="object 2">
            <a:extLst>
              <a:ext uri="{FF2B5EF4-FFF2-40B4-BE49-F238E27FC236}">
                <a16:creationId xmlns:a16="http://schemas.microsoft.com/office/drawing/2014/main" id="{511A58DC-1E36-594B-A7E2-AD150BA4DB74}"/>
              </a:ext>
            </a:extLst>
          </p:cNvPr>
          <p:cNvSpPr txBox="1">
            <a:spLocks/>
          </p:cNvSpPr>
          <p:nvPr/>
        </p:nvSpPr>
        <p:spPr>
          <a:xfrm>
            <a:off x="500063" y="942855"/>
            <a:ext cx="4137251" cy="5078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000" b="1" u="sng" spc="-5" dirty="0">
                <a:solidFill>
                  <a:srgbClr val="FFFF00"/>
                </a:solidFill>
                <a:latin typeface="Times New Roman" panose="02020603050405020304" pitchFamily="18" charset="0"/>
                <a:cs typeface="Times New Roman" panose="02020603050405020304" pitchFamily="18" charset="0"/>
              </a:rPr>
              <a:t>1. Probability </a:t>
            </a:r>
            <a:r>
              <a:rPr lang="en-US" altLang="zh-CN" sz="3000" b="1" u="sng" dirty="0">
                <a:solidFill>
                  <a:srgbClr val="FFFF00"/>
                </a:solidFill>
                <a:latin typeface="Times New Roman" panose="02020603050405020304" pitchFamily="18" charset="0"/>
                <a:cs typeface="Times New Roman" panose="02020603050405020304" pitchFamily="18" charset="0"/>
              </a:rPr>
              <a:t>Sampling</a:t>
            </a:r>
            <a:endParaRPr lang="en-US" sz="3000" b="1" u="sng" dirty="0">
              <a:solidFill>
                <a:srgbClr val="FFFF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325530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18FB3-8294-208D-3517-EF7C318654FB}"/>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D0494B34-7829-26B2-04CC-BBC711611292}"/>
              </a:ext>
            </a:extLst>
          </p:cNvPr>
          <p:cNvSpPr txBox="1">
            <a:spLocks noGrp="1"/>
          </p:cNvSpPr>
          <p:nvPr>
            <p:ph type="title"/>
          </p:nvPr>
        </p:nvSpPr>
        <p:spPr>
          <a:xfrm>
            <a:off x="3071645" y="346383"/>
            <a:ext cx="540169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TYPES OF SAMPLING</a:t>
            </a:r>
          </a:p>
        </p:txBody>
      </p:sp>
      <p:sp>
        <p:nvSpPr>
          <p:cNvPr id="2" name="object 2">
            <a:extLst>
              <a:ext uri="{FF2B5EF4-FFF2-40B4-BE49-F238E27FC236}">
                <a16:creationId xmlns:a16="http://schemas.microsoft.com/office/drawing/2014/main" id="{21FB5A08-6EBB-BF03-8A81-3705A89D3A1E}"/>
              </a:ext>
            </a:extLst>
          </p:cNvPr>
          <p:cNvSpPr txBox="1">
            <a:spLocks/>
          </p:cNvSpPr>
          <p:nvPr/>
        </p:nvSpPr>
        <p:spPr>
          <a:xfrm>
            <a:off x="626864" y="1511627"/>
            <a:ext cx="4916686" cy="480131"/>
          </a:xfrm>
          <a:prstGeom prst="rect">
            <a:avLst/>
          </a:prstGeom>
          <a:solidFill>
            <a:schemeClr val="bg1"/>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spc="-5" dirty="0">
                <a:solidFill>
                  <a:srgbClr val="00B050"/>
                </a:solidFill>
                <a:latin typeface="Times New Roman" panose="02020603050405020304" pitchFamily="18" charset="0"/>
                <a:cs typeface="Times New Roman" panose="02020603050405020304" pitchFamily="18" charset="0"/>
              </a:rPr>
              <a:t>1.2 Cluster Sampling</a:t>
            </a:r>
            <a:endParaRPr lang="en-US" sz="2800" dirty="0">
              <a:solidFill>
                <a:srgbClr val="00B050"/>
              </a:solidFill>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575CF8AC-9DB8-CAC4-6B6B-64F7BB0F61FA}"/>
              </a:ext>
            </a:extLst>
          </p:cNvPr>
          <p:cNvSpPr txBox="1"/>
          <p:nvPr/>
        </p:nvSpPr>
        <p:spPr>
          <a:xfrm>
            <a:off x="626864" y="2029926"/>
            <a:ext cx="4916686" cy="4493538"/>
          </a:xfrm>
          <a:prstGeom prst="rect">
            <a:avLst/>
          </a:prstGeom>
          <a:solidFill>
            <a:schemeClr val="bg1"/>
          </a:solidFill>
        </p:spPr>
        <p:txBody>
          <a:bodyPr wrap="square">
            <a:spAutoFit/>
          </a:bodyPr>
          <a:lstStyle/>
          <a:p>
            <a:pPr algn="just"/>
            <a:r>
              <a:rPr lang="en-US" altLang="zh-CN" sz="2600" dirty="0">
                <a:latin typeface="Times New Roman" panose="02020603050405020304" pitchFamily="18" charset="0"/>
                <a:cs typeface="Times New Roman" panose="02020603050405020304" pitchFamily="18" charset="0"/>
              </a:rPr>
              <a:t>Cluster sampling: Cluster sampling is a type of sampling method where the respondent population is divided into equal clusters. Clusters are identified and included in a sample based on defining demographic parameters such as age, location, sex, etc. This makes it extremely easy for a survey creator to derive practical inferences from the feedback. </a:t>
            </a:r>
            <a:endParaRPr lang="zh-CN" altLang="en-US" sz="2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595DD31-57C8-ADEA-2886-3C6054301782}"/>
              </a:ext>
            </a:extLst>
          </p:cNvPr>
          <p:cNvSpPr txBox="1"/>
          <p:nvPr/>
        </p:nvSpPr>
        <p:spPr>
          <a:xfrm>
            <a:off x="6457697" y="1566683"/>
            <a:ext cx="5107439" cy="4493538"/>
          </a:xfrm>
          <a:prstGeom prst="rect">
            <a:avLst/>
          </a:prstGeom>
          <a:solidFill>
            <a:schemeClr val="bg1"/>
          </a:solidFill>
        </p:spPr>
        <p:txBody>
          <a:bodyPr wrap="square">
            <a:spAutoFit/>
          </a:bodyPr>
          <a:lstStyle/>
          <a:p>
            <a:pPr algn="just"/>
            <a:r>
              <a:rPr kumimoji="0" lang="en-US" altLang="zh-CN" sz="2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For example, </a:t>
            </a:r>
            <a:r>
              <a:rPr kumimoji="0" lang="en-US" altLang="zh-CN" sz="2600" b="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if the Food and Drug Administration wants to collect data about adverse side effects from drugs, they can divide the mainland US into distinctive cluster analysis, like states. Research studies are then administered to respondents in these clusters. This type of generating a sample makes the data collection in-depth and provides easy-to-consume and act-upon, insights.</a:t>
            </a:r>
            <a:endParaRPr lang="zh-CN" altLang="en-US" sz="2600" dirty="0"/>
          </a:p>
        </p:txBody>
      </p:sp>
      <p:sp>
        <p:nvSpPr>
          <p:cNvPr id="7" name="object 2">
            <a:extLst>
              <a:ext uri="{FF2B5EF4-FFF2-40B4-BE49-F238E27FC236}">
                <a16:creationId xmlns:a16="http://schemas.microsoft.com/office/drawing/2014/main" id="{E5FE8737-92EA-58CF-C58F-ABD6A4457C07}"/>
              </a:ext>
            </a:extLst>
          </p:cNvPr>
          <p:cNvSpPr txBox="1">
            <a:spLocks/>
          </p:cNvSpPr>
          <p:nvPr/>
        </p:nvSpPr>
        <p:spPr>
          <a:xfrm>
            <a:off x="500063" y="942855"/>
            <a:ext cx="4137251" cy="5078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000" b="1" u="sng" spc="-5" dirty="0">
                <a:solidFill>
                  <a:srgbClr val="FFFF00"/>
                </a:solidFill>
                <a:latin typeface="Times New Roman" panose="02020603050405020304" pitchFamily="18" charset="0"/>
                <a:cs typeface="Times New Roman" panose="02020603050405020304" pitchFamily="18" charset="0"/>
              </a:rPr>
              <a:t>1. Probability </a:t>
            </a:r>
            <a:r>
              <a:rPr lang="en-US" altLang="zh-CN" sz="3000" b="1" u="sng" dirty="0">
                <a:solidFill>
                  <a:srgbClr val="FFFF00"/>
                </a:solidFill>
                <a:latin typeface="Times New Roman" panose="02020603050405020304" pitchFamily="18" charset="0"/>
                <a:cs typeface="Times New Roman" panose="02020603050405020304" pitchFamily="18" charset="0"/>
              </a:rPr>
              <a:t>Sampling</a:t>
            </a:r>
            <a:endParaRPr lang="en-US" sz="3000" b="1" u="sng" dirty="0">
              <a:solidFill>
                <a:srgbClr val="FFFF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559904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1EEB4-0164-3F2D-4216-E24594D68367}"/>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5B5C575A-5361-0549-37BE-8ED3CBE812A3}"/>
              </a:ext>
            </a:extLst>
          </p:cNvPr>
          <p:cNvSpPr txBox="1">
            <a:spLocks noGrp="1"/>
          </p:cNvSpPr>
          <p:nvPr>
            <p:ph type="title"/>
          </p:nvPr>
        </p:nvSpPr>
        <p:spPr>
          <a:xfrm>
            <a:off x="3071645" y="346383"/>
            <a:ext cx="540169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TYPES OF SAMPLING</a:t>
            </a:r>
          </a:p>
        </p:txBody>
      </p:sp>
      <p:sp>
        <p:nvSpPr>
          <p:cNvPr id="2" name="object 2">
            <a:extLst>
              <a:ext uri="{FF2B5EF4-FFF2-40B4-BE49-F238E27FC236}">
                <a16:creationId xmlns:a16="http://schemas.microsoft.com/office/drawing/2014/main" id="{4142A410-EDC6-B0CE-C0EC-7761FE0B174C}"/>
              </a:ext>
            </a:extLst>
          </p:cNvPr>
          <p:cNvSpPr txBox="1">
            <a:spLocks/>
          </p:cNvSpPr>
          <p:nvPr/>
        </p:nvSpPr>
        <p:spPr>
          <a:xfrm>
            <a:off x="626864" y="1511627"/>
            <a:ext cx="4916686" cy="480131"/>
          </a:xfrm>
          <a:prstGeom prst="rect">
            <a:avLst/>
          </a:prstGeom>
          <a:solidFill>
            <a:schemeClr val="bg1"/>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spc="-5" dirty="0">
                <a:solidFill>
                  <a:srgbClr val="00B050"/>
                </a:solidFill>
                <a:latin typeface="Times New Roman" panose="02020603050405020304" pitchFamily="18" charset="0"/>
                <a:cs typeface="Times New Roman" panose="02020603050405020304" pitchFamily="18" charset="0"/>
              </a:rPr>
              <a:t>1.3</a:t>
            </a:r>
            <a:r>
              <a:rPr lang="en-US" altLang="zh-CN" sz="2800" b="1" spc="-5" dirty="0">
                <a:solidFill>
                  <a:srgbClr val="00B050"/>
                </a:solidFill>
                <a:latin typeface="Times New Roman" panose="02020603050405020304" pitchFamily="18" charset="0"/>
                <a:cs typeface="Times New Roman" panose="02020603050405020304" pitchFamily="18" charset="0"/>
              </a:rPr>
              <a:t> </a:t>
            </a:r>
            <a:r>
              <a:rPr lang="en-US" altLang="zh-CN" sz="2800" dirty="0">
                <a:solidFill>
                  <a:srgbClr val="00B050"/>
                </a:solidFill>
                <a:latin typeface="Times New Roman" panose="02020603050405020304" pitchFamily="18" charset="0"/>
                <a:cs typeface="Times New Roman" panose="02020603050405020304" pitchFamily="18" charset="0"/>
              </a:rPr>
              <a:t>Systematic Sampling</a:t>
            </a:r>
            <a:endParaRPr lang="en-US" sz="2800" b="1" dirty="0">
              <a:solidFill>
                <a:srgbClr val="00B050"/>
              </a:solidFill>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CB743768-CA63-8432-54DD-98B3BDE084F3}"/>
              </a:ext>
            </a:extLst>
          </p:cNvPr>
          <p:cNvSpPr txBox="1"/>
          <p:nvPr/>
        </p:nvSpPr>
        <p:spPr>
          <a:xfrm>
            <a:off x="626864" y="2029926"/>
            <a:ext cx="4916686" cy="3293209"/>
          </a:xfrm>
          <a:prstGeom prst="rect">
            <a:avLst/>
          </a:prstGeom>
          <a:solidFill>
            <a:schemeClr val="bg1"/>
          </a:solidFill>
        </p:spPr>
        <p:txBody>
          <a:bodyPr wrap="square">
            <a:spAutoFit/>
          </a:bodyPr>
          <a:lstStyle/>
          <a:p>
            <a:pPr algn="just"/>
            <a:r>
              <a:rPr lang="en-US" altLang="zh-CN" sz="2600" dirty="0">
                <a:latin typeface="Times New Roman" panose="02020603050405020304" pitchFamily="18" charset="0"/>
                <a:cs typeface="Times New Roman" panose="02020603050405020304" pitchFamily="18" charset="0"/>
              </a:rPr>
              <a:t>Systematic sampling is a sampling method where the researcher chooses respondents at equal intervals from a population. The approach to selecting the sample is to pick a starting point and then pick respondents at a pre-defined sample interval. </a:t>
            </a:r>
            <a:endParaRPr lang="zh-CN" altLang="en-US" sz="2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D11EEC0-9692-45AF-941F-77F6D965E2A0}"/>
              </a:ext>
            </a:extLst>
          </p:cNvPr>
          <p:cNvSpPr txBox="1"/>
          <p:nvPr/>
        </p:nvSpPr>
        <p:spPr>
          <a:xfrm>
            <a:off x="6457697" y="1566683"/>
            <a:ext cx="5107439" cy="3293209"/>
          </a:xfrm>
          <a:prstGeom prst="rect">
            <a:avLst/>
          </a:prstGeom>
          <a:solidFill>
            <a:schemeClr val="bg1"/>
          </a:solidFill>
        </p:spPr>
        <p:txBody>
          <a:bodyPr wrap="square">
            <a:spAutoFit/>
          </a:bodyPr>
          <a:lstStyle/>
          <a:p>
            <a:pPr algn="just"/>
            <a:r>
              <a:rPr kumimoji="0" lang="en-US" altLang="zh-CN" sz="2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For example, </a:t>
            </a:r>
            <a:r>
              <a:rPr kumimoji="0" lang="en-US" altLang="zh-CN" sz="260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while selecting 1,000 volunteers for the Olympics from an application list of 10,000 people, each applicant is given a count of 1 to 10,000. Then starting from 1 and selecting each respondent with an interval of 10, a sample of 1,000 volunteers can be obtained.</a:t>
            </a:r>
            <a:endParaRPr lang="zh-CN" altLang="en-US" sz="2600" dirty="0"/>
          </a:p>
        </p:txBody>
      </p:sp>
      <p:sp>
        <p:nvSpPr>
          <p:cNvPr id="7" name="object 2">
            <a:extLst>
              <a:ext uri="{FF2B5EF4-FFF2-40B4-BE49-F238E27FC236}">
                <a16:creationId xmlns:a16="http://schemas.microsoft.com/office/drawing/2014/main" id="{037589B3-7761-E162-2594-AF345C6D3902}"/>
              </a:ext>
            </a:extLst>
          </p:cNvPr>
          <p:cNvSpPr txBox="1">
            <a:spLocks/>
          </p:cNvSpPr>
          <p:nvPr/>
        </p:nvSpPr>
        <p:spPr>
          <a:xfrm>
            <a:off x="500063" y="942855"/>
            <a:ext cx="4137251" cy="5078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000" b="1" u="sng" spc="-5" dirty="0">
                <a:solidFill>
                  <a:srgbClr val="FFFF00"/>
                </a:solidFill>
                <a:latin typeface="Times New Roman" panose="02020603050405020304" pitchFamily="18" charset="0"/>
                <a:cs typeface="Times New Roman" panose="02020603050405020304" pitchFamily="18" charset="0"/>
              </a:rPr>
              <a:t>1. Probability </a:t>
            </a:r>
            <a:r>
              <a:rPr lang="en-US" altLang="zh-CN" sz="3000" b="1" u="sng" dirty="0">
                <a:solidFill>
                  <a:srgbClr val="FFFF00"/>
                </a:solidFill>
                <a:latin typeface="Times New Roman" panose="02020603050405020304" pitchFamily="18" charset="0"/>
                <a:cs typeface="Times New Roman" panose="02020603050405020304" pitchFamily="18" charset="0"/>
              </a:rPr>
              <a:t>Sampling</a:t>
            </a:r>
            <a:endParaRPr lang="en-US" sz="3000" b="1" u="sng" dirty="0">
              <a:solidFill>
                <a:srgbClr val="FFFF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562599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58DA7-6A1E-5A79-F7DA-AC57272FE4F1}"/>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3BB8B078-6549-4EE6-5150-2C95BC9B5230}"/>
              </a:ext>
            </a:extLst>
          </p:cNvPr>
          <p:cNvSpPr txBox="1">
            <a:spLocks noGrp="1"/>
          </p:cNvSpPr>
          <p:nvPr>
            <p:ph type="title"/>
          </p:nvPr>
        </p:nvSpPr>
        <p:spPr>
          <a:xfrm>
            <a:off x="3071645" y="346383"/>
            <a:ext cx="540169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TYPES OF SAMPLING</a:t>
            </a:r>
          </a:p>
        </p:txBody>
      </p:sp>
      <p:sp>
        <p:nvSpPr>
          <p:cNvPr id="2" name="object 2">
            <a:extLst>
              <a:ext uri="{FF2B5EF4-FFF2-40B4-BE49-F238E27FC236}">
                <a16:creationId xmlns:a16="http://schemas.microsoft.com/office/drawing/2014/main" id="{306A1CC7-E960-CBE3-F4F1-1C27D19A0F2C}"/>
              </a:ext>
            </a:extLst>
          </p:cNvPr>
          <p:cNvSpPr txBox="1">
            <a:spLocks/>
          </p:cNvSpPr>
          <p:nvPr/>
        </p:nvSpPr>
        <p:spPr>
          <a:xfrm>
            <a:off x="626864" y="1511627"/>
            <a:ext cx="4916686" cy="480131"/>
          </a:xfrm>
          <a:prstGeom prst="rect">
            <a:avLst/>
          </a:prstGeom>
          <a:solidFill>
            <a:schemeClr val="bg1"/>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spc="-5" dirty="0">
                <a:solidFill>
                  <a:srgbClr val="00B050"/>
                </a:solidFill>
                <a:latin typeface="Times New Roman" panose="02020603050405020304" pitchFamily="18" charset="0"/>
                <a:cs typeface="Times New Roman" panose="02020603050405020304" pitchFamily="18" charset="0"/>
              </a:rPr>
              <a:t>1</a:t>
            </a:r>
            <a:r>
              <a:rPr lang="en-US" altLang="zh-CN" sz="2800" b="1" spc="-5" dirty="0">
                <a:solidFill>
                  <a:srgbClr val="00B050"/>
                </a:solidFill>
                <a:latin typeface="Times New Roman" panose="02020603050405020304" pitchFamily="18" charset="0"/>
                <a:cs typeface="Times New Roman" panose="02020603050405020304" pitchFamily="18" charset="0"/>
              </a:rPr>
              <a:t>.</a:t>
            </a:r>
            <a:r>
              <a:rPr lang="en-US" altLang="zh-CN" sz="2800" spc="-5" dirty="0">
                <a:solidFill>
                  <a:srgbClr val="00B050"/>
                </a:solidFill>
                <a:latin typeface="Times New Roman" panose="02020603050405020304" pitchFamily="18" charset="0"/>
                <a:cs typeface="Times New Roman" panose="02020603050405020304" pitchFamily="18" charset="0"/>
              </a:rPr>
              <a:t>4</a:t>
            </a:r>
            <a:r>
              <a:rPr lang="en-US" altLang="zh-CN" sz="2800" b="1" spc="-5" dirty="0">
                <a:solidFill>
                  <a:srgbClr val="00B050"/>
                </a:solidFill>
                <a:latin typeface="Times New Roman" panose="02020603050405020304" pitchFamily="18" charset="0"/>
                <a:cs typeface="Times New Roman" panose="02020603050405020304" pitchFamily="18" charset="0"/>
              </a:rPr>
              <a:t> </a:t>
            </a:r>
            <a:r>
              <a:rPr lang="en-US" altLang="zh-CN" sz="2800" dirty="0">
                <a:solidFill>
                  <a:srgbClr val="00B050"/>
                </a:solidFill>
                <a:latin typeface="Times New Roman" panose="02020603050405020304" pitchFamily="18" charset="0"/>
                <a:cs typeface="Times New Roman" panose="02020603050405020304" pitchFamily="18" charset="0"/>
              </a:rPr>
              <a:t>Stratified random sampling</a:t>
            </a:r>
            <a:endParaRPr lang="en-US" sz="2800" b="1" dirty="0">
              <a:solidFill>
                <a:srgbClr val="00B050"/>
              </a:solidFill>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EB41B584-326B-45BD-EBDB-C0F4CF53C6FB}"/>
              </a:ext>
            </a:extLst>
          </p:cNvPr>
          <p:cNvSpPr txBox="1"/>
          <p:nvPr/>
        </p:nvSpPr>
        <p:spPr>
          <a:xfrm>
            <a:off x="626864" y="2029926"/>
            <a:ext cx="4916686" cy="3293209"/>
          </a:xfrm>
          <a:prstGeom prst="rect">
            <a:avLst/>
          </a:prstGeom>
          <a:solidFill>
            <a:schemeClr val="bg1"/>
          </a:solidFill>
        </p:spPr>
        <p:txBody>
          <a:bodyPr wrap="square">
            <a:spAutoFit/>
          </a:bodyPr>
          <a:lstStyle/>
          <a:p>
            <a:pPr algn="just"/>
            <a:r>
              <a:rPr lang="en-US" altLang="zh-CN" sz="2600" dirty="0">
                <a:latin typeface="Times New Roman" panose="02020603050405020304" pitchFamily="18" charset="0"/>
                <a:cs typeface="Times New Roman" panose="02020603050405020304" pitchFamily="18" charset="0"/>
              </a:rPr>
              <a:t>Stratified random sampling is a method of dividing the respondent population into distinctive but pre-defined parameters in the research design phase. In this method, the respondents don’t overlap but collectively represent the whole population. </a:t>
            </a:r>
            <a:endParaRPr lang="zh-CN" altLang="en-US" sz="2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961EF07-3342-EA17-BD69-9B30BA5FC277}"/>
              </a:ext>
            </a:extLst>
          </p:cNvPr>
          <p:cNvSpPr txBox="1"/>
          <p:nvPr/>
        </p:nvSpPr>
        <p:spPr>
          <a:xfrm>
            <a:off x="6457697" y="1566683"/>
            <a:ext cx="5107439" cy="3693319"/>
          </a:xfrm>
          <a:prstGeom prst="rect">
            <a:avLst/>
          </a:prstGeom>
          <a:solidFill>
            <a:schemeClr val="bg1"/>
          </a:solidFill>
        </p:spPr>
        <p:txBody>
          <a:bodyPr wrap="square">
            <a:spAutoFit/>
          </a:bodyPr>
          <a:lstStyle/>
          <a:p>
            <a:pPr algn="just"/>
            <a:r>
              <a:rPr kumimoji="0" lang="en-US" altLang="zh-CN" sz="2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For example, </a:t>
            </a:r>
            <a:r>
              <a:rPr kumimoji="0" lang="en-US" altLang="zh-CN" sz="260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a researcher looking to analyze people from different socioeconomic backgrounds can distinguish respondents by their annual salaries. This forms smaller groups of people or samples, and then some objects from these samples can be used for the research study.</a:t>
            </a:r>
            <a:endParaRPr lang="zh-CN" altLang="en-US" sz="2600" dirty="0"/>
          </a:p>
        </p:txBody>
      </p:sp>
      <p:sp>
        <p:nvSpPr>
          <p:cNvPr id="7" name="object 2">
            <a:extLst>
              <a:ext uri="{FF2B5EF4-FFF2-40B4-BE49-F238E27FC236}">
                <a16:creationId xmlns:a16="http://schemas.microsoft.com/office/drawing/2014/main" id="{184406C0-B2D2-61F8-7413-9A841BAB1E86}"/>
              </a:ext>
            </a:extLst>
          </p:cNvPr>
          <p:cNvSpPr txBox="1">
            <a:spLocks/>
          </p:cNvSpPr>
          <p:nvPr/>
        </p:nvSpPr>
        <p:spPr>
          <a:xfrm>
            <a:off x="500063" y="942855"/>
            <a:ext cx="4137251" cy="5078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000" b="1" u="sng" spc="-5" dirty="0">
                <a:solidFill>
                  <a:srgbClr val="FFFF00"/>
                </a:solidFill>
                <a:latin typeface="Times New Roman" panose="02020603050405020304" pitchFamily="18" charset="0"/>
                <a:cs typeface="Times New Roman" panose="02020603050405020304" pitchFamily="18" charset="0"/>
              </a:rPr>
              <a:t>1. Probability </a:t>
            </a:r>
            <a:r>
              <a:rPr lang="en-US" altLang="zh-CN" sz="3000" b="1" u="sng" dirty="0">
                <a:solidFill>
                  <a:srgbClr val="FFFF00"/>
                </a:solidFill>
                <a:latin typeface="Times New Roman" panose="02020603050405020304" pitchFamily="18" charset="0"/>
                <a:cs typeface="Times New Roman" panose="02020603050405020304" pitchFamily="18" charset="0"/>
              </a:rPr>
              <a:t>Sampling</a:t>
            </a:r>
            <a:endParaRPr lang="en-US" sz="3000" b="1" u="sng" dirty="0">
              <a:solidFill>
                <a:srgbClr val="FFFF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895552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AE583-386B-098D-B1AC-8F6B0D9C2946}"/>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8AE1825F-A47A-5610-C2A8-6E6A8BD1C3BB}"/>
              </a:ext>
            </a:extLst>
          </p:cNvPr>
          <p:cNvSpPr txBox="1">
            <a:spLocks noGrp="1"/>
          </p:cNvSpPr>
          <p:nvPr>
            <p:ph type="title"/>
          </p:nvPr>
        </p:nvSpPr>
        <p:spPr>
          <a:xfrm>
            <a:off x="3071645" y="346383"/>
            <a:ext cx="540169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TYPES OF SAMPLING</a:t>
            </a:r>
          </a:p>
        </p:txBody>
      </p:sp>
      <p:sp>
        <p:nvSpPr>
          <p:cNvPr id="4" name="TextBox 3">
            <a:extLst>
              <a:ext uri="{FF2B5EF4-FFF2-40B4-BE49-F238E27FC236}">
                <a16:creationId xmlns:a16="http://schemas.microsoft.com/office/drawing/2014/main" id="{829485EE-C0C5-464D-14E8-BC378BEE7DC3}"/>
              </a:ext>
            </a:extLst>
          </p:cNvPr>
          <p:cNvSpPr txBox="1"/>
          <p:nvPr/>
        </p:nvSpPr>
        <p:spPr>
          <a:xfrm>
            <a:off x="626864" y="2029926"/>
            <a:ext cx="4916686" cy="3323987"/>
          </a:xfrm>
          <a:prstGeom prst="rect">
            <a:avLst/>
          </a:prstGeom>
          <a:solidFill>
            <a:schemeClr val="bg1"/>
          </a:solidFill>
        </p:spPr>
        <p:txBody>
          <a:bodyPr wrap="square">
            <a:spAutoFit/>
          </a:bodyPr>
          <a:lstStyle/>
          <a:p>
            <a:pPr algn="just"/>
            <a:r>
              <a:rPr lang="en-US" altLang="zh-CN" sz="3000" dirty="0">
                <a:latin typeface="Times New Roman" panose="02020603050405020304" pitchFamily="18" charset="0"/>
                <a:cs typeface="Times New Roman" panose="02020603050405020304" pitchFamily="18" charset="0"/>
              </a:rPr>
              <a:t>The non-probability sampling method uses the researcher’s discretion to select a sample. This type of sample is derived mostly from the researcher’s or statistician’s ability to get to this sample.</a:t>
            </a:r>
            <a:endParaRPr lang="zh-CN" altLang="en-US" sz="3000" dirty="0">
              <a:latin typeface="Times New Roman" panose="02020603050405020304" pitchFamily="18" charset="0"/>
              <a:cs typeface="Times New Roman" panose="02020603050405020304" pitchFamily="18" charset="0"/>
            </a:endParaRPr>
          </a:p>
        </p:txBody>
      </p:sp>
      <p:sp>
        <p:nvSpPr>
          <p:cNvPr id="7" name="object 2">
            <a:extLst>
              <a:ext uri="{FF2B5EF4-FFF2-40B4-BE49-F238E27FC236}">
                <a16:creationId xmlns:a16="http://schemas.microsoft.com/office/drawing/2014/main" id="{E5E4C6FB-B7FB-0ED9-49C3-D135600F34C9}"/>
              </a:ext>
            </a:extLst>
          </p:cNvPr>
          <p:cNvSpPr txBox="1">
            <a:spLocks/>
          </p:cNvSpPr>
          <p:nvPr/>
        </p:nvSpPr>
        <p:spPr>
          <a:xfrm>
            <a:off x="500063" y="942855"/>
            <a:ext cx="5107439" cy="5078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000" b="1" u="sng" spc="-5" dirty="0">
                <a:solidFill>
                  <a:srgbClr val="FFFF00"/>
                </a:solidFill>
                <a:latin typeface="Times New Roman" panose="02020603050405020304" pitchFamily="18" charset="0"/>
                <a:cs typeface="Times New Roman" panose="02020603050405020304" pitchFamily="18" charset="0"/>
              </a:rPr>
              <a:t>2. Non-probability sampling</a:t>
            </a:r>
            <a:endParaRPr lang="en-US" sz="3000" b="1" u="sng" dirty="0">
              <a:solidFill>
                <a:srgbClr val="FFFF00"/>
              </a:solidFill>
              <a:latin typeface="Times New Roman" panose="02020603050405020304" pitchFamily="18" charset="0"/>
              <a:ea typeface="+mn-ea"/>
              <a:cs typeface="Times New Roman" panose="02020603050405020304" pitchFamily="18" charset="0"/>
            </a:endParaRPr>
          </a:p>
        </p:txBody>
      </p:sp>
      <p:pic>
        <p:nvPicPr>
          <p:cNvPr id="8" name="Picture 7">
            <a:extLst>
              <a:ext uri="{FF2B5EF4-FFF2-40B4-BE49-F238E27FC236}">
                <a16:creationId xmlns:a16="http://schemas.microsoft.com/office/drawing/2014/main" id="{DD5A1575-EE78-EA0C-0559-BF565285AFA1}"/>
              </a:ext>
            </a:extLst>
          </p:cNvPr>
          <p:cNvPicPr>
            <a:picLocks noChangeAspect="1"/>
          </p:cNvPicPr>
          <p:nvPr/>
        </p:nvPicPr>
        <p:blipFill>
          <a:blip r:embed="rId3"/>
          <a:stretch>
            <a:fillRect/>
          </a:stretch>
        </p:blipFill>
        <p:spPr>
          <a:xfrm>
            <a:off x="6029325" y="1201113"/>
            <a:ext cx="5805507" cy="5310504"/>
          </a:xfrm>
          <a:prstGeom prst="rect">
            <a:avLst/>
          </a:prstGeom>
        </p:spPr>
      </p:pic>
    </p:spTree>
    <p:extLst>
      <p:ext uri="{BB962C8B-B14F-4D97-AF65-F5344CB8AC3E}">
        <p14:creationId xmlns:p14="http://schemas.microsoft.com/office/powerpoint/2010/main" val="262905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618B1-EDB4-8629-3336-2D6547842736}"/>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A19C1EE0-ACAB-08E1-ED83-7DC6CA3FBCA6}"/>
              </a:ext>
            </a:extLst>
          </p:cNvPr>
          <p:cNvSpPr txBox="1">
            <a:spLocks noGrp="1"/>
          </p:cNvSpPr>
          <p:nvPr>
            <p:ph type="title"/>
          </p:nvPr>
        </p:nvSpPr>
        <p:spPr>
          <a:xfrm>
            <a:off x="3071645" y="346383"/>
            <a:ext cx="540169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TYPES OF SAMPLING</a:t>
            </a:r>
          </a:p>
        </p:txBody>
      </p:sp>
      <p:sp>
        <p:nvSpPr>
          <p:cNvPr id="2" name="object 2">
            <a:extLst>
              <a:ext uri="{FF2B5EF4-FFF2-40B4-BE49-F238E27FC236}">
                <a16:creationId xmlns:a16="http://schemas.microsoft.com/office/drawing/2014/main" id="{365CA9C8-E54F-9D49-3A70-C70558BB3AAA}"/>
              </a:ext>
            </a:extLst>
          </p:cNvPr>
          <p:cNvSpPr txBox="1">
            <a:spLocks/>
          </p:cNvSpPr>
          <p:nvPr/>
        </p:nvSpPr>
        <p:spPr>
          <a:xfrm>
            <a:off x="626864" y="1511627"/>
            <a:ext cx="4916686" cy="480131"/>
          </a:xfrm>
          <a:prstGeom prst="rect">
            <a:avLst/>
          </a:prstGeom>
          <a:solidFill>
            <a:schemeClr val="bg1"/>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spc="-5" dirty="0">
                <a:solidFill>
                  <a:srgbClr val="00B050"/>
                </a:solidFill>
                <a:latin typeface="Times New Roman" panose="02020603050405020304" pitchFamily="18" charset="0"/>
                <a:cs typeface="Times New Roman" panose="02020603050405020304" pitchFamily="18" charset="0"/>
              </a:rPr>
              <a:t>2.1</a:t>
            </a:r>
            <a:r>
              <a:rPr lang="en-US" altLang="zh-CN" sz="2800" b="1" spc="-5" dirty="0">
                <a:solidFill>
                  <a:srgbClr val="00B050"/>
                </a:solidFill>
                <a:latin typeface="Times New Roman" panose="02020603050405020304" pitchFamily="18" charset="0"/>
                <a:cs typeface="Times New Roman" panose="02020603050405020304" pitchFamily="18" charset="0"/>
              </a:rPr>
              <a:t> </a:t>
            </a:r>
            <a:r>
              <a:rPr lang="en-US" altLang="zh-CN" sz="2800" dirty="0">
                <a:solidFill>
                  <a:srgbClr val="00B050"/>
                </a:solidFill>
                <a:latin typeface="Times New Roman" panose="02020603050405020304" pitchFamily="18" charset="0"/>
                <a:cs typeface="Times New Roman" panose="02020603050405020304" pitchFamily="18" charset="0"/>
              </a:rPr>
              <a:t>Convenience sampling</a:t>
            </a:r>
            <a:endParaRPr lang="en-US" sz="2800" b="1" dirty="0">
              <a:solidFill>
                <a:srgbClr val="00B050"/>
              </a:solidFill>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2B869A74-646D-098E-DB30-373AEEAE8E0E}"/>
              </a:ext>
            </a:extLst>
          </p:cNvPr>
          <p:cNvSpPr txBox="1"/>
          <p:nvPr/>
        </p:nvSpPr>
        <p:spPr>
          <a:xfrm>
            <a:off x="626864" y="2029926"/>
            <a:ext cx="4916686" cy="4093428"/>
          </a:xfrm>
          <a:prstGeom prst="rect">
            <a:avLst/>
          </a:prstGeom>
          <a:solidFill>
            <a:schemeClr val="bg1"/>
          </a:solidFill>
        </p:spPr>
        <p:txBody>
          <a:bodyPr wrap="square">
            <a:spAutoFit/>
          </a:bodyPr>
          <a:lstStyle/>
          <a:p>
            <a:pPr algn="just"/>
            <a:r>
              <a:rPr lang="en-US" altLang="zh-CN" sz="2600" dirty="0">
                <a:latin typeface="Times New Roman" panose="02020603050405020304" pitchFamily="18" charset="0"/>
                <a:cs typeface="Times New Roman" panose="02020603050405020304" pitchFamily="18" charset="0"/>
              </a:rPr>
              <a:t>Convenience sampling, in easy terms, stands for the convenience of a researcher accessing a respondent. There is no scientific method for deriving this sample. Researchers have nearly no authority over selecting the sample elements, and it’s purely done based on proximity and not representativeness.</a:t>
            </a:r>
            <a:endParaRPr lang="zh-CN" altLang="en-US" sz="2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4C3F238-24B9-9C14-7769-007BEBB1C6FF}"/>
              </a:ext>
            </a:extLst>
          </p:cNvPr>
          <p:cNvSpPr txBox="1"/>
          <p:nvPr/>
        </p:nvSpPr>
        <p:spPr>
          <a:xfrm>
            <a:off x="6457697" y="1404975"/>
            <a:ext cx="5107439" cy="4893647"/>
          </a:xfrm>
          <a:prstGeom prst="rect">
            <a:avLst/>
          </a:prstGeom>
          <a:solidFill>
            <a:schemeClr val="bg1"/>
          </a:solidFill>
        </p:spPr>
        <p:txBody>
          <a:bodyPr wrap="square">
            <a:spAutoFit/>
          </a:bodyPr>
          <a:lstStyle/>
          <a:p>
            <a:pPr algn="just"/>
            <a:r>
              <a:rPr kumimoji="0" lang="en-US" altLang="zh-CN" sz="260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This non-probability sampling method is used when there is time and costs limitations in collecting feedback. </a:t>
            </a:r>
            <a:r>
              <a:rPr kumimoji="0" lang="en-US" altLang="zh-CN" sz="2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For example</a:t>
            </a:r>
            <a:r>
              <a:rPr kumimoji="0" lang="en-US" altLang="zh-CN" sz="260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 researchers that are conducting a </a:t>
            </a:r>
            <a:r>
              <a:rPr kumimoji="0" lang="en-US" altLang="zh-CN" sz="2600" i="0"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mall-intercept survey</a:t>
            </a:r>
            <a:r>
              <a:rPr kumimoji="0" lang="en-US" altLang="zh-CN" sz="260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 to understand the probability of using a fragrance from a perfume manufacturer. In this sampling method, the sample respondents are chosen based on their proximity to the survey desk and willingness to participate in the research.</a:t>
            </a:r>
            <a:endParaRPr lang="zh-CN" altLang="en-US" sz="2600" dirty="0"/>
          </a:p>
        </p:txBody>
      </p:sp>
      <p:sp>
        <p:nvSpPr>
          <p:cNvPr id="8" name="object 2">
            <a:extLst>
              <a:ext uri="{FF2B5EF4-FFF2-40B4-BE49-F238E27FC236}">
                <a16:creationId xmlns:a16="http://schemas.microsoft.com/office/drawing/2014/main" id="{FB5A5C50-68A1-2ACD-F2CC-18D4CD7A5892}"/>
              </a:ext>
            </a:extLst>
          </p:cNvPr>
          <p:cNvSpPr txBox="1">
            <a:spLocks/>
          </p:cNvSpPr>
          <p:nvPr/>
        </p:nvSpPr>
        <p:spPr>
          <a:xfrm>
            <a:off x="500063" y="942855"/>
            <a:ext cx="5107439" cy="5078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000" b="1" u="sng" spc="-5" dirty="0">
                <a:solidFill>
                  <a:srgbClr val="FFFF00"/>
                </a:solidFill>
                <a:latin typeface="Times New Roman" panose="02020603050405020304" pitchFamily="18" charset="0"/>
                <a:cs typeface="Times New Roman" panose="02020603050405020304" pitchFamily="18" charset="0"/>
              </a:rPr>
              <a:t>2. Non-probability sampling</a:t>
            </a:r>
            <a:endParaRPr lang="en-US" sz="3000" b="1" u="sng" dirty="0">
              <a:solidFill>
                <a:srgbClr val="FFFF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842850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D632E-1845-DEE2-FD51-A46842127498}"/>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BCFFD714-2F7C-9866-8488-49CB4869DC1F}"/>
              </a:ext>
            </a:extLst>
          </p:cNvPr>
          <p:cNvSpPr txBox="1">
            <a:spLocks noGrp="1"/>
          </p:cNvSpPr>
          <p:nvPr>
            <p:ph type="title"/>
          </p:nvPr>
        </p:nvSpPr>
        <p:spPr>
          <a:xfrm>
            <a:off x="3071645" y="346383"/>
            <a:ext cx="540169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TYPES OF SAMPLING</a:t>
            </a:r>
          </a:p>
        </p:txBody>
      </p:sp>
      <p:sp>
        <p:nvSpPr>
          <p:cNvPr id="2" name="object 2">
            <a:extLst>
              <a:ext uri="{FF2B5EF4-FFF2-40B4-BE49-F238E27FC236}">
                <a16:creationId xmlns:a16="http://schemas.microsoft.com/office/drawing/2014/main" id="{2734FF2C-DD0B-0FD5-EB3D-BB3D5DF23F79}"/>
              </a:ext>
            </a:extLst>
          </p:cNvPr>
          <p:cNvSpPr txBox="1">
            <a:spLocks/>
          </p:cNvSpPr>
          <p:nvPr/>
        </p:nvSpPr>
        <p:spPr>
          <a:xfrm>
            <a:off x="319044" y="1526960"/>
            <a:ext cx="5401695" cy="480131"/>
          </a:xfrm>
          <a:prstGeom prst="rect">
            <a:avLst/>
          </a:prstGeom>
          <a:solidFill>
            <a:schemeClr val="bg1"/>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spc="-5" dirty="0">
                <a:solidFill>
                  <a:srgbClr val="00B050"/>
                </a:solidFill>
                <a:latin typeface="Times New Roman" panose="02020603050405020304" pitchFamily="18" charset="0"/>
                <a:cs typeface="Times New Roman" panose="02020603050405020304" pitchFamily="18" charset="0"/>
              </a:rPr>
              <a:t>2.2</a:t>
            </a:r>
            <a:r>
              <a:rPr lang="en-US" altLang="zh-CN" sz="2800" b="1" spc="-5" dirty="0">
                <a:solidFill>
                  <a:srgbClr val="00B050"/>
                </a:solidFill>
                <a:latin typeface="Times New Roman" panose="02020603050405020304" pitchFamily="18" charset="0"/>
                <a:cs typeface="Times New Roman" panose="02020603050405020304" pitchFamily="18" charset="0"/>
              </a:rPr>
              <a:t> </a:t>
            </a:r>
            <a:r>
              <a:rPr lang="en-US" altLang="zh-CN" sz="2800" dirty="0">
                <a:solidFill>
                  <a:srgbClr val="00B050"/>
                </a:solidFill>
                <a:latin typeface="Times New Roman" panose="02020603050405020304" pitchFamily="18" charset="0"/>
                <a:cs typeface="Times New Roman" panose="02020603050405020304" pitchFamily="18" charset="0"/>
              </a:rPr>
              <a:t>Judgmental/purposive sampling </a:t>
            </a:r>
            <a:endParaRPr lang="en-US" sz="2800" b="1" dirty="0">
              <a:solidFill>
                <a:srgbClr val="00B050"/>
              </a:solidFill>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B02C6525-B84D-F160-EF97-CB8AE3ABFFED}"/>
              </a:ext>
            </a:extLst>
          </p:cNvPr>
          <p:cNvSpPr txBox="1"/>
          <p:nvPr/>
        </p:nvSpPr>
        <p:spPr>
          <a:xfrm>
            <a:off x="613301" y="2185658"/>
            <a:ext cx="4916686" cy="4493538"/>
          </a:xfrm>
          <a:prstGeom prst="rect">
            <a:avLst/>
          </a:prstGeom>
          <a:solidFill>
            <a:schemeClr val="bg1"/>
          </a:solidFill>
        </p:spPr>
        <p:txBody>
          <a:bodyPr wrap="square">
            <a:spAutoFit/>
          </a:bodyPr>
          <a:lstStyle/>
          <a:p>
            <a:pPr algn="just"/>
            <a:r>
              <a:rPr lang="en-US" altLang="zh-CN" sz="2600" dirty="0">
                <a:latin typeface="Times New Roman" panose="02020603050405020304" pitchFamily="18" charset="0"/>
                <a:cs typeface="Times New Roman" panose="02020603050405020304" pitchFamily="18" charset="0"/>
              </a:rPr>
              <a:t>The judgmental or purposive sampling method is a method of developing a sample purely on the basis and discretion of the researcher purely, based on the nature of the study along with his/her understanding of the target audience. This sampling method selects people who only fit the research criteria and end objectives, and the remaining are kept out.</a:t>
            </a:r>
            <a:endParaRPr lang="zh-CN" altLang="en-US" sz="2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14B4A98-7132-F005-423B-DABF2CF9EC61}"/>
              </a:ext>
            </a:extLst>
          </p:cNvPr>
          <p:cNvSpPr txBox="1"/>
          <p:nvPr/>
        </p:nvSpPr>
        <p:spPr>
          <a:xfrm>
            <a:off x="6550566" y="2185658"/>
            <a:ext cx="5107439" cy="3293209"/>
          </a:xfrm>
          <a:prstGeom prst="rect">
            <a:avLst/>
          </a:prstGeom>
          <a:solidFill>
            <a:schemeClr val="bg1"/>
          </a:solidFill>
        </p:spPr>
        <p:txBody>
          <a:bodyPr wrap="square">
            <a:spAutoFit/>
          </a:bodyPr>
          <a:lstStyle/>
          <a:p>
            <a:pPr algn="just"/>
            <a:r>
              <a:rPr kumimoji="0" lang="en-US" altLang="zh-CN" sz="2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For example</a:t>
            </a:r>
            <a:r>
              <a:rPr kumimoji="0" lang="en-US" altLang="zh-CN" sz="260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 if the research topic is understanding what University a student prefers for Masters, if the question asked is “Would you like to do your Masters?” anything other than a response, “Yes” to this question, everyone else is excluded from this study.</a:t>
            </a:r>
            <a:endParaRPr lang="zh-CN" altLang="en-US" sz="2600" dirty="0"/>
          </a:p>
        </p:txBody>
      </p:sp>
      <p:sp>
        <p:nvSpPr>
          <p:cNvPr id="8" name="object 2">
            <a:extLst>
              <a:ext uri="{FF2B5EF4-FFF2-40B4-BE49-F238E27FC236}">
                <a16:creationId xmlns:a16="http://schemas.microsoft.com/office/drawing/2014/main" id="{80F63290-F0A3-8046-6397-16AEE6AB46DF}"/>
              </a:ext>
            </a:extLst>
          </p:cNvPr>
          <p:cNvSpPr txBox="1">
            <a:spLocks/>
          </p:cNvSpPr>
          <p:nvPr/>
        </p:nvSpPr>
        <p:spPr>
          <a:xfrm>
            <a:off x="517925" y="825230"/>
            <a:ext cx="5107439" cy="5078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000" b="1" u="sng" spc="-5" dirty="0">
                <a:solidFill>
                  <a:srgbClr val="FFFF00"/>
                </a:solidFill>
                <a:latin typeface="Times New Roman" panose="02020603050405020304" pitchFamily="18" charset="0"/>
                <a:cs typeface="Times New Roman" panose="02020603050405020304" pitchFamily="18" charset="0"/>
              </a:rPr>
              <a:t>2. Non-probability sampling</a:t>
            </a:r>
            <a:endParaRPr lang="en-US" sz="3000" b="1" u="sng" dirty="0">
              <a:solidFill>
                <a:srgbClr val="FFFF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093224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9A83A-2811-4B04-F61F-7278293F2D72}"/>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8C285BB7-8CF9-A35C-2A8B-0C18DD1B7A65}"/>
              </a:ext>
            </a:extLst>
          </p:cNvPr>
          <p:cNvSpPr txBox="1">
            <a:spLocks noGrp="1"/>
          </p:cNvSpPr>
          <p:nvPr>
            <p:ph type="title"/>
          </p:nvPr>
        </p:nvSpPr>
        <p:spPr>
          <a:xfrm>
            <a:off x="3071645" y="346383"/>
            <a:ext cx="540169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TYPES OF SAMPLING</a:t>
            </a:r>
          </a:p>
        </p:txBody>
      </p:sp>
      <p:sp>
        <p:nvSpPr>
          <p:cNvPr id="2" name="object 2">
            <a:extLst>
              <a:ext uri="{FF2B5EF4-FFF2-40B4-BE49-F238E27FC236}">
                <a16:creationId xmlns:a16="http://schemas.microsoft.com/office/drawing/2014/main" id="{E8F5EE47-453B-65AB-5BF5-B58198E08C25}"/>
              </a:ext>
            </a:extLst>
          </p:cNvPr>
          <p:cNvSpPr txBox="1">
            <a:spLocks/>
          </p:cNvSpPr>
          <p:nvPr/>
        </p:nvSpPr>
        <p:spPr>
          <a:xfrm>
            <a:off x="613300" y="1555205"/>
            <a:ext cx="4916685" cy="480131"/>
          </a:xfrm>
          <a:prstGeom prst="rect">
            <a:avLst/>
          </a:prstGeom>
          <a:solidFill>
            <a:schemeClr val="bg1"/>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spc="-5" dirty="0">
                <a:solidFill>
                  <a:srgbClr val="00B050"/>
                </a:solidFill>
                <a:latin typeface="Times New Roman" panose="02020603050405020304" pitchFamily="18" charset="0"/>
                <a:cs typeface="Times New Roman" panose="02020603050405020304" pitchFamily="18" charset="0"/>
              </a:rPr>
              <a:t>2.3</a:t>
            </a:r>
            <a:r>
              <a:rPr lang="en-US" altLang="zh-CN" sz="2800" b="1" spc="-5" dirty="0">
                <a:solidFill>
                  <a:srgbClr val="00B050"/>
                </a:solidFill>
                <a:latin typeface="Times New Roman" panose="02020603050405020304" pitchFamily="18" charset="0"/>
                <a:cs typeface="Times New Roman" panose="02020603050405020304" pitchFamily="18" charset="0"/>
              </a:rPr>
              <a:t> </a:t>
            </a:r>
            <a:r>
              <a:rPr lang="en-US" altLang="zh-CN" sz="2800" dirty="0">
                <a:solidFill>
                  <a:srgbClr val="00B050"/>
                </a:solidFill>
                <a:latin typeface="Times New Roman" panose="02020603050405020304" pitchFamily="18" charset="0"/>
                <a:cs typeface="Times New Roman" panose="02020603050405020304" pitchFamily="18" charset="0"/>
              </a:rPr>
              <a:t>Snowball sampling </a:t>
            </a:r>
            <a:endParaRPr lang="en-US" sz="2800" b="1" dirty="0">
              <a:solidFill>
                <a:srgbClr val="00B050"/>
              </a:solidFill>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DAC92BF8-0130-E7D8-3220-1E3A1D373C42}"/>
              </a:ext>
            </a:extLst>
          </p:cNvPr>
          <p:cNvSpPr txBox="1"/>
          <p:nvPr/>
        </p:nvSpPr>
        <p:spPr>
          <a:xfrm>
            <a:off x="613301" y="2185658"/>
            <a:ext cx="4916686" cy="3293209"/>
          </a:xfrm>
          <a:prstGeom prst="rect">
            <a:avLst/>
          </a:prstGeom>
          <a:solidFill>
            <a:schemeClr val="bg1"/>
          </a:solidFill>
        </p:spPr>
        <p:txBody>
          <a:bodyPr wrap="square">
            <a:spAutoFit/>
          </a:bodyPr>
          <a:lstStyle/>
          <a:p>
            <a:pPr algn="just"/>
            <a:r>
              <a:rPr lang="en-US" altLang="zh-CN" sz="2600" dirty="0">
                <a:latin typeface="Times New Roman" panose="02020603050405020304" pitchFamily="18" charset="0"/>
                <a:cs typeface="Times New Roman" panose="02020603050405020304" pitchFamily="18" charset="0"/>
              </a:rPr>
              <a:t>Snowball sampling or chain-referral sampling is defined as a non-probability sampling technique in which the samples have rare traits. This is a sampling technique in which existing subjects provide referrals to recruit samples required for a research study.</a:t>
            </a:r>
            <a:endParaRPr lang="zh-CN" altLang="en-US" sz="2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FA439DF-1D61-4BD3-08BE-9F3DFECFCCA8}"/>
              </a:ext>
            </a:extLst>
          </p:cNvPr>
          <p:cNvSpPr txBox="1"/>
          <p:nvPr/>
        </p:nvSpPr>
        <p:spPr>
          <a:xfrm>
            <a:off x="6529135" y="2035336"/>
            <a:ext cx="5107439" cy="3693319"/>
          </a:xfrm>
          <a:prstGeom prst="rect">
            <a:avLst/>
          </a:prstGeom>
          <a:solidFill>
            <a:schemeClr val="bg1"/>
          </a:solidFill>
        </p:spPr>
        <p:txBody>
          <a:bodyPr wrap="square">
            <a:spAutoFit/>
          </a:bodyPr>
          <a:lstStyle/>
          <a:p>
            <a:pPr algn="just"/>
            <a:r>
              <a:rPr kumimoji="0" lang="en-US" altLang="zh-CN" sz="2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For example, </a:t>
            </a:r>
            <a:r>
              <a:rPr kumimoji="0" lang="en-US" altLang="zh-CN" sz="260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while collecting feedback about a sensitive topic like AIDS, respondents aren’t forthcoming with information. In this case, the researcher can recruit people with an understanding or knowledge of such people and collect information from them or ask them to collect information.</a:t>
            </a:r>
            <a:endParaRPr lang="zh-CN" altLang="en-US" sz="2600" dirty="0"/>
          </a:p>
        </p:txBody>
      </p:sp>
      <p:sp>
        <p:nvSpPr>
          <p:cNvPr id="8" name="object 2">
            <a:extLst>
              <a:ext uri="{FF2B5EF4-FFF2-40B4-BE49-F238E27FC236}">
                <a16:creationId xmlns:a16="http://schemas.microsoft.com/office/drawing/2014/main" id="{DEDBBD9D-DEBA-F407-E712-8A346D9085C5}"/>
              </a:ext>
            </a:extLst>
          </p:cNvPr>
          <p:cNvSpPr txBox="1">
            <a:spLocks/>
          </p:cNvSpPr>
          <p:nvPr/>
        </p:nvSpPr>
        <p:spPr>
          <a:xfrm>
            <a:off x="517925" y="825230"/>
            <a:ext cx="5107439" cy="5078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000" b="1" u="sng" spc="-5" dirty="0">
                <a:solidFill>
                  <a:srgbClr val="FFFF00"/>
                </a:solidFill>
                <a:latin typeface="Times New Roman" panose="02020603050405020304" pitchFamily="18" charset="0"/>
                <a:cs typeface="Times New Roman" panose="02020603050405020304" pitchFamily="18" charset="0"/>
              </a:rPr>
              <a:t>2. Non-probability sampling</a:t>
            </a:r>
            <a:endParaRPr lang="en-US" sz="3000" b="1" u="sng" dirty="0">
              <a:solidFill>
                <a:srgbClr val="FFFF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544275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AA77-67BE-5992-A6C2-ECE73A10F117}"/>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2B56437E-0DDB-F5E9-E3A7-5839BF17B37A}"/>
              </a:ext>
            </a:extLst>
          </p:cNvPr>
          <p:cNvSpPr txBox="1">
            <a:spLocks noGrp="1"/>
          </p:cNvSpPr>
          <p:nvPr>
            <p:ph type="title"/>
          </p:nvPr>
        </p:nvSpPr>
        <p:spPr>
          <a:xfrm>
            <a:off x="3071645" y="346383"/>
            <a:ext cx="540169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TYPES OF SAMPLING</a:t>
            </a:r>
          </a:p>
        </p:txBody>
      </p:sp>
      <p:sp>
        <p:nvSpPr>
          <p:cNvPr id="2" name="object 2">
            <a:extLst>
              <a:ext uri="{FF2B5EF4-FFF2-40B4-BE49-F238E27FC236}">
                <a16:creationId xmlns:a16="http://schemas.microsoft.com/office/drawing/2014/main" id="{727EA28B-9D5C-F73B-9FCE-1B4E7E743F79}"/>
              </a:ext>
            </a:extLst>
          </p:cNvPr>
          <p:cNvSpPr txBox="1">
            <a:spLocks/>
          </p:cNvSpPr>
          <p:nvPr/>
        </p:nvSpPr>
        <p:spPr>
          <a:xfrm>
            <a:off x="613300" y="1555205"/>
            <a:ext cx="4916685" cy="480131"/>
          </a:xfrm>
          <a:prstGeom prst="rect">
            <a:avLst/>
          </a:prstGeom>
          <a:solidFill>
            <a:schemeClr val="bg1"/>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spc="-5" dirty="0">
                <a:solidFill>
                  <a:srgbClr val="00B050"/>
                </a:solidFill>
                <a:latin typeface="Times New Roman" panose="02020603050405020304" pitchFamily="18" charset="0"/>
                <a:cs typeface="Times New Roman" panose="02020603050405020304" pitchFamily="18" charset="0"/>
              </a:rPr>
              <a:t>2.4</a:t>
            </a:r>
            <a:r>
              <a:rPr lang="en-US" altLang="zh-CN" sz="2800" b="1" spc="-5" dirty="0">
                <a:solidFill>
                  <a:srgbClr val="00B050"/>
                </a:solidFill>
                <a:latin typeface="Times New Roman" panose="02020603050405020304" pitchFamily="18" charset="0"/>
                <a:cs typeface="Times New Roman" panose="02020603050405020304" pitchFamily="18" charset="0"/>
              </a:rPr>
              <a:t> </a:t>
            </a:r>
            <a:r>
              <a:rPr lang="en-US" altLang="zh-CN" sz="2800" dirty="0">
                <a:solidFill>
                  <a:srgbClr val="00B050"/>
                </a:solidFill>
                <a:latin typeface="Times New Roman" panose="02020603050405020304" pitchFamily="18" charset="0"/>
                <a:cs typeface="Times New Roman" panose="02020603050405020304" pitchFamily="18" charset="0"/>
              </a:rPr>
              <a:t>Quota sampling </a:t>
            </a:r>
            <a:endParaRPr lang="en-US" sz="2800" b="1" dirty="0">
              <a:solidFill>
                <a:srgbClr val="00B050"/>
              </a:solidFill>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F0D3AEB1-0611-41D8-0590-348F3CB07FF4}"/>
              </a:ext>
            </a:extLst>
          </p:cNvPr>
          <p:cNvSpPr txBox="1"/>
          <p:nvPr/>
        </p:nvSpPr>
        <p:spPr>
          <a:xfrm>
            <a:off x="613301" y="2185658"/>
            <a:ext cx="4916686" cy="2893100"/>
          </a:xfrm>
          <a:prstGeom prst="rect">
            <a:avLst/>
          </a:prstGeom>
          <a:solidFill>
            <a:schemeClr val="bg1"/>
          </a:solidFill>
        </p:spPr>
        <p:txBody>
          <a:bodyPr wrap="square">
            <a:spAutoFit/>
          </a:bodyPr>
          <a:lstStyle/>
          <a:p>
            <a:pPr algn="just"/>
            <a:r>
              <a:rPr lang="en-US" altLang="zh-CN" sz="2600" dirty="0">
                <a:latin typeface="Times New Roman" panose="02020603050405020304" pitchFamily="18" charset="0"/>
                <a:cs typeface="Times New Roman" panose="02020603050405020304" pitchFamily="18" charset="0"/>
              </a:rPr>
              <a:t>Quota sampling is a method of collecting a sample where the researcher has the liberty to select a sample based on their strata. The primary characteristic of this method is that two people cannot exist under two different conditions.</a:t>
            </a:r>
            <a:endParaRPr lang="zh-CN" altLang="en-US" sz="2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0014E7A-5652-B4D7-39D0-411776E2DD55}"/>
              </a:ext>
            </a:extLst>
          </p:cNvPr>
          <p:cNvSpPr txBox="1"/>
          <p:nvPr/>
        </p:nvSpPr>
        <p:spPr>
          <a:xfrm>
            <a:off x="6564854" y="1785548"/>
            <a:ext cx="5107439" cy="3693319"/>
          </a:xfrm>
          <a:prstGeom prst="rect">
            <a:avLst/>
          </a:prstGeom>
          <a:solidFill>
            <a:schemeClr val="bg1"/>
          </a:solidFill>
        </p:spPr>
        <p:txBody>
          <a:bodyPr wrap="square">
            <a:spAutoFit/>
          </a:bodyPr>
          <a:lstStyle/>
          <a:p>
            <a:pPr algn="just"/>
            <a:r>
              <a:rPr kumimoji="0" lang="en-US" altLang="zh-CN" sz="2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For example, </a:t>
            </a:r>
            <a:r>
              <a:rPr kumimoji="0" lang="en-US" altLang="zh-CN" sz="260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when a shoe manufacturer would like to understand millennials’ perception of the brand with other parameters like comfort, pricing, etc. It selects only females who are millennials for this study as the research objective is to collect feedback about women’s shoes.</a:t>
            </a:r>
            <a:endParaRPr lang="zh-CN" altLang="en-US" sz="2600" dirty="0"/>
          </a:p>
        </p:txBody>
      </p:sp>
      <p:sp>
        <p:nvSpPr>
          <p:cNvPr id="8" name="object 2">
            <a:extLst>
              <a:ext uri="{FF2B5EF4-FFF2-40B4-BE49-F238E27FC236}">
                <a16:creationId xmlns:a16="http://schemas.microsoft.com/office/drawing/2014/main" id="{9423194F-C4FD-97B4-B2B7-14B25A7230BC}"/>
              </a:ext>
            </a:extLst>
          </p:cNvPr>
          <p:cNvSpPr txBox="1">
            <a:spLocks/>
          </p:cNvSpPr>
          <p:nvPr/>
        </p:nvSpPr>
        <p:spPr>
          <a:xfrm>
            <a:off x="517925" y="825230"/>
            <a:ext cx="5107439" cy="5078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000" b="1" u="sng" spc="-5" dirty="0">
                <a:solidFill>
                  <a:srgbClr val="FFFF00"/>
                </a:solidFill>
                <a:latin typeface="Times New Roman" panose="02020603050405020304" pitchFamily="18" charset="0"/>
                <a:cs typeface="Times New Roman" panose="02020603050405020304" pitchFamily="18" charset="0"/>
              </a:rPr>
              <a:t>2. Non-probability sampling</a:t>
            </a:r>
            <a:endParaRPr lang="en-US" sz="3000" b="1" u="sng" dirty="0">
              <a:solidFill>
                <a:srgbClr val="FFFF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483574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1CE26-FB7C-4405-8539-0E7B684712AF}"/>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4953002B-C641-AACF-C663-6138944BF906}"/>
              </a:ext>
            </a:extLst>
          </p:cNvPr>
          <p:cNvPicPr>
            <a:picLocks noChangeAspect="1"/>
          </p:cNvPicPr>
          <p:nvPr/>
        </p:nvPicPr>
        <p:blipFill>
          <a:blip r:embed="rId3"/>
          <a:stretch>
            <a:fillRect/>
          </a:stretch>
        </p:blipFill>
        <p:spPr>
          <a:xfrm>
            <a:off x="714375" y="642938"/>
            <a:ext cx="11087100" cy="5979318"/>
          </a:xfrm>
          <a:prstGeom prst="rect">
            <a:avLst/>
          </a:prstGeom>
        </p:spPr>
      </p:pic>
    </p:spTree>
    <p:extLst>
      <p:ext uri="{BB962C8B-B14F-4D97-AF65-F5344CB8AC3E}">
        <p14:creationId xmlns:p14="http://schemas.microsoft.com/office/powerpoint/2010/main" val="1480604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C4393-06A1-9FB7-2D20-CFD3D972484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E17755B-7D1E-9254-07C7-216DCFBFE8D4}"/>
              </a:ext>
            </a:extLst>
          </p:cNvPr>
          <p:cNvSpPr txBox="1">
            <a:spLocks/>
          </p:cNvSpPr>
          <p:nvPr/>
        </p:nvSpPr>
        <p:spPr>
          <a:xfrm>
            <a:off x="613300" y="1555205"/>
            <a:ext cx="4916685" cy="480131"/>
          </a:xfrm>
          <a:prstGeom prst="rect">
            <a:avLst/>
          </a:prstGeom>
          <a:solidFill>
            <a:schemeClr val="bg1"/>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00B050"/>
                </a:solidFill>
                <a:latin typeface="Times New Roman" panose="02020603050405020304" pitchFamily="18" charset="0"/>
                <a:cs typeface="Times New Roman" panose="02020603050405020304" pitchFamily="18" charset="0"/>
              </a:rPr>
              <a:t>Reduced cost &amp; time</a:t>
            </a:r>
            <a:endParaRPr lang="en-US" sz="2800" b="1" dirty="0">
              <a:solidFill>
                <a:srgbClr val="00B050"/>
              </a:solidFill>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C93B6FF7-D6D2-7042-5528-01EDDEEFC3FF}"/>
              </a:ext>
            </a:extLst>
          </p:cNvPr>
          <p:cNvSpPr txBox="1"/>
          <p:nvPr/>
        </p:nvSpPr>
        <p:spPr>
          <a:xfrm>
            <a:off x="613301" y="2185658"/>
            <a:ext cx="4916686" cy="3293209"/>
          </a:xfrm>
          <a:prstGeom prst="rect">
            <a:avLst/>
          </a:prstGeom>
          <a:solidFill>
            <a:schemeClr val="bg1"/>
          </a:solidFill>
        </p:spPr>
        <p:txBody>
          <a:bodyPr wrap="square">
            <a:spAutoFit/>
          </a:bodyPr>
          <a:lstStyle/>
          <a:p>
            <a:pPr algn="just"/>
            <a:r>
              <a:rPr lang="en-US" altLang="zh-CN" sz="2600" dirty="0">
                <a:latin typeface="Times New Roman" panose="02020603050405020304" pitchFamily="18" charset="0"/>
                <a:cs typeface="Times New Roman" panose="02020603050405020304" pitchFamily="18" charset="0"/>
              </a:rPr>
              <a:t>Since using a sample reduces the number of people that have to be reached out to, it reduces cost and time. Imagine the time saved between researching with a population of millions vs. conducting a research study using a sample.</a:t>
            </a:r>
            <a:endParaRPr lang="zh-CN" altLang="en-US" sz="2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687AD85-F259-D1A0-EFFE-6ED2D890878C}"/>
              </a:ext>
            </a:extLst>
          </p:cNvPr>
          <p:cNvSpPr txBox="1"/>
          <p:nvPr/>
        </p:nvSpPr>
        <p:spPr>
          <a:xfrm>
            <a:off x="6564854" y="2185657"/>
            <a:ext cx="5107439" cy="3293209"/>
          </a:xfrm>
          <a:prstGeom prst="rect">
            <a:avLst/>
          </a:prstGeom>
          <a:solidFill>
            <a:schemeClr val="bg1"/>
          </a:solidFill>
        </p:spPr>
        <p:txBody>
          <a:bodyPr wrap="square">
            <a:spAutoFit/>
          </a:bodyPr>
          <a:lstStyle/>
          <a:p>
            <a:pPr algn="just"/>
            <a:r>
              <a:rPr kumimoji="0" lang="en-US" altLang="zh-CN" sz="260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It is obvious that if the number of people involved in a research study is much lower due to the sample, the resources required are also much less. The workforce needed to research the sample is much less than the workforce needed to study the whole population.</a:t>
            </a:r>
            <a:endParaRPr lang="zh-CN" altLang="en-US" sz="2600" dirty="0"/>
          </a:p>
        </p:txBody>
      </p:sp>
      <p:sp>
        <p:nvSpPr>
          <p:cNvPr id="9" name="object 2">
            <a:extLst>
              <a:ext uri="{FF2B5EF4-FFF2-40B4-BE49-F238E27FC236}">
                <a16:creationId xmlns:a16="http://schemas.microsoft.com/office/drawing/2014/main" id="{5CD30767-5135-F77A-3EC2-AD6F2094A2B2}"/>
              </a:ext>
            </a:extLst>
          </p:cNvPr>
          <p:cNvSpPr txBox="1">
            <a:spLocks/>
          </p:cNvSpPr>
          <p:nvPr/>
        </p:nvSpPr>
        <p:spPr>
          <a:xfrm>
            <a:off x="6564854" y="1555205"/>
            <a:ext cx="4916685" cy="480131"/>
          </a:xfrm>
          <a:prstGeom prst="rect">
            <a:avLst/>
          </a:prstGeom>
          <a:solidFill>
            <a:schemeClr val="bg1"/>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US" altLang="zh-CN" sz="2800" b="1" i="0" u="none" strike="noStrike" kern="120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Reduced resource deployment</a:t>
            </a:r>
            <a:endParaRPr lang="en-US" sz="2800" b="1" dirty="0">
              <a:solidFill>
                <a:srgbClr val="00B050"/>
              </a:solidFill>
              <a:latin typeface="Times New Roman" panose="02020603050405020304" pitchFamily="18" charset="0"/>
              <a:ea typeface="+mn-ea"/>
              <a:cs typeface="Times New Roman" panose="02020603050405020304" pitchFamily="18" charset="0"/>
            </a:endParaRPr>
          </a:p>
        </p:txBody>
      </p:sp>
      <p:sp>
        <p:nvSpPr>
          <p:cNvPr id="10" name="object 2">
            <a:extLst>
              <a:ext uri="{FF2B5EF4-FFF2-40B4-BE49-F238E27FC236}">
                <a16:creationId xmlns:a16="http://schemas.microsoft.com/office/drawing/2014/main" id="{100E2C42-169B-5112-E076-978057516443}"/>
              </a:ext>
            </a:extLst>
          </p:cNvPr>
          <p:cNvSpPr txBox="1">
            <a:spLocks noGrp="1"/>
          </p:cNvSpPr>
          <p:nvPr>
            <p:ph type="title"/>
          </p:nvPr>
        </p:nvSpPr>
        <p:spPr>
          <a:xfrm>
            <a:off x="3071645" y="346383"/>
            <a:ext cx="540169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Sampling Advantages</a:t>
            </a:r>
          </a:p>
        </p:txBody>
      </p:sp>
    </p:spTree>
    <p:extLst>
      <p:ext uri="{BB962C8B-B14F-4D97-AF65-F5344CB8AC3E}">
        <p14:creationId xmlns:p14="http://schemas.microsoft.com/office/powerpoint/2010/main" val="692068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C2F2B-F201-BC79-513F-4AED6EF1D5B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8BA4133-497B-8EB1-B901-5262C912E4B2}"/>
              </a:ext>
            </a:extLst>
          </p:cNvPr>
          <p:cNvSpPr txBox="1">
            <a:spLocks/>
          </p:cNvSpPr>
          <p:nvPr/>
        </p:nvSpPr>
        <p:spPr>
          <a:xfrm>
            <a:off x="613300" y="1555205"/>
            <a:ext cx="4916685" cy="480131"/>
          </a:xfrm>
          <a:prstGeom prst="rect">
            <a:avLst/>
          </a:prstGeom>
          <a:solidFill>
            <a:schemeClr val="bg1"/>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00B050"/>
                </a:solidFill>
                <a:latin typeface="Times New Roman" panose="02020603050405020304" pitchFamily="18" charset="0"/>
                <a:cs typeface="Times New Roman" panose="02020603050405020304" pitchFamily="18" charset="0"/>
              </a:rPr>
              <a:t>Accuracy of data</a:t>
            </a:r>
            <a:endParaRPr lang="en-US" sz="2800" b="1" dirty="0">
              <a:solidFill>
                <a:srgbClr val="00B050"/>
              </a:solidFill>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1472FAFF-AA0A-C16A-E211-A5EEAFF3ACD9}"/>
              </a:ext>
            </a:extLst>
          </p:cNvPr>
          <p:cNvSpPr txBox="1"/>
          <p:nvPr/>
        </p:nvSpPr>
        <p:spPr>
          <a:xfrm>
            <a:off x="613301" y="2185658"/>
            <a:ext cx="4916686" cy="2893100"/>
          </a:xfrm>
          <a:prstGeom prst="rect">
            <a:avLst/>
          </a:prstGeom>
          <a:solidFill>
            <a:schemeClr val="bg1"/>
          </a:solidFill>
        </p:spPr>
        <p:txBody>
          <a:bodyPr wrap="square">
            <a:spAutoFit/>
          </a:bodyPr>
          <a:lstStyle/>
          <a:p>
            <a:pPr algn="just"/>
            <a:r>
              <a:rPr lang="en-US" altLang="zh-CN" sz="2600" dirty="0">
                <a:latin typeface="Times New Roman" panose="02020603050405020304" pitchFamily="18" charset="0"/>
                <a:cs typeface="Times New Roman" panose="02020603050405020304" pitchFamily="18" charset="0"/>
              </a:rPr>
              <a:t>Since the sample indicates the population, the data collected is accurate. Also, since the respondent is willing to participate, the survey dropout rate is much lower, which increases the validity and accuracy of the data.</a:t>
            </a:r>
            <a:endParaRPr lang="zh-CN" altLang="en-US" sz="2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9934B3F-2D8D-0197-024C-5AEAA303C159}"/>
              </a:ext>
            </a:extLst>
          </p:cNvPr>
          <p:cNvSpPr txBox="1"/>
          <p:nvPr/>
        </p:nvSpPr>
        <p:spPr>
          <a:xfrm>
            <a:off x="6564854" y="2185657"/>
            <a:ext cx="5107439" cy="2492990"/>
          </a:xfrm>
          <a:prstGeom prst="rect">
            <a:avLst/>
          </a:prstGeom>
          <a:solidFill>
            <a:schemeClr val="bg1"/>
          </a:solidFill>
        </p:spPr>
        <p:txBody>
          <a:bodyPr wrap="square">
            <a:spAutoFit/>
          </a:bodyPr>
          <a:lstStyle/>
          <a:p>
            <a:pPr algn="just"/>
            <a:r>
              <a:rPr kumimoji="0" lang="en-US" altLang="zh-CN" sz="2600"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Since there are lesser respondents, the data collected from a sample is intense and thorough. More time and effort are given to each respondent rather than collecting data from many people.</a:t>
            </a:r>
            <a:endParaRPr lang="zh-CN" altLang="en-US" sz="2600" dirty="0"/>
          </a:p>
        </p:txBody>
      </p:sp>
      <p:sp>
        <p:nvSpPr>
          <p:cNvPr id="9" name="object 2">
            <a:extLst>
              <a:ext uri="{FF2B5EF4-FFF2-40B4-BE49-F238E27FC236}">
                <a16:creationId xmlns:a16="http://schemas.microsoft.com/office/drawing/2014/main" id="{ACAAB859-A70B-4EAE-AEF4-07063D212930}"/>
              </a:ext>
            </a:extLst>
          </p:cNvPr>
          <p:cNvSpPr txBox="1">
            <a:spLocks/>
          </p:cNvSpPr>
          <p:nvPr/>
        </p:nvSpPr>
        <p:spPr>
          <a:xfrm>
            <a:off x="6564854" y="1555205"/>
            <a:ext cx="4916685" cy="480131"/>
          </a:xfrm>
          <a:prstGeom prst="rect">
            <a:avLst/>
          </a:prstGeom>
          <a:solidFill>
            <a:schemeClr val="bg1"/>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US" altLang="zh-CN" sz="2800" b="1" i="0" u="none" strike="noStrike" kern="120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Intensive &amp; exhaustive data</a:t>
            </a:r>
            <a:endParaRPr lang="en-US" sz="2800" b="1" dirty="0">
              <a:solidFill>
                <a:srgbClr val="00B050"/>
              </a:solidFill>
              <a:latin typeface="Times New Roman" panose="02020603050405020304" pitchFamily="18" charset="0"/>
              <a:ea typeface="+mn-ea"/>
              <a:cs typeface="Times New Roman" panose="02020603050405020304" pitchFamily="18" charset="0"/>
            </a:endParaRPr>
          </a:p>
        </p:txBody>
      </p:sp>
      <p:sp>
        <p:nvSpPr>
          <p:cNvPr id="10" name="object 2">
            <a:extLst>
              <a:ext uri="{FF2B5EF4-FFF2-40B4-BE49-F238E27FC236}">
                <a16:creationId xmlns:a16="http://schemas.microsoft.com/office/drawing/2014/main" id="{7F921113-EE5C-2A05-7ABA-2A480F3E6AA6}"/>
              </a:ext>
            </a:extLst>
          </p:cNvPr>
          <p:cNvSpPr txBox="1">
            <a:spLocks noGrp="1"/>
          </p:cNvSpPr>
          <p:nvPr>
            <p:ph type="title"/>
          </p:nvPr>
        </p:nvSpPr>
        <p:spPr>
          <a:xfrm>
            <a:off x="3071645" y="346383"/>
            <a:ext cx="540169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Sampling Advantages</a:t>
            </a:r>
          </a:p>
        </p:txBody>
      </p:sp>
    </p:spTree>
    <p:extLst>
      <p:ext uri="{BB962C8B-B14F-4D97-AF65-F5344CB8AC3E}">
        <p14:creationId xmlns:p14="http://schemas.microsoft.com/office/powerpoint/2010/main" val="856499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96809-818D-209E-2ABB-94718DE960A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884C9E2-0E97-B3AA-87CB-D0D58EE284E9}"/>
              </a:ext>
            </a:extLst>
          </p:cNvPr>
          <p:cNvSpPr txBox="1">
            <a:spLocks/>
          </p:cNvSpPr>
          <p:nvPr/>
        </p:nvSpPr>
        <p:spPr>
          <a:xfrm>
            <a:off x="2302796" y="1412330"/>
            <a:ext cx="6701900" cy="480131"/>
          </a:xfrm>
          <a:prstGeom prst="rect">
            <a:avLst/>
          </a:prstGeom>
          <a:solidFill>
            <a:schemeClr val="bg1"/>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00B050"/>
                </a:solidFill>
                <a:latin typeface="Times New Roman" panose="02020603050405020304" pitchFamily="18" charset="0"/>
                <a:cs typeface="Times New Roman" panose="02020603050405020304" pitchFamily="18" charset="0"/>
              </a:rPr>
              <a:t>Apply properties to a larger population</a:t>
            </a:r>
            <a:endParaRPr lang="en-US" sz="2800" b="1" dirty="0">
              <a:solidFill>
                <a:srgbClr val="00B050"/>
              </a:solidFill>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5FC4E527-1983-CB13-AC0C-6AB9296983AE}"/>
              </a:ext>
            </a:extLst>
          </p:cNvPr>
          <p:cNvSpPr txBox="1"/>
          <p:nvPr/>
        </p:nvSpPr>
        <p:spPr>
          <a:xfrm>
            <a:off x="2703721" y="2008540"/>
            <a:ext cx="5654468" cy="2092881"/>
          </a:xfrm>
          <a:prstGeom prst="rect">
            <a:avLst/>
          </a:prstGeom>
          <a:solidFill>
            <a:schemeClr val="bg1"/>
          </a:solidFill>
        </p:spPr>
        <p:txBody>
          <a:bodyPr wrap="square">
            <a:spAutoFit/>
          </a:bodyPr>
          <a:lstStyle/>
          <a:p>
            <a:pPr algn="just"/>
            <a:r>
              <a:rPr lang="en-US" altLang="zh-CN" sz="2600" dirty="0">
                <a:latin typeface="Times New Roman" panose="02020603050405020304" pitchFamily="18" charset="0"/>
                <a:cs typeface="Times New Roman" panose="02020603050405020304" pitchFamily="18" charset="0"/>
              </a:rPr>
              <a:t>Since the sample is indicative of the broader population, it is safe to say that the data collected and analyzed from the sample can be applied to the larger population, which would hold true.</a:t>
            </a:r>
            <a:endParaRPr lang="zh-CN" altLang="en-US" sz="2600" dirty="0">
              <a:latin typeface="Times New Roman" panose="02020603050405020304" pitchFamily="18" charset="0"/>
              <a:cs typeface="Times New Roman" panose="02020603050405020304" pitchFamily="18" charset="0"/>
            </a:endParaRPr>
          </a:p>
        </p:txBody>
      </p:sp>
      <p:sp>
        <p:nvSpPr>
          <p:cNvPr id="10" name="object 2">
            <a:extLst>
              <a:ext uri="{FF2B5EF4-FFF2-40B4-BE49-F238E27FC236}">
                <a16:creationId xmlns:a16="http://schemas.microsoft.com/office/drawing/2014/main" id="{609CBA92-E554-05BB-504B-B1D58B996070}"/>
              </a:ext>
            </a:extLst>
          </p:cNvPr>
          <p:cNvSpPr txBox="1">
            <a:spLocks noGrp="1"/>
          </p:cNvSpPr>
          <p:nvPr>
            <p:ph type="title"/>
          </p:nvPr>
        </p:nvSpPr>
        <p:spPr>
          <a:xfrm>
            <a:off x="3071645" y="346383"/>
            <a:ext cx="540169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Sampling Advantages</a:t>
            </a:r>
          </a:p>
        </p:txBody>
      </p:sp>
    </p:spTree>
    <p:extLst>
      <p:ext uri="{BB962C8B-B14F-4D97-AF65-F5344CB8AC3E}">
        <p14:creationId xmlns:p14="http://schemas.microsoft.com/office/powerpoint/2010/main" val="3572312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786CD-C9AE-A3A8-C708-B532ECC3706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15DC124-2B94-140C-E7AE-22A0633E1651}"/>
              </a:ext>
            </a:extLst>
          </p:cNvPr>
          <p:cNvSpPr txBox="1"/>
          <p:nvPr/>
        </p:nvSpPr>
        <p:spPr>
          <a:xfrm>
            <a:off x="439153" y="1022703"/>
            <a:ext cx="4604336" cy="4493538"/>
          </a:xfrm>
          <a:prstGeom prst="rect">
            <a:avLst/>
          </a:prstGeom>
          <a:solidFill>
            <a:schemeClr val="bg1"/>
          </a:solidFill>
        </p:spPr>
        <p:txBody>
          <a:bodyPr wrap="square">
            <a:spAutoFit/>
          </a:bodyPr>
          <a:lstStyle/>
          <a:p>
            <a:pPr algn="just"/>
            <a:r>
              <a:rPr lang="en-US" altLang="zh-CN" sz="2600" dirty="0">
                <a:latin typeface="Times New Roman" panose="02020603050405020304" pitchFamily="18" charset="0"/>
                <a:cs typeface="Times New Roman" panose="02020603050405020304" pitchFamily="18" charset="0"/>
              </a:rPr>
              <a:t>Sample size determination is choosing the correct number of observations or people from a larger group to use in a sample. The goal of figuring out the sample size is to ensure that the sample is big enough to give statistically valid results and accurate estimates of population parameters but small enough to be manageable and cost-effective.</a:t>
            </a:r>
            <a:endParaRPr lang="zh-CN" altLang="en-US" sz="2600" dirty="0">
              <a:latin typeface="Times New Roman" panose="02020603050405020304" pitchFamily="18" charset="0"/>
              <a:cs typeface="Times New Roman" panose="02020603050405020304" pitchFamily="18" charset="0"/>
            </a:endParaRPr>
          </a:p>
        </p:txBody>
      </p:sp>
      <p:sp>
        <p:nvSpPr>
          <p:cNvPr id="10" name="object 2">
            <a:extLst>
              <a:ext uri="{FF2B5EF4-FFF2-40B4-BE49-F238E27FC236}">
                <a16:creationId xmlns:a16="http://schemas.microsoft.com/office/drawing/2014/main" id="{33F43B3D-B52E-63A8-D568-5DF4DCA71163}"/>
              </a:ext>
            </a:extLst>
          </p:cNvPr>
          <p:cNvSpPr txBox="1">
            <a:spLocks noGrp="1"/>
          </p:cNvSpPr>
          <p:nvPr>
            <p:ph type="title"/>
          </p:nvPr>
        </p:nvSpPr>
        <p:spPr>
          <a:xfrm>
            <a:off x="3071645" y="346383"/>
            <a:ext cx="540169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Sample Size Determination?</a:t>
            </a:r>
          </a:p>
        </p:txBody>
      </p:sp>
      <p:sp>
        <p:nvSpPr>
          <p:cNvPr id="5" name="TextBox 4">
            <a:extLst>
              <a:ext uri="{FF2B5EF4-FFF2-40B4-BE49-F238E27FC236}">
                <a16:creationId xmlns:a16="http://schemas.microsoft.com/office/drawing/2014/main" id="{26D96B16-2A5A-A594-0BDE-F55D92726F61}"/>
              </a:ext>
            </a:extLst>
          </p:cNvPr>
          <p:cNvSpPr txBox="1"/>
          <p:nvPr/>
        </p:nvSpPr>
        <p:spPr>
          <a:xfrm>
            <a:off x="5800684" y="1022703"/>
            <a:ext cx="5345312" cy="4493538"/>
          </a:xfrm>
          <a:prstGeom prst="rect">
            <a:avLst/>
          </a:prstGeom>
          <a:solidFill>
            <a:schemeClr val="bg1"/>
          </a:solidFill>
        </p:spPr>
        <p:txBody>
          <a:bodyPr wrap="square">
            <a:spAutoFit/>
          </a:bodyPr>
          <a:lstStyle>
            <a:defPPr>
              <a:defRPr lang="en-US"/>
            </a:defPPr>
            <a:lvl1pPr algn="just">
              <a:defRPr sz="2600">
                <a:latin typeface="Times New Roman" panose="02020603050405020304" pitchFamily="18" charset="0"/>
                <a:cs typeface="Times New Roman" panose="02020603050405020304" pitchFamily="18" charset="0"/>
              </a:defRPr>
            </a:lvl1pPr>
          </a:lstStyle>
          <a:p>
            <a:r>
              <a:rPr lang="en-US" altLang="zh-CN" dirty="0"/>
              <a:t>Choosing the statistically significant sample size depends on a number of things, such as the size of the population, how precise you want your estimates to be, how confident you want to be in the results, how different the population is likely to be, and how much money and time you have for the study. Statistics are often used to determine a sample size for a certain type of study and research question.</a:t>
            </a:r>
            <a:endParaRPr lang="zh-CN" altLang="en-US" dirty="0"/>
          </a:p>
        </p:txBody>
      </p:sp>
    </p:spTree>
    <p:extLst>
      <p:ext uri="{BB962C8B-B14F-4D97-AF65-F5344CB8AC3E}">
        <p14:creationId xmlns:p14="http://schemas.microsoft.com/office/powerpoint/2010/main" val="322823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291FA-F2C7-8541-BDD7-AFE5F2C2185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8AB8D2A-02B7-7855-2A5B-9C75A997B5F5}"/>
              </a:ext>
            </a:extLst>
          </p:cNvPr>
          <p:cNvSpPr txBox="1"/>
          <p:nvPr/>
        </p:nvSpPr>
        <p:spPr>
          <a:xfrm>
            <a:off x="439153" y="1022703"/>
            <a:ext cx="4604336" cy="4493538"/>
          </a:xfrm>
          <a:prstGeom prst="rect">
            <a:avLst/>
          </a:prstGeom>
          <a:solidFill>
            <a:schemeClr val="bg1"/>
          </a:solidFill>
        </p:spPr>
        <p:txBody>
          <a:bodyPr wrap="square">
            <a:spAutoFit/>
          </a:bodyPr>
          <a:lstStyle/>
          <a:p>
            <a:pPr algn="just"/>
            <a:r>
              <a:rPr lang="en-US" altLang="zh-CN" sz="2600" dirty="0">
                <a:latin typeface="Times New Roman" panose="02020603050405020304" pitchFamily="18" charset="0"/>
                <a:cs typeface="Times New Roman" panose="02020603050405020304" pitchFamily="18" charset="0"/>
              </a:rPr>
              <a:t>Sample size determination is choosing the correct number of observations or people from a larger group to use in a sample. The goal of figuring out the sample size is to ensure that the sample is big enough to give statistically valid results and accurate estimates of population parameters but small enough to be manageable and cost-effective.</a:t>
            </a:r>
            <a:endParaRPr lang="zh-CN" altLang="en-US" sz="2600" dirty="0">
              <a:latin typeface="Times New Roman" panose="02020603050405020304" pitchFamily="18" charset="0"/>
              <a:cs typeface="Times New Roman" panose="02020603050405020304" pitchFamily="18" charset="0"/>
            </a:endParaRPr>
          </a:p>
        </p:txBody>
      </p:sp>
      <p:sp>
        <p:nvSpPr>
          <p:cNvPr id="10" name="object 2">
            <a:extLst>
              <a:ext uri="{FF2B5EF4-FFF2-40B4-BE49-F238E27FC236}">
                <a16:creationId xmlns:a16="http://schemas.microsoft.com/office/drawing/2014/main" id="{2FD92286-20FF-B00D-E63C-4E1F12B10BE8}"/>
              </a:ext>
            </a:extLst>
          </p:cNvPr>
          <p:cNvSpPr txBox="1">
            <a:spLocks noGrp="1"/>
          </p:cNvSpPr>
          <p:nvPr>
            <p:ph type="title"/>
          </p:nvPr>
        </p:nvSpPr>
        <p:spPr>
          <a:xfrm>
            <a:off x="3071645" y="346383"/>
            <a:ext cx="540169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Sample Size Determination</a:t>
            </a:r>
          </a:p>
        </p:txBody>
      </p:sp>
      <p:sp>
        <p:nvSpPr>
          <p:cNvPr id="5" name="TextBox 4">
            <a:extLst>
              <a:ext uri="{FF2B5EF4-FFF2-40B4-BE49-F238E27FC236}">
                <a16:creationId xmlns:a16="http://schemas.microsoft.com/office/drawing/2014/main" id="{234B5565-587A-B542-BDDB-E0F5DF1976EE}"/>
              </a:ext>
            </a:extLst>
          </p:cNvPr>
          <p:cNvSpPr txBox="1"/>
          <p:nvPr/>
        </p:nvSpPr>
        <p:spPr>
          <a:xfrm>
            <a:off x="5800684" y="1022703"/>
            <a:ext cx="5345312" cy="4493538"/>
          </a:xfrm>
          <a:prstGeom prst="rect">
            <a:avLst/>
          </a:prstGeom>
          <a:solidFill>
            <a:schemeClr val="bg1"/>
          </a:solidFill>
        </p:spPr>
        <p:txBody>
          <a:bodyPr wrap="square">
            <a:spAutoFit/>
          </a:bodyPr>
          <a:lstStyle>
            <a:defPPr>
              <a:defRPr lang="en-US"/>
            </a:defPPr>
            <a:lvl1pPr algn="just">
              <a:defRPr sz="2600">
                <a:latin typeface="Times New Roman" panose="02020603050405020304" pitchFamily="18" charset="0"/>
                <a:cs typeface="Times New Roman" panose="02020603050405020304" pitchFamily="18" charset="0"/>
              </a:defRPr>
            </a:lvl1pPr>
          </a:lstStyle>
          <a:p>
            <a:r>
              <a:rPr lang="en-US" altLang="zh-CN" dirty="0"/>
              <a:t>Choosing the statistically significant sample size depends on a number of things, such as the size of the population, how precise you want your estimates to be, how confident you want to be in the results, how different the population is likely to be, and how much money and time you have for the study. Statistics are often used to determine a sample size for a certain type of study and research question.</a:t>
            </a:r>
            <a:endParaRPr lang="zh-CN" altLang="en-US" dirty="0"/>
          </a:p>
        </p:txBody>
      </p:sp>
    </p:spTree>
    <p:extLst>
      <p:ext uri="{BB962C8B-B14F-4D97-AF65-F5344CB8AC3E}">
        <p14:creationId xmlns:p14="http://schemas.microsoft.com/office/powerpoint/2010/main" val="1805154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1ACD8-4684-7F01-B7AE-38A39574B84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0F30A9C-CEAB-3D56-6A2E-4B6E8BF8EE69}"/>
              </a:ext>
            </a:extLst>
          </p:cNvPr>
          <p:cNvSpPr txBox="1"/>
          <p:nvPr/>
        </p:nvSpPr>
        <p:spPr>
          <a:xfrm>
            <a:off x="769477" y="2087122"/>
            <a:ext cx="4604336" cy="2492990"/>
          </a:xfrm>
          <a:prstGeom prst="rect">
            <a:avLst/>
          </a:prstGeom>
          <a:solidFill>
            <a:schemeClr val="bg1"/>
          </a:solidFill>
        </p:spPr>
        <p:txBody>
          <a:bodyPr wrap="square">
            <a:spAutoFit/>
          </a:bodyPr>
          <a:lstStyle/>
          <a:p>
            <a:pPr algn="just"/>
            <a:r>
              <a:rPr lang="en-US" altLang="zh-CN" sz="2600" dirty="0">
                <a:latin typeface="Times New Roman" panose="02020603050405020304" pitchFamily="18" charset="0"/>
                <a:cs typeface="Times New Roman" panose="02020603050405020304" pitchFamily="18" charset="0"/>
              </a:rPr>
              <a:t>To understand all of this and make an informed calculation of the right sample size, it is first essential to understand four important variables that form the basic characteristics of a sample.</a:t>
            </a:r>
            <a:endParaRPr lang="zh-CN" altLang="en-US" sz="2600" dirty="0">
              <a:latin typeface="Times New Roman" panose="02020603050405020304" pitchFamily="18" charset="0"/>
              <a:cs typeface="Times New Roman" panose="02020603050405020304" pitchFamily="18" charset="0"/>
            </a:endParaRPr>
          </a:p>
        </p:txBody>
      </p:sp>
      <p:sp>
        <p:nvSpPr>
          <p:cNvPr id="10" name="object 2">
            <a:extLst>
              <a:ext uri="{FF2B5EF4-FFF2-40B4-BE49-F238E27FC236}">
                <a16:creationId xmlns:a16="http://schemas.microsoft.com/office/drawing/2014/main" id="{54537A82-8237-BC55-FC16-79CDAF88E4E2}"/>
              </a:ext>
            </a:extLst>
          </p:cNvPr>
          <p:cNvSpPr txBox="1">
            <a:spLocks noGrp="1"/>
          </p:cNvSpPr>
          <p:nvPr>
            <p:ph type="title"/>
          </p:nvPr>
        </p:nvSpPr>
        <p:spPr>
          <a:xfrm>
            <a:off x="3071645" y="346383"/>
            <a:ext cx="5972343"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How to determine a Sample Size?</a:t>
            </a:r>
          </a:p>
        </p:txBody>
      </p:sp>
      <p:pic>
        <p:nvPicPr>
          <p:cNvPr id="3" name="Picture 2">
            <a:extLst>
              <a:ext uri="{FF2B5EF4-FFF2-40B4-BE49-F238E27FC236}">
                <a16:creationId xmlns:a16="http://schemas.microsoft.com/office/drawing/2014/main" id="{706F7D02-0DFF-1940-36C3-C7534EF3085D}"/>
              </a:ext>
            </a:extLst>
          </p:cNvPr>
          <p:cNvPicPr>
            <a:picLocks noChangeAspect="1"/>
          </p:cNvPicPr>
          <p:nvPr/>
        </p:nvPicPr>
        <p:blipFill>
          <a:blip r:embed="rId3"/>
          <a:stretch>
            <a:fillRect/>
          </a:stretch>
        </p:blipFill>
        <p:spPr>
          <a:xfrm>
            <a:off x="5900739" y="1167763"/>
            <a:ext cx="5460224" cy="5343854"/>
          </a:xfrm>
          <a:prstGeom prst="rect">
            <a:avLst/>
          </a:prstGeom>
        </p:spPr>
      </p:pic>
    </p:spTree>
    <p:extLst>
      <p:ext uri="{BB962C8B-B14F-4D97-AF65-F5344CB8AC3E}">
        <p14:creationId xmlns:p14="http://schemas.microsoft.com/office/powerpoint/2010/main" val="39240056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6A741-4DC2-C0B2-A1C4-EAF5F1E9FBA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D2BB8AF-AAFB-EC0F-8DEB-C355DE2CDCFF}"/>
              </a:ext>
            </a:extLst>
          </p:cNvPr>
          <p:cNvSpPr txBox="1"/>
          <p:nvPr/>
        </p:nvSpPr>
        <p:spPr>
          <a:xfrm>
            <a:off x="712327" y="1337029"/>
            <a:ext cx="3366754" cy="4493538"/>
          </a:xfrm>
          <a:prstGeom prst="rect">
            <a:avLst/>
          </a:prstGeom>
          <a:solidFill>
            <a:schemeClr val="bg1"/>
          </a:solidFill>
        </p:spPr>
        <p:txBody>
          <a:bodyPr wrap="square">
            <a:spAutoFit/>
          </a:bodyPr>
          <a:lstStyle/>
          <a:p>
            <a:pPr algn="just"/>
            <a:r>
              <a:rPr lang="en-US" altLang="zh-CN" sz="2600" b="1" dirty="0">
                <a:solidFill>
                  <a:srgbClr val="00B050"/>
                </a:solidFill>
                <a:latin typeface="Times New Roman" panose="02020603050405020304" pitchFamily="18" charset="0"/>
                <a:cs typeface="Times New Roman" panose="02020603050405020304" pitchFamily="18" charset="0"/>
              </a:rPr>
              <a:t>1. Population size: </a:t>
            </a:r>
          </a:p>
          <a:p>
            <a:pPr algn="just"/>
            <a:r>
              <a:rPr lang="en-US" altLang="zh-CN" sz="2600" dirty="0">
                <a:latin typeface="Times New Roman" panose="02020603050405020304" pitchFamily="18" charset="0"/>
                <a:cs typeface="Times New Roman" panose="02020603050405020304" pitchFamily="18" charset="0"/>
              </a:rPr>
              <a:t>Population size is how many people fit your demographic. For example, you want to get information on doctors residing in North America. Your population size is the total number of doctors in North America. </a:t>
            </a:r>
            <a:endParaRPr lang="zh-CN" altLang="en-US" sz="2600" dirty="0">
              <a:latin typeface="Times New Roman" panose="02020603050405020304" pitchFamily="18" charset="0"/>
              <a:cs typeface="Times New Roman" panose="02020603050405020304" pitchFamily="18" charset="0"/>
            </a:endParaRPr>
          </a:p>
        </p:txBody>
      </p:sp>
      <p:sp>
        <p:nvSpPr>
          <p:cNvPr id="10" name="object 2">
            <a:extLst>
              <a:ext uri="{FF2B5EF4-FFF2-40B4-BE49-F238E27FC236}">
                <a16:creationId xmlns:a16="http://schemas.microsoft.com/office/drawing/2014/main" id="{1939EDAC-35A7-8CE4-579D-470532E9C9EE}"/>
              </a:ext>
            </a:extLst>
          </p:cNvPr>
          <p:cNvSpPr txBox="1">
            <a:spLocks noGrp="1"/>
          </p:cNvSpPr>
          <p:nvPr>
            <p:ph type="title"/>
          </p:nvPr>
        </p:nvSpPr>
        <p:spPr>
          <a:xfrm>
            <a:off x="3071645" y="346383"/>
            <a:ext cx="5972343"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How to determine a Sample Size?</a:t>
            </a:r>
          </a:p>
        </p:txBody>
      </p:sp>
      <p:sp>
        <p:nvSpPr>
          <p:cNvPr id="5" name="TextBox 4">
            <a:extLst>
              <a:ext uri="{FF2B5EF4-FFF2-40B4-BE49-F238E27FC236}">
                <a16:creationId xmlns:a16="http://schemas.microsoft.com/office/drawing/2014/main" id="{46ACFAD3-505D-48F9-EE6C-9D6098AD0C8F}"/>
              </a:ext>
            </a:extLst>
          </p:cNvPr>
          <p:cNvSpPr txBox="1"/>
          <p:nvPr/>
        </p:nvSpPr>
        <p:spPr>
          <a:xfrm>
            <a:off x="4471904" y="1208441"/>
            <a:ext cx="3436228" cy="4893647"/>
          </a:xfrm>
          <a:prstGeom prst="rect">
            <a:avLst/>
          </a:prstGeom>
          <a:solidFill>
            <a:schemeClr val="bg1"/>
          </a:solidFill>
        </p:spPr>
        <p:txBody>
          <a:bodyPr wrap="square">
            <a:spAutoFit/>
          </a:bodyPr>
          <a:lstStyle>
            <a:defPPr>
              <a:defRPr lang="en-US"/>
            </a:defPPr>
            <a:lvl1pPr algn="just">
              <a:defRPr sz="2600" b="1">
                <a:solidFill>
                  <a:srgbClr val="00B050"/>
                </a:solidFill>
                <a:latin typeface="Times New Roman" panose="02020603050405020304" pitchFamily="18" charset="0"/>
                <a:cs typeface="Times New Roman" panose="02020603050405020304" pitchFamily="18" charset="0"/>
              </a:defRPr>
            </a:lvl1pPr>
          </a:lstStyle>
          <a:p>
            <a:r>
              <a:rPr lang="en-US" altLang="zh-CN" dirty="0"/>
              <a:t>2. Confidence level: </a:t>
            </a:r>
          </a:p>
          <a:p>
            <a:r>
              <a:rPr lang="en-US" altLang="zh-CN" b="0" dirty="0">
                <a:solidFill>
                  <a:schemeClr val="tx1"/>
                </a:solidFill>
              </a:rPr>
              <a:t>The confidence level tells you how sure you can be that your data is accurate. It is expressed as a percentage and aligned to the confidence interval. For example, if your confidence level is 90%, your results will most likely be 90% accurate.</a:t>
            </a:r>
          </a:p>
        </p:txBody>
      </p:sp>
      <p:pic>
        <p:nvPicPr>
          <p:cNvPr id="7" name="Picture 6">
            <a:extLst>
              <a:ext uri="{FF2B5EF4-FFF2-40B4-BE49-F238E27FC236}">
                <a16:creationId xmlns:a16="http://schemas.microsoft.com/office/drawing/2014/main" id="{52EE8471-FBC0-2949-3661-F26253682587}"/>
              </a:ext>
            </a:extLst>
          </p:cNvPr>
          <p:cNvPicPr>
            <a:picLocks noChangeAspect="1"/>
          </p:cNvPicPr>
          <p:nvPr/>
        </p:nvPicPr>
        <p:blipFill>
          <a:blip r:embed="rId3"/>
          <a:stretch>
            <a:fillRect/>
          </a:stretch>
        </p:blipFill>
        <p:spPr>
          <a:xfrm>
            <a:off x="8029575" y="2000250"/>
            <a:ext cx="3921919" cy="3457575"/>
          </a:xfrm>
          <a:prstGeom prst="rect">
            <a:avLst/>
          </a:prstGeom>
        </p:spPr>
      </p:pic>
    </p:spTree>
    <p:extLst>
      <p:ext uri="{BB962C8B-B14F-4D97-AF65-F5344CB8AC3E}">
        <p14:creationId xmlns:p14="http://schemas.microsoft.com/office/powerpoint/2010/main" val="1179172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80680-B007-2A18-53C4-6C1E3D78B42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8143996-1517-C0E9-3CE7-7416D04794E4}"/>
              </a:ext>
            </a:extLst>
          </p:cNvPr>
          <p:cNvSpPr txBox="1"/>
          <p:nvPr/>
        </p:nvSpPr>
        <p:spPr>
          <a:xfrm>
            <a:off x="2941178" y="1110763"/>
            <a:ext cx="4604336" cy="4893647"/>
          </a:xfrm>
          <a:prstGeom prst="rect">
            <a:avLst/>
          </a:prstGeom>
          <a:solidFill>
            <a:schemeClr val="bg1"/>
          </a:solidFill>
        </p:spPr>
        <p:txBody>
          <a:bodyPr wrap="square">
            <a:spAutoFit/>
          </a:bodyPr>
          <a:lstStyle/>
          <a:p>
            <a:pPr algn="just"/>
            <a:r>
              <a:rPr lang="en-US" altLang="zh-CN" sz="2600" b="1" dirty="0">
                <a:solidFill>
                  <a:srgbClr val="00B050"/>
                </a:solidFill>
                <a:latin typeface="Times New Roman" panose="02020603050405020304" pitchFamily="18" charset="0"/>
                <a:cs typeface="Times New Roman" panose="02020603050405020304" pitchFamily="18" charset="0"/>
              </a:rPr>
              <a:t>3. The margin of error (confidence interval): </a:t>
            </a:r>
          </a:p>
          <a:p>
            <a:pPr algn="just"/>
            <a:r>
              <a:rPr lang="en-US" altLang="zh-CN" sz="2600" dirty="0">
                <a:latin typeface="Times New Roman" panose="02020603050405020304" pitchFamily="18" charset="0"/>
                <a:cs typeface="Times New Roman" panose="02020603050405020304" pitchFamily="18" charset="0"/>
              </a:rPr>
              <a:t>There’s no way to be 100% accurate when it comes to surveys. Confidence intervals tell you how far off from the population means you’re willing to allow your data to fall. </a:t>
            </a:r>
          </a:p>
          <a:p>
            <a:pPr algn="just"/>
            <a:r>
              <a:rPr lang="en-US" altLang="zh-CN" sz="2600" dirty="0">
                <a:latin typeface="Times New Roman" panose="02020603050405020304" pitchFamily="18" charset="0"/>
                <a:cs typeface="Times New Roman" panose="02020603050405020304" pitchFamily="18" charset="0"/>
              </a:rPr>
              <a:t>A margin of error describes how close you can reasonably expect a survey result to fall relative to the real population value.</a:t>
            </a:r>
            <a:endParaRPr lang="zh-CN" altLang="en-US" sz="2600" dirty="0">
              <a:latin typeface="Times New Roman" panose="02020603050405020304" pitchFamily="18" charset="0"/>
              <a:cs typeface="Times New Roman" panose="02020603050405020304" pitchFamily="18" charset="0"/>
            </a:endParaRPr>
          </a:p>
        </p:txBody>
      </p:sp>
      <p:sp>
        <p:nvSpPr>
          <p:cNvPr id="10" name="object 2">
            <a:extLst>
              <a:ext uri="{FF2B5EF4-FFF2-40B4-BE49-F238E27FC236}">
                <a16:creationId xmlns:a16="http://schemas.microsoft.com/office/drawing/2014/main" id="{608927E6-D5ED-9434-2FEA-90170D06962B}"/>
              </a:ext>
            </a:extLst>
          </p:cNvPr>
          <p:cNvSpPr txBox="1">
            <a:spLocks noGrp="1"/>
          </p:cNvSpPr>
          <p:nvPr>
            <p:ph type="title"/>
          </p:nvPr>
        </p:nvSpPr>
        <p:spPr>
          <a:xfrm>
            <a:off x="3071645" y="346383"/>
            <a:ext cx="5972343"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How to determine a Sample Size?</a:t>
            </a:r>
          </a:p>
        </p:txBody>
      </p:sp>
    </p:spTree>
    <p:extLst>
      <p:ext uri="{BB962C8B-B14F-4D97-AF65-F5344CB8AC3E}">
        <p14:creationId xmlns:p14="http://schemas.microsoft.com/office/powerpoint/2010/main" val="2918497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B986A-5343-DDC3-9FC9-4FA573998E33}"/>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01F9C5EC-B0A4-27A6-15BC-A4A9323D59D0}"/>
              </a:ext>
            </a:extLst>
          </p:cNvPr>
          <p:cNvSpPr txBox="1">
            <a:spLocks noGrp="1"/>
          </p:cNvSpPr>
          <p:nvPr>
            <p:ph type="title"/>
          </p:nvPr>
        </p:nvSpPr>
        <p:spPr>
          <a:xfrm>
            <a:off x="355064" y="189220"/>
            <a:ext cx="5972343"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How to determine a Sample Size?</a:t>
            </a:r>
          </a:p>
        </p:txBody>
      </p:sp>
      <p:sp>
        <p:nvSpPr>
          <p:cNvPr id="5" name="TextBox 4">
            <a:extLst>
              <a:ext uri="{FF2B5EF4-FFF2-40B4-BE49-F238E27FC236}">
                <a16:creationId xmlns:a16="http://schemas.microsoft.com/office/drawing/2014/main" id="{D69119DD-65F4-AB7F-6ABE-15AE391E3B24}"/>
              </a:ext>
            </a:extLst>
          </p:cNvPr>
          <p:cNvSpPr txBox="1"/>
          <p:nvPr/>
        </p:nvSpPr>
        <p:spPr>
          <a:xfrm>
            <a:off x="355064" y="881914"/>
            <a:ext cx="6186487" cy="4893647"/>
          </a:xfrm>
          <a:prstGeom prst="rect">
            <a:avLst/>
          </a:prstGeom>
          <a:solidFill>
            <a:schemeClr val="bg1"/>
          </a:solidFill>
        </p:spPr>
        <p:txBody>
          <a:bodyPr wrap="square">
            <a:spAutoFit/>
          </a:bodyPr>
          <a:lstStyle>
            <a:defPPr>
              <a:defRPr lang="en-US"/>
            </a:defPPr>
            <a:lvl1pPr algn="just">
              <a:defRPr sz="2600" b="1">
                <a:solidFill>
                  <a:srgbClr val="00B050"/>
                </a:solidFill>
                <a:latin typeface="Times New Roman" panose="02020603050405020304" pitchFamily="18" charset="0"/>
                <a:cs typeface="Times New Roman" panose="02020603050405020304" pitchFamily="18" charset="0"/>
              </a:defRPr>
            </a:lvl1pPr>
          </a:lstStyle>
          <a:p>
            <a:r>
              <a:rPr lang="en-US" altLang="zh-CN" dirty="0"/>
              <a:t>4. Standard deviation: </a:t>
            </a:r>
          </a:p>
          <a:p>
            <a:r>
              <a:rPr lang="en-US" altLang="zh-CN" b="0" dirty="0">
                <a:solidFill>
                  <a:schemeClr val="tx1"/>
                </a:solidFill>
              </a:rPr>
              <a:t>Standard deviation is the measure of the dispersion of a data set from its mean. It measures the absolute variability of a distribution. The higher the dispersion or variability, the greater the standard deviation and the greater the magnitude of the deviation. </a:t>
            </a:r>
          </a:p>
          <a:p>
            <a:r>
              <a:rPr lang="en-US" altLang="zh-CN" b="0" dirty="0">
                <a:solidFill>
                  <a:schemeClr val="tx1"/>
                </a:solidFill>
              </a:rPr>
              <a:t>For example, you have already sent out your survey. How much variance do you expect in your responses? That variation in response is the standard deviation.</a:t>
            </a:r>
          </a:p>
        </p:txBody>
      </p:sp>
      <p:pic>
        <p:nvPicPr>
          <p:cNvPr id="3" name="Picture 2">
            <a:extLst>
              <a:ext uri="{FF2B5EF4-FFF2-40B4-BE49-F238E27FC236}">
                <a16:creationId xmlns:a16="http://schemas.microsoft.com/office/drawing/2014/main" id="{D3293950-BF46-8B2D-74CB-4503C28827F5}"/>
              </a:ext>
            </a:extLst>
          </p:cNvPr>
          <p:cNvPicPr>
            <a:picLocks noChangeAspect="1"/>
          </p:cNvPicPr>
          <p:nvPr/>
        </p:nvPicPr>
        <p:blipFill>
          <a:blip r:embed="rId3"/>
          <a:stretch>
            <a:fillRect/>
          </a:stretch>
        </p:blipFill>
        <p:spPr>
          <a:xfrm>
            <a:off x="6832174" y="189220"/>
            <a:ext cx="4669264" cy="3194749"/>
          </a:xfrm>
          <a:prstGeom prst="rect">
            <a:avLst/>
          </a:prstGeom>
        </p:spPr>
      </p:pic>
      <p:sp>
        <p:nvSpPr>
          <p:cNvPr id="7" name="TextBox 6">
            <a:extLst>
              <a:ext uri="{FF2B5EF4-FFF2-40B4-BE49-F238E27FC236}">
                <a16:creationId xmlns:a16="http://schemas.microsoft.com/office/drawing/2014/main" id="{80A2C981-3723-FE9B-3806-F216C2719873}"/>
              </a:ext>
            </a:extLst>
          </p:cNvPr>
          <p:cNvSpPr txBox="1"/>
          <p:nvPr/>
        </p:nvSpPr>
        <p:spPr>
          <a:xfrm>
            <a:off x="6622256" y="3602869"/>
            <a:ext cx="5500688" cy="2800767"/>
          </a:xfrm>
          <a:prstGeom prst="rect">
            <a:avLst/>
          </a:prstGeom>
          <a:solidFill>
            <a:schemeClr val="bg1"/>
          </a:solidFill>
        </p:spPr>
        <p:txBody>
          <a:bodyPr wrap="square">
            <a:spAutoFit/>
          </a:bodyPr>
          <a:lstStyle/>
          <a:p>
            <a:pPr algn="just"/>
            <a:r>
              <a:rPr lang="en-US" altLang="zh-CN" sz="2200" dirty="0">
                <a:latin typeface="Times New Roman" panose="02020603050405020304" pitchFamily="18" charset="0"/>
                <a:cs typeface="Times New Roman" panose="02020603050405020304" pitchFamily="18" charset="0"/>
              </a:rPr>
              <a:t>Standard deviation is a statistical measurement of the amount a number varies from the average number in a series. A low standard deviation means that the data is very closely related to the average, thus very reliable. A high standard deviation means that there is a large variance between the data and the statistical average, and is not as reliable.</a:t>
            </a:r>
            <a:endParaRPr lang="zh-CN" alt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21493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16042-1258-D368-38F9-121724EDD757}"/>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AA9C1737-CABE-D091-B3DF-935642F12770}"/>
              </a:ext>
            </a:extLst>
          </p:cNvPr>
          <p:cNvSpPr txBox="1">
            <a:spLocks noGrp="1"/>
          </p:cNvSpPr>
          <p:nvPr>
            <p:ph type="title"/>
          </p:nvPr>
        </p:nvSpPr>
        <p:spPr>
          <a:xfrm>
            <a:off x="1014413" y="124784"/>
            <a:ext cx="8029575" cy="978729"/>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Sample Size Calculation Formula – Sample Size Determination</a:t>
            </a:r>
          </a:p>
        </p:txBody>
      </p:sp>
      <p:pic>
        <p:nvPicPr>
          <p:cNvPr id="3" name="Picture 2">
            <a:extLst>
              <a:ext uri="{FF2B5EF4-FFF2-40B4-BE49-F238E27FC236}">
                <a16:creationId xmlns:a16="http://schemas.microsoft.com/office/drawing/2014/main" id="{7C325896-23A9-7609-FD33-60A0065BEBCC}"/>
              </a:ext>
            </a:extLst>
          </p:cNvPr>
          <p:cNvPicPr>
            <a:picLocks noChangeAspect="1"/>
          </p:cNvPicPr>
          <p:nvPr/>
        </p:nvPicPr>
        <p:blipFill>
          <a:blip r:embed="rId3"/>
          <a:stretch>
            <a:fillRect/>
          </a:stretch>
        </p:blipFill>
        <p:spPr>
          <a:xfrm>
            <a:off x="2645551" y="1273964"/>
            <a:ext cx="6069823" cy="1404942"/>
          </a:xfrm>
          <a:prstGeom prst="rect">
            <a:avLst/>
          </a:prstGeom>
        </p:spPr>
      </p:pic>
      <p:pic>
        <p:nvPicPr>
          <p:cNvPr id="7" name="Picture 6">
            <a:extLst>
              <a:ext uri="{FF2B5EF4-FFF2-40B4-BE49-F238E27FC236}">
                <a16:creationId xmlns:a16="http://schemas.microsoft.com/office/drawing/2014/main" id="{C326E5FD-59BE-F642-64BC-779464064BE2}"/>
              </a:ext>
            </a:extLst>
          </p:cNvPr>
          <p:cNvPicPr>
            <a:picLocks noChangeAspect="1"/>
          </p:cNvPicPr>
          <p:nvPr/>
        </p:nvPicPr>
        <p:blipFill>
          <a:blip r:embed="rId4"/>
          <a:stretch>
            <a:fillRect/>
          </a:stretch>
        </p:blipFill>
        <p:spPr>
          <a:xfrm>
            <a:off x="914379" y="2849357"/>
            <a:ext cx="9694089" cy="3883859"/>
          </a:xfrm>
          <a:prstGeom prst="rect">
            <a:avLst/>
          </a:prstGeom>
        </p:spPr>
      </p:pic>
    </p:spTree>
    <p:extLst>
      <p:ext uri="{BB962C8B-B14F-4D97-AF65-F5344CB8AC3E}">
        <p14:creationId xmlns:p14="http://schemas.microsoft.com/office/powerpoint/2010/main" val="3678810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16612" y="2659559"/>
            <a:ext cx="2534668" cy="769441"/>
          </a:xfrm>
          <a:prstGeom prst="rect">
            <a:avLst/>
          </a:prstGeom>
        </p:spPr>
        <p:txBody>
          <a:bodyPr wrap="none">
            <a:spAutoFit/>
          </a:bodyPr>
          <a:lstStyle/>
          <a:p>
            <a:r>
              <a:rPr lang="en-US" sz="4400" b="1" u="sng" cap="all" dirty="0">
                <a:solidFill>
                  <a:srgbClr val="FFFF00"/>
                </a:solidFill>
                <a:latin typeface="Arial" panose="020B0604020202020204" pitchFamily="34" charset="0"/>
              </a:rPr>
              <a:t>Thanks</a:t>
            </a:r>
            <a:endParaRPr lang="en-US" sz="4400" dirty="0">
              <a:solidFill>
                <a:srgbClr val="FFFF00"/>
              </a:solidFill>
            </a:endParaRPr>
          </a:p>
        </p:txBody>
      </p:sp>
    </p:spTree>
    <p:extLst>
      <p:ext uri="{BB962C8B-B14F-4D97-AF65-F5344CB8AC3E}">
        <p14:creationId xmlns:p14="http://schemas.microsoft.com/office/powerpoint/2010/main" val="1650352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6409</TotalTime>
  <Words>2181</Words>
  <Application>Microsoft Office PowerPoint</Application>
  <PresentationFormat>Widescreen</PresentationFormat>
  <Paragraphs>118</Paragraphs>
  <Slides>26</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Times New Roman</vt:lpstr>
      <vt:lpstr>Office Theme</vt:lpstr>
      <vt:lpstr>Research Methodology </vt:lpstr>
      <vt:lpstr>PowerPoint Presentation</vt:lpstr>
      <vt:lpstr>WHAT IS SAMPLING </vt:lpstr>
      <vt:lpstr>PowerPoint Presentation</vt:lpstr>
      <vt:lpstr>TYPES OF SAMPLING</vt:lpstr>
      <vt:lpstr>TYPES OF SAMPLING</vt:lpstr>
      <vt:lpstr>TYPES OF SAMPLING</vt:lpstr>
      <vt:lpstr>TYPES OF SAMPLING</vt:lpstr>
      <vt:lpstr>TYPES OF SAMPLING</vt:lpstr>
      <vt:lpstr>TYPES OF SAMPLING</vt:lpstr>
      <vt:lpstr>TYPES OF SAMPLING</vt:lpstr>
      <vt:lpstr>TYPES OF SAMPLING</vt:lpstr>
      <vt:lpstr>TYPES OF SAMPLING</vt:lpstr>
      <vt:lpstr>TYPES OF SAMPLING</vt:lpstr>
      <vt:lpstr>PowerPoint Presentation</vt:lpstr>
      <vt:lpstr>Sampling Advantages</vt:lpstr>
      <vt:lpstr>Sampling Advantages</vt:lpstr>
      <vt:lpstr>Sampling Advantages</vt:lpstr>
      <vt:lpstr>Sample Size Determination?</vt:lpstr>
      <vt:lpstr>Sample Size Determination</vt:lpstr>
      <vt:lpstr>How to determine a Sample Size?</vt:lpstr>
      <vt:lpstr>How to determine a Sample Size?</vt:lpstr>
      <vt:lpstr>How to determine a Sample Size?</vt:lpstr>
      <vt:lpstr>How to determine a Sample Size?</vt:lpstr>
      <vt:lpstr>Sample Size Calculation Formula – Sample Size Determination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PGP Program (Ph.D)</dc:title>
  <dc:creator>Bahria</dc:creator>
  <cp:lastModifiedBy>Dr. Faheem Akhtar BUKC</cp:lastModifiedBy>
  <cp:revision>546</cp:revision>
  <cp:lastPrinted>2021-05-24T09:00:11Z</cp:lastPrinted>
  <dcterms:created xsi:type="dcterms:W3CDTF">2021-05-24T08:10:44Z</dcterms:created>
  <dcterms:modified xsi:type="dcterms:W3CDTF">2025-10-10T15:42:53Z</dcterms:modified>
</cp:coreProperties>
</file>