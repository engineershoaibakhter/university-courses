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71" r:id="rId2"/>
    <p:sldId id="303" r:id="rId3"/>
    <p:sldId id="305" r:id="rId4"/>
    <p:sldId id="307" r:id="rId5"/>
    <p:sldId id="308" r:id="rId6"/>
    <p:sldId id="309" r:id="rId7"/>
    <p:sldId id="310" r:id="rId8"/>
    <p:sldId id="311" r:id="rId9"/>
    <p:sldId id="313" r:id="rId10"/>
    <p:sldId id="314" r:id="rId11"/>
    <p:sldId id="315" r:id="rId12"/>
    <p:sldId id="316" r:id="rId13"/>
    <p:sldId id="317" r:id="rId14"/>
    <p:sldId id="318" r:id="rId15"/>
    <p:sldId id="319" r:id="rId16"/>
    <p:sldId id="320" r:id="rId17"/>
    <p:sldId id="321" r:id="rId18"/>
    <p:sldId id="322" r:id="rId19"/>
    <p:sldId id="323" r:id="rId20"/>
    <p:sldId id="324" r:id="rId21"/>
    <p:sldId id="325" r:id="rId22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303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558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4T17:31:51.691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1 202,'152'9,"-26"0,383-6,-317-3,65-1,41 2,38 5,2104 27,-2208-31,245 17,86 1,5787-22,-3761 2,-2552-1,0-3,0-1,-1-1,52-17,-36 11,1 3,70-4,79 6,-132 8,0-4,87-13,-73-1,155-9,-141 21,128-22,-129 13,113 0,100 14,-149 2,1559-2,-1643-3,111-17,-98 11,110 2,-75 5,-103 1,0-1,0-1,0-1,0-1,32-12,-33 10,1 1,0 1,0 1,42-3,92 8,-69 1,49-2,-130 0,1 1,-1 0,0 1,1-1,-1 1,0 1,-1-1,9 5,-6-4,-1 1,2-1,15 4,-2-3,-3-3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17:31:54.818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0,'14525'20'0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17:32:02.614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0,'18038'0'0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17:32:06.626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1 140 0,'15200'-140'0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4T17:32:11.427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1 377,'9044'0,"-8254"-16,-545-3,30-2,464 15,-431 8,431-13,20 2,-537 10,49-23,-195 13,114-22,-111 16,112-8,276 22,-228 3,-73-2,709-16,-825 10,0-2,67-19,-66 13,98-12,-67 19,224-22,-165 20,-121 6,35-12,-39 10,1 1,0 0,27-2,10 4,-21 2,36-6,7-1,115 3,-139 4,-35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17:32:15.306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 0,'14010'140'0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17:32:23.047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1 398 0,'27642'-397'0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4T17:32:28.243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0 162,'38'1,"8"0,1-3,90-13,251-51,-137 46,3 19,-166 1,4507 3,-2617-4,-1857-4,174-28,8 9,1 25,-139 1,1268-1,-742-2,-673 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4T17:32:32.900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87,'909'0,"-629"0,43 0,15888 0,-15367 0,-570-10,-3 0,751 10,-992-1,42-7,22-2,198 9,-133 2,-146-2,1-1,0-1,-1 0,1-1,-1 0,0-1,24-13,-23 10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4T17:32:37.546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0,'14913'0,"-11385"0,-2303 17,-626 1,275 4,70-1,579 1,-161-24,-749 3,-253-2,399 3,-358 23,-324-19,406 4,-309-11,496 1,-656 0,-1 2,0 0,0 1,22 7,-13-4,4 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17:37:56.936"/>
    </inkml:context>
    <inkml:brush xml:id="br0">
      <inkml:brushProperty name="width" value="0.5" units="cm"/>
      <inkml:brushProperty name="height" value="1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0,'23933'0'0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17:38:08.197"/>
    </inkml:context>
    <inkml:brush xml:id="br0">
      <inkml:brushProperty name="width" value="0.5" units="cm"/>
      <inkml:brushProperty name="height" value="1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99 0,'24983'-99'0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17:38:11.662"/>
    </inkml:context>
    <inkml:brush xml:id="br0">
      <inkml:brushProperty name="width" value="0.5" units="cm"/>
      <inkml:brushProperty name="height" value="1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59 0,'6906'-58'0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2EC1DE-35C0-4CA5-BA52-E1B050F26AC5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B9EE01-63FC-4CA8-A19A-073FDAA819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435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C5B91-1E4F-478A-8BAD-D924F2068EA4}" type="datetimeFigureOut">
              <a:rPr lang="en-US" smtClean="0"/>
              <a:t>10/4/2025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39FEF-9CF8-4298-BA6A-4188A34D088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2444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C5B91-1E4F-478A-8BAD-D924F2068EA4}" type="datetimeFigureOut">
              <a:rPr lang="en-US" smtClean="0"/>
              <a:t>10/4/2025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39FEF-9CF8-4298-BA6A-4188A34D088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79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C5B91-1E4F-478A-8BAD-D924F2068EA4}" type="datetimeFigureOut">
              <a:rPr lang="en-US" smtClean="0"/>
              <a:t>10/4/2025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39FEF-9CF8-4298-BA6A-4188A34D088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37210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C5B91-1E4F-478A-8BAD-D924F2068EA4}" type="datetimeFigureOut">
              <a:rPr lang="en-US" smtClean="0"/>
              <a:t>10/4/2025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39FEF-9CF8-4298-BA6A-4188A34D088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088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C5B91-1E4F-478A-8BAD-D924F2068EA4}" type="datetimeFigureOut">
              <a:rPr lang="en-US" smtClean="0"/>
              <a:t>10/4/2025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39FEF-9CF8-4298-BA6A-4188A34D088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8719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C5B91-1E4F-478A-8BAD-D924F2068EA4}" type="datetimeFigureOut">
              <a:rPr lang="en-US" smtClean="0"/>
              <a:t>10/4/2025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39FEF-9CF8-4298-BA6A-4188A34D088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98816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C5B91-1E4F-478A-8BAD-D924F2068EA4}" type="datetimeFigureOut">
              <a:rPr lang="en-US" smtClean="0"/>
              <a:t>10/4/2025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39FEF-9CF8-4298-BA6A-4188A34D088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0420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C5B91-1E4F-478A-8BAD-D924F2068EA4}" type="datetimeFigureOut">
              <a:rPr lang="en-US" smtClean="0"/>
              <a:t>10/4/2025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39FEF-9CF8-4298-BA6A-4188A34D088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3431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C5B91-1E4F-478A-8BAD-D924F2068EA4}" type="datetimeFigureOut">
              <a:rPr lang="en-US" smtClean="0"/>
              <a:t>10/4/2025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39FEF-9CF8-4298-BA6A-4188A34D088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643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C5B91-1E4F-478A-8BAD-D924F2068EA4}" type="datetimeFigureOut">
              <a:rPr lang="en-US" smtClean="0"/>
              <a:t>10/4/2025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39FEF-9CF8-4298-BA6A-4188A34D088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5975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C5B91-1E4F-478A-8BAD-D924F2068EA4}" type="datetimeFigureOut">
              <a:rPr lang="en-US" smtClean="0"/>
              <a:t>10/4/2025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39FEF-9CF8-4298-BA6A-4188A34D088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2894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FC5B91-1E4F-478A-8BAD-D924F2068EA4}" type="datetimeFigureOut">
              <a:rPr lang="en-US" smtClean="0"/>
              <a:t>10/4/2025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A39FEF-9CF8-4298-BA6A-4188A34D088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8868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" Target="slide20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slide" Target="slide1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6.xml"/><Relationship Id="rId5" Type="http://schemas.openxmlformats.org/officeDocument/2006/relationships/slide" Target="slide15.xml"/><Relationship Id="rId4" Type="http://schemas.openxmlformats.org/officeDocument/2006/relationships/slide" Target="slide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8.xml"/><Relationship Id="rId2" Type="http://schemas.openxmlformats.org/officeDocument/2006/relationships/slide" Target="slide1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13" Type="http://schemas.openxmlformats.org/officeDocument/2006/relationships/image" Target="../media/image11.png"/><Relationship Id="rId18" Type="http://schemas.openxmlformats.org/officeDocument/2006/relationships/customXml" Target="../ink/ink7.xml"/><Relationship Id="rId3" Type="http://schemas.openxmlformats.org/officeDocument/2006/relationships/image" Target="../media/image6.png"/><Relationship Id="rId21" Type="http://schemas.openxmlformats.org/officeDocument/2006/relationships/image" Target="../media/image15.png"/><Relationship Id="rId7" Type="http://schemas.openxmlformats.org/officeDocument/2006/relationships/image" Target="../media/image8.png"/><Relationship Id="rId12" Type="http://schemas.openxmlformats.org/officeDocument/2006/relationships/customXml" Target="../ink/ink4.xml"/><Relationship Id="rId17" Type="http://schemas.openxmlformats.org/officeDocument/2006/relationships/image" Target="../media/image13.png"/><Relationship Id="rId25" Type="http://schemas.openxmlformats.org/officeDocument/2006/relationships/image" Target="../media/image17.png"/><Relationship Id="rId2" Type="http://schemas.openxmlformats.org/officeDocument/2006/relationships/image" Target="../media/image5.png"/><Relationship Id="rId16" Type="http://schemas.openxmlformats.org/officeDocument/2006/relationships/customXml" Target="../ink/ink6.xml"/><Relationship Id="rId20" Type="http://schemas.openxmlformats.org/officeDocument/2006/relationships/customXml" Target="../ink/ink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.xml"/><Relationship Id="rId11" Type="http://schemas.openxmlformats.org/officeDocument/2006/relationships/image" Target="../media/image10.png"/><Relationship Id="rId24" Type="http://schemas.openxmlformats.org/officeDocument/2006/relationships/customXml" Target="../ink/ink10.xml"/><Relationship Id="rId5" Type="http://schemas.openxmlformats.org/officeDocument/2006/relationships/slide" Target="slide10.xml"/><Relationship Id="rId15" Type="http://schemas.openxmlformats.org/officeDocument/2006/relationships/image" Target="../media/image12.png"/><Relationship Id="rId23" Type="http://schemas.openxmlformats.org/officeDocument/2006/relationships/image" Target="../media/image16.png"/><Relationship Id="rId10" Type="http://schemas.openxmlformats.org/officeDocument/2006/relationships/customXml" Target="../ink/ink3.xml"/><Relationship Id="rId19" Type="http://schemas.openxmlformats.org/officeDocument/2006/relationships/image" Target="../media/image14.png"/><Relationship Id="rId4" Type="http://schemas.openxmlformats.org/officeDocument/2006/relationships/image" Target="../media/image7.png"/><Relationship Id="rId9" Type="http://schemas.openxmlformats.org/officeDocument/2006/relationships/image" Target="../media/image9.png"/><Relationship Id="rId14" Type="http://schemas.openxmlformats.org/officeDocument/2006/relationships/customXml" Target="../ink/ink5.xml"/><Relationship Id="rId22" Type="http://schemas.openxmlformats.org/officeDocument/2006/relationships/customXml" Target="../ink/ink9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ustomXml" Target="../ink/ink12.xml"/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2" Type="http://schemas.openxmlformats.org/officeDocument/2006/relationships/slide" Target="slide1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1.xml"/><Relationship Id="rId11" Type="http://schemas.openxmlformats.org/officeDocument/2006/relationships/image" Target="../media/image23.png"/><Relationship Id="rId5" Type="http://schemas.openxmlformats.org/officeDocument/2006/relationships/image" Target="../media/image20.png"/><Relationship Id="rId10" Type="http://schemas.openxmlformats.org/officeDocument/2006/relationships/customXml" Target="../ink/ink13.xml"/><Relationship Id="rId4" Type="http://schemas.openxmlformats.org/officeDocument/2006/relationships/image" Target="../media/image19.png"/><Relationship Id="rId9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slide" Target="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slide" Target="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slide" Target="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slide" Target="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4.png"/><Relationship Id="rId7" Type="http://schemas.openxmlformats.org/officeDocument/2006/relationships/image" Target="../media/image47.png"/><Relationship Id="rId2" Type="http://schemas.openxmlformats.org/officeDocument/2006/relationships/slide" Target="slide11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slide" Target="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10" Type="http://schemas.openxmlformats.org/officeDocument/2006/relationships/image" Target="../media/image56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14FA53E-EB90-D21D-6030-C072BE409D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" y="0"/>
            <a:ext cx="10158413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DEA09F6-61BC-EAB9-0CB8-E2BC6E077337}"/>
              </a:ext>
            </a:extLst>
          </p:cNvPr>
          <p:cNvSpPr/>
          <p:nvPr/>
        </p:nvSpPr>
        <p:spPr>
          <a:xfrm>
            <a:off x="8161059" y="5657671"/>
            <a:ext cx="4030941" cy="12003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 b="1" u="sng" dirty="0"/>
              <a:t>DR. FAHEEM AKHTAR</a:t>
            </a:r>
          </a:p>
          <a:p>
            <a:r>
              <a:rPr lang="en-US" sz="2400" b="1" i="1" dirty="0"/>
              <a:t>Ph.D.  (Zhejiang University)</a:t>
            </a:r>
            <a:br>
              <a:rPr lang="en-US" sz="2400" b="1" i="1" dirty="0"/>
            </a:br>
            <a:r>
              <a:rPr lang="en-US" sz="2400" b="1" i="1" dirty="0"/>
              <a:t>Assistant Professor </a:t>
            </a:r>
            <a:endParaRPr lang="en-US" sz="2400" i="1" dirty="0"/>
          </a:p>
        </p:txBody>
      </p:sp>
    </p:spTree>
    <p:extLst>
      <p:ext uri="{BB962C8B-B14F-4D97-AF65-F5344CB8AC3E}">
        <p14:creationId xmlns:p14="http://schemas.microsoft.com/office/powerpoint/2010/main" val="10134673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35932CD-A121-704A-B38C-67AB0F2DAD62}"/>
              </a:ext>
            </a:extLst>
          </p:cNvPr>
          <p:cNvSpPr txBox="1"/>
          <p:nvPr/>
        </p:nvSpPr>
        <p:spPr>
          <a:xfrm>
            <a:off x="784318" y="1402661"/>
            <a:ext cx="5039707" cy="181588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just"/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Hypothesis i</a:t>
            </a:r>
            <a:r>
              <a:rPr lang="en-US" altLang="zh-CN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 a formal tentative statement of the expected relationship between two or more </a:t>
            </a:r>
            <a:r>
              <a:rPr lang="en-US" altLang="zh-CN" sz="2800" b="0" i="0" u="sng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sldjump"/>
              </a:rPr>
              <a:t>variables</a:t>
            </a:r>
            <a:r>
              <a:rPr lang="en-US" altLang="zh-CN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under the study.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C88F477-4825-596E-C7D4-D74AFA7232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319" y="106334"/>
            <a:ext cx="5451725" cy="118700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5C71166-D68C-A3B3-0D69-0F7412B67CC1}"/>
              </a:ext>
            </a:extLst>
          </p:cNvPr>
          <p:cNvSpPr txBox="1"/>
          <p:nvPr/>
        </p:nvSpPr>
        <p:spPr>
          <a:xfrm>
            <a:off x="784318" y="3970810"/>
            <a:ext cx="3993556" cy="2677656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just"/>
            <a:r>
              <a:rPr lang="en-US" altLang="zh-CN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Its helps to translate the research problem and objectives into a prediction of the expected results or outcomes of the research study.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F41194-6F90-A06B-70FA-F1F6CD428F0D}"/>
              </a:ext>
            </a:extLst>
          </p:cNvPr>
          <p:cNvSpPr txBox="1"/>
          <p:nvPr/>
        </p:nvSpPr>
        <p:spPr>
          <a:xfrm>
            <a:off x="5745482" y="838691"/>
            <a:ext cx="6101860" cy="2800767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Hypothesis:</a:t>
            </a:r>
            <a:b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16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"Employee participation in decision-making is positively related to job satisfaction among middle managers."</a:t>
            </a:r>
            <a:endParaRPr lang="en-US" altLang="zh-CN" sz="1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Variables:</a:t>
            </a:r>
            <a:endParaRPr lang="en-US" altLang="zh-CN" sz="1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Independent Variable: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Employee participation in decision-making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Dependent Variable: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Job satisfaction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Relationship Stated: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Positive relationship (as participation increases, job satisfaction is expected to increase)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Formal &amp; Tentative: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It is a </a:t>
            </a:r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testable prediction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not a conclusion — the study will confirm or reject it with data.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D5C4EEE-363A-70DD-CE42-911386C1EFD2}"/>
              </a:ext>
            </a:extLst>
          </p:cNvPr>
          <p:cNvSpPr txBox="1"/>
          <p:nvPr/>
        </p:nvSpPr>
        <p:spPr>
          <a:xfrm>
            <a:off x="4712677" y="3748777"/>
            <a:ext cx="7209826" cy="30469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r>
              <a:rPr lang="en-US" altLang="zh-CN" sz="1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Problem:</a:t>
            </a:r>
            <a:b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Employee turnover is high in the marketing department.</a:t>
            </a:r>
          </a:p>
          <a:p>
            <a:r>
              <a:rPr lang="en-US" altLang="zh-CN" sz="1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Objective:</a:t>
            </a:r>
            <a:b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determine whether increasing salaries reduces employee turnover.</a:t>
            </a:r>
          </a:p>
          <a:p>
            <a:r>
              <a:rPr lang="en-US" altLang="zh-CN" sz="1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Hypothesis (Prediction):</a:t>
            </a:r>
            <a:b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16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"Increasing salaries by 10% will reduce employee turnover rates in the marketing department within six months.“</a:t>
            </a:r>
          </a:p>
          <a:p>
            <a:endParaRPr lang="en-US" altLang="zh-CN" sz="1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shows how the research problem and objective are translated into a clear prediction that can be tested, turning a general issue (“high turnover”) into a measurable outcome (“turnover will decrease after a salary increase”).</a:t>
            </a:r>
          </a:p>
        </p:txBody>
      </p:sp>
    </p:spTree>
    <p:extLst>
      <p:ext uri="{BB962C8B-B14F-4D97-AF65-F5344CB8AC3E}">
        <p14:creationId xmlns:p14="http://schemas.microsoft.com/office/powerpoint/2010/main" val="3274700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017AC-3869-C380-7E23-89F6BC3B9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35D761C-B938-69B8-D6BC-16F872D484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319" y="106334"/>
            <a:ext cx="5451725" cy="118700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7E303D0-6BDF-2126-F06A-F0CBEB97F753}"/>
              </a:ext>
            </a:extLst>
          </p:cNvPr>
          <p:cNvSpPr txBox="1"/>
          <p:nvPr/>
        </p:nvSpPr>
        <p:spPr>
          <a:xfrm>
            <a:off x="648295" y="1384191"/>
            <a:ext cx="10881718" cy="2308324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just"/>
            <a:r>
              <a:rPr lang="en-US" altLang="zh-CN" sz="3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clearly stated hypothesis includes the variables to be manipulated or measured, identifies the population to be examined and indicates the proposed outcome for the study.</a:t>
            </a:r>
            <a:endParaRPr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305F97-3AB6-6D40-27CC-820ED5405BD1}"/>
              </a:ext>
            </a:extLst>
          </p:cNvPr>
          <p:cNvSpPr txBox="1"/>
          <p:nvPr/>
        </p:nvSpPr>
        <p:spPr>
          <a:xfrm>
            <a:off x="648295" y="3846463"/>
            <a:ext cx="9760149" cy="2123658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altLang="zh-CN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well-stated hypothesis should have three main elements:</a:t>
            </a:r>
          </a:p>
          <a:p>
            <a:pPr>
              <a:buFont typeface="+mj-lt"/>
              <a:buAutoNum type="arabicPeriod"/>
            </a:pPr>
            <a:r>
              <a:rPr lang="en-US" altLang="zh-CN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Variables</a:t>
            </a:r>
            <a:r>
              <a:rPr lang="en-US" altLang="zh-CN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It must specify what you will manipulate (independent variable) and what you will measure (dependent variable).</a:t>
            </a:r>
          </a:p>
          <a:p>
            <a:pPr>
              <a:buFont typeface="+mj-lt"/>
              <a:buAutoNum type="arabicPeriod"/>
            </a:pPr>
            <a:r>
              <a:rPr lang="en-US" altLang="zh-CN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Population</a:t>
            </a:r>
            <a:r>
              <a:rPr lang="en-US" altLang="zh-CN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It must identify the group or sample on which the study is conducted.</a:t>
            </a:r>
          </a:p>
          <a:p>
            <a:pPr>
              <a:buFont typeface="+mj-lt"/>
              <a:buAutoNum type="arabicPeriod"/>
            </a:pPr>
            <a:r>
              <a:rPr lang="en-US" altLang="zh-CN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Outcome</a:t>
            </a:r>
            <a:r>
              <a:rPr lang="en-US" altLang="zh-CN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It should clearly predict the expected result or relationship between the variables.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876F41-DAAE-5064-F27E-DE15B5483FF9}"/>
              </a:ext>
            </a:extLst>
          </p:cNvPr>
          <p:cNvSpPr txBox="1"/>
          <p:nvPr/>
        </p:nvSpPr>
        <p:spPr>
          <a:xfrm>
            <a:off x="5941814" y="2554962"/>
            <a:ext cx="6097190" cy="424731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</a:t>
            </a: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Hypothesis:</a:t>
            </a:r>
            <a:b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"Implementing a flexible work schedule will increase job satisfaction among employees in the sales department."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Independent variable (manipulated):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Flexible work schedule (e.g., allowing employees to choose start/end times)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Dependent variable (measured):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Job satisfaction (measured through an employee satisfaction survey)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Population:</a:t>
            </a:r>
            <a:b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Employees in the sales department of the organization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Outcome:</a:t>
            </a:r>
            <a:b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satisfaction scores will increase after the implementation of flexible schedules compared to before.</a:t>
            </a:r>
          </a:p>
        </p:txBody>
      </p:sp>
    </p:spTree>
    <p:extLst>
      <p:ext uri="{BB962C8B-B14F-4D97-AF65-F5344CB8AC3E}">
        <p14:creationId xmlns:p14="http://schemas.microsoft.com/office/powerpoint/2010/main" val="484828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3668A-9682-EF7F-F483-FE6692D92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scientific experiment&#10;&#10;Description automatically generated">
            <a:extLst>
              <a:ext uri="{FF2B5EF4-FFF2-40B4-BE49-F238E27FC236}">
                <a16:creationId xmlns:a16="http://schemas.microsoft.com/office/drawing/2014/main" id="{3C70047C-E22B-DBA7-66FD-076C229B63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155" y="0"/>
            <a:ext cx="85775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747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79366-CBAC-C642-33FB-DF11BB9BC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DE34180-4A1E-1824-8601-029E00FA38BD}"/>
              </a:ext>
            </a:extLst>
          </p:cNvPr>
          <p:cNvSpPr txBox="1"/>
          <p:nvPr/>
        </p:nvSpPr>
        <p:spPr>
          <a:xfrm>
            <a:off x="1134665" y="1487870"/>
            <a:ext cx="9922669" cy="23083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en-US" altLang="zh-CN" sz="3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“Hypothesis is a tentative prediction or explanation of the relationship between two variables’ It implies that there is a systematic relationship between an independent and dependent variable”.</a:t>
            </a:r>
            <a:endParaRPr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CE0AC7-448F-D1FF-5BD5-E5936378BDC1}"/>
              </a:ext>
            </a:extLst>
          </p:cNvPr>
          <p:cNvSpPr txBox="1"/>
          <p:nvPr/>
        </p:nvSpPr>
        <p:spPr>
          <a:xfrm>
            <a:off x="1134665" y="779984"/>
            <a:ext cx="2365773" cy="707886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altLang="zh-CN" sz="4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  <a:endParaRPr lang="zh-CN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C4A29F-7751-73BB-2D90-ACFD40F2E674}"/>
              </a:ext>
            </a:extLst>
          </p:cNvPr>
          <p:cNvSpPr txBox="1"/>
          <p:nvPr/>
        </p:nvSpPr>
        <p:spPr>
          <a:xfrm>
            <a:off x="1134665" y="3894499"/>
            <a:ext cx="9844088" cy="286232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en-US" altLang="zh-CN" sz="3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“Hypothesis is a shrewd guess or inference that is formulated and provisionally adopted to explain observed facts or conditions and to guide in further investigations”</a:t>
            </a:r>
          </a:p>
          <a:p>
            <a:pPr algn="r"/>
            <a:r>
              <a:rPr lang="en-US" altLang="zh-CN" sz="3600" b="0" i="0" dirty="0">
                <a:effectLst/>
                <a:latin typeface="__Inter_bdbe8e"/>
              </a:rPr>
              <a:t> </a:t>
            </a:r>
            <a:r>
              <a:rPr lang="en-US" altLang="zh-CN" sz="3000" b="0" i="0" dirty="0">
                <a:effectLst/>
                <a:latin typeface="__Inter_bdbe8e"/>
              </a:rPr>
              <a:t>… GOOD &amp; HATT</a:t>
            </a:r>
            <a:endParaRPr lang="zh-CN" altLang="en-US" sz="3000" dirty="0"/>
          </a:p>
        </p:txBody>
      </p:sp>
    </p:spTree>
    <p:extLst>
      <p:ext uri="{BB962C8B-B14F-4D97-AF65-F5344CB8AC3E}">
        <p14:creationId xmlns:p14="http://schemas.microsoft.com/office/powerpoint/2010/main" val="2724947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5DC51-B254-7FA3-209A-282EF68AF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F92DE4E-CB9B-9680-A9EF-5F585034F5D0}"/>
              </a:ext>
            </a:extLst>
          </p:cNvPr>
          <p:cNvSpPr txBox="1"/>
          <p:nvPr/>
        </p:nvSpPr>
        <p:spPr>
          <a:xfrm>
            <a:off x="970358" y="1395002"/>
            <a:ext cx="9922669" cy="175432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571500" indent="-571500" algn="just">
              <a:buFont typeface="Wingdings" panose="05000000000000000000" pitchFamily="2" charset="2"/>
              <a:buChar char="u"/>
            </a:pP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Hypothesis enables the researcher to objectively investigate new areas of discovery, thus helps in theory building.</a:t>
            </a:r>
            <a:endParaRPr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F167F6-FC70-4009-111D-899DB585E3F5}"/>
              </a:ext>
            </a:extLst>
          </p:cNvPr>
          <p:cNvSpPr txBox="1"/>
          <p:nvPr/>
        </p:nvSpPr>
        <p:spPr>
          <a:xfrm>
            <a:off x="970358" y="272777"/>
            <a:ext cx="5844779" cy="707886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altLang="zh-C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Hypothesis</a:t>
            </a:r>
            <a:endParaRPr lang="zh-CN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04B1987-B92F-0698-DAB4-FB930217A606}"/>
              </a:ext>
            </a:extLst>
          </p:cNvPr>
          <p:cNvSpPr txBox="1"/>
          <p:nvPr/>
        </p:nvSpPr>
        <p:spPr>
          <a:xfrm>
            <a:off x="5500468" y="1024246"/>
            <a:ext cx="6528413" cy="526297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Hypothesis:</a:t>
            </a:r>
            <a:b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16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"Introducing a peer-mentorship program will improve employee engagement and reduce turnover rates in a technology company."</a:t>
            </a:r>
            <a:endParaRPr lang="en-US" altLang="zh-CN" sz="1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Variables:</a:t>
            </a:r>
            <a:endParaRPr lang="en-US" altLang="zh-CN" sz="1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Independent variable: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Peer-mentorship program (new initiative introduced)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Dependent variables: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Employee engagement (measured via surveys) and turnover rate (HR data)</a:t>
            </a:r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Population:</a:t>
            </a:r>
            <a:b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Employees of a technology company</a:t>
            </a:r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Outcome:</a:t>
            </a:r>
            <a:b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Engagement levels will rise, and turnover rates will fall after the program is implemented.</a:t>
            </a:r>
          </a:p>
          <a:p>
            <a:endParaRPr lang="en-US" altLang="zh-CN" sz="1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It Helps in Theory Building</a:t>
            </a:r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repeated studies across different organizations show similar results, researchers can develop a theory that peer mentoring strengthens employee engagement and retention, contributing to organizational success.</a:t>
            </a:r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can eventually form part of a broader theoretical framework explaining how social support mechanisms improve organizational outcomes.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486D61-AD00-736E-DA0D-9EA53B926C3C}"/>
              </a:ext>
            </a:extLst>
          </p:cNvPr>
          <p:cNvSpPr txBox="1"/>
          <p:nvPr/>
        </p:nvSpPr>
        <p:spPr>
          <a:xfrm>
            <a:off x="1028700" y="3429000"/>
            <a:ext cx="9864327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u"/>
            </a:pPr>
            <a:r>
              <a:rPr lang="en-US" altLang="zh-CN" sz="3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Hypothesis provides objectivity to the research activity. </a:t>
            </a:r>
            <a:endParaRPr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5CE8B70-FA36-F4D8-C4A6-3FDF55DE60B0}"/>
              </a:ext>
            </a:extLst>
          </p:cNvPr>
          <p:cNvSpPr txBox="1"/>
          <p:nvPr/>
        </p:nvSpPr>
        <p:spPr>
          <a:xfrm>
            <a:off x="5797648" y="2891904"/>
            <a:ext cx="6094826" cy="30469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Hypothesis:</a:t>
            </a:r>
            <a:b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16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"Adopting a transformational leadership style will increase employees’ innovative behavior in a manufacturing company."</a:t>
            </a:r>
            <a:endParaRPr lang="en-US" altLang="zh-CN" sz="16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It Provides Objectivity:</a:t>
            </a:r>
            <a:endParaRPr lang="en-US" altLang="zh-CN" sz="16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researcher isn’t just “assuming” leadership improves innovation — the hypothesis sets a </a:t>
            </a:r>
            <a:r>
              <a:rPr lang="en-US" altLang="zh-CN" sz="1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specific, testable claim</a:t>
            </a: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is then collected (e.g., leadership style measured via Multifactor Leadership Questionnaire, innovation measured by number of new process ideas submitted).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Statistical analysis (e.g., regression) is used to </a:t>
            </a:r>
            <a:r>
              <a:rPr lang="en-US" altLang="zh-CN" sz="1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confirm or reject</a:t>
            </a: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hypothesis based on evidence, rather than opinion or bias.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64572F-654F-F230-72EA-9B7E11206A69}"/>
              </a:ext>
            </a:extLst>
          </p:cNvPr>
          <p:cNvSpPr txBox="1"/>
          <p:nvPr/>
        </p:nvSpPr>
        <p:spPr>
          <a:xfrm>
            <a:off x="999528" y="4909001"/>
            <a:ext cx="9864327" cy="120032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571500" indent="-571500" algn="just">
              <a:buFont typeface="Wingdings" panose="05000000000000000000" pitchFamily="2" charset="2"/>
              <a:buChar char="u"/>
            </a:pPr>
            <a:r>
              <a:rPr lang="en-US" altLang="zh-CN" sz="3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Hypothesis provides directions to conduct research.</a:t>
            </a:r>
            <a:endParaRPr lang="zh-CN" altLang="en-US" sz="36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63528E0-0782-DCED-801B-67BF206EB214}"/>
              </a:ext>
            </a:extLst>
          </p:cNvPr>
          <p:cNvSpPr txBox="1"/>
          <p:nvPr/>
        </p:nvSpPr>
        <p:spPr>
          <a:xfrm>
            <a:off x="4780962" y="3719512"/>
            <a:ext cx="7055241" cy="30469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Hypothesis:</a:t>
            </a:r>
            <a:b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16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"Introducing flexible working hours will increase employee productivity in the finance department."</a:t>
            </a:r>
            <a:endParaRPr lang="en-US" altLang="zh-CN" sz="1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It Gives Direction:</a:t>
            </a:r>
            <a:endParaRPr lang="en-US" altLang="zh-CN" sz="1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Focus of Study: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Researcher knows to focus on </a:t>
            </a:r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flexible hours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the independent variable and </a:t>
            </a:r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productivity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the dependent variable.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Collection: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Guides them to collect data on working hours, output per employee, and performance scores.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 Selection: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Encourages using a </a:t>
            </a:r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before-and-after comparison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or statistical tests to see if productivity changes after the policy.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Outcome: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Research stays targeted on testing the effect of flexible work hours, avoiding irrelevant data collection.</a:t>
            </a:r>
          </a:p>
        </p:txBody>
      </p:sp>
    </p:spTree>
    <p:extLst>
      <p:ext uri="{BB962C8B-B14F-4D97-AF65-F5344CB8AC3E}">
        <p14:creationId xmlns:p14="http://schemas.microsoft.com/office/powerpoint/2010/main" val="4271529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6" grpId="0" animBg="1"/>
      <p:bldP spid="4" grpId="0" animBg="1"/>
      <p:bldP spid="18" grpId="0" animBg="1"/>
      <p:bldP spid="7" grpId="0" animBg="1"/>
      <p:bldP spid="2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0DC1D-A71A-05AF-38CA-E7D01FE9E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A7C5B9-4EA5-F688-7A7C-85A0CE7FD732}"/>
              </a:ext>
            </a:extLst>
          </p:cNvPr>
          <p:cNvSpPr txBox="1"/>
          <p:nvPr/>
        </p:nvSpPr>
        <p:spPr>
          <a:xfrm>
            <a:off x="970356" y="1120676"/>
            <a:ext cx="5219429" cy="332398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571500" indent="-571500" algn="just">
              <a:buFont typeface="Wingdings" panose="05000000000000000000" pitchFamily="2" charset="2"/>
              <a:buChar char="u"/>
            </a:pP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Hypothesis provides clear and specific goals to the researchers. These goals provide the investigator with a basis for selecting sample and research procedures to meet the set goals.</a:t>
            </a:r>
            <a:endParaRPr lang="zh-CN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7D5211-EF23-1FF9-CE97-F77B5EFC928B}"/>
              </a:ext>
            </a:extLst>
          </p:cNvPr>
          <p:cNvSpPr txBox="1"/>
          <p:nvPr/>
        </p:nvSpPr>
        <p:spPr>
          <a:xfrm>
            <a:off x="1041796" y="278045"/>
            <a:ext cx="5909073" cy="707886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altLang="zh-C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Hypothesis</a:t>
            </a:r>
            <a:endParaRPr lang="zh-CN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6CEF9E-768A-B748-1B8F-4372EA5DCF62}"/>
              </a:ext>
            </a:extLst>
          </p:cNvPr>
          <p:cNvSpPr txBox="1"/>
          <p:nvPr/>
        </p:nvSpPr>
        <p:spPr>
          <a:xfrm>
            <a:off x="864848" y="4801702"/>
            <a:ext cx="5381207" cy="147732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u"/>
            </a:pPr>
            <a:r>
              <a:rPr lang="en-US" altLang="zh-CN" sz="3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Hypothesis provides a link between theories and actual practical research. </a:t>
            </a:r>
            <a:endParaRPr lang="zh-CN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1D5AF0-EA2F-B0A5-31F8-AD733C3AF842}"/>
              </a:ext>
            </a:extLst>
          </p:cNvPr>
          <p:cNvSpPr txBox="1"/>
          <p:nvPr/>
        </p:nvSpPr>
        <p:spPr>
          <a:xfrm>
            <a:off x="6097174" y="985931"/>
            <a:ext cx="6015109" cy="329320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Hypothesis:</a:t>
            </a:r>
            <a:b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16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"Providing customer service training will improve customer satisfaction scores by at least 15% in the call center."</a:t>
            </a:r>
            <a:endParaRPr lang="en-US" altLang="zh-CN" sz="1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Clear &amp; Specific Goal:</a:t>
            </a:r>
            <a:b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researcher’s goal is to determine whether training leads to a measurable improvement in satisfaction scores.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Basis for Selecting Sample:</a:t>
            </a:r>
            <a:b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researcher selects </a:t>
            </a:r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call center employees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the sample group because they are the ones receiving training.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Basis for Research Procedures:</a:t>
            </a:r>
            <a:endParaRPr lang="en-US" altLang="zh-CN" sz="1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Measure </a:t>
            </a:r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satisfaction scores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before and after training.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statistical tests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(e.g., paired t-test) to compare the results.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8AA1A-8FCF-B665-B3F3-25F746E754D8}"/>
              </a:ext>
            </a:extLst>
          </p:cNvPr>
          <p:cNvSpPr txBox="1"/>
          <p:nvPr/>
        </p:nvSpPr>
        <p:spPr>
          <a:xfrm>
            <a:off x="5778306" y="3657325"/>
            <a:ext cx="6094826" cy="30469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r>
              <a:rPr lang="en-US" altLang="zh-CN" sz="1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Theory (Customer Satisfaction Theory):</a:t>
            </a:r>
            <a:b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Higher customer satisfaction leads to stronger customer loyalty.</a:t>
            </a:r>
          </a:p>
          <a:p>
            <a:r>
              <a:rPr lang="en-US" altLang="zh-CN" sz="1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Hypothesis (Linking Theory to Practice):</a:t>
            </a:r>
            <a:b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16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"Improving response time to customer complaints will increase customer loyalty among online retail shoppers."</a:t>
            </a:r>
            <a:endParaRPr lang="en-US" altLang="zh-CN" sz="16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Practical Research:</a:t>
            </a:r>
            <a:endParaRPr lang="en-US" altLang="zh-CN" sz="16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Variables measured:</a:t>
            </a: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Response time (independent variable), Customer loyalty (dependent variable, measured through repeat purchase rate).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Population:</a:t>
            </a: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Customers of an online retail platform.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Outcome:</a:t>
            </a: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Faster complaint handling results in higher customer loyalty.</a:t>
            </a:r>
          </a:p>
        </p:txBody>
      </p:sp>
    </p:spTree>
    <p:extLst>
      <p:ext uri="{BB962C8B-B14F-4D97-AF65-F5344CB8AC3E}">
        <p14:creationId xmlns:p14="http://schemas.microsoft.com/office/powerpoint/2010/main" val="1381884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11" grpId="0" animBg="1"/>
      <p:bldP spid="1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28C36D-4B9F-5520-5FAD-E954AB225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BD6056-088F-4C68-5F85-84E67E7B4D44}"/>
              </a:ext>
            </a:extLst>
          </p:cNvPr>
          <p:cNvSpPr txBox="1"/>
          <p:nvPr/>
        </p:nvSpPr>
        <p:spPr>
          <a:xfrm>
            <a:off x="556532" y="643467"/>
            <a:ext cx="11210925" cy="7448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zh-CN" sz="3200" b="1" kern="12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Data Collection</a:t>
            </a:r>
          </a:p>
        </p:txBody>
      </p:sp>
      <p:pic>
        <p:nvPicPr>
          <p:cNvPr id="4" name="Picture 3" descr="A diagram of data collection methods&#10;&#10;Description automatically generated">
            <a:extLst>
              <a:ext uri="{FF2B5EF4-FFF2-40B4-BE49-F238E27FC236}">
                <a16:creationId xmlns:a16="http://schemas.microsoft.com/office/drawing/2014/main" id="{85D2FCF6-9778-0C9E-91E2-686D7893F7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711" y="1396588"/>
            <a:ext cx="9154578" cy="5102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015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31A30-D37C-8554-35D7-15BAECE80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A0AAC83-0996-822B-F0EA-68CA457CB7B2}"/>
              </a:ext>
            </a:extLst>
          </p:cNvPr>
          <p:cNvSpPr txBox="1"/>
          <p:nvPr/>
        </p:nvSpPr>
        <p:spPr>
          <a:xfrm>
            <a:off x="1041796" y="278045"/>
            <a:ext cx="5909073" cy="707886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altLang="zh-C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Data Collection?</a:t>
            </a:r>
            <a:endParaRPr lang="zh-CN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FF154B-F3A4-5B21-3C75-54BF02F0AE89}"/>
              </a:ext>
            </a:extLst>
          </p:cNvPr>
          <p:cNvSpPr txBox="1"/>
          <p:nvPr/>
        </p:nvSpPr>
        <p:spPr>
          <a:xfrm>
            <a:off x="1041796" y="1042202"/>
            <a:ext cx="10361506" cy="147732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Determining how data will be collected, whether through surveys, experiments, observations, interviews, archival research, or a combination of these methods.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6EF34C-C678-07CA-8278-785891047B79}"/>
              </a:ext>
            </a:extLst>
          </p:cNvPr>
          <p:cNvSpPr txBox="1"/>
          <p:nvPr/>
        </p:nvSpPr>
        <p:spPr>
          <a:xfrm>
            <a:off x="1041796" y="2967335"/>
            <a:ext cx="10361506" cy="147732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is the systematic process of gathering information from relevant sources to answer research questions, test hypotheses, and evaluate outcomes.</a:t>
            </a:r>
            <a:endParaRPr lang="zh-CN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988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EE503-18E0-8F41-40EB-762E503AC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899B075-F763-E6BA-952C-8BDE13DDDD24}"/>
              </a:ext>
            </a:extLst>
          </p:cNvPr>
          <p:cNvSpPr txBox="1"/>
          <p:nvPr/>
        </p:nvSpPr>
        <p:spPr>
          <a:xfrm>
            <a:off x="1041796" y="278045"/>
            <a:ext cx="5909073" cy="707886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altLang="zh-C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Data Collection</a:t>
            </a:r>
            <a:endParaRPr lang="zh-CN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E974F4-23B5-7BFD-F3E0-2AEFB8DE5A5A}"/>
              </a:ext>
            </a:extLst>
          </p:cNvPr>
          <p:cNvSpPr txBox="1"/>
          <p:nvPr/>
        </p:nvSpPr>
        <p:spPr>
          <a:xfrm>
            <a:off x="1041796" y="1042202"/>
            <a:ext cx="10361506" cy="378565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en-US" altLang="zh-C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Data Collection 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(first-hand data collected directly by the researcher).</a:t>
            </a:r>
          </a:p>
          <a:p>
            <a:pPr algn="just"/>
            <a:r>
              <a:rPr lang="en-US" altLang="zh-C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Surveys/Questionnaires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Interviews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groups</a:t>
            </a:r>
          </a:p>
        </p:txBody>
      </p:sp>
      <p:sp>
        <p:nvSpPr>
          <p:cNvPr id="2" name="Arrow: Right 1">
            <a:hlinkClick r:id="rId2" action="ppaction://hlinksldjump"/>
            <a:extLst>
              <a:ext uri="{FF2B5EF4-FFF2-40B4-BE49-F238E27FC236}">
                <a16:creationId xmlns:a16="http://schemas.microsoft.com/office/drawing/2014/main" id="{FC54F519-5FC5-ABA0-1B10-FC175626B1F1}"/>
              </a:ext>
            </a:extLst>
          </p:cNvPr>
          <p:cNvSpPr/>
          <p:nvPr/>
        </p:nvSpPr>
        <p:spPr>
          <a:xfrm>
            <a:off x="5922499" y="2520031"/>
            <a:ext cx="794824" cy="414997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Arrow: Right 2">
            <a:hlinkClick r:id="rId3" action="ppaction://hlinksldjump"/>
            <a:extLst>
              <a:ext uri="{FF2B5EF4-FFF2-40B4-BE49-F238E27FC236}">
                <a16:creationId xmlns:a16="http://schemas.microsoft.com/office/drawing/2014/main" id="{19287BDB-39DD-01E7-AAF7-DE88599F5AB9}"/>
              </a:ext>
            </a:extLst>
          </p:cNvPr>
          <p:cNvSpPr/>
          <p:nvPr/>
        </p:nvSpPr>
        <p:spPr>
          <a:xfrm>
            <a:off x="5922499" y="3014003"/>
            <a:ext cx="794824" cy="414997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Arrow: Right 4">
            <a:hlinkClick r:id="rId4" action="ppaction://hlinksldjump"/>
            <a:extLst>
              <a:ext uri="{FF2B5EF4-FFF2-40B4-BE49-F238E27FC236}">
                <a16:creationId xmlns:a16="http://schemas.microsoft.com/office/drawing/2014/main" id="{C02CB3C0-BAEF-EFFF-BBC9-AF71D37941F6}"/>
              </a:ext>
            </a:extLst>
          </p:cNvPr>
          <p:cNvSpPr/>
          <p:nvPr/>
        </p:nvSpPr>
        <p:spPr>
          <a:xfrm>
            <a:off x="5922499" y="3485271"/>
            <a:ext cx="794824" cy="414997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Arrow: Right 6">
            <a:hlinkClick r:id="rId5" action="ppaction://hlinksldjump"/>
            <a:extLst>
              <a:ext uri="{FF2B5EF4-FFF2-40B4-BE49-F238E27FC236}">
                <a16:creationId xmlns:a16="http://schemas.microsoft.com/office/drawing/2014/main" id="{88839F8E-109B-1429-3C5F-5C3573A8BD27}"/>
              </a:ext>
            </a:extLst>
          </p:cNvPr>
          <p:cNvSpPr/>
          <p:nvPr/>
        </p:nvSpPr>
        <p:spPr>
          <a:xfrm>
            <a:off x="5922499" y="3956539"/>
            <a:ext cx="794824" cy="414997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Arrow: Right 8">
            <a:hlinkClick r:id="rId6" action="ppaction://hlinksldjump"/>
            <a:extLst>
              <a:ext uri="{FF2B5EF4-FFF2-40B4-BE49-F238E27FC236}">
                <a16:creationId xmlns:a16="http://schemas.microsoft.com/office/drawing/2014/main" id="{E5CFE2C9-67AC-941F-5897-839099B0CB4A}"/>
              </a:ext>
            </a:extLst>
          </p:cNvPr>
          <p:cNvSpPr/>
          <p:nvPr/>
        </p:nvSpPr>
        <p:spPr>
          <a:xfrm>
            <a:off x="5922499" y="4423849"/>
            <a:ext cx="794824" cy="414997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5664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772FE-00A8-A9A6-2A56-CBF922AF9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1336931-0D47-9DB5-BD95-038C4294DA08}"/>
              </a:ext>
            </a:extLst>
          </p:cNvPr>
          <p:cNvSpPr txBox="1"/>
          <p:nvPr/>
        </p:nvSpPr>
        <p:spPr>
          <a:xfrm>
            <a:off x="1041796" y="278045"/>
            <a:ext cx="5909073" cy="707886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altLang="zh-C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Data Collection</a:t>
            </a:r>
            <a:endParaRPr lang="zh-CN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9D07FE-A77F-9FAC-E64A-40F545D0ED34}"/>
              </a:ext>
            </a:extLst>
          </p:cNvPr>
          <p:cNvSpPr txBox="1"/>
          <p:nvPr/>
        </p:nvSpPr>
        <p:spPr>
          <a:xfrm>
            <a:off x="1041796" y="1042202"/>
            <a:ext cx="10361506" cy="240065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en-US" altLang="zh-C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Secondary Data Collection 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(data already collected by others)</a:t>
            </a:r>
          </a:p>
          <a:p>
            <a:pPr algn="just"/>
            <a:r>
              <a:rPr lang="en-US" altLang="zh-C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Sources: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 reports (e.g., census, health data)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Databases (e.g., World Bank, WHO, stock exchanges)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articles and books</a:t>
            </a:r>
          </a:p>
        </p:txBody>
      </p:sp>
      <p:sp>
        <p:nvSpPr>
          <p:cNvPr id="2" name="Arrow: Right 1">
            <a:hlinkClick r:id="rId2" action="ppaction://hlinksldjump"/>
            <a:extLst>
              <a:ext uri="{FF2B5EF4-FFF2-40B4-BE49-F238E27FC236}">
                <a16:creationId xmlns:a16="http://schemas.microsoft.com/office/drawing/2014/main" id="{B1E978AF-6CCD-A958-13FB-03D9DB341B66}"/>
              </a:ext>
            </a:extLst>
          </p:cNvPr>
          <p:cNvSpPr/>
          <p:nvPr/>
        </p:nvSpPr>
        <p:spPr>
          <a:xfrm>
            <a:off x="10046824" y="2058366"/>
            <a:ext cx="794824" cy="414997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Arrow: Right 2">
            <a:hlinkClick r:id="rId3" action="ppaction://hlinksldjump"/>
            <a:extLst>
              <a:ext uri="{FF2B5EF4-FFF2-40B4-BE49-F238E27FC236}">
                <a16:creationId xmlns:a16="http://schemas.microsoft.com/office/drawing/2014/main" id="{9E1B8FDE-EB14-5559-74F2-592205F0887A}"/>
              </a:ext>
            </a:extLst>
          </p:cNvPr>
          <p:cNvSpPr/>
          <p:nvPr/>
        </p:nvSpPr>
        <p:spPr>
          <a:xfrm>
            <a:off x="10046824" y="2503014"/>
            <a:ext cx="794824" cy="414997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7662C145-DCBD-5991-6219-B70E37BD7CFF}"/>
              </a:ext>
            </a:extLst>
          </p:cNvPr>
          <p:cNvSpPr/>
          <p:nvPr/>
        </p:nvSpPr>
        <p:spPr>
          <a:xfrm>
            <a:off x="10046824" y="3014003"/>
            <a:ext cx="794824" cy="414997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5154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27A93-8858-7776-AE04-2A17B71E0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D6E13A1-0154-2586-79E2-FE92551DBB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535" y="0"/>
            <a:ext cx="10107637" cy="1586132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1FC474A5-C638-367A-3121-E760E5744304}"/>
              </a:ext>
            </a:extLst>
          </p:cNvPr>
          <p:cNvGrpSpPr/>
          <p:nvPr/>
        </p:nvGrpSpPr>
        <p:grpSpPr>
          <a:xfrm>
            <a:off x="0" y="1586132"/>
            <a:ext cx="12192000" cy="5124157"/>
            <a:chOff x="0" y="1586132"/>
            <a:chExt cx="12192000" cy="5124157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FC88139-83DE-0D8E-B4E6-E4C0AD5D4F4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1586132"/>
              <a:ext cx="12192000" cy="2387991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6D10736-5CC3-D1E0-E3CA-CA61543B3AA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3974123"/>
              <a:ext cx="12192000" cy="2736166"/>
            </a:xfrm>
            <a:prstGeom prst="rect">
              <a:avLst/>
            </a:prstGeom>
          </p:spPr>
        </p:pic>
      </p:grpSp>
      <p:sp>
        <p:nvSpPr>
          <p:cNvPr id="12" name="Arrow: Left 11">
            <a:hlinkClick r:id="rId5" action="ppaction://hlinksldjump"/>
            <a:extLst>
              <a:ext uri="{FF2B5EF4-FFF2-40B4-BE49-F238E27FC236}">
                <a16:creationId xmlns:a16="http://schemas.microsoft.com/office/drawing/2014/main" id="{D2FD5010-E7F7-CC8B-D042-7DEDFFEF1EFD}"/>
              </a:ext>
            </a:extLst>
          </p:cNvPr>
          <p:cNvSpPr/>
          <p:nvPr/>
        </p:nvSpPr>
        <p:spPr>
          <a:xfrm>
            <a:off x="84406" y="407963"/>
            <a:ext cx="794825" cy="422032"/>
          </a:xfrm>
          <a:prstGeom prst="left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8E1D7FB-BF80-BB7B-CDBB-0C482AC50899}"/>
              </a:ext>
            </a:extLst>
          </p:cNvPr>
          <p:cNvGrpSpPr/>
          <p:nvPr/>
        </p:nvGrpSpPr>
        <p:grpSpPr>
          <a:xfrm>
            <a:off x="178582" y="2877716"/>
            <a:ext cx="11873160" cy="1934280"/>
            <a:chOff x="178582" y="2877716"/>
            <a:chExt cx="11873160" cy="193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C670F330-5CBB-4FE8-1AD1-30CEE938745C}"/>
                    </a:ext>
                  </a:extLst>
                </p14:cNvPr>
                <p14:cNvContentPartPr/>
                <p14:nvPr/>
              </p14:nvContentPartPr>
              <p14:xfrm>
                <a:off x="4771822" y="2877716"/>
                <a:ext cx="7256160" cy="10944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C670F330-5CBB-4FE8-1AD1-30CEE938745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682182" y="2697716"/>
                  <a:ext cx="7435800" cy="46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B809FAFE-5AA8-3770-97DD-B59407979B95}"/>
                    </a:ext>
                  </a:extLst>
                </p14:cNvPr>
                <p14:cNvContentPartPr/>
                <p14:nvPr/>
              </p14:nvContentPartPr>
              <p14:xfrm>
                <a:off x="178582" y="3264716"/>
                <a:ext cx="5229360" cy="75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B809FAFE-5AA8-3770-97DD-B59407979B9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8582" y="3084716"/>
                  <a:ext cx="5409000" cy="36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212E05C-A4E4-3782-594E-854B6675BEFE}"/>
                    </a:ext>
                  </a:extLst>
                </p14:cNvPr>
                <p14:cNvContentPartPr/>
                <p14:nvPr/>
              </p14:nvContentPartPr>
              <p14:xfrm>
                <a:off x="5557702" y="3264716"/>
                <a:ext cx="6494040" cy="3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212E05C-A4E4-3782-594E-854B6675BEF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467702" y="3084716"/>
                  <a:ext cx="667368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BE5AC01-D18A-3F99-B7FE-8A87E4510805}"/>
                    </a:ext>
                  </a:extLst>
                </p14:cNvPr>
                <p14:cNvContentPartPr/>
                <p14:nvPr/>
              </p14:nvContentPartPr>
              <p14:xfrm>
                <a:off x="207022" y="3500156"/>
                <a:ext cx="5472360" cy="507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BE5AC01-D18A-3F99-B7FE-8A87E451080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17022" y="3320156"/>
                  <a:ext cx="5652000" cy="41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F21818E-EE8F-B44F-967B-9ECE4EE85A9C}"/>
                    </a:ext>
                  </a:extLst>
                </p14:cNvPr>
                <p14:cNvContentPartPr/>
                <p14:nvPr/>
              </p14:nvContentPartPr>
              <p14:xfrm>
                <a:off x="5829142" y="3478916"/>
                <a:ext cx="6222240" cy="1360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F21818E-EE8F-B44F-967B-9ECE4EE85A9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739502" y="3299276"/>
                  <a:ext cx="6401880" cy="49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6541591-A115-35AF-0655-BB0BE7AEA52C}"/>
                    </a:ext>
                  </a:extLst>
                </p14:cNvPr>
                <p14:cNvContentPartPr/>
                <p14:nvPr/>
              </p14:nvContentPartPr>
              <p14:xfrm>
                <a:off x="256702" y="3778796"/>
                <a:ext cx="5044320" cy="507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6541591-A115-35AF-0655-BB0BE7AEA52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66702" y="3598796"/>
                  <a:ext cx="5223960" cy="41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BB10932-A013-07EC-0F1B-5E7EF0592F30}"/>
                    </a:ext>
                  </a:extLst>
                </p14:cNvPr>
                <p14:cNvContentPartPr/>
                <p14:nvPr/>
              </p14:nvContentPartPr>
              <p14:xfrm>
                <a:off x="2078662" y="4099916"/>
                <a:ext cx="9951840" cy="1436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BB10932-A013-07EC-0F1B-5E7EF0592F3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988662" y="3919916"/>
                  <a:ext cx="10131480" cy="50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2ABEFF3-9BCB-EA28-A762-8AA8C9E1D8F5}"/>
                    </a:ext>
                  </a:extLst>
                </p14:cNvPr>
                <p14:cNvContentPartPr/>
                <p14:nvPr/>
              </p14:nvContentPartPr>
              <p14:xfrm>
                <a:off x="307102" y="4449476"/>
                <a:ext cx="4014720" cy="594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2ABEFF3-9BCB-EA28-A762-8AA8C9E1D8F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17102" y="4269476"/>
                  <a:ext cx="4194360" cy="41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9265F23-DD63-4122-926A-AF641A0A3401}"/>
                    </a:ext>
                  </a:extLst>
                </p14:cNvPr>
                <p14:cNvContentPartPr/>
                <p14:nvPr/>
              </p14:nvContentPartPr>
              <p14:xfrm>
                <a:off x="4514782" y="4462076"/>
                <a:ext cx="7533360" cy="316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9265F23-DD63-4122-926A-AF641A0A340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424782" y="4282076"/>
                  <a:ext cx="7713000" cy="39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630C3EC-3E2D-AA3D-60F1-F0DD6F8B4097}"/>
                    </a:ext>
                  </a:extLst>
                </p14:cNvPr>
                <p14:cNvContentPartPr/>
                <p14:nvPr/>
              </p14:nvContentPartPr>
              <p14:xfrm>
                <a:off x="313942" y="4750436"/>
                <a:ext cx="10311120" cy="615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630C3EC-3E2D-AA3D-60F1-F0DD6F8B409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24302" y="4570436"/>
                  <a:ext cx="10490760" cy="421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731347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4644A-89A1-8C25-605D-F0ABE98B1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rrow: Left 11">
            <a:hlinkClick r:id="rId2" action="ppaction://hlinksldjump"/>
            <a:extLst>
              <a:ext uri="{FF2B5EF4-FFF2-40B4-BE49-F238E27FC236}">
                <a16:creationId xmlns:a16="http://schemas.microsoft.com/office/drawing/2014/main" id="{056B9847-2FEA-615B-898A-FA9F848B99F2}"/>
              </a:ext>
            </a:extLst>
          </p:cNvPr>
          <p:cNvSpPr/>
          <p:nvPr/>
        </p:nvSpPr>
        <p:spPr>
          <a:xfrm>
            <a:off x="84406" y="407963"/>
            <a:ext cx="794825" cy="422032"/>
          </a:xfrm>
          <a:prstGeom prst="left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05E55C-11D5-597A-647C-7DA9271E86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739" y="0"/>
            <a:ext cx="10227212" cy="13293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7D63418-D1F7-06D8-3CFD-173B5986A3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050" y="1329397"/>
            <a:ext cx="10227212" cy="365056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FA817C3-B4F9-A3B8-1FA0-4C7229CC9A23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482948" y="3053043"/>
            <a:ext cx="9291710" cy="3530637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C700141A-BB07-F929-6806-B46FC496903E}"/>
              </a:ext>
            </a:extLst>
          </p:cNvPr>
          <p:cNvGrpSpPr/>
          <p:nvPr/>
        </p:nvGrpSpPr>
        <p:grpSpPr>
          <a:xfrm>
            <a:off x="2671582" y="3300356"/>
            <a:ext cx="8994240" cy="457200"/>
            <a:chOff x="2671582" y="3300356"/>
            <a:chExt cx="8994240" cy="457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4D2A35D-1DE7-CB53-55FE-EFFADE04B08B}"/>
                    </a:ext>
                  </a:extLst>
                </p14:cNvPr>
                <p14:cNvContentPartPr/>
                <p14:nvPr/>
              </p14:nvContentPartPr>
              <p14:xfrm>
                <a:off x="3014662" y="3300356"/>
                <a:ext cx="8616240" cy="7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4D2A35D-1DE7-CB53-55FE-EFFADE04B08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924662" y="2940356"/>
                  <a:ext cx="8795880" cy="72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90AAE9F-7385-9873-C7B7-98CE6F41CB84}"/>
                    </a:ext>
                  </a:extLst>
                </p14:cNvPr>
                <p14:cNvContentPartPr/>
                <p14:nvPr/>
              </p14:nvContentPartPr>
              <p14:xfrm>
                <a:off x="2671582" y="3543356"/>
                <a:ext cx="8994240" cy="360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90AAE9F-7385-9873-C7B7-98CE6F41CB8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581582" y="3363356"/>
                  <a:ext cx="9173880" cy="39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4EA343B-6E47-1FF4-E66B-B7D35E806D78}"/>
                    </a:ext>
                  </a:extLst>
                </p14:cNvPr>
                <p14:cNvContentPartPr/>
                <p14:nvPr/>
              </p14:nvContentPartPr>
              <p14:xfrm>
                <a:off x="2707222" y="3735956"/>
                <a:ext cx="2486880" cy="216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4EA343B-6E47-1FF4-E66B-B7D35E806D7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617222" y="3555956"/>
                  <a:ext cx="2666520" cy="381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822382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04014-519D-517B-7757-43166DCE8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rrow: Left 11">
            <a:hlinkClick r:id="rId2" action="ppaction://hlinksldjump"/>
            <a:extLst>
              <a:ext uri="{FF2B5EF4-FFF2-40B4-BE49-F238E27FC236}">
                <a16:creationId xmlns:a16="http://schemas.microsoft.com/office/drawing/2014/main" id="{32AD821E-49F2-6B7F-129D-C858A11F2FFF}"/>
              </a:ext>
            </a:extLst>
          </p:cNvPr>
          <p:cNvSpPr/>
          <p:nvPr/>
        </p:nvSpPr>
        <p:spPr>
          <a:xfrm>
            <a:off x="84406" y="407963"/>
            <a:ext cx="794825" cy="422032"/>
          </a:xfrm>
          <a:prstGeom prst="left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921367-AE21-63AC-B629-94615EE71B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603" y="102934"/>
            <a:ext cx="9087729" cy="1725865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291EBE0D-4EFC-B77C-3014-67F30167AFA6}"/>
              </a:ext>
            </a:extLst>
          </p:cNvPr>
          <p:cNvGrpSpPr/>
          <p:nvPr/>
        </p:nvGrpSpPr>
        <p:grpSpPr>
          <a:xfrm>
            <a:off x="956603" y="1937308"/>
            <a:ext cx="5577841" cy="3267738"/>
            <a:chOff x="956603" y="1571548"/>
            <a:chExt cx="5212080" cy="3267738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18306DC-3890-15CE-E3A2-BE2DD930A6A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6603" y="1571548"/>
              <a:ext cx="5212080" cy="1277159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55D07ACD-C1B2-CDEB-9C0D-D0CDD84C4D6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6603" y="2848707"/>
              <a:ext cx="5212080" cy="1990579"/>
            </a:xfrm>
            <a:prstGeom prst="rect">
              <a:avLst/>
            </a:prstGeom>
          </p:spPr>
        </p:pic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43A47540-B186-AA5E-9AB2-8FAFA81029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3806" y="1925950"/>
            <a:ext cx="5212080" cy="324421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1B5AD8E-C7A7-B847-9945-7156E4921A62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678701" y="2089052"/>
            <a:ext cx="6239022" cy="458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115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3F6A6-B2E3-B7A6-D3F0-A87903195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rrow: Left 11">
            <a:hlinkClick r:id="rId2" action="ppaction://hlinksldjump"/>
            <a:extLst>
              <a:ext uri="{FF2B5EF4-FFF2-40B4-BE49-F238E27FC236}">
                <a16:creationId xmlns:a16="http://schemas.microsoft.com/office/drawing/2014/main" id="{C1F85FF8-37BB-189B-0649-534CBA749D72}"/>
              </a:ext>
            </a:extLst>
          </p:cNvPr>
          <p:cNvSpPr/>
          <p:nvPr/>
        </p:nvSpPr>
        <p:spPr>
          <a:xfrm>
            <a:off x="84406" y="407963"/>
            <a:ext cx="794825" cy="422032"/>
          </a:xfrm>
          <a:prstGeom prst="left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1639DD7-A67F-CA54-570A-FD12567F76A7}"/>
              </a:ext>
            </a:extLst>
          </p:cNvPr>
          <p:cNvGrpSpPr/>
          <p:nvPr/>
        </p:nvGrpSpPr>
        <p:grpSpPr>
          <a:xfrm>
            <a:off x="1252026" y="285602"/>
            <a:ext cx="9713740" cy="1571333"/>
            <a:chOff x="1252026" y="285602"/>
            <a:chExt cx="9713740" cy="269852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CDD4020-41BF-E7FD-0321-5648C00D14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52026" y="285602"/>
              <a:ext cx="9713740" cy="422032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1EE0CA5-9B7C-1F24-5BAB-6BF4D971DF7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52026" y="707634"/>
              <a:ext cx="9713740" cy="2276492"/>
            </a:xfrm>
            <a:prstGeom prst="rect">
              <a:avLst/>
            </a:prstGeom>
          </p:spPr>
        </p:pic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DC95DFEB-E8B4-D0D0-28C3-67F3E92851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365" y="1915985"/>
            <a:ext cx="6791375" cy="198076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52B2201-EFCD-F477-9526-D566C7382B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7365" y="3955801"/>
            <a:ext cx="6791374" cy="2726353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902F8C73-BF5A-4275-54A8-B3CCF01D7222}"/>
              </a:ext>
            </a:extLst>
          </p:cNvPr>
          <p:cNvGrpSpPr/>
          <p:nvPr/>
        </p:nvGrpSpPr>
        <p:grpSpPr>
          <a:xfrm>
            <a:off x="3348111" y="689317"/>
            <a:ext cx="8538820" cy="6049108"/>
            <a:chOff x="4009293" y="689317"/>
            <a:chExt cx="7877638" cy="5600032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94283D4C-962C-C06A-02E7-C27FAF2097C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prstClr val="black"/>
                <a:schemeClr val="accent6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4009293" y="689317"/>
              <a:ext cx="7877638" cy="3028263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E83E88DA-0B03-A50D-BA82-F8FF78C0BE1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duotone>
                <a:prstClr val="black"/>
                <a:schemeClr val="accent6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4009293" y="3717580"/>
              <a:ext cx="7877638" cy="257176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07092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D69C0-3379-3AC4-D248-1D5ED0F98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rrow: Left 11">
            <a:hlinkClick r:id="rId2" action="ppaction://hlinksldjump"/>
            <a:extLst>
              <a:ext uri="{FF2B5EF4-FFF2-40B4-BE49-F238E27FC236}">
                <a16:creationId xmlns:a16="http://schemas.microsoft.com/office/drawing/2014/main" id="{BD78D8DB-F90C-66BC-FFEF-012DD200C588}"/>
              </a:ext>
            </a:extLst>
          </p:cNvPr>
          <p:cNvSpPr/>
          <p:nvPr/>
        </p:nvSpPr>
        <p:spPr>
          <a:xfrm>
            <a:off x="84406" y="407963"/>
            <a:ext cx="794825" cy="422032"/>
          </a:xfrm>
          <a:prstGeom prst="left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8BD7E0A-57BF-0CF5-5FE4-DFE50C1D2521}"/>
              </a:ext>
            </a:extLst>
          </p:cNvPr>
          <p:cNvGrpSpPr/>
          <p:nvPr/>
        </p:nvGrpSpPr>
        <p:grpSpPr>
          <a:xfrm>
            <a:off x="1456006" y="131736"/>
            <a:ext cx="9720776" cy="1085119"/>
            <a:chOff x="1456006" y="131736"/>
            <a:chExt cx="9720776" cy="120968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DD9347C-284E-D1D2-B217-D6B1BAC881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56006" y="131736"/>
              <a:ext cx="9720776" cy="552454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B71FB94E-EE5C-63F2-93CF-44D36F9715B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56006" y="684190"/>
              <a:ext cx="9720775" cy="657230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478603A-261E-FE1F-CB11-918C07A0C13C}"/>
              </a:ext>
            </a:extLst>
          </p:cNvPr>
          <p:cNvGrpSpPr/>
          <p:nvPr/>
        </p:nvGrpSpPr>
        <p:grpSpPr>
          <a:xfrm>
            <a:off x="1456004" y="1280160"/>
            <a:ext cx="9720774" cy="2904979"/>
            <a:chOff x="1456007" y="1692808"/>
            <a:chExt cx="4639994" cy="2047890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5A7E6F3-0758-BF39-FA95-3CFEF2C609F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56007" y="1692808"/>
              <a:ext cx="4639994" cy="1066808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AF36C907-C392-9D17-C5EC-3CC88B88048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456007" y="2759616"/>
              <a:ext cx="4639994" cy="981082"/>
            </a:xfrm>
            <a:prstGeom prst="rect">
              <a:avLst/>
            </a:prstGeom>
          </p:spPr>
        </p:pic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2A61FFA1-B22D-6ECD-0C69-8BD3066EBA7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56004" y="4306744"/>
            <a:ext cx="9720773" cy="2480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960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77F44-D232-8D49-E4D9-F8BF4B748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rrow: Left 11">
            <a:hlinkClick r:id="rId2" action="ppaction://hlinksldjump"/>
            <a:extLst>
              <a:ext uri="{FF2B5EF4-FFF2-40B4-BE49-F238E27FC236}">
                <a16:creationId xmlns:a16="http://schemas.microsoft.com/office/drawing/2014/main" id="{BBA4E786-1A78-1E3C-69A7-1DB019025EC6}"/>
              </a:ext>
            </a:extLst>
          </p:cNvPr>
          <p:cNvSpPr/>
          <p:nvPr/>
        </p:nvSpPr>
        <p:spPr>
          <a:xfrm>
            <a:off x="84406" y="407963"/>
            <a:ext cx="794825" cy="422032"/>
          </a:xfrm>
          <a:prstGeom prst="left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C7AF38-6660-3080-8988-6FCC5D8ADD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924" y="88097"/>
            <a:ext cx="7029501" cy="156925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1EE8188-2D4C-D1FC-EDF3-923064456D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3923" y="1804978"/>
            <a:ext cx="6969945" cy="373142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7CE4973-8897-09AF-4553-781235064BE7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523770" y="328614"/>
            <a:ext cx="7629581" cy="198596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BBD0DAA-22A8-4829-6F60-575F6039C527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452925" y="2447918"/>
            <a:ext cx="7629581" cy="3960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795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A42BB-1B0A-8589-219F-DCA5A0AEF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rrow: Left 11">
            <a:hlinkClick r:id="rId2" action="ppaction://hlinksldjump"/>
            <a:extLst>
              <a:ext uri="{FF2B5EF4-FFF2-40B4-BE49-F238E27FC236}">
                <a16:creationId xmlns:a16="http://schemas.microsoft.com/office/drawing/2014/main" id="{A4A1C194-A6DF-5AE0-FE3B-2311487EA763}"/>
              </a:ext>
            </a:extLst>
          </p:cNvPr>
          <p:cNvSpPr/>
          <p:nvPr/>
        </p:nvSpPr>
        <p:spPr>
          <a:xfrm>
            <a:off x="84406" y="407963"/>
            <a:ext cx="794825" cy="422032"/>
          </a:xfrm>
          <a:prstGeom prst="left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B7809E-A09A-531B-F2B6-4DFC7BC523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4878" y="1893088"/>
            <a:ext cx="7296203" cy="31646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E96BE69-A8BF-FFA6-94FA-3860F3EF5B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4879" y="0"/>
            <a:ext cx="7296203" cy="18002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2E5C1BE-8483-4A69-FEB1-1F9C1790E4D6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211444" y="0"/>
            <a:ext cx="6896150" cy="2614613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4A1A8AEA-CDB8-0BFA-F805-FB1BB4AE1EC8}"/>
              </a:ext>
            </a:extLst>
          </p:cNvPr>
          <p:cNvGrpSpPr/>
          <p:nvPr/>
        </p:nvGrpSpPr>
        <p:grpSpPr>
          <a:xfrm>
            <a:off x="1834767" y="2590809"/>
            <a:ext cx="10202452" cy="3690946"/>
            <a:chOff x="1834767" y="2590809"/>
            <a:chExt cx="10202452" cy="3690946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1761ECF-1390-FD92-3193-27B877F5FC6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prstClr val="black"/>
                <a:schemeClr val="accent6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1834767" y="2590809"/>
              <a:ext cx="5236369" cy="3690946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5460EF07-82AB-037E-225F-FC15FAD127B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duotone>
                <a:prstClr val="black"/>
                <a:schemeClr val="accent6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7071136" y="2614613"/>
              <a:ext cx="4966083" cy="366714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08517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C5EB4-45BF-0D81-C6BD-57A9CA76A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rrow: Left 11">
            <a:hlinkClick r:id="rId2" action="ppaction://hlinksldjump"/>
            <a:extLst>
              <a:ext uri="{FF2B5EF4-FFF2-40B4-BE49-F238E27FC236}">
                <a16:creationId xmlns:a16="http://schemas.microsoft.com/office/drawing/2014/main" id="{A7F20F0F-A489-B100-B61C-D8FD2157400A}"/>
              </a:ext>
            </a:extLst>
          </p:cNvPr>
          <p:cNvSpPr/>
          <p:nvPr/>
        </p:nvSpPr>
        <p:spPr>
          <a:xfrm>
            <a:off x="84406" y="407963"/>
            <a:ext cx="794825" cy="422032"/>
          </a:xfrm>
          <a:prstGeom prst="left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5B3953F-B72E-BEDC-CFD1-4CE8AF3904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916" y="52377"/>
            <a:ext cx="5812660" cy="17549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C2BEFD6-0509-4119-6EA9-19FA076410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889" y="1881171"/>
            <a:ext cx="6879430" cy="4791092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87995F5B-31A9-5CA8-A5C8-FE94C4E9C3F9}"/>
              </a:ext>
            </a:extLst>
          </p:cNvPr>
          <p:cNvGrpSpPr/>
          <p:nvPr/>
        </p:nvGrpSpPr>
        <p:grpSpPr>
          <a:xfrm>
            <a:off x="5178157" y="1065579"/>
            <a:ext cx="6879430" cy="5449522"/>
            <a:chOff x="6600825" y="52377"/>
            <a:chExt cx="5506769" cy="5532877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2CCAE68-B00C-FF80-221A-7ECD3E6AF3F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chemeClr val="accent6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6600825" y="52377"/>
              <a:ext cx="5506769" cy="3305199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E8AB0587-F01D-693B-9DF3-47054ABFF3A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prstClr val="black"/>
                <a:schemeClr val="accent6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6600825" y="3357576"/>
              <a:ext cx="5506769" cy="1971689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72C79214-CB8D-373E-627E-41E35289473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prstClr val="black"/>
                <a:schemeClr val="accent6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6600825" y="5329265"/>
              <a:ext cx="5506769" cy="255989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F894C77-84F3-8C8A-9DCB-EF4D3C99A5EC}"/>
              </a:ext>
            </a:extLst>
          </p:cNvPr>
          <p:cNvGrpSpPr/>
          <p:nvPr/>
        </p:nvGrpSpPr>
        <p:grpSpPr>
          <a:xfrm>
            <a:off x="2507456" y="52377"/>
            <a:ext cx="9601199" cy="6691323"/>
            <a:chOff x="2507456" y="52377"/>
            <a:chExt cx="9601199" cy="6691323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4BFD2C3F-06DE-3556-14B2-08169B6EA16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566962" y="52377"/>
              <a:ext cx="9254882" cy="1671632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4831B1FA-4EC3-CE46-4232-0A917EAD8D8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duotone>
                <a:prstClr val="black"/>
                <a:schemeClr val="accent4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2507456" y="1689494"/>
              <a:ext cx="9601199" cy="5054206"/>
            </a:xfrm>
            <a:prstGeom prst="rect">
              <a:avLst/>
            </a:prstGeom>
          </p:spPr>
        </p:pic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C946C812-D3B9-2949-B735-FDF8DDB028C0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35806" y="1964531"/>
            <a:ext cx="6322218" cy="2513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192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BD53C-5524-DEC4-53A7-EC970BF8C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rrow: Left 11">
            <a:hlinkClick r:id="rId2" action="ppaction://hlinksldjump"/>
            <a:extLst>
              <a:ext uri="{FF2B5EF4-FFF2-40B4-BE49-F238E27FC236}">
                <a16:creationId xmlns:a16="http://schemas.microsoft.com/office/drawing/2014/main" id="{2961F054-6B7D-3856-212D-F167B7E98736}"/>
              </a:ext>
            </a:extLst>
          </p:cNvPr>
          <p:cNvSpPr/>
          <p:nvPr/>
        </p:nvSpPr>
        <p:spPr>
          <a:xfrm>
            <a:off x="84406" y="407963"/>
            <a:ext cx="794825" cy="422032"/>
          </a:xfrm>
          <a:prstGeom prst="left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B830B5-FB98-2D08-947E-F90FDFE8934B}"/>
              </a:ext>
            </a:extLst>
          </p:cNvPr>
          <p:cNvSpPr txBox="1"/>
          <p:nvPr/>
        </p:nvSpPr>
        <p:spPr>
          <a:xfrm>
            <a:off x="1421606" y="407963"/>
            <a:ext cx="10036969" cy="286232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just"/>
            <a:r>
              <a:rPr lang="en-US" altLang="zh-C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Any characteristic which is subject to change and can have more than one value such as age, intelligence, motivation, gender, etc. - Variables are “changing qualities or characteristics” of persons or things like age, gender, intelligence, ideas, achievements, confidence, and so on that are involved in your research study.</a:t>
            </a:r>
            <a:endParaRPr lang="zh-CN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61886D-A9EC-2A55-5E0C-3A624CA89554}"/>
              </a:ext>
            </a:extLst>
          </p:cNvPr>
          <p:cNvSpPr txBox="1"/>
          <p:nvPr/>
        </p:nvSpPr>
        <p:spPr>
          <a:xfrm>
            <a:off x="1421606" y="3501955"/>
            <a:ext cx="10036968" cy="258532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example: </a:t>
            </a:r>
          </a:p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Age: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(someone can be 10, 20, or 30 years old)</a:t>
            </a:r>
          </a:p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Gender: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(male, female, other)</a:t>
            </a:r>
          </a:p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Motivation: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(low, medium, high)</a:t>
            </a:r>
          </a:p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Intelligence: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(different people have different levels)</a:t>
            </a:r>
          </a:p>
          <a:p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research, variables are the qualities or characteristics of people or things that we study because they don’t stay the same for everyone. They vary, that’s why we call them variables.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B42E0BF-253D-DE02-C007-A2BB902AB3F1}"/>
              </a:ext>
            </a:extLst>
          </p:cNvPr>
          <p:cNvGrpSpPr/>
          <p:nvPr/>
        </p:nvGrpSpPr>
        <p:grpSpPr>
          <a:xfrm>
            <a:off x="84406" y="995953"/>
            <a:ext cx="11916544" cy="4837122"/>
            <a:chOff x="84406" y="995953"/>
            <a:chExt cx="11916544" cy="4837122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6F187B7E-DF51-947F-B54A-3B87894B47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406" y="995953"/>
              <a:ext cx="6180663" cy="4837122"/>
            </a:xfrm>
            <a:prstGeom prst="rect">
              <a:avLst/>
            </a:prstGeom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D2E12EE0-D909-9781-CF09-C4F94D8E7C9E}"/>
                </a:ext>
              </a:extLst>
            </p:cNvPr>
            <p:cNvGrpSpPr/>
            <p:nvPr/>
          </p:nvGrpSpPr>
          <p:grpSpPr>
            <a:xfrm>
              <a:off x="6265069" y="1238841"/>
              <a:ext cx="5735881" cy="4594234"/>
              <a:chOff x="6265069" y="1929454"/>
              <a:chExt cx="5735881" cy="3215636"/>
            </a:xfrm>
          </p:grpSpPr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E000FC0E-172F-1AD8-F4D1-EB8DA51044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265070" y="1929454"/>
                <a:ext cx="5735880" cy="2862321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9EC6B1C2-0C07-BBB3-6BBD-0D829A0D576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265069" y="4789242"/>
                <a:ext cx="1619262" cy="355848"/>
              </a:xfrm>
              <a:prstGeom prst="rect">
                <a:avLst/>
              </a:prstGeom>
            </p:spPr>
          </p:pic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C6EC86E7-69F9-6E02-01F0-38C2EA08D89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884331" y="4789242"/>
                <a:ext cx="4116619" cy="355848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713648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602F8-4072-D81E-B1AA-4CECF07D7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684BB22-12AB-7A05-28A6-99026FDC8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1862" y="2278856"/>
            <a:ext cx="10515600" cy="1233487"/>
          </a:xfrm>
          <a:solidFill>
            <a:schemeClr val="tx1"/>
          </a:solidFill>
        </p:spPr>
        <p:txBody>
          <a:bodyPr/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STCaiyun" panose="020B0503020204020204" pitchFamily="2" charset="-122"/>
                <a:ea typeface="STCaiyun" panose="020B0503020204020204" pitchFamily="2" charset="-122"/>
              </a:rPr>
              <a:t>Thank you</a:t>
            </a:r>
            <a:endParaRPr lang="zh-CN" altLang="en-US" dirty="0">
              <a:solidFill>
                <a:schemeClr val="bg1"/>
              </a:solidFill>
              <a:latin typeface="STCaiyun" panose="020B0503020204020204" pitchFamily="2" charset="-122"/>
              <a:ea typeface="STCaiyun" panose="020B0503020204020204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72918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7434</TotalTime>
  <Words>1344</Words>
  <Application>Microsoft Office PowerPoint</Application>
  <PresentationFormat>Widescreen</PresentationFormat>
  <Paragraphs>100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__Inter_bdbe8e</vt:lpstr>
      <vt:lpstr>STCaiyun</vt:lpstr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PGP Program (Ph.D)</dc:title>
  <dc:creator>Bahria</dc:creator>
  <cp:lastModifiedBy>Dr. Faheem Akhtar BUKC</cp:lastModifiedBy>
  <cp:revision>484</cp:revision>
  <cp:lastPrinted>2021-05-24T09:00:11Z</cp:lastPrinted>
  <dcterms:created xsi:type="dcterms:W3CDTF">2021-05-24T08:10:44Z</dcterms:created>
  <dcterms:modified xsi:type="dcterms:W3CDTF">2025-10-04T18:12:57Z</dcterms:modified>
</cp:coreProperties>
</file>