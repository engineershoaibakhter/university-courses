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99" r:id="rId2"/>
    <p:sldId id="326" r:id="rId3"/>
    <p:sldId id="393" r:id="rId4"/>
    <p:sldId id="394" r:id="rId5"/>
    <p:sldId id="395" r:id="rId6"/>
    <p:sldId id="396" r:id="rId7"/>
    <p:sldId id="398" r:id="rId8"/>
    <p:sldId id="397" r:id="rId9"/>
    <p:sldId id="399" r:id="rId10"/>
    <p:sldId id="400" r:id="rId11"/>
    <p:sldId id="401" r:id="rId12"/>
    <p:sldId id="402" r:id="rId13"/>
    <p:sldId id="403" r:id="rId14"/>
    <p:sldId id="376" r:id="rId15"/>
    <p:sldId id="378" r:id="rId16"/>
    <p:sldId id="379" r:id="rId17"/>
    <p:sldId id="380" r:id="rId18"/>
    <p:sldId id="377" r:id="rId19"/>
    <p:sldId id="381" r:id="rId20"/>
    <p:sldId id="382" r:id="rId21"/>
    <p:sldId id="383" r:id="rId22"/>
    <p:sldId id="384" r:id="rId23"/>
    <p:sldId id="385" r:id="rId24"/>
    <p:sldId id="386" r:id="rId25"/>
    <p:sldId id="405" r:id="rId26"/>
    <p:sldId id="388" r:id="rId27"/>
    <p:sldId id="389" r:id="rId28"/>
    <p:sldId id="390" r:id="rId29"/>
    <p:sldId id="391" r:id="rId30"/>
    <p:sldId id="392" r:id="rId31"/>
    <p:sldId id="404" r:id="rId32"/>
    <p:sldId id="406" r:id="rId33"/>
    <p:sldId id="407" r:id="rId34"/>
    <p:sldId id="408" r:id="rId35"/>
    <p:sldId id="409" r:id="rId36"/>
    <p:sldId id="414" r:id="rId37"/>
    <p:sldId id="410" r:id="rId38"/>
    <p:sldId id="415" r:id="rId39"/>
    <p:sldId id="411" r:id="rId40"/>
    <p:sldId id="412" r:id="rId41"/>
    <p:sldId id="416" r:id="rId42"/>
    <p:sldId id="417" r:id="rId43"/>
    <p:sldId id="418" r:id="rId44"/>
    <p:sldId id="419" r:id="rId45"/>
    <p:sldId id="420" r:id="rId46"/>
    <p:sldId id="421" r:id="rId47"/>
    <p:sldId id="422" r:id="rId48"/>
    <p:sldId id="423" r:id="rId49"/>
    <p:sldId id="424" r:id="rId50"/>
    <p:sldId id="425" r:id="rId51"/>
    <p:sldId id="426" r:id="rId52"/>
    <p:sldId id="427" r:id="rId53"/>
    <p:sldId id="413" r:id="rId54"/>
    <p:sldId id="300" r:id="rId5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03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58"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702EC1DE-35C0-4CA5-BA52-E1B050F26AC5}" type="datetimeFigureOut">
              <a:rPr lang="en-US" smtClean="0"/>
              <a:t>11/15/2025</a:t>
            </a:fld>
            <a:endParaRPr lang="en-US"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9DB9EE01-63FC-4CA8-A19A-073FDAA81928}" type="slidenum">
              <a:rPr lang="en-US" smtClean="0"/>
              <a:t>‹#›</a:t>
            </a:fld>
            <a:endParaRPr lang="en-US" dirty="0"/>
          </a:p>
        </p:txBody>
      </p:sp>
    </p:spTree>
    <p:extLst>
      <p:ext uri="{BB962C8B-B14F-4D97-AF65-F5344CB8AC3E}">
        <p14:creationId xmlns:p14="http://schemas.microsoft.com/office/powerpoint/2010/main" val="1209435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9EE01-63FC-4CA8-A19A-073FDAA81928}" type="slidenum">
              <a:rPr lang="en-US" smtClean="0"/>
              <a:t>2</a:t>
            </a:fld>
            <a:endParaRPr lang="en-US"/>
          </a:p>
        </p:txBody>
      </p:sp>
    </p:spTree>
    <p:extLst>
      <p:ext uri="{BB962C8B-B14F-4D97-AF65-F5344CB8AC3E}">
        <p14:creationId xmlns:p14="http://schemas.microsoft.com/office/powerpoint/2010/main" val="4168214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3915B-D969-F6FB-5DF0-5EC77AE9E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D8D11-DA31-B091-796A-5ABC85C77A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731534-7006-F540-D8DC-B3FD91834B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B0709B-9E35-84CC-8937-0F96B400E243}"/>
              </a:ext>
            </a:extLst>
          </p:cNvPr>
          <p:cNvSpPr>
            <a:spLocks noGrp="1"/>
          </p:cNvSpPr>
          <p:nvPr>
            <p:ph type="sldNum" sz="quarter" idx="10"/>
          </p:nvPr>
        </p:nvSpPr>
        <p:spPr/>
        <p:txBody>
          <a:bodyPr/>
          <a:lstStyle/>
          <a:p>
            <a:fld id="{9DB9EE01-63FC-4CA8-A19A-073FDAA81928}" type="slidenum">
              <a:rPr lang="en-US" smtClean="0"/>
              <a:t>3</a:t>
            </a:fld>
            <a:endParaRPr lang="en-US"/>
          </a:p>
        </p:txBody>
      </p:sp>
    </p:spTree>
    <p:extLst>
      <p:ext uri="{BB962C8B-B14F-4D97-AF65-F5344CB8AC3E}">
        <p14:creationId xmlns:p14="http://schemas.microsoft.com/office/powerpoint/2010/main" val="3277731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E96B7-8754-EC98-FA4F-61353FD67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6648A-B0B9-865D-49B2-DA0E97CF23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FEBDE-73B1-D0D5-7707-BD5AB9A45E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872F57-D3A5-CFE4-9157-D84D9D592430}"/>
              </a:ext>
            </a:extLst>
          </p:cNvPr>
          <p:cNvSpPr>
            <a:spLocks noGrp="1"/>
          </p:cNvSpPr>
          <p:nvPr>
            <p:ph type="sldNum" sz="quarter" idx="10"/>
          </p:nvPr>
        </p:nvSpPr>
        <p:spPr/>
        <p:txBody>
          <a:bodyPr/>
          <a:lstStyle/>
          <a:p>
            <a:fld id="{9DB9EE01-63FC-4CA8-A19A-073FDAA81928}" type="slidenum">
              <a:rPr lang="en-US" smtClean="0"/>
              <a:t>4</a:t>
            </a:fld>
            <a:endParaRPr lang="en-US"/>
          </a:p>
        </p:txBody>
      </p:sp>
    </p:spTree>
    <p:extLst>
      <p:ext uri="{BB962C8B-B14F-4D97-AF65-F5344CB8AC3E}">
        <p14:creationId xmlns:p14="http://schemas.microsoft.com/office/powerpoint/2010/main" val="12201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433B5-EC81-8895-B406-75634F4B9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9182D-6AFA-2F56-1C08-54A8B7773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44B0B1-A9F8-79B7-6C5A-AB91940890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685864-FE3A-5883-443E-A42FF1AF5CC6}"/>
              </a:ext>
            </a:extLst>
          </p:cNvPr>
          <p:cNvSpPr>
            <a:spLocks noGrp="1"/>
          </p:cNvSpPr>
          <p:nvPr>
            <p:ph type="sldNum" sz="quarter" idx="10"/>
          </p:nvPr>
        </p:nvSpPr>
        <p:spPr/>
        <p:txBody>
          <a:bodyPr/>
          <a:lstStyle/>
          <a:p>
            <a:fld id="{9DB9EE01-63FC-4CA8-A19A-073FDAA81928}" type="slidenum">
              <a:rPr lang="en-US" smtClean="0"/>
              <a:t>5</a:t>
            </a:fld>
            <a:endParaRPr lang="en-US"/>
          </a:p>
        </p:txBody>
      </p:sp>
    </p:spTree>
    <p:extLst>
      <p:ext uri="{BB962C8B-B14F-4D97-AF65-F5344CB8AC3E}">
        <p14:creationId xmlns:p14="http://schemas.microsoft.com/office/powerpoint/2010/main" val="3784922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1BE1-BB27-10FE-FEC3-2A8EAEF79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26E73-ED34-8E76-C962-43388DCB0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2E1DF-460C-3195-054F-12B802E1DD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4B08B5-3D70-4D5F-43BE-E2345E3DC41A}"/>
              </a:ext>
            </a:extLst>
          </p:cNvPr>
          <p:cNvSpPr>
            <a:spLocks noGrp="1"/>
          </p:cNvSpPr>
          <p:nvPr>
            <p:ph type="sldNum" sz="quarter" idx="10"/>
          </p:nvPr>
        </p:nvSpPr>
        <p:spPr/>
        <p:txBody>
          <a:bodyPr/>
          <a:lstStyle/>
          <a:p>
            <a:fld id="{9DB9EE01-63FC-4CA8-A19A-073FDAA81928}" type="slidenum">
              <a:rPr lang="en-US" smtClean="0"/>
              <a:t>6</a:t>
            </a:fld>
            <a:endParaRPr lang="en-US"/>
          </a:p>
        </p:txBody>
      </p:sp>
    </p:spTree>
    <p:extLst>
      <p:ext uri="{BB962C8B-B14F-4D97-AF65-F5344CB8AC3E}">
        <p14:creationId xmlns:p14="http://schemas.microsoft.com/office/powerpoint/2010/main" val="1218191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79154-0324-BAAC-190F-6430BEA55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A9778-FD0C-ECB0-2B3D-2349F1D6F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ABB17-BCEC-8F16-2BEF-4623979A5B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1214E1-353D-D743-B32E-44776F834F12}"/>
              </a:ext>
            </a:extLst>
          </p:cNvPr>
          <p:cNvSpPr>
            <a:spLocks noGrp="1"/>
          </p:cNvSpPr>
          <p:nvPr>
            <p:ph type="sldNum" sz="quarter" idx="10"/>
          </p:nvPr>
        </p:nvSpPr>
        <p:spPr/>
        <p:txBody>
          <a:bodyPr/>
          <a:lstStyle/>
          <a:p>
            <a:fld id="{9DB9EE01-63FC-4CA8-A19A-073FDAA81928}" type="slidenum">
              <a:rPr lang="en-US" smtClean="0"/>
              <a:t>7</a:t>
            </a:fld>
            <a:endParaRPr lang="en-US"/>
          </a:p>
        </p:txBody>
      </p:sp>
    </p:spTree>
    <p:extLst>
      <p:ext uri="{BB962C8B-B14F-4D97-AF65-F5344CB8AC3E}">
        <p14:creationId xmlns:p14="http://schemas.microsoft.com/office/powerpoint/2010/main" val="3896072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BB0F-B434-0E22-F6F8-D46D1FFA7A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098A0-5BDD-187A-8730-9306DAC04B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5387E2-B37E-BB31-C1EF-DB1594941A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189891-08E6-71F9-829C-CA1F8428560E}"/>
              </a:ext>
            </a:extLst>
          </p:cNvPr>
          <p:cNvSpPr>
            <a:spLocks noGrp="1"/>
          </p:cNvSpPr>
          <p:nvPr>
            <p:ph type="sldNum" sz="quarter" idx="10"/>
          </p:nvPr>
        </p:nvSpPr>
        <p:spPr/>
        <p:txBody>
          <a:bodyPr/>
          <a:lstStyle/>
          <a:p>
            <a:fld id="{9DB9EE01-63FC-4CA8-A19A-073FDAA81928}" type="slidenum">
              <a:rPr lang="en-US" smtClean="0"/>
              <a:t>8</a:t>
            </a:fld>
            <a:endParaRPr lang="en-US"/>
          </a:p>
        </p:txBody>
      </p:sp>
    </p:spTree>
    <p:extLst>
      <p:ext uri="{BB962C8B-B14F-4D97-AF65-F5344CB8AC3E}">
        <p14:creationId xmlns:p14="http://schemas.microsoft.com/office/powerpoint/2010/main" val="23284343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99F1D-446C-1DA1-513A-DB6571E31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4BBF8-42EE-F10C-5C43-5F995BCEA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F5009-E592-2AAD-8E76-120DA03FBC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7FF16D-4C14-96A9-0913-00FF31A116CF}"/>
              </a:ext>
            </a:extLst>
          </p:cNvPr>
          <p:cNvSpPr>
            <a:spLocks noGrp="1"/>
          </p:cNvSpPr>
          <p:nvPr>
            <p:ph type="sldNum" sz="quarter" idx="10"/>
          </p:nvPr>
        </p:nvSpPr>
        <p:spPr/>
        <p:txBody>
          <a:bodyPr/>
          <a:lstStyle/>
          <a:p>
            <a:fld id="{9DB9EE01-63FC-4CA8-A19A-073FDAA81928}" type="slidenum">
              <a:rPr lang="en-US" smtClean="0"/>
              <a:t>9</a:t>
            </a:fld>
            <a:endParaRPr lang="en-US"/>
          </a:p>
        </p:txBody>
      </p:sp>
    </p:spTree>
    <p:extLst>
      <p:ext uri="{BB962C8B-B14F-4D97-AF65-F5344CB8AC3E}">
        <p14:creationId xmlns:p14="http://schemas.microsoft.com/office/powerpoint/2010/main" val="1573006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AC724-8FAD-9AB5-4C05-B387543A2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65F92-8F30-DC3F-6290-70AEF75E4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51A557-7AE7-8BF7-3990-A764D71B5C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C936F5-50DE-C444-C353-AE4205EF321E}"/>
              </a:ext>
            </a:extLst>
          </p:cNvPr>
          <p:cNvSpPr>
            <a:spLocks noGrp="1"/>
          </p:cNvSpPr>
          <p:nvPr>
            <p:ph type="sldNum" sz="quarter" idx="10"/>
          </p:nvPr>
        </p:nvSpPr>
        <p:spPr/>
        <p:txBody>
          <a:bodyPr/>
          <a:lstStyle/>
          <a:p>
            <a:fld id="{9DB9EE01-63FC-4CA8-A19A-073FDAA81928}" type="slidenum">
              <a:rPr lang="en-US" smtClean="0"/>
              <a:t>10</a:t>
            </a:fld>
            <a:endParaRPr lang="en-US"/>
          </a:p>
        </p:txBody>
      </p:sp>
    </p:spTree>
    <p:extLst>
      <p:ext uri="{BB962C8B-B14F-4D97-AF65-F5344CB8AC3E}">
        <p14:creationId xmlns:p14="http://schemas.microsoft.com/office/powerpoint/2010/main" val="44302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135AB-27FE-25A5-551B-E9DAD80E7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C682F-D02C-4C0B-1527-13E8805D9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F5CDCF-2803-A336-62BE-6144ABBA0E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8514D9-5F74-B1EB-E447-03883E2846CB}"/>
              </a:ext>
            </a:extLst>
          </p:cNvPr>
          <p:cNvSpPr>
            <a:spLocks noGrp="1"/>
          </p:cNvSpPr>
          <p:nvPr>
            <p:ph type="sldNum" sz="quarter" idx="10"/>
          </p:nvPr>
        </p:nvSpPr>
        <p:spPr/>
        <p:txBody>
          <a:bodyPr/>
          <a:lstStyle/>
          <a:p>
            <a:fld id="{9DB9EE01-63FC-4CA8-A19A-073FDAA81928}" type="slidenum">
              <a:rPr lang="en-US" smtClean="0"/>
              <a:t>11</a:t>
            </a:fld>
            <a:endParaRPr lang="en-US"/>
          </a:p>
        </p:txBody>
      </p:sp>
    </p:spTree>
    <p:extLst>
      <p:ext uri="{BB962C8B-B14F-4D97-AF65-F5344CB8AC3E}">
        <p14:creationId xmlns:p14="http://schemas.microsoft.com/office/powerpoint/2010/main" val="3171685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67B6E-946E-7816-D523-3F2EA119E7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7BA02-AFFE-5BFC-F5C6-A01BF9975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01C1B4-723D-C410-E6D7-358BAF5819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98BF07-7DD2-A771-5564-3F3EFBAA2006}"/>
              </a:ext>
            </a:extLst>
          </p:cNvPr>
          <p:cNvSpPr>
            <a:spLocks noGrp="1"/>
          </p:cNvSpPr>
          <p:nvPr>
            <p:ph type="sldNum" sz="quarter" idx="10"/>
          </p:nvPr>
        </p:nvSpPr>
        <p:spPr/>
        <p:txBody>
          <a:bodyPr/>
          <a:lstStyle/>
          <a:p>
            <a:fld id="{9DB9EE01-63FC-4CA8-A19A-073FDAA81928}" type="slidenum">
              <a:rPr lang="en-US" smtClean="0"/>
              <a:t>12</a:t>
            </a:fld>
            <a:endParaRPr lang="en-US"/>
          </a:p>
        </p:txBody>
      </p:sp>
    </p:spTree>
    <p:extLst>
      <p:ext uri="{BB962C8B-B14F-4D97-AF65-F5344CB8AC3E}">
        <p14:creationId xmlns:p14="http://schemas.microsoft.com/office/powerpoint/2010/main" val="1781546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106CB-A89A-DBB2-F412-63811E2E0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A52A2-4BF2-D44A-D89C-575A82D9D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02585-F8D4-306B-0EFC-CD00FC13E8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2C0DDD-2F8A-AC6B-9154-1C118B92AA33}"/>
              </a:ext>
            </a:extLst>
          </p:cNvPr>
          <p:cNvSpPr>
            <a:spLocks noGrp="1"/>
          </p:cNvSpPr>
          <p:nvPr>
            <p:ph type="sldNum" sz="quarter" idx="10"/>
          </p:nvPr>
        </p:nvSpPr>
        <p:spPr/>
        <p:txBody>
          <a:bodyPr/>
          <a:lstStyle/>
          <a:p>
            <a:fld id="{9DB9EE01-63FC-4CA8-A19A-073FDAA81928}" type="slidenum">
              <a:rPr lang="en-US" smtClean="0"/>
              <a:t>13</a:t>
            </a:fld>
            <a:endParaRPr lang="en-US"/>
          </a:p>
        </p:txBody>
      </p:sp>
    </p:spTree>
    <p:extLst>
      <p:ext uri="{BB962C8B-B14F-4D97-AF65-F5344CB8AC3E}">
        <p14:creationId xmlns:p14="http://schemas.microsoft.com/office/powerpoint/2010/main" val="2820289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7BE8-B420-20BD-2D16-34E1ACC6A6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D74FC-8807-2025-7A20-18F6112A3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2485A6-BA2C-F9C5-E515-71D1E83079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7E7707-B8AB-FED9-DF74-A0EDF153E8A1}"/>
              </a:ext>
            </a:extLst>
          </p:cNvPr>
          <p:cNvSpPr>
            <a:spLocks noGrp="1"/>
          </p:cNvSpPr>
          <p:nvPr>
            <p:ph type="sldNum" sz="quarter" idx="10"/>
          </p:nvPr>
        </p:nvSpPr>
        <p:spPr/>
        <p:txBody>
          <a:bodyPr/>
          <a:lstStyle/>
          <a:p>
            <a:fld id="{9DB9EE01-63FC-4CA8-A19A-073FDAA81928}" type="slidenum">
              <a:rPr lang="en-US" smtClean="0"/>
              <a:t>14</a:t>
            </a:fld>
            <a:endParaRPr lang="en-US"/>
          </a:p>
        </p:txBody>
      </p:sp>
    </p:spTree>
    <p:extLst>
      <p:ext uri="{BB962C8B-B14F-4D97-AF65-F5344CB8AC3E}">
        <p14:creationId xmlns:p14="http://schemas.microsoft.com/office/powerpoint/2010/main" val="4016739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0473B-569D-3E65-D76C-2A67E97BC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1A520-C56A-B487-68CD-3268521C54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16032-2186-09CB-030F-69682733BA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8CC3B8-8FE9-D1E1-71DE-BB817A6B9217}"/>
              </a:ext>
            </a:extLst>
          </p:cNvPr>
          <p:cNvSpPr>
            <a:spLocks noGrp="1"/>
          </p:cNvSpPr>
          <p:nvPr>
            <p:ph type="sldNum" sz="quarter" idx="10"/>
          </p:nvPr>
        </p:nvSpPr>
        <p:spPr/>
        <p:txBody>
          <a:bodyPr/>
          <a:lstStyle/>
          <a:p>
            <a:fld id="{9DB9EE01-63FC-4CA8-A19A-073FDAA81928}" type="slidenum">
              <a:rPr lang="en-US" smtClean="0"/>
              <a:t>15</a:t>
            </a:fld>
            <a:endParaRPr lang="en-US"/>
          </a:p>
        </p:txBody>
      </p:sp>
    </p:spTree>
    <p:extLst>
      <p:ext uri="{BB962C8B-B14F-4D97-AF65-F5344CB8AC3E}">
        <p14:creationId xmlns:p14="http://schemas.microsoft.com/office/powerpoint/2010/main" val="2396446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2A8C-61F0-7638-CCF7-6F1131BAD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7C784-DD42-9927-5E9D-363A4AFE9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8EBB9-5C96-30D8-6594-7567AC0EBC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676F4B-E4EE-5968-1199-CCC6B9705009}"/>
              </a:ext>
            </a:extLst>
          </p:cNvPr>
          <p:cNvSpPr>
            <a:spLocks noGrp="1"/>
          </p:cNvSpPr>
          <p:nvPr>
            <p:ph type="sldNum" sz="quarter" idx="10"/>
          </p:nvPr>
        </p:nvSpPr>
        <p:spPr/>
        <p:txBody>
          <a:bodyPr/>
          <a:lstStyle/>
          <a:p>
            <a:fld id="{9DB9EE01-63FC-4CA8-A19A-073FDAA81928}" type="slidenum">
              <a:rPr lang="en-US" smtClean="0"/>
              <a:t>16</a:t>
            </a:fld>
            <a:endParaRPr lang="en-US"/>
          </a:p>
        </p:txBody>
      </p:sp>
    </p:spTree>
    <p:extLst>
      <p:ext uri="{BB962C8B-B14F-4D97-AF65-F5344CB8AC3E}">
        <p14:creationId xmlns:p14="http://schemas.microsoft.com/office/powerpoint/2010/main" val="3539679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24CC5-1827-4B83-4B60-B28289080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21589-E91D-ADDD-3EB8-A49EEB0675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AB7DF-A7ED-C46A-651B-29E76C0421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42E4F5-1F6C-CEE1-97E4-2E918815E17A}"/>
              </a:ext>
            </a:extLst>
          </p:cNvPr>
          <p:cNvSpPr>
            <a:spLocks noGrp="1"/>
          </p:cNvSpPr>
          <p:nvPr>
            <p:ph type="sldNum" sz="quarter" idx="10"/>
          </p:nvPr>
        </p:nvSpPr>
        <p:spPr/>
        <p:txBody>
          <a:bodyPr/>
          <a:lstStyle/>
          <a:p>
            <a:fld id="{9DB9EE01-63FC-4CA8-A19A-073FDAA81928}" type="slidenum">
              <a:rPr lang="en-US" smtClean="0"/>
              <a:t>17</a:t>
            </a:fld>
            <a:endParaRPr lang="en-US"/>
          </a:p>
        </p:txBody>
      </p:sp>
    </p:spTree>
    <p:extLst>
      <p:ext uri="{BB962C8B-B14F-4D97-AF65-F5344CB8AC3E}">
        <p14:creationId xmlns:p14="http://schemas.microsoft.com/office/powerpoint/2010/main" val="3822820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610F9-C45C-A17D-64A6-D1FE15C4C4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D03A4-DAD4-8C7E-C595-B441DD426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AE7C3-4426-42B6-12AF-1ED4415D43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EF5180-7477-88DC-FB2D-370E152C8794}"/>
              </a:ext>
            </a:extLst>
          </p:cNvPr>
          <p:cNvSpPr>
            <a:spLocks noGrp="1"/>
          </p:cNvSpPr>
          <p:nvPr>
            <p:ph type="sldNum" sz="quarter" idx="10"/>
          </p:nvPr>
        </p:nvSpPr>
        <p:spPr/>
        <p:txBody>
          <a:bodyPr/>
          <a:lstStyle/>
          <a:p>
            <a:fld id="{9DB9EE01-63FC-4CA8-A19A-073FDAA81928}" type="slidenum">
              <a:rPr lang="en-US" smtClean="0"/>
              <a:t>18</a:t>
            </a:fld>
            <a:endParaRPr lang="en-US"/>
          </a:p>
        </p:txBody>
      </p:sp>
    </p:spTree>
    <p:extLst>
      <p:ext uri="{BB962C8B-B14F-4D97-AF65-F5344CB8AC3E}">
        <p14:creationId xmlns:p14="http://schemas.microsoft.com/office/powerpoint/2010/main" val="3989465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6FD88-254E-0CF4-6A83-3E620EC5A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98228-F698-D56F-DC0C-7E3967A81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B685D-763D-203B-F5F7-FAB7DF7CF3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E0F9D2-7418-CC47-D03B-E44D9E17C7A0}"/>
              </a:ext>
            </a:extLst>
          </p:cNvPr>
          <p:cNvSpPr>
            <a:spLocks noGrp="1"/>
          </p:cNvSpPr>
          <p:nvPr>
            <p:ph type="sldNum" sz="quarter" idx="10"/>
          </p:nvPr>
        </p:nvSpPr>
        <p:spPr/>
        <p:txBody>
          <a:bodyPr/>
          <a:lstStyle/>
          <a:p>
            <a:fld id="{9DB9EE01-63FC-4CA8-A19A-073FDAA81928}" type="slidenum">
              <a:rPr lang="en-US" smtClean="0"/>
              <a:t>19</a:t>
            </a:fld>
            <a:endParaRPr lang="en-US"/>
          </a:p>
        </p:txBody>
      </p:sp>
    </p:spTree>
    <p:extLst>
      <p:ext uri="{BB962C8B-B14F-4D97-AF65-F5344CB8AC3E}">
        <p14:creationId xmlns:p14="http://schemas.microsoft.com/office/powerpoint/2010/main" val="1270698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ED871-AA00-E5D9-DB03-4FAF73136E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3B40E-266D-A370-AA53-39C92E61DC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8AEBA-B5F9-0C76-5FC3-6CEAAC4DFE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F04F41-4B4C-5A64-CFC3-10CC0731FB7B}"/>
              </a:ext>
            </a:extLst>
          </p:cNvPr>
          <p:cNvSpPr>
            <a:spLocks noGrp="1"/>
          </p:cNvSpPr>
          <p:nvPr>
            <p:ph type="sldNum" sz="quarter" idx="10"/>
          </p:nvPr>
        </p:nvSpPr>
        <p:spPr/>
        <p:txBody>
          <a:bodyPr/>
          <a:lstStyle/>
          <a:p>
            <a:fld id="{9DB9EE01-63FC-4CA8-A19A-073FDAA81928}" type="slidenum">
              <a:rPr lang="en-US" smtClean="0"/>
              <a:t>20</a:t>
            </a:fld>
            <a:endParaRPr lang="en-US"/>
          </a:p>
        </p:txBody>
      </p:sp>
    </p:spTree>
    <p:extLst>
      <p:ext uri="{BB962C8B-B14F-4D97-AF65-F5344CB8AC3E}">
        <p14:creationId xmlns:p14="http://schemas.microsoft.com/office/powerpoint/2010/main" val="2061384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2DF3F-368A-EEF3-56D3-03E1AAFDA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55399-AA55-EA67-26EA-DA541FB171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718DC-62F8-BF2E-9B08-7457CDC02D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013007-72CF-4ED1-4488-9E361B886B8C}"/>
              </a:ext>
            </a:extLst>
          </p:cNvPr>
          <p:cNvSpPr>
            <a:spLocks noGrp="1"/>
          </p:cNvSpPr>
          <p:nvPr>
            <p:ph type="sldNum" sz="quarter" idx="10"/>
          </p:nvPr>
        </p:nvSpPr>
        <p:spPr/>
        <p:txBody>
          <a:bodyPr/>
          <a:lstStyle/>
          <a:p>
            <a:fld id="{9DB9EE01-63FC-4CA8-A19A-073FDAA81928}" type="slidenum">
              <a:rPr lang="en-US" smtClean="0"/>
              <a:t>21</a:t>
            </a:fld>
            <a:endParaRPr lang="en-US"/>
          </a:p>
        </p:txBody>
      </p:sp>
    </p:spTree>
    <p:extLst>
      <p:ext uri="{BB962C8B-B14F-4D97-AF65-F5344CB8AC3E}">
        <p14:creationId xmlns:p14="http://schemas.microsoft.com/office/powerpoint/2010/main" val="31194859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80C18-0C50-EAB5-7313-6B84CDB2F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86A22-E5DE-9755-EEE0-20083BC685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AC136B-A0C3-C8E7-6F02-F22F46DD5A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14EE2A-2353-4129-D7E0-F9E1666DA6FC}"/>
              </a:ext>
            </a:extLst>
          </p:cNvPr>
          <p:cNvSpPr>
            <a:spLocks noGrp="1"/>
          </p:cNvSpPr>
          <p:nvPr>
            <p:ph type="sldNum" sz="quarter" idx="10"/>
          </p:nvPr>
        </p:nvSpPr>
        <p:spPr/>
        <p:txBody>
          <a:bodyPr/>
          <a:lstStyle/>
          <a:p>
            <a:fld id="{9DB9EE01-63FC-4CA8-A19A-073FDAA81928}" type="slidenum">
              <a:rPr lang="en-US" smtClean="0"/>
              <a:t>22</a:t>
            </a:fld>
            <a:endParaRPr lang="en-US"/>
          </a:p>
        </p:txBody>
      </p:sp>
    </p:spTree>
    <p:extLst>
      <p:ext uri="{BB962C8B-B14F-4D97-AF65-F5344CB8AC3E}">
        <p14:creationId xmlns:p14="http://schemas.microsoft.com/office/powerpoint/2010/main" val="3475088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3860F-4462-DC99-DE6D-B26868A41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390CF-5D60-5108-7DC3-D39D9B36A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BA6694-0F45-29E6-21C3-37B44CF0DE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3BE92D-EA44-E7E5-E504-86D97BD4BF29}"/>
              </a:ext>
            </a:extLst>
          </p:cNvPr>
          <p:cNvSpPr>
            <a:spLocks noGrp="1"/>
          </p:cNvSpPr>
          <p:nvPr>
            <p:ph type="sldNum" sz="quarter" idx="10"/>
          </p:nvPr>
        </p:nvSpPr>
        <p:spPr/>
        <p:txBody>
          <a:bodyPr/>
          <a:lstStyle/>
          <a:p>
            <a:fld id="{9DB9EE01-63FC-4CA8-A19A-073FDAA81928}" type="slidenum">
              <a:rPr lang="en-US" smtClean="0"/>
              <a:t>23</a:t>
            </a:fld>
            <a:endParaRPr lang="en-US"/>
          </a:p>
        </p:txBody>
      </p:sp>
    </p:spTree>
    <p:extLst>
      <p:ext uri="{BB962C8B-B14F-4D97-AF65-F5344CB8AC3E}">
        <p14:creationId xmlns:p14="http://schemas.microsoft.com/office/powerpoint/2010/main" val="37489591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F06AD-458E-8B4E-3AE1-95CC8F032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E015E-7C31-E4AB-FAAE-5B31AA5F1F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5A9DA-EF67-25F0-8048-5B05CB3497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38517D-A254-DF5E-D9A0-E4F300211E97}"/>
              </a:ext>
            </a:extLst>
          </p:cNvPr>
          <p:cNvSpPr>
            <a:spLocks noGrp="1"/>
          </p:cNvSpPr>
          <p:nvPr>
            <p:ph type="sldNum" sz="quarter" idx="10"/>
          </p:nvPr>
        </p:nvSpPr>
        <p:spPr/>
        <p:txBody>
          <a:bodyPr/>
          <a:lstStyle/>
          <a:p>
            <a:fld id="{9DB9EE01-63FC-4CA8-A19A-073FDAA81928}" type="slidenum">
              <a:rPr lang="en-US" smtClean="0"/>
              <a:t>24</a:t>
            </a:fld>
            <a:endParaRPr lang="en-US"/>
          </a:p>
        </p:txBody>
      </p:sp>
    </p:spTree>
    <p:extLst>
      <p:ext uri="{BB962C8B-B14F-4D97-AF65-F5344CB8AC3E}">
        <p14:creationId xmlns:p14="http://schemas.microsoft.com/office/powerpoint/2010/main" val="36468692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8556E-933B-8C4E-5A8E-1D6CE3AEF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8F05B-69D3-BAE2-6591-146416ADD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6F99-583A-6230-A02C-23E437EF47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51EF10-9ECB-D8B3-EFF6-1EE31230B527}"/>
              </a:ext>
            </a:extLst>
          </p:cNvPr>
          <p:cNvSpPr>
            <a:spLocks noGrp="1"/>
          </p:cNvSpPr>
          <p:nvPr>
            <p:ph type="sldNum" sz="quarter" idx="10"/>
          </p:nvPr>
        </p:nvSpPr>
        <p:spPr/>
        <p:txBody>
          <a:bodyPr/>
          <a:lstStyle/>
          <a:p>
            <a:fld id="{9DB9EE01-63FC-4CA8-A19A-073FDAA81928}" type="slidenum">
              <a:rPr lang="en-US" smtClean="0"/>
              <a:t>25</a:t>
            </a:fld>
            <a:endParaRPr lang="en-US"/>
          </a:p>
        </p:txBody>
      </p:sp>
    </p:spTree>
    <p:extLst>
      <p:ext uri="{BB962C8B-B14F-4D97-AF65-F5344CB8AC3E}">
        <p14:creationId xmlns:p14="http://schemas.microsoft.com/office/powerpoint/2010/main" val="24731714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D18DB-C4E2-AA42-0C3B-BA02B587A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6EA34-E62B-F0E0-DFC0-ADD234986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1DE3C-1618-6802-3DBF-3975974487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1B50E8-970B-3C51-9CC1-BDEDB5ADE395}"/>
              </a:ext>
            </a:extLst>
          </p:cNvPr>
          <p:cNvSpPr>
            <a:spLocks noGrp="1"/>
          </p:cNvSpPr>
          <p:nvPr>
            <p:ph type="sldNum" sz="quarter" idx="10"/>
          </p:nvPr>
        </p:nvSpPr>
        <p:spPr/>
        <p:txBody>
          <a:bodyPr/>
          <a:lstStyle/>
          <a:p>
            <a:fld id="{9DB9EE01-63FC-4CA8-A19A-073FDAA81928}" type="slidenum">
              <a:rPr lang="en-US" smtClean="0"/>
              <a:t>26</a:t>
            </a:fld>
            <a:endParaRPr lang="en-US"/>
          </a:p>
        </p:txBody>
      </p:sp>
    </p:spTree>
    <p:extLst>
      <p:ext uri="{BB962C8B-B14F-4D97-AF65-F5344CB8AC3E}">
        <p14:creationId xmlns:p14="http://schemas.microsoft.com/office/powerpoint/2010/main" val="21863292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62607-3385-0909-D7E6-9DF053D2B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DE65F-4F9E-E0E4-3FEE-2923AFBEF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9A0D5-E50C-D287-327F-96CC347EC9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9F3885-E932-E0F0-6ADC-08FCF64ED08F}"/>
              </a:ext>
            </a:extLst>
          </p:cNvPr>
          <p:cNvSpPr>
            <a:spLocks noGrp="1"/>
          </p:cNvSpPr>
          <p:nvPr>
            <p:ph type="sldNum" sz="quarter" idx="10"/>
          </p:nvPr>
        </p:nvSpPr>
        <p:spPr/>
        <p:txBody>
          <a:bodyPr/>
          <a:lstStyle/>
          <a:p>
            <a:fld id="{9DB9EE01-63FC-4CA8-A19A-073FDAA81928}" type="slidenum">
              <a:rPr lang="en-US" smtClean="0"/>
              <a:t>27</a:t>
            </a:fld>
            <a:endParaRPr lang="en-US"/>
          </a:p>
        </p:txBody>
      </p:sp>
    </p:spTree>
    <p:extLst>
      <p:ext uri="{BB962C8B-B14F-4D97-AF65-F5344CB8AC3E}">
        <p14:creationId xmlns:p14="http://schemas.microsoft.com/office/powerpoint/2010/main" val="31366827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9281A-993A-2F8F-95A2-574881B0E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D489C-ADD9-3A83-FC89-32F0C84A7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CAA54F-6997-2FFD-143A-0C1CF025E4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0E7AB0-C6C1-7681-4395-ACAB79E7856C}"/>
              </a:ext>
            </a:extLst>
          </p:cNvPr>
          <p:cNvSpPr>
            <a:spLocks noGrp="1"/>
          </p:cNvSpPr>
          <p:nvPr>
            <p:ph type="sldNum" sz="quarter" idx="10"/>
          </p:nvPr>
        </p:nvSpPr>
        <p:spPr/>
        <p:txBody>
          <a:bodyPr/>
          <a:lstStyle/>
          <a:p>
            <a:fld id="{9DB9EE01-63FC-4CA8-A19A-073FDAA81928}" type="slidenum">
              <a:rPr lang="en-US" smtClean="0"/>
              <a:t>28</a:t>
            </a:fld>
            <a:endParaRPr lang="en-US"/>
          </a:p>
        </p:txBody>
      </p:sp>
    </p:spTree>
    <p:extLst>
      <p:ext uri="{BB962C8B-B14F-4D97-AF65-F5344CB8AC3E}">
        <p14:creationId xmlns:p14="http://schemas.microsoft.com/office/powerpoint/2010/main" val="42502012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4B8A0-FBE1-DE46-A991-FAE11759D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F9915-963F-7F6D-5BA1-2E0010FE1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38A91-17DE-060E-81A0-27D384A25E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16D80D-DF1D-C230-F13E-153E650880B9}"/>
              </a:ext>
            </a:extLst>
          </p:cNvPr>
          <p:cNvSpPr>
            <a:spLocks noGrp="1"/>
          </p:cNvSpPr>
          <p:nvPr>
            <p:ph type="sldNum" sz="quarter" idx="10"/>
          </p:nvPr>
        </p:nvSpPr>
        <p:spPr/>
        <p:txBody>
          <a:bodyPr/>
          <a:lstStyle/>
          <a:p>
            <a:fld id="{9DB9EE01-63FC-4CA8-A19A-073FDAA81928}" type="slidenum">
              <a:rPr lang="en-US" smtClean="0"/>
              <a:t>29</a:t>
            </a:fld>
            <a:endParaRPr lang="en-US"/>
          </a:p>
        </p:txBody>
      </p:sp>
    </p:spTree>
    <p:extLst>
      <p:ext uri="{BB962C8B-B14F-4D97-AF65-F5344CB8AC3E}">
        <p14:creationId xmlns:p14="http://schemas.microsoft.com/office/powerpoint/2010/main" val="11740512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99E45-F0C0-DD04-76C7-CE98FD649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78479-1404-E37E-8DAF-3B2FC121B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1B00C-14EE-A6D4-9C9B-DECCC6F40E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5A9D92-E8E1-C218-B225-CA194007A33B}"/>
              </a:ext>
            </a:extLst>
          </p:cNvPr>
          <p:cNvSpPr>
            <a:spLocks noGrp="1"/>
          </p:cNvSpPr>
          <p:nvPr>
            <p:ph type="sldNum" sz="quarter" idx="10"/>
          </p:nvPr>
        </p:nvSpPr>
        <p:spPr/>
        <p:txBody>
          <a:bodyPr/>
          <a:lstStyle/>
          <a:p>
            <a:fld id="{9DB9EE01-63FC-4CA8-A19A-073FDAA81928}" type="slidenum">
              <a:rPr lang="en-US" smtClean="0"/>
              <a:t>30</a:t>
            </a:fld>
            <a:endParaRPr lang="en-US"/>
          </a:p>
        </p:txBody>
      </p:sp>
    </p:spTree>
    <p:extLst>
      <p:ext uri="{BB962C8B-B14F-4D97-AF65-F5344CB8AC3E}">
        <p14:creationId xmlns:p14="http://schemas.microsoft.com/office/powerpoint/2010/main" val="17263207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0ABDF-522D-4543-D04F-BB8A89BF1E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DF0BF-D3FF-E4FA-977F-EC18DABE8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34DCC-24EB-CABE-29CD-7BBF7091AD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074BE8-5CCF-405C-2915-0819EF97FB15}"/>
              </a:ext>
            </a:extLst>
          </p:cNvPr>
          <p:cNvSpPr>
            <a:spLocks noGrp="1"/>
          </p:cNvSpPr>
          <p:nvPr>
            <p:ph type="sldNum" sz="quarter" idx="10"/>
          </p:nvPr>
        </p:nvSpPr>
        <p:spPr/>
        <p:txBody>
          <a:bodyPr/>
          <a:lstStyle/>
          <a:p>
            <a:fld id="{9DB9EE01-63FC-4CA8-A19A-073FDAA81928}" type="slidenum">
              <a:rPr lang="en-US" smtClean="0"/>
              <a:t>31</a:t>
            </a:fld>
            <a:endParaRPr lang="en-US"/>
          </a:p>
        </p:txBody>
      </p:sp>
    </p:spTree>
    <p:extLst>
      <p:ext uri="{BB962C8B-B14F-4D97-AF65-F5344CB8AC3E}">
        <p14:creationId xmlns:p14="http://schemas.microsoft.com/office/powerpoint/2010/main" val="9959832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F518-CD30-1E8E-CEDC-F00D6A3CB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8CA2A-043C-F767-7D1C-77BCDDCCA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1E714C-EACB-513A-5277-885EEAC8C5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8A1C8E-44C2-0392-1930-D16C1876D78A}"/>
              </a:ext>
            </a:extLst>
          </p:cNvPr>
          <p:cNvSpPr>
            <a:spLocks noGrp="1"/>
          </p:cNvSpPr>
          <p:nvPr>
            <p:ph type="sldNum" sz="quarter" idx="10"/>
          </p:nvPr>
        </p:nvSpPr>
        <p:spPr/>
        <p:txBody>
          <a:bodyPr/>
          <a:lstStyle/>
          <a:p>
            <a:fld id="{9DB9EE01-63FC-4CA8-A19A-073FDAA81928}" type="slidenum">
              <a:rPr lang="en-US" smtClean="0"/>
              <a:t>32</a:t>
            </a:fld>
            <a:endParaRPr lang="en-US"/>
          </a:p>
        </p:txBody>
      </p:sp>
    </p:spTree>
    <p:extLst>
      <p:ext uri="{BB962C8B-B14F-4D97-AF65-F5344CB8AC3E}">
        <p14:creationId xmlns:p14="http://schemas.microsoft.com/office/powerpoint/2010/main" val="602514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7245E-668C-8D57-DA22-04E0D045B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D01802-B6A5-058B-7565-3AA37E9F20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7071E9-95F3-696A-19E6-94F903148A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82BD43-A801-CCE1-79E9-1A6D274572AD}"/>
              </a:ext>
            </a:extLst>
          </p:cNvPr>
          <p:cNvSpPr>
            <a:spLocks noGrp="1"/>
          </p:cNvSpPr>
          <p:nvPr>
            <p:ph type="sldNum" sz="quarter" idx="10"/>
          </p:nvPr>
        </p:nvSpPr>
        <p:spPr/>
        <p:txBody>
          <a:bodyPr/>
          <a:lstStyle/>
          <a:p>
            <a:fld id="{9DB9EE01-63FC-4CA8-A19A-073FDAA81928}" type="slidenum">
              <a:rPr lang="en-US" smtClean="0"/>
              <a:t>33</a:t>
            </a:fld>
            <a:endParaRPr lang="en-US"/>
          </a:p>
        </p:txBody>
      </p:sp>
    </p:spTree>
    <p:extLst>
      <p:ext uri="{BB962C8B-B14F-4D97-AF65-F5344CB8AC3E}">
        <p14:creationId xmlns:p14="http://schemas.microsoft.com/office/powerpoint/2010/main" val="8647526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F29EE-26EE-F1CF-36FE-F1750F77D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9FB8B-ED5C-B220-5E97-583E1B11E5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C7B84-9A0C-1808-CC81-6E0EB26F01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79C2E4-5EDF-99E3-4A6A-8B49B53B26E0}"/>
              </a:ext>
            </a:extLst>
          </p:cNvPr>
          <p:cNvSpPr>
            <a:spLocks noGrp="1"/>
          </p:cNvSpPr>
          <p:nvPr>
            <p:ph type="sldNum" sz="quarter" idx="10"/>
          </p:nvPr>
        </p:nvSpPr>
        <p:spPr/>
        <p:txBody>
          <a:bodyPr/>
          <a:lstStyle/>
          <a:p>
            <a:fld id="{9DB9EE01-63FC-4CA8-A19A-073FDAA81928}" type="slidenum">
              <a:rPr lang="en-US" smtClean="0"/>
              <a:t>34</a:t>
            </a:fld>
            <a:endParaRPr lang="en-US"/>
          </a:p>
        </p:txBody>
      </p:sp>
    </p:spTree>
    <p:extLst>
      <p:ext uri="{BB962C8B-B14F-4D97-AF65-F5344CB8AC3E}">
        <p14:creationId xmlns:p14="http://schemas.microsoft.com/office/powerpoint/2010/main" val="19268913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3407C-4142-E87C-570C-5B8124EF4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EEBB8-1DA8-23E2-09C3-4B5AE7F56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74B27-D607-E281-C8AA-E6F57D6E00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C80704-6BDA-5F85-96BE-C86A9D18BE9D}"/>
              </a:ext>
            </a:extLst>
          </p:cNvPr>
          <p:cNvSpPr>
            <a:spLocks noGrp="1"/>
          </p:cNvSpPr>
          <p:nvPr>
            <p:ph type="sldNum" sz="quarter" idx="10"/>
          </p:nvPr>
        </p:nvSpPr>
        <p:spPr/>
        <p:txBody>
          <a:bodyPr/>
          <a:lstStyle/>
          <a:p>
            <a:fld id="{9DB9EE01-63FC-4CA8-A19A-073FDAA81928}" type="slidenum">
              <a:rPr lang="en-US" smtClean="0"/>
              <a:t>35</a:t>
            </a:fld>
            <a:endParaRPr lang="en-US"/>
          </a:p>
        </p:txBody>
      </p:sp>
    </p:spTree>
    <p:extLst>
      <p:ext uri="{BB962C8B-B14F-4D97-AF65-F5344CB8AC3E}">
        <p14:creationId xmlns:p14="http://schemas.microsoft.com/office/powerpoint/2010/main" val="41922733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DF13E-EE94-15A9-813F-1C902BB42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7E754-B8F1-1334-BDD9-6FF9C8717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58C3F-DCBF-A216-2B2A-84AF0524DD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7901EF-A797-8B6E-CAE4-083DE8578DE1}"/>
              </a:ext>
            </a:extLst>
          </p:cNvPr>
          <p:cNvSpPr>
            <a:spLocks noGrp="1"/>
          </p:cNvSpPr>
          <p:nvPr>
            <p:ph type="sldNum" sz="quarter" idx="10"/>
          </p:nvPr>
        </p:nvSpPr>
        <p:spPr/>
        <p:txBody>
          <a:bodyPr/>
          <a:lstStyle/>
          <a:p>
            <a:fld id="{9DB9EE01-63FC-4CA8-A19A-073FDAA81928}" type="slidenum">
              <a:rPr lang="en-US" smtClean="0"/>
              <a:t>36</a:t>
            </a:fld>
            <a:endParaRPr lang="en-US"/>
          </a:p>
        </p:txBody>
      </p:sp>
    </p:spTree>
    <p:extLst>
      <p:ext uri="{BB962C8B-B14F-4D97-AF65-F5344CB8AC3E}">
        <p14:creationId xmlns:p14="http://schemas.microsoft.com/office/powerpoint/2010/main" val="24963256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037D1-059F-B734-6444-BB985F7AB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19F75-22FA-7ABD-D59A-7C45EEC6C9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AD967-F44A-A0D7-5EC1-5C6E6FDC2D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9FC23B-11B1-704B-8F8C-51BF8F5BF35C}"/>
              </a:ext>
            </a:extLst>
          </p:cNvPr>
          <p:cNvSpPr>
            <a:spLocks noGrp="1"/>
          </p:cNvSpPr>
          <p:nvPr>
            <p:ph type="sldNum" sz="quarter" idx="10"/>
          </p:nvPr>
        </p:nvSpPr>
        <p:spPr/>
        <p:txBody>
          <a:bodyPr/>
          <a:lstStyle/>
          <a:p>
            <a:fld id="{9DB9EE01-63FC-4CA8-A19A-073FDAA81928}" type="slidenum">
              <a:rPr lang="en-US" smtClean="0"/>
              <a:t>37</a:t>
            </a:fld>
            <a:endParaRPr lang="en-US"/>
          </a:p>
        </p:txBody>
      </p:sp>
    </p:spTree>
    <p:extLst>
      <p:ext uri="{BB962C8B-B14F-4D97-AF65-F5344CB8AC3E}">
        <p14:creationId xmlns:p14="http://schemas.microsoft.com/office/powerpoint/2010/main" val="34809531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F322B-3E27-3813-B868-FC84F0873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AAEFC-C244-15E9-7C8B-D2DAEACE3F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F8AEB-608E-71DD-9CD6-985AF52C54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67A9B1-21E1-4171-6A9B-5AF4E2E10127}"/>
              </a:ext>
            </a:extLst>
          </p:cNvPr>
          <p:cNvSpPr>
            <a:spLocks noGrp="1"/>
          </p:cNvSpPr>
          <p:nvPr>
            <p:ph type="sldNum" sz="quarter" idx="10"/>
          </p:nvPr>
        </p:nvSpPr>
        <p:spPr/>
        <p:txBody>
          <a:bodyPr/>
          <a:lstStyle/>
          <a:p>
            <a:fld id="{9DB9EE01-63FC-4CA8-A19A-073FDAA81928}" type="slidenum">
              <a:rPr lang="en-US" smtClean="0"/>
              <a:t>38</a:t>
            </a:fld>
            <a:endParaRPr lang="en-US"/>
          </a:p>
        </p:txBody>
      </p:sp>
    </p:spTree>
    <p:extLst>
      <p:ext uri="{BB962C8B-B14F-4D97-AF65-F5344CB8AC3E}">
        <p14:creationId xmlns:p14="http://schemas.microsoft.com/office/powerpoint/2010/main" val="21733407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07B82-8090-817F-FD7D-422384B57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98F14-2500-8526-3324-EEE132D48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C56ED-C5AC-03D0-9F10-6C85E395C1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ECE55A-259A-2A04-4C4C-34200DAF7119}"/>
              </a:ext>
            </a:extLst>
          </p:cNvPr>
          <p:cNvSpPr>
            <a:spLocks noGrp="1"/>
          </p:cNvSpPr>
          <p:nvPr>
            <p:ph type="sldNum" sz="quarter" idx="10"/>
          </p:nvPr>
        </p:nvSpPr>
        <p:spPr/>
        <p:txBody>
          <a:bodyPr/>
          <a:lstStyle/>
          <a:p>
            <a:fld id="{9DB9EE01-63FC-4CA8-A19A-073FDAA81928}" type="slidenum">
              <a:rPr lang="en-US" smtClean="0"/>
              <a:t>39</a:t>
            </a:fld>
            <a:endParaRPr lang="en-US"/>
          </a:p>
        </p:txBody>
      </p:sp>
    </p:spTree>
    <p:extLst>
      <p:ext uri="{BB962C8B-B14F-4D97-AF65-F5344CB8AC3E}">
        <p14:creationId xmlns:p14="http://schemas.microsoft.com/office/powerpoint/2010/main" val="37318452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0CA5-3E63-7980-F5A3-07A92198F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4D56C-7002-061E-9247-FD33D9C4F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6BA69-564C-D27B-74C0-C05FB5CF47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E35E0C-8293-1613-B41B-2CB1A2B15E12}"/>
              </a:ext>
            </a:extLst>
          </p:cNvPr>
          <p:cNvSpPr>
            <a:spLocks noGrp="1"/>
          </p:cNvSpPr>
          <p:nvPr>
            <p:ph type="sldNum" sz="quarter" idx="10"/>
          </p:nvPr>
        </p:nvSpPr>
        <p:spPr/>
        <p:txBody>
          <a:bodyPr/>
          <a:lstStyle/>
          <a:p>
            <a:fld id="{9DB9EE01-63FC-4CA8-A19A-073FDAA81928}" type="slidenum">
              <a:rPr lang="en-US" smtClean="0"/>
              <a:t>40</a:t>
            </a:fld>
            <a:endParaRPr lang="en-US"/>
          </a:p>
        </p:txBody>
      </p:sp>
    </p:spTree>
    <p:extLst>
      <p:ext uri="{BB962C8B-B14F-4D97-AF65-F5344CB8AC3E}">
        <p14:creationId xmlns:p14="http://schemas.microsoft.com/office/powerpoint/2010/main" val="21149073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97E01-09A1-C3A5-5CD0-0CA2D65FB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AA7A7-E863-18A8-2223-C7551105C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66DD24-940B-C3E0-30A9-91C75A11BE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23619F-74C9-A20C-4F99-E0BBB25F10C1}"/>
              </a:ext>
            </a:extLst>
          </p:cNvPr>
          <p:cNvSpPr>
            <a:spLocks noGrp="1"/>
          </p:cNvSpPr>
          <p:nvPr>
            <p:ph type="sldNum" sz="quarter" idx="10"/>
          </p:nvPr>
        </p:nvSpPr>
        <p:spPr/>
        <p:txBody>
          <a:bodyPr/>
          <a:lstStyle/>
          <a:p>
            <a:fld id="{9DB9EE01-63FC-4CA8-A19A-073FDAA81928}" type="slidenum">
              <a:rPr lang="en-US" smtClean="0"/>
              <a:t>41</a:t>
            </a:fld>
            <a:endParaRPr lang="en-US"/>
          </a:p>
        </p:txBody>
      </p:sp>
    </p:spTree>
    <p:extLst>
      <p:ext uri="{BB962C8B-B14F-4D97-AF65-F5344CB8AC3E}">
        <p14:creationId xmlns:p14="http://schemas.microsoft.com/office/powerpoint/2010/main" val="2954070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4BC5C-C89F-C9C4-5BB8-7AFAA4C5AD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4330A7-48BC-441B-47C7-7DDE40827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0001C-2B3A-9301-7A88-9E3DD76CCD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643098-A514-F3A5-426A-850AD25DE578}"/>
              </a:ext>
            </a:extLst>
          </p:cNvPr>
          <p:cNvSpPr>
            <a:spLocks noGrp="1"/>
          </p:cNvSpPr>
          <p:nvPr>
            <p:ph type="sldNum" sz="quarter" idx="10"/>
          </p:nvPr>
        </p:nvSpPr>
        <p:spPr/>
        <p:txBody>
          <a:bodyPr/>
          <a:lstStyle/>
          <a:p>
            <a:fld id="{9DB9EE01-63FC-4CA8-A19A-073FDAA81928}" type="slidenum">
              <a:rPr lang="en-US" smtClean="0"/>
              <a:t>42</a:t>
            </a:fld>
            <a:endParaRPr lang="en-US"/>
          </a:p>
        </p:txBody>
      </p:sp>
    </p:spTree>
    <p:extLst>
      <p:ext uri="{BB962C8B-B14F-4D97-AF65-F5344CB8AC3E}">
        <p14:creationId xmlns:p14="http://schemas.microsoft.com/office/powerpoint/2010/main" val="3064107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760ED-E6D3-962A-8A63-A7A144BDE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576B4-029D-E8AB-1B94-98E010BAC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BA5015-68D3-183D-692E-59B7E41CE3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54CBE0-B950-CEFF-914B-3FCD1EFE8730}"/>
              </a:ext>
            </a:extLst>
          </p:cNvPr>
          <p:cNvSpPr>
            <a:spLocks noGrp="1"/>
          </p:cNvSpPr>
          <p:nvPr>
            <p:ph type="sldNum" sz="quarter" idx="10"/>
          </p:nvPr>
        </p:nvSpPr>
        <p:spPr/>
        <p:txBody>
          <a:bodyPr/>
          <a:lstStyle/>
          <a:p>
            <a:fld id="{9DB9EE01-63FC-4CA8-A19A-073FDAA81928}" type="slidenum">
              <a:rPr lang="en-US" smtClean="0"/>
              <a:t>43</a:t>
            </a:fld>
            <a:endParaRPr lang="en-US"/>
          </a:p>
        </p:txBody>
      </p:sp>
    </p:spTree>
    <p:extLst>
      <p:ext uri="{BB962C8B-B14F-4D97-AF65-F5344CB8AC3E}">
        <p14:creationId xmlns:p14="http://schemas.microsoft.com/office/powerpoint/2010/main" val="7548074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10CB0-AFC7-3D63-4234-0D6139FBF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31E88B-611B-2468-279D-5696FA3E56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68DACB-A01A-C0A4-AB4D-1F49D3D248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77E97D-67F6-A6CF-4EE6-BB828221075E}"/>
              </a:ext>
            </a:extLst>
          </p:cNvPr>
          <p:cNvSpPr>
            <a:spLocks noGrp="1"/>
          </p:cNvSpPr>
          <p:nvPr>
            <p:ph type="sldNum" sz="quarter" idx="10"/>
          </p:nvPr>
        </p:nvSpPr>
        <p:spPr/>
        <p:txBody>
          <a:bodyPr/>
          <a:lstStyle/>
          <a:p>
            <a:fld id="{9DB9EE01-63FC-4CA8-A19A-073FDAA81928}" type="slidenum">
              <a:rPr lang="en-US" smtClean="0"/>
              <a:t>44</a:t>
            </a:fld>
            <a:endParaRPr lang="en-US"/>
          </a:p>
        </p:txBody>
      </p:sp>
    </p:spTree>
    <p:extLst>
      <p:ext uri="{BB962C8B-B14F-4D97-AF65-F5344CB8AC3E}">
        <p14:creationId xmlns:p14="http://schemas.microsoft.com/office/powerpoint/2010/main" val="27897969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068F5-2928-5A38-0C0B-30F4822CEF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4FDE8-0922-EB43-BD5F-668459723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3F136-525E-236F-A845-0588EE350F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6B2317-9B44-31A1-E3A9-FDF0B73A44BF}"/>
              </a:ext>
            </a:extLst>
          </p:cNvPr>
          <p:cNvSpPr>
            <a:spLocks noGrp="1"/>
          </p:cNvSpPr>
          <p:nvPr>
            <p:ph type="sldNum" sz="quarter" idx="10"/>
          </p:nvPr>
        </p:nvSpPr>
        <p:spPr/>
        <p:txBody>
          <a:bodyPr/>
          <a:lstStyle/>
          <a:p>
            <a:fld id="{9DB9EE01-63FC-4CA8-A19A-073FDAA81928}" type="slidenum">
              <a:rPr lang="en-US" smtClean="0"/>
              <a:t>45</a:t>
            </a:fld>
            <a:endParaRPr lang="en-US"/>
          </a:p>
        </p:txBody>
      </p:sp>
    </p:spTree>
    <p:extLst>
      <p:ext uri="{BB962C8B-B14F-4D97-AF65-F5344CB8AC3E}">
        <p14:creationId xmlns:p14="http://schemas.microsoft.com/office/powerpoint/2010/main" val="34084440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30E0F-90DF-9FE7-0F69-2EE3B7959C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7E4F2-F6CF-AA12-3B79-C7046B9F1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4A6ECC-CE66-5CCD-8D80-4A8BC1A5B5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4979BA-816A-9C39-F36E-E288C532080A}"/>
              </a:ext>
            </a:extLst>
          </p:cNvPr>
          <p:cNvSpPr>
            <a:spLocks noGrp="1"/>
          </p:cNvSpPr>
          <p:nvPr>
            <p:ph type="sldNum" sz="quarter" idx="10"/>
          </p:nvPr>
        </p:nvSpPr>
        <p:spPr/>
        <p:txBody>
          <a:bodyPr/>
          <a:lstStyle/>
          <a:p>
            <a:fld id="{9DB9EE01-63FC-4CA8-A19A-073FDAA81928}" type="slidenum">
              <a:rPr lang="en-US" smtClean="0"/>
              <a:t>46</a:t>
            </a:fld>
            <a:endParaRPr lang="en-US"/>
          </a:p>
        </p:txBody>
      </p:sp>
    </p:spTree>
    <p:extLst>
      <p:ext uri="{BB962C8B-B14F-4D97-AF65-F5344CB8AC3E}">
        <p14:creationId xmlns:p14="http://schemas.microsoft.com/office/powerpoint/2010/main" val="15149463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76610-9E4B-B920-C325-2B6AF815E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E7FDC4-FF6A-857F-3477-67118661F6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5CBF1-CCFC-8B4A-2DF0-BAF57BBEF9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94DFE6-16A3-1E13-F0B7-CE46A022ECDE}"/>
              </a:ext>
            </a:extLst>
          </p:cNvPr>
          <p:cNvSpPr>
            <a:spLocks noGrp="1"/>
          </p:cNvSpPr>
          <p:nvPr>
            <p:ph type="sldNum" sz="quarter" idx="10"/>
          </p:nvPr>
        </p:nvSpPr>
        <p:spPr/>
        <p:txBody>
          <a:bodyPr/>
          <a:lstStyle/>
          <a:p>
            <a:fld id="{9DB9EE01-63FC-4CA8-A19A-073FDAA81928}" type="slidenum">
              <a:rPr lang="en-US" smtClean="0"/>
              <a:t>47</a:t>
            </a:fld>
            <a:endParaRPr lang="en-US"/>
          </a:p>
        </p:txBody>
      </p:sp>
    </p:spTree>
    <p:extLst>
      <p:ext uri="{BB962C8B-B14F-4D97-AF65-F5344CB8AC3E}">
        <p14:creationId xmlns:p14="http://schemas.microsoft.com/office/powerpoint/2010/main" val="15082286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48EB2-8BD9-7FF5-DAB0-8310F1EE5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7084F-9945-403E-E5F1-51E63ECF3E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3E036-7C07-7246-EB75-1307B95D4B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CF5A19-50AE-7C91-310D-E4B01AC0543A}"/>
              </a:ext>
            </a:extLst>
          </p:cNvPr>
          <p:cNvSpPr>
            <a:spLocks noGrp="1"/>
          </p:cNvSpPr>
          <p:nvPr>
            <p:ph type="sldNum" sz="quarter" idx="10"/>
          </p:nvPr>
        </p:nvSpPr>
        <p:spPr/>
        <p:txBody>
          <a:bodyPr/>
          <a:lstStyle/>
          <a:p>
            <a:fld id="{9DB9EE01-63FC-4CA8-A19A-073FDAA81928}" type="slidenum">
              <a:rPr lang="en-US" smtClean="0"/>
              <a:t>48</a:t>
            </a:fld>
            <a:endParaRPr lang="en-US"/>
          </a:p>
        </p:txBody>
      </p:sp>
    </p:spTree>
    <p:extLst>
      <p:ext uri="{BB962C8B-B14F-4D97-AF65-F5344CB8AC3E}">
        <p14:creationId xmlns:p14="http://schemas.microsoft.com/office/powerpoint/2010/main" val="1883383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A996-8048-80D0-1E0D-7E3292787B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934ED-FD33-839A-B601-CBA8AFFAE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3A452-8E54-03D8-B15D-7563ABC1B3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84520F-F900-7B48-8248-93A2A56AF635}"/>
              </a:ext>
            </a:extLst>
          </p:cNvPr>
          <p:cNvSpPr>
            <a:spLocks noGrp="1"/>
          </p:cNvSpPr>
          <p:nvPr>
            <p:ph type="sldNum" sz="quarter" idx="10"/>
          </p:nvPr>
        </p:nvSpPr>
        <p:spPr/>
        <p:txBody>
          <a:bodyPr/>
          <a:lstStyle/>
          <a:p>
            <a:fld id="{9DB9EE01-63FC-4CA8-A19A-073FDAA81928}" type="slidenum">
              <a:rPr lang="en-US" smtClean="0"/>
              <a:t>49</a:t>
            </a:fld>
            <a:endParaRPr lang="en-US"/>
          </a:p>
        </p:txBody>
      </p:sp>
    </p:spTree>
    <p:extLst>
      <p:ext uri="{BB962C8B-B14F-4D97-AF65-F5344CB8AC3E}">
        <p14:creationId xmlns:p14="http://schemas.microsoft.com/office/powerpoint/2010/main" val="3144829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AB079-831A-87B6-1D0F-FC61C0D47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CD330-0A9D-7646-DD13-ED038CE59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7A386F-65B9-B67E-66A7-0CAF921FF6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D83E27-CB25-30E4-F5B8-A1FA563D38B7}"/>
              </a:ext>
            </a:extLst>
          </p:cNvPr>
          <p:cNvSpPr>
            <a:spLocks noGrp="1"/>
          </p:cNvSpPr>
          <p:nvPr>
            <p:ph type="sldNum" sz="quarter" idx="10"/>
          </p:nvPr>
        </p:nvSpPr>
        <p:spPr/>
        <p:txBody>
          <a:bodyPr/>
          <a:lstStyle/>
          <a:p>
            <a:fld id="{9DB9EE01-63FC-4CA8-A19A-073FDAA81928}" type="slidenum">
              <a:rPr lang="en-US" smtClean="0"/>
              <a:t>50</a:t>
            </a:fld>
            <a:endParaRPr lang="en-US"/>
          </a:p>
        </p:txBody>
      </p:sp>
    </p:spTree>
    <p:extLst>
      <p:ext uri="{BB962C8B-B14F-4D97-AF65-F5344CB8AC3E}">
        <p14:creationId xmlns:p14="http://schemas.microsoft.com/office/powerpoint/2010/main" val="21065997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814BC-EE32-C47A-26BF-EC52206A0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EDA1F-B738-114B-C9CC-766708BDD3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2BCA5-C06E-4FE4-C7C6-284A237F8A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F0E562-DCBC-9C10-82D8-4E8407593436}"/>
              </a:ext>
            </a:extLst>
          </p:cNvPr>
          <p:cNvSpPr>
            <a:spLocks noGrp="1"/>
          </p:cNvSpPr>
          <p:nvPr>
            <p:ph type="sldNum" sz="quarter" idx="10"/>
          </p:nvPr>
        </p:nvSpPr>
        <p:spPr/>
        <p:txBody>
          <a:bodyPr/>
          <a:lstStyle/>
          <a:p>
            <a:fld id="{9DB9EE01-63FC-4CA8-A19A-073FDAA81928}" type="slidenum">
              <a:rPr lang="en-US" smtClean="0"/>
              <a:t>51</a:t>
            </a:fld>
            <a:endParaRPr lang="en-US"/>
          </a:p>
        </p:txBody>
      </p:sp>
    </p:spTree>
    <p:extLst>
      <p:ext uri="{BB962C8B-B14F-4D97-AF65-F5344CB8AC3E}">
        <p14:creationId xmlns:p14="http://schemas.microsoft.com/office/powerpoint/2010/main" val="13654118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4162D-D742-73FC-9617-87B5D2E2E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B9603-71D8-EC8C-6A19-4752B8A696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7CC96-E99E-AC51-7E09-6E11222B2D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DC49FB-FED8-0102-21CA-1D475BEC4C8E}"/>
              </a:ext>
            </a:extLst>
          </p:cNvPr>
          <p:cNvSpPr>
            <a:spLocks noGrp="1"/>
          </p:cNvSpPr>
          <p:nvPr>
            <p:ph type="sldNum" sz="quarter" idx="10"/>
          </p:nvPr>
        </p:nvSpPr>
        <p:spPr/>
        <p:txBody>
          <a:bodyPr/>
          <a:lstStyle/>
          <a:p>
            <a:fld id="{9DB9EE01-63FC-4CA8-A19A-073FDAA81928}" type="slidenum">
              <a:rPr lang="en-US" smtClean="0"/>
              <a:t>52</a:t>
            </a:fld>
            <a:endParaRPr lang="en-US"/>
          </a:p>
        </p:txBody>
      </p:sp>
    </p:spTree>
    <p:extLst>
      <p:ext uri="{BB962C8B-B14F-4D97-AF65-F5344CB8AC3E}">
        <p14:creationId xmlns:p14="http://schemas.microsoft.com/office/powerpoint/2010/main" val="4515637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3FA1-65B4-8293-0EBB-CC15455F3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597A7-7787-C71D-EBAF-5B96B2FE9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E4E78-234D-0A9B-C2D5-97FFF50DF2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C89039-E849-F1C4-0F5F-9790C2E9B5AC}"/>
              </a:ext>
            </a:extLst>
          </p:cNvPr>
          <p:cNvSpPr>
            <a:spLocks noGrp="1"/>
          </p:cNvSpPr>
          <p:nvPr>
            <p:ph type="sldNum" sz="quarter" idx="10"/>
          </p:nvPr>
        </p:nvSpPr>
        <p:spPr/>
        <p:txBody>
          <a:bodyPr/>
          <a:lstStyle/>
          <a:p>
            <a:fld id="{9DB9EE01-63FC-4CA8-A19A-073FDAA81928}" type="slidenum">
              <a:rPr lang="en-US" smtClean="0"/>
              <a:t>53</a:t>
            </a:fld>
            <a:endParaRPr lang="en-US"/>
          </a:p>
        </p:txBody>
      </p:sp>
    </p:spTree>
    <p:extLst>
      <p:ext uri="{BB962C8B-B14F-4D97-AF65-F5344CB8AC3E}">
        <p14:creationId xmlns:p14="http://schemas.microsoft.com/office/powerpoint/2010/main" val="36672130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9DB9EE01-63FC-4CA8-A19A-073FDAA81928}" type="slidenum">
              <a:rPr lang="en-US" smtClean="0"/>
              <a:t>54</a:t>
            </a:fld>
            <a:endParaRPr lang="en-US" dirty="0"/>
          </a:p>
        </p:txBody>
      </p:sp>
    </p:spTree>
    <p:extLst>
      <p:ext uri="{BB962C8B-B14F-4D97-AF65-F5344CB8AC3E}">
        <p14:creationId xmlns:p14="http://schemas.microsoft.com/office/powerpoint/2010/main" val="1235186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5FC5B91-1E4F-478A-8BAD-D924F2068EA4}"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3202444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FC5B91-1E4F-478A-8BAD-D924F2068EA4}"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3079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FC5B91-1E4F-478A-8BAD-D924F2068EA4}"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003721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FC5B91-1E4F-478A-8BAD-D924F2068EA4}"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1739088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FC5B91-1E4F-478A-8BAD-D924F2068EA4}" type="datetimeFigureOut">
              <a:rPr lang="en-US" smtClean="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136871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FC5B91-1E4F-478A-8BAD-D924F2068EA4}" type="datetimeFigureOut">
              <a:rPr lang="en-US" smtClean="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4129881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FC5B91-1E4F-478A-8BAD-D924F2068EA4}" type="datetimeFigureOut">
              <a:rPr lang="en-US" smtClean="0"/>
              <a:t>11/15/2025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000420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FC5B91-1E4F-478A-8BAD-D924F2068EA4}"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923431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FC5B91-1E4F-478A-8BAD-D924F2068EA4}"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16643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FC5B91-1E4F-478A-8BAD-D924F2068EA4}"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1505975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FC5B91-1E4F-478A-8BAD-D924F2068EA4}"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882894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FC5B91-1E4F-478A-8BAD-D924F2068EA4}" type="datetimeFigureOut">
              <a:rPr lang="en-US" smtClean="0"/>
              <a:t>11/15/2025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A39FEF-9CF8-4298-BA6A-4188A34D0887}" type="slidenum">
              <a:rPr lang="en-US" smtClean="0"/>
              <a:t>‹#›</a:t>
            </a:fld>
            <a:endParaRPr lang="en-US" dirty="0"/>
          </a:p>
        </p:txBody>
      </p:sp>
    </p:spTree>
    <p:extLst>
      <p:ext uri="{BB962C8B-B14F-4D97-AF65-F5344CB8AC3E}">
        <p14:creationId xmlns:p14="http://schemas.microsoft.com/office/powerpoint/2010/main" val="3458868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D7D9C7-B8BA-AD4F-11DF-4B92B2064B9F}"/>
              </a:ext>
            </a:extLst>
          </p:cNvPr>
          <p:cNvSpPr/>
          <p:nvPr/>
        </p:nvSpPr>
        <p:spPr>
          <a:xfrm>
            <a:off x="8111052" y="5142194"/>
            <a:ext cx="4030941" cy="1200329"/>
          </a:xfrm>
          <a:prstGeom prst="rect">
            <a:avLst/>
          </a:prstGeom>
          <a:solidFill>
            <a:schemeClr val="accent1">
              <a:lumMod val="20000"/>
              <a:lumOff val="80000"/>
            </a:schemeClr>
          </a:solidFill>
        </p:spPr>
        <p:txBody>
          <a:bodyPr wrap="square">
            <a:spAutoFit/>
          </a:bodyPr>
          <a:lstStyle/>
          <a:p>
            <a:r>
              <a:rPr lang="en-US" sz="2400" b="1" u="sng" dirty="0"/>
              <a:t>DR. FAHEEM AKHTAR</a:t>
            </a:r>
          </a:p>
          <a:p>
            <a:r>
              <a:rPr lang="en-US" sz="2400" b="1" i="1" dirty="0"/>
              <a:t>Ph.D.  (Zhejiang University)</a:t>
            </a:r>
            <a:br>
              <a:rPr lang="en-US" sz="2400" b="1" i="1" dirty="0"/>
            </a:br>
            <a:r>
              <a:rPr lang="en-US" sz="2400" b="1" i="1" dirty="0"/>
              <a:t>Assistant Professor </a:t>
            </a:r>
            <a:endParaRPr lang="en-US" sz="2400" i="1" dirty="0"/>
          </a:p>
        </p:txBody>
      </p:sp>
      <p:pic>
        <p:nvPicPr>
          <p:cNvPr id="7" name="Picture 6">
            <a:extLst>
              <a:ext uri="{FF2B5EF4-FFF2-40B4-BE49-F238E27FC236}">
                <a16:creationId xmlns:a16="http://schemas.microsoft.com/office/drawing/2014/main" id="{B7B7ADC6-10B0-E9DD-2D41-CD55D819A011}"/>
              </a:ext>
            </a:extLst>
          </p:cNvPr>
          <p:cNvPicPr>
            <a:picLocks noChangeAspect="1"/>
          </p:cNvPicPr>
          <p:nvPr/>
        </p:nvPicPr>
        <p:blipFill>
          <a:blip r:embed="rId2"/>
          <a:stretch>
            <a:fillRect/>
          </a:stretch>
        </p:blipFill>
        <p:spPr>
          <a:xfrm>
            <a:off x="0" y="1"/>
            <a:ext cx="12192000" cy="6857999"/>
          </a:xfrm>
          <a:prstGeom prst="rect">
            <a:avLst/>
          </a:prstGeom>
        </p:spPr>
      </p:pic>
    </p:spTree>
    <p:extLst>
      <p:ext uri="{BB962C8B-B14F-4D97-AF65-F5344CB8AC3E}">
        <p14:creationId xmlns:p14="http://schemas.microsoft.com/office/powerpoint/2010/main" val="3628342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3531" y="1244888"/>
            <a:ext cx="11344937" cy="1708160"/>
          </a:xfrm>
          <a:prstGeom prst="rect">
            <a:avLst/>
          </a:prstGeom>
          <a:solidFill>
            <a:schemeClr val="bg1"/>
          </a:solidFill>
        </p:spPr>
        <p:txBody>
          <a:bodyPr wrap="square">
            <a:spAutoFit/>
          </a:bodyPr>
          <a:lstStyle/>
          <a:p>
            <a:r>
              <a:rPr lang="en-US" sz="3500" dirty="0">
                <a:latin typeface="Times New Roman" panose="02020603050405020304" pitchFamily="18" charset="0"/>
                <a:cs typeface="Times New Roman" panose="02020603050405020304" pitchFamily="18" charset="0"/>
              </a:rPr>
              <a:t>Bias refers to errors or inaccuracies in the data collected. </a:t>
            </a:r>
            <a:r>
              <a:rPr lang="en-US" altLang="zh-CN" sz="3500" dirty="0">
                <a:latin typeface="Times New Roman" panose="02020603050405020304" pitchFamily="18" charset="0"/>
                <a:cs typeface="Times New Roman" panose="02020603050405020304" pitchFamily="18" charset="0"/>
              </a:rPr>
              <a:t>Bias could be introduced by the </a:t>
            </a:r>
            <a:r>
              <a:rPr lang="en-US" altLang="zh-CN" sz="3500" dirty="0">
                <a:solidFill>
                  <a:srgbClr val="FF0000"/>
                </a:solidFill>
                <a:latin typeface="Times New Roman" panose="02020603050405020304" pitchFamily="18" charset="0"/>
                <a:cs typeface="Times New Roman" panose="02020603050405020304" pitchFamily="18" charset="0"/>
              </a:rPr>
              <a:t>interviewer</a:t>
            </a:r>
            <a:r>
              <a:rPr lang="en-US" altLang="zh-CN" sz="3500" dirty="0">
                <a:latin typeface="Times New Roman" panose="02020603050405020304" pitchFamily="18" charset="0"/>
                <a:cs typeface="Times New Roman" panose="02020603050405020304" pitchFamily="18" charset="0"/>
              </a:rPr>
              <a:t>, the </a:t>
            </a:r>
            <a:r>
              <a:rPr lang="en-US" altLang="zh-CN" sz="3500" dirty="0">
                <a:solidFill>
                  <a:srgbClr val="FF0000"/>
                </a:solidFill>
                <a:latin typeface="Times New Roman" panose="02020603050405020304" pitchFamily="18" charset="0"/>
                <a:cs typeface="Times New Roman" panose="02020603050405020304" pitchFamily="18" charset="0"/>
              </a:rPr>
              <a:t>interviewee</a:t>
            </a:r>
            <a:r>
              <a:rPr lang="en-US" altLang="zh-CN" sz="3500" dirty="0">
                <a:latin typeface="Times New Roman" panose="02020603050405020304" pitchFamily="18" charset="0"/>
                <a:cs typeface="Times New Roman" panose="02020603050405020304" pitchFamily="18" charset="0"/>
              </a:rPr>
              <a:t>, or the </a:t>
            </a:r>
            <a:r>
              <a:rPr lang="en-US" altLang="zh-CN" sz="3500" dirty="0">
                <a:solidFill>
                  <a:srgbClr val="FF0000"/>
                </a:solidFill>
                <a:latin typeface="Times New Roman" panose="02020603050405020304" pitchFamily="18" charset="0"/>
                <a:cs typeface="Times New Roman" panose="02020603050405020304" pitchFamily="18" charset="0"/>
              </a:rPr>
              <a:t>situation</a:t>
            </a:r>
            <a:r>
              <a:rPr lang="en-US" altLang="zh-CN" sz="3500" dirty="0">
                <a:latin typeface="Times New Roman" panose="02020603050405020304" pitchFamily="18" charset="0"/>
                <a:cs typeface="Times New Roman" panose="02020603050405020304" pitchFamily="18" charset="0"/>
              </a:rPr>
              <a:t>. </a:t>
            </a:r>
            <a:r>
              <a:rPr lang="en-US" sz="3500" dirty="0">
                <a:latin typeface="Times New Roman" panose="02020603050405020304" pitchFamily="18" charset="0"/>
                <a:cs typeface="Times New Roman" panose="02020603050405020304" pitchFamily="18" charset="0"/>
              </a:rPr>
              <a:t>  </a:t>
            </a:r>
          </a:p>
        </p:txBody>
      </p:sp>
      <p:sp>
        <p:nvSpPr>
          <p:cNvPr id="5" name="Title 1">
            <a:extLst>
              <a:ext uri="{FF2B5EF4-FFF2-40B4-BE49-F238E27FC236}">
                <a16:creationId xmlns:a16="http://schemas.microsoft.com/office/drawing/2014/main" id="{EBD03816-6ABD-4A5F-AA48-3752AB1FCCE5}"/>
              </a:ext>
            </a:extLst>
          </p:cNvPr>
          <p:cNvSpPr>
            <a:spLocks noGrp="1"/>
          </p:cNvSpPr>
          <p:nvPr>
            <p:ph type="title"/>
          </p:nvPr>
        </p:nvSpPr>
        <p:spPr>
          <a:xfrm>
            <a:off x="2680277" y="67238"/>
            <a:ext cx="5289064" cy="1200329"/>
          </a:xfrm>
        </p:spPr>
        <p:txBody>
          <a:bodyPr wrap="square">
            <a:spAutoFit/>
          </a:bodyPr>
          <a:lstStyle/>
          <a:p>
            <a:pPr algn="ctr"/>
            <a:r>
              <a:rPr lang="en-US" sz="4000" b="1" i="1" u="sng" dirty="0">
                <a:solidFill>
                  <a:srgbClr val="FFFF00"/>
                </a:solidFill>
                <a:latin typeface="+mn-lt"/>
                <a:ea typeface="+mn-ea"/>
                <a:cs typeface="+mn-cs"/>
              </a:rPr>
              <a:t>What is Bias in Research?</a:t>
            </a:r>
          </a:p>
        </p:txBody>
      </p:sp>
      <p:sp>
        <p:nvSpPr>
          <p:cNvPr id="3" name="TextBox 2">
            <a:extLst>
              <a:ext uri="{FF2B5EF4-FFF2-40B4-BE49-F238E27FC236}">
                <a16:creationId xmlns:a16="http://schemas.microsoft.com/office/drawing/2014/main" id="{F93A965D-2F04-ADD2-5D91-6DE15FCC9F38}"/>
              </a:ext>
            </a:extLst>
          </p:cNvPr>
          <p:cNvSpPr txBox="1"/>
          <p:nvPr/>
        </p:nvSpPr>
        <p:spPr>
          <a:xfrm>
            <a:off x="2232227" y="3116344"/>
            <a:ext cx="5737114" cy="2677656"/>
          </a:xfrm>
          <a:prstGeom prst="rect">
            <a:avLst/>
          </a:prstGeom>
          <a:solidFill>
            <a:schemeClr val="bg1">
              <a:lumMod val="95000"/>
            </a:schemeClr>
          </a:solidFill>
        </p:spPr>
        <p:txBody>
          <a:bodyPr wrap="square">
            <a:spAutoFit/>
          </a:bodyPr>
          <a:lstStyle/>
          <a:p>
            <a:pPr algn="just"/>
            <a:r>
              <a:rPr lang="en-US" altLang="zh-CN" sz="2400" b="1" dirty="0">
                <a:solidFill>
                  <a:srgbClr val="FF0000"/>
                </a:solidFill>
                <a:latin typeface="Times New Roman" panose="02020603050405020304" pitchFamily="18" charset="0"/>
                <a:cs typeface="Times New Roman" panose="02020603050405020304" pitchFamily="18" charset="0"/>
              </a:rPr>
              <a:t>The interviewer </a:t>
            </a:r>
            <a:r>
              <a:rPr lang="en-US" altLang="zh-CN" sz="2400" dirty="0">
                <a:latin typeface="Times New Roman" panose="02020603050405020304" pitchFamily="18" charset="0"/>
                <a:cs typeface="Times New Roman" panose="02020603050405020304" pitchFamily="18" charset="0"/>
              </a:rPr>
              <a:t>could bias the data if proper trust and rapport are not established with the interviewee, or when the responses are either misinterpreted or distorted, or when the interviewer unintentionally encourages or discourages certain types of response through gestures and facial expressions.</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699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ECDE-9ACD-B795-EA2C-73E5FF3017A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D245F9B-0C9B-1A80-B3BB-7A7C32A2CE30}"/>
              </a:ext>
            </a:extLst>
          </p:cNvPr>
          <p:cNvSpPr>
            <a:spLocks noGrp="1"/>
          </p:cNvSpPr>
          <p:nvPr>
            <p:ph type="title"/>
          </p:nvPr>
        </p:nvSpPr>
        <p:spPr>
          <a:xfrm>
            <a:off x="2680277" y="67238"/>
            <a:ext cx="5289064" cy="1200329"/>
          </a:xfrm>
        </p:spPr>
        <p:txBody>
          <a:bodyPr wrap="square">
            <a:spAutoFit/>
          </a:bodyPr>
          <a:lstStyle/>
          <a:p>
            <a:pPr algn="ctr"/>
            <a:r>
              <a:rPr lang="en-US" sz="4000" b="1" i="1" u="sng" dirty="0">
                <a:solidFill>
                  <a:srgbClr val="FFFF00"/>
                </a:solidFill>
                <a:latin typeface="+mn-lt"/>
                <a:ea typeface="+mn-ea"/>
                <a:cs typeface="+mn-cs"/>
              </a:rPr>
              <a:t>What is Bias in Research?</a:t>
            </a:r>
          </a:p>
        </p:txBody>
      </p:sp>
      <p:sp>
        <p:nvSpPr>
          <p:cNvPr id="3" name="TextBox 2">
            <a:extLst>
              <a:ext uri="{FF2B5EF4-FFF2-40B4-BE49-F238E27FC236}">
                <a16:creationId xmlns:a16="http://schemas.microsoft.com/office/drawing/2014/main" id="{DF494D2E-0594-112C-FA19-25F8FC2E05CC}"/>
              </a:ext>
            </a:extLst>
          </p:cNvPr>
          <p:cNvSpPr txBox="1"/>
          <p:nvPr/>
        </p:nvSpPr>
        <p:spPr>
          <a:xfrm>
            <a:off x="200446" y="1466137"/>
            <a:ext cx="5737114" cy="3785652"/>
          </a:xfrm>
          <a:prstGeom prst="rect">
            <a:avLst/>
          </a:prstGeom>
          <a:solidFill>
            <a:schemeClr val="bg1">
              <a:lumMod val="95000"/>
            </a:schemeClr>
          </a:solidFill>
        </p:spPr>
        <p:txBody>
          <a:bodyPr wrap="square">
            <a:spAutoFit/>
          </a:bodyPr>
          <a:lstStyle/>
          <a:p>
            <a:pPr algn="just"/>
            <a:r>
              <a:rPr lang="en-US" altLang="zh-CN" sz="2400" b="1" dirty="0">
                <a:solidFill>
                  <a:srgbClr val="FF0000"/>
                </a:solidFill>
                <a:latin typeface="Times New Roman" panose="02020603050405020304" pitchFamily="18" charset="0"/>
                <a:cs typeface="Times New Roman" panose="02020603050405020304" pitchFamily="18" charset="0"/>
              </a:rPr>
              <a:t>Interviewees</a:t>
            </a:r>
            <a:r>
              <a:rPr lang="en-US" altLang="zh-CN" sz="2400" dirty="0">
                <a:latin typeface="Times New Roman" panose="02020603050405020304" pitchFamily="18" charset="0"/>
                <a:cs typeface="Times New Roman" panose="02020603050405020304" pitchFamily="18" charset="0"/>
              </a:rPr>
              <a:t> can bias the data when they do not come out with their true opinions but provide information that they think is what the interviewer expects of them or would like to hear. Also, if they do not understand the</a:t>
            </a:r>
          </a:p>
          <a:p>
            <a:pPr algn="just"/>
            <a:r>
              <a:rPr lang="en-US" altLang="zh-CN" sz="2400" dirty="0">
                <a:latin typeface="Times New Roman" panose="02020603050405020304" pitchFamily="18" charset="0"/>
                <a:cs typeface="Times New Roman" panose="02020603050405020304" pitchFamily="18" charset="0"/>
              </a:rPr>
              <a:t>questions, they may feel diffident or hesitant to seek clarification. They may then answer questions without knowing their importance, and thus introduce bias.</a:t>
            </a:r>
          </a:p>
          <a:p>
            <a:pPr algn="just"/>
            <a:endParaRPr lang="zh-CN" altLang="en-US"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D15409D-0453-BC3B-A016-49FD85DC7F50}"/>
              </a:ext>
            </a:extLst>
          </p:cNvPr>
          <p:cNvSpPr txBox="1"/>
          <p:nvPr/>
        </p:nvSpPr>
        <p:spPr>
          <a:xfrm>
            <a:off x="6096000" y="1466137"/>
            <a:ext cx="5571355" cy="3785652"/>
          </a:xfrm>
          <a:prstGeom prst="rect">
            <a:avLst/>
          </a:prstGeom>
          <a:solidFill>
            <a:schemeClr val="bg1"/>
          </a:solidFill>
        </p:spPr>
        <p:txBody>
          <a:bodyPr wrap="square">
            <a:spAutoFit/>
          </a:bodyPr>
          <a:lstStyle/>
          <a:p>
            <a:pPr algn="just"/>
            <a:r>
              <a:rPr lang="en-US" altLang="zh-CN" sz="2400" dirty="0">
                <a:latin typeface="Times New Roman" panose="02020603050405020304" pitchFamily="18" charset="0"/>
                <a:cs typeface="Times New Roman" panose="02020603050405020304" pitchFamily="18" charset="0"/>
              </a:rPr>
              <a:t>Some interviewees may be turned off because of personal likes and dislikes, or the dress of the interviewer, or the manner in which the questions are put. They may, therefore, not provide truthful answers, but instead, deliberately offer incorrect responses. Some respondents may also answer questions in a socially acceptable manner rather than indicating their true sentiments.</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840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8CCE3-50BF-C988-7B8F-3E38B9702E3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ADC0B33-EE11-5DB8-E7FF-A0E4026C63AC}"/>
              </a:ext>
            </a:extLst>
          </p:cNvPr>
          <p:cNvSpPr>
            <a:spLocks noGrp="1"/>
          </p:cNvSpPr>
          <p:nvPr>
            <p:ph type="title"/>
          </p:nvPr>
        </p:nvSpPr>
        <p:spPr>
          <a:xfrm>
            <a:off x="2680277" y="67238"/>
            <a:ext cx="5289064" cy="1200329"/>
          </a:xfrm>
        </p:spPr>
        <p:txBody>
          <a:bodyPr wrap="square">
            <a:spAutoFit/>
          </a:bodyPr>
          <a:lstStyle/>
          <a:p>
            <a:pPr algn="ctr"/>
            <a:r>
              <a:rPr lang="en-US" sz="4000" b="1" i="1" u="sng" dirty="0">
                <a:solidFill>
                  <a:srgbClr val="FFFF00"/>
                </a:solidFill>
                <a:latin typeface="+mn-lt"/>
                <a:ea typeface="+mn-ea"/>
                <a:cs typeface="+mn-cs"/>
              </a:rPr>
              <a:t>What is Bias in Research?</a:t>
            </a:r>
          </a:p>
        </p:txBody>
      </p:sp>
      <p:sp>
        <p:nvSpPr>
          <p:cNvPr id="3" name="TextBox 2">
            <a:extLst>
              <a:ext uri="{FF2B5EF4-FFF2-40B4-BE49-F238E27FC236}">
                <a16:creationId xmlns:a16="http://schemas.microsoft.com/office/drawing/2014/main" id="{5A3D972D-040D-C1E2-5557-FA47BC372C40}"/>
              </a:ext>
            </a:extLst>
          </p:cNvPr>
          <p:cNvSpPr txBox="1"/>
          <p:nvPr/>
        </p:nvSpPr>
        <p:spPr>
          <a:xfrm>
            <a:off x="200446" y="1466137"/>
            <a:ext cx="5737114" cy="4524315"/>
          </a:xfrm>
          <a:prstGeom prst="rect">
            <a:avLst/>
          </a:prstGeom>
          <a:solidFill>
            <a:schemeClr val="bg1">
              <a:lumMod val="95000"/>
            </a:schemeClr>
          </a:solidFill>
        </p:spPr>
        <p:txBody>
          <a:bodyPr wrap="square">
            <a:spAutoFit/>
          </a:bodyPr>
          <a:lstStyle/>
          <a:p>
            <a:pPr algn="just"/>
            <a:r>
              <a:rPr lang="en-US" altLang="zh-CN" sz="2400" dirty="0">
                <a:latin typeface="Times New Roman" panose="02020603050405020304" pitchFamily="18" charset="0"/>
                <a:cs typeface="Times New Roman" panose="02020603050405020304" pitchFamily="18" charset="0"/>
              </a:rPr>
              <a:t>Biases could be </a:t>
            </a:r>
            <a:r>
              <a:rPr lang="en-US" altLang="zh-CN" sz="2400" b="1" dirty="0">
                <a:solidFill>
                  <a:srgbClr val="FF0000"/>
                </a:solidFill>
                <a:latin typeface="Times New Roman" panose="02020603050405020304" pitchFamily="18" charset="0"/>
                <a:cs typeface="Times New Roman" panose="02020603050405020304" pitchFamily="18" charset="0"/>
              </a:rPr>
              <a:t>situational </a:t>
            </a:r>
            <a:r>
              <a:rPr lang="en-US" altLang="zh-CN" sz="2400" dirty="0">
                <a:latin typeface="Times New Roman" panose="02020603050405020304" pitchFamily="18" charset="0"/>
                <a:cs typeface="Times New Roman" panose="02020603050405020304" pitchFamily="18" charset="0"/>
              </a:rPr>
              <a:t>as well, in terms of </a:t>
            </a:r>
            <a:r>
              <a:rPr lang="en-US" altLang="zh-CN" sz="2400" dirty="0">
                <a:solidFill>
                  <a:srgbClr val="FF0000"/>
                </a:solidFill>
                <a:latin typeface="Times New Roman" panose="02020603050405020304" pitchFamily="18" charset="0"/>
                <a:cs typeface="Times New Roman" panose="02020603050405020304" pitchFamily="18" charset="0"/>
              </a:rPr>
              <a:t>(1) nonparticipants</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(2) trust levels and rapport established, </a:t>
            </a:r>
            <a:r>
              <a:rPr lang="en-US" altLang="zh-CN" sz="2400" dirty="0">
                <a:latin typeface="Times New Roman" panose="02020603050405020304" pitchFamily="18" charset="0"/>
                <a:cs typeface="Times New Roman" panose="02020603050405020304" pitchFamily="18" charset="0"/>
              </a:rPr>
              <a:t>and </a:t>
            </a:r>
            <a:r>
              <a:rPr lang="en-US" altLang="zh-CN" sz="2400" dirty="0">
                <a:solidFill>
                  <a:srgbClr val="FF0000"/>
                </a:solidFill>
                <a:latin typeface="Times New Roman" panose="02020603050405020304" pitchFamily="18" charset="0"/>
                <a:cs typeface="Times New Roman" panose="02020603050405020304" pitchFamily="18" charset="0"/>
              </a:rPr>
              <a:t>(3) the physical setting of the interview.</a:t>
            </a:r>
            <a:r>
              <a:rPr lang="en-US" altLang="zh-CN" sz="2400" dirty="0">
                <a:latin typeface="Times New Roman" panose="02020603050405020304" pitchFamily="18" charset="0"/>
                <a:cs typeface="Times New Roman" panose="02020603050405020304" pitchFamily="18" charset="0"/>
              </a:rPr>
              <a:t> Nonparticipation, either because of unwillingness or the inability of the interviewee to participate in the study, can bias data inasmuch as the responses of the participants may be different from those of the nonparticipants (which implies that a biased, rather than a representative, set of responses is likely to result)</a:t>
            </a:r>
            <a:endParaRPr lang="zh-CN" alt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70A3DC-B5AC-29D8-6EC5-A8E75516F0B3}"/>
              </a:ext>
            </a:extLst>
          </p:cNvPr>
          <p:cNvSpPr txBox="1"/>
          <p:nvPr/>
        </p:nvSpPr>
        <p:spPr>
          <a:xfrm>
            <a:off x="6045994" y="1650802"/>
            <a:ext cx="5562600" cy="4154984"/>
          </a:xfrm>
          <a:prstGeom prst="rect">
            <a:avLst/>
          </a:prstGeom>
          <a:solidFill>
            <a:schemeClr val="bg1"/>
          </a:solidFill>
        </p:spPr>
        <p:txBody>
          <a:bodyPr wrap="square">
            <a:spAutoFit/>
          </a:bodyPr>
          <a:lstStyle/>
          <a:p>
            <a:pPr algn="just"/>
            <a:r>
              <a:rPr lang="en-US" altLang="zh-CN" sz="2400" b="0" i="0" dirty="0">
                <a:solidFill>
                  <a:srgbClr val="231F20"/>
                </a:solidFill>
                <a:effectLst/>
                <a:latin typeface="Times New Roman" panose="02020603050405020304" pitchFamily="18" charset="0"/>
                <a:cs typeface="Times New Roman" panose="02020603050405020304" pitchFamily="18" charset="0"/>
              </a:rPr>
              <a:t>Bias also occurs when different interviewers establish different levels of trust and rapport with their interviewees, thus eliciting answers of varying degrees of openness. The actual setting in which the interview is conducted might sometimes introduce bias. Some individuals, for instance, may not feel quite at ease when </a:t>
            </a:r>
            <a:r>
              <a:rPr lang="en-US" altLang="zh-CN" sz="2400" b="0" i="0" dirty="0">
                <a:solidFill>
                  <a:srgbClr val="FF0000"/>
                </a:solidFill>
                <a:effectLst/>
                <a:latin typeface="Times New Roman" panose="02020603050405020304" pitchFamily="18" charset="0"/>
                <a:cs typeface="Times New Roman" panose="02020603050405020304" pitchFamily="18" charset="0"/>
              </a:rPr>
              <a:t>interviewed at the workplace </a:t>
            </a:r>
            <a:r>
              <a:rPr lang="en-US" altLang="zh-CN" sz="2400" b="0" i="0" dirty="0">
                <a:solidFill>
                  <a:srgbClr val="231F20"/>
                </a:solidFill>
                <a:effectLst/>
                <a:latin typeface="Times New Roman" panose="02020603050405020304" pitchFamily="18" charset="0"/>
                <a:cs typeface="Times New Roman" panose="02020603050405020304" pitchFamily="18" charset="0"/>
              </a:rPr>
              <a:t>and therefore may not respond frankly and honestly</a:t>
            </a:r>
            <a:r>
              <a:rPr lang="en-US" altLang="zh-CN" sz="2400" dirty="0">
                <a:latin typeface="Times New Roman" panose="02020603050405020304" pitchFamily="18" charset="0"/>
                <a:cs typeface="Times New Roman" panose="02020603050405020304" pitchFamily="18" charset="0"/>
              </a:rPr>
              <a:t> </a:t>
            </a:r>
            <a:br>
              <a:rPr lang="en-US" altLang="zh-CN" sz="2400" dirty="0">
                <a:latin typeface="Times New Roman" panose="02020603050405020304" pitchFamily="18" charset="0"/>
                <a:cs typeface="Times New Roman" panose="02020603050405020304" pitchFamily="18" charset="0"/>
              </a:rPr>
            </a:b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189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020E4-588E-9740-ECE4-B8BF772F0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40F8E-10EE-C36B-C8B8-52BE7E586898}"/>
              </a:ext>
            </a:extLst>
          </p:cNvPr>
          <p:cNvSpPr txBox="1">
            <a:spLocks/>
          </p:cNvSpPr>
          <p:nvPr/>
        </p:nvSpPr>
        <p:spPr>
          <a:xfrm>
            <a:off x="1550194" y="167429"/>
            <a:ext cx="8822532" cy="1143000"/>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3400" b="1" dirty="0">
                <a:solidFill>
                  <a:srgbClr val="FFFF00"/>
                </a:solidFill>
                <a:latin typeface="+mn-lt"/>
                <a:cs typeface="Times New Roman" panose="02020603050405020304" pitchFamily="18" charset="0"/>
              </a:rPr>
              <a:t>(</a:t>
            </a:r>
            <a:r>
              <a:rPr lang="en-US" altLang="zh-CN" sz="3100" b="1" i="0" dirty="0">
                <a:solidFill>
                  <a:srgbClr val="FFFF00"/>
                </a:solidFill>
                <a:effectLst/>
                <a:latin typeface="Times New Roman" panose="02020603050405020304" pitchFamily="18" charset="0"/>
                <a:cs typeface="Times New Roman" panose="02020603050405020304" pitchFamily="18" charset="0"/>
              </a:rPr>
              <a:t>Establishing credibility and rapport, and motivating individuals to respond</a:t>
            </a:r>
            <a:r>
              <a:rPr lang="en-US" altLang="zh-CN" sz="3100" dirty="0">
                <a:solidFill>
                  <a:srgbClr val="FFFF00"/>
                </a:solidFill>
                <a:latin typeface="Times New Roman" panose="02020603050405020304" pitchFamily="18" charset="0"/>
                <a:cs typeface="Times New Roman" panose="02020603050405020304" pitchFamily="18" charset="0"/>
              </a:rPr>
              <a:t>)</a:t>
            </a:r>
            <a:br>
              <a:rPr lang="en-US" altLang="zh-CN" dirty="0">
                <a:solidFill>
                  <a:srgbClr val="FFFF00"/>
                </a:solidFill>
              </a:rPr>
            </a:br>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A2DE8BED-B3C5-5B3B-D588-86FAA75635A2}"/>
              </a:ext>
            </a:extLst>
          </p:cNvPr>
          <p:cNvSpPr>
            <a:spLocks noGrp="1"/>
          </p:cNvSpPr>
          <p:nvPr>
            <p:ph idx="1"/>
          </p:nvPr>
        </p:nvSpPr>
        <p:spPr>
          <a:xfrm>
            <a:off x="1421606" y="1400175"/>
            <a:ext cx="8901113" cy="3486149"/>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Researcher's Demeanor</a:t>
            </a: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To be hired and gain credibility, a researcher must project professionalism, enthusiasm, and confidence.</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They need to demonstrate knowledge, skills, ability, articulateness, and enthusiasm to establish credibility with the hiring organization.</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1876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F5F39-A990-98EA-055E-C701097C580F}"/>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E33F3FF0-82CE-0D2A-B81F-9DE396EC6E90}"/>
              </a:ext>
            </a:extLst>
          </p:cNvPr>
          <p:cNvSpPr>
            <a:spLocks noGrp="1"/>
          </p:cNvSpPr>
          <p:nvPr>
            <p:ph idx="1"/>
          </p:nvPr>
        </p:nvSpPr>
        <p:spPr>
          <a:xfrm>
            <a:off x="1421606" y="1400175"/>
            <a:ext cx="9529763" cy="5057775"/>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Building Rapport and Trust</a:t>
            </a: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The primary goal is to make respondents feel sufficiently at ease to give honest, informative, and truthful answers.</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This is achieved by:</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Clearly stating the purpose of the interview.</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Assuring complete confidentiality of their responses.</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Being pleasant, sincere, sensitive, and nonevaluative.</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Showing genuine interest in their answers.</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Allaying any anxieties, fears, suspicions, and tensions.</a:t>
            </a:r>
          </a:p>
        </p:txBody>
      </p:sp>
      <p:sp>
        <p:nvSpPr>
          <p:cNvPr id="3" name="Title 1">
            <a:extLst>
              <a:ext uri="{FF2B5EF4-FFF2-40B4-BE49-F238E27FC236}">
                <a16:creationId xmlns:a16="http://schemas.microsoft.com/office/drawing/2014/main" id="{8E825494-43BF-083A-8DD1-15EDC7394832}"/>
              </a:ext>
            </a:extLst>
          </p:cNvPr>
          <p:cNvSpPr txBox="1">
            <a:spLocks/>
          </p:cNvSpPr>
          <p:nvPr/>
        </p:nvSpPr>
        <p:spPr>
          <a:xfrm>
            <a:off x="1421606" y="167429"/>
            <a:ext cx="8951120" cy="1143000"/>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3400" b="1" dirty="0">
                <a:solidFill>
                  <a:srgbClr val="FFFF00"/>
                </a:solidFill>
                <a:latin typeface="+mn-lt"/>
                <a:cs typeface="Times New Roman" panose="02020603050405020304" pitchFamily="18" charset="0"/>
              </a:rPr>
              <a:t>(</a:t>
            </a:r>
            <a:r>
              <a:rPr lang="en-US" altLang="zh-CN" sz="3100" b="1" i="0" dirty="0">
                <a:solidFill>
                  <a:srgbClr val="FFFF00"/>
                </a:solidFill>
                <a:effectLst/>
                <a:latin typeface="Times New Roman" panose="02020603050405020304" pitchFamily="18" charset="0"/>
                <a:cs typeface="Times New Roman" panose="02020603050405020304" pitchFamily="18" charset="0"/>
              </a:rPr>
              <a:t>Establishing credibility and rapport, and motivating individuals to respond</a:t>
            </a:r>
            <a:r>
              <a:rPr lang="en-US" altLang="zh-CN" sz="3100" dirty="0">
                <a:solidFill>
                  <a:srgbClr val="FFFF00"/>
                </a:solidFill>
                <a:latin typeface="Times New Roman" panose="02020603050405020304" pitchFamily="18" charset="0"/>
                <a:cs typeface="Times New Roman" panose="02020603050405020304" pitchFamily="18" charset="0"/>
              </a:rPr>
              <a:t>)</a:t>
            </a:r>
            <a:br>
              <a:rPr lang="en-US" altLang="zh-CN" dirty="0">
                <a:solidFill>
                  <a:srgbClr val="FFFF00"/>
                </a:solidFill>
              </a:rPr>
            </a:br>
            <a:endParaRPr lang="en-US" b="1" u="sng" dirty="0">
              <a:solidFill>
                <a:srgbClr val="FFFF00"/>
              </a:solidFill>
              <a:latin typeface="+mn-lt"/>
              <a:cs typeface="Times New Roman" panose="02020603050405020304" pitchFamily="18" charset="0"/>
            </a:endParaRPr>
          </a:p>
        </p:txBody>
      </p:sp>
    </p:spTree>
    <p:extLst>
      <p:ext uri="{BB962C8B-B14F-4D97-AF65-F5344CB8AC3E}">
        <p14:creationId xmlns:p14="http://schemas.microsoft.com/office/powerpoint/2010/main" val="915257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062EF-4B64-D8ED-6DA3-16F09EF28128}"/>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7116AD06-8B94-15EC-87B2-7692FD69166D}"/>
              </a:ext>
            </a:extLst>
          </p:cNvPr>
          <p:cNvSpPr>
            <a:spLocks noGrp="1"/>
          </p:cNvSpPr>
          <p:nvPr>
            <p:ph idx="1"/>
          </p:nvPr>
        </p:nvSpPr>
        <p:spPr>
          <a:xfrm>
            <a:off x="778670" y="1259310"/>
            <a:ext cx="10815637" cy="5057775"/>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Overcoming Suspicion (Especially with Lower-Level Employees)</a:t>
            </a: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Employees may be suspicious, believing researchers are on management's "side" and could lead to negative outcomes like layoffs or increased workload.</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To counter this, researchers must:</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Clarify that their purpose is only to understand the true state of affairs.</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Convince respondents that they do not intend to take sides or cause harm.</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Explain that results will be reported only in aggregate, without disclosing individual identities.</a:t>
            </a:r>
          </a:p>
        </p:txBody>
      </p:sp>
      <p:sp>
        <p:nvSpPr>
          <p:cNvPr id="3" name="Title 1">
            <a:extLst>
              <a:ext uri="{FF2B5EF4-FFF2-40B4-BE49-F238E27FC236}">
                <a16:creationId xmlns:a16="http://schemas.microsoft.com/office/drawing/2014/main" id="{72CDAEFE-C587-6A33-4879-85DE5D4E8C63}"/>
              </a:ext>
            </a:extLst>
          </p:cNvPr>
          <p:cNvSpPr txBox="1">
            <a:spLocks/>
          </p:cNvSpPr>
          <p:nvPr/>
        </p:nvSpPr>
        <p:spPr>
          <a:xfrm>
            <a:off x="1200151" y="167429"/>
            <a:ext cx="9694068" cy="1143000"/>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3400" b="1" dirty="0">
                <a:solidFill>
                  <a:srgbClr val="FFFF00"/>
                </a:solidFill>
                <a:latin typeface="+mn-lt"/>
                <a:cs typeface="Times New Roman" panose="02020603050405020304" pitchFamily="18" charset="0"/>
              </a:rPr>
              <a:t>(</a:t>
            </a:r>
            <a:r>
              <a:rPr lang="en-US" altLang="zh-CN" sz="3100" b="1" i="0" dirty="0">
                <a:solidFill>
                  <a:srgbClr val="FFFF00"/>
                </a:solidFill>
                <a:effectLst/>
                <a:latin typeface="Times New Roman" panose="02020603050405020304" pitchFamily="18" charset="0"/>
                <a:cs typeface="Times New Roman" panose="02020603050405020304" pitchFamily="18" charset="0"/>
              </a:rPr>
              <a:t>Establishing credibility and rapport, and motivating individuals to respond</a:t>
            </a:r>
            <a:r>
              <a:rPr lang="en-US" altLang="zh-CN" sz="3100" dirty="0">
                <a:solidFill>
                  <a:srgbClr val="FFFF00"/>
                </a:solidFill>
                <a:latin typeface="Times New Roman" panose="02020603050405020304" pitchFamily="18" charset="0"/>
                <a:cs typeface="Times New Roman" panose="02020603050405020304" pitchFamily="18" charset="0"/>
              </a:rPr>
              <a:t>)</a:t>
            </a:r>
            <a:endParaRPr lang="en-US" b="1" u="sng" dirty="0">
              <a:solidFill>
                <a:srgbClr val="FFFF00"/>
              </a:solidFill>
              <a:latin typeface="+mn-lt"/>
              <a:cs typeface="Times New Roman" panose="02020603050405020304" pitchFamily="18" charset="0"/>
            </a:endParaRPr>
          </a:p>
        </p:txBody>
      </p:sp>
    </p:spTree>
    <p:extLst>
      <p:ext uri="{BB962C8B-B14F-4D97-AF65-F5344CB8AC3E}">
        <p14:creationId xmlns:p14="http://schemas.microsoft.com/office/powerpoint/2010/main" val="3968403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81645-88CB-CE5B-65E6-8BB13F3CC6D0}"/>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52EDF36-87A7-EC6F-9854-E52E8F2C9845}"/>
              </a:ext>
            </a:extLst>
          </p:cNvPr>
          <p:cNvSpPr>
            <a:spLocks noGrp="1"/>
          </p:cNvSpPr>
          <p:nvPr>
            <p:ph idx="1"/>
          </p:nvPr>
        </p:nvSpPr>
        <p:spPr>
          <a:xfrm>
            <a:off x="771526" y="1109292"/>
            <a:ext cx="10815637" cy="3491284"/>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Motivating Honest Participation</a:t>
            </a: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Researchers can motivate respondents by:</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Explaining how their contribution will help the organization.</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Stating that they may personally gain from the survey through an improved quality of work life.</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Informing them why they were chosen for the interview to foster better communication.</a:t>
            </a:r>
          </a:p>
        </p:txBody>
      </p:sp>
      <p:sp>
        <p:nvSpPr>
          <p:cNvPr id="3" name="Title 1">
            <a:extLst>
              <a:ext uri="{FF2B5EF4-FFF2-40B4-BE49-F238E27FC236}">
                <a16:creationId xmlns:a16="http://schemas.microsoft.com/office/drawing/2014/main" id="{5AC90FBE-C0FB-990F-656F-2FEA74910AA6}"/>
              </a:ext>
            </a:extLst>
          </p:cNvPr>
          <p:cNvSpPr txBox="1">
            <a:spLocks/>
          </p:cNvSpPr>
          <p:nvPr/>
        </p:nvSpPr>
        <p:spPr>
          <a:xfrm>
            <a:off x="1443038" y="167429"/>
            <a:ext cx="8929688" cy="1143000"/>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3400" b="1" dirty="0">
                <a:solidFill>
                  <a:srgbClr val="FFFF00"/>
                </a:solidFill>
                <a:latin typeface="+mn-lt"/>
                <a:cs typeface="Times New Roman" panose="02020603050405020304" pitchFamily="18" charset="0"/>
              </a:rPr>
              <a:t>(</a:t>
            </a:r>
            <a:r>
              <a:rPr lang="en-US" altLang="zh-CN" sz="3100" b="1" i="0" dirty="0">
                <a:solidFill>
                  <a:srgbClr val="FFFF00"/>
                </a:solidFill>
                <a:effectLst/>
                <a:latin typeface="Times New Roman" panose="02020603050405020304" pitchFamily="18" charset="0"/>
                <a:cs typeface="Times New Roman" panose="02020603050405020304" pitchFamily="18" charset="0"/>
              </a:rPr>
              <a:t>Establishing credibility and rapport, and motivating individuals to respond</a:t>
            </a:r>
            <a:r>
              <a:rPr lang="en-US" altLang="zh-CN" sz="3100" dirty="0">
                <a:solidFill>
                  <a:srgbClr val="FFFF00"/>
                </a:solidFill>
                <a:latin typeface="Times New Roman" panose="02020603050405020304" pitchFamily="18" charset="0"/>
                <a:cs typeface="Times New Roman" panose="02020603050405020304" pitchFamily="18" charset="0"/>
              </a:rPr>
              <a:t>)</a:t>
            </a:r>
            <a:br>
              <a:rPr lang="en-US" altLang="zh-CN" dirty="0">
                <a:solidFill>
                  <a:srgbClr val="FFFF00"/>
                </a:solidFill>
              </a:rPr>
            </a:br>
            <a:endParaRPr lang="en-US" b="1" u="sng" dirty="0">
              <a:solidFill>
                <a:srgbClr val="FFFF00"/>
              </a:solidFill>
              <a:latin typeface="+mn-lt"/>
              <a:cs typeface="Times New Roman" panose="02020603050405020304" pitchFamily="18" charset="0"/>
            </a:endParaRPr>
          </a:p>
        </p:txBody>
      </p:sp>
    </p:spTree>
    <p:extLst>
      <p:ext uri="{BB962C8B-B14F-4D97-AF65-F5344CB8AC3E}">
        <p14:creationId xmlns:p14="http://schemas.microsoft.com/office/powerpoint/2010/main" val="3619782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2F5E5-7A08-4589-222A-2C5D2CA17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F1D48-7EE8-C8F2-A5BB-2F2089E01801}"/>
              </a:ext>
            </a:extLst>
          </p:cNvPr>
          <p:cNvSpPr txBox="1">
            <a:spLocks/>
          </p:cNvSpPr>
          <p:nvPr/>
        </p:nvSpPr>
        <p:spPr>
          <a:xfrm>
            <a:off x="1307306" y="319458"/>
            <a:ext cx="9115425" cy="90413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2800" b="1" dirty="0">
                <a:solidFill>
                  <a:srgbClr val="FFFF00"/>
                </a:solidFill>
                <a:latin typeface="Times New Roman" panose="02020603050405020304" pitchFamily="18" charset="0"/>
                <a:cs typeface="Times New Roman" panose="02020603050405020304" pitchFamily="18" charset="0"/>
              </a:rPr>
              <a:t>(</a:t>
            </a:r>
            <a:r>
              <a:rPr lang="en-US" altLang="zh-CN" sz="2800" b="1" dirty="0">
                <a:solidFill>
                  <a:srgbClr val="FFFF00"/>
                </a:solidFill>
                <a:latin typeface="Times New Roman" panose="02020603050405020304" pitchFamily="18" charset="0"/>
                <a:cs typeface="Times New Roman" panose="02020603050405020304" pitchFamily="18" charset="0"/>
              </a:rPr>
              <a:t>Effective Questioning Techniques</a:t>
            </a:r>
          </a:p>
          <a:p>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D21D1BC1-7375-37CA-14CD-BC93ABDA2C99}"/>
              </a:ext>
            </a:extLst>
          </p:cNvPr>
          <p:cNvSpPr>
            <a:spLocks noGrp="1"/>
          </p:cNvSpPr>
          <p:nvPr>
            <p:ph idx="1"/>
          </p:nvPr>
        </p:nvSpPr>
        <p:spPr>
          <a:xfrm>
            <a:off x="185738" y="1109291"/>
            <a:ext cx="11401425" cy="4727153"/>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Funneling: </a:t>
            </a:r>
            <a:r>
              <a:rPr lang="en-US" dirty="0">
                <a:latin typeface="Times New Roman" panose="02020603050405020304" pitchFamily="18" charset="0"/>
                <a:cs typeface="Times New Roman" panose="02020603050405020304" pitchFamily="18" charset="0"/>
              </a:rPr>
              <a:t>At the beginning of an unstructured interview, it is advisable to ask open‐ended questions to get a broad idea and form some impressions about the situation. For example, a question that could be asked would be:</a:t>
            </a:r>
          </a:p>
          <a:p>
            <a:pPr marL="0" indent="0" algn="just">
              <a:lnSpc>
                <a:spcPct val="100000"/>
              </a:lnSpc>
              <a:spcBef>
                <a:spcPts val="0"/>
              </a:spcBef>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What are some of your feelings about working for this organization?</a:t>
            </a:r>
          </a:p>
          <a:p>
            <a:pPr marL="0" indent="0" algn="just">
              <a:lnSpc>
                <a:spcPct val="100000"/>
              </a:lnSpc>
              <a:spcBef>
                <a:spcPts val="0"/>
              </a:spcBef>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From the responses to this broad question, further questions that are progressively more focused may be asked as the researcher processes the interviewees’ responses and notes some possible key issues relevant to the situation. This transition from broad to narrow themes is called the funneling technique.</a:t>
            </a:r>
          </a:p>
        </p:txBody>
      </p:sp>
    </p:spTree>
    <p:extLst>
      <p:ext uri="{BB962C8B-B14F-4D97-AF65-F5344CB8AC3E}">
        <p14:creationId xmlns:p14="http://schemas.microsoft.com/office/powerpoint/2010/main" val="4020056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6893D-961B-E9DA-CDBE-FF1EB8D40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8A12E-D9F4-6DFE-EE9B-E8A38991EEB9}"/>
              </a:ext>
            </a:extLst>
          </p:cNvPr>
          <p:cNvSpPr txBox="1">
            <a:spLocks/>
          </p:cNvSpPr>
          <p:nvPr/>
        </p:nvSpPr>
        <p:spPr>
          <a:xfrm>
            <a:off x="1307306" y="319458"/>
            <a:ext cx="9115425" cy="90413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2800" b="1" dirty="0">
                <a:solidFill>
                  <a:srgbClr val="FFFF00"/>
                </a:solidFill>
                <a:latin typeface="Times New Roman" panose="02020603050405020304" pitchFamily="18" charset="0"/>
                <a:cs typeface="Times New Roman" panose="02020603050405020304" pitchFamily="18" charset="0"/>
              </a:rPr>
              <a:t>(</a:t>
            </a:r>
            <a:r>
              <a:rPr lang="en-US" altLang="zh-CN" sz="2800" b="1" dirty="0">
                <a:solidFill>
                  <a:srgbClr val="FFFF00"/>
                </a:solidFill>
                <a:latin typeface="Times New Roman" panose="02020603050405020304" pitchFamily="18" charset="0"/>
                <a:cs typeface="Times New Roman" panose="02020603050405020304" pitchFamily="18" charset="0"/>
              </a:rPr>
              <a:t>Effective Questioning Techniques</a:t>
            </a:r>
          </a:p>
          <a:p>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481D0025-CA52-FEC6-A0BB-62705DEC62B2}"/>
              </a:ext>
            </a:extLst>
          </p:cNvPr>
          <p:cNvSpPr>
            <a:spLocks noGrp="1"/>
          </p:cNvSpPr>
          <p:nvPr>
            <p:ph idx="1"/>
          </p:nvPr>
        </p:nvSpPr>
        <p:spPr>
          <a:xfrm>
            <a:off x="185738" y="1109291"/>
            <a:ext cx="11401425" cy="3927053"/>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Unbiased questions: </a:t>
            </a:r>
            <a:r>
              <a:rPr lang="en-US" dirty="0">
                <a:latin typeface="Times New Roman" panose="02020603050405020304" pitchFamily="18" charset="0"/>
                <a:cs typeface="Times New Roman" panose="02020603050405020304" pitchFamily="18" charset="0"/>
              </a:rPr>
              <a:t>It is important to ask unbiased questions to ensure that you minimize bias in the responses. </a:t>
            </a:r>
          </a:p>
          <a:p>
            <a:pPr marL="0" indent="0" algn="just">
              <a:buNone/>
            </a:pPr>
            <a:r>
              <a:rPr lang="en-US" dirty="0">
                <a:latin typeface="Times New Roman" panose="02020603050405020304" pitchFamily="18" charset="0"/>
                <a:cs typeface="Times New Roman" panose="02020603050405020304" pitchFamily="18" charset="0"/>
              </a:rPr>
              <a:t>For example, “Tell me how you experience your job” is a better question than, “Boy, the work you do must be really boring; let me hear how you experience it.” The latter question is “loaded” in terms of the interviewer’s own perceptions of the job. A loaded question might influence the types of answers received from the respondent. Bias could also be introduced by emphasizing certain words, by tone and voice inflections, and through inappropriate suggestions.</a:t>
            </a:r>
          </a:p>
        </p:txBody>
      </p:sp>
    </p:spTree>
    <p:extLst>
      <p:ext uri="{BB962C8B-B14F-4D97-AF65-F5344CB8AC3E}">
        <p14:creationId xmlns:p14="http://schemas.microsoft.com/office/powerpoint/2010/main" val="3815993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FD24A-D46C-7489-5A4A-B8CACAB42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96199-530C-B280-C448-5EA86573FF40}"/>
              </a:ext>
            </a:extLst>
          </p:cNvPr>
          <p:cNvSpPr txBox="1">
            <a:spLocks/>
          </p:cNvSpPr>
          <p:nvPr/>
        </p:nvSpPr>
        <p:spPr>
          <a:xfrm>
            <a:off x="1307306" y="319458"/>
            <a:ext cx="9115425" cy="90413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2800" b="1" dirty="0">
                <a:solidFill>
                  <a:srgbClr val="FFFF00"/>
                </a:solidFill>
                <a:latin typeface="Times New Roman" panose="02020603050405020304" pitchFamily="18" charset="0"/>
                <a:cs typeface="Times New Roman" panose="02020603050405020304" pitchFamily="18" charset="0"/>
              </a:rPr>
              <a:t>(</a:t>
            </a:r>
            <a:r>
              <a:rPr lang="en-US" altLang="zh-CN" sz="2800" b="1" dirty="0">
                <a:solidFill>
                  <a:srgbClr val="FFFF00"/>
                </a:solidFill>
                <a:latin typeface="Times New Roman" panose="02020603050405020304" pitchFamily="18" charset="0"/>
                <a:cs typeface="Times New Roman" panose="02020603050405020304" pitchFamily="18" charset="0"/>
              </a:rPr>
              <a:t>Effective Questioning Techniques</a:t>
            </a:r>
          </a:p>
          <a:p>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EAB1D6A8-8E37-462E-CAE1-A82EEF7A0105}"/>
              </a:ext>
            </a:extLst>
          </p:cNvPr>
          <p:cNvSpPr>
            <a:spLocks noGrp="1"/>
          </p:cNvSpPr>
          <p:nvPr>
            <p:ph idx="1"/>
          </p:nvPr>
        </p:nvSpPr>
        <p:spPr>
          <a:xfrm>
            <a:off x="185738" y="1109291"/>
            <a:ext cx="11401425" cy="4091359"/>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Clarifying issues: </a:t>
            </a:r>
            <a:r>
              <a:rPr lang="en-US" dirty="0">
                <a:latin typeface="Times New Roman" panose="02020603050405020304" pitchFamily="18" charset="0"/>
                <a:cs typeface="Times New Roman" panose="02020603050405020304" pitchFamily="18" charset="0"/>
              </a:rPr>
              <a:t>To ensure the researcher accurately understands the respondent’s views, it is helpful to restate or rephrase key points. </a:t>
            </a:r>
          </a:p>
          <a:p>
            <a:pPr marL="0" indent="0" algn="just">
              <a:buNone/>
            </a:pPr>
            <a:r>
              <a:rPr lang="en-US" dirty="0">
                <a:latin typeface="Times New Roman" panose="02020603050405020304" pitchFamily="18" charset="0"/>
                <a:cs typeface="Times New Roman" panose="02020603050405020304" pitchFamily="18" charset="0"/>
              </a:rPr>
              <a:t>For example, if a respondent says, “Promotions here are unfair; juniors always get promoted,” the researcher might reply, “So you mean capable seniors are overlooked for promotion?”—this helps confirm meaning. </a:t>
            </a:r>
          </a:p>
          <a:p>
            <a:pPr marL="0" indent="0" algn="just">
              <a:buNone/>
            </a:pPr>
            <a:r>
              <a:rPr lang="en-US" dirty="0">
                <a:latin typeface="Times New Roman" panose="02020603050405020304" pitchFamily="18" charset="0"/>
                <a:cs typeface="Times New Roman" panose="02020603050405020304" pitchFamily="18" charset="0"/>
              </a:rPr>
              <a:t>Similarly, if a respondent says, “The facilities are poor; we work even when dying of thirst,” the researcher could ask whether drinking water is available. Clarifying questions like these help prevent misunderstandings and ensure accurate interpretation.</a:t>
            </a:r>
          </a:p>
        </p:txBody>
      </p:sp>
    </p:spTree>
    <p:extLst>
      <p:ext uri="{BB962C8B-B14F-4D97-AF65-F5344CB8AC3E}">
        <p14:creationId xmlns:p14="http://schemas.microsoft.com/office/powerpoint/2010/main" val="2534994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61E7D-4597-5AF4-D3B3-92C19C50A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09322-B3C6-3082-6045-FE92A2EE7B2D}"/>
              </a:ext>
            </a:extLst>
          </p:cNvPr>
          <p:cNvSpPr txBox="1">
            <a:spLocks/>
          </p:cNvSpPr>
          <p:nvPr/>
        </p:nvSpPr>
        <p:spPr>
          <a:xfrm>
            <a:off x="1307306" y="319458"/>
            <a:ext cx="9115425" cy="90413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2800" b="1" dirty="0">
                <a:solidFill>
                  <a:srgbClr val="FFFF00"/>
                </a:solidFill>
                <a:latin typeface="Times New Roman" panose="02020603050405020304" pitchFamily="18" charset="0"/>
                <a:cs typeface="Times New Roman" panose="02020603050405020304" pitchFamily="18" charset="0"/>
              </a:rPr>
              <a:t>(</a:t>
            </a:r>
            <a:r>
              <a:rPr lang="en-US" altLang="zh-CN" sz="2800" b="1" dirty="0">
                <a:solidFill>
                  <a:srgbClr val="FFFF00"/>
                </a:solidFill>
                <a:latin typeface="Times New Roman" panose="02020603050405020304" pitchFamily="18" charset="0"/>
                <a:cs typeface="Times New Roman" panose="02020603050405020304" pitchFamily="18" charset="0"/>
              </a:rPr>
              <a:t>Effective Questioning Techniques</a:t>
            </a:r>
          </a:p>
          <a:p>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2F371D6B-49B2-D54E-1733-40ECE043A7FF}"/>
              </a:ext>
            </a:extLst>
          </p:cNvPr>
          <p:cNvSpPr>
            <a:spLocks noGrp="1"/>
          </p:cNvSpPr>
          <p:nvPr>
            <p:ph idx="1"/>
          </p:nvPr>
        </p:nvSpPr>
        <p:spPr>
          <a:xfrm>
            <a:off x="185738" y="1109291"/>
            <a:ext cx="11401425" cy="4434259"/>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Helping the respondent to think through issues: </a:t>
            </a:r>
            <a:r>
              <a:rPr lang="en-US" dirty="0">
                <a:latin typeface="Times New Roman" panose="02020603050405020304" pitchFamily="18" charset="0"/>
                <a:cs typeface="Times New Roman" panose="02020603050405020304" pitchFamily="18" charset="0"/>
              </a:rPr>
              <a:t>If the respondent is not able to verbalize her perceptions, or replies, “I don’t know,” the researcher should ask the question in a simpler way or rephrase it.</a:t>
            </a:r>
          </a:p>
          <a:p>
            <a:pPr marL="0" indent="0" algn="just">
              <a:buNone/>
            </a:pPr>
            <a:r>
              <a:rPr lang="en-US" dirty="0">
                <a:latin typeface="Times New Roman" panose="02020603050405020304" pitchFamily="18" charset="0"/>
                <a:cs typeface="Times New Roman" panose="02020603050405020304" pitchFamily="18" charset="0"/>
              </a:rPr>
              <a:t>For instance, if a respondent is unable to specify what aspects of the job he dislikes, the researcher might ask the question in a simpler way. For example, the respondent might be asked which task he would prefer to do: serve a customer or do some filing work. If the answer is “serve the customer,” the researcher might use another aspect of the respondent’s job and ask the paired‐choice question again. In this way, the respondent can sort out which aspects of the job he likes better than others.</a:t>
            </a:r>
          </a:p>
        </p:txBody>
      </p:sp>
    </p:spTree>
    <p:extLst>
      <p:ext uri="{BB962C8B-B14F-4D97-AF65-F5344CB8AC3E}">
        <p14:creationId xmlns:p14="http://schemas.microsoft.com/office/powerpoint/2010/main" val="1281744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5D6B0-A718-584C-ADCD-CA64AD986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1F225D-1AD8-0513-DD56-A9C54385782A}"/>
              </a:ext>
            </a:extLst>
          </p:cNvPr>
          <p:cNvSpPr txBox="1">
            <a:spLocks/>
          </p:cNvSpPr>
          <p:nvPr/>
        </p:nvSpPr>
        <p:spPr>
          <a:xfrm>
            <a:off x="1307306" y="319458"/>
            <a:ext cx="9115425" cy="90413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2800" b="1" dirty="0">
                <a:solidFill>
                  <a:srgbClr val="FFFF00"/>
                </a:solidFill>
                <a:latin typeface="Times New Roman" panose="02020603050405020304" pitchFamily="18" charset="0"/>
                <a:cs typeface="Times New Roman" panose="02020603050405020304" pitchFamily="18" charset="0"/>
              </a:rPr>
              <a:t>(</a:t>
            </a:r>
            <a:r>
              <a:rPr lang="en-US" altLang="zh-CN" sz="2800" b="1" dirty="0">
                <a:solidFill>
                  <a:srgbClr val="FFFF00"/>
                </a:solidFill>
                <a:latin typeface="Times New Roman" panose="02020603050405020304" pitchFamily="18" charset="0"/>
                <a:cs typeface="Times New Roman" panose="02020603050405020304" pitchFamily="18" charset="0"/>
              </a:rPr>
              <a:t>Effective Questioning Techniques</a:t>
            </a:r>
          </a:p>
          <a:p>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E7849ED1-5E4D-C126-3D5A-20502DF817A2}"/>
              </a:ext>
            </a:extLst>
          </p:cNvPr>
          <p:cNvSpPr>
            <a:spLocks noGrp="1"/>
          </p:cNvSpPr>
          <p:nvPr>
            <p:ph idx="1"/>
          </p:nvPr>
        </p:nvSpPr>
        <p:spPr>
          <a:xfrm>
            <a:off x="185738" y="1109291"/>
            <a:ext cx="11401425" cy="4434259"/>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Taking notes: </a:t>
            </a:r>
            <a:r>
              <a:rPr lang="en-US" dirty="0">
                <a:latin typeface="Times New Roman" panose="02020603050405020304" pitchFamily="18" charset="0"/>
                <a:cs typeface="Times New Roman" panose="02020603050405020304" pitchFamily="18" charset="0"/>
              </a:rPr>
              <a:t>During interviews, researchers should take written notes immediately rather than relying on memory, as recalled information can be inaccurate and confusing, especially after multiple interviews. Relying on memory may also introduce bias. Interviews can be audio-recorded if participants agree, but recordings may influence responses since participants know they are being recorded. Therefore, researchers should ensure that recording will not bias the data and must always get the respondent’s permission before doing so.</a:t>
            </a:r>
          </a:p>
        </p:txBody>
      </p:sp>
    </p:spTree>
    <p:extLst>
      <p:ext uri="{BB962C8B-B14F-4D97-AF65-F5344CB8AC3E}">
        <p14:creationId xmlns:p14="http://schemas.microsoft.com/office/powerpoint/2010/main" val="319637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ECF5-0780-9510-13AC-3F43630A014B}"/>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8B78B13B-CBFA-EAD1-A6F6-F9114D918A1E}"/>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VARIABLES</a:t>
            </a:r>
          </a:p>
        </p:txBody>
      </p:sp>
      <p:sp>
        <p:nvSpPr>
          <p:cNvPr id="4" name="TextBox 3">
            <a:extLst>
              <a:ext uri="{FF2B5EF4-FFF2-40B4-BE49-F238E27FC236}">
                <a16:creationId xmlns:a16="http://schemas.microsoft.com/office/drawing/2014/main" id="{29C3A994-0C2B-E991-4F38-F87B03FED1DD}"/>
              </a:ext>
            </a:extLst>
          </p:cNvPr>
          <p:cNvSpPr txBox="1"/>
          <p:nvPr/>
        </p:nvSpPr>
        <p:spPr>
          <a:xfrm>
            <a:off x="1071562" y="1515994"/>
            <a:ext cx="9694069" cy="1477328"/>
          </a:xfrm>
          <a:prstGeom prst="rect">
            <a:avLst/>
          </a:prstGeom>
          <a:solidFill>
            <a:schemeClr val="bg1"/>
          </a:solidFill>
        </p:spPr>
        <p:txBody>
          <a:bodyPr wrap="square">
            <a:spAutoFit/>
          </a:bodyPr>
          <a:lstStyle/>
          <a:p>
            <a:pPr algn="just"/>
            <a:r>
              <a:rPr lang="en-US" altLang="zh-CN" sz="3000" b="0" i="0" dirty="0">
                <a:solidFill>
                  <a:srgbClr val="000000"/>
                </a:solidFill>
                <a:effectLst/>
                <a:latin typeface="Times New Roman" panose="02020603050405020304" pitchFamily="18" charset="0"/>
                <a:cs typeface="Times New Roman" panose="02020603050405020304" pitchFamily="18" charset="0"/>
              </a:rPr>
              <a:t>- Any characteristic which is subject to change and can have more than one value such as age, intelligence, motivation, gender, etc. </a:t>
            </a:r>
          </a:p>
        </p:txBody>
      </p:sp>
      <p:sp>
        <p:nvSpPr>
          <p:cNvPr id="6" name="TextBox 5">
            <a:extLst>
              <a:ext uri="{FF2B5EF4-FFF2-40B4-BE49-F238E27FC236}">
                <a16:creationId xmlns:a16="http://schemas.microsoft.com/office/drawing/2014/main" id="{DD067D5B-DD21-0A28-6072-3A9DE0632DD4}"/>
              </a:ext>
            </a:extLst>
          </p:cNvPr>
          <p:cNvSpPr txBox="1"/>
          <p:nvPr/>
        </p:nvSpPr>
        <p:spPr>
          <a:xfrm>
            <a:off x="1071562" y="3245941"/>
            <a:ext cx="9694069" cy="1938992"/>
          </a:xfrm>
          <a:prstGeom prst="rect">
            <a:avLst/>
          </a:prstGeom>
          <a:solidFill>
            <a:schemeClr val="bg1"/>
          </a:solidFill>
        </p:spPr>
        <p:txBody>
          <a:bodyPr wrap="square">
            <a:spAutoFit/>
          </a:bodyPr>
          <a:lstStyle/>
          <a:p>
            <a:pPr algn="just"/>
            <a:r>
              <a:rPr lang="en-US" altLang="zh-CN" sz="3000" b="0" i="0" dirty="0">
                <a:solidFill>
                  <a:srgbClr val="000000"/>
                </a:solidFill>
                <a:effectLst/>
                <a:latin typeface="Times New Roman" panose="02020603050405020304" pitchFamily="18" charset="0"/>
                <a:cs typeface="Times New Roman" panose="02020603050405020304" pitchFamily="18" charset="0"/>
              </a:rPr>
              <a:t>- Variables are “changing qualities or characteristics” of persons or things like age, gender, intelligence, ideas, achievements, confidence, and so on that are involved in your research study.</a:t>
            </a:r>
            <a:endParaRPr lang="zh-CN" altLang="en-US" sz="3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5427601-C1FC-307B-47CA-278AF43684A1}"/>
              </a:ext>
            </a:extLst>
          </p:cNvPr>
          <p:cNvSpPr txBox="1"/>
          <p:nvPr/>
        </p:nvSpPr>
        <p:spPr>
          <a:xfrm>
            <a:off x="1071562" y="883049"/>
            <a:ext cx="1959173" cy="584775"/>
          </a:xfrm>
          <a:prstGeom prst="rect">
            <a:avLst/>
          </a:prstGeom>
          <a:solidFill>
            <a:schemeClr val="bg1"/>
          </a:solidFill>
        </p:spPr>
        <p:txBody>
          <a:bodyPr wrap="square">
            <a:spAutoFit/>
          </a:bodyPr>
          <a:lstStyle/>
          <a:p>
            <a:r>
              <a:rPr lang="en-US" altLang="zh-CN" sz="3200" b="1" i="0" dirty="0">
                <a:solidFill>
                  <a:srgbClr val="FF0000"/>
                </a:solidFill>
                <a:effectLst/>
                <a:latin typeface="Times New Roman" panose="02020603050405020304" pitchFamily="18" charset="0"/>
                <a:cs typeface="Times New Roman" panose="02020603050405020304" pitchFamily="18" charset="0"/>
              </a:rPr>
              <a:t>Variable</a:t>
            </a:r>
          </a:p>
        </p:txBody>
      </p:sp>
    </p:spTree>
    <p:extLst>
      <p:ext uri="{BB962C8B-B14F-4D97-AF65-F5344CB8AC3E}">
        <p14:creationId xmlns:p14="http://schemas.microsoft.com/office/powerpoint/2010/main" val="4282517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E5CA7-9D06-B31A-8A5E-592658BDEF11}"/>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801B6A99-D4C6-16E2-7544-0C25372529F7}"/>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2" name="TextBox 1">
            <a:extLst>
              <a:ext uri="{FF2B5EF4-FFF2-40B4-BE49-F238E27FC236}">
                <a16:creationId xmlns:a16="http://schemas.microsoft.com/office/drawing/2014/main" id="{A95701BE-E4F9-F313-0C17-F4BA91A5C519}"/>
              </a:ext>
            </a:extLst>
          </p:cNvPr>
          <p:cNvSpPr txBox="1"/>
          <p:nvPr/>
        </p:nvSpPr>
        <p:spPr>
          <a:xfrm>
            <a:off x="621504" y="1112194"/>
            <a:ext cx="10415590" cy="3816429"/>
          </a:xfrm>
          <a:prstGeom prst="rect">
            <a:avLst/>
          </a:prstGeom>
          <a:solidFill>
            <a:schemeClr val="bg1"/>
          </a:solidFill>
        </p:spPr>
        <p:txBody>
          <a:bodyPr wrap="square">
            <a:spAutoFit/>
          </a:bodyPr>
          <a:lstStyle/>
          <a:p>
            <a:pPr marL="514350" indent="-514350">
              <a:buAutoNum type="arabicPeriod"/>
            </a:pPr>
            <a:r>
              <a:rPr lang="en-US" altLang="zh-CN" sz="3200" b="1" i="0" dirty="0">
                <a:solidFill>
                  <a:srgbClr val="FF0000"/>
                </a:solidFill>
                <a:effectLst/>
                <a:latin typeface="Times New Roman" panose="02020603050405020304" pitchFamily="18" charset="0"/>
                <a:cs typeface="Times New Roman" panose="02020603050405020304" pitchFamily="18" charset="0"/>
              </a:rPr>
              <a:t>Dependent Variables – DV</a:t>
            </a:r>
          </a:p>
          <a:p>
            <a:pPr algn="just"/>
            <a:r>
              <a:rPr lang="en-US" altLang="zh-CN" sz="3000" i="0" dirty="0">
                <a:effectLst/>
                <a:latin typeface="Times New Roman" panose="02020603050405020304" pitchFamily="18" charset="0"/>
                <a:cs typeface="Times New Roman" panose="02020603050405020304" pitchFamily="18" charset="0"/>
              </a:rPr>
              <a:t>The dependent variable is the variable of primary interest to the researcher. The researcher’s goal is to understand and describe the dependent variable, or to explain its variability, or predict it. In other words, it is the main variable that lends itself for investigation as a viable factor. Through the analysis of the dependent variable (i.e., finding what variables influence it), it is possible to find answers or solutions to the problem.</a:t>
            </a:r>
          </a:p>
        </p:txBody>
      </p:sp>
      <p:sp>
        <p:nvSpPr>
          <p:cNvPr id="5" name="TextBox 4">
            <a:extLst>
              <a:ext uri="{FF2B5EF4-FFF2-40B4-BE49-F238E27FC236}">
                <a16:creationId xmlns:a16="http://schemas.microsoft.com/office/drawing/2014/main" id="{661284D9-E2BA-504E-35A8-72AC3FBEB7E2}"/>
              </a:ext>
            </a:extLst>
          </p:cNvPr>
          <p:cNvSpPr txBox="1"/>
          <p:nvPr/>
        </p:nvSpPr>
        <p:spPr>
          <a:xfrm>
            <a:off x="621504" y="5158903"/>
            <a:ext cx="8331399" cy="1015663"/>
          </a:xfrm>
          <a:prstGeom prst="rect">
            <a:avLst/>
          </a:prstGeom>
          <a:solidFill>
            <a:schemeClr val="bg1"/>
          </a:solidFill>
        </p:spPr>
        <p:txBody>
          <a:bodyPr wrap="square">
            <a:spAutoFit/>
          </a:bodyPr>
          <a:lstStyle/>
          <a:p>
            <a:r>
              <a:rPr lang="en-US" altLang="zh-CN" sz="3000" dirty="0">
                <a:latin typeface="Times New Roman" panose="02020603050405020304" pitchFamily="18" charset="0"/>
                <a:cs typeface="Times New Roman" panose="02020603050405020304" pitchFamily="18" charset="0"/>
              </a:rPr>
              <a:t>• Variable affected by the independent variable </a:t>
            </a:r>
          </a:p>
          <a:p>
            <a:r>
              <a:rPr lang="en-US" altLang="zh-CN" sz="3000" dirty="0">
                <a:latin typeface="Times New Roman" panose="02020603050405020304" pitchFamily="18" charset="0"/>
                <a:cs typeface="Times New Roman" panose="02020603050405020304" pitchFamily="18" charset="0"/>
              </a:rPr>
              <a:t>• It responds to the independent variable.</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146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5E404-0D24-9055-F8B2-F5FA04AF0E41}"/>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3E6E3B2A-A6BA-95F0-BE39-31CF78931CC1}"/>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pic>
        <p:nvPicPr>
          <p:cNvPr id="4" name="Picture 3">
            <a:extLst>
              <a:ext uri="{FF2B5EF4-FFF2-40B4-BE49-F238E27FC236}">
                <a16:creationId xmlns:a16="http://schemas.microsoft.com/office/drawing/2014/main" id="{A08AD969-F112-29A5-5412-F7B17C3C97A4}"/>
              </a:ext>
            </a:extLst>
          </p:cNvPr>
          <p:cNvPicPr>
            <a:picLocks noChangeAspect="1"/>
          </p:cNvPicPr>
          <p:nvPr/>
        </p:nvPicPr>
        <p:blipFill>
          <a:blip r:embed="rId3"/>
          <a:stretch>
            <a:fillRect/>
          </a:stretch>
        </p:blipFill>
        <p:spPr>
          <a:xfrm>
            <a:off x="750093" y="881915"/>
            <a:ext cx="10779919" cy="5629702"/>
          </a:xfrm>
          <a:prstGeom prst="rect">
            <a:avLst/>
          </a:prstGeom>
        </p:spPr>
      </p:pic>
    </p:spTree>
    <p:extLst>
      <p:ext uri="{BB962C8B-B14F-4D97-AF65-F5344CB8AC3E}">
        <p14:creationId xmlns:p14="http://schemas.microsoft.com/office/powerpoint/2010/main" val="1824161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438AB-0390-F995-9AB9-9A0D1667E2DE}"/>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814DB876-59AD-EED7-D4DF-820EF959DC47}"/>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pic>
        <p:nvPicPr>
          <p:cNvPr id="3" name="Picture 2">
            <a:extLst>
              <a:ext uri="{FF2B5EF4-FFF2-40B4-BE49-F238E27FC236}">
                <a16:creationId xmlns:a16="http://schemas.microsoft.com/office/drawing/2014/main" id="{745569ED-92F1-F9C5-5DBA-A3D1E8AF648F}"/>
              </a:ext>
            </a:extLst>
          </p:cNvPr>
          <p:cNvPicPr>
            <a:picLocks noChangeAspect="1"/>
          </p:cNvPicPr>
          <p:nvPr/>
        </p:nvPicPr>
        <p:blipFill>
          <a:blip r:embed="rId3"/>
          <a:stretch>
            <a:fillRect/>
          </a:stretch>
        </p:blipFill>
        <p:spPr>
          <a:xfrm>
            <a:off x="947716" y="1471609"/>
            <a:ext cx="10214553" cy="1957391"/>
          </a:xfrm>
          <a:prstGeom prst="rect">
            <a:avLst/>
          </a:prstGeom>
        </p:spPr>
      </p:pic>
      <p:pic>
        <p:nvPicPr>
          <p:cNvPr id="6" name="Picture 5">
            <a:extLst>
              <a:ext uri="{FF2B5EF4-FFF2-40B4-BE49-F238E27FC236}">
                <a16:creationId xmlns:a16="http://schemas.microsoft.com/office/drawing/2014/main" id="{1ED75E2C-4142-2A4C-F74A-6C527339F4EE}"/>
              </a:ext>
            </a:extLst>
          </p:cNvPr>
          <p:cNvPicPr>
            <a:picLocks noChangeAspect="1"/>
          </p:cNvPicPr>
          <p:nvPr/>
        </p:nvPicPr>
        <p:blipFill>
          <a:blip r:embed="rId4"/>
          <a:stretch>
            <a:fillRect/>
          </a:stretch>
        </p:blipFill>
        <p:spPr>
          <a:xfrm>
            <a:off x="947716" y="969496"/>
            <a:ext cx="1526963" cy="535530"/>
          </a:xfrm>
          <a:prstGeom prst="rect">
            <a:avLst/>
          </a:prstGeom>
        </p:spPr>
      </p:pic>
      <p:pic>
        <p:nvPicPr>
          <p:cNvPr id="8" name="Picture 7">
            <a:extLst>
              <a:ext uri="{FF2B5EF4-FFF2-40B4-BE49-F238E27FC236}">
                <a16:creationId xmlns:a16="http://schemas.microsoft.com/office/drawing/2014/main" id="{05153520-8A4C-FB87-04D7-1C80D243A016}"/>
              </a:ext>
            </a:extLst>
          </p:cNvPr>
          <p:cNvPicPr>
            <a:picLocks noChangeAspect="1"/>
          </p:cNvPicPr>
          <p:nvPr/>
        </p:nvPicPr>
        <p:blipFill>
          <a:blip r:embed="rId5"/>
          <a:stretch>
            <a:fillRect/>
          </a:stretch>
        </p:blipFill>
        <p:spPr>
          <a:xfrm>
            <a:off x="889687" y="3931113"/>
            <a:ext cx="10272582" cy="1293600"/>
          </a:xfrm>
          <a:prstGeom prst="rect">
            <a:avLst/>
          </a:prstGeom>
        </p:spPr>
      </p:pic>
    </p:spTree>
    <p:extLst>
      <p:ext uri="{BB962C8B-B14F-4D97-AF65-F5344CB8AC3E}">
        <p14:creationId xmlns:p14="http://schemas.microsoft.com/office/powerpoint/2010/main" val="913288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610E3-43AA-896A-9F94-A8EEF86D85D2}"/>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20D66FF5-34F9-EDDF-AECB-C9C18707B9A0}"/>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44B17988-7C75-0F89-FE2B-B749D80D66A6}"/>
              </a:ext>
            </a:extLst>
          </p:cNvPr>
          <p:cNvSpPr txBox="1"/>
          <p:nvPr/>
        </p:nvSpPr>
        <p:spPr>
          <a:xfrm>
            <a:off x="892967" y="4926920"/>
            <a:ext cx="9694069" cy="1477328"/>
          </a:xfrm>
          <a:prstGeom prst="rect">
            <a:avLst/>
          </a:prstGeom>
          <a:solidFill>
            <a:schemeClr val="bg1"/>
          </a:solidFill>
        </p:spPr>
        <p:txBody>
          <a:bodyPr wrap="square">
            <a:spAutoFit/>
          </a:bodyPr>
          <a:lstStyle/>
          <a:p>
            <a:pPr algn="just"/>
            <a:r>
              <a:rPr lang="en-US" altLang="zh-CN" sz="3000" b="0" i="0" dirty="0">
                <a:solidFill>
                  <a:srgbClr val="000000"/>
                </a:solidFill>
                <a:effectLst/>
                <a:latin typeface="Times New Roman" panose="02020603050405020304" pitchFamily="18" charset="0"/>
                <a:cs typeface="Times New Roman" panose="02020603050405020304" pitchFamily="18" charset="0"/>
              </a:rPr>
              <a:t>• Variable that is presumed to influence other variable.</a:t>
            </a:r>
          </a:p>
          <a:p>
            <a:pPr algn="just"/>
            <a:r>
              <a:rPr lang="en-US" altLang="zh-CN" sz="3000" b="0" i="0" dirty="0">
                <a:solidFill>
                  <a:srgbClr val="000000"/>
                </a:solidFill>
                <a:effectLst/>
                <a:latin typeface="Times New Roman" panose="02020603050405020304" pitchFamily="18" charset="0"/>
                <a:cs typeface="Times New Roman" panose="02020603050405020304" pitchFamily="18" charset="0"/>
              </a:rPr>
              <a:t>• It is the presumed cause, whereas the dependent variable is the presumed effect.</a:t>
            </a:r>
            <a:endParaRPr lang="en-US" altLang="zh-CN" sz="3000" b="1" i="0" dirty="0">
              <a:solidFill>
                <a:srgbClr val="FF000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6078021-17E4-FF76-8020-78E3C6B4F520}"/>
              </a:ext>
            </a:extLst>
          </p:cNvPr>
          <p:cNvSpPr txBox="1"/>
          <p:nvPr/>
        </p:nvSpPr>
        <p:spPr>
          <a:xfrm>
            <a:off x="892968" y="1038261"/>
            <a:ext cx="9694069" cy="3539430"/>
          </a:xfrm>
          <a:prstGeom prst="rect">
            <a:avLst/>
          </a:prstGeom>
          <a:solidFill>
            <a:schemeClr val="bg1"/>
          </a:solidFill>
        </p:spPr>
        <p:txBody>
          <a:bodyPr wrap="square">
            <a:spAutoFit/>
          </a:bodyPr>
          <a:lstStyle>
            <a:defPPr>
              <a:defRPr lang="en-US"/>
            </a:defPPr>
            <a:lvl1pPr>
              <a:defRPr sz="2800" b="0" i="0">
                <a:solidFill>
                  <a:srgbClr val="FF0000"/>
                </a:solidFill>
                <a:effectLst/>
                <a:latin typeface="Times New Roman" panose="02020603050405020304" pitchFamily="18" charset="0"/>
                <a:cs typeface="Times New Roman" panose="02020603050405020304" pitchFamily="18" charset="0"/>
              </a:defRPr>
            </a:lvl1pPr>
          </a:lstStyle>
          <a:p>
            <a:r>
              <a:rPr lang="en-US" altLang="zh-CN" sz="2800" b="1" i="0" dirty="0">
                <a:solidFill>
                  <a:srgbClr val="FF0000"/>
                </a:solidFill>
                <a:effectLst/>
                <a:latin typeface="Times New Roman" panose="02020603050405020304" pitchFamily="18" charset="0"/>
                <a:cs typeface="Times New Roman" panose="02020603050405020304" pitchFamily="18" charset="0"/>
              </a:rPr>
              <a:t>2. Independent Variables – IV</a:t>
            </a:r>
            <a:endParaRPr lang="en-US" altLang="zh-CN" b="1" dirty="0"/>
          </a:p>
          <a:p>
            <a:pPr algn="just"/>
            <a:r>
              <a:rPr lang="en-US" altLang="zh-CN" dirty="0">
                <a:solidFill>
                  <a:schemeClr val="tx1"/>
                </a:solidFill>
              </a:rPr>
              <a:t>Independent variable is one that influences the dependent variable in either a positive or negative way. That is, when the independent variable is present, the dependent variable is also present, and with each unit of increase in the independent variable, there is an increase or decrease in the dependent variable. In other words, the variance in the dependent variable is accounted for by the independent variable. </a:t>
            </a:r>
            <a:endParaRPr lang="zh-CN" altLang="en-US" dirty="0">
              <a:solidFill>
                <a:schemeClr val="tx1"/>
              </a:solidFill>
            </a:endParaRPr>
          </a:p>
        </p:txBody>
      </p:sp>
    </p:spTree>
    <p:extLst>
      <p:ext uri="{BB962C8B-B14F-4D97-AF65-F5344CB8AC3E}">
        <p14:creationId xmlns:p14="http://schemas.microsoft.com/office/powerpoint/2010/main" val="331169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3E09-BAC1-E6A1-D344-EC3AE4ED638B}"/>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81836CB1-719B-30F1-3ADF-CC25BE024CAC}"/>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5" name="TextBox 4">
            <a:extLst>
              <a:ext uri="{FF2B5EF4-FFF2-40B4-BE49-F238E27FC236}">
                <a16:creationId xmlns:a16="http://schemas.microsoft.com/office/drawing/2014/main" id="{88E46278-779B-FF2F-D7CD-EFDA7D98A275}"/>
              </a:ext>
            </a:extLst>
          </p:cNvPr>
          <p:cNvSpPr txBox="1"/>
          <p:nvPr/>
        </p:nvSpPr>
        <p:spPr>
          <a:xfrm>
            <a:off x="892968" y="1038261"/>
            <a:ext cx="9872663" cy="954107"/>
          </a:xfrm>
          <a:prstGeom prst="rect">
            <a:avLst/>
          </a:prstGeom>
          <a:solidFill>
            <a:schemeClr val="bg1"/>
          </a:solidFill>
        </p:spPr>
        <p:txBody>
          <a:bodyPr wrap="square">
            <a:spAutoFit/>
          </a:bodyPr>
          <a:lstStyle>
            <a:defPPr>
              <a:defRPr lang="en-US"/>
            </a:defPPr>
            <a:lvl1pPr>
              <a:defRPr sz="2800" b="0" i="0">
                <a:solidFill>
                  <a:srgbClr val="FF0000"/>
                </a:solidFill>
                <a:effectLst/>
                <a:latin typeface="Times New Roman" panose="02020603050405020304" pitchFamily="18" charset="0"/>
                <a:cs typeface="Times New Roman" panose="02020603050405020304" pitchFamily="18" charset="0"/>
              </a:defRPr>
            </a:lvl1pPr>
          </a:lstStyle>
          <a:p>
            <a:pPr algn="just"/>
            <a:r>
              <a:rPr lang="en-US" altLang="zh-CN" sz="2800" i="0" dirty="0">
                <a:solidFill>
                  <a:srgbClr val="FF0000"/>
                </a:solidFill>
                <a:effectLst/>
                <a:latin typeface="Times New Roman" panose="02020603050405020304" pitchFamily="18" charset="0"/>
                <a:cs typeface="Times New Roman" panose="02020603050405020304" pitchFamily="18" charset="0"/>
              </a:rPr>
              <a:t>To establish that a change in the independent variable causes a change in the dependent variable, four conditions should be met:</a:t>
            </a:r>
            <a:endParaRPr lang="zh-CN" altLang="en-US" dirty="0">
              <a:solidFill>
                <a:schemeClr val="tx1"/>
              </a:solidFill>
            </a:endParaRPr>
          </a:p>
        </p:txBody>
      </p:sp>
      <p:sp>
        <p:nvSpPr>
          <p:cNvPr id="3" name="TextBox 2">
            <a:extLst>
              <a:ext uri="{FF2B5EF4-FFF2-40B4-BE49-F238E27FC236}">
                <a16:creationId xmlns:a16="http://schemas.microsoft.com/office/drawing/2014/main" id="{72DD8502-A16C-5BF5-07C6-CEC9DEB3A453}"/>
              </a:ext>
            </a:extLst>
          </p:cNvPr>
          <p:cNvSpPr txBox="1"/>
          <p:nvPr/>
        </p:nvSpPr>
        <p:spPr>
          <a:xfrm>
            <a:off x="892969" y="2285911"/>
            <a:ext cx="9872662" cy="1384995"/>
          </a:xfrm>
          <a:prstGeom prst="rect">
            <a:avLst/>
          </a:prstGeom>
          <a:solidFill>
            <a:schemeClr val="bg1"/>
          </a:solidFill>
        </p:spPr>
        <p:txBody>
          <a:bodyPr wrap="square">
            <a:spAutoFit/>
          </a:bodyPr>
          <a:lstStyle>
            <a:defPPr>
              <a:defRPr lang="en-US"/>
            </a:defPPr>
            <a:lvl1pPr algn="just">
              <a:defRPr sz="2800" b="0" i="0">
                <a:solidFill>
                  <a:srgbClr val="FF0000"/>
                </a:solidFill>
                <a:effectLst/>
                <a:latin typeface="Times New Roman" panose="02020603050405020304" pitchFamily="18" charset="0"/>
                <a:cs typeface="Times New Roman" panose="02020603050405020304" pitchFamily="18" charset="0"/>
              </a:defRPr>
            </a:lvl1pPr>
          </a:lstStyle>
          <a:p>
            <a:r>
              <a:rPr lang="en-US" altLang="zh-CN" b="1" dirty="0">
                <a:solidFill>
                  <a:schemeClr val="tx1"/>
                </a:solidFill>
              </a:rPr>
              <a:t>1. </a:t>
            </a:r>
            <a:r>
              <a:rPr lang="en-US" altLang="zh-CN" dirty="0">
                <a:solidFill>
                  <a:schemeClr val="tx1"/>
                </a:solidFill>
              </a:rPr>
              <a:t>The independent and the dependent variable should covary: in other words, a change in the dependent variable should be associated with a change in the independent variable.</a:t>
            </a:r>
            <a:endParaRPr lang="zh-CN" altLang="en-US" dirty="0">
              <a:solidFill>
                <a:schemeClr val="tx1"/>
              </a:solidFill>
            </a:endParaRPr>
          </a:p>
        </p:txBody>
      </p:sp>
      <p:sp>
        <p:nvSpPr>
          <p:cNvPr id="7" name="TextBox 6">
            <a:extLst>
              <a:ext uri="{FF2B5EF4-FFF2-40B4-BE49-F238E27FC236}">
                <a16:creationId xmlns:a16="http://schemas.microsoft.com/office/drawing/2014/main" id="{4C14F172-6FC8-D950-9B7F-908D1A9991D0}"/>
              </a:ext>
            </a:extLst>
          </p:cNvPr>
          <p:cNvSpPr txBox="1"/>
          <p:nvPr/>
        </p:nvSpPr>
        <p:spPr>
          <a:xfrm>
            <a:off x="2971800" y="3789939"/>
            <a:ext cx="8658225" cy="3046988"/>
          </a:xfrm>
          <a:prstGeom prst="rect">
            <a:avLst/>
          </a:prstGeom>
          <a:solidFill>
            <a:schemeClr val="accent2">
              <a:lumMod val="20000"/>
              <a:lumOff val="80000"/>
            </a:schemeClr>
          </a:solidFill>
        </p:spPr>
        <p:txBody>
          <a:bodyPr wrap="square">
            <a:spAutoFit/>
          </a:bodyPr>
          <a:lstStyle/>
          <a:p>
            <a:r>
              <a:rPr lang="en-US" altLang="zh-CN" sz="2400" b="1" dirty="0">
                <a:latin typeface="Times New Roman" panose="02020603050405020304" pitchFamily="18" charset="0"/>
                <a:cs typeface="Times New Roman" panose="02020603050405020304" pitchFamily="18" charset="0"/>
              </a:rPr>
              <a:t>Example:</a:t>
            </a:r>
            <a:br>
              <a:rPr lang="en-US" altLang="zh-CN" sz="2400" dirty="0">
                <a:latin typeface="Times New Roman" panose="02020603050405020304" pitchFamily="18" charset="0"/>
                <a:cs typeface="Times New Roman" panose="02020603050405020304" pitchFamily="18" charset="0"/>
              </a:rPr>
            </a:br>
            <a:r>
              <a:rPr lang="en-US" altLang="zh-CN" sz="2400" dirty="0">
                <a:latin typeface="Times New Roman" panose="02020603050405020304" pitchFamily="18" charset="0"/>
                <a:cs typeface="Times New Roman" panose="02020603050405020304" pitchFamily="18" charset="0"/>
              </a:rPr>
              <a:t>Let’s say you are studying the relationship between study time (independent variable) and exam score (dependent variable).</a:t>
            </a:r>
          </a:p>
          <a:p>
            <a:pPr>
              <a:buFont typeface="Arial" panose="020B0604020202020204" pitchFamily="34" charset="0"/>
              <a:buChar char="•"/>
            </a:pPr>
            <a:r>
              <a:rPr lang="en-US" altLang="zh-CN" sz="2400" dirty="0">
                <a:solidFill>
                  <a:srgbClr val="00B050"/>
                </a:solidFill>
                <a:latin typeface="Times New Roman" panose="02020603050405020304" pitchFamily="18" charset="0"/>
                <a:cs typeface="Times New Roman" panose="02020603050405020304" pitchFamily="18" charset="0"/>
              </a:rPr>
              <a:t>When students increase their study time, their exam scores go up.</a:t>
            </a:r>
          </a:p>
          <a:p>
            <a:pPr>
              <a:buFont typeface="Arial" panose="020B0604020202020204" pitchFamily="34" charset="0"/>
              <a:buChar char="•"/>
            </a:pPr>
            <a:r>
              <a:rPr lang="en-US" altLang="zh-CN" sz="2400" dirty="0">
                <a:solidFill>
                  <a:srgbClr val="00B050"/>
                </a:solidFill>
                <a:latin typeface="Times New Roman" panose="02020603050405020304" pitchFamily="18" charset="0"/>
                <a:cs typeface="Times New Roman" panose="02020603050405020304" pitchFamily="18" charset="0"/>
              </a:rPr>
              <a:t>When students study less, their exam scores drop.</a:t>
            </a:r>
          </a:p>
          <a:p>
            <a:r>
              <a:rPr lang="en-US" altLang="zh-CN" sz="2400" dirty="0">
                <a:latin typeface="Times New Roman" panose="02020603050405020304" pitchFamily="18" charset="0"/>
                <a:cs typeface="Times New Roman" panose="02020603050405020304" pitchFamily="18" charset="0"/>
              </a:rPr>
              <a:t>This shows covariation — changes in the independent variable (study time) are associated with changes in the dependent variable (exam score).</a:t>
            </a:r>
          </a:p>
        </p:txBody>
      </p:sp>
    </p:spTree>
    <p:extLst>
      <p:ext uri="{BB962C8B-B14F-4D97-AF65-F5344CB8AC3E}">
        <p14:creationId xmlns:p14="http://schemas.microsoft.com/office/powerpoint/2010/main" val="2041373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7B3F0-E9E4-91B9-78D2-98834F692460}"/>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C5CB6274-AE66-5B18-5B00-456CD1AC20ED}"/>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3" name="TextBox 2">
            <a:extLst>
              <a:ext uri="{FF2B5EF4-FFF2-40B4-BE49-F238E27FC236}">
                <a16:creationId xmlns:a16="http://schemas.microsoft.com/office/drawing/2014/main" id="{18308523-FF6E-FB17-41A9-5D0C28C6BAC5}"/>
              </a:ext>
            </a:extLst>
          </p:cNvPr>
          <p:cNvSpPr txBox="1"/>
          <p:nvPr/>
        </p:nvSpPr>
        <p:spPr>
          <a:xfrm>
            <a:off x="850106" y="1252179"/>
            <a:ext cx="9872662" cy="1815882"/>
          </a:xfrm>
          <a:prstGeom prst="rect">
            <a:avLst/>
          </a:prstGeom>
          <a:solidFill>
            <a:schemeClr val="bg1"/>
          </a:solidFill>
        </p:spPr>
        <p:txBody>
          <a:bodyPr wrap="square">
            <a:spAutoFit/>
          </a:bodyPr>
          <a:lstStyle>
            <a:defPPr>
              <a:defRPr lang="en-US"/>
            </a:defPPr>
            <a:lvl1pPr algn="just">
              <a:defRPr sz="2800" b="0" i="0">
                <a:solidFill>
                  <a:srgbClr val="FF0000"/>
                </a:solidFill>
                <a:effectLst/>
                <a:latin typeface="Times New Roman" panose="02020603050405020304" pitchFamily="18" charset="0"/>
                <a:cs typeface="Times New Roman" panose="02020603050405020304" pitchFamily="18" charset="0"/>
              </a:defRPr>
            </a:lvl1pPr>
          </a:lstStyle>
          <a:p>
            <a:r>
              <a:rPr lang="en-US" altLang="zh-CN" b="1" dirty="0">
                <a:solidFill>
                  <a:schemeClr val="tx1"/>
                </a:solidFill>
              </a:rPr>
              <a:t>2. </a:t>
            </a:r>
            <a:r>
              <a:rPr lang="en-US" altLang="zh-CN" dirty="0">
                <a:solidFill>
                  <a:schemeClr val="tx1"/>
                </a:solidFill>
              </a:rPr>
              <a:t>The independent variable (the presumed causal factor) should precede the dependent variable. In other words, there must be a time sequence in which the two occur: the cause must occur before the effect.</a:t>
            </a:r>
            <a:endParaRPr lang="zh-CN" altLang="en-US" dirty="0">
              <a:solidFill>
                <a:schemeClr val="tx1"/>
              </a:solidFill>
            </a:endParaRPr>
          </a:p>
        </p:txBody>
      </p:sp>
      <p:sp>
        <p:nvSpPr>
          <p:cNvPr id="7" name="TextBox 6">
            <a:extLst>
              <a:ext uri="{FF2B5EF4-FFF2-40B4-BE49-F238E27FC236}">
                <a16:creationId xmlns:a16="http://schemas.microsoft.com/office/drawing/2014/main" id="{1BB70BE6-6BA9-0430-3743-2BAFFD368385}"/>
              </a:ext>
            </a:extLst>
          </p:cNvPr>
          <p:cNvSpPr txBox="1"/>
          <p:nvPr/>
        </p:nvSpPr>
        <p:spPr>
          <a:xfrm>
            <a:off x="2114551" y="3154146"/>
            <a:ext cx="9386888" cy="3416320"/>
          </a:xfrm>
          <a:prstGeom prst="rect">
            <a:avLst/>
          </a:prstGeom>
          <a:solidFill>
            <a:schemeClr val="accent2">
              <a:lumMod val="20000"/>
              <a:lumOff val="80000"/>
            </a:schemeClr>
          </a:solidFill>
        </p:spPr>
        <p:txBody>
          <a:bodyPr wrap="square">
            <a:spAutoFit/>
          </a:bodyPr>
          <a:lstStyle/>
          <a:p>
            <a:r>
              <a:rPr lang="en-US" altLang="zh-CN" sz="2400" b="1" dirty="0">
                <a:latin typeface="Times New Roman" panose="02020603050405020304" pitchFamily="18" charset="0"/>
                <a:cs typeface="Times New Roman" panose="02020603050405020304" pitchFamily="18" charset="0"/>
              </a:rPr>
              <a:t>Example:</a:t>
            </a:r>
            <a:br>
              <a:rPr lang="en-US" altLang="zh-CN" sz="2400" dirty="0">
                <a:latin typeface="Times New Roman" panose="02020603050405020304" pitchFamily="18" charset="0"/>
                <a:cs typeface="Times New Roman" panose="02020603050405020304" pitchFamily="18" charset="0"/>
              </a:rPr>
            </a:br>
            <a:r>
              <a:rPr lang="en-US" altLang="zh-CN" sz="2400" dirty="0">
                <a:latin typeface="Times New Roman" panose="02020603050405020304" pitchFamily="18" charset="0"/>
                <a:cs typeface="Times New Roman" panose="02020603050405020304" pitchFamily="18" charset="0"/>
              </a:rPr>
              <a:t>Suppose a researcher wants to study whether training programs (independent variable) improve employee performance (dependent variable).</a:t>
            </a:r>
          </a:p>
          <a:p>
            <a:pPr marL="342900" indent="-342900">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First, the organization conducts the training program.</a:t>
            </a:r>
          </a:p>
          <a:p>
            <a:pPr marL="342900" indent="-342900">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After the training, the researcher measures employee performance through evaluations or productivity levels.</a:t>
            </a:r>
          </a:p>
          <a:p>
            <a:r>
              <a:rPr lang="en-US" altLang="zh-CN" sz="2400" dirty="0">
                <a:latin typeface="Times New Roman" panose="02020603050405020304" pitchFamily="18" charset="0"/>
                <a:cs typeface="Times New Roman" panose="02020603050405020304" pitchFamily="18" charset="0"/>
              </a:rPr>
              <a:t>If the improvement in performance happens after the training, it suggests that the cause (training) came before the effect (better performance).</a:t>
            </a:r>
          </a:p>
        </p:txBody>
      </p:sp>
    </p:spTree>
    <p:extLst>
      <p:ext uri="{BB962C8B-B14F-4D97-AF65-F5344CB8AC3E}">
        <p14:creationId xmlns:p14="http://schemas.microsoft.com/office/powerpoint/2010/main" val="4065970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AE9FC-CA15-2F2E-4A20-ED8B3247CE6A}"/>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174D3221-0C58-1D4E-57CA-BA937FE4BF0E}"/>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3" name="TextBox 2">
            <a:extLst>
              <a:ext uri="{FF2B5EF4-FFF2-40B4-BE49-F238E27FC236}">
                <a16:creationId xmlns:a16="http://schemas.microsoft.com/office/drawing/2014/main" id="{94DBD939-583D-E7A2-37FE-E530224BD476}"/>
              </a:ext>
            </a:extLst>
          </p:cNvPr>
          <p:cNvSpPr txBox="1"/>
          <p:nvPr/>
        </p:nvSpPr>
        <p:spPr>
          <a:xfrm>
            <a:off x="850105" y="985077"/>
            <a:ext cx="10715625" cy="1384995"/>
          </a:xfrm>
          <a:prstGeom prst="rect">
            <a:avLst/>
          </a:prstGeom>
          <a:solidFill>
            <a:schemeClr val="bg1"/>
          </a:solidFill>
        </p:spPr>
        <p:txBody>
          <a:bodyPr wrap="square">
            <a:spAutoFit/>
          </a:bodyPr>
          <a:lstStyle>
            <a:defPPr>
              <a:defRPr lang="en-US"/>
            </a:defPPr>
            <a:lvl1pPr algn="just">
              <a:defRPr sz="2800" b="0" i="0">
                <a:solidFill>
                  <a:srgbClr val="FF0000"/>
                </a:solidFill>
                <a:effectLst/>
                <a:latin typeface="Times New Roman" panose="02020603050405020304" pitchFamily="18" charset="0"/>
                <a:cs typeface="Times New Roman" panose="02020603050405020304" pitchFamily="18" charset="0"/>
              </a:defRPr>
            </a:lvl1pPr>
          </a:lstStyle>
          <a:p>
            <a:r>
              <a:rPr lang="en-US" altLang="zh-CN" b="1" dirty="0">
                <a:solidFill>
                  <a:schemeClr val="tx1"/>
                </a:solidFill>
              </a:rPr>
              <a:t>3. </a:t>
            </a:r>
            <a:r>
              <a:rPr lang="en-US" altLang="zh-CN" dirty="0">
                <a:solidFill>
                  <a:schemeClr val="tx1"/>
                </a:solidFill>
              </a:rPr>
              <a:t>No other factor should be a possible cause of the change in the dependent variable. Hence, the researcher should control for the effects of other variables.</a:t>
            </a:r>
            <a:endParaRPr lang="zh-CN" altLang="en-US" dirty="0">
              <a:solidFill>
                <a:schemeClr val="tx1"/>
              </a:solidFill>
            </a:endParaRPr>
          </a:p>
        </p:txBody>
      </p:sp>
      <p:sp>
        <p:nvSpPr>
          <p:cNvPr id="7" name="TextBox 6">
            <a:extLst>
              <a:ext uri="{FF2B5EF4-FFF2-40B4-BE49-F238E27FC236}">
                <a16:creationId xmlns:a16="http://schemas.microsoft.com/office/drawing/2014/main" id="{15FEC78E-7FCA-C55C-E957-EF426AD53DB1}"/>
              </a:ext>
            </a:extLst>
          </p:cNvPr>
          <p:cNvSpPr txBox="1"/>
          <p:nvPr/>
        </p:nvSpPr>
        <p:spPr>
          <a:xfrm>
            <a:off x="1135856" y="2473235"/>
            <a:ext cx="10329864" cy="2123658"/>
          </a:xfrm>
          <a:prstGeom prst="rect">
            <a:avLst/>
          </a:prstGeom>
          <a:solidFill>
            <a:schemeClr val="accent2">
              <a:lumMod val="20000"/>
              <a:lumOff val="80000"/>
            </a:schemeClr>
          </a:solidFill>
        </p:spPr>
        <p:txBody>
          <a:bodyPr wrap="square">
            <a:spAutoFit/>
          </a:bodyPr>
          <a:lstStyle/>
          <a:p>
            <a:r>
              <a:rPr lang="en-US" altLang="zh-CN" sz="2200" b="1" dirty="0">
                <a:latin typeface="Times New Roman" panose="02020603050405020304" pitchFamily="18" charset="0"/>
                <a:cs typeface="Times New Roman" panose="02020603050405020304" pitchFamily="18" charset="0"/>
              </a:rPr>
              <a:t>Example:</a:t>
            </a:r>
            <a:br>
              <a:rPr lang="en-US" altLang="zh-CN" sz="2200" dirty="0">
                <a:latin typeface="Times New Roman" panose="02020603050405020304" pitchFamily="18" charset="0"/>
                <a:cs typeface="Times New Roman" panose="02020603050405020304" pitchFamily="18" charset="0"/>
              </a:rPr>
            </a:br>
            <a:r>
              <a:rPr lang="en-US" altLang="zh-CN" sz="2200" dirty="0">
                <a:latin typeface="Times New Roman" panose="02020603050405020304" pitchFamily="18" charset="0"/>
                <a:cs typeface="Times New Roman" panose="02020603050405020304" pitchFamily="18" charset="0"/>
              </a:rPr>
              <a:t>A researcher wants to find out whether exercise (independent variable) causes weight loss (dependent variable).</a:t>
            </a:r>
          </a:p>
          <a:p>
            <a:r>
              <a:rPr lang="en-US" altLang="zh-CN" sz="2200" dirty="0">
                <a:latin typeface="Times New Roman" panose="02020603050405020304" pitchFamily="18" charset="0"/>
                <a:cs typeface="Times New Roman" panose="02020603050405020304" pitchFamily="18" charset="0"/>
              </a:rPr>
              <a:t>However, other factors, such as </a:t>
            </a:r>
            <a:r>
              <a:rPr lang="en-US" altLang="zh-CN" sz="2200" dirty="0">
                <a:solidFill>
                  <a:srgbClr val="00B050"/>
                </a:solidFill>
                <a:latin typeface="Times New Roman" panose="02020603050405020304" pitchFamily="18" charset="0"/>
                <a:cs typeface="Times New Roman" panose="02020603050405020304" pitchFamily="18" charset="0"/>
              </a:rPr>
              <a:t>diet, sleep, or metabolism </a:t>
            </a:r>
            <a:r>
              <a:rPr lang="en-US" altLang="zh-CN" sz="2200" dirty="0">
                <a:latin typeface="Times New Roman" panose="02020603050405020304" pitchFamily="18" charset="0"/>
                <a:cs typeface="Times New Roman" panose="02020603050405020304" pitchFamily="18" charset="0"/>
              </a:rPr>
              <a:t>— can also affect weight loss. To make sure that exercise is the real cause, the researcher must control these other variables.</a:t>
            </a:r>
          </a:p>
        </p:txBody>
      </p:sp>
      <p:sp>
        <p:nvSpPr>
          <p:cNvPr id="4" name="TextBox 3">
            <a:extLst>
              <a:ext uri="{FF2B5EF4-FFF2-40B4-BE49-F238E27FC236}">
                <a16:creationId xmlns:a16="http://schemas.microsoft.com/office/drawing/2014/main" id="{3D24F59B-5D7A-2647-79C0-10DB814A79D0}"/>
              </a:ext>
            </a:extLst>
          </p:cNvPr>
          <p:cNvSpPr txBox="1"/>
          <p:nvPr/>
        </p:nvSpPr>
        <p:spPr>
          <a:xfrm>
            <a:off x="214313" y="4667840"/>
            <a:ext cx="11565731" cy="2123658"/>
          </a:xfrm>
          <a:prstGeom prst="rect">
            <a:avLst/>
          </a:prstGeom>
          <a:solidFill>
            <a:schemeClr val="accent2">
              <a:lumMod val="20000"/>
              <a:lumOff val="80000"/>
            </a:schemeClr>
          </a:solidFill>
        </p:spPr>
        <p:txBody>
          <a:bodyPr wrap="square">
            <a:spAutoFit/>
          </a:bodyPr>
          <a:lstStyle>
            <a:defPPr>
              <a:defRPr lang="en-US"/>
            </a:defPPr>
            <a:lvl1pPr>
              <a:defRPr sz="2400" b="1">
                <a:latin typeface="Times New Roman" panose="02020603050405020304" pitchFamily="18" charset="0"/>
                <a:cs typeface="Times New Roman" panose="02020603050405020304" pitchFamily="18" charset="0"/>
              </a:defRPr>
            </a:lvl1pPr>
          </a:lstStyle>
          <a:p>
            <a:r>
              <a:rPr lang="en-US" altLang="zh-CN" sz="2200" dirty="0"/>
              <a:t>Example:</a:t>
            </a:r>
          </a:p>
          <a:p>
            <a:pPr marL="342900" indent="-342900">
              <a:buFont typeface="Arial" panose="020B0604020202020204" pitchFamily="34" charset="0"/>
              <a:buChar char="•"/>
            </a:pPr>
            <a:r>
              <a:rPr lang="en-US" altLang="zh-CN" sz="2200" b="0" dirty="0"/>
              <a:t>All participants follow the same diet.</a:t>
            </a:r>
          </a:p>
          <a:p>
            <a:pPr marL="342900" indent="-342900">
              <a:buFont typeface="Arial" panose="020B0604020202020204" pitchFamily="34" charset="0"/>
              <a:buChar char="•"/>
            </a:pPr>
            <a:r>
              <a:rPr lang="en-US" altLang="zh-CN" sz="2200" b="0" dirty="0"/>
              <a:t>They get similar amounts of sleep.</a:t>
            </a:r>
          </a:p>
          <a:p>
            <a:pPr marL="342900" indent="-342900">
              <a:buFont typeface="Arial" panose="020B0604020202020204" pitchFamily="34" charset="0"/>
              <a:buChar char="•"/>
            </a:pPr>
            <a:r>
              <a:rPr lang="en-US" altLang="zh-CN" sz="2200" b="0" dirty="0"/>
              <a:t>The study lasts for the same duration for everyone.</a:t>
            </a:r>
          </a:p>
          <a:p>
            <a:r>
              <a:rPr lang="en-US" altLang="zh-CN" sz="2200" b="0" dirty="0">
                <a:solidFill>
                  <a:srgbClr val="00B050"/>
                </a:solidFill>
              </a:rPr>
              <a:t>After controlling these factors, if those who exercise more still lose more weight, it supports the conclusion that exercise,</a:t>
            </a:r>
            <a:r>
              <a:rPr lang="en-US" altLang="zh-CN" sz="2200" b="0" dirty="0"/>
              <a:t> not diet or sleep, caused the weight loss.</a:t>
            </a:r>
          </a:p>
        </p:txBody>
      </p:sp>
    </p:spTree>
    <p:extLst>
      <p:ext uri="{BB962C8B-B14F-4D97-AF65-F5344CB8AC3E}">
        <p14:creationId xmlns:p14="http://schemas.microsoft.com/office/powerpoint/2010/main" val="326889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ppt_x"/>
                                          </p:val>
                                        </p:tav>
                                        <p:tav tm="100000">
                                          <p:val>
                                            <p:strVal val="#ppt_x"/>
                                          </p:val>
                                        </p:tav>
                                      </p:tavLst>
                                    </p:anim>
                                    <p:anim calcmode="lin" valueType="num">
                                      <p:cBhvr additive="base">
                                        <p:cTn id="2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9CEE0-403A-C79B-8EE2-D45AC02C93F7}"/>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1DFA8DC6-DFD4-E695-6F19-EB90A7638F15}"/>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3" name="TextBox 2">
            <a:extLst>
              <a:ext uri="{FF2B5EF4-FFF2-40B4-BE49-F238E27FC236}">
                <a16:creationId xmlns:a16="http://schemas.microsoft.com/office/drawing/2014/main" id="{ED24A668-4174-2A07-9FC0-D7F2A8535860}"/>
              </a:ext>
            </a:extLst>
          </p:cNvPr>
          <p:cNvSpPr txBox="1"/>
          <p:nvPr/>
        </p:nvSpPr>
        <p:spPr>
          <a:xfrm>
            <a:off x="850105" y="985077"/>
            <a:ext cx="10715625" cy="954107"/>
          </a:xfrm>
          <a:prstGeom prst="rect">
            <a:avLst/>
          </a:prstGeom>
          <a:solidFill>
            <a:schemeClr val="bg1"/>
          </a:solidFill>
        </p:spPr>
        <p:txBody>
          <a:bodyPr wrap="square">
            <a:spAutoFit/>
          </a:bodyPr>
          <a:lstStyle>
            <a:defPPr>
              <a:defRPr lang="en-US"/>
            </a:defPPr>
            <a:lvl1pPr algn="just">
              <a:defRPr sz="2800" b="0" i="0">
                <a:solidFill>
                  <a:srgbClr val="FF0000"/>
                </a:solidFill>
                <a:effectLst/>
                <a:latin typeface="Times New Roman" panose="02020603050405020304" pitchFamily="18" charset="0"/>
                <a:cs typeface="Times New Roman" panose="02020603050405020304" pitchFamily="18" charset="0"/>
              </a:defRPr>
            </a:lvl1pPr>
          </a:lstStyle>
          <a:p>
            <a:r>
              <a:rPr lang="en-US" altLang="zh-CN" b="1" dirty="0">
                <a:solidFill>
                  <a:schemeClr val="tx1"/>
                </a:solidFill>
              </a:rPr>
              <a:t>4. </a:t>
            </a:r>
            <a:r>
              <a:rPr lang="en-US" altLang="zh-CN" dirty="0">
                <a:solidFill>
                  <a:schemeClr val="tx1"/>
                </a:solidFill>
              </a:rPr>
              <a:t>A logical explanation (a theory) is needed and it must explain why the independent variable affects the dependent variable</a:t>
            </a:r>
            <a:endParaRPr lang="zh-CN" altLang="en-US" dirty="0">
              <a:solidFill>
                <a:schemeClr val="tx1"/>
              </a:solidFill>
            </a:endParaRPr>
          </a:p>
        </p:txBody>
      </p:sp>
      <p:sp>
        <p:nvSpPr>
          <p:cNvPr id="7" name="TextBox 6">
            <a:extLst>
              <a:ext uri="{FF2B5EF4-FFF2-40B4-BE49-F238E27FC236}">
                <a16:creationId xmlns:a16="http://schemas.microsoft.com/office/drawing/2014/main" id="{298CACC1-B721-4489-7C8B-BDA7CFF48515}"/>
              </a:ext>
            </a:extLst>
          </p:cNvPr>
          <p:cNvSpPr txBox="1"/>
          <p:nvPr/>
        </p:nvSpPr>
        <p:spPr>
          <a:xfrm>
            <a:off x="1135856" y="2473235"/>
            <a:ext cx="10329864" cy="3477875"/>
          </a:xfrm>
          <a:prstGeom prst="rect">
            <a:avLst/>
          </a:prstGeom>
          <a:solidFill>
            <a:schemeClr val="accent2">
              <a:lumMod val="20000"/>
              <a:lumOff val="80000"/>
            </a:schemeClr>
          </a:solidFill>
        </p:spPr>
        <p:txBody>
          <a:bodyPr wrap="square">
            <a:spAutoFit/>
          </a:bodyPr>
          <a:lstStyle/>
          <a:p>
            <a:r>
              <a:rPr lang="en-US" altLang="zh-CN" sz="2200" b="1" dirty="0">
                <a:latin typeface="Times New Roman" panose="02020603050405020304" pitchFamily="18" charset="0"/>
                <a:cs typeface="Times New Roman" panose="02020603050405020304" pitchFamily="18" charset="0"/>
              </a:rPr>
              <a:t>Example:</a:t>
            </a:r>
            <a:br>
              <a:rPr lang="en-US" altLang="zh-CN" sz="2200" dirty="0">
                <a:latin typeface="Times New Roman" panose="02020603050405020304" pitchFamily="18" charset="0"/>
                <a:cs typeface="Times New Roman" panose="02020603050405020304" pitchFamily="18" charset="0"/>
              </a:rPr>
            </a:br>
            <a:r>
              <a:rPr lang="en-US" altLang="zh-CN" sz="2200" dirty="0">
                <a:latin typeface="Times New Roman" panose="02020603050405020304" pitchFamily="18" charset="0"/>
                <a:cs typeface="Times New Roman" panose="02020603050405020304" pitchFamily="18" charset="0"/>
              </a:rPr>
              <a:t>A researcher studies how employee motivation (independent variable) affects job performance (dependent variable).</a:t>
            </a:r>
          </a:p>
          <a:p>
            <a:r>
              <a:rPr lang="en-US" altLang="zh-CN" sz="2200" dirty="0">
                <a:latin typeface="Times New Roman" panose="02020603050405020304" pitchFamily="18" charset="0"/>
                <a:cs typeface="Times New Roman" panose="02020603050405020304" pitchFamily="18" charset="0"/>
              </a:rPr>
              <a:t>To justify this relationship, a logical explanation or theory is needed, for instance, </a:t>
            </a:r>
            <a:r>
              <a:rPr lang="en-US" altLang="zh-CN" sz="2200" u="sng" dirty="0">
                <a:latin typeface="Times New Roman" panose="02020603050405020304" pitchFamily="18" charset="0"/>
                <a:cs typeface="Times New Roman" panose="02020603050405020304" pitchFamily="18" charset="0"/>
              </a:rPr>
              <a:t>Self-Determination Theory (SDT).</a:t>
            </a:r>
          </a:p>
          <a:p>
            <a:r>
              <a:rPr lang="en-US" altLang="zh-CN" sz="2200" u="sng" dirty="0">
                <a:solidFill>
                  <a:srgbClr val="00B050"/>
                </a:solidFill>
                <a:latin typeface="Times New Roman" panose="02020603050405020304" pitchFamily="18" charset="0"/>
                <a:cs typeface="Times New Roman" panose="02020603050405020304" pitchFamily="18" charset="0"/>
              </a:rPr>
              <a:t>According to SDT, when employees feel motivated because their work satisfies needs for autonomy, competence, and relatedness, they become more engaged and perform better.</a:t>
            </a:r>
          </a:p>
          <a:p>
            <a:endParaRPr lang="en-US" altLang="zh-CN" sz="2200" dirty="0">
              <a:solidFill>
                <a:srgbClr val="00B050"/>
              </a:solidFill>
              <a:latin typeface="Times New Roman" panose="02020603050405020304" pitchFamily="18" charset="0"/>
              <a:cs typeface="Times New Roman" panose="02020603050405020304" pitchFamily="18" charset="0"/>
            </a:endParaRPr>
          </a:p>
          <a:p>
            <a:r>
              <a:rPr lang="en-US" altLang="zh-CN" sz="2200" dirty="0">
                <a:latin typeface="Times New Roman" panose="02020603050405020304" pitchFamily="18" charset="0"/>
                <a:cs typeface="Times New Roman" panose="02020603050405020304" pitchFamily="18" charset="0"/>
              </a:rPr>
              <a:t>So, the theory explains why motivation leads to higher performance:</a:t>
            </a:r>
          </a:p>
          <a:p>
            <a:r>
              <a:rPr lang="en-US" altLang="zh-CN" sz="2200" dirty="0">
                <a:solidFill>
                  <a:srgbClr val="00B050"/>
                </a:solidFill>
                <a:latin typeface="Times New Roman" panose="02020603050405020304" pitchFamily="18" charset="0"/>
                <a:cs typeface="Times New Roman" panose="02020603050405020304" pitchFamily="18" charset="0"/>
              </a:rPr>
              <a:t>Motivation → increases effort, focus, and persistence → leads to better job performance.</a:t>
            </a:r>
          </a:p>
        </p:txBody>
      </p:sp>
    </p:spTree>
    <p:extLst>
      <p:ext uri="{BB962C8B-B14F-4D97-AF65-F5344CB8AC3E}">
        <p14:creationId xmlns:p14="http://schemas.microsoft.com/office/powerpoint/2010/main" val="1142628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B336F-6550-CCE6-F065-51367B5E8C4C}"/>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880B96C1-5832-2568-2A99-333F63F84755}"/>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grpSp>
        <p:nvGrpSpPr>
          <p:cNvPr id="8" name="Group 7">
            <a:extLst>
              <a:ext uri="{FF2B5EF4-FFF2-40B4-BE49-F238E27FC236}">
                <a16:creationId xmlns:a16="http://schemas.microsoft.com/office/drawing/2014/main" id="{8FED1D5C-2165-CB23-71E1-8F52A273E6BE}"/>
              </a:ext>
            </a:extLst>
          </p:cNvPr>
          <p:cNvGrpSpPr/>
          <p:nvPr/>
        </p:nvGrpSpPr>
        <p:grpSpPr>
          <a:xfrm>
            <a:off x="738187" y="692693"/>
            <a:ext cx="10715625" cy="6079582"/>
            <a:chOff x="738187" y="692693"/>
            <a:chExt cx="10715625" cy="6079582"/>
          </a:xfrm>
        </p:grpSpPr>
        <p:pic>
          <p:nvPicPr>
            <p:cNvPr id="4" name="Picture 3">
              <a:extLst>
                <a:ext uri="{FF2B5EF4-FFF2-40B4-BE49-F238E27FC236}">
                  <a16:creationId xmlns:a16="http://schemas.microsoft.com/office/drawing/2014/main" id="{E7F1640A-E48A-BD3E-2A27-BE5D87EACD1B}"/>
                </a:ext>
              </a:extLst>
            </p:cNvPr>
            <p:cNvPicPr>
              <a:picLocks noChangeAspect="1"/>
            </p:cNvPicPr>
            <p:nvPr/>
          </p:nvPicPr>
          <p:blipFill>
            <a:blip r:embed="rId3"/>
            <a:stretch>
              <a:fillRect/>
            </a:stretch>
          </p:blipFill>
          <p:spPr>
            <a:xfrm>
              <a:off x="738187" y="692693"/>
              <a:ext cx="10715625" cy="2393407"/>
            </a:xfrm>
            <a:prstGeom prst="rect">
              <a:avLst/>
            </a:prstGeom>
          </p:spPr>
        </p:pic>
        <p:pic>
          <p:nvPicPr>
            <p:cNvPr id="6" name="Picture 5">
              <a:extLst>
                <a:ext uri="{FF2B5EF4-FFF2-40B4-BE49-F238E27FC236}">
                  <a16:creationId xmlns:a16="http://schemas.microsoft.com/office/drawing/2014/main" id="{98577A12-5D18-6062-DC93-6F2C3D110FBC}"/>
                </a:ext>
              </a:extLst>
            </p:cNvPr>
            <p:cNvPicPr>
              <a:picLocks noChangeAspect="1"/>
            </p:cNvPicPr>
            <p:nvPr/>
          </p:nvPicPr>
          <p:blipFill>
            <a:blip r:embed="rId4"/>
            <a:stretch>
              <a:fillRect/>
            </a:stretch>
          </p:blipFill>
          <p:spPr>
            <a:xfrm>
              <a:off x="738187" y="3086101"/>
              <a:ext cx="10715625" cy="3686174"/>
            </a:xfrm>
            <a:prstGeom prst="rect">
              <a:avLst/>
            </a:prstGeom>
          </p:spPr>
        </p:pic>
      </p:grpSp>
    </p:spTree>
    <p:extLst>
      <p:ext uri="{BB962C8B-B14F-4D97-AF65-F5344CB8AC3E}">
        <p14:creationId xmlns:p14="http://schemas.microsoft.com/office/powerpoint/2010/main" val="4142422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AD4F9-F63D-DE32-6EE7-8B86C98AB299}"/>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5BD5E0D0-C550-8A2A-0A62-3A247C246646}"/>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pic>
        <p:nvPicPr>
          <p:cNvPr id="3" name="Picture 2">
            <a:extLst>
              <a:ext uri="{FF2B5EF4-FFF2-40B4-BE49-F238E27FC236}">
                <a16:creationId xmlns:a16="http://schemas.microsoft.com/office/drawing/2014/main" id="{3D80512B-BC21-EF85-1B7B-AF184B86F386}"/>
              </a:ext>
            </a:extLst>
          </p:cNvPr>
          <p:cNvPicPr>
            <a:picLocks noChangeAspect="1"/>
          </p:cNvPicPr>
          <p:nvPr/>
        </p:nvPicPr>
        <p:blipFill>
          <a:blip r:embed="rId3"/>
          <a:stretch>
            <a:fillRect/>
          </a:stretch>
        </p:blipFill>
        <p:spPr>
          <a:xfrm>
            <a:off x="1297759" y="992973"/>
            <a:ext cx="10053659" cy="4121951"/>
          </a:xfrm>
          <a:prstGeom prst="rect">
            <a:avLst/>
          </a:prstGeom>
        </p:spPr>
      </p:pic>
    </p:spTree>
    <p:extLst>
      <p:ext uri="{BB962C8B-B14F-4D97-AF65-F5344CB8AC3E}">
        <p14:creationId xmlns:p14="http://schemas.microsoft.com/office/powerpoint/2010/main" val="3170930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C3804-E4B2-748A-16C4-CB56C8E8AD96}"/>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4B87B218-4193-6D85-7F96-4E70A679CD8D}"/>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2" name="Title 1">
            <a:extLst>
              <a:ext uri="{FF2B5EF4-FFF2-40B4-BE49-F238E27FC236}">
                <a16:creationId xmlns:a16="http://schemas.microsoft.com/office/drawing/2014/main" id="{58B48734-8305-203B-EA1B-A1D3D9895997}"/>
              </a:ext>
            </a:extLst>
          </p:cNvPr>
          <p:cNvSpPr txBox="1">
            <a:spLocks/>
          </p:cNvSpPr>
          <p:nvPr/>
        </p:nvSpPr>
        <p:spPr>
          <a:xfrm>
            <a:off x="3914775" y="664118"/>
            <a:ext cx="2528888" cy="621506"/>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dirty="0">
                <a:solidFill>
                  <a:srgbClr val="FF0000"/>
                </a:solidFill>
                <a:latin typeface="Times New Roman" panose="02020603050405020304" pitchFamily="18" charset="0"/>
                <a:cs typeface="Times New Roman" panose="02020603050405020304" pitchFamily="18" charset="0"/>
              </a:rPr>
              <a:t>Other Names</a:t>
            </a:r>
          </a:p>
        </p:txBody>
      </p:sp>
      <p:sp>
        <p:nvSpPr>
          <p:cNvPr id="4" name="Content Placeholder 2">
            <a:extLst>
              <a:ext uri="{FF2B5EF4-FFF2-40B4-BE49-F238E27FC236}">
                <a16:creationId xmlns:a16="http://schemas.microsoft.com/office/drawing/2014/main" id="{DEA235E7-96FA-2064-3818-0F837029C5DB}"/>
              </a:ext>
            </a:extLst>
          </p:cNvPr>
          <p:cNvSpPr>
            <a:spLocks noGrp="1"/>
          </p:cNvSpPr>
          <p:nvPr>
            <p:ph idx="1"/>
          </p:nvPr>
        </p:nvSpPr>
        <p:spPr>
          <a:xfrm>
            <a:off x="2578895" y="1507332"/>
            <a:ext cx="6343650" cy="3443288"/>
          </a:xfrm>
          <a:solidFill>
            <a:schemeClr val="bg1"/>
          </a:solidFill>
        </p:spPr>
        <p:txBody>
          <a:bodyPr>
            <a:normAutofit/>
          </a:bodyPr>
          <a:lstStyle/>
          <a:p>
            <a:pPr marL="0" indent="0">
              <a:buNone/>
            </a:pPr>
            <a:r>
              <a:rPr dirty="0">
                <a:highlight>
                  <a:srgbClr val="FFFF00"/>
                </a:highlight>
                <a:latin typeface="Times New Roman" panose="02020603050405020304" pitchFamily="18" charset="0"/>
                <a:cs typeface="Times New Roman" panose="02020603050405020304" pitchFamily="18" charset="0"/>
              </a:rPr>
              <a:t>Dependent Variable | Independent Variable</a:t>
            </a:r>
          </a:p>
          <a:p>
            <a:r>
              <a:rPr dirty="0">
                <a:latin typeface="Times New Roman" panose="02020603050405020304" pitchFamily="18" charset="0"/>
                <a:cs typeface="Times New Roman" panose="02020603050405020304" pitchFamily="18" charset="0"/>
              </a:rPr>
              <a:t>Explained</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 Explanatory</a:t>
            </a:r>
          </a:p>
          <a:p>
            <a:r>
              <a:rPr dirty="0">
                <a:latin typeface="Times New Roman" panose="02020603050405020304" pitchFamily="18" charset="0"/>
                <a:cs typeface="Times New Roman" panose="02020603050405020304" pitchFamily="18" charset="0"/>
              </a:rPr>
              <a:t>Predictand</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 Predictor</a:t>
            </a:r>
          </a:p>
          <a:p>
            <a:r>
              <a:rPr dirty="0" err="1">
                <a:latin typeface="Times New Roman" panose="02020603050405020304" pitchFamily="18" charset="0"/>
                <a:cs typeface="Times New Roman" panose="02020603050405020304" pitchFamily="18" charset="0"/>
              </a:rPr>
              <a:t>Regressand</a:t>
            </a:r>
            <a:r>
              <a:rP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Regressor</a:t>
            </a:r>
          </a:p>
          <a:p>
            <a:r>
              <a:rPr dirty="0">
                <a:latin typeface="Times New Roman" panose="02020603050405020304" pitchFamily="18" charset="0"/>
                <a:cs typeface="Times New Roman" panose="02020603050405020304" pitchFamily="18" charset="0"/>
              </a:rPr>
              <a:t>Response </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Stimulus</a:t>
            </a:r>
          </a:p>
          <a:p>
            <a:r>
              <a:rPr dirty="0">
                <a:latin typeface="Times New Roman" panose="02020603050405020304" pitchFamily="18" charset="0"/>
                <a:cs typeface="Times New Roman" panose="02020603050405020304" pitchFamily="18" charset="0"/>
              </a:rPr>
              <a:t>Outcome </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Covariate</a:t>
            </a:r>
          </a:p>
        </p:txBody>
      </p:sp>
    </p:spTree>
    <p:extLst>
      <p:ext uri="{BB962C8B-B14F-4D97-AF65-F5344CB8AC3E}">
        <p14:creationId xmlns:p14="http://schemas.microsoft.com/office/powerpoint/2010/main" val="1055219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13998-1692-E42B-12FB-3868189D304F}"/>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DCDBE4C4-6DE1-56A5-2584-518B0E62FD24}"/>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712E4D49-10FF-9C46-3D8D-560B1863EED2}"/>
              </a:ext>
            </a:extLst>
          </p:cNvPr>
          <p:cNvSpPr txBox="1"/>
          <p:nvPr/>
        </p:nvSpPr>
        <p:spPr>
          <a:xfrm>
            <a:off x="528638" y="938956"/>
            <a:ext cx="10915649" cy="5632311"/>
          </a:xfrm>
          <a:prstGeom prst="rect">
            <a:avLst/>
          </a:prstGeom>
          <a:solidFill>
            <a:schemeClr val="bg1"/>
          </a:solidFill>
        </p:spPr>
        <p:txBody>
          <a:bodyPr wrap="square">
            <a:spAutoFit/>
          </a:bodyPr>
          <a:lstStyle/>
          <a:p>
            <a:r>
              <a:rPr lang="en-US" altLang="zh-CN" sz="3000" b="1" i="0" dirty="0">
                <a:solidFill>
                  <a:srgbClr val="FF0000"/>
                </a:solidFill>
                <a:effectLst/>
                <a:latin typeface="Times New Roman" panose="02020603050405020304" pitchFamily="18" charset="0"/>
                <a:cs typeface="Times New Roman" panose="02020603050405020304" pitchFamily="18" charset="0"/>
              </a:rPr>
              <a:t>Test Your Understanding.</a:t>
            </a:r>
          </a:p>
          <a:p>
            <a:r>
              <a:rPr lang="en-US" altLang="zh-CN" sz="3000" b="0" i="0" dirty="0">
                <a:solidFill>
                  <a:srgbClr val="000000"/>
                </a:solidFill>
                <a:effectLst/>
                <a:latin typeface="Times New Roman" panose="02020603050405020304" pitchFamily="18" charset="0"/>
                <a:cs typeface="Times New Roman" panose="02020603050405020304" pitchFamily="18" charset="0"/>
              </a:rPr>
              <a:t>For each question, choose the dependent variable. A tip for completing: </a:t>
            </a:r>
            <a:r>
              <a:rPr lang="en-US" altLang="zh-CN" sz="3000" dirty="0">
                <a:solidFill>
                  <a:srgbClr val="000000"/>
                </a:solidFill>
                <a:latin typeface="Times New Roman" panose="02020603050405020304" pitchFamily="18" charset="0"/>
                <a:cs typeface="Times New Roman" panose="02020603050405020304" pitchFamily="18" charset="0"/>
              </a:rPr>
              <a:t>F</a:t>
            </a:r>
            <a:r>
              <a:rPr lang="en-US" altLang="zh-CN" sz="3000" b="0" i="0" dirty="0">
                <a:solidFill>
                  <a:srgbClr val="000000"/>
                </a:solidFill>
                <a:effectLst/>
                <a:latin typeface="Times New Roman" panose="02020603050405020304" pitchFamily="18" charset="0"/>
                <a:cs typeface="Times New Roman" panose="02020603050405020304" pitchFamily="18" charset="0"/>
              </a:rPr>
              <a:t>irst choose the two main variables from the statement. Then figure out which one is the DV (it’s the one that depends on the other one). </a:t>
            </a:r>
          </a:p>
          <a:p>
            <a:r>
              <a:rPr lang="en-US" altLang="zh-CN" sz="3000" b="1" i="0" dirty="0">
                <a:solidFill>
                  <a:srgbClr val="000000"/>
                </a:solidFill>
                <a:effectLst/>
                <a:latin typeface="Times New Roman" panose="02020603050405020304" pitchFamily="18" charset="0"/>
                <a:cs typeface="Times New Roman" panose="02020603050405020304" pitchFamily="18" charset="0"/>
              </a:rPr>
              <a:t>Q1: </a:t>
            </a:r>
            <a:r>
              <a:rPr lang="en-US" altLang="zh-CN" sz="3000" b="0" i="0" dirty="0">
                <a:solidFill>
                  <a:srgbClr val="000000"/>
                </a:solidFill>
                <a:effectLst/>
                <a:latin typeface="Times New Roman" panose="02020603050405020304" pitchFamily="18" charset="0"/>
                <a:cs typeface="Times New Roman" panose="02020603050405020304" pitchFamily="18" charset="0"/>
              </a:rPr>
              <a:t>You are conducting an experiment to see if exposure to more sunlight increases happiness levels for workers who typically spend the entire day in windowless offices.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Sunlight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Happiness level</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Windowless offices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Time of day.</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0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F415C-DB35-E420-05D4-5DAA44657973}"/>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936BD1E4-1AF8-493E-C722-AFA0E0FAD758}"/>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C37A8FC5-5BB4-99A8-8D72-A6C195028FE3}"/>
              </a:ext>
            </a:extLst>
          </p:cNvPr>
          <p:cNvSpPr txBox="1"/>
          <p:nvPr/>
        </p:nvSpPr>
        <p:spPr>
          <a:xfrm>
            <a:off x="528638" y="938956"/>
            <a:ext cx="10915649" cy="3785652"/>
          </a:xfrm>
          <a:prstGeom prst="rect">
            <a:avLst/>
          </a:prstGeom>
          <a:solidFill>
            <a:schemeClr val="bg1"/>
          </a:solidFill>
        </p:spPr>
        <p:txBody>
          <a:bodyPr wrap="square">
            <a:spAutoFit/>
          </a:bodyPr>
          <a:lstStyle/>
          <a:p>
            <a:r>
              <a:rPr lang="en-US" altLang="zh-CN" sz="3000" b="1" i="0" dirty="0">
                <a:solidFill>
                  <a:srgbClr val="000000"/>
                </a:solidFill>
                <a:effectLst/>
                <a:latin typeface="Times New Roman" panose="02020603050405020304" pitchFamily="18" charset="0"/>
                <a:cs typeface="Times New Roman" panose="02020603050405020304" pitchFamily="18" charset="0"/>
              </a:rPr>
              <a:t>Q2: </a:t>
            </a:r>
            <a:r>
              <a:rPr lang="en-US" altLang="zh-CN" sz="3000" b="0" i="0" dirty="0">
                <a:solidFill>
                  <a:srgbClr val="000000"/>
                </a:solidFill>
                <a:effectLst/>
                <a:latin typeface="Times New Roman" panose="02020603050405020304" pitchFamily="18" charset="0"/>
                <a:cs typeface="Times New Roman" panose="02020603050405020304" pitchFamily="18" charset="0"/>
              </a:rPr>
              <a:t>An experiment in a climate-controlled greenhouse concludes that water level, fertilizer and nutrient level in soil affects how tall plants grow. Plants grew an average of 12″ taller if treated with optimal resources.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The greenhouse</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Water level, fertilizer and nutrient levels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How tall the plants grow</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Optimal resources.</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7507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B71AD-5CB9-5D6E-F55F-3EAF5BF1B0AD}"/>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B05A3562-0B9E-1EC1-9D0D-830389BC03D1}"/>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538C6D79-6823-22AC-1B46-E4028BD0811E}"/>
              </a:ext>
            </a:extLst>
          </p:cNvPr>
          <p:cNvSpPr txBox="1"/>
          <p:nvPr/>
        </p:nvSpPr>
        <p:spPr>
          <a:xfrm>
            <a:off x="528638" y="938956"/>
            <a:ext cx="10915649" cy="3785652"/>
          </a:xfrm>
          <a:prstGeom prst="rect">
            <a:avLst/>
          </a:prstGeom>
          <a:solidFill>
            <a:schemeClr val="bg1"/>
          </a:solidFill>
        </p:spPr>
        <p:txBody>
          <a:bodyPr wrap="square">
            <a:spAutoFit/>
          </a:bodyPr>
          <a:lstStyle/>
          <a:p>
            <a:pPr algn="just"/>
            <a:r>
              <a:rPr lang="en-US" altLang="zh-CN" sz="3000" b="1" i="0" dirty="0">
                <a:solidFill>
                  <a:srgbClr val="000000"/>
                </a:solidFill>
                <a:effectLst/>
                <a:latin typeface="Times New Roman" panose="02020603050405020304" pitchFamily="18" charset="0"/>
                <a:cs typeface="Times New Roman" panose="02020603050405020304" pitchFamily="18" charset="0"/>
              </a:rPr>
              <a:t>Q3: </a:t>
            </a:r>
            <a:r>
              <a:rPr lang="en-US" altLang="zh-CN" sz="3000" b="0" i="0" dirty="0">
                <a:solidFill>
                  <a:srgbClr val="000000"/>
                </a:solidFill>
                <a:effectLst/>
                <a:latin typeface="Times New Roman" panose="02020603050405020304" pitchFamily="18" charset="0"/>
                <a:cs typeface="Times New Roman" panose="02020603050405020304" pitchFamily="18" charset="0"/>
              </a:rPr>
              <a:t>A researcher suspects that a cholera outbreak is happening because of tainted wells in the city. Most of the cases are clustered around public wells that draw their water from the underground aquifer.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The underground aquifer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Cholera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Wells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The City</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66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008EE-1781-53C1-C57E-FF3A6E563360}"/>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AC36135D-AB69-DEE2-FB5E-5E197CCA7A25}"/>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5F6BE024-50B6-2037-B0E6-36E454F03F32}"/>
              </a:ext>
            </a:extLst>
          </p:cNvPr>
          <p:cNvSpPr txBox="1"/>
          <p:nvPr/>
        </p:nvSpPr>
        <p:spPr>
          <a:xfrm>
            <a:off x="528638" y="938956"/>
            <a:ext cx="10915649" cy="3785652"/>
          </a:xfrm>
          <a:prstGeom prst="rect">
            <a:avLst/>
          </a:prstGeom>
          <a:solidFill>
            <a:schemeClr val="bg1"/>
          </a:solidFill>
        </p:spPr>
        <p:txBody>
          <a:bodyPr wrap="square">
            <a:spAutoFit/>
          </a:bodyPr>
          <a:lstStyle/>
          <a:p>
            <a:pPr algn="just"/>
            <a:r>
              <a:rPr lang="en-US" altLang="zh-CN" sz="3000" b="1" i="0" dirty="0">
                <a:solidFill>
                  <a:srgbClr val="000000"/>
                </a:solidFill>
                <a:effectLst/>
                <a:latin typeface="Times New Roman" panose="02020603050405020304" pitchFamily="18" charset="0"/>
                <a:cs typeface="Times New Roman" panose="02020603050405020304" pitchFamily="18" charset="0"/>
              </a:rPr>
              <a:t>Q4: </a:t>
            </a:r>
            <a:r>
              <a:rPr lang="en-US" altLang="zh-CN" sz="3000" b="0" i="0" dirty="0">
                <a:solidFill>
                  <a:srgbClr val="000000"/>
                </a:solidFill>
                <a:effectLst/>
                <a:latin typeface="Times New Roman" panose="02020603050405020304" pitchFamily="18" charset="0"/>
                <a:cs typeface="Times New Roman" panose="02020603050405020304" pitchFamily="18" charset="0"/>
              </a:rPr>
              <a:t>Studies have shown that regular vaccination is effective in controlling the spread of influenza. However, studies also show that a combination of two antiviral medications (oseltamivir and zanamivir) can also control the spread of the disease.</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Oseltamivir</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Zanamivir</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Both 1 and 2</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Influenza</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6519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68C58-A1AE-4941-FA2F-DD0F2BE5FB8E}"/>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4C17F42F-EAF0-C889-B1A2-DEDEDC303965}"/>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CEDDE9B1-D4E5-0807-F4BE-6BCEC110F206}"/>
              </a:ext>
            </a:extLst>
          </p:cNvPr>
          <p:cNvSpPr txBox="1"/>
          <p:nvPr/>
        </p:nvSpPr>
        <p:spPr>
          <a:xfrm>
            <a:off x="528638" y="938956"/>
            <a:ext cx="10915649" cy="3785652"/>
          </a:xfrm>
          <a:prstGeom prst="rect">
            <a:avLst/>
          </a:prstGeom>
          <a:solidFill>
            <a:schemeClr val="bg1"/>
          </a:solidFill>
        </p:spPr>
        <p:txBody>
          <a:bodyPr wrap="square">
            <a:spAutoFit/>
          </a:bodyPr>
          <a:lstStyle/>
          <a:p>
            <a:pPr algn="just"/>
            <a:r>
              <a:rPr lang="en-US" altLang="zh-CN" sz="3000" b="1" i="0" dirty="0">
                <a:solidFill>
                  <a:srgbClr val="000000"/>
                </a:solidFill>
                <a:effectLst/>
                <a:latin typeface="Times New Roman" panose="02020603050405020304" pitchFamily="18" charset="0"/>
                <a:cs typeface="Times New Roman" panose="02020603050405020304" pitchFamily="18" charset="0"/>
              </a:rPr>
              <a:t>Q5: </a:t>
            </a:r>
            <a:r>
              <a:rPr lang="en-US" altLang="zh-CN" sz="3000" b="0" i="0" dirty="0">
                <a:solidFill>
                  <a:srgbClr val="000000"/>
                </a:solidFill>
                <a:effectLst/>
                <a:latin typeface="Times New Roman" panose="02020603050405020304" pitchFamily="18" charset="0"/>
                <a:cs typeface="Times New Roman" panose="02020603050405020304" pitchFamily="18" charset="0"/>
              </a:rPr>
              <a:t>Researchers investigated whether the introduction of a carbon taxation policy reduces national carbon emissions through changes in industrial energy consumption behavior. The study compared countries with and without carbon taxes over a 10-year period.</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Carbon taxation policy</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Industrial energy consumption behavior</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National carbon emissions</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Countries</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381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538C2-B6BF-75A4-B9A3-B96415F569A6}"/>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11E0D9C5-7E8E-A132-3EA4-3051E2C23AFB}"/>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7F21989E-1E83-A4A6-291A-26860E13D7A4}"/>
              </a:ext>
            </a:extLst>
          </p:cNvPr>
          <p:cNvSpPr txBox="1"/>
          <p:nvPr/>
        </p:nvSpPr>
        <p:spPr>
          <a:xfrm>
            <a:off x="528637" y="692693"/>
            <a:ext cx="10915649" cy="2862322"/>
          </a:xfrm>
          <a:prstGeom prst="rect">
            <a:avLst/>
          </a:prstGeom>
          <a:solidFill>
            <a:schemeClr val="bg1"/>
          </a:solidFill>
        </p:spPr>
        <p:txBody>
          <a:bodyPr wrap="square">
            <a:spAutoFit/>
          </a:bodyPr>
          <a:lstStyle/>
          <a:p>
            <a:pPr algn="just"/>
            <a:r>
              <a:rPr lang="en-US" altLang="zh-CN" sz="3000" b="1" i="0" dirty="0">
                <a:solidFill>
                  <a:srgbClr val="FF0000"/>
                </a:solidFill>
                <a:effectLst/>
                <a:latin typeface="Times New Roman" panose="02020603050405020304" pitchFamily="18" charset="0"/>
                <a:cs typeface="Times New Roman" panose="02020603050405020304" pitchFamily="18" charset="0"/>
              </a:rPr>
              <a:t>Moderating variable:</a:t>
            </a:r>
          </a:p>
          <a:p>
            <a:pPr algn="just"/>
            <a:r>
              <a:rPr lang="en-US" altLang="zh-CN" sz="3000" dirty="0">
                <a:latin typeface="Times New Roman" panose="02020603050405020304" pitchFamily="18" charset="0"/>
                <a:cs typeface="Times New Roman" panose="02020603050405020304" pitchFamily="18" charset="0"/>
              </a:rPr>
              <a:t>The moderating variable is one that has a strong contingent effect on the independent variable–dependent variable relationship. That is, the presence of a third variable (the moderating variable) modifies the original relationship between the independent and the dependent variables. </a:t>
            </a:r>
            <a:endParaRPr lang="zh-CN" altLang="en-US" sz="3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70F80-9179-C437-53AB-7E66A5EC5763}"/>
              </a:ext>
            </a:extLst>
          </p:cNvPr>
          <p:cNvSpPr txBox="1"/>
          <p:nvPr/>
        </p:nvSpPr>
        <p:spPr>
          <a:xfrm>
            <a:off x="973335" y="3555015"/>
            <a:ext cx="10026252" cy="2862322"/>
          </a:xfrm>
          <a:prstGeom prst="rect">
            <a:avLst/>
          </a:prstGeom>
          <a:solidFill>
            <a:schemeClr val="bg1"/>
          </a:solidFill>
        </p:spPr>
        <p:txBody>
          <a:bodyPr wrap="square">
            <a:spAutoFit/>
          </a:bodyPr>
          <a:lstStyle/>
          <a:p>
            <a:pPr algn="just"/>
            <a:r>
              <a:rPr lang="en-US" altLang="zh-CN" sz="3000" b="0" i="0" dirty="0">
                <a:solidFill>
                  <a:srgbClr val="231F20"/>
                </a:solidFill>
                <a:effectLst/>
                <a:latin typeface="Times New Roman" panose="02020603050405020304" pitchFamily="18" charset="0"/>
                <a:cs typeface="Times New Roman" panose="02020603050405020304" pitchFamily="18" charset="0"/>
              </a:rPr>
              <a:t>So, whenever the relationship between the independent variable and the dependent variable becomes contingent or dependent on another variable, we say that the third variable has a moderating effect on the independent variable–dependent variable relationship. The variable that moderates the relationship is known as the moderating variable.</a:t>
            </a:r>
            <a:endParaRPr lang="zh-CN" altLang="en-US" sz="3000" dirty="0">
              <a:latin typeface="Times New Roman" panose="02020603050405020304" pitchFamily="18" charset="0"/>
              <a:cs typeface="Times New Roman" panose="02020603050405020304" pitchFamily="18" charset="0"/>
            </a:endParaRPr>
          </a:p>
        </p:txBody>
      </p:sp>
      <p:sp>
        <p:nvSpPr>
          <p:cNvPr id="8" name="Arrow: Right 7">
            <a:hlinkClick r:id="rId3" action="ppaction://hlinksldjump"/>
            <a:extLst>
              <a:ext uri="{FF2B5EF4-FFF2-40B4-BE49-F238E27FC236}">
                <a16:creationId xmlns:a16="http://schemas.microsoft.com/office/drawing/2014/main" id="{F25E5416-DC2C-B63F-1667-5E2575555999}"/>
              </a:ext>
            </a:extLst>
          </p:cNvPr>
          <p:cNvSpPr/>
          <p:nvPr/>
        </p:nvSpPr>
        <p:spPr>
          <a:xfrm>
            <a:off x="10251281" y="3150394"/>
            <a:ext cx="1071563" cy="3286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00444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B9165-6E39-B273-8F97-84D4B2312713}"/>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112CC8B4-0FE0-5A61-F9A8-3B39AD591BDA}"/>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pic>
        <p:nvPicPr>
          <p:cNvPr id="3" name="Picture 2">
            <a:extLst>
              <a:ext uri="{FF2B5EF4-FFF2-40B4-BE49-F238E27FC236}">
                <a16:creationId xmlns:a16="http://schemas.microsoft.com/office/drawing/2014/main" id="{2BCC8516-46D5-9A00-891B-39B78A7F1A7C}"/>
              </a:ext>
            </a:extLst>
          </p:cNvPr>
          <p:cNvPicPr>
            <a:picLocks noChangeAspect="1"/>
          </p:cNvPicPr>
          <p:nvPr/>
        </p:nvPicPr>
        <p:blipFill>
          <a:blip r:embed="rId3"/>
          <a:stretch>
            <a:fillRect/>
          </a:stretch>
        </p:blipFill>
        <p:spPr>
          <a:xfrm>
            <a:off x="592931" y="778668"/>
            <a:ext cx="9908413" cy="5800725"/>
          </a:xfrm>
          <a:prstGeom prst="rect">
            <a:avLst/>
          </a:prstGeom>
        </p:spPr>
      </p:pic>
      <p:pic>
        <p:nvPicPr>
          <p:cNvPr id="6" name="Picture 5">
            <a:extLst>
              <a:ext uri="{FF2B5EF4-FFF2-40B4-BE49-F238E27FC236}">
                <a16:creationId xmlns:a16="http://schemas.microsoft.com/office/drawing/2014/main" id="{AE73C0E6-0A25-3968-075C-26563CB1B4D4}"/>
              </a:ext>
            </a:extLst>
          </p:cNvPr>
          <p:cNvPicPr>
            <a:picLocks noChangeAspect="1"/>
          </p:cNvPicPr>
          <p:nvPr/>
        </p:nvPicPr>
        <p:blipFill>
          <a:blip r:embed="rId4">
            <a:duotone>
              <a:prstClr val="black"/>
              <a:schemeClr val="accent4">
                <a:tint val="45000"/>
                <a:satMod val="400000"/>
              </a:schemeClr>
            </a:duotone>
          </a:blip>
          <a:stretch>
            <a:fillRect/>
          </a:stretch>
        </p:blipFill>
        <p:spPr>
          <a:xfrm>
            <a:off x="5353373" y="782021"/>
            <a:ext cx="6736556" cy="2171951"/>
          </a:xfrm>
          <a:prstGeom prst="rect">
            <a:avLst/>
          </a:prstGeom>
        </p:spPr>
      </p:pic>
      <p:pic>
        <p:nvPicPr>
          <p:cNvPr id="8" name="Picture 7">
            <a:extLst>
              <a:ext uri="{FF2B5EF4-FFF2-40B4-BE49-F238E27FC236}">
                <a16:creationId xmlns:a16="http://schemas.microsoft.com/office/drawing/2014/main" id="{EE03481A-FC4B-75F5-27B3-D3B50F01023A}"/>
              </a:ext>
            </a:extLst>
          </p:cNvPr>
          <p:cNvPicPr>
            <a:picLocks noChangeAspect="1"/>
          </p:cNvPicPr>
          <p:nvPr/>
        </p:nvPicPr>
        <p:blipFill>
          <a:blip r:embed="rId5">
            <a:duotone>
              <a:prstClr val="black"/>
              <a:srgbClr val="D9C3A5">
                <a:tint val="50000"/>
                <a:satMod val="180000"/>
              </a:srgbClr>
            </a:duotone>
          </a:blip>
          <a:stretch>
            <a:fillRect/>
          </a:stretch>
        </p:blipFill>
        <p:spPr>
          <a:xfrm>
            <a:off x="2200258" y="3245708"/>
            <a:ext cx="9299764" cy="3449165"/>
          </a:xfrm>
          <a:prstGeom prst="rect">
            <a:avLst/>
          </a:prstGeom>
        </p:spPr>
      </p:pic>
      <p:sp>
        <p:nvSpPr>
          <p:cNvPr id="9" name="Arrow: Right 8">
            <a:hlinkClick r:id="rId6" action="ppaction://hlinksldjump"/>
            <a:extLst>
              <a:ext uri="{FF2B5EF4-FFF2-40B4-BE49-F238E27FC236}">
                <a16:creationId xmlns:a16="http://schemas.microsoft.com/office/drawing/2014/main" id="{77265103-9467-F419-D2B4-DCD60ABCFED7}"/>
              </a:ext>
            </a:extLst>
          </p:cNvPr>
          <p:cNvSpPr/>
          <p:nvPr/>
        </p:nvSpPr>
        <p:spPr>
          <a:xfrm flipH="1">
            <a:off x="10951371" y="260042"/>
            <a:ext cx="935830" cy="329770"/>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0464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59D5D-4E4A-EEE7-0F42-20E7C4BF38F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54975C4B-4B43-AF6A-6ADC-1461EEF5F587}"/>
              </a:ext>
            </a:extLst>
          </p:cNvPr>
          <p:cNvGrpSpPr/>
          <p:nvPr/>
        </p:nvGrpSpPr>
        <p:grpSpPr>
          <a:xfrm>
            <a:off x="200025" y="354787"/>
            <a:ext cx="11791949" cy="5781693"/>
            <a:chOff x="200025" y="354787"/>
            <a:chExt cx="11791949" cy="5781693"/>
          </a:xfrm>
        </p:grpSpPr>
        <p:pic>
          <p:nvPicPr>
            <p:cNvPr id="7" name="Picture 6">
              <a:extLst>
                <a:ext uri="{FF2B5EF4-FFF2-40B4-BE49-F238E27FC236}">
                  <a16:creationId xmlns:a16="http://schemas.microsoft.com/office/drawing/2014/main" id="{ECF5A1DA-33CD-E020-A8F4-09E086E1E397}"/>
                </a:ext>
              </a:extLst>
            </p:cNvPr>
            <p:cNvPicPr>
              <a:picLocks noChangeAspect="1"/>
            </p:cNvPicPr>
            <p:nvPr/>
          </p:nvPicPr>
          <p:blipFill>
            <a:blip r:embed="rId3"/>
            <a:stretch>
              <a:fillRect/>
            </a:stretch>
          </p:blipFill>
          <p:spPr>
            <a:xfrm>
              <a:off x="200025" y="354787"/>
              <a:ext cx="6707981" cy="5781693"/>
            </a:xfrm>
            <a:prstGeom prst="rect">
              <a:avLst/>
            </a:prstGeom>
          </p:spPr>
        </p:pic>
        <p:pic>
          <p:nvPicPr>
            <p:cNvPr id="13" name="Picture 12">
              <a:extLst>
                <a:ext uri="{FF2B5EF4-FFF2-40B4-BE49-F238E27FC236}">
                  <a16:creationId xmlns:a16="http://schemas.microsoft.com/office/drawing/2014/main" id="{4509024A-21A7-C604-B46F-B84E56D14AF7}"/>
                </a:ext>
              </a:extLst>
            </p:cNvPr>
            <p:cNvPicPr>
              <a:picLocks noChangeAspect="1"/>
            </p:cNvPicPr>
            <p:nvPr/>
          </p:nvPicPr>
          <p:blipFill>
            <a:blip r:embed="rId4"/>
            <a:stretch>
              <a:fillRect/>
            </a:stretch>
          </p:blipFill>
          <p:spPr>
            <a:xfrm>
              <a:off x="6908005" y="631029"/>
              <a:ext cx="5083969" cy="840584"/>
            </a:xfrm>
            <a:prstGeom prst="rect">
              <a:avLst/>
            </a:prstGeom>
          </p:spPr>
        </p:pic>
        <p:pic>
          <p:nvPicPr>
            <p:cNvPr id="15" name="Picture 14">
              <a:extLst>
                <a:ext uri="{FF2B5EF4-FFF2-40B4-BE49-F238E27FC236}">
                  <a16:creationId xmlns:a16="http://schemas.microsoft.com/office/drawing/2014/main" id="{A43A9778-68DD-EC33-D181-FA4168C107C3}"/>
                </a:ext>
              </a:extLst>
            </p:cNvPr>
            <p:cNvPicPr>
              <a:picLocks noChangeAspect="1"/>
            </p:cNvPicPr>
            <p:nvPr/>
          </p:nvPicPr>
          <p:blipFill>
            <a:blip r:embed="rId5"/>
            <a:stretch>
              <a:fillRect/>
            </a:stretch>
          </p:blipFill>
          <p:spPr>
            <a:xfrm>
              <a:off x="6908005" y="1471613"/>
              <a:ext cx="2171716" cy="428625"/>
            </a:xfrm>
            <a:prstGeom prst="rect">
              <a:avLst/>
            </a:prstGeom>
          </p:spPr>
        </p:pic>
        <p:pic>
          <p:nvPicPr>
            <p:cNvPr id="17" name="Picture 16">
              <a:extLst>
                <a:ext uri="{FF2B5EF4-FFF2-40B4-BE49-F238E27FC236}">
                  <a16:creationId xmlns:a16="http://schemas.microsoft.com/office/drawing/2014/main" id="{0E79A901-64CC-1C6D-603F-DAE67D5FD0D3}"/>
                </a:ext>
              </a:extLst>
            </p:cNvPr>
            <p:cNvPicPr>
              <a:picLocks noChangeAspect="1"/>
            </p:cNvPicPr>
            <p:nvPr/>
          </p:nvPicPr>
          <p:blipFill>
            <a:blip r:embed="rId6"/>
            <a:stretch>
              <a:fillRect/>
            </a:stretch>
          </p:blipFill>
          <p:spPr>
            <a:xfrm>
              <a:off x="9079720" y="1471614"/>
              <a:ext cx="2912253" cy="428624"/>
            </a:xfrm>
            <a:prstGeom prst="rect">
              <a:avLst/>
            </a:prstGeom>
          </p:spPr>
        </p:pic>
      </p:grpSp>
      <p:pic>
        <p:nvPicPr>
          <p:cNvPr id="20" name="Picture 19">
            <a:extLst>
              <a:ext uri="{FF2B5EF4-FFF2-40B4-BE49-F238E27FC236}">
                <a16:creationId xmlns:a16="http://schemas.microsoft.com/office/drawing/2014/main" id="{14695602-BE9D-31DD-4659-3F910E7D1666}"/>
              </a:ext>
            </a:extLst>
          </p:cNvPr>
          <p:cNvPicPr>
            <a:picLocks noChangeAspect="1"/>
          </p:cNvPicPr>
          <p:nvPr/>
        </p:nvPicPr>
        <p:blipFill>
          <a:blip r:embed="rId7">
            <a:duotone>
              <a:prstClr val="black"/>
              <a:srgbClr val="D9C3A5">
                <a:tint val="50000"/>
                <a:satMod val="180000"/>
              </a:srgbClr>
            </a:duotone>
          </a:blip>
          <a:stretch>
            <a:fillRect/>
          </a:stretch>
        </p:blipFill>
        <p:spPr>
          <a:xfrm>
            <a:off x="4321969" y="2361000"/>
            <a:ext cx="7586677" cy="3775480"/>
          </a:xfrm>
          <a:prstGeom prst="rect">
            <a:avLst/>
          </a:prstGeom>
        </p:spPr>
      </p:pic>
    </p:spTree>
    <p:extLst>
      <p:ext uri="{BB962C8B-B14F-4D97-AF65-F5344CB8AC3E}">
        <p14:creationId xmlns:p14="http://schemas.microsoft.com/office/powerpoint/2010/main" val="350430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CF263-9412-C483-92A0-81F839331EA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0E34753-3EA5-91B2-06E9-D3E2D924EF6F}"/>
              </a:ext>
            </a:extLst>
          </p:cNvPr>
          <p:cNvSpPr txBox="1">
            <a:spLocks noGrp="1"/>
          </p:cNvSpPr>
          <p:nvPr>
            <p:ph type="title"/>
          </p:nvPr>
        </p:nvSpPr>
        <p:spPr>
          <a:xfrm>
            <a:off x="1678782" y="200025"/>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3" name="TextBox 2">
            <a:extLst>
              <a:ext uri="{FF2B5EF4-FFF2-40B4-BE49-F238E27FC236}">
                <a16:creationId xmlns:a16="http://schemas.microsoft.com/office/drawing/2014/main" id="{5403AC61-B840-8DD1-113F-0CEECFE37BD9}"/>
              </a:ext>
            </a:extLst>
          </p:cNvPr>
          <p:cNvSpPr txBox="1"/>
          <p:nvPr/>
        </p:nvSpPr>
        <p:spPr>
          <a:xfrm>
            <a:off x="721518" y="778168"/>
            <a:ext cx="10915649" cy="3785652"/>
          </a:xfrm>
          <a:prstGeom prst="rect">
            <a:avLst/>
          </a:prstGeom>
          <a:solidFill>
            <a:schemeClr val="bg1"/>
          </a:solidFill>
        </p:spPr>
        <p:txBody>
          <a:bodyPr wrap="square">
            <a:spAutoFit/>
          </a:bodyPr>
          <a:lstStyle/>
          <a:p>
            <a:pPr algn="just"/>
            <a:r>
              <a:rPr lang="en-US" altLang="zh-CN" sz="3000" b="1" i="0" dirty="0">
                <a:solidFill>
                  <a:srgbClr val="FF0000"/>
                </a:solidFill>
                <a:effectLst/>
                <a:latin typeface="Times New Roman" panose="02020603050405020304" pitchFamily="18" charset="0"/>
                <a:cs typeface="Times New Roman" panose="02020603050405020304" pitchFamily="18" charset="0"/>
              </a:rPr>
              <a:t>Mediating variable:</a:t>
            </a:r>
          </a:p>
          <a:p>
            <a:pPr algn="just"/>
            <a:r>
              <a:rPr lang="en-US" altLang="zh-CN" sz="3000" dirty="0">
                <a:latin typeface="Times New Roman" panose="02020603050405020304" pitchFamily="18" charset="0"/>
                <a:cs typeface="Times New Roman" panose="02020603050405020304" pitchFamily="18" charset="0"/>
              </a:rPr>
              <a:t>A mediating (or intervening) variable is a factor that comes into effect between the independent and dependent variables, showing how or why the independent variable influences the outcome. It represents a process that unfolds over time: first, the independent variable affects the mediator, and then the mediator impacts the dependent variable. In simple terms, a mediating variable helps explain the connection or pathway through which one variable influences another.</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999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1D6B2-5A47-1AB3-BA8A-F23D1592552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5480004-26A9-35C7-C82C-75030E3B6ADC}"/>
              </a:ext>
            </a:extLst>
          </p:cNvPr>
          <p:cNvPicPr>
            <a:picLocks noChangeAspect="1"/>
          </p:cNvPicPr>
          <p:nvPr/>
        </p:nvPicPr>
        <p:blipFill>
          <a:blip r:embed="rId3"/>
          <a:stretch>
            <a:fillRect/>
          </a:stretch>
        </p:blipFill>
        <p:spPr>
          <a:xfrm>
            <a:off x="435769" y="535781"/>
            <a:ext cx="11258550" cy="5257800"/>
          </a:xfrm>
          <a:prstGeom prst="rect">
            <a:avLst/>
          </a:prstGeom>
        </p:spPr>
      </p:pic>
    </p:spTree>
    <p:extLst>
      <p:ext uri="{BB962C8B-B14F-4D97-AF65-F5344CB8AC3E}">
        <p14:creationId xmlns:p14="http://schemas.microsoft.com/office/powerpoint/2010/main" val="931628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E5A42-8CCB-C92F-AB4B-0C6055553A9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8C554A7-3BB3-A6A0-D245-C1750E2D0585}"/>
              </a:ext>
            </a:extLst>
          </p:cNvPr>
          <p:cNvPicPr>
            <a:picLocks noChangeAspect="1"/>
          </p:cNvPicPr>
          <p:nvPr/>
        </p:nvPicPr>
        <p:blipFill>
          <a:blip r:embed="rId3">
            <a:duotone>
              <a:prstClr val="black"/>
              <a:srgbClr val="D9C3A5">
                <a:tint val="50000"/>
                <a:satMod val="180000"/>
              </a:srgbClr>
            </a:duotone>
          </a:blip>
          <a:stretch>
            <a:fillRect/>
          </a:stretch>
        </p:blipFill>
        <p:spPr>
          <a:xfrm>
            <a:off x="1607345" y="828675"/>
            <a:ext cx="8301036" cy="4021931"/>
          </a:xfrm>
          <a:prstGeom prst="rect">
            <a:avLst/>
          </a:prstGeom>
        </p:spPr>
      </p:pic>
    </p:spTree>
    <p:extLst>
      <p:ext uri="{BB962C8B-B14F-4D97-AF65-F5344CB8AC3E}">
        <p14:creationId xmlns:p14="http://schemas.microsoft.com/office/powerpoint/2010/main" val="179017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4808C-8136-6CAE-B885-80155BD689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045ADB-CF62-7E3F-F875-2A07F1F15339}"/>
              </a:ext>
            </a:extLst>
          </p:cNvPr>
          <p:cNvSpPr txBox="1"/>
          <p:nvPr/>
        </p:nvSpPr>
        <p:spPr>
          <a:xfrm>
            <a:off x="1085850" y="300394"/>
            <a:ext cx="10329863" cy="5693866"/>
          </a:xfrm>
          <a:prstGeom prst="rect">
            <a:avLst/>
          </a:prstGeom>
          <a:solidFill>
            <a:schemeClr val="bg1"/>
          </a:solidFill>
        </p:spPr>
        <p:txBody>
          <a:bodyPr wrap="square">
            <a:spAutoFit/>
          </a:bodyPr>
          <a:lstStyle/>
          <a:p>
            <a:pPr algn="just"/>
            <a:r>
              <a:rPr lang="en-US" altLang="zh-CN" sz="2800" dirty="0">
                <a:solidFill>
                  <a:srgbClr val="231F20"/>
                </a:solidFill>
                <a:latin typeface="Times New Roman" panose="02020603050405020304" pitchFamily="18" charset="0"/>
                <a:cs typeface="Times New Roman" panose="02020603050405020304" pitchFamily="18" charset="0"/>
              </a:rPr>
              <a:t>H</a:t>
            </a:r>
            <a:r>
              <a:rPr lang="en-US" altLang="zh-CN" sz="2800" b="0" i="0" dirty="0">
                <a:solidFill>
                  <a:srgbClr val="231F20"/>
                </a:solidFill>
                <a:effectLst/>
                <a:latin typeface="Times New Roman" panose="02020603050405020304" pitchFamily="18" charset="0"/>
                <a:cs typeface="Times New Roman" panose="02020603050405020304" pitchFamily="18" charset="0"/>
              </a:rPr>
              <a:t>ow the inclusion of the moderating variable, “managerial expertise” in the foregoing example, would change the model or affect the relationships. The new set of relationships that would emerge in the presence of the moderator is depicted in Figure 5.7. As can be seen, managerial expertise moderates the relationship between workforce diversity and creative synergy. In other words, creative synergy will not</a:t>
            </a:r>
            <a:r>
              <a:rPr lang="en-US" altLang="zh-CN" sz="2800" dirty="0">
                <a:latin typeface="Times New Roman" panose="02020603050405020304" pitchFamily="18" charset="0"/>
                <a:cs typeface="Times New Roman" panose="02020603050405020304" pitchFamily="18" charset="0"/>
              </a:rPr>
              <a:t> result from the multifaceted problem‐solving skills of the diverse workforce unless the manager is capable of harnessing that synergy by creatively coordinating the different skills. If the manager lacks the expertise to perform this role, then no matter how many different problem‐solving skills the diverse workforce might have, synergy will just not surface. Instead of functioning effectively, the organization might just remain static, or even deteriorate.</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28217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66A99-9FC9-819B-4F76-BC48EAEB457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3B7407D-5B17-22FF-CA1B-FBFE811624AE}"/>
              </a:ext>
            </a:extLst>
          </p:cNvPr>
          <p:cNvPicPr>
            <a:picLocks noChangeAspect="1"/>
          </p:cNvPicPr>
          <p:nvPr/>
        </p:nvPicPr>
        <p:blipFill>
          <a:blip r:embed="rId3">
            <a:duotone>
              <a:prstClr val="black"/>
              <a:srgbClr val="D9C3A5">
                <a:tint val="50000"/>
                <a:satMod val="180000"/>
              </a:srgbClr>
            </a:duotone>
          </a:blip>
          <a:stretch>
            <a:fillRect/>
          </a:stretch>
        </p:blipFill>
        <p:spPr>
          <a:xfrm>
            <a:off x="1266825" y="828676"/>
            <a:ext cx="9163050" cy="4869669"/>
          </a:xfrm>
          <a:prstGeom prst="rect">
            <a:avLst/>
          </a:prstGeom>
        </p:spPr>
      </p:pic>
    </p:spTree>
    <p:extLst>
      <p:ext uri="{BB962C8B-B14F-4D97-AF65-F5344CB8AC3E}">
        <p14:creationId xmlns:p14="http://schemas.microsoft.com/office/powerpoint/2010/main" val="198992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8FF9F-54A2-1AF9-F86A-37E6944AB5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6020B4-3F83-B50A-904A-A37FAF4E00AB}"/>
              </a:ext>
            </a:extLst>
          </p:cNvPr>
          <p:cNvSpPr txBox="1"/>
          <p:nvPr/>
        </p:nvSpPr>
        <p:spPr>
          <a:xfrm>
            <a:off x="207169" y="151179"/>
            <a:ext cx="11658600" cy="6555641"/>
          </a:xfrm>
          <a:prstGeom prst="rect">
            <a:avLst/>
          </a:prstGeom>
          <a:solidFill>
            <a:schemeClr val="bg1"/>
          </a:solidFill>
        </p:spPr>
        <p:txBody>
          <a:bodyPr wrap="square">
            <a:spAutoFit/>
          </a:bodyPr>
          <a:lstStyle/>
          <a:p>
            <a:pPr algn="just"/>
            <a:r>
              <a:rPr lang="en-US" altLang="zh-CN" sz="3000" dirty="0">
                <a:solidFill>
                  <a:srgbClr val="231F20"/>
                </a:solidFill>
                <a:latin typeface="Times New Roman" panose="02020603050405020304" pitchFamily="18" charset="0"/>
                <a:cs typeface="Times New Roman" panose="02020603050405020304" pitchFamily="18" charset="0"/>
              </a:rPr>
              <a:t>It is now easy to see </a:t>
            </a:r>
            <a:r>
              <a:rPr lang="en-US" altLang="zh-CN" sz="3000" dirty="0">
                <a:solidFill>
                  <a:srgbClr val="FF0000"/>
                </a:solidFill>
                <a:latin typeface="Times New Roman" panose="02020603050405020304" pitchFamily="18" charset="0"/>
                <a:cs typeface="Times New Roman" panose="02020603050405020304" pitchFamily="18" charset="0"/>
              </a:rPr>
              <a:t>what the differences </a:t>
            </a:r>
            <a:r>
              <a:rPr lang="en-US" altLang="zh-CN" sz="3000" dirty="0">
                <a:solidFill>
                  <a:srgbClr val="231F20"/>
                </a:solidFill>
                <a:latin typeface="Times New Roman" panose="02020603050405020304" pitchFamily="18" charset="0"/>
                <a:cs typeface="Times New Roman" panose="02020603050405020304" pitchFamily="18" charset="0"/>
              </a:rPr>
              <a:t>are among an </a:t>
            </a:r>
            <a:r>
              <a:rPr lang="en-US" altLang="zh-CN" sz="3000" dirty="0">
                <a:solidFill>
                  <a:srgbClr val="FF0000"/>
                </a:solidFill>
                <a:latin typeface="Times New Roman" panose="02020603050405020304" pitchFamily="18" charset="0"/>
                <a:cs typeface="Times New Roman" panose="02020603050405020304" pitchFamily="18" charset="0"/>
              </a:rPr>
              <a:t>independent variable</a:t>
            </a:r>
            <a:r>
              <a:rPr lang="en-US" altLang="zh-CN" sz="3000" dirty="0">
                <a:solidFill>
                  <a:srgbClr val="231F20"/>
                </a:solidFill>
                <a:latin typeface="Times New Roman" panose="02020603050405020304" pitchFamily="18" charset="0"/>
                <a:cs typeface="Times New Roman" panose="02020603050405020304" pitchFamily="18" charset="0"/>
              </a:rPr>
              <a:t>, a </a:t>
            </a:r>
            <a:r>
              <a:rPr lang="en-US" altLang="zh-CN" sz="3000" dirty="0">
                <a:solidFill>
                  <a:srgbClr val="FF0000"/>
                </a:solidFill>
                <a:latin typeface="Times New Roman" panose="02020603050405020304" pitchFamily="18" charset="0"/>
                <a:cs typeface="Times New Roman" panose="02020603050405020304" pitchFamily="18" charset="0"/>
              </a:rPr>
              <a:t>mediating variable</a:t>
            </a:r>
            <a:r>
              <a:rPr lang="en-US" altLang="zh-CN" sz="3000" dirty="0">
                <a:solidFill>
                  <a:srgbClr val="231F20"/>
                </a:solidFill>
                <a:latin typeface="Times New Roman" panose="02020603050405020304" pitchFamily="18" charset="0"/>
                <a:cs typeface="Times New Roman" panose="02020603050405020304" pitchFamily="18" charset="0"/>
              </a:rPr>
              <a:t>, and a </a:t>
            </a:r>
            <a:r>
              <a:rPr lang="en-US" altLang="zh-CN" sz="3000" dirty="0">
                <a:solidFill>
                  <a:srgbClr val="FF0000"/>
                </a:solidFill>
                <a:latin typeface="Times New Roman" panose="02020603050405020304" pitchFamily="18" charset="0"/>
                <a:cs typeface="Times New Roman" panose="02020603050405020304" pitchFamily="18" charset="0"/>
              </a:rPr>
              <a:t>moderating variable</a:t>
            </a:r>
            <a:r>
              <a:rPr lang="en-US" altLang="zh-CN" sz="3000" dirty="0">
                <a:solidFill>
                  <a:srgbClr val="231F20"/>
                </a:solidFill>
                <a:latin typeface="Times New Roman" panose="02020603050405020304" pitchFamily="18" charset="0"/>
                <a:cs typeface="Times New Roman" panose="02020603050405020304" pitchFamily="18" charset="0"/>
              </a:rPr>
              <a:t>. </a:t>
            </a:r>
            <a:r>
              <a:rPr lang="en-US" altLang="zh-CN" sz="3000" dirty="0">
                <a:solidFill>
                  <a:srgbClr val="00B050"/>
                </a:solidFill>
                <a:highlight>
                  <a:srgbClr val="FFFF00"/>
                </a:highlight>
                <a:latin typeface="Times New Roman" panose="02020603050405020304" pitchFamily="18" charset="0"/>
                <a:cs typeface="Times New Roman" panose="02020603050405020304" pitchFamily="18" charset="0"/>
              </a:rPr>
              <a:t>The independent variable helps to explain the variance in the dependent variable</a:t>
            </a:r>
            <a:r>
              <a:rPr lang="en-US" altLang="zh-CN" sz="3000" dirty="0">
                <a:solidFill>
                  <a:srgbClr val="231F20"/>
                </a:solidFill>
                <a:latin typeface="Times New Roman" panose="02020603050405020304" pitchFamily="18" charset="0"/>
                <a:cs typeface="Times New Roman" panose="02020603050405020304" pitchFamily="18" charset="0"/>
              </a:rPr>
              <a:t>; </a:t>
            </a:r>
            <a:r>
              <a:rPr lang="en-US" altLang="zh-CN" sz="3000" dirty="0">
                <a:solidFill>
                  <a:schemeClr val="accent2">
                    <a:lumMod val="75000"/>
                  </a:schemeClr>
                </a:solidFill>
                <a:highlight>
                  <a:srgbClr val="00FF00"/>
                </a:highlight>
                <a:latin typeface="Times New Roman" panose="02020603050405020304" pitchFamily="18" charset="0"/>
                <a:cs typeface="Times New Roman" panose="02020603050405020304" pitchFamily="18" charset="0"/>
              </a:rPr>
              <a:t>the mediating variable surfaces at time t</a:t>
            </a:r>
            <a:r>
              <a:rPr lang="en-US" altLang="zh-CN" sz="3000" baseline="-25000" dirty="0">
                <a:solidFill>
                  <a:schemeClr val="accent2">
                    <a:lumMod val="75000"/>
                  </a:schemeClr>
                </a:solidFill>
                <a:highlight>
                  <a:srgbClr val="00FF00"/>
                </a:highlight>
                <a:latin typeface="Times New Roman" panose="02020603050405020304" pitchFamily="18" charset="0"/>
                <a:cs typeface="Times New Roman" panose="02020603050405020304" pitchFamily="18" charset="0"/>
              </a:rPr>
              <a:t>2</a:t>
            </a:r>
            <a:r>
              <a:rPr lang="en-US" altLang="zh-CN" sz="3000" dirty="0">
                <a:solidFill>
                  <a:schemeClr val="accent2">
                    <a:lumMod val="75000"/>
                  </a:schemeClr>
                </a:solidFill>
                <a:highlight>
                  <a:srgbClr val="00FF00"/>
                </a:highlight>
                <a:latin typeface="Times New Roman" panose="02020603050405020304" pitchFamily="18" charset="0"/>
                <a:cs typeface="Times New Roman" panose="02020603050405020304" pitchFamily="18" charset="0"/>
              </a:rPr>
              <a:t> as a function of the independent variable</a:t>
            </a:r>
            <a:r>
              <a:rPr lang="en-US" altLang="zh-CN" sz="3000" dirty="0">
                <a:solidFill>
                  <a:srgbClr val="231F20"/>
                </a:solidFill>
                <a:highlight>
                  <a:srgbClr val="00FF00"/>
                </a:highlight>
                <a:latin typeface="Times New Roman" panose="02020603050405020304" pitchFamily="18" charset="0"/>
                <a:cs typeface="Times New Roman" panose="02020603050405020304" pitchFamily="18" charset="0"/>
              </a:rPr>
              <a:t>, </a:t>
            </a:r>
            <a:r>
              <a:rPr lang="en-US" altLang="zh-CN" sz="3000" dirty="0">
                <a:solidFill>
                  <a:schemeClr val="accent2">
                    <a:lumMod val="75000"/>
                  </a:schemeClr>
                </a:solidFill>
                <a:highlight>
                  <a:srgbClr val="00FF00"/>
                </a:highlight>
                <a:latin typeface="Times New Roman" panose="02020603050405020304" pitchFamily="18" charset="0"/>
                <a:cs typeface="Times New Roman" panose="02020603050405020304" pitchFamily="18" charset="0"/>
              </a:rPr>
              <a:t>which also helps us to conceptualize the relationship between the independent and dependent variables;</a:t>
            </a:r>
            <a:r>
              <a:rPr lang="en-US" altLang="zh-CN" sz="3000" dirty="0">
                <a:solidFill>
                  <a:schemeClr val="accent2">
                    <a:lumMod val="75000"/>
                  </a:schemeClr>
                </a:solidFill>
                <a:latin typeface="Times New Roman" panose="02020603050405020304" pitchFamily="18" charset="0"/>
                <a:cs typeface="Times New Roman" panose="02020603050405020304" pitchFamily="18" charset="0"/>
              </a:rPr>
              <a:t> </a:t>
            </a:r>
            <a:r>
              <a:rPr lang="en-US" altLang="zh-CN" sz="3000" dirty="0">
                <a:solidFill>
                  <a:srgbClr val="231F20"/>
                </a:solidFill>
                <a:latin typeface="Times New Roman" panose="02020603050405020304" pitchFamily="18" charset="0"/>
                <a:cs typeface="Times New Roman" panose="02020603050405020304" pitchFamily="18" charset="0"/>
              </a:rPr>
              <a:t>and the </a:t>
            </a:r>
            <a:r>
              <a:rPr lang="en-US" altLang="zh-CN" sz="3000" dirty="0">
                <a:solidFill>
                  <a:srgbClr val="00B0F0"/>
                </a:solidFill>
                <a:highlight>
                  <a:srgbClr val="000000"/>
                </a:highlight>
                <a:latin typeface="Times New Roman" panose="02020603050405020304" pitchFamily="18" charset="0"/>
                <a:cs typeface="Times New Roman" panose="02020603050405020304" pitchFamily="18" charset="0"/>
              </a:rPr>
              <a:t>moderating variable has a contingent effect on the relationship between two variables. </a:t>
            </a:r>
            <a:r>
              <a:rPr lang="en-US" altLang="zh-CN" sz="3000" dirty="0">
                <a:solidFill>
                  <a:srgbClr val="231F20"/>
                </a:solidFill>
                <a:latin typeface="Times New Roman" panose="02020603050405020304" pitchFamily="18" charset="0"/>
                <a:cs typeface="Times New Roman" panose="02020603050405020304" pitchFamily="18" charset="0"/>
              </a:rPr>
              <a:t>To put it differently, while the </a:t>
            </a:r>
            <a:r>
              <a:rPr lang="en-US" altLang="zh-CN" sz="3000" dirty="0">
                <a:solidFill>
                  <a:srgbClr val="FF0000"/>
                </a:solidFill>
                <a:latin typeface="Times New Roman" panose="02020603050405020304" pitchFamily="18" charset="0"/>
                <a:cs typeface="Times New Roman" panose="02020603050405020304" pitchFamily="18" charset="0"/>
              </a:rPr>
              <a:t>independent variable explains the variance in the dependent variable</a:t>
            </a:r>
            <a:r>
              <a:rPr lang="en-US" altLang="zh-CN" sz="3000" dirty="0">
                <a:solidFill>
                  <a:srgbClr val="231F20"/>
                </a:solidFill>
                <a:latin typeface="Times New Roman" panose="02020603050405020304" pitchFamily="18" charset="0"/>
                <a:cs typeface="Times New Roman" panose="02020603050405020304" pitchFamily="18" charset="0"/>
              </a:rPr>
              <a:t>, </a:t>
            </a:r>
            <a:r>
              <a:rPr lang="en-US" altLang="zh-CN" sz="3000" dirty="0">
                <a:solidFill>
                  <a:srgbClr val="00B050"/>
                </a:solidFill>
                <a:latin typeface="Times New Roman" panose="02020603050405020304" pitchFamily="18" charset="0"/>
                <a:cs typeface="Times New Roman" panose="02020603050405020304" pitchFamily="18" charset="0"/>
              </a:rPr>
              <a:t>the mediating variable does not add to the variance already explained by the independent variable</a:t>
            </a:r>
            <a:r>
              <a:rPr lang="en-US" altLang="zh-CN" sz="3000" dirty="0">
                <a:solidFill>
                  <a:srgbClr val="231F20"/>
                </a:solidFill>
                <a:latin typeface="Times New Roman" panose="02020603050405020304" pitchFamily="18" charset="0"/>
                <a:cs typeface="Times New Roman" panose="02020603050405020304" pitchFamily="18" charset="0"/>
              </a:rPr>
              <a:t>, whereas the </a:t>
            </a:r>
            <a:r>
              <a:rPr lang="en-US" altLang="zh-CN" sz="3000" dirty="0">
                <a:solidFill>
                  <a:srgbClr val="FF0000"/>
                </a:solidFill>
                <a:latin typeface="Times New Roman" panose="02020603050405020304" pitchFamily="18" charset="0"/>
                <a:cs typeface="Times New Roman" panose="02020603050405020304" pitchFamily="18" charset="0"/>
              </a:rPr>
              <a:t>moderating variable has an interaction effect with the independent variable in explaining the variance. </a:t>
            </a:r>
            <a:r>
              <a:rPr lang="en-US" altLang="zh-CN" sz="3000" dirty="0">
                <a:solidFill>
                  <a:srgbClr val="231F20"/>
                </a:solidFill>
                <a:latin typeface="Times New Roman" panose="02020603050405020304" pitchFamily="18" charset="0"/>
                <a:cs typeface="Times New Roman" panose="02020603050405020304" pitchFamily="18" charset="0"/>
              </a:rPr>
              <a:t>That is, unless the moderating variable is present, the theorized relationship between the other two variables considered will not hold.</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73039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44E49-D143-4E75-C0B3-515837E16CD0}"/>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9F2A5FAB-83C8-10AE-485F-3F1BB880472E}"/>
              </a:ext>
            </a:extLst>
          </p:cNvPr>
          <p:cNvSpPr/>
          <p:nvPr/>
        </p:nvSpPr>
        <p:spPr>
          <a:xfrm>
            <a:off x="1148862" y="3298092"/>
            <a:ext cx="2883876" cy="23597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3">
            <a:extLst>
              <a:ext uri="{FF2B5EF4-FFF2-40B4-BE49-F238E27FC236}">
                <a16:creationId xmlns:a16="http://schemas.microsoft.com/office/drawing/2014/main" id="{F39385AC-1BB9-2D58-6BC8-BEFBB7ED61F1}"/>
              </a:ext>
            </a:extLst>
          </p:cNvPr>
          <p:cNvPicPr>
            <a:picLocks noChangeAspect="1"/>
          </p:cNvPicPr>
          <p:nvPr/>
        </p:nvPicPr>
        <p:blipFill>
          <a:blip r:embed="rId3"/>
          <a:stretch>
            <a:fillRect/>
          </a:stretch>
        </p:blipFill>
        <p:spPr>
          <a:xfrm>
            <a:off x="250031" y="464344"/>
            <a:ext cx="11572875" cy="5193506"/>
          </a:xfrm>
          <a:prstGeom prst="rect">
            <a:avLst/>
          </a:prstGeom>
        </p:spPr>
      </p:pic>
    </p:spTree>
    <p:extLst>
      <p:ext uri="{BB962C8B-B14F-4D97-AF65-F5344CB8AC3E}">
        <p14:creationId xmlns:p14="http://schemas.microsoft.com/office/powerpoint/2010/main" val="4162790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A0BB5-B4CD-8AD6-FE26-8B2B710B29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4AC256-8F6F-CC77-1AEA-109A5D27D660}"/>
              </a:ext>
            </a:extLst>
          </p:cNvPr>
          <p:cNvSpPr txBox="1"/>
          <p:nvPr/>
        </p:nvSpPr>
        <p:spPr>
          <a:xfrm>
            <a:off x="206068" y="187550"/>
            <a:ext cx="6759089" cy="1815882"/>
          </a:xfrm>
          <a:prstGeom prst="rect">
            <a:avLst/>
          </a:prstGeom>
          <a:solidFill>
            <a:schemeClr val="bg1"/>
          </a:solidFill>
        </p:spPr>
        <p:txBody>
          <a:bodyPr wrap="square">
            <a:spAutoFit/>
          </a:bodyPr>
          <a:lstStyle/>
          <a:p>
            <a:pPr algn="just"/>
            <a:r>
              <a:rPr lang="en-US" altLang="zh-CN" sz="2800" i="0" dirty="0">
                <a:solidFill>
                  <a:srgbClr val="FF0000"/>
                </a:solidFill>
                <a:effectLst/>
                <a:latin typeface="Times New Roman" panose="02020603050405020304" pitchFamily="18" charset="0"/>
                <a:cs typeface="Times New Roman" panose="02020603050405020304" pitchFamily="18" charset="0"/>
              </a:rPr>
              <a:t>Dependent Variable: Employee morale, </a:t>
            </a:r>
          </a:p>
          <a:p>
            <a:pPr algn="just"/>
            <a:r>
              <a:rPr lang="en-US" altLang="zh-CN" sz="2800" i="0" dirty="0">
                <a:solidFill>
                  <a:srgbClr val="FF0000"/>
                </a:solidFill>
                <a:effectLst/>
                <a:latin typeface="Times New Roman" panose="02020603050405020304" pitchFamily="18" charset="0"/>
                <a:cs typeface="Times New Roman" panose="02020603050405020304" pitchFamily="18" charset="0"/>
              </a:rPr>
              <a:t>Independent Variables: pay scale</a:t>
            </a:r>
          </a:p>
          <a:p>
            <a:pPr algn="just"/>
            <a:r>
              <a:rPr lang="en-US" altLang="zh-CN" sz="2800" i="0" dirty="0">
                <a:solidFill>
                  <a:srgbClr val="FF0000"/>
                </a:solidFill>
                <a:effectLst/>
                <a:latin typeface="Times New Roman" panose="02020603050405020304" pitchFamily="18" charset="0"/>
                <a:cs typeface="Times New Roman" panose="02020603050405020304" pitchFamily="18" charset="0"/>
              </a:rPr>
              <a:t>Moderating Variable: Supplemental income</a:t>
            </a:r>
          </a:p>
          <a:p>
            <a:pPr algn="just"/>
            <a:endParaRPr lang="en-US" altLang="zh-CN" sz="2800" i="0" dirty="0">
              <a:solidFill>
                <a:srgbClr val="FF0000"/>
              </a:solidFill>
              <a:effectLst/>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8B7AC288-3A89-C444-CE54-A1C07BC31976}"/>
              </a:ext>
            </a:extLst>
          </p:cNvPr>
          <p:cNvSpPr txBox="1"/>
          <p:nvPr/>
        </p:nvSpPr>
        <p:spPr>
          <a:xfrm>
            <a:off x="871172" y="2090181"/>
            <a:ext cx="10234489" cy="4478149"/>
          </a:xfrm>
          <a:prstGeom prst="rect">
            <a:avLst/>
          </a:prstGeom>
          <a:solidFill>
            <a:schemeClr val="accent1">
              <a:lumMod val="20000"/>
              <a:lumOff val="80000"/>
            </a:schemeClr>
          </a:solidFill>
        </p:spPr>
        <p:txBody>
          <a:bodyPr wrap="square">
            <a:spAutoFit/>
          </a:bodyPr>
          <a:lstStyle/>
          <a:p>
            <a:pPr algn="just">
              <a:lnSpc>
                <a:spcPts val="3840"/>
              </a:lnSpc>
              <a:spcBef>
                <a:spcPts val="1200"/>
              </a:spcBef>
              <a:spcAft>
                <a:spcPts val="1200"/>
              </a:spcAft>
            </a:pPr>
            <a:r>
              <a:rPr lang="en-US" altLang="zh-CN" sz="3200" b="1" dirty="0">
                <a:solidFill>
                  <a:srgbClr val="FF0000"/>
                </a:solidFill>
                <a:effectLst/>
                <a:latin typeface="Times New Roman" panose="02020603050405020304" pitchFamily="18" charset="0"/>
                <a:cs typeface="Times New Roman" panose="02020603050405020304" pitchFamily="18" charset="0"/>
              </a:rPr>
              <a:t>Problem Statement or Problem Definition: </a:t>
            </a:r>
            <a:r>
              <a:rPr lang="en-US" altLang="zh-CN" sz="3200" dirty="0">
                <a:effectLst/>
                <a:latin typeface="Times New Roman" panose="02020603050405020304" pitchFamily="18" charset="0"/>
                <a:cs typeface="Times New Roman" panose="02020603050405020304" pitchFamily="18" charset="0"/>
              </a:rPr>
              <a:t>To investigate the factors that influence employee morale in a supermarket setting, specifically examining the effects of improved working conditions, increased pay scales, and enhanced vacation benefits. Additionally, to determine whether the presence of supplemental income among employees moderates the relationship between pay scales and morale, thereby identifying targeted strategies to effectively boost morale across different employee groups.</a:t>
            </a:r>
          </a:p>
        </p:txBody>
      </p:sp>
    </p:spTree>
    <p:extLst>
      <p:ext uri="{BB962C8B-B14F-4D97-AF65-F5344CB8AC3E}">
        <p14:creationId xmlns:p14="http://schemas.microsoft.com/office/powerpoint/2010/main" val="169942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additive="base">
                                        <p:cTn id="13" dur="500" fill="hold"/>
                                        <p:tgtEl>
                                          <p:spTgt spid="42"/>
                                        </p:tgtEl>
                                        <p:attrNameLst>
                                          <p:attrName>ppt_x</p:attrName>
                                        </p:attrNameLst>
                                      </p:cBhvr>
                                      <p:tavLst>
                                        <p:tav tm="0">
                                          <p:val>
                                            <p:strVal val="#ppt_x"/>
                                          </p:val>
                                        </p:tav>
                                        <p:tav tm="100000">
                                          <p:val>
                                            <p:strVal val="#ppt_x"/>
                                          </p:val>
                                        </p:tav>
                                      </p:tavLst>
                                    </p:anim>
                                    <p:anim calcmode="lin" valueType="num">
                                      <p:cBhvr additive="base">
                                        <p:cTn id="1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29A7FEA1-B235-FF42-3579-3143A440CE17}"/>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DEB4B9F0-E881-33A9-955A-F4DEC9AB2BD9}"/>
              </a:ext>
            </a:extLst>
          </p:cNvPr>
          <p:cNvGrpSpPr/>
          <p:nvPr/>
        </p:nvGrpSpPr>
        <p:grpSpPr>
          <a:xfrm>
            <a:off x="1373800" y="1627455"/>
            <a:ext cx="8297189" cy="3288421"/>
            <a:chOff x="1409518" y="4042044"/>
            <a:chExt cx="8297189" cy="1628396"/>
          </a:xfrm>
        </p:grpSpPr>
        <p:sp>
          <p:nvSpPr>
            <p:cNvPr id="19" name="Rectangle 18">
              <a:extLst>
                <a:ext uri="{FF2B5EF4-FFF2-40B4-BE49-F238E27FC236}">
                  <a16:creationId xmlns:a16="http://schemas.microsoft.com/office/drawing/2014/main" id="{C2597EBC-687C-0413-FB02-D2100653C5E7}"/>
                </a:ext>
              </a:extLst>
            </p:cNvPr>
            <p:cNvSpPr/>
            <p:nvPr/>
          </p:nvSpPr>
          <p:spPr>
            <a:xfrm>
              <a:off x="1409518" y="4042044"/>
              <a:ext cx="2623220" cy="3786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000" dirty="0">
                  <a:solidFill>
                    <a:schemeClr val="tx1"/>
                  </a:solidFill>
                  <a:latin typeface="Times New Roman" panose="02020603050405020304" pitchFamily="18" charset="0"/>
                  <a:cs typeface="Times New Roman" panose="02020603050405020304" pitchFamily="18" charset="0"/>
                </a:rPr>
                <a:t>Pay Scales</a:t>
              </a:r>
              <a:endParaRPr lang="zh-CN" altLang="en-US" sz="3000" dirty="0">
                <a:solidFill>
                  <a:schemeClr val="tx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45777FAF-8954-FF03-E321-603B39245F46}"/>
                </a:ext>
              </a:extLst>
            </p:cNvPr>
            <p:cNvSpPr/>
            <p:nvPr/>
          </p:nvSpPr>
          <p:spPr>
            <a:xfrm>
              <a:off x="7287570" y="4048241"/>
              <a:ext cx="2419137" cy="3786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000" dirty="0">
                  <a:solidFill>
                    <a:schemeClr val="tx1"/>
                  </a:solidFill>
                  <a:latin typeface="Times New Roman" panose="02020603050405020304" pitchFamily="18" charset="0"/>
                  <a:cs typeface="Times New Roman" panose="02020603050405020304" pitchFamily="18" charset="0"/>
                </a:rPr>
                <a:t>Employee Morale</a:t>
              </a:r>
              <a:endParaRPr lang="zh-CN" altLang="en-US" sz="3000" dirty="0">
                <a:solidFill>
                  <a:schemeClr val="tx1"/>
                </a:solidFill>
                <a:latin typeface="Times New Roman" panose="02020603050405020304" pitchFamily="18" charset="0"/>
                <a:cs typeface="Times New Roman" panose="02020603050405020304" pitchFamily="18" charset="0"/>
              </a:endParaRPr>
            </a:p>
          </p:txBody>
        </p:sp>
        <p:sp>
          <p:nvSpPr>
            <p:cNvPr id="32" name="Rectangle 31">
              <a:extLst>
                <a:ext uri="{FF2B5EF4-FFF2-40B4-BE49-F238E27FC236}">
                  <a16:creationId xmlns:a16="http://schemas.microsoft.com/office/drawing/2014/main" id="{7862026C-7050-8703-C2A2-ADEE71D05AE8}"/>
                </a:ext>
              </a:extLst>
            </p:cNvPr>
            <p:cNvSpPr/>
            <p:nvPr/>
          </p:nvSpPr>
          <p:spPr>
            <a:xfrm>
              <a:off x="4431324" y="5291821"/>
              <a:ext cx="2676768" cy="3786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000" dirty="0">
                  <a:solidFill>
                    <a:schemeClr val="tx1"/>
                  </a:solidFill>
                  <a:latin typeface="Times New Roman" panose="02020603050405020304" pitchFamily="18" charset="0"/>
                  <a:cs typeface="Times New Roman" panose="02020603050405020304" pitchFamily="18" charset="0"/>
                </a:rPr>
                <a:t>Supplemental Income</a:t>
              </a:r>
              <a:endParaRPr lang="zh-CN" altLang="en-US" sz="3000" dirty="0">
                <a:solidFill>
                  <a:schemeClr val="tx1"/>
                </a:solidFill>
                <a:latin typeface="Times New Roman" panose="02020603050405020304" pitchFamily="18" charset="0"/>
                <a:cs typeface="Times New Roman" panose="02020603050405020304" pitchFamily="18" charset="0"/>
              </a:endParaRPr>
            </a:p>
          </p:txBody>
        </p:sp>
        <p:cxnSp>
          <p:nvCxnSpPr>
            <p:cNvPr id="37" name="Straight Arrow Connector 36">
              <a:extLst>
                <a:ext uri="{FF2B5EF4-FFF2-40B4-BE49-F238E27FC236}">
                  <a16:creationId xmlns:a16="http://schemas.microsoft.com/office/drawing/2014/main" id="{376A018D-F91D-ADBB-C679-86F3FA0F7952}"/>
                </a:ext>
              </a:extLst>
            </p:cNvPr>
            <p:cNvCxnSpPr>
              <a:stCxn id="19" idx="3"/>
              <a:endCxn id="21" idx="1"/>
            </p:cNvCxnSpPr>
            <p:nvPr/>
          </p:nvCxnSpPr>
          <p:spPr>
            <a:xfrm flipV="1">
              <a:off x="4032738" y="4231353"/>
              <a:ext cx="325483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DE1864E-79EF-D5EF-0CFB-B8C70CDC5DE3}"/>
                </a:ext>
              </a:extLst>
            </p:cNvPr>
            <p:cNvCxnSpPr/>
            <p:nvPr/>
          </p:nvCxnSpPr>
          <p:spPr>
            <a:xfrm flipV="1">
              <a:off x="5769708" y="4231353"/>
              <a:ext cx="0" cy="1047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3673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7FECA-BE6C-4995-6A24-BB5465F3CA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27E455-2C8B-9A65-4498-82DDD1E54B1E}"/>
              </a:ext>
            </a:extLst>
          </p:cNvPr>
          <p:cNvSpPr txBox="1"/>
          <p:nvPr/>
        </p:nvSpPr>
        <p:spPr>
          <a:xfrm>
            <a:off x="2575169" y="189937"/>
            <a:ext cx="7166707" cy="707886"/>
          </a:xfrm>
          <a:prstGeom prst="rect">
            <a:avLst/>
          </a:prstGeom>
          <a:solidFill>
            <a:schemeClr val="bg1"/>
          </a:solidFill>
        </p:spPr>
        <p:txBody>
          <a:bodyPr wrap="square">
            <a:spAutoFit/>
          </a:bodyPr>
          <a:lstStyle/>
          <a:p>
            <a:pPr algn="just"/>
            <a:r>
              <a:rPr lang="en-US" altLang="zh-CN" sz="4000" i="0" dirty="0">
                <a:solidFill>
                  <a:srgbClr val="FF0000"/>
                </a:solidFill>
                <a:effectLst/>
                <a:latin typeface="Tenorite" panose="00000500000000000000" pitchFamily="2" charset="0"/>
                <a:cs typeface="Times New Roman" panose="02020603050405020304" pitchFamily="18" charset="0"/>
              </a:rPr>
              <a:t>How theory is Generated</a:t>
            </a:r>
          </a:p>
        </p:txBody>
      </p:sp>
      <p:sp>
        <p:nvSpPr>
          <p:cNvPr id="4" name="TextBox 3">
            <a:extLst>
              <a:ext uri="{FF2B5EF4-FFF2-40B4-BE49-F238E27FC236}">
                <a16:creationId xmlns:a16="http://schemas.microsoft.com/office/drawing/2014/main" id="{8109F232-DEDC-0289-1CA5-AB5CC3C36B00}"/>
              </a:ext>
            </a:extLst>
          </p:cNvPr>
          <p:cNvSpPr txBox="1"/>
          <p:nvPr/>
        </p:nvSpPr>
        <p:spPr>
          <a:xfrm>
            <a:off x="254001" y="1120676"/>
            <a:ext cx="6119446" cy="2308324"/>
          </a:xfrm>
          <a:prstGeom prst="rect">
            <a:avLst/>
          </a:prstGeom>
          <a:solidFill>
            <a:schemeClr val="bg1"/>
          </a:solidFill>
        </p:spPr>
        <p:txBody>
          <a:bodyPr wrap="square">
            <a:spAutoFit/>
          </a:bodyPr>
          <a:lstStyle/>
          <a:p>
            <a:pPr algn="just"/>
            <a:r>
              <a:rPr lang="en-US" altLang="zh-CN" sz="2400" b="1" dirty="0">
                <a:latin typeface="Times New Roman" panose="02020603050405020304" pitchFamily="18" charset="0"/>
                <a:cs typeface="Times New Roman" panose="02020603050405020304" pitchFamily="18" charset="0"/>
              </a:rPr>
              <a:t>1-</a:t>
            </a:r>
            <a:r>
              <a:rPr lang="en-US" altLang="zh-CN" sz="2400" dirty="0">
                <a:latin typeface="Times New Roman" panose="02020603050405020304" pitchFamily="18" charset="0"/>
                <a:cs typeface="Times New Roman" panose="02020603050405020304" pitchFamily="18" charset="0"/>
              </a:rPr>
              <a:t> Theory generation begins with a foundation of investigation. Researchers first identify a core problem and then determine the key variables that influence it. This is achieved through a thorough literature review and exploratory research like interviews and observations.</a:t>
            </a:r>
            <a:endParaRPr lang="zh-CN" alt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F911FA0-A2CE-CD91-B085-69C2D2992A25}"/>
              </a:ext>
            </a:extLst>
          </p:cNvPr>
          <p:cNvSpPr txBox="1"/>
          <p:nvPr/>
        </p:nvSpPr>
        <p:spPr>
          <a:xfrm>
            <a:off x="347784" y="3651853"/>
            <a:ext cx="6119446" cy="2677656"/>
          </a:xfrm>
          <a:prstGeom prst="rect">
            <a:avLst/>
          </a:prstGeom>
          <a:solidFill>
            <a:schemeClr val="bg1"/>
          </a:solidFill>
        </p:spPr>
        <p:txBody>
          <a:bodyPr wrap="square">
            <a:spAutoFit/>
          </a:bodyPr>
          <a:lstStyle>
            <a:defPPr>
              <a:defRPr lang="en-US"/>
            </a:defPPr>
            <a:lvl1pPr algn="just">
              <a:defRPr sz="2400">
                <a:latin typeface="Times New Roman" panose="02020603050405020304" pitchFamily="18" charset="0"/>
                <a:cs typeface="Times New Roman" panose="02020603050405020304" pitchFamily="18" charset="0"/>
              </a:defRPr>
            </a:lvl1pPr>
          </a:lstStyle>
          <a:p>
            <a:r>
              <a:rPr lang="en-US" altLang="zh-CN" b="1" dirty="0"/>
              <a:t>2-</a:t>
            </a:r>
            <a:r>
              <a:rPr lang="en-US" altLang="zh-CN" dirty="0"/>
              <a:t> Next, these variables are logically interconnected to form a theoretical framework. This framework is a structured model that elaborates the network of relationships among the variables. It serves as the essential blueprint for the research, explaining how and why the variables are linked.</a:t>
            </a:r>
          </a:p>
        </p:txBody>
      </p:sp>
      <p:sp>
        <p:nvSpPr>
          <p:cNvPr id="8" name="TextBox 7">
            <a:extLst>
              <a:ext uri="{FF2B5EF4-FFF2-40B4-BE49-F238E27FC236}">
                <a16:creationId xmlns:a16="http://schemas.microsoft.com/office/drawing/2014/main" id="{2314839D-4BAA-C656-3B72-0093C8DEEBB0}"/>
              </a:ext>
            </a:extLst>
          </p:cNvPr>
          <p:cNvSpPr txBox="1"/>
          <p:nvPr/>
        </p:nvSpPr>
        <p:spPr>
          <a:xfrm>
            <a:off x="7057292" y="2072920"/>
            <a:ext cx="4732216" cy="3416320"/>
          </a:xfrm>
          <a:prstGeom prst="rect">
            <a:avLst/>
          </a:prstGeom>
          <a:solidFill>
            <a:schemeClr val="bg1"/>
          </a:solidFill>
        </p:spPr>
        <p:txBody>
          <a:bodyPr wrap="square">
            <a:spAutoFit/>
          </a:bodyPr>
          <a:lstStyle>
            <a:defPPr>
              <a:defRPr lang="en-US"/>
            </a:defPPr>
            <a:lvl1pPr algn="just">
              <a:defRPr sz="2400">
                <a:latin typeface="Times New Roman" panose="02020603050405020304" pitchFamily="18" charset="0"/>
                <a:cs typeface="Times New Roman" panose="02020603050405020304" pitchFamily="18" charset="0"/>
              </a:defRPr>
            </a:lvl1pPr>
          </a:lstStyle>
          <a:p>
            <a:r>
              <a:rPr lang="en-US" altLang="zh-CN" b="1" dirty="0"/>
              <a:t>3-</a:t>
            </a:r>
            <a:r>
              <a:rPr lang="en-US" altLang="zh-CN" dirty="0"/>
              <a:t> Finally, this framework allows for the development of specific, testable hypotheses. The validation of the generated theory comes from empirically testing these hypotheses. The results indicate whether the theory is supported, thereby refining it and demonstrating its power to address the original problem.</a:t>
            </a:r>
            <a:endParaRPr lang="zh-CN" altLang="en-US" dirty="0"/>
          </a:p>
        </p:txBody>
      </p:sp>
    </p:spTree>
    <p:extLst>
      <p:ext uri="{BB962C8B-B14F-4D97-AF65-F5344CB8AC3E}">
        <p14:creationId xmlns:p14="http://schemas.microsoft.com/office/powerpoint/2010/main" val="267076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E23DC-5D15-0DF2-F615-422901DAF2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744773-6BFD-DD00-4AD3-E21AB80E6BF1}"/>
              </a:ext>
            </a:extLst>
          </p:cNvPr>
          <p:cNvSpPr txBox="1"/>
          <p:nvPr/>
        </p:nvSpPr>
        <p:spPr>
          <a:xfrm>
            <a:off x="707230" y="189937"/>
            <a:ext cx="10379869" cy="707886"/>
          </a:xfrm>
          <a:prstGeom prst="rect">
            <a:avLst/>
          </a:prstGeom>
          <a:solidFill>
            <a:schemeClr val="bg1"/>
          </a:solidFill>
        </p:spPr>
        <p:txBody>
          <a:bodyPr wrap="square">
            <a:spAutoFit/>
          </a:bodyPr>
          <a:lstStyle/>
          <a:p>
            <a:pPr algn="just"/>
            <a:r>
              <a:rPr lang="en-US" altLang="zh-CN" sz="4000" dirty="0">
                <a:solidFill>
                  <a:srgbClr val="FF0000"/>
                </a:solidFill>
                <a:latin typeface="Tenorite" panose="00000500000000000000" pitchFamily="2" charset="0"/>
                <a:cs typeface="Times New Roman" panose="02020603050405020304" pitchFamily="18" charset="0"/>
              </a:rPr>
              <a:t>The components of the theoretical framework</a:t>
            </a:r>
            <a:endParaRPr lang="en-US" altLang="zh-CN" sz="4000" i="0" dirty="0">
              <a:solidFill>
                <a:srgbClr val="FF0000"/>
              </a:solidFill>
              <a:effectLst/>
              <a:latin typeface="Tenorite" panose="00000500000000000000"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F352507E-5C21-F216-CD1B-B999C889D4EE}"/>
              </a:ext>
            </a:extLst>
          </p:cNvPr>
          <p:cNvSpPr txBox="1"/>
          <p:nvPr/>
        </p:nvSpPr>
        <p:spPr>
          <a:xfrm>
            <a:off x="707231" y="1028343"/>
            <a:ext cx="10294144" cy="5386090"/>
          </a:xfrm>
          <a:prstGeom prst="rect">
            <a:avLst/>
          </a:prstGeom>
          <a:solidFill>
            <a:schemeClr val="bg1"/>
          </a:solidFill>
        </p:spPr>
        <p:txBody>
          <a:bodyPr wrap="square">
            <a:spAutoFit/>
          </a:bodyPr>
          <a:lstStyle/>
          <a:p>
            <a:pPr marL="514350" indent="-514350" algn="just">
              <a:buFont typeface="+mj-lt"/>
              <a:buAutoNum type="romanUcPeriod"/>
            </a:pPr>
            <a:r>
              <a:rPr lang="en-US" altLang="zh-CN" sz="2800" dirty="0">
                <a:latin typeface="Times New Roman" panose="02020603050405020304" pitchFamily="18" charset="0"/>
                <a:cs typeface="Times New Roman" panose="02020603050405020304" pitchFamily="18" charset="0"/>
              </a:rPr>
              <a:t>A theoretical framework must identify and clearly define all relevant variables, including independent, dependent, moderating, and mediating variables.</a:t>
            </a:r>
          </a:p>
          <a:p>
            <a:pPr marL="514350" indent="-514350" algn="just">
              <a:buFont typeface="+mj-lt"/>
              <a:buAutoNum type="romanUcPeriod"/>
            </a:pPr>
            <a:endParaRPr lang="en-US" altLang="zh-CN" dirty="0">
              <a:latin typeface="Times New Roman" panose="02020603050405020304" pitchFamily="18" charset="0"/>
              <a:cs typeface="Times New Roman" panose="02020603050405020304" pitchFamily="18" charset="0"/>
            </a:endParaRPr>
          </a:p>
          <a:p>
            <a:pPr marL="514350" indent="-514350" algn="just">
              <a:buFont typeface="+mj-lt"/>
              <a:buAutoNum type="romanUcPeriod"/>
            </a:pPr>
            <a:r>
              <a:rPr lang="en-US" altLang="zh-CN" sz="2800" dirty="0">
                <a:latin typeface="Times New Roman" panose="02020603050405020304" pitchFamily="18" charset="0"/>
                <a:cs typeface="Times New Roman" panose="02020603050405020304" pitchFamily="18" charset="0"/>
              </a:rPr>
              <a:t>It should explain how these variables are interrelated, including why certain variables act as moderators or mediators.</a:t>
            </a:r>
          </a:p>
          <a:p>
            <a:pPr marL="514350" indent="-514350" algn="just">
              <a:buFont typeface="+mj-lt"/>
              <a:buAutoNum type="romanUcPeriod"/>
            </a:pPr>
            <a:endParaRPr lang="en-US" altLang="zh-CN" dirty="0">
              <a:latin typeface="Times New Roman" panose="02020603050405020304" pitchFamily="18" charset="0"/>
              <a:cs typeface="Times New Roman" panose="02020603050405020304" pitchFamily="18" charset="0"/>
            </a:endParaRPr>
          </a:p>
          <a:p>
            <a:pPr marL="514350" indent="-514350" algn="just">
              <a:buFont typeface="+mj-lt"/>
              <a:buAutoNum type="romanUcPeriod"/>
            </a:pPr>
            <a:r>
              <a:rPr lang="en-US" altLang="zh-CN" sz="2800" dirty="0">
                <a:latin typeface="Times New Roman" panose="02020603050405020304" pitchFamily="18" charset="0"/>
                <a:cs typeface="Times New Roman" panose="02020603050405020304" pitchFamily="18" charset="0"/>
              </a:rPr>
              <a:t>Any interrelationships among multiple independent or dependent variables should also be clarified.</a:t>
            </a:r>
          </a:p>
          <a:p>
            <a:pPr marL="514350" indent="-514350" algn="just">
              <a:buFont typeface="+mj-lt"/>
              <a:buAutoNum type="romanUcPeriod"/>
            </a:pPr>
            <a:endParaRPr lang="en-US" altLang="zh-CN" dirty="0">
              <a:latin typeface="Times New Roman" panose="02020603050405020304" pitchFamily="18" charset="0"/>
              <a:cs typeface="Times New Roman" panose="02020603050405020304" pitchFamily="18" charset="0"/>
            </a:endParaRPr>
          </a:p>
          <a:p>
            <a:pPr marL="514350" indent="-514350" algn="just">
              <a:buFont typeface="+mj-lt"/>
              <a:buAutoNum type="romanUcPeriod"/>
            </a:pPr>
            <a:r>
              <a:rPr lang="en-US" altLang="zh-CN" sz="2800" dirty="0">
                <a:latin typeface="Times New Roman" panose="02020603050405020304" pitchFamily="18" charset="0"/>
                <a:cs typeface="Times New Roman" panose="02020603050405020304" pitchFamily="18" charset="0"/>
              </a:rPr>
              <a:t>The framework must include a conceptual model, presented both as a diagram and in written form, to show how variables connect and to structure the literature discussion.</a:t>
            </a:r>
          </a:p>
        </p:txBody>
      </p:sp>
    </p:spTree>
    <p:extLst>
      <p:ext uri="{BB962C8B-B14F-4D97-AF65-F5344CB8AC3E}">
        <p14:creationId xmlns:p14="http://schemas.microsoft.com/office/powerpoint/2010/main" val="303432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59ACE-C29E-01E3-4B50-E1496A07FC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758822-7BAE-F522-B149-D0EFCAAC1AD8}"/>
              </a:ext>
            </a:extLst>
          </p:cNvPr>
          <p:cNvSpPr txBox="1"/>
          <p:nvPr/>
        </p:nvSpPr>
        <p:spPr>
          <a:xfrm>
            <a:off x="707230" y="189937"/>
            <a:ext cx="10379869" cy="707886"/>
          </a:xfrm>
          <a:prstGeom prst="rect">
            <a:avLst/>
          </a:prstGeom>
          <a:solidFill>
            <a:schemeClr val="bg1"/>
          </a:solidFill>
        </p:spPr>
        <p:txBody>
          <a:bodyPr wrap="square">
            <a:spAutoFit/>
          </a:bodyPr>
          <a:lstStyle/>
          <a:p>
            <a:pPr algn="just"/>
            <a:r>
              <a:rPr lang="en-US" altLang="zh-CN" sz="4000" dirty="0">
                <a:solidFill>
                  <a:srgbClr val="FF0000"/>
                </a:solidFill>
                <a:latin typeface="Tenorite" panose="00000500000000000000" pitchFamily="2" charset="0"/>
                <a:cs typeface="Times New Roman" panose="02020603050405020304" pitchFamily="18" charset="0"/>
              </a:rPr>
              <a:t>The components of the theoretical framework</a:t>
            </a:r>
            <a:endParaRPr lang="en-US" altLang="zh-CN" sz="4000" i="0" dirty="0">
              <a:solidFill>
                <a:srgbClr val="FF0000"/>
              </a:solidFill>
              <a:effectLst/>
              <a:latin typeface="Tenorite" panose="00000500000000000000"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31293292-D704-E446-58EC-44F2D80B80A3}"/>
              </a:ext>
            </a:extLst>
          </p:cNvPr>
          <p:cNvSpPr txBox="1"/>
          <p:nvPr/>
        </p:nvSpPr>
        <p:spPr>
          <a:xfrm>
            <a:off x="707231" y="1028343"/>
            <a:ext cx="10294144" cy="4093428"/>
          </a:xfrm>
          <a:prstGeom prst="rect">
            <a:avLst/>
          </a:prstGeom>
          <a:solidFill>
            <a:schemeClr val="bg1"/>
          </a:solidFill>
        </p:spPr>
        <p:txBody>
          <a:bodyPr wrap="square">
            <a:spAutoFit/>
          </a:bodyPr>
          <a:lstStyle/>
          <a:p>
            <a:pPr marL="514350" indent="-514350" algn="just">
              <a:buFont typeface="+mj-lt"/>
              <a:buAutoNum type="romanUcPeriod"/>
            </a:pPr>
            <a:r>
              <a:rPr lang="en-US" altLang="zh-CN" sz="2800" dirty="0">
                <a:latin typeface="Times New Roman" panose="02020603050405020304" pitchFamily="18" charset="0"/>
                <a:cs typeface="Times New Roman" panose="02020603050405020304" pitchFamily="18" charset="0"/>
              </a:rPr>
              <a:t>Each proposed relationship should be supported by theory, explaining the expected direction and nature of the relationship.</a:t>
            </a:r>
          </a:p>
          <a:p>
            <a:pPr marL="514350" indent="-514350" algn="just">
              <a:buFont typeface="+mj-lt"/>
              <a:buAutoNum type="romanUcPeriod"/>
            </a:pPr>
            <a:endParaRPr lang="en-US" altLang="zh-CN" dirty="0">
              <a:latin typeface="Times New Roman" panose="02020603050405020304" pitchFamily="18" charset="0"/>
              <a:cs typeface="Times New Roman" panose="02020603050405020304" pitchFamily="18" charset="0"/>
            </a:endParaRPr>
          </a:p>
          <a:p>
            <a:pPr marL="514350" indent="-514350" algn="just">
              <a:buFont typeface="+mj-lt"/>
              <a:buAutoNum type="romanUcPeriod"/>
            </a:pPr>
            <a:r>
              <a:rPr lang="en-US" altLang="zh-CN" sz="2800" dirty="0">
                <a:latin typeface="Times New Roman" panose="02020603050405020304" pitchFamily="18" charset="0"/>
                <a:cs typeface="Times New Roman" panose="02020603050405020304" pitchFamily="18" charset="0"/>
              </a:rPr>
              <a:t>Variable definitions must come from credible academic sources, because they guide both theoretical justification and measurement during data collection.</a:t>
            </a:r>
          </a:p>
          <a:p>
            <a:pPr marL="514350" indent="-514350" algn="just">
              <a:buFont typeface="+mj-lt"/>
              <a:buAutoNum type="romanUcPeriod"/>
            </a:pPr>
            <a:endParaRPr lang="en-US" altLang="zh-CN" dirty="0">
              <a:latin typeface="Times New Roman" panose="02020603050405020304" pitchFamily="18" charset="0"/>
              <a:cs typeface="Times New Roman" panose="02020603050405020304" pitchFamily="18" charset="0"/>
            </a:endParaRPr>
          </a:p>
          <a:p>
            <a:pPr marL="514350" indent="-514350" algn="just">
              <a:buFont typeface="+mj-lt"/>
              <a:buAutoNum type="romanUcPeriod"/>
            </a:pPr>
            <a:r>
              <a:rPr lang="en-US" altLang="zh-CN" sz="2800" dirty="0">
                <a:latin typeface="Times New Roman" panose="02020603050405020304" pitchFamily="18" charset="0"/>
                <a:cs typeface="Times New Roman" panose="02020603050405020304" pitchFamily="18" charset="0"/>
              </a:rPr>
              <a:t>In applied research, existing theories are typically used to explain relationships; in basic research, new theoretical insights may be required when current theories are insufficient.</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420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A1D37-F3FE-2257-0172-34F70C1E208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CE23BC-5E89-CFF9-DBA3-471AE463DBCD}"/>
              </a:ext>
            </a:extLst>
          </p:cNvPr>
          <p:cNvSpPr txBox="1"/>
          <p:nvPr/>
        </p:nvSpPr>
        <p:spPr>
          <a:xfrm>
            <a:off x="707230" y="189937"/>
            <a:ext cx="10379869" cy="707886"/>
          </a:xfrm>
          <a:prstGeom prst="rect">
            <a:avLst/>
          </a:prstGeom>
          <a:solidFill>
            <a:schemeClr val="bg1"/>
          </a:solidFill>
        </p:spPr>
        <p:txBody>
          <a:bodyPr wrap="square">
            <a:spAutoFit/>
          </a:bodyPr>
          <a:lstStyle/>
          <a:p>
            <a:pPr algn="just"/>
            <a:r>
              <a:rPr lang="en-US" altLang="zh-CN" sz="4000" dirty="0">
                <a:solidFill>
                  <a:srgbClr val="FF0000"/>
                </a:solidFill>
                <a:latin typeface="Tenorite" panose="00000500000000000000" pitchFamily="2" charset="0"/>
                <a:cs typeface="Times New Roman" panose="02020603050405020304" pitchFamily="18" charset="0"/>
              </a:rPr>
              <a:t>HYPOTHESIS DEVELOPMENT</a:t>
            </a:r>
            <a:endParaRPr lang="en-US" altLang="zh-CN" sz="4000" i="0" dirty="0">
              <a:solidFill>
                <a:srgbClr val="FF0000"/>
              </a:solidFill>
              <a:effectLst/>
              <a:latin typeface="Tenorite" panose="00000500000000000000"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0BE08124-59F2-B3D2-2CF3-3DBAA41EF4F2}"/>
              </a:ext>
            </a:extLst>
          </p:cNvPr>
          <p:cNvSpPr txBox="1"/>
          <p:nvPr/>
        </p:nvSpPr>
        <p:spPr>
          <a:xfrm>
            <a:off x="707231" y="1028343"/>
            <a:ext cx="10294144" cy="5016758"/>
          </a:xfrm>
          <a:prstGeom prst="rect">
            <a:avLst/>
          </a:prstGeom>
          <a:solidFill>
            <a:schemeClr val="bg1"/>
          </a:solidFill>
        </p:spPr>
        <p:txBody>
          <a:bodyPr wrap="square">
            <a:spAutoFit/>
          </a:bodyPr>
          <a:lstStyle/>
          <a:p>
            <a:pPr algn="just"/>
            <a:r>
              <a:rPr lang="en-US" altLang="zh-CN" sz="3200" b="1" dirty="0">
                <a:latin typeface="Times New Roman" panose="02020603050405020304" pitchFamily="18" charset="0"/>
                <a:cs typeface="Times New Roman" panose="02020603050405020304" pitchFamily="18" charset="0"/>
              </a:rPr>
              <a:t>A hypothesis can be defined</a:t>
            </a:r>
            <a:r>
              <a:rPr lang="en-US" altLang="zh-CN" sz="3200" dirty="0">
                <a:latin typeface="Times New Roman" panose="02020603050405020304" pitchFamily="18" charset="0"/>
                <a:cs typeface="Times New Roman" panose="02020603050405020304" pitchFamily="18" charset="0"/>
              </a:rPr>
              <a:t> as a </a:t>
            </a:r>
            <a:r>
              <a:rPr lang="en-US" altLang="zh-CN" sz="3200" i="1" dirty="0">
                <a:latin typeface="Times New Roman" panose="02020603050405020304" pitchFamily="18" charset="0"/>
                <a:cs typeface="Times New Roman" panose="02020603050405020304" pitchFamily="18" charset="0"/>
              </a:rPr>
              <a:t>tentative, yet testable, statement, which predicts what you expect to find in your empirical data.</a:t>
            </a:r>
            <a:r>
              <a:rPr lang="en-US" altLang="zh-CN" sz="3200" dirty="0">
                <a:latin typeface="Times New Roman" panose="02020603050405020304" pitchFamily="18" charset="0"/>
                <a:cs typeface="Times New Roman" panose="02020603050405020304" pitchFamily="18" charset="0"/>
              </a:rPr>
              <a:t> Hypotheses are derived from the theory on which your conceptual model is based and are often relational in nature. Along these lines, </a:t>
            </a:r>
            <a:r>
              <a:rPr lang="en-US" altLang="zh-CN" sz="3200" i="1" dirty="0">
                <a:latin typeface="Times New Roman" panose="02020603050405020304" pitchFamily="18" charset="0"/>
                <a:cs typeface="Times New Roman" panose="02020603050405020304" pitchFamily="18" charset="0"/>
              </a:rPr>
              <a:t>hypotheses can be defined as logically conjectured relationships between two or more variables expressed in the form of testable statements. </a:t>
            </a:r>
            <a:r>
              <a:rPr lang="en-US" altLang="zh-CN" sz="3200" dirty="0">
                <a:latin typeface="Times New Roman" panose="02020603050405020304" pitchFamily="18" charset="0"/>
                <a:cs typeface="Times New Roman" panose="02020603050405020304" pitchFamily="18" charset="0"/>
              </a:rPr>
              <a:t>By testing the hypotheses and confirming the conjectured relationships, it is expected that solutions can be found to correct the problem encountered.</a:t>
            </a:r>
            <a:endParaRPr lang="zh-CN"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6103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71FFB-F1EC-221C-E4FE-F2D182FE38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2F02C16-20EF-4D2E-D429-680BCF88C6FE}"/>
              </a:ext>
            </a:extLst>
          </p:cNvPr>
          <p:cNvSpPr txBox="1"/>
          <p:nvPr/>
        </p:nvSpPr>
        <p:spPr>
          <a:xfrm>
            <a:off x="678656" y="90726"/>
            <a:ext cx="10379869" cy="707886"/>
          </a:xfrm>
          <a:prstGeom prst="rect">
            <a:avLst/>
          </a:prstGeom>
          <a:solidFill>
            <a:schemeClr val="bg1"/>
          </a:solidFill>
        </p:spPr>
        <p:txBody>
          <a:bodyPr wrap="square">
            <a:spAutoFit/>
          </a:bodyPr>
          <a:lstStyle/>
          <a:p>
            <a:pPr algn="just"/>
            <a:r>
              <a:rPr lang="en-US" altLang="zh-CN" sz="4000" dirty="0">
                <a:solidFill>
                  <a:srgbClr val="FF0000"/>
                </a:solidFill>
                <a:latin typeface="Tenorite" panose="00000500000000000000" pitchFamily="2" charset="0"/>
                <a:cs typeface="Times New Roman" panose="02020603050405020304" pitchFamily="18" charset="0"/>
              </a:rPr>
              <a:t>Statement of Hypotheses: Formats</a:t>
            </a:r>
            <a:endParaRPr lang="en-US" altLang="zh-CN" sz="4000" i="0" dirty="0">
              <a:solidFill>
                <a:srgbClr val="FF0000"/>
              </a:solidFill>
              <a:effectLst/>
              <a:latin typeface="Tenorite" panose="00000500000000000000"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8F0147A1-ED86-1501-3A21-3C199121C573}"/>
              </a:ext>
            </a:extLst>
          </p:cNvPr>
          <p:cNvSpPr txBox="1"/>
          <p:nvPr/>
        </p:nvSpPr>
        <p:spPr>
          <a:xfrm>
            <a:off x="135731" y="678954"/>
            <a:ext cx="11794331" cy="6093976"/>
          </a:xfrm>
          <a:prstGeom prst="rect">
            <a:avLst/>
          </a:prstGeom>
          <a:solidFill>
            <a:schemeClr val="bg1"/>
          </a:solidFill>
        </p:spPr>
        <p:txBody>
          <a:bodyPr wrap="square">
            <a:spAutoFit/>
          </a:bodyPr>
          <a:lstStyle/>
          <a:p>
            <a:pPr algn="just"/>
            <a:r>
              <a:rPr lang="en-US" altLang="zh-CN" sz="3000" b="1" dirty="0">
                <a:highlight>
                  <a:srgbClr val="C0C0C0"/>
                </a:highlight>
                <a:latin typeface="Times New Roman" panose="02020603050405020304" pitchFamily="18" charset="0"/>
                <a:cs typeface="Times New Roman" panose="02020603050405020304" pitchFamily="18" charset="0"/>
              </a:rPr>
              <a:t>If–then statements</a:t>
            </a:r>
          </a:p>
          <a:p>
            <a:pPr algn="just"/>
            <a:r>
              <a:rPr lang="en-US" altLang="zh-CN" sz="2400" dirty="0">
                <a:latin typeface="Times New Roman" panose="02020603050405020304" pitchFamily="18" charset="0"/>
                <a:cs typeface="Times New Roman" panose="02020603050405020304" pitchFamily="18" charset="0"/>
              </a:rPr>
              <a:t>As already stated, a hypothesis can be defined as a testable statement of the relationship among variables. </a:t>
            </a:r>
            <a:r>
              <a:rPr lang="en-US" altLang="zh-CN" sz="2400" b="1" i="1" dirty="0">
                <a:latin typeface="Times New Roman" panose="02020603050405020304" pitchFamily="18" charset="0"/>
                <a:cs typeface="Times New Roman" panose="02020603050405020304" pitchFamily="18" charset="0"/>
              </a:rPr>
              <a:t>A hypothesis can also test whether there are differences between two groups (or among several groups) with respect to any variable or variables.</a:t>
            </a:r>
            <a:r>
              <a:rPr lang="en-US" altLang="zh-CN" sz="2400" b="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To examine whether or not the conjectured relationships or differences exist, these hypotheses can be set either as propositions or in the form of if–then statements. The two formats can be seen in the following two examples.</a:t>
            </a:r>
          </a:p>
          <a:p>
            <a:pPr algn="just"/>
            <a:r>
              <a:rPr lang="en-US" altLang="zh-CN" sz="2400" b="1" i="1" dirty="0">
                <a:latin typeface="Times New Roman" panose="02020603050405020304" pitchFamily="18" charset="0"/>
                <a:cs typeface="Times New Roman" panose="02020603050405020304" pitchFamily="18" charset="0"/>
              </a:rPr>
              <a:t>Statement: </a:t>
            </a:r>
            <a:r>
              <a:rPr lang="en-US" altLang="zh-CN" sz="2400" i="1" dirty="0">
                <a:latin typeface="Times New Roman" panose="02020603050405020304" pitchFamily="18" charset="0"/>
                <a:cs typeface="Times New Roman" panose="02020603050405020304" pitchFamily="18" charset="0"/>
              </a:rPr>
              <a:t>Customers will be more likely to remember a brand when they see the advertisement repeatedly.</a:t>
            </a:r>
          </a:p>
          <a:p>
            <a:pPr algn="just"/>
            <a:r>
              <a:rPr lang="en-US" altLang="zh-CN" sz="2400" b="1" i="1" dirty="0">
                <a:latin typeface="Times New Roman" panose="02020603050405020304" pitchFamily="18" charset="0"/>
                <a:cs typeface="Times New Roman" panose="02020603050405020304" pitchFamily="18" charset="0"/>
              </a:rPr>
              <a:t>If–Then Version: </a:t>
            </a:r>
            <a:r>
              <a:rPr lang="en-US" altLang="zh-CN" sz="2400" i="1" dirty="0">
                <a:latin typeface="Times New Roman" panose="02020603050405020304" pitchFamily="18" charset="0"/>
                <a:cs typeface="Times New Roman" panose="02020603050405020304" pitchFamily="18" charset="0"/>
              </a:rPr>
              <a:t>If customers are exposed to an advertisement more frequently, then they will be more likely to remember the brand.</a:t>
            </a:r>
          </a:p>
          <a:p>
            <a:pPr marL="285750" indent="-285750" algn="just"/>
            <a:endParaRPr lang="en-US" altLang="zh-CN" i="1" dirty="0">
              <a:latin typeface="Times New Roman" panose="02020603050405020304" pitchFamily="18" charset="0"/>
              <a:cs typeface="Times New Roman" panose="02020603050405020304" pitchFamily="18" charset="0"/>
            </a:endParaRPr>
          </a:p>
          <a:p>
            <a:pPr algn="just"/>
            <a:r>
              <a:rPr lang="en-US" altLang="zh-CN" sz="2400" b="1" i="1" dirty="0">
                <a:latin typeface="Times New Roman" panose="02020603050405020304" pitchFamily="18" charset="0"/>
                <a:cs typeface="Times New Roman" panose="02020603050405020304" pitchFamily="18" charset="0"/>
              </a:rPr>
              <a:t>Statement: </a:t>
            </a:r>
            <a:r>
              <a:rPr lang="en-US" altLang="zh-CN" sz="2400" i="1" dirty="0">
                <a:latin typeface="Times New Roman" panose="02020603050405020304" pitchFamily="18" charset="0"/>
                <a:cs typeface="Times New Roman" panose="02020603050405020304" pitchFamily="18" charset="0"/>
              </a:rPr>
              <a:t>Customers will be more likely to choose a product when it has eye-catching packaging.</a:t>
            </a:r>
          </a:p>
          <a:p>
            <a:pPr algn="just"/>
            <a:r>
              <a:rPr lang="en-US" altLang="zh-CN" sz="2400" b="1" i="1" dirty="0">
                <a:latin typeface="Times New Roman" panose="02020603050405020304" pitchFamily="18" charset="0"/>
                <a:cs typeface="Times New Roman" panose="02020603050405020304" pitchFamily="18" charset="0"/>
              </a:rPr>
              <a:t>If–Then Version: </a:t>
            </a:r>
            <a:r>
              <a:rPr lang="en-US" altLang="zh-CN" sz="2400" i="1" dirty="0">
                <a:latin typeface="Times New Roman" panose="02020603050405020304" pitchFamily="18" charset="0"/>
                <a:cs typeface="Times New Roman" panose="02020603050405020304" pitchFamily="18" charset="0"/>
              </a:rPr>
              <a:t>If a product has eye-catching packaging, then customers will be more likely to choose it.</a:t>
            </a:r>
            <a:endParaRPr lang="zh-CN" altLang="en-US"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2335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5097B-99ED-6D0F-1E0E-1B57C05A87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7F1687-E6E6-6365-C2BC-277F5AA065F7}"/>
              </a:ext>
            </a:extLst>
          </p:cNvPr>
          <p:cNvSpPr txBox="1"/>
          <p:nvPr/>
        </p:nvSpPr>
        <p:spPr>
          <a:xfrm>
            <a:off x="678656" y="90726"/>
            <a:ext cx="10379869" cy="707886"/>
          </a:xfrm>
          <a:prstGeom prst="rect">
            <a:avLst/>
          </a:prstGeom>
          <a:solidFill>
            <a:schemeClr val="bg1"/>
          </a:solidFill>
        </p:spPr>
        <p:txBody>
          <a:bodyPr wrap="square">
            <a:spAutoFit/>
          </a:bodyPr>
          <a:lstStyle/>
          <a:p>
            <a:pPr algn="just"/>
            <a:r>
              <a:rPr lang="en-US" altLang="zh-CN" sz="4000" dirty="0">
                <a:solidFill>
                  <a:srgbClr val="FF0000"/>
                </a:solidFill>
                <a:latin typeface="Tenorite" panose="00000500000000000000" pitchFamily="2" charset="0"/>
                <a:cs typeface="Times New Roman" panose="02020603050405020304" pitchFamily="18" charset="0"/>
              </a:rPr>
              <a:t>Statement of Hypotheses: Formats</a:t>
            </a:r>
            <a:endParaRPr lang="en-US" altLang="zh-CN" sz="4000" i="0" dirty="0">
              <a:solidFill>
                <a:srgbClr val="FF0000"/>
              </a:solidFill>
              <a:effectLst/>
              <a:latin typeface="Tenorite" panose="00000500000000000000"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E4B43B08-AB5C-E7C0-8513-235675A8D541}"/>
              </a:ext>
            </a:extLst>
          </p:cNvPr>
          <p:cNvSpPr txBox="1"/>
          <p:nvPr/>
        </p:nvSpPr>
        <p:spPr>
          <a:xfrm>
            <a:off x="135731" y="678954"/>
            <a:ext cx="11794331" cy="3877985"/>
          </a:xfrm>
          <a:prstGeom prst="rect">
            <a:avLst/>
          </a:prstGeom>
          <a:solidFill>
            <a:schemeClr val="bg1"/>
          </a:solidFill>
        </p:spPr>
        <p:txBody>
          <a:bodyPr wrap="square">
            <a:spAutoFit/>
          </a:bodyPr>
          <a:lstStyle/>
          <a:p>
            <a:pPr algn="just"/>
            <a:r>
              <a:rPr lang="en-US" altLang="zh-CN" sz="3000" b="1" dirty="0">
                <a:highlight>
                  <a:srgbClr val="C0C0C0"/>
                </a:highlight>
                <a:latin typeface="Times New Roman" panose="02020603050405020304" pitchFamily="18" charset="0"/>
                <a:cs typeface="Times New Roman" panose="02020603050405020304" pitchFamily="18" charset="0"/>
              </a:rPr>
              <a:t>Directional and nondirectional hypotheses</a:t>
            </a:r>
          </a:p>
          <a:p>
            <a:pPr algn="just"/>
            <a:r>
              <a:rPr lang="en-US" altLang="zh-CN" sz="2400" dirty="0">
                <a:latin typeface="Times New Roman" panose="02020603050405020304" pitchFamily="18" charset="0"/>
                <a:cs typeface="Times New Roman" panose="02020603050405020304" pitchFamily="18" charset="0"/>
              </a:rPr>
              <a:t>If, in </a:t>
            </a:r>
            <a:r>
              <a:rPr lang="en-US" altLang="zh-CN" sz="2400" i="1" dirty="0">
                <a:latin typeface="Times New Roman" panose="02020603050405020304" pitchFamily="18" charset="0"/>
                <a:cs typeface="Times New Roman" panose="02020603050405020304" pitchFamily="18" charset="0"/>
              </a:rPr>
              <a:t>stating the relationship between two variables or comparing two groups, terms such as positive, negative, more than, less than, and the like are used, then these are </a:t>
            </a:r>
            <a:r>
              <a:rPr lang="en-US" altLang="zh-CN" sz="2400" b="1" i="1" dirty="0">
                <a:latin typeface="Times New Roman" panose="02020603050405020304" pitchFamily="18" charset="0"/>
                <a:cs typeface="Times New Roman" panose="02020603050405020304" pitchFamily="18" charset="0"/>
              </a:rPr>
              <a:t>directional hypotheses</a:t>
            </a:r>
            <a:r>
              <a:rPr lang="en-US" altLang="zh-CN" sz="2400" b="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because the direction of the relationship between the variables (positive/negative) is indicated, as in the first example below, or the nature of the difference between two groups on a variable (more than/less than) is postulated, as in the second example.</a:t>
            </a:r>
          </a:p>
          <a:p>
            <a:pPr algn="just"/>
            <a:endParaRPr lang="en-US" altLang="zh-CN" sz="2400" dirty="0">
              <a:latin typeface="Times New Roman" panose="02020603050405020304" pitchFamily="18" charset="0"/>
              <a:cs typeface="Times New Roman" panose="02020603050405020304" pitchFamily="18" charset="0"/>
            </a:endParaRPr>
          </a:p>
          <a:p>
            <a:pPr algn="just"/>
            <a:r>
              <a:rPr lang="en-US" altLang="zh-CN" sz="2400" b="1" i="1" dirty="0">
                <a:latin typeface="Times New Roman" panose="02020603050405020304" pitchFamily="18" charset="0"/>
                <a:cs typeface="Times New Roman" panose="02020603050405020304" pitchFamily="18" charset="0"/>
              </a:rPr>
              <a:t>The greater the stress experienced in the job, the lower the job satisfaction of employees.</a:t>
            </a:r>
          </a:p>
          <a:p>
            <a:pPr algn="just"/>
            <a:endParaRPr lang="en-US" altLang="zh-CN" sz="2400" dirty="0">
              <a:latin typeface="Times New Roman" panose="02020603050405020304" pitchFamily="18" charset="0"/>
              <a:cs typeface="Times New Roman" panose="02020603050405020304" pitchFamily="18" charset="0"/>
            </a:endParaRPr>
          </a:p>
          <a:p>
            <a:pPr algn="just"/>
            <a:r>
              <a:rPr lang="en-US" altLang="zh-CN" sz="2400" b="1" i="1" dirty="0">
                <a:latin typeface="Times New Roman" panose="02020603050405020304" pitchFamily="18" charset="0"/>
                <a:cs typeface="Times New Roman" panose="02020603050405020304" pitchFamily="18" charset="0"/>
              </a:rPr>
              <a:t>Women are more motivated than men.</a:t>
            </a:r>
            <a:endParaRPr lang="zh-CN" altLang="en-US" sz="24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590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ACAAD-3B8F-8326-032D-E3D3C32372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BE456A-E6B7-95AA-707C-A490F05F148F}"/>
              </a:ext>
            </a:extLst>
          </p:cNvPr>
          <p:cNvSpPr txBox="1"/>
          <p:nvPr/>
        </p:nvSpPr>
        <p:spPr>
          <a:xfrm>
            <a:off x="135732" y="90726"/>
            <a:ext cx="11794330" cy="707886"/>
          </a:xfrm>
          <a:prstGeom prst="rect">
            <a:avLst/>
          </a:prstGeom>
          <a:solidFill>
            <a:schemeClr val="bg1"/>
          </a:solidFill>
        </p:spPr>
        <p:txBody>
          <a:bodyPr wrap="square">
            <a:spAutoFit/>
          </a:bodyPr>
          <a:lstStyle/>
          <a:p>
            <a:pPr algn="just"/>
            <a:r>
              <a:rPr lang="en-US" altLang="zh-CN" sz="4000" dirty="0">
                <a:solidFill>
                  <a:srgbClr val="FF0000"/>
                </a:solidFill>
                <a:latin typeface="Tenorite" panose="00000500000000000000" pitchFamily="2" charset="0"/>
                <a:cs typeface="Times New Roman" panose="02020603050405020304" pitchFamily="18" charset="0"/>
              </a:rPr>
              <a:t>Statement of Hypotheses: Formats</a:t>
            </a:r>
            <a:endParaRPr lang="en-US" altLang="zh-CN" sz="4000" i="0" dirty="0">
              <a:solidFill>
                <a:srgbClr val="FF0000"/>
              </a:solidFill>
              <a:effectLst/>
              <a:latin typeface="Tenorite" panose="00000500000000000000"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E90F0128-6E97-B6F9-AD45-B13D7AC51D4D}"/>
              </a:ext>
            </a:extLst>
          </p:cNvPr>
          <p:cNvSpPr txBox="1"/>
          <p:nvPr/>
        </p:nvSpPr>
        <p:spPr>
          <a:xfrm>
            <a:off x="135732" y="827186"/>
            <a:ext cx="11794331" cy="5940088"/>
          </a:xfrm>
          <a:prstGeom prst="rect">
            <a:avLst/>
          </a:prstGeom>
          <a:solidFill>
            <a:schemeClr val="bg1"/>
          </a:solidFill>
        </p:spPr>
        <p:txBody>
          <a:bodyPr wrap="square">
            <a:spAutoFit/>
          </a:bodyPr>
          <a:lstStyle/>
          <a:p>
            <a:pPr algn="just"/>
            <a:r>
              <a:rPr lang="en-US" altLang="zh-CN" sz="3000" b="1" dirty="0">
                <a:highlight>
                  <a:srgbClr val="C0C0C0"/>
                </a:highlight>
                <a:latin typeface="Times New Roman" panose="02020603050405020304" pitchFamily="18" charset="0"/>
                <a:cs typeface="Times New Roman" panose="02020603050405020304" pitchFamily="18" charset="0"/>
              </a:rPr>
              <a:t>Directional and nondirectional hypotheses</a:t>
            </a:r>
          </a:p>
          <a:p>
            <a:pPr algn="just"/>
            <a:r>
              <a:rPr lang="en-US" altLang="zh-CN" sz="2400" b="1" i="1" dirty="0">
                <a:latin typeface="Times New Roman" panose="02020603050405020304" pitchFamily="18" charset="0"/>
                <a:cs typeface="Times New Roman" panose="02020603050405020304" pitchFamily="18" charset="0"/>
              </a:rPr>
              <a:t>Nondirectional hypotheses </a:t>
            </a:r>
            <a:r>
              <a:rPr lang="en-US" altLang="zh-CN" sz="2400" dirty="0">
                <a:latin typeface="Times New Roman" panose="02020603050405020304" pitchFamily="18" charset="0"/>
                <a:cs typeface="Times New Roman" panose="02020603050405020304" pitchFamily="18" charset="0"/>
              </a:rPr>
              <a:t>are those that </a:t>
            </a:r>
            <a:r>
              <a:rPr lang="en-US" altLang="zh-CN" sz="2400" i="1" dirty="0">
                <a:latin typeface="Times New Roman" panose="02020603050405020304" pitchFamily="18" charset="0"/>
                <a:cs typeface="Times New Roman" panose="02020603050405020304" pitchFamily="18" charset="0"/>
              </a:rPr>
              <a:t>do postulate a relationship or difference, but offer no indication of the direction of these relationships or differences. </a:t>
            </a:r>
            <a:r>
              <a:rPr lang="en-US" altLang="zh-CN" sz="2400" dirty="0">
                <a:latin typeface="Times New Roman" panose="02020603050405020304" pitchFamily="18" charset="0"/>
                <a:cs typeface="Times New Roman" panose="02020603050405020304" pitchFamily="18" charset="0"/>
              </a:rPr>
              <a:t>In other words, though it may be </a:t>
            </a:r>
            <a:r>
              <a:rPr lang="en-US" altLang="zh-CN" sz="2400" i="1" dirty="0">
                <a:latin typeface="Times New Roman" panose="02020603050405020304" pitchFamily="18" charset="0"/>
                <a:cs typeface="Times New Roman" panose="02020603050405020304" pitchFamily="18" charset="0"/>
              </a:rPr>
              <a:t>conjectured that there is a significant relationship between two variables, we may not be able to say whether the relationship is positive or negative</a:t>
            </a:r>
            <a:r>
              <a:rPr lang="en-US" altLang="zh-CN" sz="2400" dirty="0">
                <a:latin typeface="Times New Roman" panose="02020603050405020304" pitchFamily="18" charset="0"/>
                <a:cs typeface="Times New Roman" panose="02020603050405020304" pitchFamily="18" charset="0"/>
              </a:rPr>
              <a:t>, as in the first example below. Likewise, even if we can conjecture that there will be differences between two groups on a particular variable, we may not be able to say which group will be more and which less on that variable, as in the second example.</a:t>
            </a:r>
          </a:p>
          <a:p>
            <a:pPr algn="just"/>
            <a:endParaRPr lang="en-US" altLang="zh-CN" sz="2000" dirty="0">
              <a:latin typeface="Times New Roman" panose="02020603050405020304" pitchFamily="18" charset="0"/>
              <a:cs typeface="Times New Roman" panose="02020603050405020304" pitchFamily="18" charset="0"/>
            </a:endParaRPr>
          </a:p>
          <a:p>
            <a:pPr algn="just"/>
            <a:r>
              <a:rPr lang="en-US" altLang="zh-CN" sz="2200" b="1" i="1" dirty="0">
                <a:latin typeface="Times New Roman" panose="02020603050405020304" pitchFamily="18" charset="0"/>
                <a:cs typeface="Times New Roman" panose="02020603050405020304" pitchFamily="18" charset="0"/>
              </a:rPr>
              <a:t>There is a relation between arousal‐seeking tendency and consumer preferences for complex product designs.</a:t>
            </a:r>
          </a:p>
          <a:p>
            <a:pPr algn="just"/>
            <a:endParaRPr lang="en-US" altLang="zh-CN" dirty="0">
              <a:latin typeface="Times New Roman" panose="02020603050405020304" pitchFamily="18" charset="0"/>
              <a:cs typeface="Times New Roman" panose="02020603050405020304" pitchFamily="18" charset="0"/>
            </a:endParaRPr>
          </a:p>
          <a:p>
            <a:pPr algn="just"/>
            <a:r>
              <a:rPr lang="en-US" altLang="zh-CN" sz="2200" b="1" i="1" dirty="0">
                <a:latin typeface="Times New Roman" panose="02020603050405020304" pitchFamily="18" charset="0"/>
                <a:cs typeface="Times New Roman" panose="02020603050405020304" pitchFamily="18" charset="0"/>
              </a:rPr>
              <a:t>There is a difference between the work ethic values of American and Asian employees.</a:t>
            </a:r>
          </a:p>
          <a:p>
            <a:pPr algn="just"/>
            <a:endParaRPr lang="en-US" altLang="zh-CN" b="1" i="1" dirty="0">
              <a:latin typeface="Times New Roman" panose="02020603050405020304" pitchFamily="18" charset="0"/>
              <a:cs typeface="Times New Roman" panose="02020603050405020304" pitchFamily="18" charset="0"/>
            </a:endParaRPr>
          </a:p>
          <a:p>
            <a:pPr algn="just"/>
            <a:r>
              <a:rPr lang="en-US" altLang="zh-CN" dirty="0">
                <a:latin typeface="Times New Roman" panose="02020603050405020304" pitchFamily="18" charset="0"/>
                <a:cs typeface="Times New Roman" panose="02020603050405020304" pitchFamily="18" charset="0"/>
              </a:rPr>
              <a:t>Nondirectional hypotheses are formulated either because the relationships or differences have never been explored, and hence there is no basis for indicating the direction, or because there have been conflicting findings in previous research studies on the variables.</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217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32E8F-7FE9-13B6-34C7-56F480553A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303077-711D-E439-CA22-4DDA8460BDB1}"/>
              </a:ext>
            </a:extLst>
          </p:cNvPr>
          <p:cNvSpPr txBox="1"/>
          <p:nvPr/>
        </p:nvSpPr>
        <p:spPr>
          <a:xfrm>
            <a:off x="528637" y="90726"/>
            <a:ext cx="11251406" cy="615553"/>
          </a:xfrm>
          <a:prstGeom prst="rect">
            <a:avLst/>
          </a:prstGeom>
          <a:solidFill>
            <a:schemeClr val="bg1"/>
          </a:solidFill>
        </p:spPr>
        <p:txBody>
          <a:bodyPr wrap="square">
            <a:spAutoFit/>
          </a:bodyPr>
          <a:lstStyle/>
          <a:p>
            <a:pPr algn="just"/>
            <a:r>
              <a:rPr lang="en-US" altLang="zh-CN" sz="3400" dirty="0">
                <a:solidFill>
                  <a:srgbClr val="FF0000"/>
                </a:solidFill>
                <a:latin typeface="Tenorite" panose="00000500000000000000" pitchFamily="2" charset="0"/>
                <a:cs typeface="Times New Roman" panose="02020603050405020304" pitchFamily="18" charset="0"/>
              </a:rPr>
              <a:t>Statement of Hypotheses: Formats</a:t>
            </a:r>
            <a:endParaRPr lang="en-US" altLang="zh-CN" sz="3400" i="0" dirty="0">
              <a:solidFill>
                <a:srgbClr val="FF0000"/>
              </a:solidFill>
              <a:effectLst/>
              <a:latin typeface="Tenorite" panose="00000500000000000000"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EBA0B8FA-85F2-5088-D176-4C451ED77C58}"/>
              </a:ext>
            </a:extLst>
          </p:cNvPr>
          <p:cNvSpPr txBox="1"/>
          <p:nvPr/>
        </p:nvSpPr>
        <p:spPr>
          <a:xfrm>
            <a:off x="528637" y="798612"/>
            <a:ext cx="11251406" cy="5847755"/>
          </a:xfrm>
          <a:prstGeom prst="rect">
            <a:avLst/>
          </a:prstGeom>
          <a:solidFill>
            <a:schemeClr val="bg1"/>
          </a:solidFill>
        </p:spPr>
        <p:txBody>
          <a:bodyPr wrap="square">
            <a:spAutoFit/>
          </a:bodyPr>
          <a:lstStyle/>
          <a:p>
            <a:pPr algn="just"/>
            <a:r>
              <a:rPr lang="en-US" altLang="zh-CN" sz="3000" b="1" dirty="0">
                <a:highlight>
                  <a:srgbClr val="C0C0C0"/>
                </a:highlight>
                <a:latin typeface="Times New Roman" panose="02020603050405020304" pitchFamily="18" charset="0"/>
                <a:cs typeface="Times New Roman" panose="02020603050405020304" pitchFamily="18" charset="0"/>
              </a:rPr>
              <a:t>Null and alternate hypotheses</a:t>
            </a:r>
          </a:p>
          <a:p>
            <a:pPr marL="514350" indent="-514350" algn="just">
              <a:buAutoNum type="arabicPeriod"/>
            </a:pPr>
            <a:r>
              <a:rPr lang="en-US" altLang="zh-CN" sz="2400" b="1" dirty="0">
                <a:latin typeface="Times New Roman" panose="02020603050405020304" pitchFamily="18" charset="0"/>
                <a:cs typeface="Times New Roman" panose="02020603050405020304" pitchFamily="18" charset="0"/>
              </a:rPr>
              <a:t>Purpose of the Null Hypothesis (H₀): </a:t>
            </a:r>
            <a:r>
              <a:rPr lang="en-US" altLang="zh-CN" sz="2400" dirty="0">
                <a:latin typeface="Times New Roman" panose="02020603050405020304" pitchFamily="18" charset="0"/>
                <a:cs typeface="Times New Roman" panose="02020603050405020304" pitchFamily="18" charset="0"/>
              </a:rPr>
              <a:t>The null hypothesis is set up with the explicit goal of being rejected. Its rejection provides statistical support for the researcher's actual theory, which is stated as the alternate hypothesis.</a:t>
            </a:r>
          </a:p>
          <a:p>
            <a:pPr marL="514350" indent="-514350" algn="just">
              <a:buAutoNum type="arabicPeriod"/>
            </a:pPr>
            <a:r>
              <a:rPr lang="en-US" altLang="zh-CN" sz="2400" b="1" dirty="0">
                <a:latin typeface="Times New Roman" panose="02020603050405020304" pitchFamily="18" charset="0"/>
                <a:cs typeface="Times New Roman" panose="02020603050405020304" pitchFamily="18" charset="0"/>
              </a:rPr>
              <a:t>The "Default" and "No Effect" Position: </a:t>
            </a:r>
            <a:r>
              <a:rPr lang="en-US" altLang="zh-CN" sz="2400" dirty="0">
                <a:latin typeface="Times New Roman" panose="02020603050405020304" pitchFamily="18" charset="0"/>
                <a:cs typeface="Times New Roman" panose="02020603050405020304" pitchFamily="18" charset="0"/>
              </a:rPr>
              <a:t>The null hypothesis is the default assumption that there is no relationship between two variables or no difference between two groups. It represents the conclusion that any observed effect in the sample is due to random chance (sampling fluctuations) and not a true effect in the population.</a:t>
            </a:r>
          </a:p>
          <a:p>
            <a:pPr algn="just"/>
            <a:r>
              <a:rPr lang="en-US" altLang="zh-CN" sz="2000" b="1" i="1" dirty="0">
                <a:latin typeface="Times New Roman" panose="02020603050405020304" pitchFamily="18" charset="0"/>
                <a:cs typeface="Times New Roman" panose="02020603050405020304" pitchFamily="18" charset="0"/>
              </a:rPr>
              <a:t>Example: H₀: </a:t>
            </a:r>
            <a:r>
              <a:rPr lang="en-US" altLang="zh-CN" sz="2000" i="1" dirty="0">
                <a:latin typeface="Times New Roman" panose="02020603050405020304" pitchFamily="18" charset="0"/>
                <a:cs typeface="Times New Roman" panose="02020603050405020304" pitchFamily="18" charset="0"/>
              </a:rPr>
              <a:t>Motivation levels of Men and Women are equal (H₀: μ_M = μ_W).</a:t>
            </a:r>
          </a:p>
          <a:p>
            <a:pPr algn="just"/>
            <a:endParaRPr lang="en-US" altLang="zh-CN" sz="2000" i="1" dirty="0">
              <a:latin typeface="Times New Roman" panose="02020603050405020304" pitchFamily="18" charset="0"/>
              <a:cs typeface="Times New Roman" panose="02020603050405020304" pitchFamily="18" charset="0"/>
            </a:endParaRPr>
          </a:p>
          <a:p>
            <a:pPr marL="514350" indent="-514350" algn="just"/>
            <a:r>
              <a:rPr lang="en-US" altLang="zh-CN" sz="2400" dirty="0">
                <a:latin typeface="Times New Roman" panose="02020603050405020304" pitchFamily="18" charset="0"/>
                <a:cs typeface="Times New Roman" panose="02020603050405020304" pitchFamily="18" charset="0"/>
              </a:rPr>
              <a:t>3. Role of the Alternate Hypothesis (H</a:t>
            </a:r>
            <a:r>
              <a:rPr lang="en-US" altLang="zh-CN" sz="2400" baseline="-25000" dirty="0">
                <a:latin typeface="Times New Roman" panose="02020603050405020304" pitchFamily="18" charset="0"/>
                <a:cs typeface="Times New Roman" panose="02020603050405020304" pitchFamily="18" charset="0"/>
              </a:rPr>
              <a:t>A</a:t>
            </a:r>
            <a:r>
              <a:rPr lang="en-US" altLang="zh-CN" sz="2400" dirty="0">
                <a:latin typeface="Times New Roman" panose="02020603050405020304" pitchFamily="18" charset="0"/>
                <a:cs typeface="Times New Roman" panose="02020603050405020304" pitchFamily="18" charset="0"/>
              </a:rPr>
              <a:t> or H₁): The alternate hypothesis is the researcher's prediction of a relationship, difference, or effect. It is the statement they want to validate. It is the logical opposite of the null hypothesis.</a:t>
            </a:r>
          </a:p>
          <a:p>
            <a:pPr algn="just"/>
            <a:endParaRPr lang="en-US" altLang="zh-CN" sz="2000" i="1" dirty="0">
              <a:latin typeface="Times New Roman" panose="02020603050405020304" pitchFamily="18" charset="0"/>
              <a:cs typeface="Times New Roman" panose="02020603050405020304" pitchFamily="18" charset="0"/>
            </a:endParaRPr>
          </a:p>
          <a:p>
            <a:pPr algn="just"/>
            <a:r>
              <a:rPr lang="en-US" altLang="zh-CN" sz="2000" b="1" i="1" dirty="0">
                <a:latin typeface="Times New Roman" panose="02020603050405020304" pitchFamily="18" charset="0"/>
                <a:cs typeface="Times New Roman" panose="02020603050405020304" pitchFamily="18" charset="0"/>
              </a:rPr>
              <a:t>Example: H</a:t>
            </a:r>
            <a:r>
              <a:rPr lang="en-US" altLang="zh-CN" sz="2000" b="1" i="1" baseline="-25000" dirty="0">
                <a:latin typeface="Times New Roman" panose="02020603050405020304" pitchFamily="18" charset="0"/>
                <a:cs typeface="Times New Roman" panose="02020603050405020304" pitchFamily="18" charset="0"/>
              </a:rPr>
              <a:t>A</a:t>
            </a:r>
            <a:r>
              <a:rPr lang="en-US" altLang="zh-CN" sz="2000" b="1" i="1"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Women are more motivated than men (H</a:t>
            </a:r>
            <a:r>
              <a:rPr lang="en-US" altLang="zh-CN" sz="2000" i="1" baseline="-25000" dirty="0">
                <a:latin typeface="Times New Roman" panose="02020603050405020304" pitchFamily="18" charset="0"/>
                <a:cs typeface="Times New Roman" panose="02020603050405020304" pitchFamily="18" charset="0"/>
              </a:rPr>
              <a:t>A</a:t>
            </a:r>
            <a:r>
              <a:rPr lang="en-US" altLang="zh-CN" sz="2000" i="1" dirty="0">
                <a:latin typeface="Times New Roman" panose="02020603050405020304" pitchFamily="18" charset="0"/>
                <a:cs typeface="Times New Roman" panose="02020603050405020304" pitchFamily="18" charset="0"/>
              </a:rPr>
              <a:t>: μ_W &gt; μ_M).</a:t>
            </a:r>
          </a:p>
        </p:txBody>
      </p:sp>
    </p:spTree>
    <p:extLst>
      <p:ext uri="{BB962C8B-B14F-4D97-AF65-F5344CB8AC3E}">
        <p14:creationId xmlns:p14="http://schemas.microsoft.com/office/powerpoint/2010/main" val="249509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ADC07-7904-68E7-E0E5-6F3D2B62EF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DAAFBE-21E2-0D3C-3D61-5B4B1414F1A7}"/>
              </a:ext>
            </a:extLst>
          </p:cNvPr>
          <p:cNvSpPr txBox="1"/>
          <p:nvPr/>
        </p:nvSpPr>
        <p:spPr>
          <a:xfrm>
            <a:off x="528637" y="90726"/>
            <a:ext cx="11251406" cy="707886"/>
          </a:xfrm>
          <a:prstGeom prst="rect">
            <a:avLst/>
          </a:prstGeom>
          <a:solidFill>
            <a:schemeClr val="bg1"/>
          </a:solidFill>
        </p:spPr>
        <p:txBody>
          <a:bodyPr wrap="square">
            <a:spAutoFit/>
          </a:bodyPr>
          <a:lstStyle/>
          <a:p>
            <a:pPr algn="just"/>
            <a:r>
              <a:rPr lang="en-US" altLang="zh-CN" sz="4000" dirty="0">
                <a:solidFill>
                  <a:srgbClr val="FF0000"/>
                </a:solidFill>
                <a:latin typeface="Tenorite" panose="00000500000000000000" pitchFamily="2" charset="0"/>
                <a:cs typeface="Times New Roman" panose="02020603050405020304" pitchFamily="18" charset="0"/>
              </a:rPr>
              <a:t>Statement of Hypotheses: Formats</a:t>
            </a:r>
            <a:endParaRPr lang="en-US" altLang="zh-CN" sz="4000" i="0" dirty="0">
              <a:solidFill>
                <a:srgbClr val="FF0000"/>
              </a:solidFill>
              <a:effectLst/>
              <a:latin typeface="Tenorite" panose="00000500000000000000"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EC17A2EF-0756-ACA5-60A6-5996A892547B}"/>
              </a:ext>
            </a:extLst>
          </p:cNvPr>
          <p:cNvSpPr txBox="1"/>
          <p:nvPr/>
        </p:nvSpPr>
        <p:spPr>
          <a:xfrm>
            <a:off x="528637" y="798612"/>
            <a:ext cx="11251406" cy="4832092"/>
          </a:xfrm>
          <a:prstGeom prst="rect">
            <a:avLst/>
          </a:prstGeom>
          <a:solidFill>
            <a:schemeClr val="bg1"/>
          </a:solidFill>
        </p:spPr>
        <p:txBody>
          <a:bodyPr wrap="square">
            <a:spAutoFit/>
          </a:bodyPr>
          <a:lstStyle/>
          <a:p>
            <a:pPr algn="just"/>
            <a:r>
              <a:rPr lang="en-US" altLang="zh-CN" sz="3000" b="1" dirty="0">
                <a:highlight>
                  <a:srgbClr val="C0C0C0"/>
                </a:highlight>
                <a:latin typeface="Times New Roman" panose="02020603050405020304" pitchFamily="18" charset="0"/>
                <a:cs typeface="Times New Roman" panose="02020603050405020304" pitchFamily="18" charset="0"/>
              </a:rPr>
              <a:t>Null and alternate hypotheses</a:t>
            </a:r>
          </a:p>
          <a:p>
            <a:pPr marL="400050" indent="-400050" algn="just"/>
            <a:r>
              <a:rPr lang="en-US" altLang="zh-CN" sz="2800" dirty="0">
                <a:latin typeface="Times New Roman" panose="02020603050405020304" pitchFamily="18" charset="0"/>
                <a:cs typeface="Times New Roman" panose="02020603050405020304" pitchFamily="18" charset="0"/>
              </a:rPr>
              <a:t>4. </a:t>
            </a:r>
            <a:r>
              <a:rPr lang="en-US" altLang="zh-CN" sz="2800" b="1" dirty="0">
                <a:latin typeface="Times New Roman" panose="02020603050405020304" pitchFamily="18" charset="0"/>
                <a:cs typeface="Times New Roman" panose="02020603050405020304" pitchFamily="18" charset="0"/>
              </a:rPr>
              <a:t>Falsifiability:</a:t>
            </a:r>
            <a:r>
              <a:rPr lang="en-US" altLang="zh-CN" sz="2800" dirty="0">
                <a:latin typeface="Times New Roman" panose="02020603050405020304" pitchFamily="18" charset="0"/>
                <a:cs typeface="Times New Roman" panose="02020603050405020304" pitchFamily="18" charset="0"/>
              </a:rPr>
              <a:t> The hypothetico-deductive method requires that hypotheses be falsifiable. The structure of null hypothesis testing makes this possible because the null (stating "no effect") is a concrete claim that can be statistically tested and potentially rejected.</a:t>
            </a:r>
          </a:p>
          <a:p>
            <a:pPr marL="400050" indent="-400050" algn="just"/>
            <a:r>
              <a:rPr lang="en-US" altLang="zh-CN" sz="2800" dirty="0">
                <a:latin typeface="Times New Roman" panose="02020603050405020304" pitchFamily="18" charset="0"/>
                <a:cs typeface="Times New Roman" panose="02020603050405020304" pitchFamily="18" charset="0"/>
              </a:rPr>
              <a:t>5. </a:t>
            </a:r>
            <a:r>
              <a:rPr lang="en-US" altLang="zh-CN" sz="2800" b="1" dirty="0">
                <a:latin typeface="Times New Roman" panose="02020603050405020304" pitchFamily="18" charset="0"/>
                <a:cs typeface="Times New Roman" panose="02020603050405020304" pitchFamily="18" charset="0"/>
              </a:rPr>
              <a:t>Statistical Conclusion: </a:t>
            </a:r>
            <a:r>
              <a:rPr lang="en-US" altLang="zh-CN" sz="2800" dirty="0">
                <a:latin typeface="Times New Roman" panose="02020603050405020304" pitchFamily="18" charset="0"/>
                <a:cs typeface="Times New Roman" panose="02020603050405020304" pitchFamily="18" charset="0"/>
              </a:rPr>
              <a:t>The outcome of a statistical test tells us whether to reject or not reject the null hypothesis.</a:t>
            </a:r>
          </a:p>
          <a:p>
            <a:pPr marL="914400" indent="-400050" algn="just">
              <a:buFont typeface="Arial" panose="020B0604020202020204" pitchFamily="34" charset="0"/>
              <a:buChar char="•"/>
              <a:tabLst>
                <a:tab pos="971550" algn="l"/>
              </a:tabLst>
            </a:pPr>
            <a:r>
              <a:rPr lang="en-US" altLang="zh-CN" sz="2200" dirty="0">
                <a:latin typeface="Times New Roman" panose="02020603050405020304" pitchFamily="18" charset="0"/>
                <a:cs typeface="Times New Roman" panose="02020603050405020304" pitchFamily="18" charset="0"/>
              </a:rPr>
              <a:t>If the test shows the results are statistically unlikely under the null hypothesis (e.g., p &lt; 0.05), we reject H₀ and thereby find support for the alternate hypothesis (H_A).</a:t>
            </a:r>
          </a:p>
          <a:p>
            <a:pPr marL="514350" algn="just">
              <a:tabLst>
                <a:tab pos="971550" algn="l"/>
              </a:tabLst>
            </a:pPr>
            <a:endParaRPr lang="en-US" altLang="zh-CN" sz="2200" dirty="0">
              <a:latin typeface="Times New Roman" panose="02020603050405020304" pitchFamily="18" charset="0"/>
              <a:cs typeface="Times New Roman" panose="02020603050405020304" pitchFamily="18" charset="0"/>
            </a:endParaRPr>
          </a:p>
          <a:p>
            <a:pPr marL="914400" indent="-457200" algn="just">
              <a:buFont typeface="Arial" panose="020B0604020202020204" pitchFamily="34" charset="0"/>
              <a:buChar char="•"/>
              <a:tabLst>
                <a:tab pos="914400" algn="l"/>
                <a:tab pos="1314450" algn="l"/>
              </a:tabLst>
            </a:pPr>
            <a:r>
              <a:rPr lang="en-US" altLang="zh-CN" sz="2200" dirty="0">
                <a:latin typeface="Times New Roman" panose="02020603050405020304" pitchFamily="18" charset="0"/>
                <a:cs typeface="Times New Roman" panose="02020603050405020304" pitchFamily="18" charset="0"/>
              </a:rPr>
              <a:t>If the results are not statistically significant, we fail to reject H₀. We do not "prove" the null; we simply lack sufficient evidence to support the alternate.</a:t>
            </a:r>
            <a:endParaRPr lang="en-US" altLang="zh-CN" sz="2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974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9A5B5-3819-81CB-287F-BFECEF3C0E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0F4C07-DD30-D8A6-67A8-6D9EA883AD16}"/>
              </a:ext>
            </a:extLst>
          </p:cNvPr>
          <p:cNvSpPr txBox="1"/>
          <p:nvPr/>
        </p:nvSpPr>
        <p:spPr>
          <a:xfrm>
            <a:off x="528637" y="90726"/>
            <a:ext cx="11251406" cy="707886"/>
          </a:xfrm>
          <a:prstGeom prst="rect">
            <a:avLst/>
          </a:prstGeom>
          <a:solidFill>
            <a:schemeClr val="bg1"/>
          </a:solidFill>
        </p:spPr>
        <p:txBody>
          <a:bodyPr wrap="square">
            <a:spAutoFit/>
          </a:bodyPr>
          <a:lstStyle/>
          <a:p>
            <a:pPr algn="just"/>
            <a:r>
              <a:rPr lang="en-US" altLang="zh-CN" sz="4000" dirty="0">
                <a:solidFill>
                  <a:srgbClr val="FF0000"/>
                </a:solidFill>
                <a:latin typeface="Tenorite" panose="00000500000000000000" pitchFamily="2" charset="0"/>
                <a:cs typeface="Times New Roman" panose="02020603050405020304" pitchFamily="18" charset="0"/>
              </a:rPr>
              <a:t>Statement of Hypotheses: Formats</a:t>
            </a:r>
            <a:endParaRPr lang="en-US" altLang="zh-CN" sz="4000" i="0" dirty="0">
              <a:solidFill>
                <a:srgbClr val="FF0000"/>
              </a:solidFill>
              <a:effectLst/>
              <a:latin typeface="Tenorite" panose="00000500000000000000"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E9BA4337-93FF-72A3-2BD9-3A96FDA80465}"/>
              </a:ext>
            </a:extLst>
          </p:cNvPr>
          <p:cNvSpPr txBox="1"/>
          <p:nvPr/>
        </p:nvSpPr>
        <p:spPr>
          <a:xfrm>
            <a:off x="528637" y="798612"/>
            <a:ext cx="11251406" cy="4462760"/>
          </a:xfrm>
          <a:prstGeom prst="rect">
            <a:avLst/>
          </a:prstGeom>
          <a:solidFill>
            <a:schemeClr val="bg1"/>
          </a:solidFill>
        </p:spPr>
        <p:txBody>
          <a:bodyPr wrap="square">
            <a:spAutoFit/>
          </a:bodyPr>
          <a:lstStyle/>
          <a:p>
            <a:pPr algn="just"/>
            <a:r>
              <a:rPr lang="en-US" altLang="zh-CN" sz="3000" b="1" dirty="0">
                <a:highlight>
                  <a:srgbClr val="C0C0C0"/>
                </a:highlight>
                <a:latin typeface="Times New Roman" panose="02020603050405020304" pitchFamily="18" charset="0"/>
                <a:cs typeface="Times New Roman" panose="02020603050405020304" pitchFamily="18" charset="0"/>
              </a:rPr>
              <a:t>Null and alternate hypotheses</a:t>
            </a:r>
          </a:p>
          <a:p>
            <a:pPr algn="just"/>
            <a:r>
              <a:rPr lang="en-US" altLang="zh-CN" sz="3000" b="1" dirty="0">
                <a:highlight>
                  <a:srgbClr val="C0C0C0"/>
                </a:highlight>
                <a:latin typeface="Times New Roman" panose="02020603050405020304" pitchFamily="18" charset="0"/>
                <a:cs typeface="Times New Roman" panose="02020603050405020304" pitchFamily="18" charset="0"/>
              </a:rPr>
              <a:t>Directionality:</a:t>
            </a:r>
          </a:p>
          <a:p>
            <a:pPr algn="just"/>
            <a:r>
              <a:rPr lang="en-US" altLang="zh-CN" sz="2800" b="1" dirty="0">
                <a:latin typeface="Times New Roman" panose="02020603050405020304" pitchFamily="18" charset="0"/>
                <a:cs typeface="Times New Roman" panose="02020603050405020304" pitchFamily="18" charset="0"/>
              </a:rPr>
              <a:t>Directional (One-tailed) Tests: </a:t>
            </a:r>
            <a:r>
              <a:rPr lang="en-US" altLang="zh-CN" sz="2800" dirty="0">
                <a:latin typeface="Times New Roman" panose="02020603050405020304" pitchFamily="18" charset="0"/>
                <a:cs typeface="Times New Roman" panose="02020603050405020304" pitchFamily="18" charset="0"/>
              </a:rPr>
              <a:t>The alternate hypothesis specifies the direction of the effect (e.g., "greater than," "less than"). The example "Women are more motivated than men" is directional.</a:t>
            </a:r>
          </a:p>
          <a:p>
            <a:pPr algn="just"/>
            <a:endParaRPr lang="en-US" altLang="zh-CN" sz="2800" dirty="0">
              <a:latin typeface="Times New Roman" panose="02020603050405020304" pitchFamily="18" charset="0"/>
              <a:cs typeface="Times New Roman" panose="02020603050405020304" pitchFamily="18" charset="0"/>
            </a:endParaRPr>
          </a:p>
          <a:p>
            <a:pPr algn="just"/>
            <a:r>
              <a:rPr lang="en-US" altLang="zh-CN" sz="2800" b="1" dirty="0">
                <a:latin typeface="Times New Roman" panose="02020603050405020304" pitchFamily="18" charset="0"/>
                <a:cs typeface="Times New Roman" panose="02020603050405020304" pitchFamily="18" charset="0"/>
              </a:rPr>
              <a:t>Non-Directional (Two-tailed) Tests: </a:t>
            </a:r>
            <a:r>
              <a:rPr lang="en-US" altLang="zh-CN" sz="2800" dirty="0">
                <a:latin typeface="Times New Roman" panose="02020603050405020304" pitchFamily="18" charset="0"/>
                <a:cs typeface="Times New Roman" panose="02020603050405020304" pitchFamily="18" charset="0"/>
              </a:rPr>
              <a:t>The alternate hypothesis only states that there is a difference, but not its direction (e.g., "is not equal to"). The example on work ethic values ("There is a difference between Americans and Asians") is non-directional.</a:t>
            </a:r>
          </a:p>
        </p:txBody>
      </p:sp>
    </p:spTree>
    <p:extLst>
      <p:ext uri="{BB962C8B-B14F-4D97-AF65-F5344CB8AC3E}">
        <p14:creationId xmlns:p14="http://schemas.microsoft.com/office/powerpoint/2010/main" val="235515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45FE3-6CCD-DBD1-E719-86A80DA4CB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112664-5B77-C0C8-6350-1C7BB8E675F1}"/>
              </a:ext>
            </a:extLst>
          </p:cNvPr>
          <p:cNvSpPr txBox="1"/>
          <p:nvPr/>
        </p:nvSpPr>
        <p:spPr>
          <a:xfrm>
            <a:off x="1481014" y="718148"/>
            <a:ext cx="9155723" cy="5632311"/>
          </a:xfrm>
          <a:prstGeom prst="rect">
            <a:avLst/>
          </a:prstGeom>
          <a:solidFill>
            <a:schemeClr val="bg1"/>
          </a:solidFill>
        </p:spPr>
        <p:txBody>
          <a:bodyPr wrap="square">
            <a:spAutoFit/>
          </a:bodyPr>
          <a:lstStyle/>
          <a:p>
            <a:pPr algn="ctr"/>
            <a:r>
              <a:rPr lang="en-US" altLang="zh-CN" sz="4500" b="1" dirty="0">
                <a:solidFill>
                  <a:srgbClr val="FF0000"/>
                </a:solidFill>
                <a:latin typeface="Times New Roman" panose="02020603050405020304" pitchFamily="18" charset="0"/>
                <a:cs typeface="Times New Roman" panose="02020603050405020304" pitchFamily="18" charset="0"/>
              </a:rPr>
              <a:t>Individual Activity:</a:t>
            </a:r>
          </a:p>
          <a:p>
            <a:pPr algn="just"/>
            <a:r>
              <a:rPr lang="en-US" altLang="zh-CN" sz="4500" dirty="0">
                <a:latin typeface="Times New Roman" panose="02020603050405020304" pitchFamily="18" charset="0"/>
                <a:cs typeface="Times New Roman" panose="02020603050405020304" pitchFamily="18" charset="0"/>
              </a:rPr>
              <a:t>Write your research title and determine your variables. What might be the problem statement or problem definition for the situation as well framework of your study, theory and hypothesis? Please make presentation for next class</a:t>
            </a:r>
            <a:endParaRPr lang="en-US" altLang="zh-CN" sz="4500" i="0"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935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16612" y="2659559"/>
            <a:ext cx="2534668" cy="769441"/>
          </a:xfrm>
          <a:prstGeom prst="rect">
            <a:avLst/>
          </a:prstGeom>
        </p:spPr>
        <p:txBody>
          <a:bodyPr wrap="none">
            <a:spAutoFit/>
          </a:bodyPr>
          <a:lstStyle/>
          <a:p>
            <a:r>
              <a:rPr lang="en-US" sz="4400" b="1" u="sng" cap="all" dirty="0">
                <a:solidFill>
                  <a:srgbClr val="FFFF00"/>
                </a:solidFill>
                <a:latin typeface="Arial" panose="020B0604020202020204" pitchFamily="34" charset="0"/>
              </a:rPr>
              <a:t>Thanks</a:t>
            </a:r>
            <a:endParaRPr lang="en-US" sz="4400" dirty="0">
              <a:solidFill>
                <a:srgbClr val="FFFF00"/>
              </a:solidFill>
            </a:endParaRPr>
          </a:p>
        </p:txBody>
      </p:sp>
    </p:spTree>
    <p:extLst>
      <p:ext uri="{BB962C8B-B14F-4D97-AF65-F5344CB8AC3E}">
        <p14:creationId xmlns:p14="http://schemas.microsoft.com/office/powerpoint/2010/main" val="1650352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9474</TotalTime>
  <Words>4488</Words>
  <Application>Microsoft Office PowerPoint</Application>
  <PresentationFormat>Widescreen</PresentationFormat>
  <Paragraphs>286</Paragraphs>
  <Slides>54</Slides>
  <Notes>53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Calibri Light</vt:lpstr>
      <vt:lpstr>Tenorite</vt:lpstr>
      <vt:lpstr>Times New Roman</vt:lpstr>
      <vt:lpstr>Wingdings</vt:lpstr>
      <vt:lpstr>Office Theme</vt:lpstr>
      <vt:lpstr>PowerPoint Presentation</vt:lpstr>
      <vt:lpstr>What is Bias in Research?</vt:lpstr>
      <vt:lpstr>What is Bias in Research?</vt:lpstr>
      <vt:lpstr>What is Bias in Research?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VARIABLES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PowerPoint Presentation</vt:lpstr>
      <vt:lpstr>BASIC 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PGP Program (Ph.D)</dc:title>
  <dc:creator>Bahria</dc:creator>
  <cp:lastModifiedBy>Dr. Faheem Akhtar BUKC</cp:lastModifiedBy>
  <cp:revision>616</cp:revision>
  <cp:lastPrinted>2021-05-24T09:00:11Z</cp:lastPrinted>
  <dcterms:created xsi:type="dcterms:W3CDTF">2021-05-24T08:10:44Z</dcterms:created>
  <dcterms:modified xsi:type="dcterms:W3CDTF">2025-11-16T04:46:16Z</dcterms:modified>
</cp:coreProperties>
</file>