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FC024-C321-4EC8-9AC7-81D2097CC76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8648D23-2B59-4076-B6F3-021D18CD07C0}">
      <dgm:prSet custT="1"/>
      <dgm:spPr/>
      <dgm:t>
        <a:bodyPr/>
        <a:lstStyle/>
        <a:p>
          <a:r>
            <a:rPr lang="en-GB" sz="2800" b="1" dirty="0"/>
            <a:t>Independent Variable:</a:t>
          </a:r>
        </a:p>
        <a:p>
          <a:r>
            <a:rPr lang="en-GB" sz="2800" b="1" dirty="0"/>
            <a:t> </a:t>
          </a:r>
          <a:r>
            <a:rPr lang="en-GB" sz="2000" dirty="0"/>
            <a:t>Level of AI Adoption (e.g., extent of tools like automation software).</a:t>
          </a:r>
          <a:endParaRPr lang="en-US" sz="2400" dirty="0"/>
        </a:p>
      </dgm:t>
    </dgm:pt>
    <dgm:pt modelId="{261D1909-AA6B-4747-B94F-DC0009A6D2B4}" type="parTrans" cxnId="{E1639041-7110-492E-B533-0F928061B2AB}">
      <dgm:prSet/>
      <dgm:spPr/>
      <dgm:t>
        <a:bodyPr/>
        <a:lstStyle/>
        <a:p>
          <a:endParaRPr lang="en-US"/>
        </a:p>
      </dgm:t>
    </dgm:pt>
    <dgm:pt modelId="{A3FF95C9-A9C0-46C3-AAF4-24A972A27271}" type="sibTrans" cxnId="{E1639041-7110-492E-B533-0F928061B2AB}">
      <dgm:prSet/>
      <dgm:spPr/>
      <dgm:t>
        <a:bodyPr/>
        <a:lstStyle/>
        <a:p>
          <a:endParaRPr lang="en-US"/>
        </a:p>
      </dgm:t>
    </dgm:pt>
    <dgm:pt modelId="{C86062F6-C465-4F0B-8371-3D8456EA099E}">
      <dgm:prSet custT="1"/>
      <dgm:spPr/>
      <dgm:t>
        <a:bodyPr/>
        <a:lstStyle/>
        <a:p>
          <a:r>
            <a:rPr lang="en-GB" sz="3200" b="1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Dependent Variable</a:t>
          </a:r>
          <a:r>
            <a:rPr lang="en-GB" sz="28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: </a:t>
          </a:r>
        </a:p>
        <a:p>
          <a:r>
            <a:rPr lang="en-GB" sz="20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Employee Productivity (e.g., output per hour, KPIs).</a:t>
          </a:r>
          <a:endParaRPr lang="en-US" sz="2000" dirty="0">
            <a:latin typeface="DengXian (Body)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757E958-32CB-40CE-BD3C-2EBB3B6ED057}" type="parTrans" cxnId="{686A8700-EAC5-460E-ABD5-AB6BF4FCA1FC}">
      <dgm:prSet/>
      <dgm:spPr/>
      <dgm:t>
        <a:bodyPr/>
        <a:lstStyle/>
        <a:p>
          <a:endParaRPr lang="en-US"/>
        </a:p>
      </dgm:t>
    </dgm:pt>
    <dgm:pt modelId="{9FF8300C-75CB-429E-84E3-496636E75D49}" type="sibTrans" cxnId="{686A8700-EAC5-460E-ABD5-AB6BF4FCA1FC}">
      <dgm:prSet/>
      <dgm:spPr/>
      <dgm:t>
        <a:bodyPr/>
        <a:lstStyle/>
        <a:p>
          <a:endParaRPr lang="en-US"/>
        </a:p>
      </dgm:t>
    </dgm:pt>
    <dgm:pt modelId="{68F90F6D-3AE6-4133-AA6C-590DF7FF481E}">
      <dgm:prSet custT="1"/>
      <dgm:spPr/>
      <dgm:t>
        <a:bodyPr/>
        <a:lstStyle/>
        <a:p>
          <a:r>
            <a:rPr lang="en-US" sz="2800" b="1" dirty="0"/>
            <a:t>Moderating</a:t>
          </a:r>
          <a:r>
            <a:rPr lang="en-GB" sz="3100" b="1" dirty="0"/>
            <a:t> Variable:</a:t>
          </a:r>
        </a:p>
        <a:p>
          <a:r>
            <a:rPr lang="en-GB" sz="3100" b="1" dirty="0"/>
            <a:t> </a:t>
          </a:r>
          <a:r>
            <a:rPr lang="en-GB" sz="2000" dirty="0"/>
            <a:t>Employee Training Level, Company Size.</a:t>
          </a:r>
          <a:endParaRPr lang="en-US" sz="3100" dirty="0"/>
        </a:p>
      </dgm:t>
    </dgm:pt>
    <dgm:pt modelId="{4D4F89BD-9325-4349-AD46-6C68DA8B2ADB}" type="parTrans" cxnId="{B7A7CC71-B46D-4F46-A185-11044E189DDF}">
      <dgm:prSet/>
      <dgm:spPr/>
      <dgm:t>
        <a:bodyPr/>
        <a:lstStyle/>
        <a:p>
          <a:endParaRPr lang="en-US"/>
        </a:p>
      </dgm:t>
    </dgm:pt>
    <dgm:pt modelId="{2506BDE8-5C83-42A1-80AF-972D45309A24}" type="sibTrans" cxnId="{B7A7CC71-B46D-4F46-A185-11044E189DDF}">
      <dgm:prSet/>
      <dgm:spPr/>
      <dgm:t>
        <a:bodyPr/>
        <a:lstStyle/>
        <a:p>
          <a:endParaRPr lang="en-US"/>
        </a:p>
      </dgm:t>
    </dgm:pt>
    <dgm:pt modelId="{80EF58E8-FF7D-487B-A0C8-DA0EAB15C266}">
      <dgm:prSet custT="1"/>
      <dgm:spPr/>
      <dgm:t>
        <a:bodyPr/>
        <a:lstStyle/>
        <a:p>
          <a:r>
            <a:rPr lang="en-US" sz="2600" b="1" dirty="0"/>
            <a:t>Control</a:t>
          </a:r>
          <a:r>
            <a:rPr lang="en-GB" sz="2600" b="1" dirty="0"/>
            <a:t> Variable:</a:t>
          </a:r>
        </a:p>
        <a:p>
          <a:r>
            <a:rPr lang="en-GB" sz="2600" b="1" dirty="0"/>
            <a:t> </a:t>
          </a:r>
          <a:r>
            <a:rPr lang="en-US" sz="2400" dirty="0"/>
            <a:t>Industry Sub-sector, Economic Conditions</a:t>
          </a:r>
          <a:r>
            <a:rPr lang="en-GB" sz="2400" dirty="0"/>
            <a:t>.</a:t>
          </a:r>
          <a:endParaRPr lang="en-US" sz="2600" dirty="0"/>
        </a:p>
      </dgm:t>
    </dgm:pt>
    <dgm:pt modelId="{96F88813-D23F-40AE-9944-7933F9A5D66A}" type="parTrans" cxnId="{7953039A-7598-4511-87CB-952585636BC3}">
      <dgm:prSet/>
      <dgm:spPr/>
      <dgm:t>
        <a:bodyPr/>
        <a:lstStyle/>
        <a:p>
          <a:endParaRPr lang="en-US"/>
        </a:p>
      </dgm:t>
    </dgm:pt>
    <dgm:pt modelId="{DA20C9C4-B69D-4744-AF41-AF943C27C6BE}" type="sibTrans" cxnId="{7953039A-7598-4511-87CB-952585636BC3}">
      <dgm:prSet/>
      <dgm:spPr/>
      <dgm:t>
        <a:bodyPr/>
        <a:lstStyle/>
        <a:p>
          <a:endParaRPr lang="en-US"/>
        </a:p>
      </dgm:t>
    </dgm:pt>
    <dgm:pt modelId="{ADBA57AA-C8AE-4333-9A9F-47D6302B80A0}" type="pres">
      <dgm:prSet presAssocID="{30FFC024-C321-4EC8-9AC7-81D2097CC767}" presName="linear" presStyleCnt="0">
        <dgm:presLayoutVars>
          <dgm:animLvl val="lvl"/>
          <dgm:resizeHandles val="exact"/>
        </dgm:presLayoutVars>
      </dgm:prSet>
      <dgm:spPr/>
    </dgm:pt>
    <dgm:pt modelId="{40590719-7E2B-4079-A213-D118A452E013}" type="pres">
      <dgm:prSet presAssocID="{B8648D23-2B59-4076-B6F3-021D18CD07C0}" presName="parentText" presStyleLbl="node1" presStyleIdx="0" presStyleCnt="4" custScaleY="138685" custLinFactY="-61073" custLinFactNeighborX="2053" custLinFactNeighborY="-100000">
        <dgm:presLayoutVars>
          <dgm:chMax val="0"/>
          <dgm:bulletEnabled val="1"/>
        </dgm:presLayoutVars>
      </dgm:prSet>
      <dgm:spPr/>
    </dgm:pt>
    <dgm:pt modelId="{B3CFD7EA-EBBE-4A54-AEE9-B358B172FFC8}" type="pres">
      <dgm:prSet presAssocID="{A3FF95C9-A9C0-46C3-AAF4-24A972A27271}" presName="spacer" presStyleCnt="0"/>
      <dgm:spPr/>
    </dgm:pt>
    <dgm:pt modelId="{63C2A42F-4647-4CC1-95C2-711724A85530}" type="pres">
      <dgm:prSet presAssocID="{68F90F6D-3AE6-4133-AA6C-590DF7FF481E}" presName="parentText" presStyleLbl="node1" presStyleIdx="1" presStyleCnt="4" custScaleY="127101" custLinFactY="101643" custLinFactNeighborY="200000">
        <dgm:presLayoutVars>
          <dgm:chMax val="0"/>
          <dgm:bulletEnabled val="1"/>
        </dgm:presLayoutVars>
      </dgm:prSet>
      <dgm:spPr/>
    </dgm:pt>
    <dgm:pt modelId="{8832D71A-9E63-480F-9BE1-9FB851D1A182}" type="pres">
      <dgm:prSet presAssocID="{2506BDE8-5C83-42A1-80AF-972D45309A24}" presName="spacer" presStyleCnt="0"/>
      <dgm:spPr/>
    </dgm:pt>
    <dgm:pt modelId="{92462325-5129-4A48-864F-96BD4B9BAA24}" type="pres">
      <dgm:prSet presAssocID="{80EF58E8-FF7D-487B-A0C8-DA0EAB15C266}" presName="parentText" presStyleLbl="node1" presStyleIdx="2" presStyleCnt="4" custScaleY="139235" custLinFactY="103179" custLinFactNeighborY="200000">
        <dgm:presLayoutVars>
          <dgm:chMax val="0"/>
          <dgm:bulletEnabled val="1"/>
        </dgm:presLayoutVars>
      </dgm:prSet>
      <dgm:spPr/>
    </dgm:pt>
    <dgm:pt modelId="{7925F578-8CE2-459B-85DE-F13AB02567A6}" type="pres">
      <dgm:prSet presAssocID="{DA20C9C4-B69D-4744-AF41-AF943C27C6BE}" presName="spacer" presStyleCnt="0"/>
      <dgm:spPr/>
    </dgm:pt>
    <dgm:pt modelId="{149E2CE4-ED31-4727-BACA-941FD85449C6}" type="pres">
      <dgm:prSet presAssocID="{C86062F6-C465-4F0B-8371-3D8456EA099E}" presName="parentText" presStyleLbl="node1" presStyleIdx="3" presStyleCnt="4" custScaleY="131131" custLinFactY="-256951" custLinFactNeighborY="-300000">
        <dgm:presLayoutVars>
          <dgm:chMax val="0"/>
          <dgm:bulletEnabled val="1"/>
        </dgm:presLayoutVars>
      </dgm:prSet>
      <dgm:spPr/>
    </dgm:pt>
  </dgm:ptLst>
  <dgm:cxnLst>
    <dgm:cxn modelId="{686A8700-EAC5-460E-ABD5-AB6BF4FCA1FC}" srcId="{30FFC024-C321-4EC8-9AC7-81D2097CC767}" destId="{C86062F6-C465-4F0B-8371-3D8456EA099E}" srcOrd="3" destOrd="0" parTransId="{7757E958-32CB-40CE-BD3C-2EBB3B6ED057}" sibTransId="{9FF8300C-75CB-429E-84E3-496636E75D49}"/>
    <dgm:cxn modelId="{E1639041-7110-492E-B533-0F928061B2AB}" srcId="{30FFC024-C321-4EC8-9AC7-81D2097CC767}" destId="{B8648D23-2B59-4076-B6F3-021D18CD07C0}" srcOrd="0" destOrd="0" parTransId="{261D1909-AA6B-4747-B94F-DC0009A6D2B4}" sibTransId="{A3FF95C9-A9C0-46C3-AAF4-24A972A27271}"/>
    <dgm:cxn modelId="{E0E30848-EEDB-4CF5-9E30-45CB6ADDD4E8}" type="presOf" srcId="{C86062F6-C465-4F0B-8371-3D8456EA099E}" destId="{149E2CE4-ED31-4727-BACA-941FD85449C6}" srcOrd="0" destOrd="0" presId="urn:microsoft.com/office/officeart/2005/8/layout/vList2"/>
    <dgm:cxn modelId="{B7A7CC71-B46D-4F46-A185-11044E189DDF}" srcId="{30FFC024-C321-4EC8-9AC7-81D2097CC767}" destId="{68F90F6D-3AE6-4133-AA6C-590DF7FF481E}" srcOrd="1" destOrd="0" parTransId="{4D4F89BD-9325-4349-AD46-6C68DA8B2ADB}" sibTransId="{2506BDE8-5C83-42A1-80AF-972D45309A24}"/>
    <dgm:cxn modelId="{B35C1A52-A474-4B95-BCF0-73B054B19E93}" type="presOf" srcId="{68F90F6D-3AE6-4133-AA6C-590DF7FF481E}" destId="{63C2A42F-4647-4CC1-95C2-711724A85530}" srcOrd="0" destOrd="0" presId="urn:microsoft.com/office/officeart/2005/8/layout/vList2"/>
    <dgm:cxn modelId="{A01E5A54-EA28-4522-A5D4-76943150AA9F}" type="presOf" srcId="{30FFC024-C321-4EC8-9AC7-81D2097CC767}" destId="{ADBA57AA-C8AE-4333-9A9F-47D6302B80A0}" srcOrd="0" destOrd="0" presId="urn:microsoft.com/office/officeart/2005/8/layout/vList2"/>
    <dgm:cxn modelId="{7953039A-7598-4511-87CB-952585636BC3}" srcId="{30FFC024-C321-4EC8-9AC7-81D2097CC767}" destId="{80EF58E8-FF7D-487B-A0C8-DA0EAB15C266}" srcOrd="2" destOrd="0" parTransId="{96F88813-D23F-40AE-9944-7933F9A5D66A}" sibTransId="{DA20C9C4-B69D-4744-AF41-AF943C27C6BE}"/>
    <dgm:cxn modelId="{AB9DCAC1-4892-4CBD-8E46-9AB58C411297}" type="presOf" srcId="{80EF58E8-FF7D-487B-A0C8-DA0EAB15C266}" destId="{92462325-5129-4A48-864F-96BD4B9BAA24}" srcOrd="0" destOrd="0" presId="urn:microsoft.com/office/officeart/2005/8/layout/vList2"/>
    <dgm:cxn modelId="{9BA2FCEC-8B74-49F3-B854-77BECF5EF795}" type="presOf" srcId="{B8648D23-2B59-4076-B6F3-021D18CD07C0}" destId="{40590719-7E2B-4079-A213-D118A452E013}" srcOrd="0" destOrd="0" presId="urn:microsoft.com/office/officeart/2005/8/layout/vList2"/>
    <dgm:cxn modelId="{55EDCFD7-F886-4DFB-AAE0-3B92FD9864C4}" type="presParOf" srcId="{ADBA57AA-C8AE-4333-9A9F-47D6302B80A0}" destId="{40590719-7E2B-4079-A213-D118A452E013}" srcOrd="0" destOrd="0" presId="urn:microsoft.com/office/officeart/2005/8/layout/vList2"/>
    <dgm:cxn modelId="{A9177EE7-3EFB-4DC9-90F7-E6910B68F5EF}" type="presParOf" srcId="{ADBA57AA-C8AE-4333-9A9F-47D6302B80A0}" destId="{B3CFD7EA-EBBE-4A54-AEE9-B358B172FFC8}" srcOrd="1" destOrd="0" presId="urn:microsoft.com/office/officeart/2005/8/layout/vList2"/>
    <dgm:cxn modelId="{73CDC949-7C6B-4B2A-A8F9-BE646CFF11E3}" type="presParOf" srcId="{ADBA57AA-C8AE-4333-9A9F-47D6302B80A0}" destId="{63C2A42F-4647-4CC1-95C2-711724A85530}" srcOrd="2" destOrd="0" presId="urn:microsoft.com/office/officeart/2005/8/layout/vList2"/>
    <dgm:cxn modelId="{3329D237-50BE-4FA4-9F80-ECF77A2C4A95}" type="presParOf" srcId="{ADBA57AA-C8AE-4333-9A9F-47D6302B80A0}" destId="{8832D71A-9E63-480F-9BE1-9FB851D1A182}" srcOrd="3" destOrd="0" presId="urn:microsoft.com/office/officeart/2005/8/layout/vList2"/>
    <dgm:cxn modelId="{42D651EF-0BE9-4908-A92D-24D226886D96}" type="presParOf" srcId="{ADBA57AA-C8AE-4333-9A9F-47D6302B80A0}" destId="{92462325-5129-4A48-864F-96BD4B9BAA24}" srcOrd="4" destOrd="0" presId="urn:microsoft.com/office/officeart/2005/8/layout/vList2"/>
    <dgm:cxn modelId="{C43A4FF2-ADBC-4D51-9874-FD359F621541}" type="presParOf" srcId="{ADBA57AA-C8AE-4333-9A9F-47D6302B80A0}" destId="{7925F578-8CE2-459B-85DE-F13AB02567A6}" srcOrd="5" destOrd="0" presId="urn:microsoft.com/office/officeart/2005/8/layout/vList2"/>
    <dgm:cxn modelId="{3740198E-2317-4E49-A817-D3222E9E5326}" type="presParOf" srcId="{ADBA57AA-C8AE-4333-9A9F-47D6302B80A0}" destId="{149E2CE4-ED31-4727-BACA-941FD85449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90719-7E2B-4079-A213-D118A452E013}">
      <dsp:nvSpPr>
        <dsp:cNvPr id="0" name=""/>
        <dsp:cNvSpPr/>
      </dsp:nvSpPr>
      <dsp:spPr>
        <a:xfrm>
          <a:off x="0" y="0"/>
          <a:ext cx="6666833" cy="153174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Independent Variable: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 </a:t>
          </a:r>
          <a:r>
            <a:rPr lang="en-GB" sz="2000" kern="1200" dirty="0"/>
            <a:t>Level of AI Adoption (e.g., extent of tools like automation software).</a:t>
          </a:r>
          <a:endParaRPr lang="en-US" sz="2400" kern="1200" dirty="0"/>
        </a:p>
      </dsp:txBody>
      <dsp:txXfrm>
        <a:off x="74774" y="74774"/>
        <a:ext cx="6517285" cy="1382200"/>
      </dsp:txXfrm>
    </dsp:sp>
    <dsp:sp modelId="{63C2A42F-4647-4CC1-95C2-711724A85530}">
      <dsp:nvSpPr>
        <dsp:cNvPr id="0" name=""/>
        <dsp:cNvSpPr/>
      </dsp:nvSpPr>
      <dsp:spPr>
        <a:xfrm>
          <a:off x="0" y="3167858"/>
          <a:ext cx="6666833" cy="1403805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Moderating</a:t>
          </a:r>
          <a:r>
            <a:rPr lang="en-GB" sz="3100" b="1" kern="1200" dirty="0"/>
            <a:t> Variable: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/>
            <a:t> </a:t>
          </a:r>
          <a:r>
            <a:rPr lang="en-GB" sz="2000" kern="1200" dirty="0"/>
            <a:t>Employee Training Level, Company Size.</a:t>
          </a:r>
          <a:endParaRPr lang="en-US" sz="3100" kern="1200" dirty="0"/>
        </a:p>
      </dsp:txBody>
      <dsp:txXfrm>
        <a:off x="68528" y="3236386"/>
        <a:ext cx="6529777" cy="1266749"/>
      </dsp:txXfrm>
    </dsp:sp>
    <dsp:sp modelId="{92462325-5129-4A48-864F-96BD4B9BAA24}">
      <dsp:nvSpPr>
        <dsp:cNvPr id="0" name=""/>
        <dsp:cNvSpPr/>
      </dsp:nvSpPr>
      <dsp:spPr>
        <a:xfrm>
          <a:off x="0" y="4758548"/>
          <a:ext cx="6666833" cy="1537822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Control</a:t>
          </a:r>
          <a:r>
            <a:rPr lang="en-GB" sz="2600" b="1" kern="1200" dirty="0"/>
            <a:t> Variable: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 dirty="0"/>
            <a:t> </a:t>
          </a:r>
          <a:r>
            <a:rPr lang="en-US" sz="2400" kern="1200" dirty="0"/>
            <a:t>Industry Sub-sector, Economic Conditions</a:t>
          </a:r>
          <a:r>
            <a:rPr lang="en-GB" sz="2400" kern="1200" dirty="0"/>
            <a:t>.</a:t>
          </a:r>
          <a:endParaRPr lang="en-US" sz="2600" kern="1200" dirty="0"/>
        </a:p>
      </dsp:txBody>
      <dsp:txXfrm>
        <a:off x="75070" y="4833618"/>
        <a:ext cx="6516693" cy="1387682"/>
      </dsp:txXfrm>
    </dsp:sp>
    <dsp:sp modelId="{149E2CE4-ED31-4727-BACA-941FD85449C6}">
      <dsp:nvSpPr>
        <dsp:cNvPr id="0" name=""/>
        <dsp:cNvSpPr/>
      </dsp:nvSpPr>
      <dsp:spPr>
        <a:xfrm>
          <a:off x="0" y="1639127"/>
          <a:ext cx="6666833" cy="1448315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Dependent Variable</a:t>
          </a:r>
          <a:r>
            <a:rPr lang="en-GB" sz="2800" kern="12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: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Employee Productivity (e.g., output per hour, KPIs).</a:t>
          </a:r>
          <a:endParaRPr lang="en-US" sz="2000" kern="1200" dirty="0">
            <a:latin typeface="DengXian (Body)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70701" y="1709828"/>
        <a:ext cx="6525431" cy="1306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FC8-B358-6874-B92D-96A59E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332D5-54E5-8CBC-6EED-B16E1242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C4D6-020A-4269-C1A4-5D9363FB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B8DD-89E4-6F6C-EC62-E6AB1757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5CAE-6978-BFD2-E049-1C994252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FB6-7943-7D17-5614-5D72356F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64B2-65FE-FFDB-95A9-9D0D16EF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2C2E-D256-D277-CDAB-82448B7A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866C-E8B6-96A0-6901-10DFA5E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BCEB-58AB-3FD9-AC87-0A00668C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C8C1-0905-467E-1D32-CEA696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038BA-B34A-2F9C-EE97-8554D80F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E12B-FC6B-9369-D886-D7C31556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1844-F188-5DC3-7F49-B11DDC06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403-14E3-63BF-1795-6D677B95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6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D705-6091-17D5-7FAB-045378FC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2F98-7E7E-8EAC-1F85-4107BEF8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1E0-E402-4596-232F-789B5CFF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95E5-842E-D44E-401B-A8EEB59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C45D-68CF-1EDF-284C-41BBFED6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FDD-4900-3CE7-4622-DFB2221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6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FA2-C31D-170F-A615-DE8F8112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A13B-5E54-5367-61CA-6AA23C63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EC42-9CC9-B95D-AE54-E8C04872C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38EFB-0DC7-25C0-8CDE-74BEEDE4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2174-4350-2788-DE66-7BFA769C3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A1CE1-4EE8-2A87-06AB-28E4B579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DF391-0EBB-7F5B-3594-623E18E5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A7779-2BDA-C09F-965C-9A0509B4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CFD7-4789-F929-F875-100C35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01DF-8C90-EB0E-B948-B4D02F0B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7908B-71EC-52C7-CCEA-D0AA297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304D7-957C-DCE4-3016-CA87910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9E9E-6460-3DBA-2BDB-B45CD5C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B56DB-0BFF-BEB0-6C73-87AAA96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DD24-FB9A-79B6-17C3-0E0F2D7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993-2A80-7ABF-EA78-E4876E3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F80A-FB2E-1229-2198-4944D7B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AC7C-0726-6552-0A8F-9F37F049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E08E3-BBC4-504F-F10A-C720D19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0AA0-339D-A24D-4E17-F21D650C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2F02-DB00-1731-074A-91BC6ABC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0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9FF9-BA89-5CFF-8750-B04507C2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394-48F6-D430-71C7-4F2FE4FC7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527E-F222-DB2E-745B-3231E788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75443-1E85-52A8-BEF7-B3A2E9F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7D15-0F27-1905-C561-7AFB7EC8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94A05-D07E-3A3E-6B14-7362F54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B10-D864-2DBE-4377-AF9E661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6B156-D034-7B39-0834-9C62F0746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1071-1C4E-2BE9-7FBD-E6ADD2E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E7D5-DF64-332D-CA0E-8C404476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FBC1-AD9A-0204-1FF8-611159A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6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24729-3013-009F-C4C8-02346924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75-32DE-4201-708D-3CE2FFD1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849E-85FF-8A06-630C-727A73F1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6259-3AB8-B8F5-1201-C1D0CA6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8D74-CDC4-25EF-6365-DD069227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4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852E-D826-CC74-207A-279210F8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7ADC-2CB5-E9EA-FC39-52CFBAE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21FD-349C-2762-CF67-C8835B97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525F-80E5-4DC8-DED5-24A476AE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27C7-5233-B4AD-FB80-5997DDCF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7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A61C0-160D-0ABC-3EE4-25130308F507}"/>
              </a:ext>
            </a:extLst>
          </p:cNvPr>
          <p:cNvSpPr txBox="1"/>
          <p:nvPr/>
        </p:nvSpPr>
        <p:spPr>
          <a:xfrm>
            <a:off x="972312" y="1417320"/>
            <a:ext cx="1070457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The Influence of Artificial Intelligence Adoption on Employee Productivity 				in Tech Startups</a:t>
            </a:r>
            <a:endParaRPr lang="en-US" sz="48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Name: Muhammad Shoaib Akhter Qadri 		</a:t>
            </a:r>
          </a:p>
          <a:p>
            <a:r>
              <a:rPr lang="en-US" sz="2000" b="1" dirty="0"/>
              <a:t>Enrollment No: 02-398252-012</a:t>
            </a:r>
          </a:p>
        </p:txBody>
      </p:sp>
    </p:spTree>
    <p:extLst>
      <p:ext uri="{BB962C8B-B14F-4D97-AF65-F5344CB8AC3E}">
        <p14:creationId xmlns:p14="http://schemas.microsoft.com/office/powerpoint/2010/main" val="265279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CC8FF-095D-BCD5-8D72-6DB5F8C2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7189-E568-F513-23FE-3A18AF526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GB" sz="3200" b="1" dirty="0"/>
              <a:t>Background: </a:t>
            </a:r>
            <a:r>
              <a:rPr lang="en-GB" sz="3200" dirty="0"/>
              <a:t>Tech startups are rapidly adopting AI for efficiency and innovation.</a:t>
            </a:r>
          </a:p>
          <a:p>
            <a:pPr marL="0" indent="0">
              <a:buNone/>
            </a:pPr>
            <a:r>
              <a:rPr lang="en-GB" sz="3200" b="1" dirty="0"/>
              <a:t>Key Stats: </a:t>
            </a:r>
            <a:r>
              <a:rPr lang="en-GB" sz="3200" dirty="0"/>
              <a:t>AI market projected to grow to $15.7 trillion by 2030 (source: PwC)</a:t>
            </a:r>
          </a:p>
          <a:p>
            <a:pPr marL="0" indent="0">
              <a:buNone/>
            </a:pPr>
            <a:r>
              <a:rPr lang="en-GB" sz="3200" b="1" dirty="0"/>
              <a:t>Relevance</a:t>
            </a:r>
            <a:r>
              <a:rPr lang="en-GB" sz="3200" dirty="0"/>
              <a:t>: AI promises productivity boosts but introduces challenges like skill gaps.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693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5BDDC-FB92-979C-F9D1-F38C4D7F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0EBD0-0824-E65D-1B25-873993BB8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86000"/>
            <a:ext cx="4882896" cy="4070350"/>
          </a:xfrm>
        </p:spPr>
        <p:txBody>
          <a:bodyPr anchor="ctr">
            <a:normAutofit lnSpcReduction="10000"/>
          </a:bodyPr>
          <a:lstStyle/>
          <a:p>
            <a:r>
              <a:rPr lang="en-GB" sz="2400" b="1" dirty="0"/>
              <a:t>Definition: </a:t>
            </a:r>
            <a:r>
              <a:rPr lang="en-GB" sz="2400" dirty="0"/>
              <a:t>In tech startups, AI adoption often leads to inconsistent productivity due to underutilization, skill mismatches, or workflow disruptions.</a:t>
            </a:r>
          </a:p>
          <a:p>
            <a:r>
              <a:rPr lang="en-GB" sz="2400" b="1" dirty="0"/>
              <a:t>Core Issue: </a:t>
            </a:r>
            <a:r>
              <a:rPr lang="en-GB" sz="2400" dirty="0"/>
              <a:t>Startups integrate AI without assessing human-AI interactions, risking reduced output.</a:t>
            </a:r>
          </a:p>
          <a:p>
            <a:r>
              <a:rPr lang="en-GB" sz="2400" b="1" dirty="0"/>
              <a:t>Research Gap: </a:t>
            </a:r>
            <a:r>
              <a:rPr lang="en-GB" sz="2400" dirty="0"/>
              <a:t>Limited studies on measurable impacts in dynamic startup environments.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59EE7D6-884F-D683-79F7-951CFBB7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8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B26EF-B299-53BC-1941-2C79EB0A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2095500"/>
            <a:ext cx="3723498" cy="1984615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Variables</a:t>
            </a:r>
            <a:endParaRPr lang="en-US" sz="54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64D2278-330D-0F0A-9FB2-AE20FFA8C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707178"/>
              </p:ext>
            </p:extLst>
          </p:nvPr>
        </p:nvGraphicFramePr>
        <p:xfrm>
          <a:off x="4905052" y="114300"/>
          <a:ext cx="6666833" cy="6438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160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2414-CA9F-FF61-A6B5-1879A257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2286000"/>
            <a:ext cx="3201366" cy="1688352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Theoretical Framework</a:t>
            </a:r>
            <a:endParaRPr lang="en-US" sz="4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35090-BB3D-4727-33CE-D0EC55EE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4884545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3900" b="1" dirty="0"/>
              <a:t>Primary Theory: </a:t>
            </a:r>
            <a:r>
              <a:rPr lang="en-GB" sz="3200" dirty="0"/>
              <a:t>Technology Acceptance Model (TAM) – Perceived usefulness and ease of use drive adoption and performance.</a:t>
            </a:r>
          </a:p>
          <a:p>
            <a:r>
              <a:rPr lang="en-GB" sz="3900" b="1" dirty="0"/>
              <a:t>Extension: </a:t>
            </a:r>
            <a:r>
              <a:rPr lang="en-GB" sz="3200" dirty="0"/>
              <a:t>Human-Computer Interaction (HCI) – AI must align with user capabilities for productivity gains.</a:t>
            </a:r>
          </a:p>
          <a:p>
            <a:r>
              <a:rPr lang="en-US" sz="3900" b="1" dirty="0"/>
              <a:t>Application: </a:t>
            </a:r>
            <a:r>
              <a:rPr lang="en-US" sz="3200" dirty="0"/>
              <a:t>Examines how AI perceptions influence startup workflows.</a:t>
            </a:r>
          </a:p>
        </p:txBody>
      </p:sp>
    </p:spTree>
    <p:extLst>
      <p:ext uri="{BB962C8B-B14F-4D97-AF65-F5344CB8AC3E}">
        <p14:creationId xmlns:p14="http://schemas.microsoft.com/office/powerpoint/2010/main" val="108368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FE9CA-874D-3AFC-C8BC-3B5CD452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Hypothesis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BBDE9-65CB-19AB-242E-8CE6B392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3600" b="1" dirty="0"/>
              <a:t>H1: </a:t>
            </a:r>
            <a:r>
              <a:rPr lang="en-GB" sz="3200" dirty="0"/>
              <a:t>Higher levels of AI adoption positively correlate with employee productivity, moderated by employee training.</a:t>
            </a:r>
          </a:p>
          <a:p>
            <a:r>
              <a:rPr lang="en-GB" sz="3600" b="1" dirty="0"/>
              <a:t>Supporting Rationale: </a:t>
            </a:r>
            <a:r>
              <a:rPr lang="en-GB" sz="3200" dirty="0"/>
              <a:t>Trained employees leverage AI better, amplifying benefits.</a:t>
            </a:r>
          </a:p>
          <a:p>
            <a:r>
              <a:rPr lang="en-GB" sz="3600" b="1" dirty="0"/>
              <a:t>Null Hypothesis: </a:t>
            </a:r>
            <a:r>
              <a:rPr lang="en-GB" sz="3200" dirty="0"/>
              <a:t>No significant correlation exists.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2028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540B-5C23-10FF-041F-CFA34A77F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6477"/>
            <a:ext cx="11356848" cy="4572928"/>
          </a:xfrm>
        </p:spPr>
        <p:txBody>
          <a:bodyPr>
            <a:normAutofit/>
          </a:bodyPr>
          <a:lstStyle/>
          <a:p>
            <a:r>
              <a:rPr lang="en-US" sz="3600" b="1" dirty="0"/>
              <a:t>Design: </a:t>
            </a:r>
            <a:r>
              <a:rPr lang="en-US" sz="3200" dirty="0"/>
              <a:t>Mixed-methods (quantitative surveys + qualitative interviews).</a:t>
            </a:r>
          </a:p>
          <a:p>
            <a:r>
              <a:rPr lang="en-GB" sz="3600" b="1" dirty="0"/>
              <a:t>Sample: </a:t>
            </a:r>
            <a:r>
              <a:rPr lang="en-GB" sz="3200" dirty="0"/>
              <a:t>200 US tech startups.</a:t>
            </a:r>
          </a:p>
          <a:p>
            <a:r>
              <a:rPr lang="fr-FR" sz="3600" b="1" dirty="0"/>
              <a:t>Data Collection: </a:t>
            </a:r>
            <a:r>
              <a:rPr lang="fr-FR" sz="3200" dirty="0"/>
              <a:t>Online questionnaires, performance </a:t>
            </a:r>
            <a:r>
              <a:rPr lang="fr-FR" sz="3200" dirty="0" err="1"/>
              <a:t>metrics</a:t>
            </a:r>
            <a:r>
              <a:rPr lang="fr-FR" sz="3200" dirty="0"/>
              <a:t>, case </a:t>
            </a:r>
            <a:r>
              <a:rPr lang="fr-FR" sz="3200" dirty="0" err="1"/>
              <a:t>studies</a:t>
            </a:r>
            <a:r>
              <a:rPr lang="fr-FR" sz="3200" dirty="0"/>
              <a:t>.</a:t>
            </a:r>
          </a:p>
          <a:p>
            <a:r>
              <a:rPr lang="en-US" sz="3600" b="1" dirty="0"/>
              <a:t>Analysis: </a:t>
            </a:r>
            <a:r>
              <a:rPr lang="en-US" sz="3200" dirty="0"/>
              <a:t>Regression for quantitative</a:t>
            </a:r>
            <a:endParaRPr lang="en-GB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E5BD7C-AD14-1816-81B3-4B4D5733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Study Framework and Methodology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F0827-2C43-B557-B779-4755B1DBA074}"/>
              </a:ext>
            </a:extLst>
          </p:cNvPr>
          <p:cNvSpPr txBox="1"/>
          <p:nvPr/>
        </p:nvSpPr>
        <p:spPr>
          <a:xfrm>
            <a:off x="3047238" y="323976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Potential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16867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C1192-8A4E-79ED-B121-6E3A6CA6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Potential Data Analysis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61E0-26B4-11F9-B213-E9379A58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01024"/>
          </a:xfrm>
        </p:spPr>
        <p:txBody>
          <a:bodyPr>
            <a:normAutofit/>
          </a:bodyPr>
          <a:lstStyle/>
          <a:p>
            <a:r>
              <a:rPr lang="en-GB" sz="3600" b="1" dirty="0"/>
              <a:t>Quantitative: </a:t>
            </a:r>
            <a:r>
              <a:rPr lang="en-GB" sz="3200" dirty="0"/>
              <a:t>Use regression to test H1 (e.g., AI adoption score vs. productivity metrics).</a:t>
            </a:r>
          </a:p>
          <a:p>
            <a:r>
              <a:rPr lang="en-GB" sz="3600" b="1" dirty="0"/>
              <a:t>Qualitative: </a:t>
            </a:r>
            <a:r>
              <a:rPr lang="en-GB" sz="3200" dirty="0"/>
              <a:t>Themes from interviews (e.g., "AI reduces routine tasks but requires upskilling").</a:t>
            </a:r>
          </a:p>
          <a:p>
            <a:r>
              <a:rPr lang="en-GB" sz="3600" b="1" dirty="0"/>
              <a:t>Tools: </a:t>
            </a:r>
            <a:r>
              <a:rPr lang="en-GB" sz="3200" dirty="0"/>
              <a:t>SPSS or Python for stats; NVivo for themes.</a:t>
            </a:r>
          </a:p>
        </p:txBody>
      </p:sp>
    </p:spTree>
    <p:extLst>
      <p:ext uri="{BB962C8B-B14F-4D97-AF65-F5344CB8AC3E}">
        <p14:creationId xmlns:p14="http://schemas.microsoft.com/office/powerpoint/2010/main" val="2587655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38E81-27C4-4CEA-6636-A1E1FABB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AFA7A-B6F6-6ED5-C2C5-6A0AF77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Discussion and Implications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D0BC-8E79-8190-B477-C7F290C8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01171"/>
          </a:xfrm>
        </p:spPr>
        <p:txBody>
          <a:bodyPr>
            <a:normAutofit/>
          </a:bodyPr>
          <a:lstStyle/>
          <a:p>
            <a:r>
              <a:rPr lang="en-GB" sz="3600" b="1" dirty="0"/>
              <a:t>Key Insights: </a:t>
            </a:r>
            <a:r>
              <a:rPr lang="en-GB" sz="3200" dirty="0"/>
              <a:t>AI boosts productivity when training is adequate; otherwise, it may hinder.</a:t>
            </a:r>
          </a:p>
          <a:p>
            <a:r>
              <a:rPr lang="en-GB" sz="3600" b="1" dirty="0"/>
              <a:t>Practical Implications: </a:t>
            </a:r>
            <a:r>
              <a:rPr lang="en-GB" sz="3200" dirty="0"/>
              <a:t>Startups should invest in AI literacy programs.</a:t>
            </a:r>
          </a:p>
          <a:p>
            <a:r>
              <a:rPr lang="en-GB" sz="3600" b="1" dirty="0"/>
              <a:t>Broader Impact: </a:t>
            </a:r>
            <a:r>
              <a:rPr lang="en-GB" sz="3200" dirty="0"/>
              <a:t>Contributes to sustainable tech growth.</a:t>
            </a:r>
          </a:p>
        </p:txBody>
      </p:sp>
    </p:spTree>
    <p:extLst>
      <p:ext uri="{BB962C8B-B14F-4D97-AF65-F5344CB8AC3E}">
        <p14:creationId xmlns:p14="http://schemas.microsoft.com/office/powerpoint/2010/main" val="180476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56B5-18DB-61E1-B8FF-6DD63185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36C53-860C-F810-64D1-F5DD5BD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4A1C-41EB-8BAA-6468-82D1C4A54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86081"/>
          </a:xfrm>
        </p:spPr>
        <p:txBody>
          <a:bodyPr>
            <a:normAutofit/>
          </a:bodyPr>
          <a:lstStyle/>
          <a:p>
            <a:r>
              <a:rPr lang="en-GB" sz="4000" dirty="0"/>
              <a:t>AI adoption enhances productivity in startups, but success depends on human factors.</a:t>
            </a:r>
          </a:p>
          <a:p>
            <a:pPr marL="0" indent="0">
              <a:buNone/>
            </a:pPr>
            <a:endParaRPr lang="en-GB" sz="4000" dirty="0"/>
          </a:p>
          <a:p>
            <a:r>
              <a:rPr lang="en-GB" sz="4000" dirty="0"/>
              <a:t>Encourage AI integration with training.</a:t>
            </a:r>
          </a:p>
          <a:p>
            <a:endParaRPr lang="en-GB" sz="4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738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D882-240E-57AC-0FE4-D4104A3C3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3090668"/>
            <a:ext cx="10375036" cy="30862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99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71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435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Arial</vt:lpstr>
      <vt:lpstr>DengXian (Body)</vt:lpstr>
      <vt:lpstr>Times New Roman</vt:lpstr>
      <vt:lpstr>Office Theme</vt:lpstr>
      <vt:lpstr>PowerPoint Presentation</vt:lpstr>
      <vt:lpstr>Introduction</vt:lpstr>
      <vt:lpstr>Problem Statement</vt:lpstr>
      <vt:lpstr>Research Variables</vt:lpstr>
      <vt:lpstr>Theoretical Framework</vt:lpstr>
      <vt:lpstr>Hypothesis</vt:lpstr>
      <vt:lpstr>Study Framework and Methodology</vt:lpstr>
      <vt:lpstr>Potential Data Analysis</vt:lpstr>
      <vt:lpstr>Discussion and Implications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Faheem Akhtar BUKC</dc:creator>
  <cp:lastModifiedBy>02-131212-009</cp:lastModifiedBy>
  <cp:revision>5</cp:revision>
  <dcterms:created xsi:type="dcterms:W3CDTF">2025-09-29T04:40:25Z</dcterms:created>
  <dcterms:modified xsi:type="dcterms:W3CDTF">2025-11-23T04:34:32Z</dcterms:modified>
</cp:coreProperties>
</file>