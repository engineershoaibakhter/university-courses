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8" r:id="rId6"/>
    <p:sldId id="264" r:id="rId7"/>
    <p:sldId id="291" r:id="rId8"/>
    <p:sldId id="268" r:id="rId9"/>
    <p:sldId id="292" r:id="rId10"/>
    <p:sldId id="295" r:id="rId11"/>
    <p:sldId id="293" r:id="rId12"/>
    <p:sldId id="296" r:id="rId13"/>
    <p:sldId id="298" r:id="rId14"/>
    <p:sldId id="300" r:id="rId15"/>
    <p:sldId id="299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04" autoAdjust="0"/>
  </p:normalViewPr>
  <p:slideViewPr>
    <p:cSldViewPr snapToGrid="0">
      <p:cViewPr varScale="1">
        <p:scale>
          <a:sx n="59" d="100"/>
          <a:sy n="59" d="100"/>
        </p:scale>
        <p:origin x="964" y="4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5/27/2025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5/27/2025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1BD44-42CD-BFD2-304A-224FAD63E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E4BCF-0A0A-2834-21AA-A36557DAF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31C7C-28A9-22BB-6663-21D8637A5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38F04-AF37-486A-F49A-AAB44111C9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210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6035F-DDE8-DA26-009D-DEF125DA1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C791D4-D48C-7E33-EBFD-4F22FB597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8B0644-EFFC-B8A0-06A3-91D9F611F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E8B5C-7C2D-D5EA-9206-A307D15FDF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516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39C39-5281-95F9-7275-6BF4EBEC7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CCC0FC-0B54-A5A5-B51C-EACBF1C95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DD718-3FE0-FEEE-1F83-5CE80AE09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60CB9-5FD3-4E6F-EC97-8CC0ED15B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30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CE642-1157-8874-9CF1-695150AC7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3B58C-D6CA-4429-FC07-23AB50914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264DD-C896-43AB-D56B-FF008841A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76D48-A1C9-517F-8728-0BE0BF7C8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743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21E08-7045-7545-437A-38C969221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7E49A-8CF0-2B1A-4726-58662A7B4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BCA20-BD2F-5A20-79F0-EC8B95022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984DB-BEEE-AD38-5B8E-A8B659B638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849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DB8EA-379D-98FA-E3A7-3DBC8710B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C930F-05F8-EC0E-7F0F-7A7A2C27F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D869B1-05A4-B553-8CA6-ACF59EC09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7397D-7060-127C-6D66-E551D3354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327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738AF-7A65-E5EB-D73E-1105F6254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38397E-5B54-46EE-35F3-D970B1D41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755882-D2A1-807C-6A07-D76FB8436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51A1-CA7E-6F53-D947-F093ECDB2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3864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274C6-0E20-E54C-6AC2-8C269FCE5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D2FEA7-B2C0-FED7-035F-2E8269893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E5EB8-7053-6DB8-58BB-3A11944E0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4C2D4-6502-4B6A-CCFB-63ACE1346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683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6BB06-89AB-2D3F-B9B1-ED21350E7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09CC5-45D2-85FB-87C6-9054B561D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147D2-770B-A220-2A5F-C9D7D80E9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003CB-507A-9E31-46D4-5BA485EB4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400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634E1-829B-43D2-88E2-BC9D1A247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12644-38C5-3D3D-F658-73707EC1D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B6FBD2-139B-2E1F-1DF9-49A08CC43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2E722-5035-D515-841F-DBEFF6A3A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7181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294D6-6795-9961-F68D-B32A187D1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B88E8D-61D1-A87D-E986-17C31FDFD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B9ED9-0FCA-2C9F-0363-41D06C11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C10E8-C737-DE5C-63AC-61AE23C97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9768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D2370-4EDB-C8EE-A74D-E0DE7C9A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5631D-239D-BDD8-3D35-11AB33577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15726-02B4-DA39-81B8-76E18628B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20BB2-9B06-FC94-0635-D11618BD9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8520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B4D18-1955-C310-3AC8-1D1E0754F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E8358C-ECF9-8BA3-75B4-3109B7D4E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7C540-F451-C760-F93D-500C9ED55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3EF1B-2717-5D29-FAEF-7582E09744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2160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0E068-7037-B21C-47C3-0047AD139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8E811B-E166-0A94-3ACB-B08546A3E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A36D51-7094-C006-DB1F-13D644BA0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C0527-3A02-CCCD-74CC-70BDB05F3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4386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 fontScale="90000"/>
          </a:bodyPr>
          <a:lstStyle/>
          <a:p>
            <a:r>
              <a:rPr lang="en-US" dirty="0"/>
              <a:t>The Challenger Disaster – A Case in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660358"/>
            <a:ext cx="7118820" cy="5537284"/>
          </a:xfrm>
        </p:spPr>
        <p:txBody>
          <a:bodyPr>
            <a:normAutofit/>
          </a:bodyPr>
          <a:lstStyle/>
          <a:p>
            <a:r>
              <a:rPr lang="en-US" dirty="0"/>
              <a:t>Introduction to Engineering Ethics</a:t>
            </a:r>
          </a:p>
        </p:txBody>
      </p:sp>
      <p:pic>
        <p:nvPicPr>
          <p:cNvPr id="34" name="Picture Placeholder 33" descr="Aerial view of a neon highway intersectio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44" y="177655"/>
            <a:ext cx="6589150" cy="1988706"/>
          </a:xfrm>
        </p:spPr>
        <p:txBody>
          <a:bodyPr/>
          <a:lstStyle/>
          <a:p>
            <a:r>
              <a:rPr lang="en-US"/>
              <a:t>Introduction to Engineering Ethics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0" y="2079171"/>
            <a:ext cx="6597650" cy="427559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Engineering ethics is the field of applied ethics that examines and sets standards for engineers' obligations to the public, their clients, employers, and the </a:t>
            </a:r>
            <a:r>
              <a:rPr lang="en-US" sz="2800" dirty="0" err="1"/>
              <a:t>professionalEncourage</a:t>
            </a:r>
            <a:r>
              <a:rPr lang="en-US" sz="2800" dirty="0"/>
              <a:t> questions and provide thoughtful responses to enhance audience participation</a:t>
            </a:r>
          </a:p>
          <a:p>
            <a:pPr>
              <a:lnSpc>
                <a:spcPct val="100000"/>
              </a:lnSpc>
            </a:pP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dirty="0"/>
              <a:t>Importance: Ensures safety, honesty, fairness, and accountability in engineering decisions.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>
            <a:normAutofit/>
          </a:bodyPr>
          <a:lstStyle/>
          <a:p>
            <a:r>
              <a:rPr lang="en-US" dirty="0"/>
              <a:t>Background of the Challenger Disaster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1AAA90E-0FF8-02B2-5590-8BE223ECAE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/>
          <a:lstStyle/>
          <a:p>
            <a:r>
              <a:rPr lang="en-US" dirty="0"/>
              <a:t>Background of the Challenger Disaster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Date: January 28, 1986</a:t>
            </a:r>
          </a:p>
          <a:p>
            <a:endParaRPr lang="en-US" sz="2000" dirty="0"/>
          </a:p>
          <a:p>
            <a:r>
              <a:rPr lang="en-US" sz="2000" dirty="0"/>
              <a:t>Event: NASA Space Shuttle Challenger broke apart 73 seconds after launch.</a:t>
            </a:r>
          </a:p>
          <a:p>
            <a:endParaRPr lang="en-US" sz="2000" dirty="0"/>
          </a:p>
          <a:p>
            <a:r>
              <a:rPr lang="en-US" sz="2000" dirty="0"/>
              <a:t>Casualties: 7 crew members lost their lives.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FFE5BB-9EC2-371B-A0A2-D5F83A3C94CB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B5D41-EB20-FE7F-7245-A2A147796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B61B9-EAD5-7665-AB9F-267BD2336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>
            <a:normAutofit/>
          </a:bodyPr>
          <a:lstStyle/>
          <a:p>
            <a:r>
              <a:rPr lang="en-US" dirty="0"/>
              <a:t>Technical Failure Explained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CCC49-6DA7-AC6C-34D8-7202013B2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3E7E8EC-5296-EF29-E44C-C45F58EA09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99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08602-E159-EE6F-D52C-2C409AF05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257323-563A-A7AF-6FF5-EB31C6918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>
            <a:normAutofit/>
          </a:bodyPr>
          <a:lstStyle/>
          <a:p>
            <a:r>
              <a:rPr lang="en-US" dirty="0"/>
              <a:t>Technical Failure Explained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835CAE-800C-B4E1-64E3-436322EC6A7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O-rings were rubber seals designed to prevent hot gas leakage</a:t>
            </a:r>
          </a:p>
          <a:p>
            <a:endParaRPr lang="en-US" sz="2000" dirty="0"/>
          </a:p>
          <a:p>
            <a:r>
              <a:rPr lang="en-US" sz="2000" dirty="0"/>
              <a:t>Low temperatures on launch day caused O-ring failure.’’</a:t>
            </a:r>
          </a:p>
          <a:p>
            <a:endParaRPr lang="en-US" sz="2000" dirty="0"/>
          </a:p>
          <a:p>
            <a:r>
              <a:rPr lang="en-US" sz="2000" dirty="0"/>
              <a:t>Engineers at Morton Thiokol were aware of this risk before launch.</a:t>
            </a:r>
          </a:p>
          <a:p>
            <a:endParaRPr lang="en-US" sz="2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CCC75-DCEF-82F2-3BA8-8B998DE5B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D103D6-2DF6-2BBB-0759-4AEA15D220C3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375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80B63-60A3-7159-59F4-8C5342CC2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3AA51-04FA-A091-577F-57BE5AD59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>
            <a:normAutofit/>
          </a:bodyPr>
          <a:lstStyle/>
          <a:p>
            <a:r>
              <a:rPr lang="en-US" dirty="0"/>
              <a:t>Ethical Dilemma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8E7F0-D2C9-F1D9-7C8C-E1ECF7AA8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18FDFE9-33A7-B1FC-5626-F0794E95C0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714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E567-8337-8381-4F84-959DB0679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3A5C40-AD0E-569E-CE3F-D517329A6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>
            <a:normAutofit/>
          </a:bodyPr>
          <a:lstStyle/>
          <a:p>
            <a:r>
              <a:rPr lang="en-US" dirty="0"/>
              <a:t>Ethical Dilemma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D10D81-3D9C-A4F4-474B-131FD4D0F50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Engineers warned against launch due to cold weather.</a:t>
            </a:r>
          </a:p>
          <a:p>
            <a:endParaRPr lang="en-US" sz="2000" dirty="0"/>
          </a:p>
          <a:p>
            <a:r>
              <a:rPr lang="en-US" sz="2000" dirty="0"/>
              <a:t>Management and NASA faced pressure to meet launch deadlines.</a:t>
            </a:r>
          </a:p>
          <a:p>
            <a:endParaRPr lang="en-US" sz="2000" dirty="0"/>
          </a:p>
          <a:p>
            <a:r>
              <a:rPr lang="en-US" sz="2000" dirty="0"/>
              <a:t>The final decision to launch was made despite technical warnings.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D46B3-38B1-C1E0-BF0A-EE450264E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5E925F-77E9-C89D-06B1-041C3D85E9AC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13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24706-9D8B-7127-B4A6-41A904C3E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BC5CD-3859-2FFE-C1C7-F9ED592DB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>
            <a:normAutofit/>
          </a:bodyPr>
          <a:lstStyle/>
          <a:p>
            <a:r>
              <a:rPr lang="en-US" dirty="0"/>
              <a:t>Ethical Issues Involved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4969C-6AA4-7FAB-654E-590F032B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530BBF6-9C2C-5F7E-C219-173AE93D08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51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733E6-333F-19EE-288B-DF16C9223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7AA309-E19D-31D7-EFD2-4AE1F3DE7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/>
          <a:lstStyle/>
          <a:p>
            <a:r>
              <a:rPr lang="en-US" dirty="0"/>
              <a:t>Ethical Issues Involved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315039-7D45-D9D7-E811-1A0E56A19DF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/>
              <a:t>Safety vs. Schedule</a:t>
            </a:r>
            <a:r>
              <a:rPr lang="en-US" sz="2000" dirty="0"/>
              <a:t>: Ignoring safety warnings due to political and financial pressure.</a:t>
            </a:r>
          </a:p>
          <a:p>
            <a:endParaRPr lang="en-US" sz="2000" dirty="0"/>
          </a:p>
          <a:p>
            <a:r>
              <a:rPr lang="en-US" sz="2000" b="1" dirty="0"/>
              <a:t>Whistleblowing</a:t>
            </a:r>
            <a:r>
              <a:rPr lang="en-US" sz="2000" dirty="0"/>
              <a:t>: Engineers felt their voices were suppressed.</a:t>
            </a:r>
          </a:p>
          <a:p>
            <a:endParaRPr lang="en-US" sz="2000" dirty="0"/>
          </a:p>
          <a:p>
            <a:r>
              <a:rPr lang="en-US" sz="2000" b="1" dirty="0"/>
              <a:t>Professional Responsibility</a:t>
            </a:r>
            <a:r>
              <a:rPr lang="en-US" sz="2000" dirty="0"/>
              <a:t>: Failure to prioritize public safety over organizational demands.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F9F13-0703-566C-B673-73DAC76B0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63CA06-B55E-ED29-405F-1BCCDBD09B23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88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4B729-0BF9-6D1D-FA97-C11FCD32F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4B25E-87AE-FCEA-3A63-9DAF72BEB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>
            <a:normAutofit/>
          </a:bodyPr>
          <a:lstStyle/>
          <a:p>
            <a:r>
              <a:rPr lang="en-US" dirty="0"/>
              <a:t>Consequences of Unethical Decisions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8524F-642B-825F-6FBF-EEEED31F4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60DEF7F-60CC-7F80-0B56-E90F4F9FC0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89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3C050-3489-E53F-10B0-4D01DE7DB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EBA8F6-5144-43CF-8315-2FF300019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/>
          <a:lstStyle/>
          <a:p>
            <a:r>
              <a:rPr lang="en-US" dirty="0"/>
              <a:t>Consequences of Unethical Decisions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47A5B6-CA54-318F-3755-EEAEC2CC778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Loss of lives.</a:t>
            </a:r>
          </a:p>
          <a:p>
            <a:r>
              <a:rPr lang="en-US" sz="2000" dirty="0"/>
              <a:t>National tragedy and public loss of trust. </a:t>
            </a:r>
          </a:p>
          <a:p>
            <a:r>
              <a:rPr lang="en-US" sz="2000" dirty="0"/>
              <a:t>Long-term damage to NASA’s reputation. </a:t>
            </a:r>
          </a:p>
          <a:p>
            <a:r>
              <a:rPr lang="en-US" sz="2000" dirty="0"/>
              <a:t>Strengthening of engineering ethics training post-incident.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4FCB6-42EC-E619-5A71-85A172EF7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46ECE2-AD4B-7DBD-E492-E7D3C3E55455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42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8C500-F0A7-D5B9-1117-C532BF8B4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78C17-F0A7-8694-9C16-D05F48B08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>
            <a:normAutofit/>
          </a:bodyPr>
          <a:lstStyle/>
          <a:p>
            <a:r>
              <a:rPr lang="en-US" dirty="0"/>
              <a:t>Lessons Learned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0D579-86F7-6765-FBB1-135167304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62AB7E4-973F-0D68-92A0-ED4985C221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07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3F576-CB79-0330-780D-B533F1F3C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449B18-B932-93A0-6C9E-0C039C4A4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/>
          <a:lstStyle/>
          <a:p>
            <a:r>
              <a:rPr lang="en-US" dirty="0"/>
              <a:t>Lessons Learned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E0F34E-3A9A-E731-908A-AAAA6880001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Always prioritize </a:t>
            </a:r>
            <a:r>
              <a:rPr lang="en-US" sz="2000" b="1" dirty="0"/>
              <a:t>public safety</a:t>
            </a:r>
            <a:r>
              <a:rPr lang="en-US" sz="2000" dirty="0"/>
              <a:t>.</a:t>
            </a:r>
          </a:p>
          <a:p>
            <a:r>
              <a:rPr lang="en-US" sz="2000" dirty="0"/>
              <a:t>Engineers must have the </a:t>
            </a:r>
            <a:r>
              <a:rPr lang="en-US" sz="2000" b="1" dirty="0"/>
              <a:t>freedom to express concerns</a:t>
            </a:r>
            <a:r>
              <a:rPr lang="en-US" sz="2000" dirty="0"/>
              <a:t>.</a:t>
            </a:r>
          </a:p>
          <a:p>
            <a:r>
              <a:rPr lang="en-US" sz="2000" dirty="0"/>
              <a:t>Ethical courage is needed to challenge authority when necessary.</a:t>
            </a:r>
          </a:p>
          <a:p>
            <a:r>
              <a:rPr lang="en-US" sz="2000" dirty="0"/>
              <a:t>Transparency and proper communication are vital.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82434-ADCD-0D5F-347B-470258EE3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7C72C0-4779-E65D-48B6-3A9CFBD2B423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738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C4B7D-FA12-1D2F-7D2B-F34A66E4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D8B7-AEF4-1DB3-83BC-3B52BDDEDE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>
            <a:normAutofit/>
          </a:bodyPr>
          <a:lstStyle/>
          <a:p>
            <a:r>
              <a:rPr lang="en-US" dirty="0"/>
              <a:t>Engineering Code of Ethics (NSPE)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2AB59-3188-B60A-343A-9E5C7A64C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0C06716-F553-B646-61CF-CA3DF6B1E5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8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3187F-6EB1-3F52-CD2C-54471C632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235938-22F1-ADA9-9EE9-751252B4C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/>
          <a:lstStyle/>
          <a:p>
            <a:r>
              <a:rPr lang="en-US" dirty="0"/>
              <a:t>Engineering Code of Ethics (NSPE)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C0D966-5E7B-E537-0745-4A92EECF73A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Hold paramount the safety, health, and welfare of the public.</a:t>
            </a:r>
          </a:p>
          <a:p>
            <a:r>
              <a:rPr lang="en-US" sz="2000" dirty="0"/>
              <a:t>Perform services only in areas of competence.</a:t>
            </a:r>
          </a:p>
          <a:p>
            <a:r>
              <a:rPr lang="en-US" sz="2000" dirty="0"/>
              <a:t>Issue public statements in an objective and truthful manner.</a:t>
            </a:r>
          </a:p>
          <a:p>
            <a:r>
              <a:rPr lang="en-US" sz="2000" dirty="0"/>
              <a:t>Act for each employer or client as faithful agents or trustees.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0266B-20E6-482E-7C15-606B544D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924965-30C2-F72F-62C4-4FDC931089A0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946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DAE2F-05A0-D20A-5B77-7949CE31D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101E2-E2FA-4BFA-C368-9CFD34150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36C3B-1FF9-D653-1CC7-5BE45169B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E8F3B19-C1F5-573D-43E5-1BF4EAD192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279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65572-A5DB-7071-4A75-53C93676C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CCF808-63B0-400E-9796-583AA37AC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0682DA-CEC6-03C7-8F47-3AF9240EECE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The Challenger disaster is a tragic example of what happens when ethical engineering practices are ignored.</a:t>
            </a:r>
          </a:p>
          <a:p>
            <a:r>
              <a:rPr lang="en-US" sz="2000" dirty="0"/>
              <a:t>Ethical responsibility is as crucial as technical competence</a:t>
            </a:r>
          </a:p>
          <a:p>
            <a:r>
              <a:rPr lang="en-US" sz="2000" dirty="0"/>
              <a:t>Engineers must uphold integrity, especially under pressure.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B167-DA13-F50A-EBC0-94E13040D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61B1A4-0AD6-0F25-BEC0-051C9887BF68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89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6340" y="3423773"/>
            <a:ext cx="5528217" cy="2029969"/>
          </a:xfrm>
        </p:spPr>
        <p:txBody>
          <a:bodyPr bIns="0">
            <a:normAutofit/>
          </a:bodyPr>
          <a:lstStyle/>
          <a:p>
            <a:r>
              <a:rPr lang="en-US" dirty="0"/>
              <a:t>Shoaib Akhter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{9200C8F0-56E7-44D5-B0C9-979B742FBE27}tf33968143_win32</Template>
  <TotalTime>16</TotalTime>
  <Words>423</Words>
  <Application>Microsoft Office PowerPoint</Application>
  <PresentationFormat>Widescreen</PresentationFormat>
  <Paragraphs>96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Avenir Next LT Pro</vt:lpstr>
      <vt:lpstr>Calibri</vt:lpstr>
      <vt:lpstr>Custom</vt:lpstr>
      <vt:lpstr>The Challenger Disaster – A Case in Engineering Ethics</vt:lpstr>
      <vt:lpstr>Introduction to Engineering Ethics</vt:lpstr>
      <vt:lpstr>Introduction to Engineering Ethics</vt:lpstr>
      <vt:lpstr>Background of the Challenger Disaster</vt:lpstr>
      <vt:lpstr>Background of the Challenger Disaster</vt:lpstr>
      <vt:lpstr>Technical Failure Explained</vt:lpstr>
      <vt:lpstr>Technical Failure Explained</vt:lpstr>
      <vt:lpstr>Ethical Dilemma</vt:lpstr>
      <vt:lpstr>Ethical Dilemma</vt:lpstr>
      <vt:lpstr>Ethical Issues Involved</vt:lpstr>
      <vt:lpstr>Ethical Issues Involved</vt:lpstr>
      <vt:lpstr>Consequences of Unethical Decisions</vt:lpstr>
      <vt:lpstr>Consequences of Unethical Decisions</vt:lpstr>
      <vt:lpstr>Lessons Learned</vt:lpstr>
      <vt:lpstr>Lessons Learned</vt:lpstr>
      <vt:lpstr>Engineering Code of Ethics (NSPE)</vt:lpstr>
      <vt:lpstr>Engineering Code of Ethics (NSPE)</vt:lpstr>
      <vt:lpstr>Conclusion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02-131212-027</dc:creator>
  <cp:lastModifiedBy>02-131212-027</cp:lastModifiedBy>
  <cp:revision>1</cp:revision>
  <dcterms:created xsi:type="dcterms:W3CDTF">2025-05-27T04:12:16Z</dcterms:created>
  <dcterms:modified xsi:type="dcterms:W3CDTF">2025-05-27T04:29:10Z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